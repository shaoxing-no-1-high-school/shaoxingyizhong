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5" r:id="rId3"/>
  </p:sldMasterIdLst>
  <p:notesMasterIdLst>
    <p:notesMasterId r:id="rId16"/>
  </p:notesMasterIdLst>
  <p:sldIdLst>
    <p:sldId id="256" r:id="rId4"/>
    <p:sldId id="257" r:id="rId5"/>
    <p:sldId id="263" r:id="rId6"/>
    <p:sldId id="262" r:id="rId7"/>
    <p:sldId id="261" r:id="rId8"/>
    <p:sldId id="270" r:id="rId9"/>
    <p:sldId id="272" r:id="rId10"/>
    <p:sldId id="273" r:id="rId11"/>
    <p:sldId id="274" r:id="rId12"/>
    <p:sldId id="276" r:id="rId13"/>
    <p:sldId id="289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2CBB0"/>
    <a:srgbClr val="E11B18"/>
    <a:srgbClr val="E81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CE423-1864-45F3-A447-59306AAF0A5C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947A8-7F93-4DD3-94C1-BC8B96D63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17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4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413EE-2808-4656-835A-7D53A84003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347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F6AE0A-3D28-48B5-88D9-FE2C26BD3B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26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413EE-2808-4656-835A-7D53A84003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8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1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413EE-2808-4656-835A-7D53A84003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946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AB3AA-E257-461B-BD88-CE2D89E0460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707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AB3AA-E257-461B-BD88-CE2D89E0460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105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413EE-2808-4656-835A-7D53A84003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482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1F8D4-27FC-432A-8F99-5604C7D67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8EE8DC-A7BD-4E97-A866-9F28BFB6DA2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2021/1/14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397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8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413EE-2808-4656-835A-7D53A84003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914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598DA-AAF2-46F4-8C42-F89962D06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2D1E17-8DF1-4154-98CB-2E5EE3C04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02A05-C2BF-4495-BBCB-D4A24474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1819A-BA9F-4086-9426-43B3968A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9003C-213E-458F-A209-352D80AA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9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9A49A-658D-40B2-8F5C-8CB91CDF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0AD6C-5303-4194-BF55-B9DB22205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1D8F7-8D90-4923-A02E-EA3DCEE7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66E1D-B837-48EE-99E8-64D58477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0D68CC-181B-49B2-95AF-97655B35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67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6AAA5-E286-4F7D-B4EB-BFC71CFC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6BF4A2-3D74-4380-832E-AC9EE763B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36DC2-065E-4C28-BBA0-52A56C8C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8D74C-4C9E-49B8-8E8F-84B11BA9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DF9F00-96BA-4CC1-B9ED-1CAC7C5E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8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208BF-DE71-4907-8363-E5FB2483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93317-6957-4A8B-858E-849A91BCF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F8FB57-B4D9-4729-8F75-ADFEBA788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85C95C-18E4-4B57-8395-D2C60F75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DC1B53-4AFF-4088-AD68-E68E9013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F0CECC-B974-41ED-A58F-C1BF280B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66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38492-3D84-43CD-A1D3-1C872046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0DDD15-00ED-42C0-B69B-1B5DFA79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58EC4-9023-4F50-827B-BEA957227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BC6B2-03A7-4734-8D00-03B7858F8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715F6B-BB4F-4CF5-912F-1F7F464BF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448C0-9348-427B-AC18-7103A45D7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F99A0E-BEFF-454E-B5FD-6190581E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268870-5C63-4DDA-8F0F-A6678649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98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B56C9-8118-4806-84BA-81FD95BE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6F0CD0-3C29-479D-B54A-93F939A1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16A70E-E9A5-4BF3-8C67-F7A27B62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352E28-B251-46A5-9D5B-A56458E9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23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5B01EA-6A61-4695-ADE2-7F08C0BB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78491D-9610-45CC-AFE3-78B48450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7CAF8-4315-48F4-87A8-716EEE48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8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5B630-7958-4E0C-BE8A-EED77763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5ADD5-1897-47B3-916D-59D11AA33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60E26C-85D9-4006-B743-86427665B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3301E8-8F4A-49CB-AC26-5FAC1F2D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6F794-AAAD-4F44-93FB-A4269C73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D8F267-DCA0-45F2-BB1E-10F3F81B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4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B03CB-258B-4AA6-8CB8-40205C6B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1F857A-58FF-4012-AF0A-698BB76F5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475990-4406-47E0-9916-2906640A0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468533-6BC7-41CA-853D-BDCFA0F1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21436-8ED6-4051-B750-B6D6B380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5056D-9FFD-400E-B454-DE60EABB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75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5E95D-FBF0-48B0-B929-80F77869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FFD968-E480-4C49-8325-CDFA9269F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0FB60-6ED3-4974-90F6-4902017E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B9156-3184-4A00-BD94-842FA8A8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DDBA1-CB16-4A01-9667-3B6BA2B5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92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10B6D6-5051-40E0-BF5D-BAC313396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3BE3AB-4980-4CDC-BD21-32337BB6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A39B9D-F1D3-4A1F-9627-78DC8098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F72A2-0845-4A20-B2AD-2DA12209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6CDC9-9234-4DCF-9442-DBB45163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036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B59DA-685A-47A2-BF80-02239CF045F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951769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AD950-2EBC-4293-ABBB-F36510DC020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041770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54873-5ADE-422E-BFA7-6BBDECD0F3E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242947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B1904-2B78-4F7F-860C-BA07A73F8A1C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396419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13E7A-3C9A-48A1-9638-A8616204C9A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1422565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9366C-738C-431A-9273-814140F6DD6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544499"/>
      </p:ext>
    </p:extLst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B538B-2A20-4FCA-BE76-54E3AF1BD951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1211120"/>
      </p:ext>
    </p:extLst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70381-E6E4-4E52-AC79-5779243F3BC3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334441"/>
      </p:ext>
    </p:extLst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F143A-13A1-4E31-8C5C-28E4A6F8E551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543534"/>
      </p:ext>
    </p:extLst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64F5D-375D-4DBE-BD16-A48BA8551FA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203466"/>
      </p:ext>
    </p:extLst>
  </p:cSld>
  <p:clrMapOvr>
    <a:masterClrMapping/>
  </p:clrMapOvr>
  <p:transition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ED9A0-1D3D-46D6-8A82-C4A2F1B799E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857041"/>
      </p:ext>
    </p:extLst>
  </p:cSld>
  <p:clrMapOvr>
    <a:masterClrMapping/>
  </p:clrMapOvr>
  <p:transition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262890" y="605793"/>
            <a:ext cx="11929111" cy="6252209"/>
            <a:chOff x="262890" y="605791"/>
            <a:chExt cx="11929110" cy="625220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0" t="16455" r="1934" b="19710"/>
            <a:stretch>
              <a:fillRect/>
            </a:stretch>
          </p:blipFill>
          <p:spPr>
            <a:xfrm>
              <a:off x="262890" y="605791"/>
              <a:ext cx="7406640" cy="62865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91" b="3839"/>
            <a:stretch>
              <a:fillRect/>
            </a:stretch>
          </p:blipFill>
          <p:spPr>
            <a:xfrm>
              <a:off x="8900383" y="1704488"/>
              <a:ext cx="3291617" cy="515351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3254" y="5801881"/>
              <a:ext cx="2927445" cy="659971"/>
            </a:xfrm>
            <a:prstGeom prst="rect">
              <a:avLst/>
            </a:prstGeom>
          </p:spPr>
        </p:pic>
      </p:grpSp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6" y="439006"/>
            <a:ext cx="6117375" cy="481111"/>
          </a:xfrm>
        </p:spPr>
        <p:txBody>
          <a:bodyPr>
            <a:noAutofit/>
          </a:bodyPr>
          <a:lstStyle>
            <a:lvl1pPr marL="0" indent="0">
              <a:buNone/>
              <a:defRPr sz="3200" b="1" spc="300">
                <a:solidFill>
                  <a:srgbClr val="E11B1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45131555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B59DA-685A-47A2-BF80-02239CF045F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320582"/>
      </p:ext>
    </p:extLst>
  </p:cSld>
  <p:clrMapOvr>
    <a:masterClrMapping/>
  </p:clrMapOvr>
  <p:transition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AD950-2EBC-4293-ABBB-F36510DC020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7638639"/>
      </p:ext>
    </p:extLst>
  </p:cSld>
  <p:clrMapOvr>
    <a:masterClrMapping/>
  </p:clrMapOvr>
  <p:transition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54873-5ADE-422E-BFA7-6BBDECD0F3E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438043"/>
      </p:ext>
    </p:extLst>
  </p:cSld>
  <p:clrMapOvr>
    <a:masterClrMapping/>
  </p:clrMapOvr>
  <p:transition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B1904-2B78-4F7F-860C-BA07A73F8A1C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309400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13E7A-3C9A-48A1-9638-A8616204C9A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24737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9366C-738C-431A-9273-814140F6DD6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822357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B538B-2A20-4FCA-BE76-54E3AF1BD951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844007"/>
      </p:ext>
    </p:extLst>
  </p:cSld>
  <p:clrMapOvr>
    <a:masterClrMapping/>
  </p:clrMapOvr>
  <p:transition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2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70381-E6E4-4E52-AC79-5779243F3BC3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0409561"/>
      </p:ext>
    </p:extLst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F143A-13A1-4E31-8C5C-28E4A6F8E551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469011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64F5D-375D-4DBE-BD16-A48BA8551FA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054646"/>
      </p:ext>
    </p:extLst>
  </p:cSld>
  <p:clrMapOvr>
    <a:masterClrMapping/>
  </p:clrMapOvr>
  <p:transition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ED9A0-1D3D-46D6-8A82-C4A2F1B799E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9040612"/>
      </p:ext>
    </p:extLst>
  </p:cSld>
  <p:clrMapOvr>
    <a:masterClrMapping/>
  </p:clrMapOvr>
  <p:transition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262890" y="109020"/>
            <a:ext cx="11929111" cy="6748981"/>
            <a:chOff x="262890" y="109019"/>
            <a:chExt cx="11929110" cy="674898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0" t="16455" r="1934" b="19710"/>
            <a:stretch>
              <a:fillRect/>
            </a:stretch>
          </p:blipFill>
          <p:spPr>
            <a:xfrm>
              <a:off x="262890" y="605791"/>
              <a:ext cx="7406640" cy="62865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91" b="3839"/>
            <a:stretch>
              <a:fillRect/>
            </a:stretch>
          </p:blipFill>
          <p:spPr>
            <a:xfrm>
              <a:off x="8900383" y="1704488"/>
              <a:ext cx="3291617" cy="515351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0956" y="109019"/>
              <a:ext cx="2927445" cy="659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8802375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64763D-21A0-4F99-83D8-5DEA7C36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F7E8DD-C3E2-4E17-B8F5-3AAB2E6A8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7D761-9C35-439B-A698-A783A318D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72982-CAB7-4EA4-A53F-EFDA099AAB3F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0C95F-AD1D-46AB-BE27-D49611AC9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836229-00EE-4D53-94BA-79A409717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5A670-A795-4E55-8989-B1AB9B073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4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4167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4167"/>
            <a:ext cx="3860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4167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B3120F47-D066-4AB7-80A4-B267093C52D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93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609585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219170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828754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438339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  <a:ea typeface="+mn-ea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  <a:ea typeface="+mn-ea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5pPr>
      <a:lvl6pPr marL="3352716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4167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4167"/>
            <a:ext cx="3860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4167"/>
            <a:ext cx="2844800" cy="476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867" b="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B3120F47-D066-4AB7-80A4-B267093C52D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858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fade thruBlk="1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609585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219170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828754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438339"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  <a:ea typeface="+mn-ea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  <a:ea typeface="+mn-ea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5pPr>
      <a:lvl6pPr marL="3352716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1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1C1DC56-7A92-4AE1-8922-205F6B9D04C3}"/>
              </a:ext>
            </a:extLst>
          </p:cNvPr>
          <p:cNvGrpSpPr/>
          <p:nvPr/>
        </p:nvGrpSpPr>
        <p:grpSpPr>
          <a:xfrm>
            <a:off x="8205216" y="1267968"/>
            <a:ext cx="3816485" cy="5459877"/>
            <a:chOff x="4794882" y="1124071"/>
            <a:chExt cx="2600327" cy="407657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3656FF7-9C92-47E9-906D-2C2B7D352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4882" y="1124071"/>
              <a:ext cx="2600327" cy="3954664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B5E33E1-0F40-4619-953C-F72989303593}"/>
                </a:ext>
              </a:extLst>
            </p:cNvPr>
            <p:cNvSpPr/>
            <p:nvPr/>
          </p:nvSpPr>
          <p:spPr>
            <a:xfrm>
              <a:off x="5096937" y="1329284"/>
              <a:ext cx="2048696" cy="3871366"/>
            </a:xfrm>
            <a:prstGeom prst="rect">
              <a:avLst/>
            </a:prstGeom>
            <a:solidFill>
              <a:srgbClr val="E11B18">
                <a:alpha val="7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C9683BAF-EC30-4093-89D6-FD44CE6A7D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9" t="75111"/>
          <a:stretch>
            <a:fillRect/>
          </a:stretch>
        </p:blipFill>
        <p:spPr>
          <a:xfrm>
            <a:off x="8875776" y="5705856"/>
            <a:ext cx="3316224" cy="1152144"/>
          </a:xfrm>
          <a:custGeom>
            <a:avLst/>
            <a:gdLst>
              <a:gd name="connsiteX0" fmla="*/ 1808480 w 4739640"/>
              <a:gd name="connsiteY0" fmla="*/ 0 h 1706880"/>
              <a:gd name="connsiteX1" fmla="*/ 4739640 w 4739640"/>
              <a:gd name="connsiteY1" fmla="*/ 0 h 1706880"/>
              <a:gd name="connsiteX2" fmla="*/ 4739640 w 4739640"/>
              <a:gd name="connsiteY2" fmla="*/ 1706880 h 1706880"/>
              <a:gd name="connsiteX3" fmla="*/ 0 w 4739640"/>
              <a:gd name="connsiteY3" fmla="*/ 1706880 h 1706880"/>
              <a:gd name="connsiteX4" fmla="*/ 0 w 4739640"/>
              <a:gd name="connsiteY4" fmla="*/ 1036320 h 1706880"/>
              <a:gd name="connsiteX5" fmla="*/ 1808480 w 4739640"/>
              <a:gd name="connsiteY5" fmla="*/ 1036320 h 17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39640" h="1706880">
                <a:moveTo>
                  <a:pt x="1808480" y="0"/>
                </a:moveTo>
                <a:lnTo>
                  <a:pt x="4739640" y="0"/>
                </a:lnTo>
                <a:lnTo>
                  <a:pt x="4739640" y="1706880"/>
                </a:lnTo>
                <a:lnTo>
                  <a:pt x="0" y="1706880"/>
                </a:lnTo>
                <a:lnTo>
                  <a:pt x="0" y="1036320"/>
                </a:lnTo>
                <a:lnTo>
                  <a:pt x="1808480" y="1036320"/>
                </a:lnTo>
                <a:close/>
              </a:path>
            </a:pathLst>
          </a:cu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DAB7CCE-042D-43AC-87AE-0B53570B2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4426" y="1499979"/>
            <a:ext cx="8470889" cy="1287646"/>
          </a:xfrm>
        </p:spPr>
        <p:txBody>
          <a:bodyPr>
            <a:noAutofit/>
          </a:bodyPr>
          <a:lstStyle/>
          <a:p>
            <a:br>
              <a:rPr lang="en-US" altLang="zh-CN" sz="7200" dirty="0">
                <a:solidFill>
                  <a:schemeClr val="bg1"/>
                </a:solidFill>
                <a:latin typeface="汉仪舒同体简" panose="02010600000101010101" pitchFamily="2" charset="-122"/>
                <a:ea typeface="汉仪舒同体简" panose="02010600000101010101" pitchFamily="2" charset="-122"/>
              </a:rPr>
            </a:br>
            <a:r>
              <a:rPr lang="zh-CN" altLang="en-US" sz="7200" b="1" dirty="0">
                <a:solidFill>
                  <a:srgbClr val="FFF2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同心</a:t>
            </a:r>
            <a:r>
              <a:rPr lang="zh-CN" altLang="en-US" sz="72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筑梦   济世中华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9EE54A-DE6B-478A-B942-928694FEC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535" y="2952867"/>
            <a:ext cx="10179845" cy="11521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</a:t>
            </a:r>
            <a:r>
              <a:rPr lang="en-US" altLang="zh-CN" sz="4000" b="1" dirty="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4000" b="1" dirty="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年寒假学生资助政策宣传介绍</a:t>
            </a:r>
            <a:endParaRPr lang="en-US" altLang="zh-CN" sz="4000" b="1" dirty="0">
              <a:solidFill>
                <a:srgbClr val="FFF2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09569B-6B30-4EC9-8A1B-638EC19907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01" y="5949903"/>
            <a:ext cx="598934" cy="58920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F3872A2-ADE2-4414-ACBE-1A8DC1BC44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63" b="88149"/>
          <a:stretch>
            <a:fillRect/>
          </a:stretch>
        </p:blipFill>
        <p:spPr>
          <a:xfrm>
            <a:off x="0" y="0"/>
            <a:ext cx="3943350" cy="150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1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23392" y="580211"/>
            <a:ext cx="7296811" cy="481111"/>
          </a:xfrm>
        </p:spPr>
        <p:txBody>
          <a:bodyPr/>
          <a:lstStyle/>
          <a:p>
            <a:r>
              <a:rPr lang="zh-CN" altLang="en-US" dirty="0"/>
              <a:t>不让任何一个同济人掉队！</a:t>
            </a:r>
          </a:p>
        </p:txBody>
      </p:sp>
      <p:sp>
        <p:nvSpPr>
          <p:cNvPr id="1048637" name="矩形 4"/>
          <p:cNvSpPr/>
          <p:nvPr/>
        </p:nvSpPr>
        <p:spPr>
          <a:xfrm>
            <a:off x="3599723" y="1568111"/>
            <a:ext cx="6739263" cy="415498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“我们无法改变自己的出身，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但是我们可以改变自己的未来”。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在同济，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我们不会错过任何一位优秀学生，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我们积极履行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“不让学生因经济困难而辍学”的庄严承诺。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每一种色彩都应该盛开，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每一个梦想都值得浇灌，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共同期盼和创造最好的未来。</a:t>
            </a:r>
          </a:p>
          <a:p>
            <a:pPr algn="ctr" defTabSz="914377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欢迎你，新同济人！</a:t>
            </a:r>
          </a:p>
          <a:p>
            <a:pPr algn="r" defTabSz="914377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——</a:t>
            </a:r>
            <a:r>
              <a:rPr lang="zh-CN" altLang="en-US" sz="16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lt"/>
              </a:rPr>
              <a:t>同济大学学生事务中心</a:t>
            </a:r>
            <a:endParaRPr lang="zh-CN" altLang="en-US" sz="1600" b="1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9717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780" y="1562794"/>
            <a:ext cx="4988351" cy="45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5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31"/>
          <p:cNvSpPr txBox="1">
            <a:spLocks noChangeArrowheads="1"/>
          </p:cNvSpPr>
          <p:nvPr/>
        </p:nvSpPr>
        <p:spPr bwMode="auto">
          <a:xfrm>
            <a:off x="866727" y="1028734"/>
            <a:ext cx="184731" cy="954107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>
            <a:spAutoFit/>
          </a:bodyPr>
          <a:lstStyle/>
          <a:p>
            <a:pPr defTabSz="913530">
              <a:defRPr/>
            </a:pPr>
            <a:endParaRPr lang="en-US" altLang="zh-TW" sz="5600" i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4" name="Text Box 31"/>
          <p:cNvSpPr txBox="1">
            <a:spLocks noChangeArrowheads="1"/>
          </p:cNvSpPr>
          <p:nvPr/>
        </p:nvSpPr>
        <p:spPr bwMode="auto">
          <a:xfrm>
            <a:off x="866727" y="1126847"/>
            <a:ext cx="184683" cy="954107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defTabSz="913530">
              <a:defRPr/>
            </a:pPr>
            <a:endParaRPr lang="en-US" altLang="zh-TW" sz="5600" i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34"/>
          <p:cNvGrpSpPr/>
          <p:nvPr/>
        </p:nvGrpSpPr>
        <p:grpSpPr bwMode="auto">
          <a:xfrm>
            <a:off x="282817" y="1401527"/>
            <a:ext cx="1683899" cy="5163039"/>
            <a:chOff x="6426200" y="915293"/>
            <a:chExt cx="1684338" cy="4642954"/>
          </a:xfrm>
        </p:grpSpPr>
        <p:grpSp>
          <p:nvGrpSpPr>
            <p:cNvPr id="26635" name="组合 84"/>
            <p:cNvGrpSpPr/>
            <p:nvPr/>
          </p:nvGrpSpPr>
          <p:grpSpPr bwMode="auto">
            <a:xfrm>
              <a:off x="6693638" y="915293"/>
              <a:ext cx="1163692" cy="1036159"/>
              <a:chOff x="6693553" y="976659"/>
              <a:chExt cx="1163874" cy="1036321"/>
            </a:xfrm>
          </p:grpSpPr>
          <p:sp>
            <p:nvSpPr>
              <p:cNvPr id="265" name="同心圆 264"/>
              <p:cNvSpPr>
                <a:spLocks noChangeAspect="1"/>
              </p:cNvSpPr>
              <p:nvPr/>
            </p:nvSpPr>
            <p:spPr>
              <a:xfrm>
                <a:off x="6693553" y="976659"/>
                <a:ext cx="1163874" cy="1036321"/>
              </a:xfrm>
              <a:prstGeom prst="donut">
                <a:avLst/>
              </a:prstGeom>
              <a:solidFill>
                <a:srgbClr val="800000"/>
              </a:solidFill>
              <a:ln w="15875" algn="ctr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/>
              <a:p>
                <a:pPr algn="ctr" defTabSz="913530" eaLnBrk="0" hangingPunct="0">
                  <a:buClr>
                    <a:srgbClr val="FF0000"/>
                  </a:buClr>
                  <a:buSzPct val="70000"/>
                  <a:defRPr/>
                </a:pPr>
                <a:endParaRPr lang="zh-CN" altLang="en-US" sz="2000" b="1" dirty="0">
                  <a:solidFill>
                    <a:srgbClr val="0070C0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37" name="Rectangle 13"/>
              <p:cNvSpPr>
                <a:spLocks noChangeArrowheads="1"/>
              </p:cNvSpPr>
              <p:nvPr/>
            </p:nvSpPr>
            <p:spPr bwMode="auto">
              <a:xfrm>
                <a:off x="6981784" y="1336184"/>
                <a:ext cx="643039" cy="359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353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1.</a:t>
                </a:r>
                <a:endParaRPr lang="zh-CN" altLang="en-US" sz="2000" b="1">
                  <a:solidFill>
                    <a:srgbClr val="0070C0"/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638" name="组合 66"/>
            <p:cNvGrpSpPr/>
            <p:nvPr/>
          </p:nvGrpSpPr>
          <p:grpSpPr bwMode="auto">
            <a:xfrm>
              <a:off x="7008813" y="2006600"/>
              <a:ext cx="519112" cy="346075"/>
              <a:chOff x="7268238" y="2846378"/>
              <a:chExt cx="576000" cy="385071"/>
            </a:xfrm>
          </p:grpSpPr>
          <p:sp>
            <p:nvSpPr>
              <p:cNvPr id="263" name="燕尾形 262"/>
              <p:cNvSpPr/>
              <p:nvPr/>
            </p:nvSpPr>
            <p:spPr>
              <a:xfrm rot="5400000">
                <a:off x="7449045" y="2666217"/>
                <a:ext cx="214385" cy="576001"/>
              </a:xfrm>
              <a:prstGeom prst="chevron">
                <a:avLst>
                  <a:gd name="adj" fmla="val 63229"/>
                </a:avLst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64" name="燕尾形 263"/>
              <p:cNvSpPr/>
              <p:nvPr/>
            </p:nvSpPr>
            <p:spPr>
              <a:xfrm rot="5400000">
                <a:off x="7449046" y="2836137"/>
                <a:ext cx="214384" cy="576001"/>
              </a:xfrm>
              <a:prstGeom prst="chevron">
                <a:avLst>
                  <a:gd name="adj" fmla="val 63229"/>
                </a:avLst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641" name="组合 88"/>
            <p:cNvGrpSpPr/>
            <p:nvPr/>
          </p:nvGrpSpPr>
          <p:grpSpPr bwMode="auto">
            <a:xfrm>
              <a:off x="6426200" y="2446763"/>
              <a:ext cx="1684338" cy="3111484"/>
              <a:chOff x="6425973" y="2509095"/>
              <a:chExt cx="1684800" cy="3111651"/>
            </a:xfrm>
          </p:grpSpPr>
          <p:sp>
            <p:nvSpPr>
              <p:cNvPr id="259" name="矩形 258"/>
              <p:cNvSpPr/>
              <p:nvPr/>
            </p:nvSpPr>
            <p:spPr>
              <a:xfrm>
                <a:off x="6425973" y="2509095"/>
                <a:ext cx="1684800" cy="3111651"/>
              </a:xfrm>
              <a:prstGeom prst="rect">
                <a:avLst/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6643" name="TextBox 146"/>
              <p:cNvSpPr txBox="1">
                <a:spLocks noChangeArrowheads="1"/>
              </p:cNvSpPr>
              <p:nvPr/>
            </p:nvSpPr>
            <p:spPr bwMode="auto">
              <a:xfrm>
                <a:off x="6459651" y="3308777"/>
                <a:ext cx="1621283" cy="10053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91353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按照“地方先行、中央奖补”原则， 对在园家庭经济困难儿童、孤儿和残疾儿童予以资助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1" name="直接连接符 260"/>
              <p:cNvCxnSpPr/>
              <p:nvPr/>
            </p:nvCxnSpPr>
            <p:spPr>
              <a:xfrm>
                <a:off x="6491078" y="3044331"/>
                <a:ext cx="1554590" cy="0"/>
              </a:xfrm>
              <a:prstGeom prst="line">
                <a:avLst/>
              </a:prstGeom>
              <a:ln w="12700">
                <a:solidFill>
                  <a:srgbClr val="A50021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45" name="TextBox 146"/>
              <p:cNvSpPr txBox="1">
                <a:spLocks noChangeArrowheads="1"/>
              </p:cNvSpPr>
              <p:nvPr/>
            </p:nvSpPr>
            <p:spPr bwMode="auto">
              <a:xfrm>
                <a:off x="6457733" y="2635647"/>
                <a:ext cx="1621283" cy="276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353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学前教育</a:t>
                </a:r>
                <a:endParaRPr lang="en-US" altLang="zh-CN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58"/>
          <p:cNvGrpSpPr/>
          <p:nvPr/>
        </p:nvGrpSpPr>
        <p:grpSpPr bwMode="auto">
          <a:xfrm>
            <a:off x="2160341" y="1403188"/>
            <a:ext cx="1683900" cy="5153430"/>
            <a:chOff x="6426200" y="923924"/>
            <a:chExt cx="1684338" cy="4634507"/>
          </a:xfrm>
        </p:grpSpPr>
        <p:grpSp>
          <p:nvGrpSpPr>
            <p:cNvPr id="26647" name="组合 84"/>
            <p:cNvGrpSpPr/>
            <p:nvPr/>
          </p:nvGrpSpPr>
          <p:grpSpPr bwMode="auto">
            <a:xfrm>
              <a:off x="6692824" y="923924"/>
              <a:ext cx="1153285" cy="1036202"/>
              <a:chOff x="6692737" y="985291"/>
              <a:chExt cx="1153465" cy="1036364"/>
            </a:xfrm>
          </p:grpSpPr>
          <p:sp>
            <p:nvSpPr>
              <p:cNvPr id="277" name="同心圆 276"/>
              <p:cNvSpPr>
                <a:spLocks noChangeAspect="1"/>
              </p:cNvSpPr>
              <p:nvPr/>
            </p:nvSpPr>
            <p:spPr>
              <a:xfrm>
                <a:off x="6692737" y="985291"/>
                <a:ext cx="1153465" cy="1036364"/>
              </a:xfrm>
              <a:prstGeom prst="donut">
                <a:avLst/>
              </a:prstGeom>
              <a:solidFill>
                <a:srgbClr val="990000"/>
              </a:solidFill>
              <a:ln w="15875" algn="ctr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/>
              <a:p>
                <a:pPr algn="ctr" defTabSz="913530" eaLnBrk="0" hangingPunct="0">
                  <a:buClr>
                    <a:srgbClr val="FF0000"/>
                  </a:buClr>
                  <a:buSzPct val="70000"/>
                  <a:defRPr/>
                </a:pPr>
                <a:endParaRPr lang="zh-CN" altLang="en-US" sz="2000" b="1" dirty="0">
                  <a:solidFill>
                    <a:srgbClr val="0070C0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49" name="Rectangle 13"/>
              <p:cNvSpPr>
                <a:spLocks noChangeArrowheads="1"/>
              </p:cNvSpPr>
              <p:nvPr/>
            </p:nvSpPr>
            <p:spPr bwMode="auto">
              <a:xfrm>
                <a:off x="6981784" y="1336184"/>
                <a:ext cx="643039" cy="35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353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2.</a:t>
                </a:r>
                <a:endParaRPr lang="zh-CN" altLang="en-US" sz="2000" b="1">
                  <a:solidFill>
                    <a:srgbClr val="0070C0"/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650" name="组合 66"/>
            <p:cNvGrpSpPr/>
            <p:nvPr/>
          </p:nvGrpSpPr>
          <p:grpSpPr bwMode="auto">
            <a:xfrm>
              <a:off x="7008813" y="2006600"/>
              <a:ext cx="519112" cy="346075"/>
              <a:chOff x="7268238" y="2846378"/>
              <a:chExt cx="576000" cy="385071"/>
            </a:xfrm>
          </p:grpSpPr>
          <p:sp>
            <p:nvSpPr>
              <p:cNvPr id="275" name="燕尾形 274"/>
              <p:cNvSpPr/>
              <p:nvPr/>
            </p:nvSpPr>
            <p:spPr>
              <a:xfrm rot="5400000">
                <a:off x="7449041" y="2666273"/>
                <a:ext cx="214393" cy="576000"/>
              </a:xfrm>
              <a:prstGeom prst="chevron">
                <a:avLst>
                  <a:gd name="adj" fmla="val 63229"/>
                </a:avLst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76" name="燕尾形 275"/>
              <p:cNvSpPr/>
              <p:nvPr/>
            </p:nvSpPr>
            <p:spPr>
              <a:xfrm rot="5400000">
                <a:off x="7449040" y="2836200"/>
                <a:ext cx="214394" cy="576000"/>
              </a:xfrm>
              <a:prstGeom prst="chevron">
                <a:avLst>
                  <a:gd name="adj" fmla="val 63229"/>
                </a:avLst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653" name="组合 88"/>
            <p:cNvGrpSpPr/>
            <p:nvPr/>
          </p:nvGrpSpPr>
          <p:grpSpPr bwMode="auto">
            <a:xfrm>
              <a:off x="6426200" y="2446827"/>
              <a:ext cx="1684338" cy="3111604"/>
              <a:chOff x="6425973" y="2509159"/>
              <a:chExt cx="1684800" cy="3111771"/>
            </a:xfrm>
          </p:grpSpPr>
          <p:sp>
            <p:nvSpPr>
              <p:cNvPr id="271" name="矩形 270"/>
              <p:cNvSpPr/>
              <p:nvPr/>
            </p:nvSpPr>
            <p:spPr>
              <a:xfrm>
                <a:off x="6425973" y="2509159"/>
                <a:ext cx="1684800" cy="3111771"/>
              </a:xfrm>
              <a:prstGeom prst="rect">
                <a:avLst/>
              </a:prstGeom>
              <a:noFill/>
              <a:ln w="15875">
                <a:solidFill>
                  <a:srgbClr val="A5002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3530">
                  <a:defRPr/>
                </a:pPr>
                <a:endParaRPr lang="zh-CN" altLang="en-US" b="1">
                  <a:solidFill>
                    <a:srgbClr val="0070C0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6655" name="TextBox 146"/>
              <p:cNvSpPr txBox="1">
                <a:spLocks noChangeArrowheads="1"/>
              </p:cNvSpPr>
              <p:nvPr/>
            </p:nvSpPr>
            <p:spPr bwMode="auto">
              <a:xfrm>
                <a:off x="6457733" y="3303707"/>
                <a:ext cx="1621283" cy="1466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1755" indent="-7175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71118" indent="-71118" defTabSz="91353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免学杂费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118" indent="-71118" defTabSz="91353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国家免费教科书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118" indent="-71118" defTabSz="91353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免费汉字工具书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118" indent="-71118" defTabSz="91353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寄宿生生活补助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118" indent="-71118" defTabSz="91353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333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营养改善计划</a:t>
                </a:r>
                <a:endParaRPr lang="en-US" altLang="zh-CN" sz="1333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73" name="直接连接符 272"/>
              <p:cNvCxnSpPr/>
              <p:nvPr/>
            </p:nvCxnSpPr>
            <p:spPr>
              <a:xfrm>
                <a:off x="6491079" y="3044417"/>
                <a:ext cx="1554588" cy="0"/>
              </a:xfrm>
              <a:prstGeom prst="line">
                <a:avLst/>
              </a:prstGeom>
              <a:ln w="12700">
                <a:solidFill>
                  <a:srgbClr val="A50021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57" name="TextBox 146"/>
              <p:cNvSpPr txBox="1">
                <a:spLocks noChangeArrowheads="1"/>
              </p:cNvSpPr>
              <p:nvPr/>
            </p:nvSpPr>
            <p:spPr bwMode="auto">
              <a:xfrm>
                <a:off x="6457733" y="2635646"/>
                <a:ext cx="1621283" cy="276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91353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义务教育</a:t>
                </a:r>
                <a:endParaRPr lang="en-US" altLang="zh-CN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" name="组合 8"/>
          <p:cNvGrpSpPr/>
          <p:nvPr/>
        </p:nvGrpSpPr>
        <p:grpSpPr bwMode="auto">
          <a:xfrm>
            <a:off x="4058497" y="1396835"/>
            <a:ext cx="1683900" cy="5159780"/>
            <a:chOff x="4299061" y="2101968"/>
            <a:chExt cx="1684338" cy="4639754"/>
          </a:xfrm>
        </p:grpSpPr>
        <p:grpSp>
          <p:nvGrpSpPr>
            <p:cNvPr id="26659" name="组合 46"/>
            <p:cNvGrpSpPr/>
            <p:nvPr/>
          </p:nvGrpSpPr>
          <p:grpSpPr bwMode="auto">
            <a:xfrm>
              <a:off x="4299061" y="2101968"/>
              <a:ext cx="1684338" cy="4639754"/>
              <a:chOff x="6426200" y="911075"/>
              <a:chExt cx="1684338" cy="4639754"/>
            </a:xfrm>
          </p:grpSpPr>
          <p:grpSp>
            <p:nvGrpSpPr>
              <p:cNvPr id="26660" name="组合 84"/>
              <p:cNvGrpSpPr/>
              <p:nvPr/>
            </p:nvGrpSpPr>
            <p:grpSpPr bwMode="auto">
              <a:xfrm>
                <a:off x="6700344" y="911075"/>
                <a:ext cx="1153285" cy="1036099"/>
                <a:chOff x="6700258" y="972440"/>
                <a:chExt cx="1153465" cy="1036261"/>
              </a:xfrm>
            </p:grpSpPr>
            <p:sp>
              <p:nvSpPr>
                <p:cNvPr id="295" name="同心圆 294"/>
                <p:cNvSpPr>
                  <a:spLocks noChangeAspect="1"/>
                </p:cNvSpPr>
                <p:nvPr/>
              </p:nvSpPr>
              <p:spPr>
                <a:xfrm>
                  <a:off x="6700258" y="972440"/>
                  <a:ext cx="1153465" cy="1036261"/>
                </a:xfrm>
                <a:prstGeom prst="donut">
                  <a:avLst/>
                </a:prstGeom>
                <a:solidFill>
                  <a:srgbClr val="CC0000"/>
                </a:solidFill>
                <a:ln w="15875" algn="ctr">
                  <a:solidFill>
                    <a:schemeClr val="bg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 defTabSz="913530" eaLnBrk="0" hangingPunct="0">
                    <a:buClr>
                      <a:srgbClr val="FF0000"/>
                    </a:buClr>
                    <a:buSzPct val="70000"/>
                    <a:defRPr/>
                  </a:pPr>
                  <a:endParaRPr lang="zh-CN" altLang="en-US" sz="2000" b="1" dirty="0">
                    <a:solidFill>
                      <a:srgbClr val="0070C0"/>
                    </a:solidFill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662" name="Rectangle 13"/>
                <p:cNvSpPr>
                  <a:spLocks noChangeArrowheads="1"/>
                </p:cNvSpPr>
                <p:nvPr/>
              </p:nvSpPr>
              <p:spPr bwMode="auto">
                <a:xfrm>
                  <a:off x="6981784" y="1336184"/>
                  <a:ext cx="643039" cy="3598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sz="2000" b="1">
                      <a:solidFill>
                        <a:srgbClr val="0070C0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</a:rPr>
                    <a:t>3.</a:t>
                  </a:r>
                  <a:endParaRPr lang="zh-CN" altLang="en-US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663" name="组合 66"/>
              <p:cNvGrpSpPr/>
              <p:nvPr/>
            </p:nvGrpSpPr>
            <p:grpSpPr bwMode="auto">
              <a:xfrm>
                <a:off x="7008813" y="2006600"/>
                <a:ext cx="519112" cy="346075"/>
                <a:chOff x="7268238" y="2846378"/>
                <a:chExt cx="576000" cy="385071"/>
              </a:xfrm>
            </p:grpSpPr>
            <p:sp>
              <p:nvSpPr>
                <p:cNvPr id="293" name="燕尾形 292"/>
                <p:cNvSpPr/>
                <p:nvPr/>
              </p:nvSpPr>
              <p:spPr>
                <a:xfrm rot="5400000">
                  <a:off x="7449051" y="2666142"/>
                  <a:ext cx="214373" cy="57600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4" name="燕尾形 293"/>
                <p:cNvSpPr/>
                <p:nvPr/>
              </p:nvSpPr>
              <p:spPr>
                <a:xfrm rot="5400000">
                  <a:off x="7449052" y="2836052"/>
                  <a:ext cx="214372" cy="57600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6666" name="组合 88"/>
              <p:cNvGrpSpPr/>
              <p:nvPr/>
            </p:nvGrpSpPr>
            <p:grpSpPr bwMode="auto">
              <a:xfrm>
                <a:off x="6426200" y="2446675"/>
                <a:ext cx="1684338" cy="3104154"/>
                <a:chOff x="6425973" y="2509007"/>
                <a:chExt cx="1684800" cy="3104320"/>
              </a:xfrm>
            </p:grpSpPr>
            <p:sp>
              <p:nvSpPr>
                <p:cNvPr id="289" name="矩形 288"/>
                <p:cNvSpPr/>
                <p:nvPr/>
              </p:nvSpPr>
              <p:spPr>
                <a:xfrm>
                  <a:off x="6425973" y="2509007"/>
                  <a:ext cx="1684800" cy="3104320"/>
                </a:xfrm>
                <a:prstGeom prst="rect">
                  <a:avLst/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 dirty="0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8" name="TextBox 146"/>
                <p:cNvSpPr txBox="1">
                  <a:spLocks noChangeArrowheads="1"/>
                </p:cNvSpPr>
                <p:nvPr/>
              </p:nvSpPr>
              <p:spPr bwMode="auto">
                <a:xfrm>
                  <a:off x="6448204" y="3172119"/>
                  <a:ext cx="1621283" cy="2767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zh-CN" sz="1400" b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291" name="直接连接符 290"/>
                <p:cNvCxnSpPr/>
                <p:nvPr/>
              </p:nvCxnSpPr>
              <p:spPr>
                <a:xfrm>
                  <a:off x="6491079" y="3044211"/>
                  <a:ext cx="1554588" cy="0"/>
                </a:xfrm>
                <a:prstGeom prst="line">
                  <a:avLst/>
                </a:prstGeom>
                <a:ln w="12700">
                  <a:solidFill>
                    <a:srgbClr val="A50021"/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670" name="TextBox 146"/>
                <p:cNvSpPr txBox="1">
                  <a:spLocks noChangeArrowheads="1"/>
                </p:cNvSpPr>
                <p:nvPr/>
              </p:nvSpPr>
              <p:spPr bwMode="auto">
                <a:xfrm>
                  <a:off x="6457733" y="2635646"/>
                  <a:ext cx="1621283" cy="2767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400" b="1" dirty="0">
                      <a:solidFill>
                        <a:srgbClr val="CC33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中等职业教育</a:t>
                  </a:r>
                  <a:endParaRPr lang="en-US" altLang="zh-CN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6671" name="TextBox 146"/>
            <p:cNvSpPr txBox="1">
              <a:spLocks noChangeArrowheads="1"/>
            </p:cNvSpPr>
            <p:nvPr/>
          </p:nvSpPr>
          <p:spPr bwMode="auto">
            <a:xfrm>
              <a:off x="4340362" y="4437042"/>
              <a:ext cx="1620837" cy="27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国家免学费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72" name="TextBox 146"/>
            <p:cNvSpPr txBox="1">
              <a:spLocks noChangeArrowheads="1"/>
            </p:cNvSpPr>
            <p:nvPr/>
          </p:nvSpPr>
          <p:spPr bwMode="auto">
            <a:xfrm>
              <a:off x="4339429" y="4731806"/>
              <a:ext cx="1620837" cy="27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国家助学金</a:t>
              </a:r>
              <a:endParaRPr lang="en-US" altLang="zh-CN" sz="14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73" name="TextBox 146"/>
            <p:cNvSpPr txBox="1">
              <a:spLocks noChangeArrowheads="1"/>
            </p:cNvSpPr>
            <p:nvPr/>
          </p:nvSpPr>
          <p:spPr bwMode="auto">
            <a:xfrm>
              <a:off x="4330835" y="5038095"/>
              <a:ext cx="1620837" cy="27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顶岗实习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74" name="TextBox 146"/>
            <p:cNvSpPr txBox="1">
              <a:spLocks noChangeArrowheads="1"/>
            </p:cNvSpPr>
            <p:nvPr/>
          </p:nvSpPr>
          <p:spPr bwMode="auto">
            <a:xfrm>
              <a:off x="4330835" y="5345871"/>
              <a:ext cx="1620837" cy="27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学校资助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75" name="TextBox 146"/>
            <p:cNvSpPr txBox="1">
              <a:spLocks noChangeArrowheads="1"/>
            </p:cNvSpPr>
            <p:nvPr/>
          </p:nvSpPr>
          <p:spPr bwMode="auto">
            <a:xfrm>
              <a:off x="4330835" y="5653649"/>
              <a:ext cx="1620837" cy="276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社会资助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5"/>
          <p:cNvGrpSpPr/>
          <p:nvPr/>
        </p:nvGrpSpPr>
        <p:grpSpPr bwMode="auto">
          <a:xfrm>
            <a:off x="5928085" y="1412714"/>
            <a:ext cx="1683900" cy="5143897"/>
            <a:chOff x="6168845" y="2118636"/>
            <a:chExt cx="1684338" cy="4624443"/>
          </a:xfrm>
        </p:grpSpPr>
        <p:grpSp>
          <p:nvGrpSpPr>
            <p:cNvPr id="26677" name="组合 82"/>
            <p:cNvGrpSpPr/>
            <p:nvPr/>
          </p:nvGrpSpPr>
          <p:grpSpPr bwMode="auto">
            <a:xfrm>
              <a:off x="6168845" y="2118636"/>
              <a:ext cx="1684338" cy="4624443"/>
              <a:chOff x="6426200" y="922500"/>
              <a:chExt cx="1684338" cy="4624443"/>
            </a:xfrm>
          </p:grpSpPr>
          <p:grpSp>
            <p:nvGrpSpPr>
              <p:cNvPr id="26678" name="组合 84"/>
              <p:cNvGrpSpPr/>
              <p:nvPr/>
            </p:nvGrpSpPr>
            <p:grpSpPr bwMode="auto">
              <a:xfrm>
                <a:off x="6691542" y="922500"/>
                <a:ext cx="1153285" cy="1037294"/>
                <a:chOff x="6691455" y="983867"/>
                <a:chExt cx="1153465" cy="1037456"/>
              </a:xfrm>
            </p:grpSpPr>
            <p:sp>
              <p:nvSpPr>
                <p:cNvPr id="308" name="同心圆 307"/>
                <p:cNvSpPr>
                  <a:spLocks noChangeAspect="1"/>
                </p:cNvSpPr>
                <p:nvPr/>
              </p:nvSpPr>
              <p:spPr>
                <a:xfrm>
                  <a:off x="6691455" y="983867"/>
                  <a:ext cx="1153465" cy="1037456"/>
                </a:xfrm>
                <a:prstGeom prst="donut">
                  <a:avLst/>
                </a:prstGeom>
                <a:solidFill>
                  <a:srgbClr val="FF5050"/>
                </a:solidFill>
                <a:ln w="15875" algn="ctr">
                  <a:solidFill>
                    <a:schemeClr val="bg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 defTabSz="913530" eaLnBrk="0" hangingPunct="0">
                    <a:buClr>
                      <a:srgbClr val="FF0000"/>
                    </a:buClr>
                    <a:buSzPct val="70000"/>
                    <a:defRPr/>
                  </a:pPr>
                  <a:endParaRPr lang="zh-CN" altLang="en-US" sz="2000" b="1" dirty="0">
                    <a:solidFill>
                      <a:srgbClr val="0070C0"/>
                    </a:solidFill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680" name="Rectangle 13"/>
                <p:cNvSpPr>
                  <a:spLocks noChangeArrowheads="1"/>
                </p:cNvSpPr>
                <p:nvPr/>
              </p:nvSpPr>
              <p:spPr bwMode="auto">
                <a:xfrm>
                  <a:off x="6981784" y="1336184"/>
                  <a:ext cx="643039" cy="3597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sz="2000" b="1">
                      <a:solidFill>
                        <a:srgbClr val="0070C0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</a:rPr>
                    <a:t>4.</a:t>
                  </a:r>
                  <a:endParaRPr lang="zh-CN" altLang="en-US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681" name="组合 66"/>
              <p:cNvGrpSpPr/>
              <p:nvPr/>
            </p:nvGrpSpPr>
            <p:grpSpPr bwMode="auto">
              <a:xfrm>
                <a:off x="7008813" y="2006600"/>
                <a:ext cx="519112" cy="346075"/>
                <a:chOff x="7268238" y="2846378"/>
                <a:chExt cx="576000" cy="385071"/>
              </a:xfrm>
            </p:grpSpPr>
            <p:sp>
              <p:nvSpPr>
                <p:cNvPr id="306" name="燕尾形 305"/>
                <p:cNvSpPr/>
                <p:nvPr/>
              </p:nvSpPr>
              <p:spPr>
                <a:xfrm rot="5400000">
                  <a:off x="7449075" y="2665850"/>
                  <a:ext cx="214325" cy="57600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7" name="燕尾形 306"/>
                <p:cNvSpPr/>
                <p:nvPr/>
              </p:nvSpPr>
              <p:spPr>
                <a:xfrm rot="5400000">
                  <a:off x="7449076" y="2835722"/>
                  <a:ext cx="214324" cy="57600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6684" name="组合 88"/>
              <p:cNvGrpSpPr/>
              <p:nvPr/>
            </p:nvGrpSpPr>
            <p:grpSpPr bwMode="auto">
              <a:xfrm>
                <a:off x="6426200" y="2446336"/>
                <a:ext cx="1684338" cy="3100607"/>
                <a:chOff x="6425973" y="2508668"/>
                <a:chExt cx="1684800" cy="3100772"/>
              </a:xfrm>
            </p:grpSpPr>
            <p:sp>
              <p:nvSpPr>
                <p:cNvPr id="303" name="矩形 302"/>
                <p:cNvSpPr/>
                <p:nvPr/>
              </p:nvSpPr>
              <p:spPr>
                <a:xfrm>
                  <a:off x="6425973" y="2508668"/>
                  <a:ext cx="1684800" cy="3100772"/>
                </a:xfrm>
                <a:prstGeom prst="rect">
                  <a:avLst/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 dirty="0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304" name="直接连接符 303"/>
                <p:cNvCxnSpPr/>
                <p:nvPr/>
              </p:nvCxnSpPr>
              <p:spPr>
                <a:xfrm>
                  <a:off x="6491079" y="3043754"/>
                  <a:ext cx="1554588" cy="0"/>
                </a:xfrm>
                <a:prstGeom prst="line">
                  <a:avLst/>
                </a:prstGeom>
                <a:ln w="12700">
                  <a:solidFill>
                    <a:srgbClr val="A50021"/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687" name="TextBox 146"/>
                <p:cNvSpPr txBox="1">
                  <a:spLocks noChangeArrowheads="1"/>
                </p:cNvSpPr>
                <p:nvPr/>
              </p:nvSpPr>
              <p:spPr bwMode="auto">
                <a:xfrm>
                  <a:off x="6457733" y="2635644"/>
                  <a:ext cx="1621283" cy="2767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400" b="1" dirty="0">
                      <a:solidFill>
                        <a:srgbClr val="CC33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普通高中教育</a:t>
                  </a:r>
                  <a:endParaRPr lang="en-US" altLang="zh-CN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6688" name="TextBox 146"/>
            <p:cNvSpPr txBox="1">
              <a:spLocks noChangeArrowheads="1"/>
            </p:cNvSpPr>
            <p:nvPr/>
          </p:nvSpPr>
          <p:spPr bwMode="auto">
            <a:xfrm>
              <a:off x="6216469" y="4314510"/>
              <a:ext cx="1620837" cy="1632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国家免学费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国家助学金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学校资助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4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社会资助</a:t>
              </a: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4"/>
          <p:cNvGrpSpPr/>
          <p:nvPr/>
        </p:nvGrpSpPr>
        <p:grpSpPr bwMode="auto">
          <a:xfrm>
            <a:off x="7786565" y="1433434"/>
            <a:ext cx="1771212" cy="5123174"/>
            <a:chOff x="8028749" y="2117153"/>
            <a:chExt cx="1771674" cy="4616583"/>
          </a:xfrm>
        </p:grpSpPr>
        <p:grpSp>
          <p:nvGrpSpPr>
            <p:cNvPr id="26690" name="组合 70"/>
            <p:cNvGrpSpPr/>
            <p:nvPr/>
          </p:nvGrpSpPr>
          <p:grpSpPr bwMode="auto">
            <a:xfrm>
              <a:off x="8028749" y="2117153"/>
              <a:ext cx="1684338" cy="4616583"/>
              <a:chOff x="6426200" y="918285"/>
              <a:chExt cx="1684338" cy="4616583"/>
            </a:xfrm>
          </p:grpSpPr>
          <p:grpSp>
            <p:nvGrpSpPr>
              <p:cNvPr id="26691" name="组合 84"/>
              <p:cNvGrpSpPr/>
              <p:nvPr/>
            </p:nvGrpSpPr>
            <p:grpSpPr bwMode="auto">
              <a:xfrm>
                <a:off x="6693852" y="918285"/>
                <a:ext cx="1153286" cy="1036860"/>
                <a:chOff x="6693765" y="979651"/>
                <a:chExt cx="1153466" cy="1037022"/>
              </a:xfrm>
            </p:grpSpPr>
            <p:sp>
              <p:nvSpPr>
                <p:cNvPr id="321" name="同心圆 320"/>
                <p:cNvSpPr>
                  <a:spLocks noChangeAspect="1"/>
                </p:cNvSpPr>
                <p:nvPr/>
              </p:nvSpPr>
              <p:spPr>
                <a:xfrm>
                  <a:off x="6693765" y="979651"/>
                  <a:ext cx="1153466" cy="1037022"/>
                </a:xfrm>
                <a:prstGeom prst="donut">
                  <a:avLst/>
                </a:prstGeom>
                <a:solidFill>
                  <a:srgbClr val="F02079"/>
                </a:solidFill>
                <a:ln w="15875" algn="ctr">
                  <a:solidFill>
                    <a:schemeClr val="bg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 defTabSz="913530" eaLnBrk="0" hangingPunct="0">
                    <a:buClr>
                      <a:srgbClr val="FF0000"/>
                    </a:buClr>
                    <a:buSzPct val="70000"/>
                    <a:defRPr/>
                  </a:pPr>
                  <a:endParaRPr lang="zh-CN" altLang="en-US" sz="2000" b="1" dirty="0">
                    <a:solidFill>
                      <a:srgbClr val="0070C0"/>
                    </a:solidFill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693" name="Rectangle 13"/>
                <p:cNvSpPr>
                  <a:spLocks noChangeArrowheads="1"/>
                </p:cNvSpPr>
                <p:nvPr/>
              </p:nvSpPr>
              <p:spPr bwMode="auto">
                <a:xfrm>
                  <a:off x="6981784" y="1336184"/>
                  <a:ext cx="643039" cy="3606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sz="2000" b="1">
                      <a:solidFill>
                        <a:srgbClr val="0070C0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</a:rPr>
                    <a:t>5.</a:t>
                  </a:r>
                  <a:endParaRPr lang="zh-CN" altLang="en-US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694" name="组合 66"/>
              <p:cNvGrpSpPr/>
              <p:nvPr/>
            </p:nvGrpSpPr>
            <p:grpSpPr bwMode="auto">
              <a:xfrm>
                <a:off x="7008813" y="2006600"/>
                <a:ext cx="519112" cy="346075"/>
                <a:chOff x="7268238" y="2846378"/>
                <a:chExt cx="576000" cy="385071"/>
              </a:xfrm>
            </p:grpSpPr>
            <p:sp>
              <p:nvSpPr>
                <p:cNvPr id="319" name="燕尾形 318"/>
                <p:cNvSpPr/>
                <p:nvPr/>
              </p:nvSpPr>
              <p:spPr>
                <a:xfrm rot="5400000">
                  <a:off x="7448825" y="2667325"/>
                  <a:ext cx="214825" cy="576001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0" name="燕尾形 319"/>
                <p:cNvSpPr/>
                <p:nvPr/>
              </p:nvSpPr>
              <p:spPr>
                <a:xfrm rot="5400000">
                  <a:off x="7448029" y="2836799"/>
                  <a:ext cx="216417" cy="576001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6697" name="组合 88"/>
              <p:cNvGrpSpPr/>
              <p:nvPr/>
            </p:nvGrpSpPr>
            <p:grpSpPr bwMode="auto">
              <a:xfrm>
                <a:off x="6426200" y="2447036"/>
                <a:ext cx="1684338" cy="3087832"/>
                <a:chOff x="6425973" y="2509368"/>
                <a:chExt cx="1684800" cy="3087997"/>
              </a:xfrm>
            </p:grpSpPr>
            <p:sp>
              <p:nvSpPr>
                <p:cNvPr id="316" name="矩形 315"/>
                <p:cNvSpPr/>
                <p:nvPr/>
              </p:nvSpPr>
              <p:spPr>
                <a:xfrm>
                  <a:off x="6425973" y="2509368"/>
                  <a:ext cx="1684800" cy="3087997"/>
                </a:xfrm>
                <a:prstGeom prst="rect">
                  <a:avLst/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 dirty="0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317" name="直接连接符 316"/>
                <p:cNvCxnSpPr/>
                <p:nvPr/>
              </p:nvCxnSpPr>
              <p:spPr>
                <a:xfrm>
                  <a:off x="6491078" y="3045704"/>
                  <a:ext cx="1554590" cy="0"/>
                </a:xfrm>
                <a:prstGeom prst="line">
                  <a:avLst/>
                </a:prstGeom>
                <a:ln w="12700">
                  <a:solidFill>
                    <a:srgbClr val="A50021"/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700" name="TextBox 146"/>
                <p:cNvSpPr txBox="1">
                  <a:spLocks noChangeArrowheads="1"/>
                </p:cNvSpPr>
                <p:nvPr/>
              </p:nvSpPr>
              <p:spPr bwMode="auto">
                <a:xfrm>
                  <a:off x="6457733" y="2635647"/>
                  <a:ext cx="1621283" cy="2773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400" b="1" dirty="0">
                      <a:solidFill>
                        <a:srgbClr val="CC33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本专科生教育</a:t>
                  </a:r>
                  <a:endParaRPr lang="en-US" altLang="zh-CN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6701" name="TextBox 146"/>
            <p:cNvSpPr txBox="1">
              <a:spLocks noChangeArrowheads="1"/>
            </p:cNvSpPr>
            <p:nvPr/>
          </p:nvSpPr>
          <p:spPr bwMode="auto">
            <a:xfrm>
              <a:off x="8179586" y="4136070"/>
              <a:ext cx="1620837" cy="2246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国家奖学金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国家励志奖学金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国家助学金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国家助学贷款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学费补偿贷款代偿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退役士兵教育资助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新生入学资助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校内奖助学金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勤工助学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困难补助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伙食补助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3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绿色通道</a:t>
              </a:r>
              <a:endParaRPr lang="en-US" altLang="zh-CN" sz="13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7"/>
          <p:cNvGrpSpPr/>
          <p:nvPr/>
        </p:nvGrpSpPr>
        <p:grpSpPr bwMode="auto">
          <a:xfrm>
            <a:off x="9679958" y="1412111"/>
            <a:ext cx="2279991" cy="5142915"/>
            <a:chOff x="9921950" y="2114932"/>
            <a:chExt cx="1916464" cy="4626021"/>
          </a:xfrm>
        </p:grpSpPr>
        <p:grpSp>
          <p:nvGrpSpPr>
            <p:cNvPr id="26703" name="组合 94"/>
            <p:cNvGrpSpPr/>
            <p:nvPr/>
          </p:nvGrpSpPr>
          <p:grpSpPr bwMode="auto">
            <a:xfrm>
              <a:off x="9921950" y="2114932"/>
              <a:ext cx="1684891" cy="4626021"/>
              <a:chOff x="6426201" y="926239"/>
              <a:chExt cx="1684891" cy="4626021"/>
            </a:xfrm>
          </p:grpSpPr>
          <p:grpSp>
            <p:nvGrpSpPr>
              <p:cNvPr id="26704" name="组合 84"/>
              <p:cNvGrpSpPr/>
              <p:nvPr/>
            </p:nvGrpSpPr>
            <p:grpSpPr bwMode="auto">
              <a:xfrm>
                <a:off x="6783794" y="926239"/>
                <a:ext cx="969152" cy="1036419"/>
                <a:chOff x="6783719" y="987606"/>
                <a:chExt cx="969303" cy="1036581"/>
              </a:xfrm>
            </p:grpSpPr>
            <p:sp>
              <p:nvSpPr>
                <p:cNvPr id="334" name="同心圆 333"/>
                <p:cNvSpPr>
                  <a:spLocks noChangeAspect="1"/>
                </p:cNvSpPr>
                <p:nvPr/>
              </p:nvSpPr>
              <p:spPr>
                <a:xfrm>
                  <a:off x="6783719" y="987606"/>
                  <a:ext cx="969303" cy="1036581"/>
                </a:xfrm>
                <a:prstGeom prst="donut">
                  <a:avLst/>
                </a:prstGeom>
                <a:solidFill>
                  <a:srgbClr val="FF7C80"/>
                </a:solidFill>
                <a:ln w="15875" algn="ctr">
                  <a:solidFill>
                    <a:schemeClr val="bg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algn="ctr" defTabSz="913530" eaLnBrk="0" hangingPunct="0">
                    <a:buClr>
                      <a:srgbClr val="FF0000"/>
                    </a:buClr>
                    <a:buSzPct val="70000"/>
                    <a:defRPr/>
                  </a:pPr>
                  <a:endParaRPr lang="zh-CN" altLang="en-US" sz="2000" b="1" dirty="0">
                    <a:solidFill>
                      <a:srgbClr val="0070C0"/>
                    </a:solidFill>
                    <a:latin typeface="Calibri" panose="020F0502020204030204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706" name="Rectangle 13"/>
                <p:cNvSpPr>
                  <a:spLocks noChangeArrowheads="1"/>
                </p:cNvSpPr>
                <p:nvPr/>
              </p:nvSpPr>
              <p:spPr bwMode="auto">
                <a:xfrm>
                  <a:off x="6981784" y="1336185"/>
                  <a:ext cx="643038" cy="3599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sz="2000" b="1">
                      <a:solidFill>
                        <a:srgbClr val="0070C0"/>
                      </a:solidFill>
                      <a:latin typeface="Calibri" panose="020F0502020204030204" pitchFamily="34" charset="0"/>
                      <a:ea typeface="微软雅黑" panose="020B0503020204020204" pitchFamily="34" charset="-122"/>
                    </a:rPr>
                    <a:t>6.</a:t>
                  </a:r>
                  <a:endParaRPr lang="zh-CN" altLang="en-US" sz="2000" b="1">
                    <a:solidFill>
                      <a:srgbClr val="0070C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707" name="组合 66"/>
              <p:cNvGrpSpPr/>
              <p:nvPr/>
            </p:nvGrpSpPr>
            <p:grpSpPr bwMode="auto">
              <a:xfrm>
                <a:off x="7008813" y="2006600"/>
                <a:ext cx="519112" cy="346075"/>
                <a:chOff x="7268238" y="2846378"/>
                <a:chExt cx="576000" cy="385071"/>
              </a:xfrm>
            </p:grpSpPr>
            <p:sp>
              <p:nvSpPr>
                <p:cNvPr id="332" name="燕尾形 331"/>
                <p:cNvSpPr/>
                <p:nvPr/>
              </p:nvSpPr>
              <p:spPr>
                <a:xfrm rot="5400000">
                  <a:off x="7450914" y="2668232"/>
                  <a:ext cx="211262" cy="57581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33" name="燕尾形 332"/>
                <p:cNvSpPr/>
                <p:nvPr/>
              </p:nvSpPr>
              <p:spPr>
                <a:xfrm rot="5400000">
                  <a:off x="7449325" y="2836607"/>
                  <a:ext cx="214439" cy="575810"/>
                </a:xfrm>
                <a:prstGeom prst="chevron">
                  <a:avLst>
                    <a:gd name="adj" fmla="val 63229"/>
                  </a:avLst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6710" name="组合 88"/>
              <p:cNvGrpSpPr/>
              <p:nvPr/>
            </p:nvGrpSpPr>
            <p:grpSpPr bwMode="auto">
              <a:xfrm>
                <a:off x="6426201" y="2450003"/>
                <a:ext cx="1684891" cy="3102257"/>
                <a:chOff x="6425973" y="2512335"/>
                <a:chExt cx="1685353" cy="3102423"/>
              </a:xfrm>
            </p:grpSpPr>
            <p:sp>
              <p:nvSpPr>
                <p:cNvPr id="329" name="矩形 328"/>
                <p:cNvSpPr/>
                <p:nvPr/>
              </p:nvSpPr>
              <p:spPr>
                <a:xfrm>
                  <a:off x="6425973" y="2512335"/>
                  <a:ext cx="1685353" cy="3102423"/>
                </a:xfrm>
                <a:prstGeom prst="rect">
                  <a:avLst/>
                </a:prstGeom>
                <a:noFill/>
                <a:ln w="15875">
                  <a:solidFill>
                    <a:srgbClr val="A50021"/>
                  </a:solidFill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3530">
                    <a:defRPr/>
                  </a:pPr>
                  <a:endParaRPr lang="zh-CN" altLang="en-US" b="1">
                    <a:solidFill>
                      <a:srgbClr val="0070C0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330" name="直接连接符 329"/>
                <p:cNvCxnSpPr/>
                <p:nvPr/>
              </p:nvCxnSpPr>
              <p:spPr>
                <a:xfrm>
                  <a:off x="6491359" y="3047704"/>
                  <a:ext cx="1554581" cy="0"/>
                </a:xfrm>
                <a:prstGeom prst="line">
                  <a:avLst/>
                </a:prstGeom>
                <a:ln w="12700">
                  <a:solidFill>
                    <a:srgbClr val="A50021"/>
                  </a:solidFill>
                  <a:prstDash val="dash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713" name="TextBox 146"/>
                <p:cNvSpPr txBox="1">
                  <a:spLocks noChangeArrowheads="1"/>
                </p:cNvSpPr>
                <p:nvPr/>
              </p:nvSpPr>
              <p:spPr bwMode="auto">
                <a:xfrm>
                  <a:off x="6457732" y="2635645"/>
                  <a:ext cx="1621283" cy="2768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defTabSz="91353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400" b="1" dirty="0">
                      <a:solidFill>
                        <a:srgbClr val="CC33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研究生教育</a:t>
                  </a:r>
                  <a:endParaRPr lang="en-US" altLang="zh-CN" sz="1400" b="1" dirty="0">
                    <a:solidFill>
                      <a:srgbClr val="CC33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6714" name="TextBox 146"/>
            <p:cNvSpPr txBox="1">
              <a:spLocks noChangeArrowheads="1"/>
            </p:cNvSpPr>
            <p:nvPr/>
          </p:nvSpPr>
          <p:spPr bwMode="auto">
            <a:xfrm>
              <a:off x="10217576" y="4186444"/>
              <a:ext cx="1620838" cy="2270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1755" indent="-7175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国家奖学金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学业奖学金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国家助学金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“三助”岗位津贴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国家助学贷款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学费补偿贷款代偿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退役士兵教育资助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lang="zh-CN" altLang="en-US" sz="12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校内奖助学金</a:t>
              </a:r>
              <a:endParaRPr lang="en-US" altLang="zh-CN" sz="1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71118" indent="-71118" defTabSz="913530" fontAlgn="base">
                <a:spcBef>
                  <a:spcPct val="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endParaRPr lang="en-US" altLang="zh-CN" sz="1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527381" y="644691"/>
            <a:ext cx="72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E11B1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我国学生资助政策体系概览</a:t>
            </a:r>
          </a:p>
        </p:txBody>
      </p:sp>
    </p:spTree>
    <p:extLst>
      <p:ext uri="{BB962C8B-B14F-4D97-AF65-F5344CB8AC3E}">
        <p14:creationId xmlns:p14="http://schemas.microsoft.com/office/powerpoint/2010/main" val="32690951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35361" y="1508788"/>
          <a:ext cx="11303461" cy="482788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0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03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资助分类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资助标准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资助人数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申请资格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备注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427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国家奖学金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8000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元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人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·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年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每年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万名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全日制本专科中特别优秀的学生</a:t>
                      </a:r>
                    </a:p>
                  </a:txBody>
                  <a:tcPr marL="17013" marR="17013" marT="17013" marB="17013" anchor="ctr"/>
                </a:tc>
                <a:tc rowSpan="2"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获奖学生为高校在校生二年级以上，农林水地矿油核等专业适当倾斜。国家奖学金和励志奖学金不可兼得，但均可申请国家助学金。</a:t>
                      </a:r>
                      <a:b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</a:b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免费师范生不再同时获得励志奖学金。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63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国家励志奖学金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5000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元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人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·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年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每年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51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万名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全日制本专科中品学兼优的家庭经济困难学生</a:t>
                      </a:r>
                    </a:p>
                  </a:txBody>
                  <a:tcPr marL="17013" marR="17013" marT="17013" marB="17013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627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国家助学金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2000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元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人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·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年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每年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340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万名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全日制本专科中家庭经济困难学生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农林水地矿油核等专业适当倾斜。获得助学金的同时可申请获得国家奖学金或励志奖学金。免费师范生不再同时获得国家助学金。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20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国家助学贷款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6000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元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人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·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年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原则上不超过各校在校生总数的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20%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，生源地贷款没有限制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全日制高校中经济困难的本专科生（含高职生）、研究生和第二学士学位学生。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民办高职、独立学院不可申请；</a:t>
                      </a:r>
                      <a:b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</a:b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申请助学贷款的学生毕业后到西部和边远地区基层就业三年以上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(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含三年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)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，则助学贷款本金及利息由国家偿还；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627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其它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勤工助学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原则上不低于每小时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元人民币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学校统筹安排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全日制高校经济困难的本专科生（含高职生）、研究生和第二学士学位学生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岗位分校内、校外两类，校内主要是助教、助管、助研和一些后勤服务工作；时间原则上每周不超过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小时，每月不超过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40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小时。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320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师范生免费教育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免除学费，住宿费，补助生活费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六所部属师范大学免费师范专业的</a:t>
                      </a:r>
                      <a:r>
                        <a:rPr lang="en-US" altLang="zh-CN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1.2</a:t>
                      </a:r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万名学生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热爱教育事业，有志于长期从教、终身从教的优秀学生</a:t>
                      </a:r>
                    </a:p>
                  </a:txBody>
                  <a:tcPr marL="17013" marR="17013" marT="17013" marB="17013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有志从教并符合条件的非师范专业优秀学生，在入学两年内，可在教育部和学校核定的计划内转入师范专业；免费师范生可按照学校规定在师范专业范围内进行二次专业选择。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1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0" kern="120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绿色通道</a:t>
                      </a:r>
                    </a:p>
                  </a:txBody>
                  <a:tcPr marL="17013" marR="17013" marT="17013" marB="17013"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zh-CN" altLang="en-US" sz="1300" b="0" kern="120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贫困新生没有办法筹措足额学费、住宿费，可先报到入学。学校为其办理入学手续后再根据核实后的困难情况给予相应的资助。</a:t>
                      </a:r>
                    </a:p>
                  </a:txBody>
                  <a:tcPr marL="17013" marR="17013" marT="17013" marB="1701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b="0" kern="1200" dirty="0">
                          <a:solidFill>
                            <a:srgbClr val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学校对家庭经济特别困难的孤残学生、烈士子女、优抚家庭子女等实行减免学费政策。</a:t>
                      </a:r>
                    </a:p>
                  </a:txBody>
                  <a:tcPr marL="17013" marR="17013" marT="17013" marB="1701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27382" y="644691"/>
            <a:ext cx="6816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E11B1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高校学生资助体系介绍</a:t>
            </a:r>
          </a:p>
        </p:txBody>
      </p:sp>
    </p:spTree>
    <p:extLst>
      <p:ext uri="{BB962C8B-B14F-4D97-AF65-F5344CB8AC3E}">
        <p14:creationId xmlns:p14="http://schemas.microsoft.com/office/powerpoint/2010/main" val="1641747583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7382" y="644691"/>
            <a:ext cx="6816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spc="300" dirty="0">
                <a:solidFill>
                  <a:srgbClr val="E11B1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高等教育学生资助政策</a:t>
            </a:r>
            <a:endParaRPr lang="zh-CN" altLang="en-US" sz="1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7382" y="1380714"/>
            <a:ext cx="9601067" cy="458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algn="just" defTabSz="1219170" fontAlgn="base">
              <a:lnSpc>
                <a:spcPct val="150000"/>
              </a:lnSpc>
              <a:spcBef>
                <a:spcPct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altLang="zh-CN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本科生教育阶段</a:t>
            </a:r>
            <a:endParaRPr lang="en-US" altLang="zh-CN" sz="2133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1219170" fontAlgn="base">
              <a:lnSpc>
                <a:spcPct val="150000"/>
              </a:lnSpc>
              <a:spcBef>
                <a:spcPct val="0"/>
              </a:spcBef>
              <a:spcAft>
                <a:spcPts val="1600"/>
              </a:spcAft>
            </a:pPr>
            <a:r>
              <a:rPr lang="zh-CN" altLang="en-US" sz="2133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奖助学金、国家助学贷款、助学成才服务对象认定及“云家访”、学费补偿贷款代偿、校内奖助学金、勤工助学、困难补助、伙食补贴、学费减免、“绿色通道”、大学生医疗保险、学业发展与指导等多种方式的混合资助体系</a:t>
            </a:r>
            <a:endParaRPr lang="en-US" altLang="zh-CN" sz="2133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 algn="just" defTabSz="1219170" fontAlgn="base">
              <a:lnSpc>
                <a:spcPct val="150000"/>
              </a:lnSpc>
              <a:spcBef>
                <a:spcPct val="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altLang="zh-CN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13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研究生教育阶段</a:t>
            </a:r>
            <a:endParaRPr lang="en-US" altLang="zh-CN" sz="2133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1219170" fontAlgn="base">
              <a:lnSpc>
                <a:spcPct val="150000"/>
              </a:lnSpc>
              <a:spcBef>
                <a:spcPct val="0"/>
              </a:spcBef>
              <a:spcAft>
                <a:spcPts val="1600"/>
              </a:spcAft>
            </a:pPr>
            <a:r>
              <a:rPr lang="zh-CN" altLang="en-US" sz="2133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国家奖助学金、“三助”岗位津贴、国家助学贷款、研究生助学成才服务对象认定、困难补助、学费补偿贷款代偿、“绿色通道”、大学生医疗保险、学业发展与指导等多种方式并举</a:t>
            </a:r>
          </a:p>
        </p:txBody>
      </p:sp>
    </p:spTree>
    <p:extLst>
      <p:ext uri="{BB962C8B-B14F-4D97-AF65-F5344CB8AC3E}">
        <p14:creationId xmlns:p14="http://schemas.microsoft.com/office/powerpoint/2010/main" val="1079840566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 descr="e7d195523061f1c0e47ffc70844bb6f75fcb03b75858c49c480C64385E58A9406A784D96DFB0659D141F23C21B5D92CEF93DE268DCD659DE2284C54467FC4D0C40898BA465CB317FBA32D1D63CA47264EA5C2B88F32AA424541E3EF396E249FC941D65EEE515FDEBC3CED1104D6DA87E4407CFF30DF5E34AEF5474F52BB462ACA1758EAC5551D70C"/>
          <p:cNvGrpSpPr/>
          <p:nvPr/>
        </p:nvGrpSpPr>
        <p:grpSpPr>
          <a:xfrm>
            <a:off x="170330" y="1988840"/>
            <a:ext cx="3729836" cy="3796728"/>
            <a:chOff x="6251818" y="1247847"/>
            <a:chExt cx="4868863" cy="5105328"/>
          </a:xfrm>
        </p:grpSpPr>
        <p:grpSp>
          <p:nvGrpSpPr>
            <p:cNvPr id="28" name="组合 27"/>
            <p:cNvGrpSpPr/>
            <p:nvPr/>
          </p:nvGrpSpPr>
          <p:grpSpPr>
            <a:xfrm flipH="1">
              <a:off x="6251818" y="1247847"/>
              <a:ext cx="3527425" cy="4938642"/>
              <a:chOff x="7407276" y="1247847"/>
              <a:chExt cx="3527425" cy="4938642"/>
            </a:xfrm>
          </p:grpSpPr>
          <p:sp>
            <p:nvSpPr>
              <p:cNvPr id="72" name="Oval 5"/>
              <p:cNvSpPr>
                <a:spLocks noChangeArrowheads="1"/>
              </p:cNvSpPr>
              <p:nvPr/>
            </p:nvSpPr>
            <p:spPr bwMode="auto">
              <a:xfrm>
                <a:off x="7466013" y="5853114"/>
                <a:ext cx="3405187" cy="33337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6"/>
              <p:cNvSpPr/>
              <p:nvPr/>
            </p:nvSpPr>
            <p:spPr bwMode="auto">
              <a:xfrm>
                <a:off x="7581900" y="1536772"/>
                <a:ext cx="3176589" cy="3000375"/>
              </a:xfrm>
              <a:custGeom>
                <a:avLst/>
                <a:gdLst>
                  <a:gd name="T0" fmla="*/ 1908 w 2001"/>
                  <a:gd name="T1" fmla="*/ 1890 h 1890"/>
                  <a:gd name="T2" fmla="*/ 89 w 2001"/>
                  <a:gd name="T3" fmla="*/ 1890 h 1890"/>
                  <a:gd name="T4" fmla="*/ 0 w 2001"/>
                  <a:gd name="T5" fmla="*/ 0 h 1890"/>
                  <a:gd name="T6" fmla="*/ 2001 w 2001"/>
                  <a:gd name="T7" fmla="*/ 0 h 1890"/>
                  <a:gd name="T8" fmla="*/ 1908 w 2001"/>
                  <a:gd name="T9" fmla="*/ 1890 h 1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1" h="1890">
                    <a:moveTo>
                      <a:pt x="1908" y="1890"/>
                    </a:moveTo>
                    <a:lnTo>
                      <a:pt x="89" y="1890"/>
                    </a:lnTo>
                    <a:lnTo>
                      <a:pt x="0" y="0"/>
                    </a:lnTo>
                    <a:lnTo>
                      <a:pt x="2001" y="0"/>
                    </a:lnTo>
                    <a:lnTo>
                      <a:pt x="1908" y="1890"/>
                    </a:lnTo>
                    <a:close/>
                  </a:path>
                </a:pathLst>
              </a:custGeom>
              <a:solidFill>
                <a:srgbClr val="CC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7"/>
              <p:cNvSpPr/>
              <p:nvPr/>
            </p:nvSpPr>
            <p:spPr bwMode="auto">
              <a:xfrm>
                <a:off x="7515186" y="1600169"/>
                <a:ext cx="3182940" cy="2776537"/>
              </a:xfrm>
              <a:custGeom>
                <a:avLst/>
                <a:gdLst>
                  <a:gd name="T0" fmla="*/ 1801 w 1889"/>
                  <a:gd name="T1" fmla="*/ 1749 h 1749"/>
                  <a:gd name="T2" fmla="*/ 84 w 1889"/>
                  <a:gd name="T3" fmla="*/ 1749 h 1749"/>
                  <a:gd name="T4" fmla="*/ 0 w 1889"/>
                  <a:gd name="T5" fmla="*/ 0 h 1749"/>
                  <a:gd name="T6" fmla="*/ 1889 w 1889"/>
                  <a:gd name="T7" fmla="*/ 0 h 1749"/>
                  <a:gd name="T8" fmla="*/ 1801 w 1889"/>
                  <a:gd name="T9" fmla="*/ 1749 h 1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9" h="1749">
                    <a:moveTo>
                      <a:pt x="1801" y="1749"/>
                    </a:moveTo>
                    <a:lnTo>
                      <a:pt x="84" y="1749"/>
                    </a:lnTo>
                    <a:lnTo>
                      <a:pt x="0" y="0"/>
                    </a:lnTo>
                    <a:lnTo>
                      <a:pt x="1889" y="0"/>
                    </a:lnTo>
                    <a:lnTo>
                      <a:pt x="1801" y="1749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 defTabSz="914377"/>
                <a:r>
                  <a:rPr lang="zh-CN" altLang="en-US" sz="2133" b="1" dirty="0">
                    <a:solidFill>
                      <a:srgbClr val="C00000"/>
                    </a:solidFill>
                    <a:latin typeface="造字工房悦圆（非商用）常规体" pitchFamily="2" charset="-122"/>
                    <a:ea typeface="造字工房悦圆（非商用）常规体" pitchFamily="2" charset="-122"/>
                  </a:rPr>
                  <a:t>精准发力，</a:t>
                </a:r>
                <a:endParaRPr lang="en-US" altLang="zh-CN" sz="2133" b="1" dirty="0">
                  <a:solidFill>
                    <a:srgbClr val="C00000"/>
                  </a:solidFill>
                  <a:latin typeface="造字工房悦圆（非商用）常规体" pitchFamily="2" charset="-122"/>
                  <a:ea typeface="造字工房悦圆（非商用）常规体" pitchFamily="2" charset="-122"/>
                </a:endParaRPr>
              </a:p>
              <a:p>
                <a:pPr algn="ctr" defTabSz="914377"/>
                <a:r>
                  <a:rPr lang="zh-CN" altLang="en-US" sz="2133" b="1" dirty="0">
                    <a:solidFill>
                      <a:srgbClr val="C00000"/>
                    </a:solidFill>
                    <a:latin typeface="造字工房悦圆（非商用）常规体" pitchFamily="2" charset="-122"/>
                    <a:ea typeface="造字工房悦圆（非商用）常规体" pitchFamily="2" charset="-122"/>
                  </a:rPr>
                  <a:t>优化资助全程精度</a:t>
                </a:r>
              </a:p>
            </p:txBody>
          </p:sp>
          <p:sp>
            <p:nvSpPr>
              <p:cNvPr id="75" name="Freeform 8"/>
              <p:cNvSpPr/>
              <p:nvPr/>
            </p:nvSpPr>
            <p:spPr bwMode="auto">
              <a:xfrm>
                <a:off x="7407276" y="1436758"/>
                <a:ext cx="3527425" cy="126999"/>
              </a:xfrm>
              <a:custGeom>
                <a:avLst/>
                <a:gdLst>
                  <a:gd name="T0" fmla="*/ 1885 w 1885"/>
                  <a:gd name="T1" fmla="*/ 34 h 68"/>
                  <a:gd name="T2" fmla="*/ 1851 w 1885"/>
                  <a:gd name="T3" fmla="*/ 68 h 68"/>
                  <a:gd name="T4" fmla="*/ 33 w 1885"/>
                  <a:gd name="T5" fmla="*/ 68 h 68"/>
                  <a:gd name="T6" fmla="*/ 0 w 1885"/>
                  <a:gd name="T7" fmla="*/ 34 h 68"/>
                  <a:gd name="T8" fmla="*/ 0 w 1885"/>
                  <a:gd name="T9" fmla="*/ 34 h 68"/>
                  <a:gd name="T10" fmla="*/ 33 w 1885"/>
                  <a:gd name="T11" fmla="*/ 0 h 68"/>
                  <a:gd name="T12" fmla="*/ 1851 w 1885"/>
                  <a:gd name="T13" fmla="*/ 0 h 68"/>
                  <a:gd name="T14" fmla="*/ 1885 w 1885"/>
                  <a:gd name="T15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85" h="68">
                    <a:moveTo>
                      <a:pt x="1885" y="34"/>
                    </a:moveTo>
                    <a:cubicBezTo>
                      <a:pt x="1885" y="53"/>
                      <a:pt x="1870" y="68"/>
                      <a:pt x="1851" y="68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15" y="68"/>
                      <a:pt x="0" y="53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16"/>
                      <a:pt x="15" y="0"/>
                      <a:pt x="33" y="0"/>
                    </a:cubicBezTo>
                    <a:cubicBezTo>
                      <a:pt x="1851" y="0"/>
                      <a:pt x="1851" y="0"/>
                      <a:pt x="1851" y="0"/>
                    </a:cubicBezTo>
                    <a:cubicBezTo>
                      <a:pt x="1870" y="0"/>
                      <a:pt x="1885" y="16"/>
                      <a:pt x="1885" y="34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9"/>
              <p:cNvSpPr/>
              <p:nvPr/>
            </p:nvSpPr>
            <p:spPr bwMode="auto">
              <a:xfrm>
                <a:off x="8969377" y="1247847"/>
                <a:ext cx="395287" cy="252412"/>
              </a:xfrm>
              <a:custGeom>
                <a:avLst/>
                <a:gdLst>
                  <a:gd name="T0" fmla="*/ 211 w 211"/>
                  <a:gd name="T1" fmla="*/ 38 h 135"/>
                  <a:gd name="T2" fmla="*/ 173 w 211"/>
                  <a:gd name="T3" fmla="*/ 0 h 135"/>
                  <a:gd name="T4" fmla="*/ 38 w 211"/>
                  <a:gd name="T5" fmla="*/ 0 h 135"/>
                  <a:gd name="T6" fmla="*/ 0 w 211"/>
                  <a:gd name="T7" fmla="*/ 38 h 135"/>
                  <a:gd name="T8" fmla="*/ 0 w 211"/>
                  <a:gd name="T9" fmla="*/ 98 h 135"/>
                  <a:gd name="T10" fmla="*/ 38 w 211"/>
                  <a:gd name="T11" fmla="*/ 135 h 135"/>
                  <a:gd name="T12" fmla="*/ 173 w 211"/>
                  <a:gd name="T13" fmla="*/ 135 h 135"/>
                  <a:gd name="T14" fmla="*/ 211 w 211"/>
                  <a:gd name="T15" fmla="*/ 98 h 135"/>
                  <a:gd name="T16" fmla="*/ 211 w 211"/>
                  <a:gd name="T17" fmla="*/ 3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1" h="135">
                    <a:moveTo>
                      <a:pt x="211" y="38"/>
                    </a:moveTo>
                    <a:cubicBezTo>
                      <a:pt x="211" y="17"/>
                      <a:pt x="194" y="0"/>
                      <a:pt x="17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8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8"/>
                      <a:pt x="17" y="135"/>
                      <a:pt x="38" y="135"/>
                    </a:cubicBezTo>
                    <a:cubicBezTo>
                      <a:pt x="173" y="135"/>
                      <a:pt x="173" y="135"/>
                      <a:pt x="173" y="135"/>
                    </a:cubicBezTo>
                    <a:cubicBezTo>
                      <a:pt x="194" y="135"/>
                      <a:pt x="211" y="118"/>
                      <a:pt x="211" y="98"/>
                    </a:cubicBezTo>
                    <a:lnTo>
                      <a:pt x="211" y="38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10"/>
              <p:cNvSpPr/>
              <p:nvPr/>
            </p:nvSpPr>
            <p:spPr bwMode="auto">
              <a:xfrm>
                <a:off x="9382125" y="4621283"/>
                <a:ext cx="877889" cy="1012825"/>
              </a:xfrm>
              <a:custGeom>
                <a:avLst/>
                <a:gdLst>
                  <a:gd name="T0" fmla="*/ 469 w 469"/>
                  <a:gd name="T1" fmla="*/ 541 h 541"/>
                  <a:gd name="T2" fmla="*/ 135 w 469"/>
                  <a:gd name="T3" fmla="*/ 0 h 541"/>
                  <a:gd name="T4" fmla="*/ 0 w 469"/>
                  <a:gd name="T5" fmla="*/ 0 h 541"/>
                  <a:gd name="T6" fmla="*/ 334 w 469"/>
                  <a:gd name="T7" fmla="*/ 541 h 541"/>
                  <a:gd name="T8" fmla="*/ 469 w 469"/>
                  <a:gd name="T9" fmla="*/ 541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9" h="541">
                    <a:moveTo>
                      <a:pt x="469" y="541"/>
                    </a:moveTo>
                    <a:cubicBezTo>
                      <a:pt x="469" y="541"/>
                      <a:pt x="139" y="0"/>
                      <a:pt x="135" y="0"/>
                    </a:cubicBezTo>
                    <a:cubicBezTo>
                      <a:pt x="131" y="0"/>
                      <a:pt x="0" y="0"/>
                      <a:pt x="0" y="0"/>
                    </a:cubicBezTo>
                    <a:cubicBezTo>
                      <a:pt x="334" y="541"/>
                      <a:pt x="334" y="541"/>
                      <a:pt x="334" y="541"/>
                    </a:cubicBezTo>
                    <a:cubicBezTo>
                      <a:pt x="334" y="541"/>
                      <a:pt x="431" y="541"/>
                      <a:pt x="469" y="541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11"/>
              <p:cNvSpPr/>
              <p:nvPr/>
            </p:nvSpPr>
            <p:spPr bwMode="auto">
              <a:xfrm>
                <a:off x="8077202" y="4621283"/>
                <a:ext cx="879474" cy="1012825"/>
              </a:xfrm>
              <a:custGeom>
                <a:avLst/>
                <a:gdLst>
                  <a:gd name="T0" fmla="*/ 0 w 470"/>
                  <a:gd name="T1" fmla="*/ 541 h 541"/>
                  <a:gd name="T2" fmla="*/ 334 w 470"/>
                  <a:gd name="T3" fmla="*/ 0 h 541"/>
                  <a:gd name="T4" fmla="*/ 470 w 470"/>
                  <a:gd name="T5" fmla="*/ 0 h 541"/>
                  <a:gd name="T6" fmla="*/ 135 w 470"/>
                  <a:gd name="T7" fmla="*/ 541 h 541"/>
                  <a:gd name="T8" fmla="*/ 0 w 470"/>
                  <a:gd name="T9" fmla="*/ 541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0" h="541">
                    <a:moveTo>
                      <a:pt x="0" y="541"/>
                    </a:moveTo>
                    <a:cubicBezTo>
                      <a:pt x="0" y="541"/>
                      <a:pt x="331" y="0"/>
                      <a:pt x="334" y="0"/>
                    </a:cubicBezTo>
                    <a:cubicBezTo>
                      <a:pt x="338" y="0"/>
                      <a:pt x="470" y="0"/>
                      <a:pt x="470" y="0"/>
                    </a:cubicBezTo>
                    <a:cubicBezTo>
                      <a:pt x="135" y="541"/>
                      <a:pt x="135" y="541"/>
                      <a:pt x="135" y="541"/>
                    </a:cubicBezTo>
                    <a:cubicBezTo>
                      <a:pt x="135" y="541"/>
                      <a:pt x="44" y="540"/>
                      <a:pt x="0" y="541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7553326" y="4494283"/>
                <a:ext cx="3233738" cy="126999"/>
              </a:xfrm>
              <a:custGeom>
                <a:avLst/>
                <a:gdLst>
                  <a:gd name="T0" fmla="*/ 1728 w 1728"/>
                  <a:gd name="T1" fmla="*/ 34 h 68"/>
                  <a:gd name="T2" fmla="*/ 1697 w 1728"/>
                  <a:gd name="T3" fmla="*/ 68 h 68"/>
                  <a:gd name="T4" fmla="*/ 31 w 1728"/>
                  <a:gd name="T5" fmla="*/ 68 h 68"/>
                  <a:gd name="T6" fmla="*/ 0 w 1728"/>
                  <a:gd name="T7" fmla="*/ 34 h 68"/>
                  <a:gd name="T8" fmla="*/ 0 w 1728"/>
                  <a:gd name="T9" fmla="*/ 34 h 68"/>
                  <a:gd name="T10" fmla="*/ 31 w 1728"/>
                  <a:gd name="T11" fmla="*/ 0 h 68"/>
                  <a:gd name="T12" fmla="*/ 1697 w 1728"/>
                  <a:gd name="T13" fmla="*/ 0 h 68"/>
                  <a:gd name="T14" fmla="*/ 1728 w 1728"/>
                  <a:gd name="T15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28" h="68">
                    <a:moveTo>
                      <a:pt x="1728" y="34"/>
                    </a:moveTo>
                    <a:cubicBezTo>
                      <a:pt x="1728" y="53"/>
                      <a:pt x="1714" y="68"/>
                      <a:pt x="1697" y="68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14" y="68"/>
                      <a:pt x="0" y="53"/>
                      <a:pt x="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15"/>
                      <a:pt x="14" y="0"/>
                      <a:pt x="31" y="0"/>
                    </a:cubicBezTo>
                    <a:cubicBezTo>
                      <a:pt x="1697" y="0"/>
                      <a:pt x="1697" y="0"/>
                      <a:pt x="1697" y="0"/>
                    </a:cubicBezTo>
                    <a:cubicBezTo>
                      <a:pt x="1714" y="0"/>
                      <a:pt x="1728" y="15"/>
                      <a:pt x="1728" y="34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764706" y="2187575"/>
              <a:ext cx="3355975" cy="4165600"/>
              <a:chOff x="7578726" y="2187575"/>
              <a:chExt cx="3355975" cy="4165600"/>
            </a:xfrm>
          </p:grpSpPr>
          <p:sp>
            <p:nvSpPr>
              <p:cNvPr id="31" name="Oval 13"/>
              <p:cNvSpPr>
                <a:spLocks noChangeArrowheads="1"/>
              </p:cNvSpPr>
              <p:nvPr/>
            </p:nvSpPr>
            <p:spPr bwMode="auto">
              <a:xfrm flipH="1">
                <a:off x="8709026" y="6019800"/>
                <a:ext cx="2193925" cy="33337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914377"/>
                <a:endParaRPr lang="zh-CN" altLang="en-US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 flipH="1">
                <a:off x="7578726" y="2187575"/>
                <a:ext cx="3355975" cy="4094163"/>
                <a:chOff x="6065838" y="2187575"/>
                <a:chExt cx="3355975" cy="4094163"/>
              </a:xfrm>
            </p:grpSpPr>
            <p:sp>
              <p:nvSpPr>
                <p:cNvPr id="33" name="Freeform 14"/>
                <p:cNvSpPr/>
                <p:nvPr/>
              </p:nvSpPr>
              <p:spPr bwMode="auto">
                <a:xfrm>
                  <a:off x="8180388" y="3546475"/>
                  <a:ext cx="328613" cy="190500"/>
                </a:xfrm>
                <a:custGeom>
                  <a:avLst/>
                  <a:gdLst>
                    <a:gd name="T0" fmla="*/ 176 w 176"/>
                    <a:gd name="T1" fmla="*/ 63 h 102"/>
                    <a:gd name="T2" fmla="*/ 115 w 176"/>
                    <a:gd name="T3" fmla="*/ 49 h 102"/>
                    <a:gd name="T4" fmla="*/ 59 w 176"/>
                    <a:gd name="T5" fmla="*/ 99 h 102"/>
                    <a:gd name="T6" fmla="*/ 3 w 176"/>
                    <a:gd name="T7" fmla="*/ 65 h 102"/>
                    <a:gd name="T8" fmla="*/ 51 w 176"/>
                    <a:gd name="T9" fmla="*/ 0 h 102"/>
                    <a:gd name="T10" fmla="*/ 176 w 176"/>
                    <a:gd name="T11" fmla="*/ 63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6" h="102">
                      <a:moveTo>
                        <a:pt x="176" y="63"/>
                      </a:moveTo>
                      <a:cubicBezTo>
                        <a:pt x="176" y="63"/>
                        <a:pt x="129" y="49"/>
                        <a:pt x="115" y="49"/>
                      </a:cubicBezTo>
                      <a:cubicBezTo>
                        <a:pt x="101" y="50"/>
                        <a:pt x="71" y="102"/>
                        <a:pt x="59" y="99"/>
                      </a:cubicBezTo>
                      <a:cubicBezTo>
                        <a:pt x="47" y="96"/>
                        <a:pt x="7" y="88"/>
                        <a:pt x="3" y="65"/>
                      </a:cubicBezTo>
                      <a:cubicBezTo>
                        <a:pt x="0" y="41"/>
                        <a:pt x="51" y="0"/>
                        <a:pt x="51" y="0"/>
                      </a:cubicBezTo>
                      <a:cubicBezTo>
                        <a:pt x="51" y="0"/>
                        <a:pt x="159" y="44"/>
                        <a:pt x="176" y="63"/>
                      </a:cubicBezTo>
                      <a:close/>
                    </a:path>
                  </a:pathLst>
                </a:custGeom>
                <a:solidFill>
                  <a:srgbClr val="F2CE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Freeform 15"/>
                <p:cNvSpPr/>
                <p:nvPr/>
              </p:nvSpPr>
              <p:spPr bwMode="auto">
                <a:xfrm>
                  <a:off x="7980363" y="2513013"/>
                  <a:ext cx="1441450" cy="1484312"/>
                </a:xfrm>
                <a:custGeom>
                  <a:avLst/>
                  <a:gdLst>
                    <a:gd name="T0" fmla="*/ 0 w 770"/>
                    <a:gd name="T1" fmla="*/ 763 h 793"/>
                    <a:gd name="T2" fmla="*/ 753 w 770"/>
                    <a:gd name="T3" fmla="*/ 0 h 793"/>
                    <a:gd name="T4" fmla="*/ 770 w 770"/>
                    <a:gd name="T5" fmla="*/ 16 h 793"/>
                    <a:gd name="T6" fmla="*/ 45 w 770"/>
                    <a:gd name="T7" fmla="*/ 793 h 793"/>
                    <a:gd name="T8" fmla="*/ 0 w 770"/>
                    <a:gd name="T9" fmla="*/ 763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0" h="793">
                      <a:moveTo>
                        <a:pt x="0" y="763"/>
                      </a:moveTo>
                      <a:cubicBezTo>
                        <a:pt x="0" y="763"/>
                        <a:pt x="700" y="39"/>
                        <a:pt x="753" y="0"/>
                      </a:cubicBezTo>
                      <a:cubicBezTo>
                        <a:pt x="753" y="0"/>
                        <a:pt x="762" y="8"/>
                        <a:pt x="770" y="16"/>
                      </a:cubicBezTo>
                      <a:cubicBezTo>
                        <a:pt x="770" y="16"/>
                        <a:pt x="97" y="744"/>
                        <a:pt x="45" y="793"/>
                      </a:cubicBezTo>
                      <a:cubicBezTo>
                        <a:pt x="45" y="793"/>
                        <a:pt x="7" y="791"/>
                        <a:pt x="0" y="76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8418513" y="3548063"/>
                  <a:ext cx="142875" cy="119062"/>
                </a:xfrm>
                <a:custGeom>
                  <a:avLst/>
                  <a:gdLst>
                    <a:gd name="T0" fmla="*/ 77 w 77"/>
                    <a:gd name="T1" fmla="*/ 28 h 64"/>
                    <a:gd name="T2" fmla="*/ 24 w 77"/>
                    <a:gd name="T3" fmla="*/ 4 h 64"/>
                    <a:gd name="T4" fmla="*/ 4 w 77"/>
                    <a:gd name="T5" fmla="*/ 41 h 64"/>
                    <a:gd name="T6" fmla="*/ 58 w 77"/>
                    <a:gd name="T7" fmla="*/ 64 h 64"/>
                    <a:gd name="T8" fmla="*/ 77 w 77"/>
                    <a:gd name="T9" fmla="*/ 28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64">
                      <a:moveTo>
                        <a:pt x="77" y="28"/>
                      </a:moveTo>
                      <a:cubicBezTo>
                        <a:pt x="77" y="28"/>
                        <a:pt x="33" y="7"/>
                        <a:pt x="24" y="4"/>
                      </a:cubicBezTo>
                      <a:cubicBezTo>
                        <a:pt x="15" y="0"/>
                        <a:pt x="0" y="30"/>
                        <a:pt x="4" y="41"/>
                      </a:cubicBezTo>
                      <a:cubicBezTo>
                        <a:pt x="9" y="53"/>
                        <a:pt x="50" y="64"/>
                        <a:pt x="58" y="64"/>
                      </a:cubicBezTo>
                      <a:cubicBezTo>
                        <a:pt x="65" y="64"/>
                        <a:pt x="77" y="28"/>
                        <a:pt x="77" y="28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8307388" y="3602038"/>
                  <a:ext cx="152400" cy="141287"/>
                </a:xfrm>
                <a:custGeom>
                  <a:avLst/>
                  <a:gdLst>
                    <a:gd name="T0" fmla="*/ 47 w 81"/>
                    <a:gd name="T1" fmla="*/ 19 h 75"/>
                    <a:gd name="T2" fmla="*/ 74 w 81"/>
                    <a:gd name="T3" fmla="*/ 62 h 75"/>
                    <a:gd name="T4" fmla="*/ 17 w 81"/>
                    <a:gd name="T5" fmla="*/ 36 h 75"/>
                    <a:gd name="T6" fmla="*/ 47 w 81"/>
                    <a:gd name="T7" fmla="*/ 19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1" h="75">
                      <a:moveTo>
                        <a:pt x="47" y="19"/>
                      </a:moveTo>
                      <a:cubicBezTo>
                        <a:pt x="47" y="19"/>
                        <a:pt x="81" y="49"/>
                        <a:pt x="74" y="62"/>
                      </a:cubicBezTo>
                      <a:cubicBezTo>
                        <a:pt x="68" y="75"/>
                        <a:pt x="34" y="72"/>
                        <a:pt x="17" y="36"/>
                      </a:cubicBezTo>
                      <a:cubicBezTo>
                        <a:pt x="0" y="0"/>
                        <a:pt x="38" y="10"/>
                        <a:pt x="47" y="19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" name="Freeform 18"/>
                <p:cNvSpPr/>
                <p:nvPr/>
              </p:nvSpPr>
              <p:spPr bwMode="auto">
                <a:xfrm>
                  <a:off x="8270876" y="3665538"/>
                  <a:ext cx="120650" cy="117475"/>
                </a:xfrm>
                <a:custGeom>
                  <a:avLst/>
                  <a:gdLst>
                    <a:gd name="T0" fmla="*/ 21 w 65"/>
                    <a:gd name="T1" fmla="*/ 1 h 63"/>
                    <a:gd name="T2" fmla="*/ 64 w 65"/>
                    <a:gd name="T3" fmla="*/ 35 h 63"/>
                    <a:gd name="T4" fmla="*/ 33 w 65"/>
                    <a:gd name="T5" fmla="*/ 51 h 63"/>
                    <a:gd name="T6" fmla="*/ 21 w 65"/>
                    <a:gd name="T7" fmla="*/ 1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3">
                      <a:moveTo>
                        <a:pt x="21" y="1"/>
                      </a:moveTo>
                      <a:cubicBezTo>
                        <a:pt x="34" y="0"/>
                        <a:pt x="65" y="24"/>
                        <a:pt x="64" y="35"/>
                      </a:cubicBezTo>
                      <a:cubicBezTo>
                        <a:pt x="63" y="46"/>
                        <a:pt x="51" y="63"/>
                        <a:pt x="33" y="51"/>
                      </a:cubicBezTo>
                      <a:cubicBezTo>
                        <a:pt x="14" y="38"/>
                        <a:pt x="0" y="2"/>
                        <a:pt x="21" y="1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Freeform 19"/>
                <p:cNvSpPr/>
                <p:nvPr/>
              </p:nvSpPr>
              <p:spPr bwMode="auto">
                <a:xfrm>
                  <a:off x="8148638" y="3492500"/>
                  <a:ext cx="301625" cy="192087"/>
                </a:xfrm>
                <a:custGeom>
                  <a:avLst/>
                  <a:gdLst>
                    <a:gd name="T0" fmla="*/ 12 w 161"/>
                    <a:gd name="T1" fmla="*/ 62 h 103"/>
                    <a:gd name="T2" fmla="*/ 54 w 161"/>
                    <a:gd name="T3" fmla="*/ 5 h 103"/>
                    <a:gd name="T4" fmla="*/ 143 w 161"/>
                    <a:gd name="T5" fmla="*/ 48 h 103"/>
                    <a:gd name="T6" fmla="*/ 113 w 161"/>
                    <a:gd name="T7" fmla="*/ 71 h 103"/>
                    <a:gd name="T8" fmla="*/ 69 w 161"/>
                    <a:gd name="T9" fmla="*/ 48 h 103"/>
                    <a:gd name="T10" fmla="*/ 37 w 161"/>
                    <a:gd name="T11" fmla="*/ 94 h 103"/>
                    <a:gd name="T12" fmla="*/ 12 w 161"/>
                    <a:gd name="T13" fmla="*/ 62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1" h="103">
                      <a:moveTo>
                        <a:pt x="12" y="62"/>
                      </a:moveTo>
                      <a:cubicBezTo>
                        <a:pt x="12" y="62"/>
                        <a:pt x="42" y="11"/>
                        <a:pt x="54" y="5"/>
                      </a:cubicBezTo>
                      <a:cubicBezTo>
                        <a:pt x="67" y="0"/>
                        <a:pt x="126" y="48"/>
                        <a:pt x="143" y="48"/>
                      </a:cubicBezTo>
                      <a:cubicBezTo>
                        <a:pt x="161" y="49"/>
                        <a:pt x="131" y="75"/>
                        <a:pt x="113" y="71"/>
                      </a:cubicBezTo>
                      <a:cubicBezTo>
                        <a:pt x="96" y="67"/>
                        <a:pt x="69" y="48"/>
                        <a:pt x="69" y="48"/>
                      </a:cubicBezTo>
                      <a:cubicBezTo>
                        <a:pt x="69" y="48"/>
                        <a:pt x="73" y="85"/>
                        <a:pt x="37" y="94"/>
                      </a:cubicBezTo>
                      <a:cubicBezTo>
                        <a:pt x="0" y="103"/>
                        <a:pt x="12" y="62"/>
                        <a:pt x="12" y="62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Freeform 20"/>
                <p:cNvSpPr/>
                <p:nvPr/>
              </p:nvSpPr>
              <p:spPr bwMode="auto">
                <a:xfrm>
                  <a:off x="6911977" y="3429001"/>
                  <a:ext cx="1323975" cy="612775"/>
                </a:xfrm>
                <a:custGeom>
                  <a:avLst/>
                  <a:gdLst>
                    <a:gd name="T0" fmla="*/ 60 w 708"/>
                    <a:gd name="T1" fmla="*/ 6 h 328"/>
                    <a:gd name="T2" fmla="*/ 668 w 708"/>
                    <a:gd name="T3" fmla="*/ 92 h 328"/>
                    <a:gd name="T4" fmla="*/ 708 w 708"/>
                    <a:gd name="T5" fmla="*/ 155 h 328"/>
                    <a:gd name="T6" fmla="*/ 88 w 708"/>
                    <a:gd name="T7" fmla="*/ 105 h 328"/>
                    <a:gd name="T8" fmla="*/ 60 w 708"/>
                    <a:gd name="T9" fmla="*/ 6 h 3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08" h="328">
                      <a:moveTo>
                        <a:pt x="60" y="6"/>
                      </a:moveTo>
                      <a:cubicBezTo>
                        <a:pt x="79" y="0"/>
                        <a:pt x="350" y="233"/>
                        <a:pt x="668" y="92"/>
                      </a:cubicBezTo>
                      <a:cubicBezTo>
                        <a:pt x="668" y="92"/>
                        <a:pt x="698" y="111"/>
                        <a:pt x="708" y="155"/>
                      </a:cubicBezTo>
                      <a:cubicBezTo>
                        <a:pt x="708" y="155"/>
                        <a:pt x="375" y="328"/>
                        <a:pt x="88" y="105"/>
                      </a:cubicBezTo>
                      <a:cubicBezTo>
                        <a:pt x="88" y="105"/>
                        <a:pt x="0" y="23"/>
                        <a:pt x="60" y="6"/>
                      </a:cubicBezTo>
                      <a:close/>
                    </a:path>
                  </a:pathLst>
                </a:custGeom>
                <a:solidFill>
                  <a:srgbClr val="464B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Freeform 21"/>
                <p:cNvSpPr/>
                <p:nvPr/>
              </p:nvSpPr>
              <p:spPr bwMode="auto">
                <a:xfrm>
                  <a:off x="6867526" y="2490788"/>
                  <a:ext cx="254000" cy="552450"/>
                </a:xfrm>
                <a:custGeom>
                  <a:avLst/>
                  <a:gdLst>
                    <a:gd name="T0" fmla="*/ 64 w 136"/>
                    <a:gd name="T1" fmla="*/ 13 h 295"/>
                    <a:gd name="T2" fmla="*/ 77 w 136"/>
                    <a:gd name="T3" fmla="*/ 197 h 295"/>
                    <a:gd name="T4" fmla="*/ 64 w 136"/>
                    <a:gd name="T5" fmla="*/ 13 h 2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6" h="295">
                      <a:moveTo>
                        <a:pt x="64" y="13"/>
                      </a:moveTo>
                      <a:cubicBezTo>
                        <a:pt x="64" y="13"/>
                        <a:pt x="136" y="99"/>
                        <a:pt x="77" y="197"/>
                      </a:cubicBezTo>
                      <a:cubicBezTo>
                        <a:pt x="18" y="295"/>
                        <a:pt x="0" y="0"/>
                        <a:pt x="64" y="13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Freeform 22"/>
                <p:cNvSpPr/>
                <p:nvPr/>
              </p:nvSpPr>
              <p:spPr bwMode="auto">
                <a:xfrm>
                  <a:off x="6399214" y="2408238"/>
                  <a:ext cx="693738" cy="968376"/>
                </a:xfrm>
                <a:custGeom>
                  <a:avLst/>
                  <a:gdLst>
                    <a:gd name="T0" fmla="*/ 302 w 371"/>
                    <a:gd name="T1" fmla="*/ 84 h 517"/>
                    <a:gd name="T2" fmla="*/ 360 w 371"/>
                    <a:gd name="T3" fmla="*/ 406 h 517"/>
                    <a:gd name="T4" fmla="*/ 109 w 371"/>
                    <a:gd name="T5" fmla="*/ 479 h 517"/>
                    <a:gd name="T6" fmla="*/ 35 w 371"/>
                    <a:gd name="T7" fmla="*/ 301 h 517"/>
                    <a:gd name="T8" fmla="*/ 54 w 371"/>
                    <a:gd name="T9" fmla="*/ 76 h 517"/>
                    <a:gd name="T10" fmla="*/ 302 w 371"/>
                    <a:gd name="T11" fmla="*/ 84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71" h="517">
                      <a:moveTo>
                        <a:pt x="302" y="84"/>
                      </a:moveTo>
                      <a:cubicBezTo>
                        <a:pt x="302" y="84"/>
                        <a:pt x="371" y="305"/>
                        <a:pt x="360" y="406"/>
                      </a:cubicBezTo>
                      <a:cubicBezTo>
                        <a:pt x="349" y="508"/>
                        <a:pt x="152" y="517"/>
                        <a:pt x="109" y="479"/>
                      </a:cubicBezTo>
                      <a:cubicBezTo>
                        <a:pt x="65" y="442"/>
                        <a:pt x="35" y="301"/>
                        <a:pt x="35" y="301"/>
                      </a:cubicBezTo>
                      <a:cubicBezTo>
                        <a:pt x="35" y="301"/>
                        <a:pt x="0" y="121"/>
                        <a:pt x="54" y="76"/>
                      </a:cubicBezTo>
                      <a:cubicBezTo>
                        <a:pt x="108" y="31"/>
                        <a:pt x="263" y="0"/>
                        <a:pt x="302" y="84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Freeform 23"/>
                <p:cNvSpPr/>
                <p:nvPr/>
              </p:nvSpPr>
              <p:spPr bwMode="auto">
                <a:xfrm>
                  <a:off x="6103938" y="2187575"/>
                  <a:ext cx="1173163" cy="896937"/>
                </a:xfrm>
                <a:custGeom>
                  <a:avLst/>
                  <a:gdLst>
                    <a:gd name="T0" fmla="*/ 208 w 627"/>
                    <a:gd name="T1" fmla="*/ 464 h 479"/>
                    <a:gd name="T2" fmla="*/ 229 w 627"/>
                    <a:gd name="T3" fmla="*/ 453 h 479"/>
                    <a:gd name="T4" fmla="*/ 208 w 627"/>
                    <a:gd name="T5" fmla="*/ 256 h 479"/>
                    <a:gd name="T6" fmla="*/ 266 w 627"/>
                    <a:gd name="T7" fmla="*/ 269 h 479"/>
                    <a:gd name="T8" fmla="*/ 257 w 627"/>
                    <a:gd name="T9" fmla="*/ 235 h 479"/>
                    <a:gd name="T10" fmla="*/ 357 w 627"/>
                    <a:gd name="T11" fmla="*/ 252 h 479"/>
                    <a:gd name="T12" fmla="*/ 336 w 627"/>
                    <a:gd name="T13" fmla="*/ 216 h 479"/>
                    <a:gd name="T14" fmla="*/ 485 w 627"/>
                    <a:gd name="T15" fmla="*/ 231 h 479"/>
                    <a:gd name="T16" fmla="*/ 460 w 627"/>
                    <a:gd name="T17" fmla="*/ 202 h 479"/>
                    <a:gd name="T18" fmla="*/ 475 w 627"/>
                    <a:gd name="T19" fmla="*/ 36 h 479"/>
                    <a:gd name="T20" fmla="*/ 430 w 627"/>
                    <a:gd name="T21" fmla="*/ 79 h 479"/>
                    <a:gd name="T22" fmla="*/ 281 w 627"/>
                    <a:gd name="T23" fmla="*/ 36 h 479"/>
                    <a:gd name="T24" fmla="*/ 306 w 627"/>
                    <a:gd name="T25" fmla="*/ 96 h 479"/>
                    <a:gd name="T26" fmla="*/ 97 w 627"/>
                    <a:gd name="T27" fmla="*/ 188 h 479"/>
                    <a:gd name="T28" fmla="*/ 82 w 627"/>
                    <a:gd name="T29" fmla="*/ 130 h 479"/>
                    <a:gd name="T30" fmla="*/ 54 w 627"/>
                    <a:gd name="T31" fmla="*/ 197 h 479"/>
                    <a:gd name="T32" fmla="*/ 0 w 627"/>
                    <a:gd name="T33" fmla="*/ 220 h 479"/>
                    <a:gd name="T34" fmla="*/ 37 w 627"/>
                    <a:gd name="T35" fmla="*/ 266 h 479"/>
                    <a:gd name="T36" fmla="*/ 161 w 627"/>
                    <a:gd name="T37" fmla="*/ 479 h 479"/>
                    <a:gd name="T38" fmla="*/ 208 w 627"/>
                    <a:gd name="T39" fmla="*/ 464 h 4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27" h="479">
                      <a:moveTo>
                        <a:pt x="208" y="464"/>
                      </a:moveTo>
                      <a:cubicBezTo>
                        <a:pt x="229" y="453"/>
                        <a:pt x="229" y="453"/>
                        <a:pt x="229" y="453"/>
                      </a:cubicBezTo>
                      <a:cubicBezTo>
                        <a:pt x="229" y="453"/>
                        <a:pt x="244" y="286"/>
                        <a:pt x="208" y="256"/>
                      </a:cubicBezTo>
                      <a:cubicBezTo>
                        <a:pt x="208" y="256"/>
                        <a:pt x="253" y="276"/>
                        <a:pt x="266" y="269"/>
                      </a:cubicBezTo>
                      <a:cubicBezTo>
                        <a:pt x="280" y="261"/>
                        <a:pt x="257" y="235"/>
                        <a:pt x="257" y="235"/>
                      </a:cubicBezTo>
                      <a:cubicBezTo>
                        <a:pt x="257" y="235"/>
                        <a:pt x="340" y="261"/>
                        <a:pt x="357" y="252"/>
                      </a:cubicBezTo>
                      <a:cubicBezTo>
                        <a:pt x="374" y="242"/>
                        <a:pt x="336" y="216"/>
                        <a:pt x="336" y="216"/>
                      </a:cubicBezTo>
                      <a:cubicBezTo>
                        <a:pt x="336" y="216"/>
                        <a:pt x="474" y="252"/>
                        <a:pt x="485" y="231"/>
                      </a:cubicBezTo>
                      <a:cubicBezTo>
                        <a:pt x="496" y="210"/>
                        <a:pt x="460" y="202"/>
                        <a:pt x="460" y="202"/>
                      </a:cubicBezTo>
                      <a:cubicBezTo>
                        <a:pt x="460" y="202"/>
                        <a:pt x="627" y="128"/>
                        <a:pt x="475" y="36"/>
                      </a:cubicBezTo>
                      <a:cubicBezTo>
                        <a:pt x="475" y="36"/>
                        <a:pt x="449" y="32"/>
                        <a:pt x="430" y="79"/>
                      </a:cubicBezTo>
                      <a:cubicBezTo>
                        <a:pt x="430" y="79"/>
                        <a:pt x="302" y="0"/>
                        <a:pt x="281" y="36"/>
                      </a:cubicBezTo>
                      <a:cubicBezTo>
                        <a:pt x="261" y="72"/>
                        <a:pt x="306" y="96"/>
                        <a:pt x="306" y="96"/>
                      </a:cubicBezTo>
                      <a:cubicBezTo>
                        <a:pt x="306" y="96"/>
                        <a:pt x="141" y="83"/>
                        <a:pt x="97" y="188"/>
                      </a:cubicBezTo>
                      <a:cubicBezTo>
                        <a:pt x="97" y="188"/>
                        <a:pt x="90" y="135"/>
                        <a:pt x="82" y="130"/>
                      </a:cubicBezTo>
                      <a:cubicBezTo>
                        <a:pt x="75" y="124"/>
                        <a:pt x="41" y="145"/>
                        <a:pt x="54" y="197"/>
                      </a:cubicBezTo>
                      <a:cubicBezTo>
                        <a:pt x="54" y="197"/>
                        <a:pt x="0" y="177"/>
                        <a:pt x="0" y="220"/>
                      </a:cubicBezTo>
                      <a:cubicBezTo>
                        <a:pt x="0" y="263"/>
                        <a:pt x="37" y="266"/>
                        <a:pt x="37" y="266"/>
                      </a:cubicBezTo>
                      <a:cubicBezTo>
                        <a:pt x="37" y="266"/>
                        <a:pt x="26" y="432"/>
                        <a:pt x="161" y="479"/>
                      </a:cubicBezTo>
                      <a:lnTo>
                        <a:pt x="208" y="464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Freeform 24"/>
                <p:cNvSpPr/>
                <p:nvPr/>
              </p:nvSpPr>
              <p:spPr bwMode="auto">
                <a:xfrm>
                  <a:off x="6303963" y="2974975"/>
                  <a:ext cx="298450" cy="320675"/>
                </a:xfrm>
                <a:custGeom>
                  <a:avLst/>
                  <a:gdLst>
                    <a:gd name="T0" fmla="*/ 109 w 160"/>
                    <a:gd name="T1" fmla="*/ 39 h 171"/>
                    <a:gd name="T2" fmla="*/ 36 w 160"/>
                    <a:gd name="T3" fmla="*/ 20 h 171"/>
                    <a:gd name="T4" fmla="*/ 126 w 160"/>
                    <a:gd name="T5" fmla="*/ 124 h 171"/>
                    <a:gd name="T6" fmla="*/ 109 w 160"/>
                    <a:gd name="T7" fmla="*/ 39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0" h="171">
                      <a:moveTo>
                        <a:pt x="109" y="39"/>
                      </a:moveTo>
                      <a:cubicBezTo>
                        <a:pt x="109" y="39"/>
                        <a:pt x="71" y="0"/>
                        <a:pt x="36" y="20"/>
                      </a:cubicBezTo>
                      <a:cubicBezTo>
                        <a:pt x="0" y="41"/>
                        <a:pt x="47" y="171"/>
                        <a:pt x="126" y="124"/>
                      </a:cubicBezTo>
                      <a:cubicBezTo>
                        <a:pt x="160" y="105"/>
                        <a:pt x="109" y="39"/>
                        <a:pt x="109" y="39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Freeform 25"/>
                <p:cNvSpPr/>
                <p:nvPr/>
              </p:nvSpPr>
              <p:spPr bwMode="auto">
                <a:xfrm>
                  <a:off x="6881813" y="2776538"/>
                  <a:ext cx="128588" cy="165100"/>
                </a:xfrm>
                <a:custGeom>
                  <a:avLst/>
                  <a:gdLst>
                    <a:gd name="T0" fmla="*/ 9 w 69"/>
                    <a:gd name="T1" fmla="*/ 0 h 88"/>
                    <a:gd name="T2" fmla="*/ 9 w 69"/>
                    <a:gd name="T3" fmla="*/ 58 h 88"/>
                    <a:gd name="T4" fmla="*/ 56 w 69"/>
                    <a:gd name="T5" fmla="*/ 58 h 88"/>
                    <a:gd name="T6" fmla="*/ 24 w 69"/>
                    <a:gd name="T7" fmla="*/ 88 h 88"/>
                    <a:gd name="T8" fmla="*/ 69 w 69"/>
                    <a:gd name="T9" fmla="*/ 68 h 88"/>
                    <a:gd name="T10" fmla="*/ 26 w 69"/>
                    <a:gd name="T11" fmla="*/ 49 h 88"/>
                    <a:gd name="T12" fmla="*/ 9 w 69"/>
                    <a:gd name="T13" fmla="*/ 0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9" h="88">
                      <a:moveTo>
                        <a:pt x="9" y="0"/>
                      </a:moveTo>
                      <a:cubicBezTo>
                        <a:pt x="9" y="0"/>
                        <a:pt x="0" y="45"/>
                        <a:pt x="9" y="58"/>
                      </a:cubicBezTo>
                      <a:cubicBezTo>
                        <a:pt x="18" y="70"/>
                        <a:pt x="52" y="44"/>
                        <a:pt x="56" y="58"/>
                      </a:cubicBezTo>
                      <a:cubicBezTo>
                        <a:pt x="59" y="71"/>
                        <a:pt x="55" y="83"/>
                        <a:pt x="24" y="88"/>
                      </a:cubicBezTo>
                      <a:cubicBezTo>
                        <a:pt x="24" y="88"/>
                        <a:pt x="69" y="87"/>
                        <a:pt x="69" y="68"/>
                      </a:cubicBezTo>
                      <a:cubicBezTo>
                        <a:pt x="69" y="39"/>
                        <a:pt x="51" y="36"/>
                        <a:pt x="26" y="49"/>
                      </a:cubicBezTo>
                      <a:cubicBezTo>
                        <a:pt x="9" y="58"/>
                        <a:pt x="9" y="25"/>
                        <a:pt x="9" y="0"/>
                      </a:cubicBezTo>
                      <a:close/>
                    </a:path>
                  </a:pathLst>
                </a:custGeom>
                <a:solidFill>
                  <a:srgbClr val="CB8F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Freeform 26"/>
                <p:cNvSpPr/>
                <p:nvPr/>
              </p:nvSpPr>
              <p:spPr bwMode="auto">
                <a:xfrm>
                  <a:off x="6727826" y="2808288"/>
                  <a:ext cx="57150" cy="79375"/>
                </a:xfrm>
                <a:custGeom>
                  <a:avLst/>
                  <a:gdLst>
                    <a:gd name="T0" fmla="*/ 28 w 30"/>
                    <a:gd name="T1" fmla="*/ 18 h 42"/>
                    <a:gd name="T2" fmla="*/ 19 w 30"/>
                    <a:gd name="T3" fmla="*/ 40 h 42"/>
                    <a:gd name="T4" fmla="*/ 2 w 30"/>
                    <a:gd name="T5" fmla="*/ 23 h 42"/>
                    <a:gd name="T6" fmla="*/ 11 w 30"/>
                    <a:gd name="T7" fmla="*/ 1 h 42"/>
                    <a:gd name="T8" fmla="*/ 28 w 30"/>
                    <a:gd name="T9" fmla="*/ 18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42">
                      <a:moveTo>
                        <a:pt x="28" y="18"/>
                      </a:moveTo>
                      <a:cubicBezTo>
                        <a:pt x="30" y="29"/>
                        <a:pt x="26" y="39"/>
                        <a:pt x="19" y="40"/>
                      </a:cubicBezTo>
                      <a:cubicBezTo>
                        <a:pt x="12" y="42"/>
                        <a:pt x="4" y="34"/>
                        <a:pt x="2" y="23"/>
                      </a:cubicBezTo>
                      <a:cubicBezTo>
                        <a:pt x="0" y="12"/>
                        <a:pt x="4" y="2"/>
                        <a:pt x="11" y="1"/>
                      </a:cubicBezTo>
                      <a:cubicBezTo>
                        <a:pt x="18" y="0"/>
                        <a:pt x="26" y="7"/>
                        <a:pt x="28" y="18"/>
                      </a:cubicBezTo>
                      <a:close/>
                    </a:path>
                  </a:pathLst>
                </a:custGeom>
                <a:solidFill>
                  <a:srgbClr val="190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Freeform 27"/>
                <p:cNvSpPr/>
                <p:nvPr/>
              </p:nvSpPr>
              <p:spPr bwMode="auto">
                <a:xfrm>
                  <a:off x="6943726" y="2774950"/>
                  <a:ext cx="50800" cy="71437"/>
                </a:xfrm>
                <a:custGeom>
                  <a:avLst/>
                  <a:gdLst>
                    <a:gd name="T0" fmla="*/ 25 w 27"/>
                    <a:gd name="T1" fmla="*/ 16 h 38"/>
                    <a:gd name="T2" fmla="*/ 17 w 27"/>
                    <a:gd name="T3" fmla="*/ 36 h 38"/>
                    <a:gd name="T4" fmla="*/ 2 w 27"/>
                    <a:gd name="T5" fmla="*/ 21 h 38"/>
                    <a:gd name="T6" fmla="*/ 10 w 27"/>
                    <a:gd name="T7" fmla="*/ 1 h 38"/>
                    <a:gd name="T8" fmla="*/ 25 w 27"/>
                    <a:gd name="T9" fmla="*/ 16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38">
                      <a:moveTo>
                        <a:pt x="25" y="16"/>
                      </a:moveTo>
                      <a:cubicBezTo>
                        <a:pt x="27" y="26"/>
                        <a:pt x="23" y="35"/>
                        <a:pt x="17" y="36"/>
                      </a:cubicBezTo>
                      <a:cubicBezTo>
                        <a:pt x="10" y="38"/>
                        <a:pt x="4" y="31"/>
                        <a:pt x="2" y="21"/>
                      </a:cubicBezTo>
                      <a:cubicBezTo>
                        <a:pt x="0" y="11"/>
                        <a:pt x="3" y="3"/>
                        <a:pt x="10" y="1"/>
                      </a:cubicBezTo>
                      <a:cubicBezTo>
                        <a:pt x="16" y="0"/>
                        <a:pt x="23" y="7"/>
                        <a:pt x="25" y="16"/>
                      </a:cubicBezTo>
                      <a:close/>
                    </a:path>
                  </a:pathLst>
                </a:custGeom>
                <a:solidFill>
                  <a:srgbClr val="190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Freeform 28"/>
                <p:cNvSpPr/>
                <p:nvPr/>
              </p:nvSpPr>
              <p:spPr bwMode="auto">
                <a:xfrm>
                  <a:off x="6665913" y="3170238"/>
                  <a:ext cx="250825" cy="120650"/>
                </a:xfrm>
                <a:custGeom>
                  <a:avLst/>
                  <a:gdLst>
                    <a:gd name="T0" fmla="*/ 0 w 134"/>
                    <a:gd name="T1" fmla="*/ 6 h 65"/>
                    <a:gd name="T2" fmla="*/ 101 w 134"/>
                    <a:gd name="T3" fmla="*/ 59 h 65"/>
                    <a:gd name="T4" fmla="*/ 134 w 134"/>
                    <a:gd name="T5" fmla="*/ 43 h 65"/>
                    <a:gd name="T6" fmla="*/ 0 w 134"/>
                    <a:gd name="T7" fmla="*/ 6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4" h="65">
                      <a:moveTo>
                        <a:pt x="0" y="6"/>
                      </a:moveTo>
                      <a:cubicBezTo>
                        <a:pt x="24" y="35"/>
                        <a:pt x="59" y="65"/>
                        <a:pt x="101" y="59"/>
                      </a:cubicBezTo>
                      <a:cubicBezTo>
                        <a:pt x="114" y="57"/>
                        <a:pt x="126" y="51"/>
                        <a:pt x="134" y="43"/>
                      </a:cubicBezTo>
                      <a:cubicBezTo>
                        <a:pt x="100" y="0"/>
                        <a:pt x="35" y="1"/>
                        <a:pt x="0" y="6"/>
                      </a:cubicBezTo>
                      <a:close/>
                    </a:path>
                  </a:pathLst>
                </a:custGeom>
                <a:solidFill>
                  <a:srgbClr val="DA90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Freeform 29"/>
                <p:cNvSpPr/>
                <p:nvPr/>
              </p:nvSpPr>
              <p:spPr bwMode="auto">
                <a:xfrm>
                  <a:off x="6602413" y="3001963"/>
                  <a:ext cx="393700" cy="249237"/>
                </a:xfrm>
                <a:custGeom>
                  <a:avLst/>
                  <a:gdLst>
                    <a:gd name="T0" fmla="*/ 204 w 210"/>
                    <a:gd name="T1" fmla="*/ 0 h 133"/>
                    <a:gd name="T2" fmla="*/ 0 w 210"/>
                    <a:gd name="T3" fmla="*/ 44 h 133"/>
                    <a:gd name="T4" fmla="*/ 34 w 210"/>
                    <a:gd name="T5" fmla="*/ 96 h 133"/>
                    <a:gd name="T6" fmla="*/ 168 w 210"/>
                    <a:gd name="T7" fmla="*/ 133 h 133"/>
                    <a:gd name="T8" fmla="*/ 204 w 210"/>
                    <a:gd name="T9" fmla="*/ 0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0" h="133">
                      <a:moveTo>
                        <a:pt x="204" y="0"/>
                      </a:moveTo>
                      <a:cubicBezTo>
                        <a:pt x="125" y="0"/>
                        <a:pt x="0" y="44"/>
                        <a:pt x="0" y="44"/>
                      </a:cubicBezTo>
                      <a:cubicBezTo>
                        <a:pt x="0" y="44"/>
                        <a:pt x="12" y="70"/>
                        <a:pt x="34" y="96"/>
                      </a:cubicBezTo>
                      <a:cubicBezTo>
                        <a:pt x="69" y="91"/>
                        <a:pt x="134" y="90"/>
                        <a:pt x="168" y="133"/>
                      </a:cubicBezTo>
                      <a:cubicBezTo>
                        <a:pt x="210" y="94"/>
                        <a:pt x="204" y="0"/>
                        <a:pt x="204" y="0"/>
                      </a:cubicBezTo>
                      <a:close/>
                    </a:path>
                  </a:pathLst>
                </a:custGeom>
                <a:solidFill>
                  <a:srgbClr val="7534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Freeform 30"/>
                <p:cNvSpPr/>
                <p:nvPr/>
              </p:nvSpPr>
              <p:spPr bwMode="auto">
                <a:xfrm>
                  <a:off x="6665913" y="2676525"/>
                  <a:ext cx="117475" cy="84137"/>
                </a:xfrm>
                <a:custGeom>
                  <a:avLst/>
                  <a:gdLst>
                    <a:gd name="T0" fmla="*/ 0 w 62"/>
                    <a:gd name="T1" fmla="*/ 45 h 45"/>
                    <a:gd name="T2" fmla="*/ 62 w 62"/>
                    <a:gd name="T3" fmla="*/ 25 h 45"/>
                    <a:gd name="T4" fmla="*/ 0 w 62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2" h="45">
                      <a:moveTo>
                        <a:pt x="0" y="45"/>
                      </a:moveTo>
                      <a:cubicBezTo>
                        <a:pt x="0" y="45"/>
                        <a:pt x="30" y="21"/>
                        <a:pt x="62" y="25"/>
                      </a:cubicBezTo>
                      <a:cubicBezTo>
                        <a:pt x="62" y="25"/>
                        <a:pt x="19" y="0"/>
                        <a:pt x="0" y="45"/>
                      </a:cubicBezTo>
                      <a:close/>
                    </a:path>
                  </a:pathLst>
                </a:custGeom>
                <a:solidFill>
                  <a:srgbClr val="4939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Freeform 31"/>
                <p:cNvSpPr/>
                <p:nvPr/>
              </p:nvSpPr>
              <p:spPr bwMode="auto">
                <a:xfrm>
                  <a:off x="6891338" y="2647950"/>
                  <a:ext cx="93663" cy="61912"/>
                </a:xfrm>
                <a:custGeom>
                  <a:avLst/>
                  <a:gdLst>
                    <a:gd name="T0" fmla="*/ 0 w 50"/>
                    <a:gd name="T1" fmla="*/ 33 h 33"/>
                    <a:gd name="T2" fmla="*/ 50 w 50"/>
                    <a:gd name="T3" fmla="*/ 33 h 33"/>
                    <a:gd name="T4" fmla="*/ 0 w 50"/>
                    <a:gd name="T5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33">
                      <a:moveTo>
                        <a:pt x="0" y="33"/>
                      </a:moveTo>
                      <a:cubicBezTo>
                        <a:pt x="0" y="33"/>
                        <a:pt x="37" y="21"/>
                        <a:pt x="50" y="33"/>
                      </a:cubicBezTo>
                      <a:cubicBezTo>
                        <a:pt x="50" y="33"/>
                        <a:pt x="21" y="0"/>
                        <a:pt x="0" y="33"/>
                      </a:cubicBezTo>
                      <a:close/>
                    </a:path>
                  </a:pathLst>
                </a:custGeom>
                <a:solidFill>
                  <a:srgbClr val="4939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Freeform 32"/>
                <p:cNvSpPr/>
                <p:nvPr/>
              </p:nvSpPr>
              <p:spPr bwMode="auto">
                <a:xfrm>
                  <a:off x="7105651" y="5964238"/>
                  <a:ext cx="414338" cy="269875"/>
                </a:xfrm>
                <a:custGeom>
                  <a:avLst/>
                  <a:gdLst>
                    <a:gd name="T0" fmla="*/ 102 w 221"/>
                    <a:gd name="T1" fmla="*/ 30 h 144"/>
                    <a:gd name="T2" fmla="*/ 132 w 221"/>
                    <a:gd name="T3" fmla="*/ 72 h 144"/>
                    <a:gd name="T4" fmla="*/ 206 w 221"/>
                    <a:gd name="T5" fmla="*/ 86 h 144"/>
                    <a:gd name="T6" fmla="*/ 206 w 221"/>
                    <a:gd name="T7" fmla="*/ 124 h 144"/>
                    <a:gd name="T8" fmla="*/ 14 w 221"/>
                    <a:gd name="T9" fmla="*/ 124 h 144"/>
                    <a:gd name="T10" fmla="*/ 14 w 221"/>
                    <a:gd name="T11" fmla="*/ 30 h 144"/>
                    <a:gd name="T12" fmla="*/ 102 w 221"/>
                    <a:gd name="T13" fmla="*/ 3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1" h="144">
                      <a:moveTo>
                        <a:pt x="102" y="30"/>
                      </a:moveTo>
                      <a:cubicBezTo>
                        <a:pt x="102" y="30"/>
                        <a:pt x="114" y="66"/>
                        <a:pt x="132" y="72"/>
                      </a:cubicBezTo>
                      <a:cubicBezTo>
                        <a:pt x="149" y="78"/>
                        <a:pt x="191" y="74"/>
                        <a:pt x="206" y="86"/>
                      </a:cubicBezTo>
                      <a:cubicBezTo>
                        <a:pt x="221" y="98"/>
                        <a:pt x="206" y="124"/>
                        <a:pt x="206" y="124"/>
                      </a:cubicBezTo>
                      <a:cubicBezTo>
                        <a:pt x="206" y="124"/>
                        <a:pt x="49" y="144"/>
                        <a:pt x="14" y="124"/>
                      </a:cubicBezTo>
                      <a:cubicBezTo>
                        <a:pt x="14" y="124"/>
                        <a:pt x="0" y="60"/>
                        <a:pt x="14" y="30"/>
                      </a:cubicBezTo>
                      <a:cubicBezTo>
                        <a:pt x="28" y="0"/>
                        <a:pt x="102" y="30"/>
                        <a:pt x="102" y="30"/>
                      </a:cubicBez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Freeform 33"/>
                <p:cNvSpPr/>
                <p:nvPr/>
              </p:nvSpPr>
              <p:spPr bwMode="auto">
                <a:xfrm>
                  <a:off x="6923088" y="5995988"/>
                  <a:ext cx="390525" cy="285750"/>
                </a:xfrm>
                <a:custGeom>
                  <a:avLst/>
                  <a:gdLst>
                    <a:gd name="T0" fmla="*/ 112 w 209"/>
                    <a:gd name="T1" fmla="*/ 23 h 153"/>
                    <a:gd name="T2" fmla="*/ 142 w 209"/>
                    <a:gd name="T3" fmla="*/ 72 h 153"/>
                    <a:gd name="T4" fmla="*/ 200 w 209"/>
                    <a:gd name="T5" fmla="*/ 94 h 153"/>
                    <a:gd name="T6" fmla="*/ 200 w 209"/>
                    <a:gd name="T7" fmla="*/ 122 h 153"/>
                    <a:gd name="T8" fmla="*/ 0 w 209"/>
                    <a:gd name="T9" fmla="*/ 107 h 153"/>
                    <a:gd name="T10" fmla="*/ 9 w 209"/>
                    <a:gd name="T11" fmla="*/ 23 h 153"/>
                    <a:gd name="T12" fmla="*/ 112 w 209"/>
                    <a:gd name="T13" fmla="*/ 23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9" h="153">
                      <a:moveTo>
                        <a:pt x="112" y="23"/>
                      </a:moveTo>
                      <a:cubicBezTo>
                        <a:pt x="112" y="23"/>
                        <a:pt x="113" y="60"/>
                        <a:pt x="142" y="72"/>
                      </a:cubicBezTo>
                      <a:cubicBezTo>
                        <a:pt x="159" y="78"/>
                        <a:pt x="189" y="84"/>
                        <a:pt x="200" y="94"/>
                      </a:cubicBezTo>
                      <a:cubicBezTo>
                        <a:pt x="209" y="100"/>
                        <a:pt x="201" y="108"/>
                        <a:pt x="200" y="122"/>
                      </a:cubicBezTo>
                      <a:cubicBezTo>
                        <a:pt x="198" y="153"/>
                        <a:pt x="38" y="121"/>
                        <a:pt x="0" y="107"/>
                      </a:cubicBezTo>
                      <a:cubicBezTo>
                        <a:pt x="0" y="107"/>
                        <a:pt x="2" y="46"/>
                        <a:pt x="9" y="23"/>
                      </a:cubicBezTo>
                      <a:cubicBezTo>
                        <a:pt x="16" y="0"/>
                        <a:pt x="112" y="23"/>
                        <a:pt x="112" y="23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Freeform 34"/>
                <p:cNvSpPr/>
                <p:nvPr/>
              </p:nvSpPr>
              <p:spPr bwMode="auto">
                <a:xfrm>
                  <a:off x="6864351" y="4429126"/>
                  <a:ext cx="542924" cy="1658937"/>
                </a:xfrm>
                <a:custGeom>
                  <a:avLst/>
                  <a:gdLst>
                    <a:gd name="T0" fmla="*/ 0 w 290"/>
                    <a:gd name="T1" fmla="*/ 62 h 886"/>
                    <a:gd name="T2" fmla="*/ 35 w 290"/>
                    <a:gd name="T3" fmla="*/ 866 h 886"/>
                    <a:gd name="T4" fmla="*/ 162 w 290"/>
                    <a:gd name="T5" fmla="*/ 866 h 886"/>
                    <a:gd name="T6" fmla="*/ 224 w 290"/>
                    <a:gd name="T7" fmla="*/ 135 h 886"/>
                    <a:gd name="T8" fmla="*/ 290 w 290"/>
                    <a:gd name="T9" fmla="*/ 15 h 886"/>
                    <a:gd name="T10" fmla="*/ 0 w 290"/>
                    <a:gd name="T11" fmla="*/ 62 h 8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0" h="886">
                      <a:moveTo>
                        <a:pt x="0" y="62"/>
                      </a:moveTo>
                      <a:cubicBezTo>
                        <a:pt x="0" y="62"/>
                        <a:pt x="69" y="543"/>
                        <a:pt x="35" y="866"/>
                      </a:cubicBezTo>
                      <a:cubicBezTo>
                        <a:pt x="35" y="866"/>
                        <a:pt x="105" y="886"/>
                        <a:pt x="162" y="866"/>
                      </a:cubicBezTo>
                      <a:cubicBezTo>
                        <a:pt x="162" y="866"/>
                        <a:pt x="224" y="195"/>
                        <a:pt x="224" y="135"/>
                      </a:cubicBezTo>
                      <a:cubicBezTo>
                        <a:pt x="224" y="75"/>
                        <a:pt x="290" y="15"/>
                        <a:pt x="290" y="15"/>
                      </a:cubicBezTo>
                      <a:cubicBezTo>
                        <a:pt x="290" y="15"/>
                        <a:pt x="29" y="0"/>
                        <a:pt x="0" y="62"/>
                      </a:cubicBezTo>
                      <a:close/>
                    </a:path>
                  </a:pathLst>
                </a:custGeom>
                <a:solidFill>
                  <a:srgbClr val="464B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Freeform 35"/>
                <p:cNvSpPr/>
                <p:nvPr/>
              </p:nvSpPr>
              <p:spPr bwMode="auto">
                <a:xfrm>
                  <a:off x="7121526" y="4405313"/>
                  <a:ext cx="357188" cy="1662112"/>
                </a:xfrm>
                <a:custGeom>
                  <a:avLst/>
                  <a:gdLst>
                    <a:gd name="T0" fmla="*/ 173 w 191"/>
                    <a:gd name="T1" fmla="*/ 28 h 888"/>
                    <a:gd name="T2" fmla="*/ 98 w 191"/>
                    <a:gd name="T3" fmla="*/ 873 h 888"/>
                    <a:gd name="T4" fmla="*/ 0 w 191"/>
                    <a:gd name="T5" fmla="*/ 863 h 888"/>
                    <a:gd name="T6" fmla="*/ 20 w 191"/>
                    <a:gd name="T7" fmla="*/ 356 h 888"/>
                    <a:gd name="T8" fmla="*/ 52 w 191"/>
                    <a:gd name="T9" fmla="*/ 45 h 888"/>
                    <a:gd name="T10" fmla="*/ 173 w 191"/>
                    <a:gd name="T11" fmla="*/ 28 h 8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1" h="888">
                      <a:moveTo>
                        <a:pt x="173" y="28"/>
                      </a:moveTo>
                      <a:cubicBezTo>
                        <a:pt x="173" y="28"/>
                        <a:pt x="191" y="485"/>
                        <a:pt x="98" y="873"/>
                      </a:cubicBezTo>
                      <a:cubicBezTo>
                        <a:pt x="98" y="873"/>
                        <a:pt x="44" y="888"/>
                        <a:pt x="0" y="863"/>
                      </a:cubicBezTo>
                      <a:cubicBezTo>
                        <a:pt x="0" y="863"/>
                        <a:pt x="20" y="436"/>
                        <a:pt x="20" y="356"/>
                      </a:cubicBezTo>
                      <a:cubicBezTo>
                        <a:pt x="20" y="276"/>
                        <a:pt x="45" y="64"/>
                        <a:pt x="52" y="45"/>
                      </a:cubicBezTo>
                      <a:cubicBezTo>
                        <a:pt x="60" y="26"/>
                        <a:pt x="127" y="0"/>
                        <a:pt x="173" y="28"/>
                      </a:cubicBezTo>
                      <a:close/>
                    </a:path>
                  </a:pathLst>
                </a:custGeom>
                <a:solidFill>
                  <a:srgbClr val="464B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Freeform 36"/>
                <p:cNvSpPr/>
                <p:nvPr/>
              </p:nvSpPr>
              <p:spPr bwMode="auto">
                <a:xfrm>
                  <a:off x="7192963" y="4556125"/>
                  <a:ext cx="131763" cy="1338262"/>
                </a:xfrm>
                <a:custGeom>
                  <a:avLst/>
                  <a:gdLst>
                    <a:gd name="T0" fmla="*/ 71 w 71"/>
                    <a:gd name="T1" fmla="*/ 0 h 715"/>
                    <a:gd name="T2" fmla="*/ 47 w 71"/>
                    <a:gd name="T3" fmla="*/ 99 h 715"/>
                    <a:gd name="T4" fmla="*/ 0 w 71"/>
                    <a:gd name="T5" fmla="*/ 715 h 715"/>
                    <a:gd name="T6" fmla="*/ 36 w 71"/>
                    <a:gd name="T7" fmla="*/ 103 h 715"/>
                    <a:gd name="T8" fmla="*/ 71 w 71"/>
                    <a:gd name="T9" fmla="*/ 0 h 7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715">
                      <a:moveTo>
                        <a:pt x="71" y="0"/>
                      </a:moveTo>
                      <a:cubicBezTo>
                        <a:pt x="71" y="0"/>
                        <a:pt x="50" y="30"/>
                        <a:pt x="47" y="99"/>
                      </a:cubicBezTo>
                      <a:cubicBezTo>
                        <a:pt x="43" y="169"/>
                        <a:pt x="16" y="606"/>
                        <a:pt x="0" y="715"/>
                      </a:cubicBezTo>
                      <a:cubicBezTo>
                        <a:pt x="0" y="715"/>
                        <a:pt x="38" y="156"/>
                        <a:pt x="36" y="103"/>
                      </a:cubicBezTo>
                      <a:cubicBezTo>
                        <a:pt x="34" y="51"/>
                        <a:pt x="63" y="13"/>
                        <a:pt x="71" y="0"/>
                      </a:cubicBezTo>
                      <a:close/>
                    </a:path>
                  </a:pathLst>
                </a:custGeom>
                <a:solidFill>
                  <a:srgbClr val="2327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Freeform 37"/>
                <p:cNvSpPr/>
                <p:nvPr/>
              </p:nvSpPr>
              <p:spPr bwMode="auto">
                <a:xfrm>
                  <a:off x="6443663" y="3440113"/>
                  <a:ext cx="1073150" cy="1185863"/>
                </a:xfrm>
                <a:custGeom>
                  <a:avLst/>
                  <a:gdLst>
                    <a:gd name="T0" fmla="*/ 127 w 573"/>
                    <a:gd name="T1" fmla="*/ 11 h 634"/>
                    <a:gd name="T2" fmla="*/ 19 w 573"/>
                    <a:gd name="T3" fmla="*/ 35 h 634"/>
                    <a:gd name="T4" fmla="*/ 85 w 573"/>
                    <a:gd name="T5" fmla="*/ 178 h 634"/>
                    <a:gd name="T6" fmla="*/ 201 w 573"/>
                    <a:gd name="T7" fmla="*/ 634 h 634"/>
                    <a:gd name="T8" fmla="*/ 458 w 573"/>
                    <a:gd name="T9" fmla="*/ 578 h 634"/>
                    <a:gd name="T10" fmla="*/ 458 w 573"/>
                    <a:gd name="T11" fmla="*/ 539 h 634"/>
                    <a:gd name="T12" fmla="*/ 475 w 573"/>
                    <a:gd name="T13" fmla="*/ 573 h 634"/>
                    <a:gd name="T14" fmla="*/ 573 w 573"/>
                    <a:gd name="T15" fmla="*/ 573 h 634"/>
                    <a:gd name="T16" fmla="*/ 310 w 573"/>
                    <a:gd name="T17" fmla="*/ 0 h 634"/>
                    <a:gd name="T18" fmla="*/ 127 w 573"/>
                    <a:gd name="T19" fmla="*/ 11 h 6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73" h="634">
                      <a:moveTo>
                        <a:pt x="127" y="11"/>
                      </a:moveTo>
                      <a:cubicBezTo>
                        <a:pt x="127" y="11"/>
                        <a:pt x="38" y="30"/>
                        <a:pt x="19" y="35"/>
                      </a:cubicBezTo>
                      <a:cubicBezTo>
                        <a:pt x="0" y="41"/>
                        <a:pt x="56" y="114"/>
                        <a:pt x="85" y="178"/>
                      </a:cubicBezTo>
                      <a:cubicBezTo>
                        <a:pt x="113" y="242"/>
                        <a:pt x="193" y="537"/>
                        <a:pt x="201" y="634"/>
                      </a:cubicBezTo>
                      <a:cubicBezTo>
                        <a:pt x="201" y="634"/>
                        <a:pt x="421" y="578"/>
                        <a:pt x="458" y="578"/>
                      </a:cubicBezTo>
                      <a:cubicBezTo>
                        <a:pt x="458" y="539"/>
                        <a:pt x="458" y="539"/>
                        <a:pt x="458" y="539"/>
                      </a:cubicBezTo>
                      <a:cubicBezTo>
                        <a:pt x="458" y="539"/>
                        <a:pt x="469" y="557"/>
                        <a:pt x="475" y="573"/>
                      </a:cubicBezTo>
                      <a:cubicBezTo>
                        <a:pt x="475" y="573"/>
                        <a:pt x="550" y="571"/>
                        <a:pt x="573" y="573"/>
                      </a:cubicBezTo>
                      <a:cubicBezTo>
                        <a:pt x="573" y="573"/>
                        <a:pt x="382" y="116"/>
                        <a:pt x="310" y="0"/>
                      </a:cubicBezTo>
                      <a:cubicBezTo>
                        <a:pt x="310" y="0"/>
                        <a:pt x="174" y="0"/>
                        <a:pt x="127" y="11"/>
                      </a:cubicBezTo>
                      <a:close/>
                    </a:path>
                  </a:pathLst>
                </a:custGeom>
                <a:solidFill>
                  <a:srgbClr val="464B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Freeform 38"/>
                <p:cNvSpPr/>
                <p:nvPr/>
              </p:nvSpPr>
              <p:spPr bwMode="auto">
                <a:xfrm>
                  <a:off x="6721476" y="3271838"/>
                  <a:ext cx="204788" cy="414337"/>
                </a:xfrm>
                <a:custGeom>
                  <a:avLst/>
                  <a:gdLst>
                    <a:gd name="T0" fmla="*/ 55 w 110"/>
                    <a:gd name="T1" fmla="*/ 28 h 222"/>
                    <a:gd name="T2" fmla="*/ 100 w 110"/>
                    <a:gd name="T3" fmla="*/ 99 h 222"/>
                    <a:gd name="T4" fmla="*/ 32 w 110"/>
                    <a:gd name="T5" fmla="*/ 114 h 222"/>
                    <a:gd name="T6" fmla="*/ 6 w 110"/>
                    <a:gd name="T7" fmla="*/ 28 h 222"/>
                    <a:gd name="T8" fmla="*/ 55 w 110"/>
                    <a:gd name="T9" fmla="*/ 28 h 2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0" h="222">
                      <a:moveTo>
                        <a:pt x="55" y="28"/>
                      </a:moveTo>
                      <a:cubicBezTo>
                        <a:pt x="55" y="28"/>
                        <a:pt x="88" y="90"/>
                        <a:pt x="100" y="99"/>
                      </a:cubicBezTo>
                      <a:cubicBezTo>
                        <a:pt x="110" y="222"/>
                        <a:pt x="32" y="114"/>
                        <a:pt x="32" y="114"/>
                      </a:cubicBezTo>
                      <a:cubicBezTo>
                        <a:pt x="32" y="114"/>
                        <a:pt x="12" y="56"/>
                        <a:pt x="6" y="28"/>
                      </a:cubicBezTo>
                      <a:cubicBezTo>
                        <a:pt x="0" y="0"/>
                        <a:pt x="55" y="28"/>
                        <a:pt x="55" y="28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39"/>
                <p:cNvSpPr/>
                <p:nvPr/>
              </p:nvSpPr>
              <p:spPr bwMode="auto">
                <a:xfrm>
                  <a:off x="6681788" y="3440113"/>
                  <a:ext cx="430213" cy="536575"/>
                </a:xfrm>
                <a:custGeom>
                  <a:avLst/>
                  <a:gdLst>
                    <a:gd name="T0" fmla="*/ 74 w 230"/>
                    <a:gd name="T1" fmla="*/ 0 h 287"/>
                    <a:gd name="T2" fmla="*/ 112 w 230"/>
                    <a:gd name="T3" fmla="*/ 62 h 287"/>
                    <a:gd name="T4" fmla="*/ 96 w 230"/>
                    <a:gd name="T5" fmla="*/ 0 h 287"/>
                    <a:gd name="T6" fmla="*/ 144 w 230"/>
                    <a:gd name="T7" fmla="*/ 0 h 287"/>
                    <a:gd name="T8" fmla="*/ 230 w 230"/>
                    <a:gd name="T9" fmla="*/ 287 h 287"/>
                    <a:gd name="T10" fmla="*/ 0 w 230"/>
                    <a:gd name="T11" fmla="*/ 38 h 287"/>
                    <a:gd name="T12" fmla="*/ 74 w 230"/>
                    <a:gd name="T13" fmla="*/ 0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0" h="287">
                      <a:moveTo>
                        <a:pt x="74" y="0"/>
                      </a:moveTo>
                      <a:cubicBezTo>
                        <a:pt x="112" y="62"/>
                        <a:pt x="112" y="62"/>
                        <a:pt x="112" y="62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144" y="0"/>
                        <a:pt x="144" y="0"/>
                        <a:pt x="144" y="0"/>
                      </a:cubicBezTo>
                      <a:cubicBezTo>
                        <a:pt x="144" y="0"/>
                        <a:pt x="221" y="197"/>
                        <a:pt x="230" y="287"/>
                      </a:cubicBezTo>
                      <a:cubicBezTo>
                        <a:pt x="230" y="287"/>
                        <a:pt x="46" y="72"/>
                        <a:pt x="0" y="38"/>
                      </a:cubicBez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Freeform 40"/>
                <p:cNvSpPr/>
                <p:nvPr/>
              </p:nvSpPr>
              <p:spPr bwMode="auto">
                <a:xfrm>
                  <a:off x="6665913" y="3414713"/>
                  <a:ext cx="153988" cy="141287"/>
                </a:xfrm>
                <a:custGeom>
                  <a:avLst/>
                  <a:gdLst>
                    <a:gd name="T0" fmla="*/ 0 w 82"/>
                    <a:gd name="T1" fmla="*/ 0 h 75"/>
                    <a:gd name="T2" fmla="*/ 82 w 82"/>
                    <a:gd name="T3" fmla="*/ 13 h 75"/>
                    <a:gd name="T4" fmla="*/ 82 w 82"/>
                    <a:gd name="T5" fmla="*/ 75 h 75"/>
                    <a:gd name="T6" fmla="*/ 0 w 82"/>
                    <a:gd name="T7" fmla="*/ 47 h 75"/>
                    <a:gd name="T8" fmla="*/ 0 w 82"/>
                    <a:gd name="T9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75">
                      <a:moveTo>
                        <a:pt x="0" y="0"/>
                      </a:moveTo>
                      <a:cubicBezTo>
                        <a:pt x="82" y="13"/>
                        <a:pt x="82" y="13"/>
                        <a:pt x="82" y="13"/>
                      </a:cubicBezTo>
                      <a:cubicBezTo>
                        <a:pt x="82" y="75"/>
                        <a:pt x="82" y="75"/>
                        <a:pt x="82" y="75"/>
                      </a:cubicBezTo>
                      <a:cubicBezTo>
                        <a:pt x="82" y="75"/>
                        <a:pt x="4" y="52"/>
                        <a:pt x="0" y="4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" name="Freeform 41"/>
                <p:cNvSpPr/>
                <p:nvPr/>
              </p:nvSpPr>
              <p:spPr bwMode="auto">
                <a:xfrm>
                  <a:off x="6843713" y="3530600"/>
                  <a:ext cx="123825" cy="93662"/>
                </a:xfrm>
                <a:custGeom>
                  <a:avLst/>
                  <a:gdLst>
                    <a:gd name="T0" fmla="*/ 0 w 66"/>
                    <a:gd name="T1" fmla="*/ 22 h 50"/>
                    <a:gd name="T2" fmla="*/ 54 w 66"/>
                    <a:gd name="T3" fmla="*/ 5 h 50"/>
                    <a:gd name="T4" fmla="*/ 66 w 66"/>
                    <a:gd name="T5" fmla="*/ 37 h 50"/>
                    <a:gd name="T6" fmla="*/ 39 w 66"/>
                    <a:gd name="T7" fmla="*/ 50 h 50"/>
                    <a:gd name="T8" fmla="*/ 0 w 66"/>
                    <a:gd name="T9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50">
                      <a:moveTo>
                        <a:pt x="0" y="22"/>
                      </a:moveTo>
                      <a:cubicBezTo>
                        <a:pt x="0" y="22"/>
                        <a:pt x="29" y="0"/>
                        <a:pt x="54" y="5"/>
                      </a:cubicBezTo>
                      <a:cubicBezTo>
                        <a:pt x="66" y="37"/>
                        <a:pt x="66" y="37"/>
                        <a:pt x="66" y="37"/>
                      </a:cubicBezTo>
                      <a:cubicBezTo>
                        <a:pt x="39" y="50"/>
                        <a:pt x="39" y="50"/>
                        <a:pt x="39" y="50"/>
                      </a:cubicBez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1414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Freeform 42"/>
                <p:cNvSpPr/>
                <p:nvPr/>
              </p:nvSpPr>
              <p:spPr bwMode="auto">
                <a:xfrm>
                  <a:off x="6916738" y="3600450"/>
                  <a:ext cx="212725" cy="396875"/>
                </a:xfrm>
                <a:custGeom>
                  <a:avLst/>
                  <a:gdLst>
                    <a:gd name="T0" fmla="*/ 11 w 113"/>
                    <a:gd name="T1" fmla="*/ 95 h 212"/>
                    <a:gd name="T2" fmla="*/ 0 w 113"/>
                    <a:gd name="T3" fmla="*/ 13 h 212"/>
                    <a:gd name="T4" fmla="*/ 27 w 113"/>
                    <a:gd name="T5" fmla="*/ 0 h 212"/>
                    <a:gd name="T6" fmla="*/ 94 w 113"/>
                    <a:gd name="T7" fmla="*/ 109 h 212"/>
                    <a:gd name="T8" fmla="*/ 113 w 113"/>
                    <a:gd name="T9" fmla="*/ 212 h 212"/>
                    <a:gd name="T10" fmla="*/ 11 w 113"/>
                    <a:gd name="T11" fmla="*/ 95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3" h="212">
                      <a:moveTo>
                        <a:pt x="11" y="95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7" y="0"/>
                        <a:pt x="79" y="86"/>
                        <a:pt x="94" y="109"/>
                      </a:cubicBezTo>
                      <a:cubicBezTo>
                        <a:pt x="113" y="212"/>
                        <a:pt x="113" y="212"/>
                        <a:pt x="113" y="212"/>
                      </a:cubicBezTo>
                      <a:lnTo>
                        <a:pt x="11" y="95"/>
                      </a:lnTo>
                      <a:close/>
                    </a:path>
                  </a:pathLst>
                </a:custGeom>
                <a:solidFill>
                  <a:srgbClr val="1414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Freeform 43"/>
                <p:cNvSpPr/>
                <p:nvPr/>
              </p:nvSpPr>
              <p:spPr bwMode="auto">
                <a:xfrm>
                  <a:off x="6602413" y="3440113"/>
                  <a:ext cx="527050" cy="557212"/>
                </a:xfrm>
                <a:custGeom>
                  <a:avLst/>
                  <a:gdLst>
                    <a:gd name="T0" fmla="*/ 34 w 281"/>
                    <a:gd name="T1" fmla="*/ 0 h 298"/>
                    <a:gd name="T2" fmla="*/ 0 w 281"/>
                    <a:gd name="T3" fmla="*/ 99 h 298"/>
                    <a:gd name="T4" fmla="*/ 102 w 281"/>
                    <a:gd name="T5" fmla="*/ 122 h 298"/>
                    <a:gd name="T6" fmla="*/ 84 w 281"/>
                    <a:gd name="T7" fmla="*/ 221 h 298"/>
                    <a:gd name="T8" fmla="*/ 281 w 281"/>
                    <a:gd name="T9" fmla="*/ 298 h 298"/>
                    <a:gd name="T10" fmla="*/ 42 w 281"/>
                    <a:gd name="T11" fmla="*/ 35 h 298"/>
                    <a:gd name="T12" fmla="*/ 34 w 281"/>
                    <a:gd name="T13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1" h="298">
                      <a:moveTo>
                        <a:pt x="34" y="0"/>
                      </a:moveTo>
                      <a:cubicBezTo>
                        <a:pt x="34" y="0"/>
                        <a:pt x="11" y="60"/>
                        <a:pt x="0" y="99"/>
                      </a:cubicBezTo>
                      <a:cubicBezTo>
                        <a:pt x="0" y="99"/>
                        <a:pt x="47" y="116"/>
                        <a:pt x="102" y="122"/>
                      </a:cubicBezTo>
                      <a:cubicBezTo>
                        <a:pt x="102" y="122"/>
                        <a:pt x="81" y="214"/>
                        <a:pt x="84" y="221"/>
                      </a:cubicBezTo>
                      <a:cubicBezTo>
                        <a:pt x="84" y="221"/>
                        <a:pt x="221" y="265"/>
                        <a:pt x="281" y="298"/>
                      </a:cubicBezTo>
                      <a:cubicBezTo>
                        <a:pt x="241" y="251"/>
                        <a:pt x="82" y="73"/>
                        <a:pt x="42" y="35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676B6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Freeform 44"/>
                <p:cNvSpPr/>
                <p:nvPr/>
              </p:nvSpPr>
              <p:spPr bwMode="auto">
                <a:xfrm>
                  <a:off x="6937376" y="3409950"/>
                  <a:ext cx="244475" cy="587375"/>
                </a:xfrm>
                <a:custGeom>
                  <a:avLst/>
                  <a:gdLst>
                    <a:gd name="T0" fmla="*/ 0 w 130"/>
                    <a:gd name="T1" fmla="*/ 0 h 314"/>
                    <a:gd name="T2" fmla="*/ 73 w 130"/>
                    <a:gd name="T3" fmla="*/ 53 h 314"/>
                    <a:gd name="T4" fmla="*/ 55 w 130"/>
                    <a:gd name="T5" fmla="*/ 102 h 314"/>
                    <a:gd name="T6" fmla="*/ 130 w 130"/>
                    <a:gd name="T7" fmla="*/ 159 h 314"/>
                    <a:gd name="T8" fmla="*/ 102 w 130"/>
                    <a:gd name="T9" fmla="*/ 314 h 314"/>
                    <a:gd name="T10" fmla="*/ 0 w 130"/>
                    <a:gd name="T11" fmla="*/ 0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0" h="314">
                      <a:moveTo>
                        <a:pt x="0" y="0"/>
                      </a:moveTo>
                      <a:cubicBezTo>
                        <a:pt x="0" y="0"/>
                        <a:pt x="39" y="36"/>
                        <a:pt x="73" y="53"/>
                      </a:cubicBezTo>
                      <a:cubicBezTo>
                        <a:pt x="73" y="53"/>
                        <a:pt x="66" y="84"/>
                        <a:pt x="55" y="102"/>
                      </a:cubicBezTo>
                      <a:cubicBezTo>
                        <a:pt x="55" y="102"/>
                        <a:pt x="108" y="138"/>
                        <a:pt x="130" y="159"/>
                      </a:cubicBezTo>
                      <a:cubicBezTo>
                        <a:pt x="130" y="159"/>
                        <a:pt x="102" y="239"/>
                        <a:pt x="102" y="314"/>
                      </a:cubicBezTo>
                      <a:cubicBezTo>
                        <a:pt x="102" y="314"/>
                        <a:pt x="20" y="30"/>
                        <a:pt x="0" y="0"/>
                      </a:cubicBezTo>
                      <a:close/>
                    </a:path>
                  </a:pathLst>
                </a:custGeom>
                <a:solidFill>
                  <a:srgbClr val="676B6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Freeform 45"/>
                <p:cNvSpPr/>
                <p:nvPr/>
              </p:nvSpPr>
              <p:spPr bwMode="auto">
                <a:xfrm>
                  <a:off x="7135813" y="4019550"/>
                  <a:ext cx="161925" cy="400050"/>
                </a:xfrm>
                <a:custGeom>
                  <a:avLst/>
                  <a:gdLst>
                    <a:gd name="T0" fmla="*/ 0 w 86"/>
                    <a:gd name="T1" fmla="*/ 0 h 214"/>
                    <a:gd name="T2" fmla="*/ 86 w 86"/>
                    <a:gd name="T3" fmla="*/ 214 h 214"/>
                    <a:gd name="T4" fmla="*/ 0 w 86"/>
                    <a:gd name="T5" fmla="*/ 0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6" h="214">
                      <a:moveTo>
                        <a:pt x="0" y="0"/>
                      </a:moveTo>
                      <a:cubicBezTo>
                        <a:pt x="0" y="0"/>
                        <a:pt x="75" y="154"/>
                        <a:pt x="86" y="214"/>
                      </a:cubicBezTo>
                      <a:cubicBezTo>
                        <a:pt x="86" y="214"/>
                        <a:pt x="9" y="35"/>
                        <a:pt x="0" y="0"/>
                      </a:cubicBezTo>
                      <a:close/>
                    </a:path>
                  </a:pathLst>
                </a:custGeom>
                <a:solidFill>
                  <a:srgbClr val="2327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Freeform 46"/>
                <p:cNvSpPr/>
                <p:nvPr/>
              </p:nvSpPr>
              <p:spPr bwMode="auto">
                <a:xfrm>
                  <a:off x="7164388" y="4302125"/>
                  <a:ext cx="55563" cy="60325"/>
                </a:xfrm>
                <a:custGeom>
                  <a:avLst/>
                  <a:gdLst>
                    <a:gd name="T0" fmla="*/ 27 w 30"/>
                    <a:gd name="T1" fmla="*/ 11 h 32"/>
                    <a:gd name="T2" fmla="*/ 21 w 30"/>
                    <a:gd name="T3" fmla="*/ 30 h 32"/>
                    <a:gd name="T4" fmla="*/ 3 w 30"/>
                    <a:gd name="T5" fmla="*/ 21 h 32"/>
                    <a:gd name="T6" fmla="*/ 9 w 30"/>
                    <a:gd name="T7" fmla="*/ 2 h 32"/>
                    <a:gd name="T8" fmla="*/ 27 w 30"/>
                    <a:gd name="T9" fmla="*/ 11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32">
                      <a:moveTo>
                        <a:pt x="27" y="11"/>
                      </a:moveTo>
                      <a:cubicBezTo>
                        <a:pt x="30" y="19"/>
                        <a:pt x="27" y="27"/>
                        <a:pt x="21" y="30"/>
                      </a:cubicBezTo>
                      <a:cubicBezTo>
                        <a:pt x="14" y="32"/>
                        <a:pt x="6" y="29"/>
                        <a:pt x="3" y="21"/>
                      </a:cubicBezTo>
                      <a:cubicBezTo>
                        <a:pt x="0" y="14"/>
                        <a:pt x="3" y="5"/>
                        <a:pt x="9" y="2"/>
                      </a:cubicBezTo>
                      <a:cubicBezTo>
                        <a:pt x="16" y="0"/>
                        <a:pt x="24" y="4"/>
                        <a:pt x="27" y="11"/>
                      </a:cubicBezTo>
                      <a:close/>
                    </a:path>
                  </a:pathLst>
                </a:custGeom>
                <a:solidFill>
                  <a:srgbClr val="2327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" name="Freeform 47"/>
                <p:cNvSpPr/>
                <p:nvPr/>
              </p:nvSpPr>
              <p:spPr bwMode="auto">
                <a:xfrm>
                  <a:off x="7100888" y="4111625"/>
                  <a:ext cx="55563" cy="61912"/>
                </a:xfrm>
                <a:custGeom>
                  <a:avLst/>
                  <a:gdLst>
                    <a:gd name="T0" fmla="*/ 27 w 30"/>
                    <a:gd name="T1" fmla="*/ 11 h 33"/>
                    <a:gd name="T2" fmla="*/ 21 w 30"/>
                    <a:gd name="T3" fmla="*/ 30 h 33"/>
                    <a:gd name="T4" fmla="*/ 3 w 30"/>
                    <a:gd name="T5" fmla="*/ 21 h 33"/>
                    <a:gd name="T6" fmla="*/ 10 w 30"/>
                    <a:gd name="T7" fmla="*/ 3 h 33"/>
                    <a:gd name="T8" fmla="*/ 27 w 30"/>
                    <a:gd name="T9" fmla="*/ 1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33">
                      <a:moveTo>
                        <a:pt x="27" y="11"/>
                      </a:moveTo>
                      <a:cubicBezTo>
                        <a:pt x="30" y="19"/>
                        <a:pt x="27" y="27"/>
                        <a:pt x="21" y="30"/>
                      </a:cubicBezTo>
                      <a:cubicBezTo>
                        <a:pt x="14" y="33"/>
                        <a:pt x="6" y="29"/>
                        <a:pt x="3" y="21"/>
                      </a:cubicBezTo>
                      <a:cubicBezTo>
                        <a:pt x="0" y="14"/>
                        <a:pt x="3" y="6"/>
                        <a:pt x="10" y="3"/>
                      </a:cubicBezTo>
                      <a:cubicBezTo>
                        <a:pt x="16" y="0"/>
                        <a:pt x="24" y="4"/>
                        <a:pt x="27" y="11"/>
                      </a:cubicBezTo>
                      <a:close/>
                    </a:path>
                  </a:pathLst>
                </a:custGeom>
                <a:solidFill>
                  <a:srgbClr val="2327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Freeform 48"/>
                <p:cNvSpPr/>
                <p:nvPr/>
              </p:nvSpPr>
              <p:spPr bwMode="auto">
                <a:xfrm>
                  <a:off x="6861176" y="3381375"/>
                  <a:ext cx="96838" cy="146050"/>
                </a:xfrm>
                <a:custGeom>
                  <a:avLst/>
                  <a:gdLst>
                    <a:gd name="T0" fmla="*/ 0 w 52"/>
                    <a:gd name="T1" fmla="*/ 31 h 78"/>
                    <a:gd name="T2" fmla="*/ 45 w 52"/>
                    <a:gd name="T3" fmla="*/ 78 h 78"/>
                    <a:gd name="T4" fmla="*/ 48 w 52"/>
                    <a:gd name="T5" fmla="*/ 18 h 78"/>
                    <a:gd name="T6" fmla="*/ 25 w 52"/>
                    <a:gd name="T7" fmla="*/ 0 h 78"/>
                    <a:gd name="T8" fmla="*/ 0 w 52"/>
                    <a:gd name="T9" fmla="*/ 31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78">
                      <a:moveTo>
                        <a:pt x="0" y="31"/>
                      </a:moveTo>
                      <a:cubicBezTo>
                        <a:pt x="45" y="78"/>
                        <a:pt x="45" y="78"/>
                        <a:pt x="45" y="78"/>
                      </a:cubicBezTo>
                      <a:cubicBezTo>
                        <a:pt x="45" y="78"/>
                        <a:pt x="52" y="31"/>
                        <a:pt x="48" y="18"/>
                      </a:cubicBezTo>
                      <a:cubicBezTo>
                        <a:pt x="25" y="0"/>
                        <a:pt x="25" y="0"/>
                        <a:pt x="25" y="0"/>
                      </a:cubicBez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Freeform 49"/>
                <p:cNvSpPr/>
                <p:nvPr/>
              </p:nvSpPr>
              <p:spPr bwMode="auto">
                <a:xfrm>
                  <a:off x="6937376" y="4435475"/>
                  <a:ext cx="563563" cy="161925"/>
                </a:xfrm>
                <a:custGeom>
                  <a:avLst/>
                  <a:gdLst>
                    <a:gd name="T0" fmla="*/ 0 w 301"/>
                    <a:gd name="T1" fmla="*/ 87 h 87"/>
                    <a:gd name="T2" fmla="*/ 188 w 301"/>
                    <a:gd name="T3" fmla="*/ 43 h 87"/>
                    <a:gd name="T4" fmla="*/ 194 w 301"/>
                    <a:gd name="T5" fmla="*/ 0 h 87"/>
                    <a:gd name="T6" fmla="*/ 211 w 301"/>
                    <a:gd name="T7" fmla="*/ 41 h 87"/>
                    <a:gd name="T8" fmla="*/ 301 w 301"/>
                    <a:gd name="T9" fmla="*/ 40 h 87"/>
                    <a:gd name="T10" fmla="*/ 207 w 301"/>
                    <a:gd name="T11" fmla="*/ 49 h 87"/>
                    <a:gd name="T12" fmla="*/ 200 w 301"/>
                    <a:gd name="T13" fmla="*/ 32 h 87"/>
                    <a:gd name="T14" fmla="*/ 197 w 301"/>
                    <a:gd name="T15" fmla="*/ 52 h 87"/>
                    <a:gd name="T16" fmla="*/ 0 w 301"/>
                    <a:gd name="T17" fmla="*/ 87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01" h="87">
                      <a:moveTo>
                        <a:pt x="0" y="87"/>
                      </a:moveTo>
                      <a:cubicBezTo>
                        <a:pt x="0" y="87"/>
                        <a:pt x="85" y="58"/>
                        <a:pt x="188" y="43"/>
                      </a:cubicBezTo>
                      <a:cubicBezTo>
                        <a:pt x="194" y="0"/>
                        <a:pt x="194" y="0"/>
                        <a:pt x="194" y="0"/>
                      </a:cubicBezTo>
                      <a:cubicBezTo>
                        <a:pt x="194" y="0"/>
                        <a:pt x="206" y="28"/>
                        <a:pt x="211" y="41"/>
                      </a:cubicBezTo>
                      <a:cubicBezTo>
                        <a:pt x="211" y="41"/>
                        <a:pt x="283" y="38"/>
                        <a:pt x="301" y="40"/>
                      </a:cubicBezTo>
                      <a:cubicBezTo>
                        <a:pt x="301" y="40"/>
                        <a:pt x="217" y="47"/>
                        <a:pt x="207" y="49"/>
                      </a:cubicBezTo>
                      <a:cubicBezTo>
                        <a:pt x="200" y="32"/>
                        <a:pt x="200" y="32"/>
                        <a:pt x="200" y="32"/>
                      </a:cubicBezTo>
                      <a:cubicBezTo>
                        <a:pt x="200" y="32"/>
                        <a:pt x="198" y="46"/>
                        <a:pt x="197" y="52"/>
                      </a:cubicBezTo>
                      <a:cubicBezTo>
                        <a:pt x="194" y="55"/>
                        <a:pt x="45" y="67"/>
                        <a:pt x="0" y="87"/>
                      </a:cubicBezTo>
                      <a:close/>
                    </a:path>
                  </a:pathLst>
                </a:custGeom>
                <a:solidFill>
                  <a:srgbClr val="2327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" name="Freeform 50"/>
                <p:cNvSpPr/>
                <p:nvPr/>
              </p:nvSpPr>
              <p:spPr bwMode="auto">
                <a:xfrm>
                  <a:off x="6065838" y="3473450"/>
                  <a:ext cx="650874" cy="979487"/>
                </a:xfrm>
                <a:custGeom>
                  <a:avLst/>
                  <a:gdLst>
                    <a:gd name="T0" fmla="*/ 221 w 348"/>
                    <a:gd name="T1" fmla="*/ 17 h 524"/>
                    <a:gd name="T2" fmla="*/ 20 w 348"/>
                    <a:gd name="T3" fmla="*/ 356 h 524"/>
                    <a:gd name="T4" fmla="*/ 289 w 348"/>
                    <a:gd name="T5" fmla="*/ 456 h 524"/>
                    <a:gd name="T6" fmla="*/ 306 w 348"/>
                    <a:gd name="T7" fmla="*/ 356 h 524"/>
                    <a:gd name="T8" fmla="*/ 116 w 348"/>
                    <a:gd name="T9" fmla="*/ 380 h 524"/>
                    <a:gd name="T10" fmla="*/ 257 w 348"/>
                    <a:gd name="T11" fmla="*/ 104 h 524"/>
                    <a:gd name="T12" fmla="*/ 221 w 348"/>
                    <a:gd name="T13" fmla="*/ 17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8" h="524">
                      <a:moveTo>
                        <a:pt x="221" y="17"/>
                      </a:moveTo>
                      <a:cubicBezTo>
                        <a:pt x="221" y="17"/>
                        <a:pt x="39" y="246"/>
                        <a:pt x="20" y="356"/>
                      </a:cubicBezTo>
                      <a:cubicBezTo>
                        <a:pt x="0" y="466"/>
                        <a:pt x="68" y="524"/>
                        <a:pt x="289" y="456"/>
                      </a:cubicBezTo>
                      <a:cubicBezTo>
                        <a:pt x="289" y="456"/>
                        <a:pt x="348" y="383"/>
                        <a:pt x="306" y="356"/>
                      </a:cubicBezTo>
                      <a:cubicBezTo>
                        <a:pt x="306" y="356"/>
                        <a:pt x="153" y="448"/>
                        <a:pt x="116" y="380"/>
                      </a:cubicBezTo>
                      <a:cubicBezTo>
                        <a:pt x="78" y="313"/>
                        <a:pt x="186" y="215"/>
                        <a:pt x="257" y="104"/>
                      </a:cubicBezTo>
                      <a:cubicBezTo>
                        <a:pt x="257" y="104"/>
                        <a:pt x="296" y="0"/>
                        <a:pt x="221" y="17"/>
                      </a:cubicBezTo>
                      <a:close/>
                    </a:path>
                  </a:pathLst>
                </a:custGeom>
                <a:solidFill>
                  <a:srgbClr val="464B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Freeform 51"/>
                <p:cNvSpPr/>
                <p:nvPr/>
              </p:nvSpPr>
              <p:spPr bwMode="auto">
                <a:xfrm>
                  <a:off x="6445251" y="3949700"/>
                  <a:ext cx="457200" cy="385762"/>
                </a:xfrm>
                <a:custGeom>
                  <a:avLst/>
                  <a:gdLst>
                    <a:gd name="T0" fmla="*/ 134 w 244"/>
                    <a:gd name="T1" fmla="*/ 188 h 206"/>
                    <a:gd name="T2" fmla="*/ 36 w 244"/>
                    <a:gd name="T3" fmla="*/ 162 h 206"/>
                    <a:gd name="T4" fmla="*/ 26 w 244"/>
                    <a:gd name="T5" fmla="*/ 46 h 206"/>
                    <a:gd name="T6" fmla="*/ 48 w 244"/>
                    <a:gd name="T7" fmla="*/ 80 h 206"/>
                    <a:gd name="T8" fmla="*/ 65 w 244"/>
                    <a:gd name="T9" fmla="*/ 109 h 206"/>
                    <a:gd name="T10" fmla="*/ 73 w 244"/>
                    <a:gd name="T11" fmla="*/ 21 h 206"/>
                    <a:gd name="T12" fmla="*/ 107 w 244"/>
                    <a:gd name="T13" fmla="*/ 30 h 206"/>
                    <a:gd name="T14" fmla="*/ 113 w 244"/>
                    <a:gd name="T15" fmla="*/ 103 h 206"/>
                    <a:gd name="T16" fmla="*/ 138 w 244"/>
                    <a:gd name="T17" fmla="*/ 34 h 206"/>
                    <a:gd name="T18" fmla="*/ 164 w 244"/>
                    <a:gd name="T19" fmla="*/ 52 h 206"/>
                    <a:gd name="T20" fmla="*/ 149 w 244"/>
                    <a:gd name="T21" fmla="*/ 103 h 206"/>
                    <a:gd name="T22" fmla="*/ 172 w 244"/>
                    <a:gd name="T23" fmla="*/ 129 h 206"/>
                    <a:gd name="T24" fmla="*/ 228 w 244"/>
                    <a:gd name="T25" fmla="*/ 111 h 206"/>
                    <a:gd name="T26" fmla="*/ 244 w 244"/>
                    <a:gd name="T27" fmla="*/ 139 h 206"/>
                    <a:gd name="T28" fmla="*/ 187 w 244"/>
                    <a:gd name="T29" fmla="*/ 166 h 206"/>
                    <a:gd name="T30" fmla="*/ 134 w 244"/>
                    <a:gd name="T31" fmla="*/ 188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44" h="206">
                      <a:moveTo>
                        <a:pt x="134" y="188"/>
                      </a:moveTo>
                      <a:cubicBezTo>
                        <a:pt x="109" y="197"/>
                        <a:pt x="71" y="206"/>
                        <a:pt x="36" y="162"/>
                      </a:cubicBezTo>
                      <a:cubicBezTo>
                        <a:pt x="0" y="119"/>
                        <a:pt x="0" y="60"/>
                        <a:pt x="26" y="46"/>
                      </a:cubicBezTo>
                      <a:cubicBezTo>
                        <a:pt x="43" y="37"/>
                        <a:pt x="47" y="51"/>
                        <a:pt x="48" y="80"/>
                      </a:cubicBezTo>
                      <a:cubicBezTo>
                        <a:pt x="48" y="108"/>
                        <a:pt x="65" y="109"/>
                        <a:pt x="65" y="109"/>
                      </a:cubicBezTo>
                      <a:cubicBezTo>
                        <a:pt x="65" y="109"/>
                        <a:pt x="53" y="45"/>
                        <a:pt x="73" y="21"/>
                      </a:cubicBezTo>
                      <a:cubicBezTo>
                        <a:pt x="90" y="0"/>
                        <a:pt x="117" y="11"/>
                        <a:pt x="107" y="30"/>
                      </a:cubicBezTo>
                      <a:cubicBezTo>
                        <a:pt x="98" y="48"/>
                        <a:pt x="110" y="93"/>
                        <a:pt x="113" y="103"/>
                      </a:cubicBezTo>
                      <a:cubicBezTo>
                        <a:pt x="113" y="103"/>
                        <a:pt x="115" y="43"/>
                        <a:pt x="138" y="34"/>
                      </a:cubicBezTo>
                      <a:cubicBezTo>
                        <a:pt x="158" y="26"/>
                        <a:pt x="165" y="41"/>
                        <a:pt x="164" y="52"/>
                      </a:cubicBezTo>
                      <a:cubicBezTo>
                        <a:pt x="162" y="62"/>
                        <a:pt x="153" y="67"/>
                        <a:pt x="149" y="103"/>
                      </a:cubicBezTo>
                      <a:cubicBezTo>
                        <a:pt x="146" y="140"/>
                        <a:pt x="169" y="134"/>
                        <a:pt x="172" y="129"/>
                      </a:cubicBezTo>
                      <a:cubicBezTo>
                        <a:pt x="176" y="124"/>
                        <a:pt x="215" y="103"/>
                        <a:pt x="228" y="111"/>
                      </a:cubicBezTo>
                      <a:cubicBezTo>
                        <a:pt x="240" y="118"/>
                        <a:pt x="244" y="139"/>
                        <a:pt x="244" y="139"/>
                      </a:cubicBezTo>
                      <a:cubicBezTo>
                        <a:pt x="244" y="139"/>
                        <a:pt x="206" y="156"/>
                        <a:pt x="187" y="166"/>
                      </a:cubicBezTo>
                      <a:cubicBezTo>
                        <a:pt x="167" y="176"/>
                        <a:pt x="151" y="181"/>
                        <a:pt x="134" y="188"/>
                      </a:cubicBezTo>
                      <a:close/>
                    </a:path>
                  </a:pathLst>
                </a:custGeom>
                <a:solidFill>
                  <a:srgbClr val="FFDCB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Freeform 52"/>
                <p:cNvSpPr/>
                <p:nvPr/>
              </p:nvSpPr>
              <p:spPr bwMode="auto">
                <a:xfrm>
                  <a:off x="6600826" y="4165600"/>
                  <a:ext cx="85725" cy="112712"/>
                </a:xfrm>
                <a:custGeom>
                  <a:avLst/>
                  <a:gdLst>
                    <a:gd name="T0" fmla="*/ 0 w 46"/>
                    <a:gd name="T1" fmla="*/ 24 h 60"/>
                    <a:gd name="T2" fmla="*/ 45 w 46"/>
                    <a:gd name="T3" fmla="*/ 60 h 60"/>
                    <a:gd name="T4" fmla="*/ 0 w 46"/>
                    <a:gd name="T5" fmla="*/ 24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6" h="60">
                      <a:moveTo>
                        <a:pt x="0" y="24"/>
                      </a:moveTo>
                      <a:cubicBezTo>
                        <a:pt x="0" y="24"/>
                        <a:pt x="40" y="12"/>
                        <a:pt x="45" y="60"/>
                      </a:cubicBezTo>
                      <a:cubicBezTo>
                        <a:pt x="45" y="60"/>
                        <a:pt x="46" y="0"/>
                        <a:pt x="0" y="24"/>
                      </a:cubicBezTo>
                      <a:close/>
                    </a:path>
                  </a:pathLst>
                </a:custGeom>
                <a:solidFill>
                  <a:srgbClr val="CB8F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defTabSz="914377"/>
                  <a:endParaRPr lang="zh-CN" altLang="en-US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2" name="e7d195523061f1c0" descr="e7d195523061f1c0e47ffc70844bb6f75fcb03b75858c49c480C64385E58A9406A784D96DFB0659D141F23C21B5D92CEF93DE268DCD659DE2284C54467FC4D0C40898BA465CB317FBA32D1D63CA47264554FA9B09017C11D8C84EBC517B84CACD14EE9E05E43A1040CD5FF338B58557B8D166A8905470DC83E304604FB28B6911BF8B180C64F9D7D" hidden="1"/>
          <p:cNvSpPr txBox="1"/>
          <p:nvPr/>
        </p:nvSpPr>
        <p:spPr>
          <a:xfrm>
            <a:off x="-355600" y="1803400"/>
            <a:ext cx="37856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914377"/>
            <a:r>
              <a:rPr lang="en-US" altLang="zh-CN" sz="133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e7d195523061f1c0e47ffc70844bb6f75fcb03b75858c49c480C64385E58A9406A784D96DFB0659D141F23C21B5D92CEF93DE268DCD659DE2284C54467FC4D0C40898BA465CB317FBA32D1D63CA47264554FA9B09017C11D8C84EBC517B84CACD14EE9E05E43A1040CD5FF338B58557B8D166A8905470DC83E304604FB28B6911BF8B180C64F9D7D</a:t>
            </a:r>
            <a:endParaRPr lang="zh-CN" altLang="en-US" sz="133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8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74989" y="644691"/>
            <a:ext cx="9169416" cy="481111"/>
          </a:xfrm>
        </p:spPr>
        <p:txBody>
          <a:bodyPr/>
          <a:lstStyle/>
          <a:p>
            <a:r>
              <a:rPr lang="zh-CN" altLang="en-US" dirty="0"/>
              <a:t>经济型资助</a:t>
            </a:r>
          </a:p>
        </p:txBody>
      </p:sp>
      <p:sp>
        <p:nvSpPr>
          <p:cNvPr id="4" name="矩形 3"/>
          <p:cNvSpPr/>
          <p:nvPr/>
        </p:nvSpPr>
        <p:spPr>
          <a:xfrm>
            <a:off x="4245542" y="1764295"/>
            <a:ext cx="6799716" cy="3169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入学前：</a:t>
            </a:r>
            <a:r>
              <a:rPr lang="zh-CN" altLang="en-US" sz="2133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困难新生路费补贴、走访慰问、新生训练营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133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在校期间：</a:t>
            </a:r>
            <a:r>
              <a:rPr lang="zh-CN" altLang="en-US" sz="2133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保障型、发展型经济资助包、物资资助（冬日送温暖、夏日送清凉）、人文关怀（临时帮困、年夜饭）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133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毕业之际：</a:t>
            </a:r>
            <a:r>
              <a:rPr lang="zh-CN" altLang="en-US" sz="2133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学生就业奖学金（扬帆奖）、出国留学贷款、基层就业（贷款代偿、学费补偿）</a:t>
            </a:r>
          </a:p>
        </p:txBody>
      </p:sp>
    </p:spTree>
    <p:extLst>
      <p:ext uri="{BB962C8B-B14F-4D97-AF65-F5344CB8AC3E}">
        <p14:creationId xmlns:p14="http://schemas.microsoft.com/office/powerpoint/2010/main" val="590708076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 descr="e7d195523061f1c0b9c437df2358c0cda14f5041a22fabbfBE2BE37675DC7AB669ED1A17F222BC996230C869F9A73B775AB9A6F73BCC744AF1BB55A31F7D215610F6B48D481C98CFAE215B20EECA2E6E08A73B81289C933F7CD9353B7502C3850EB64C8D3DB59D923E919FC59D147AA04F2BD9206E629B53488CCFAE0509C8C1BB0F0FB79A8F12DE98572DA9197CF0E3"/>
          <p:cNvGrpSpPr/>
          <p:nvPr/>
        </p:nvGrpSpPr>
        <p:grpSpPr>
          <a:xfrm>
            <a:off x="580330" y="471501"/>
            <a:ext cx="9917159" cy="5165745"/>
            <a:chOff x="500795" y="1407797"/>
            <a:chExt cx="9917158" cy="5165744"/>
          </a:xfrm>
        </p:grpSpPr>
        <p:grpSp>
          <p:nvGrpSpPr>
            <p:cNvPr id="34" name="Group 2"/>
            <p:cNvGrpSpPr/>
            <p:nvPr/>
          </p:nvGrpSpPr>
          <p:grpSpPr bwMode="auto">
            <a:xfrm flipH="1">
              <a:off x="7622594" y="1407797"/>
              <a:ext cx="1665780" cy="1622597"/>
              <a:chOff x="476" y="440"/>
              <a:chExt cx="957" cy="932"/>
            </a:xfrm>
          </p:grpSpPr>
          <p:sp>
            <p:nvSpPr>
              <p:cNvPr id="39" name="Freeform 30"/>
              <p:cNvSpPr/>
              <p:nvPr/>
            </p:nvSpPr>
            <p:spPr bwMode="auto">
              <a:xfrm flipH="1">
                <a:off x="476" y="440"/>
                <a:ext cx="248" cy="932"/>
              </a:xfrm>
              <a:custGeom>
                <a:avLst/>
                <a:gdLst>
                  <a:gd name="T0" fmla="*/ 2 w 124"/>
                  <a:gd name="T1" fmla="*/ 1 h 466"/>
                  <a:gd name="T2" fmla="*/ 46 w 124"/>
                  <a:gd name="T3" fmla="*/ 55 h 466"/>
                  <a:gd name="T4" fmla="*/ 61 w 124"/>
                  <a:gd name="T5" fmla="*/ 56 h 466"/>
                  <a:gd name="T6" fmla="*/ 78 w 124"/>
                  <a:gd name="T7" fmla="*/ 51 h 466"/>
                  <a:gd name="T8" fmla="*/ 119 w 124"/>
                  <a:gd name="T9" fmla="*/ 4 h 466"/>
                  <a:gd name="T10" fmla="*/ 120 w 124"/>
                  <a:gd name="T11" fmla="*/ 0 h 466"/>
                  <a:gd name="T12" fmla="*/ 124 w 124"/>
                  <a:gd name="T13" fmla="*/ 7 h 466"/>
                  <a:gd name="T14" fmla="*/ 107 w 124"/>
                  <a:gd name="T15" fmla="*/ 327 h 466"/>
                  <a:gd name="T16" fmla="*/ 117 w 124"/>
                  <a:gd name="T17" fmla="*/ 430 h 466"/>
                  <a:gd name="T18" fmla="*/ 20 w 124"/>
                  <a:gd name="T19" fmla="*/ 456 h 466"/>
                  <a:gd name="T20" fmla="*/ 0 w 124"/>
                  <a:gd name="T21" fmla="*/ 5 h 466"/>
                  <a:gd name="T22" fmla="*/ 2 w 124"/>
                  <a:gd name="T23" fmla="*/ 1 h 466"/>
                  <a:gd name="T24" fmla="*/ 0 w 124"/>
                  <a:gd name="T25" fmla="*/ 0 h 466"/>
                  <a:gd name="T26" fmla="*/ 124 w 124"/>
                  <a:gd name="T27" fmla="*/ 466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T24" t="T25" r="T26" b="T27"/>
                <a:pathLst>
                  <a:path w="124" h="466">
                    <a:moveTo>
                      <a:pt x="2" y="1"/>
                    </a:moveTo>
                    <a:cubicBezTo>
                      <a:pt x="2" y="1"/>
                      <a:pt x="27" y="32"/>
                      <a:pt x="46" y="55"/>
                    </a:cubicBezTo>
                    <a:cubicBezTo>
                      <a:pt x="54" y="57"/>
                      <a:pt x="52" y="57"/>
                      <a:pt x="61" y="56"/>
                    </a:cubicBezTo>
                    <a:cubicBezTo>
                      <a:pt x="61" y="56"/>
                      <a:pt x="67" y="58"/>
                      <a:pt x="78" y="51"/>
                    </a:cubicBezTo>
                    <a:cubicBezTo>
                      <a:pt x="90" y="39"/>
                      <a:pt x="105" y="34"/>
                      <a:pt x="119" y="4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24" y="7"/>
                      <a:pt x="102" y="232"/>
                      <a:pt x="107" y="327"/>
                    </a:cubicBezTo>
                    <a:cubicBezTo>
                      <a:pt x="107" y="327"/>
                      <a:pt x="112" y="421"/>
                      <a:pt x="117" y="430"/>
                    </a:cubicBezTo>
                    <a:cubicBezTo>
                      <a:pt x="117" y="430"/>
                      <a:pt x="42" y="466"/>
                      <a:pt x="20" y="456"/>
                    </a:cubicBezTo>
                    <a:cubicBezTo>
                      <a:pt x="20" y="456"/>
                      <a:pt x="33" y="118"/>
                      <a:pt x="0" y="5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32"/>
              <p:cNvSpPr>
                <a:spLocks noChangeShapeType="1"/>
              </p:cNvSpPr>
              <p:nvPr/>
            </p:nvSpPr>
            <p:spPr bwMode="auto">
              <a:xfrm flipH="1">
                <a:off x="1432" y="554"/>
                <a:ext cx="1" cy="1"/>
              </a:xfrm>
              <a:prstGeom prst="line">
                <a:avLst/>
              </a:prstGeom>
              <a:noFill/>
              <a:ln w="9525" cmpd="sng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33"/>
              <p:cNvSpPr>
                <a:spLocks noChangeShapeType="1"/>
              </p:cNvSpPr>
              <p:nvPr/>
            </p:nvSpPr>
            <p:spPr bwMode="auto">
              <a:xfrm flipH="1">
                <a:off x="1432" y="554"/>
                <a:ext cx="1" cy="1"/>
              </a:xfrm>
              <a:prstGeom prst="line">
                <a:avLst/>
              </a:prstGeom>
              <a:noFill/>
              <a:ln w="9525" cmpd="sng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" name="Group 8"/>
            <p:cNvGrpSpPr/>
            <p:nvPr/>
          </p:nvGrpSpPr>
          <p:grpSpPr bwMode="auto">
            <a:xfrm flipH="1">
              <a:off x="500795" y="2676168"/>
              <a:ext cx="9917158" cy="3897373"/>
              <a:chOff x="-4900711" y="-877691"/>
              <a:chExt cx="13228843" cy="5194492"/>
            </a:xfrm>
          </p:grpSpPr>
          <p:pic>
            <p:nvPicPr>
              <p:cNvPr id="36" name="Picture 74"/>
              <p:cNvPicPr>
                <a:picLocks noChangeAspect="1" noChangeArrowheads="1"/>
              </p:cNvPicPr>
              <p:nvPr/>
            </p:nvPicPr>
            <p:blipFill>
              <a:blip r:embed="rId3" cstate="hqprint">
                <a:lum bright="2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7470" y="2749586"/>
                <a:ext cx="1180662" cy="1567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AutoShape 35" descr="Bild20"/>
              <p:cNvSpPr>
                <a:spLocks noChangeArrowheads="1"/>
              </p:cNvSpPr>
              <p:nvPr/>
            </p:nvSpPr>
            <p:spPr bwMode="auto">
              <a:xfrm>
                <a:off x="-4900711" y="-877691"/>
                <a:ext cx="12048181" cy="5194487"/>
              </a:xfrm>
              <a:prstGeom prst="roundRect">
                <a:avLst>
                  <a:gd name="adj" fmla="val 0"/>
                </a:avLst>
              </a:prstGeom>
              <a:noFill/>
              <a:ln w="25400" cmpd="sng">
                <a:solidFill>
                  <a:srgbClr val="CC3300"/>
                </a:solidFill>
                <a:round/>
              </a:ln>
            </p:spPr>
            <p:txBody>
              <a:bodyPr lIns="108000" tIns="108000" rIns="36000" bIns="36000"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4" name="文本框 43"/>
          <p:cNvSpPr txBox="1"/>
          <p:nvPr/>
        </p:nvSpPr>
        <p:spPr>
          <a:xfrm>
            <a:off x="1799119" y="2160714"/>
            <a:ext cx="8364676" cy="193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b="1" dirty="0">
                <a:solidFill>
                  <a:srgbClr val="000000"/>
                </a:solidFill>
                <a:latin typeface="造字工房悦圆（非商用）常规体" pitchFamily="2" charset="-122"/>
                <a:ea typeface="造字工房悦圆（非商用）常规体" pitchFamily="2" charset="-122"/>
              </a:rPr>
              <a:t>国家层面</a:t>
            </a:r>
          </a:p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b="1" dirty="0">
                <a:solidFill>
                  <a:srgbClr val="000000"/>
                </a:solidFill>
                <a:latin typeface="造字工房悦圆（非商用）常规体" pitchFamily="2" charset="-122"/>
                <a:ea typeface="造字工房悦圆（非商用）常规体" pitchFamily="2" charset="-122"/>
              </a:rPr>
              <a:t>学校层面</a:t>
            </a:r>
          </a:p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b="1" dirty="0">
                <a:solidFill>
                  <a:srgbClr val="000000"/>
                </a:solidFill>
                <a:latin typeface="造字工房悦圆（非商用）常规体" pitchFamily="2" charset="-122"/>
                <a:ea typeface="造字工房悦圆（非商用）常规体" pitchFamily="2" charset="-122"/>
              </a:rPr>
              <a:t>社会层面</a:t>
            </a:r>
          </a:p>
        </p:txBody>
      </p:sp>
      <p:sp>
        <p:nvSpPr>
          <p:cNvPr id="2" name="e7d195523061f1c0" descr="e7d195523061f1c0e47ffc70844bb6f75fcb03b75858c49c480C64385E58A9406A784D96DFB0659D141F23C21B5D92CEF93DE268DCD659DE2284C54467FC4D0C40898BA465CB317FBA32D1D63CA47264554FA9B09017C11D8C84EBC517B84CACD14EE9E05E43A1040CD5FF338B58557B8D166A8905470DC83E304604FB28B6911BF8B180C64F9D7D" hidden="1"/>
          <p:cNvSpPr txBox="1"/>
          <p:nvPr/>
        </p:nvSpPr>
        <p:spPr>
          <a:xfrm>
            <a:off x="-355600" y="1803400"/>
            <a:ext cx="37856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914377">
              <a:defRPr/>
            </a:pPr>
            <a:r>
              <a:rPr lang="en-US" altLang="zh-CN" sz="133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e7d195523061f1c0e47ffc70844bb6f75fcb03b75858c49c480C64385E58A9406A784D96DFB0659D141F23C21B5D92CEF93DE268DCD659DE2284C54467FC4D0C40898BA465CB317FBA32D1D63CA47264554FA9B09017C11D8C84EBC517B84CACD14EE9E05E43A1040CD5FF338B58557B8D166A8905470DC83E304604FB28B6911BF8B180C64F9D7D</a:t>
            </a:r>
            <a:endParaRPr lang="zh-CN" altLang="en-US" sz="133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80330" y="611446"/>
            <a:ext cx="6117375" cy="481111"/>
          </a:xfrm>
        </p:spPr>
        <p:txBody>
          <a:bodyPr/>
          <a:lstStyle/>
          <a:p>
            <a:r>
              <a:rPr lang="zh-CN" altLang="en-US" dirty="0"/>
              <a:t>经济型资助</a:t>
            </a:r>
          </a:p>
          <a:p>
            <a:endParaRPr lang="zh-CN" altLang="en-US" dirty="0"/>
          </a:p>
        </p:txBody>
      </p:sp>
      <p:sp>
        <p:nvSpPr>
          <p:cNvPr id="5" name="对话气泡: 矩形 4"/>
          <p:cNvSpPr/>
          <p:nvPr/>
        </p:nvSpPr>
        <p:spPr bwMode="auto">
          <a:xfrm>
            <a:off x="5615947" y="2756925"/>
            <a:ext cx="2688299" cy="1248139"/>
          </a:xfrm>
          <a:prstGeom prst="wedge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箭头: 虚尾 6"/>
          <p:cNvSpPr/>
          <p:nvPr/>
        </p:nvSpPr>
        <p:spPr bwMode="auto">
          <a:xfrm>
            <a:off x="4706583" y="2630668"/>
            <a:ext cx="1818727" cy="1041811"/>
          </a:xfrm>
          <a:prstGeom prst="stripedRightArrow">
            <a:avLst/>
          </a:prstGeom>
          <a:noFill/>
          <a:ln>
            <a:solidFill>
              <a:srgbClr val="CC33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779407" y="2732974"/>
            <a:ext cx="28492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打好“组合拳”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加大学生资助力度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83187" y="4377468"/>
            <a:ext cx="9032061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以新生特困生为例：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、国家助学金；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、成才助学金；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、伙食补助；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、临时困难补助；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、路费补贴；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、新生大礼包；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、新生书券；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、夏季送清凉；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、冬季送温暖；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、助学贷款；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、勤工助学；</a:t>
            </a:r>
            <a:r>
              <a:rPr lang="en-US" altLang="zh-CN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8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、校外捐赠</a:t>
            </a:r>
          </a:p>
        </p:txBody>
      </p:sp>
    </p:spTree>
    <p:extLst>
      <p:ext uri="{BB962C8B-B14F-4D97-AF65-F5344CB8AC3E}">
        <p14:creationId xmlns:p14="http://schemas.microsoft.com/office/powerpoint/2010/main" val="404934249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 descr="e7d195523061f1c0b9c437df2358c0cda14f5041a22fabbfBE2BE37675DC7AB669ED1A17F222BC996230C869F9A73B775AB9A6F73BCC744AF1BB55A31F7D215610F6B48D481C98CFAE215B20EECA2E6E08A73B81289C933F7CD9353B7502C3850EB64C8D3DB59D923E919FC59D147AA04F2BD9206E629B53488CCFAE0509C8C1BB0F0FB79A8F12DE98572DA9197CF0E3"/>
          <p:cNvGrpSpPr/>
          <p:nvPr/>
        </p:nvGrpSpPr>
        <p:grpSpPr>
          <a:xfrm>
            <a:off x="-240704" y="452670"/>
            <a:ext cx="11122235" cy="5165745"/>
            <a:chOff x="500795" y="1407797"/>
            <a:chExt cx="9917158" cy="5165744"/>
          </a:xfrm>
        </p:grpSpPr>
        <p:grpSp>
          <p:nvGrpSpPr>
            <p:cNvPr id="34" name="Group 2"/>
            <p:cNvGrpSpPr/>
            <p:nvPr/>
          </p:nvGrpSpPr>
          <p:grpSpPr bwMode="auto">
            <a:xfrm flipH="1">
              <a:off x="7622594" y="1407797"/>
              <a:ext cx="1665780" cy="1622597"/>
              <a:chOff x="476" y="440"/>
              <a:chExt cx="957" cy="932"/>
            </a:xfrm>
          </p:grpSpPr>
          <p:sp>
            <p:nvSpPr>
              <p:cNvPr id="39" name="Freeform 30"/>
              <p:cNvSpPr/>
              <p:nvPr/>
            </p:nvSpPr>
            <p:spPr bwMode="auto">
              <a:xfrm flipH="1">
                <a:off x="476" y="440"/>
                <a:ext cx="248" cy="932"/>
              </a:xfrm>
              <a:custGeom>
                <a:avLst/>
                <a:gdLst>
                  <a:gd name="T0" fmla="*/ 2 w 124"/>
                  <a:gd name="T1" fmla="*/ 1 h 466"/>
                  <a:gd name="T2" fmla="*/ 46 w 124"/>
                  <a:gd name="T3" fmla="*/ 55 h 466"/>
                  <a:gd name="T4" fmla="*/ 61 w 124"/>
                  <a:gd name="T5" fmla="*/ 56 h 466"/>
                  <a:gd name="T6" fmla="*/ 78 w 124"/>
                  <a:gd name="T7" fmla="*/ 51 h 466"/>
                  <a:gd name="T8" fmla="*/ 119 w 124"/>
                  <a:gd name="T9" fmla="*/ 4 h 466"/>
                  <a:gd name="T10" fmla="*/ 120 w 124"/>
                  <a:gd name="T11" fmla="*/ 0 h 466"/>
                  <a:gd name="T12" fmla="*/ 124 w 124"/>
                  <a:gd name="T13" fmla="*/ 7 h 466"/>
                  <a:gd name="T14" fmla="*/ 107 w 124"/>
                  <a:gd name="T15" fmla="*/ 327 h 466"/>
                  <a:gd name="T16" fmla="*/ 117 w 124"/>
                  <a:gd name="T17" fmla="*/ 430 h 466"/>
                  <a:gd name="T18" fmla="*/ 20 w 124"/>
                  <a:gd name="T19" fmla="*/ 456 h 466"/>
                  <a:gd name="T20" fmla="*/ 0 w 124"/>
                  <a:gd name="T21" fmla="*/ 5 h 466"/>
                  <a:gd name="T22" fmla="*/ 2 w 124"/>
                  <a:gd name="T23" fmla="*/ 1 h 466"/>
                  <a:gd name="T24" fmla="*/ 0 w 124"/>
                  <a:gd name="T25" fmla="*/ 0 h 466"/>
                  <a:gd name="T26" fmla="*/ 124 w 124"/>
                  <a:gd name="T27" fmla="*/ 466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T24" t="T25" r="T26" b="T27"/>
                <a:pathLst>
                  <a:path w="124" h="466">
                    <a:moveTo>
                      <a:pt x="2" y="1"/>
                    </a:moveTo>
                    <a:cubicBezTo>
                      <a:pt x="2" y="1"/>
                      <a:pt x="27" y="32"/>
                      <a:pt x="46" y="55"/>
                    </a:cubicBezTo>
                    <a:cubicBezTo>
                      <a:pt x="54" y="57"/>
                      <a:pt x="52" y="57"/>
                      <a:pt x="61" y="56"/>
                    </a:cubicBezTo>
                    <a:cubicBezTo>
                      <a:pt x="61" y="56"/>
                      <a:pt x="67" y="58"/>
                      <a:pt x="78" y="51"/>
                    </a:cubicBezTo>
                    <a:cubicBezTo>
                      <a:pt x="90" y="39"/>
                      <a:pt x="105" y="34"/>
                      <a:pt x="119" y="4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24" y="7"/>
                      <a:pt x="102" y="232"/>
                      <a:pt x="107" y="327"/>
                    </a:cubicBezTo>
                    <a:cubicBezTo>
                      <a:pt x="107" y="327"/>
                      <a:pt x="112" y="421"/>
                      <a:pt x="117" y="430"/>
                    </a:cubicBezTo>
                    <a:cubicBezTo>
                      <a:pt x="117" y="430"/>
                      <a:pt x="42" y="466"/>
                      <a:pt x="20" y="456"/>
                    </a:cubicBezTo>
                    <a:cubicBezTo>
                      <a:pt x="20" y="456"/>
                      <a:pt x="33" y="118"/>
                      <a:pt x="0" y="5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32"/>
              <p:cNvSpPr>
                <a:spLocks noChangeShapeType="1"/>
              </p:cNvSpPr>
              <p:nvPr/>
            </p:nvSpPr>
            <p:spPr bwMode="auto">
              <a:xfrm flipH="1">
                <a:off x="1432" y="554"/>
                <a:ext cx="1" cy="1"/>
              </a:xfrm>
              <a:prstGeom prst="line">
                <a:avLst/>
              </a:prstGeom>
              <a:noFill/>
              <a:ln w="9525" cmpd="sng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33"/>
              <p:cNvSpPr>
                <a:spLocks noChangeShapeType="1"/>
              </p:cNvSpPr>
              <p:nvPr/>
            </p:nvSpPr>
            <p:spPr bwMode="auto">
              <a:xfrm flipH="1">
                <a:off x="1432" y="554"/>
                <a:ext cx="1" cy="1"/>
              </a:xfrm>
              <a:prstGeom prst="line">
                <a:avLst/>
              </a:prstGeom>
              <a:noFill/>
              <a:ln w="9525" cmpd="sng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>
                      <a:lumMod val="75000"/>
                    </a:prstClr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" name="Group 8"/>
            <p:cNvGrpSpPr/>
            <p:nvPr/>
          </p:nvGrpSpPr>
          <p:grpSpPr bwMode="auto">
            <a:xfrm flipH="1">
              <a:off x="500795" y="2676168"/>
              <a:ext cx="9917158" cy="3897373"/>
              <a:chOff x="-4900711" y="-877691"/>
              <a:chExt cx="13228843" cy="5194492"/>
            </a:xfrm>
          </p:grpSpPr>
          <p:pic>
            <p:nvPicPr>
              <p:cNvPr id="36" name="Picture 74"/>
              <p:cNvPicPr>
                <a:picLocks noChangeAspect="1" noChangeArrowheads="1"/>
              </p:cNvPicPr>
              <p:nvPr/>
            </p:nvPicPr>
            <p:blipFill>
              <a:blip r:embed="rId3" cstate="hqprint">
                <a:lum bright="2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7470" y="2749586"/>
                <a:ext cx="1180662" cy="1567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AutoShape 35" descr="Bild20"/>
              <p:cNvSpPr>
                <a:spLocks noChangeArrowheads="1"/>
              </p:cNvSpPr>
              <p:nvPr/>
            </p:nvSpPr>
            <p:spPr bwMode="auto">
              <a:xfrm>
                <a:off x="-4900711" y="-877691"/>
                <a:ext cx="12048181" cy="5194487"/>
              </a:xfrm>
              <a:prstGeom prst="roundRect">
                <a:avLst>
                  <a:gd name="adj" fmla="val 0"/>
                </a:avLst>
              </a:prstGeom>
              <a:noFill/>
              <a:ln w="25400" cmpd="sng">
                <a:solidFill>
                  <a:srgbClr val="CC3300"/>
                </a:solidFill>
                <a:round/>
              </a:ln>
            </p:spPr>
            <p:txBody>
              <a:bodyPr lIns="108000" tIns="108000" rIns="36000" bIns="36000"/>
              <a:lstStyle/>
              <a:p>
                <a:pPr defTabSz="914377">
                  <a:defRPr/>
                </a:pPr>
                <a:endParaRPr lang="zh-CN" altLang="en-US" sz="160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4" name="文本框 43"/>
          <p:cNvSpPr txBox="1"/>
          <p:nvPr/>
        </p:nvSpPr>
        <p:spPr>
          <a:xfrm>
            <a:off x="815414" y="2075267"/>
            <a:ext cx="9121013" cy="317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大数据分析开展调查：新生资助热线</a:t>
            </a:r>
            <a:r>
              <a:rPr lang="en-US" altLang="zh-CN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</a:p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理解学生难处：全年无休（爱一直都在）</a:t>
            </a:r>
          </a:p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尊重学生的隐私：多级助学成才服务对象（去标签化）、智慧爱心屋（同济人的“双十一”）</a:t>
            </a:r>
          </a:p>
          <a:p>
            <a:pPr marL="457189" indent="-457189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6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真心为学生付出：吃在同济：年夜饭；慈善义卖</a:t>
            </a:r>
          </a:p>
        </p:txBody>
      </p:sp>
      <p:sp>
        <p:nvSpPr>
          <p:cNvPr id="2" name="e7d195523061f1c0" descr="e7d195523061f1c0e47ffc70844bb6f75fcb03b75858c49c480C64385E58A9406A784D96DFB0659D141F23C21B5D92CEF93DE268DCD659DE2284C54467FC4D0C40898BA465CB317FBA32D1D63CA47264554FA9B09017C11D8C84EBC517B84CACD14EE9E05E43A1040CD5FF338B58557B8D166A8905470DC83E304604FB28B6911BF8B180C64F9D7D" hidden="1"/>
          <p:cNvSpPr txBox="1"/>
          <p:nvPr/>
        </p:nvSpPr>
        <p:spPr>
          <a:xfrm>
            <a:off x="-355600" y="1803400"/>
            <a:ext cx="378565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914377">
              <a:defRPr/>
            </a:pPr>
            <a:r>
              <a:rPr lang="en-US" altLang="zh-CN" sz="133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e7d195523061f1c0e47ffc70844bb6f75fcb03b75858c49c480C64385E58A9406A784D96DFB0659D141F23C21B5D92CEF93DE268DCD659DE2284C54467FC4D0C40898BA465CB317FBA32D1D63CA47264554FA9B09017C11D8C84EBC517B84CACD14EE9E05E43A1040CD5FF338B58557B8D166A8905470DC83E304604FB28B6911BF8B180C64F9D7D</a:t>
            </a:r>
            <a:endParaRPr lang="zh-CN" altLang="en-US" sz="133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80330" y="611446"/>
            <a:ext cx="6117375" cy="481111"/>
          </a:xfrm>
        </p:spPr>
        <p:txBody>
          <a:bodyPr/>
          <a:lstStyle/>
          <a:p>
            <a:r>
              <a:rPr lang="zh-CN" altLang="en-US" dirty="0"/>
              <a:t>经济型资助</a:t>
            </a:r>
          </a:p>
          <a:p>
            <a:endParaRPr lang="zh-CN" altLang="en-US" dirty="0"/>
          </a:p>
        </p:txBody>
      </p:sp>
      <p:sp>
        <p:nvSpPr>
          <p:cNvPr id="5" name="对话气泡: 矩形 4"/>
          <p:cNvSpPr/>
          <p:nvPr/>
        </p:nvSpPr>
        <p:spPr bwMode="auto">
          <a:xfrm>
            <a:off x="5615947" y="2756925"/>
            <a:ext cx="2688299" cy="1248139"/>
          </a:xfrm>
          <a:prstGeom prst="wedge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对话气泡: 圆角矩形 2"/>
          <p:cNvSpPr/>
          <p:nvPr/>
        </p:nvSpPr>
        <p:spPr bwMode="auto">
          <a:xfrm>
            <a:off x="8155720" y="1897802"/>
            <a:ext cx="2175675" cy="1260292"/>
          </a:xfrm>
          <a:prstGeom prst="wedgeRoundRectCallout">
            <a:avLst/>
          </a:prstGeom>
          <a:solidFill>
            <a:srgbClr val="FFCCCC"/>
          </a:solidFill>
          <a:ln w="9525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198790" y="212211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定位学生需求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资助体现温度</a:t>
            </a:r>
          </a:p>
        </p:txBody>
      </p:sp>
    </p:spTree>
    <p:extLst>
      <p:ext uri="{BB962C8B-B14F-4D97-AF65-F5344CB8AC3E}">
        <p14:creationId xmlns:p14="http://schemas.microsoft.com/office/powerpoint/2010/main" val="416933985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74989" y="644691"/>
            <a:ext cx="9169416" cy="481111"/>
          </a:xfrm>
        </p:spPr>
        <p:txBody>
          <a:bodyPr/>
          <a:lstStyle/>
          <a:p>
            <a:r>
              <a:rPr lang="zh-CN" altLang="en-US" dirty="0"/>
              <a:t>发展型资助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16229" y="2172588"/>
            <a:ext cx="3190297" cy="2482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09585" indent="-609585" defTabSz="121917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667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勤工助学实体</a:t>
            </a:r>
            <a:endParaRPr lang="en-US" altLang="zh-CN" sz="2667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585" indent="-609585" defTabSz="121917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667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擎济工程</a:t>
            </a:r>
          </a:p>
          <a:p>
            <a:pPr marL="609585" indent="-609585" defTabSz="121917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667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学业发展与指导</a:t>
            </a:r>
            <a:endParaRPr lang="en-US" altLang="zh-CN" sz="2667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585" indent="-609585" defTabSz="121917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667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国际交流奖助</a:t>
            </a:r>
            <a:endParaRPr lang="en-US" altLang="zh-CN" sz="2667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imgsa.baidu.com/forum/w%3D580/sign=646da31b92cad1c8d0bbfc2f4f3e67c4/d96248e83901213fec2dfde853e736d12f2e955f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16" y="1554609"/>
            <a:ext cx="2497913" cy="1856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497" y="1563701"/>
            <a:ext cx="2497913" cy="1856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14" y="3621022"/>
            <a:ext cx="2497913" cy="1847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626" y="3611931"/>
            <a:ext cx="2497913" cy="1856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45887268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79081" y="3099488"/>
            <a:ext cx="185178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914377">
              <a:lnSpc>
                <a:spcPct val="150000"/>
              </a:lnSpc>
            </a:pPr>
            <a:r>
              <a:rPr lang="zh-CN" altLang="en-US" sz="2000" b="1" kern="100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面向学生处</a:t>
            </a:r>
            <a:endParaRPr lang="en-US" altLang="zh-CN" sz="2000" b="1" kern="100" spc="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9082" y="2468893"/>
            <a:ext cx="217846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>
              <a:lnSpc>
                <a:spcPct val="150000"/>
              </a:lnSpc>
            </a:pPr>
            <a:r>
              <a:rPr lang="zh-CN" altLang="en-US" sz="2000" b="1" kern="100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面向学生</a:t>
            </a:r>
            <a:endParaRPr lang="en-US" altLang="zh-CN" sz="2000" b="1" kern="100" spc="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9080" y="3730083"/>
            <a:ext cx="185178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914377">
              <a:lnSpc>
                <a:spcPct val="150000"/>
              </a:lnSpc>
            </a:pPr>
            <a:r>
              <a:rPr lang="zh-CN" altLang="en-US" sz="2000" b="1" kern="100" spc="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面向辅导员</a:t>
            </a:r>
            <a:endParaRPr lang="en-US" altLang="zh-CN" sz="2000" b="1" kern="100" spc="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9629" y="1629342"/>
            <a:ext cx="96323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制度育人，秉持同济育人的一贯理念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奖助育人，探索奖助工作的新融合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学习育人，大学生学业发展与指导项目培育学习互助的新文化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安全育人，开拓大数据视野下应急管理的新局面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活动育人，保持特色活动的持续开展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实践育人，在勤工助学工作中建立创新创业结合点</a:t>
            </a:r>
          </a:p>
          <a:p>
            <a:pPr marL="380990" indent="-380990" algn="just" defTabSz="91437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服务育人，建设有活力的学生事务管理与服务窗口形象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15414" y="548681"/>
            <a:ext cx="6117375" cy="481111"/>
          </a:xfrm>
        </p:spPr>
        <p:txBody>
          <a:bodyPr/>
          <a:lstStyle/>
          <a:p>
            <a:r>
              <a:rPr lang="zh-CN" altLang="en-US" dirty="0"/>
              <a:t>全员育人</a:t>
            </a:r>
          </a:p>
          <a:p>
            <a:endParaRPr lang="zh-CN" altLang="en-US" dirty="0"/>
          </a:p>
        </p:txBody>
      </p:sp>
      <p:sp>
        <p:nvSpPr>
          <p:cNvPr id="14" name="文本占位符 1"/>
          <p:cNvSpPr txBox="1"/>
          <p:nvPr/>
        </p:nvSpPr>
        <p:spPr bwMode="auto">
          <a:xfrm>
            <a:off x="2769020" y="578271"/>
            <a:ext cx="8064896" cy="4811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>
            <a:no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 spc="225">
                <a:solidFill>
                  <a:srgbClr val="E11B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219170"/>
            <a:r>
              <a:rPr lang="zh-CN" altLang="en-US" sz="2667" kern="0" spc="300" dirty="0"/>
              <a:t>助学为先 重在育人 项目为导 力求发展</a:t>
            </a:r>
          </a:p>
        </p:txBody>
      </p:sp>
    </p:spTree>
    <p:extLst>
      <p:ext uri="{BB962C8B-B14F-4D97-AF65-F5344CB8AC3E}">
        <p14:creationId xmlns:p14="http://schemas.microsoft.com/office/powerpoint/2010/main" val="4249524441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矩形 10"/>
          <p:cNvSpPr/>
          <p:nvPr/>
        </p:nvSpPr>
        <p:spPr>
          <a:xfrm>
            <a:off x="4856274" y="566498"/>
            <a:ext cx="6847665" cy="20632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808" name="矩形 5"/>
          <p:cNvSpPr/>
          <p:nvPr/>
        </p:nvSpPr>
        <p:spPr>
          <a:xfrm>
            <a:off x="5043466" y="674787"/>
            <a:ext cx="6473284" cy="1816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>
              <a:lnSpc>
                <a:spcPct val="150000"/>
              </a:lnSpc>
            </a:pP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你的身后不会仅有自己的背影 </a:t>
            </a:r>
          </a:p>
          <a:p>
            <a:pPr algn="ctr" defTabSz="914377">
              <a:lnSpc>
                <a:spcPct val="150000"/>
              </a:lnSpc>
            </a:pPr>
            <a:r>
              <a:rPr lang="zh-CN" altLang="en-US" sz="42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你的身后是整个同济！</a:t>
            </a:r>
            <a:endParaRPr lang="zh-CN" altLang="en-US" sz="5867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677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07" grpId="0" animBg="1"/>
      <p:bldP spid="104880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sp>
          <p:nvSpPr>
            <p:cNvPr id="35" name="矩形 34"/>
            <p:cNvSpPr/>
            <p:nvPr/>
          </p:nvSpPr>
          <p:spPr>
            <a:xfrm>
              <a:off x="0" y="-1"/>
              <a:ext cx="12192000" cy="6857999"/>
            </a:xfrm>
            <a:prstGeom prst="rect">
              <a:avLst/>
            </a:prstGeom>
            <a:solidFill>
              <a:srgbClr val="E01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200" b="1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0" y="0"/>
              <a:ext cx="9993700" cy="5621456"/>
              <a:chOff x="0" y="0"/>
              <a:chExt cx="12192000" cy="6858000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7894320" y="0"/>
                <a:ext cx="4297680" cy="3799840"/>
              </a:xfrm>
              <a:prstGeom prst="rect">
                <a:avLst/>
              </a:prstGeom>
              <a:solidFill>
                <a:srgbClr val="E019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200" b="1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89" t="75111"/>
            <a:stretch>
              <a:fillRect/>
            </a:stretch>
          </p:blipFill>
          <p:spPr>
            <a:xfrm>
              <a:off x="8758384" y="5621456"/>
              <a:ext cx="3433615" cy="1236543"/>
            </a:xfrm>
            <a:custGeom>
              <a:avLst/>
              <a:gdLst>
                <a:gd name="connsiteX0" fmla="*/ 1808480 w 4739640"/>
                <a:gd name="connsiteY0" fmla="*/ 0 h 1706880"/>
                <a:gd name="connsiteX1" fmla="*/ 4739640 w 4739640"/>
                <a:gd name="connsiteY1" fmla="*/ 0 h 1706880"/>
                <a:gd name="connsiteX2" fmla="*/ 4739640 w 4739640"/>
                <a:gd name="connsiteY2" fmla="*/ 1706880 h 1706880"/>
                <a:gd name="connsiteX3" fmla="*/ 0 w 4739640"/>
                <a:gd name="connsiteY3" fmla="*/ 1706880 h 1706880"/>
                <a:gd name="connsiteX4" fmla="*/ 0 w 4739640"/>
                <a:gd name="connsiteY4" fmla="*/ 1036320 h 1706880"/>
                <a:gd name="connsiteX5" fmla="*/ 1808480 w 4739640"/>
                <a:gd name="connsiteY5" fmla="*/ 1036320 h 170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39640" h="1706880">
                  <a:moveTo>
                    <a:pt x="1808480" y="0"/>
                  </a:moveTo>
                  <a:lnTo>
                    <a:pt x="4739640" y="0"/>
                  </a:lnTo>
                  <a:lnTo>
                    <a:pt x="4739640" y="1706880"/>
                  </a:lnTo>
                  <a:lnTo>
                    <a:pt x="0" y="1706880"/>
                  </a:lnTo>
                  <a:lnTo>
                    <a:pt x="0" y="1036320"/>
                  </a:lnTo>
                  <a:lnTo>
                    <a:pt x="1808480" y="1036320"/>
                  </a:lnTo>
                  <a:close/>
                </a:path>
              </a:pathLst>
            </a:cu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4"/>
            <a:srcRect l="8646" t="13059" r="7623" b="22797"/>
            <a:stretch>
              <a:fillRect/>
            </a:stretch>
          </p:blipFill>
          <p:spPr>
            <a:xfrm>
              <a:off x="1508233" y="1792335"/>
              <a:ext cx="9697365" cy="3228063"/>
            </a:xfrm>
            <a:prstGeom prst="rect">
              <a:avLst/>
            </a:prstGeom>
          </p:spPr>
        </p:pic>
        <p:grpSp>
          <p:nvGrpSpPr>
            <p:cNvPr id="30" name="组合 29"/>
            <p:cNvGrpSpPr/>
            <p:nvPr/>
          </p:nvGrpSpPr>
          <p:grpSpPr>
            <a:xfrm>
              <a:off x="456761" y="5913120"/>
              <a:ext cx="2997639" cy="660892"/>
              <a:chOff x="3727700" y="5864853"/>
              <a:chExt cx="3790351" cy="85349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4673949" y="5864853"/>
                <a:ext cx="2844102" cy="853496"/>
                <a:chOff x="5167040" y="5858093"/>
                <a:chExt cx="2587430" cy="776470"/>
              </a:xfrm>
            </p:grpSpPr>
            <p:pic>
              <p:nvPicPr>
                <p:cNvPr id="33" name="图片 32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411"/>
                <a:stretch>
                  <a:fillRect/>
                </a:stretch>
              </p:blipFill>
              <p:spPr>
                <a:xfrm>
                  <a:off x="5905828" y="5957091"/>
                  <a:ext cx="1848642" cy="614857"/>
                </a:xfrm>
                <a:prstGeom prst="rect">
                  <a:avLst/>
                </a:prstGeom>
              </p:spPr>
            </p:pic>
            <p:pic>
              <p:nvPicPr>
                <p:cNvPr id="34" name="图片 33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40" r="75705"/>
                <a:stretch>
                  <a:fillRect/>
                </a:stretch>
              </p:blipFill>
              <p:spPr>
                <a:xfrm>
                  <a:off x="5167040" y="5858093"/>
                  <a:ext cx="699678" cy="776470"/>
                </a:xfrm>
                <a:prstGeom prst="rect">
                  <a:avLst/>
                </a:prstGeom>
              </p:spPr>
            </p:pic>
          </p:grpSp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7700" y="5898800"/>
                <a:ext cx="798579" cy="78560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26589582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1187</Words>
  <Application>Microsoft Office PowerPoint</Application>
  <PresentationFormat>宽屏</PresentationFormat>
  <Paragraphs>160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 Unicode MS</vt:lpstr>
      <vt:lpstr>等线</vt:lpstr>
      <vt:lpstr>等线 Light</vt:lpstr>
      <vt:lpstr>汉仪舒同体简</vt:lpstr>
      <vt:lpstr>华文新魏</vt:lpstr>
      <vt:lpstr>宋体</vt:lpstr>
      <vt:lpstr>微软雅黑</vt:lpstr>
      <vt:lpstr>微软雅黑 Light</vt:lpstr>
      <vt:lpstr>造字工房悦圆（非商用）常规体</vt:lpstr>
      <vt:lpstr>Arial</vt:lpstr>
      <vt:lpstr>Calibri</vt:lpstr>
      <vt:lpstr>Times New Roman</vt:lpstr>
      <vt:lpstr>Wingdings</vt:lpstr>
      <vt:lpstr>Office 主题​​</vt:lpstr>
      <vt:lpstr>1_默认设计模板</vt:lpstr>
      <vt:lpstr>2_默认设计模板</vt:lpstr>
      <vt:lpstr> 同心筑梦   济世中华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同心筑梦  济世中华</dc:title>
  <dc:creator>tongji</dc:creator>
  <cp:lastModifiedBy>Tongji</cp:lastModifiedBy>
  <cp:revision>26</cp:revision>
  <dcterms:created xsi:type="dcterms:W3CDTF">2018-01-05T07:33:38Z</dcterms:created>
  <dcterms:modified xsi:type="dcterms:W3CDTF">2021-01-14T08:24:56Z</dcterms:modified>
</cp:coreProperties>
</file>