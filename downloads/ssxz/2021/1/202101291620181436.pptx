
<file path=[Content_Types].xml><?xml version="1.0" encoding="utf-8"?>
<Types xmlns="http://schemas.openxmlformats.org/package/2006/content-types">
  <Default Extension="png" ContentType="image/png"/>
  <Default Extension="tiff" ContentType="image/tiff"/>
  <Default Extension="jpeg" ContentType="image/jpe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7" r:id="rId3"/>
    <p:sldId id="268" r:id="rId5"/>
    <p:sldId id="288" r:id="rId6"/>
    <p:sldId id="275" r:id="rId7"/>
    <p:sldId id="292" r:id="rId8"/>
    <p:sldId id="293" r:id="rId9"/>
    <p:sldId id="294" r:id="rId10"/>
    <p:sldId id="295" r:id="rId11"/>
    <p:sldId id="367" r:id="rId12"/>
    <p:sldId id="301" r:id="rId13"/>
    <p:sldId id="281" r:id="rId14"/>
    <p:sldId id="303" r:id="rId15"/>
    <p:sldId id="305" r:id="rId16"/>
    <p:sldId id="285" r:id="rId17"/>
    <p:sldId id="304" r:id="rId18"/>
    <p:sldId id="287" r:id="rId19"/>
    <p:sldId id="290" r:id="rId20"/>
    <p:sldId id="282" r:id="rId21"/>
    <p:sldId id="339" r:id="rId22"/>
    <p:sldId id="310" r:id="rId23"/>
    <p:sldId id="307" r:id="rId24"/>
    <p:sldId id="337" r:id="rId25"/>
    <p:sldId id="338" r:id="rId26"/>
    <p:sldId id="312" r:id="rId27"/>
    <p:sldId id="311" r:id="rId28"/>
    <p:sldId id="308" r:id="rId29"/>
    <p:sldId id="309" r:id="rId30"/>
    <p:sldId id="317" r:id="rId31"/>
    <p:sldId id="316" r:id="rId32"/>
    <p:sldId id="313" r:id="rId33"/>
    <p:sldId id="314" r:id="rId34"/>
    <p:sldId id="300" r:id="rId35"/>
    <p:sldId id="274" r:id="rId36"/>
    <p:sldId id="327" r:id="rId37"/>
    <p:sldId id="328" r:id="rId38"/>
    <p:sldId id="329" r:id="rId39"/>
    <p:sldId id="330" r:id="rId40"/>
    <p:sldId id="331" r:id="rId41"/>
    <p:sldId id="326" r:id="rId42"/>
    <p:sldId id="341" r:id="rId43"/>
    <p:sldId id="324" r:id="rId44"/>
    <p:sldId id="332" r:id="rId45"/>
    <p:sldId id="333" r:id="rId46"/>
    <p:sldId id="334" r:id="rId47"/>
    <p:sldId id="335" r:id="rId48"/>
    <p:sldId id="336" r:id="rId49"/>
    <p:sldId id="342" r:id="rId50"/>
    <p:sldId id="343" r:id="rId51"/>
    <p:sldId id="344" r:id="rId52"/>
    <p:sldId id="345" r:id="rId53"/>
    <p:sldId id="323" r:id="rId54"/>
    <p:sldId id="269" r:id="rId55"/>
    <p:sldId id="276" r:id="rId56"/>
    <p:sldId id="302" r:id="rId57"/>
    <p:sldId id="346" r:id="rId58"/>
    <p:sldId id="347" r:id="rId59"/>
    <p:sldId id="349" r:id="rId60"/>
    <p:sldId id="350" r:id="rId61"/>
    <p:sldId id="351" r:id="rId62"/>
    <p:sldId id="352" r:id="rId63"/>
    <p:sldId id="353" r:id="rId64"/>
    <p:sldId id="354" r:id="rId65"/>
    <p:sldId id="355" r:id="rId66"/>
    <p:sldId id="356" r:id="rId67"/>
    <p:sldId id="318" r:id="rId68"/>
    <p:sldId id="319" r:id="rId69"/>
    <p:sldId id="419" r:id="rId70"/>
    <p:sldId id="420" r:id="rId71"/>
    <p:sldId id="325" r:id="rId72"/>
    <p:sldId id="270" r:id="rId73"/>
  </p:sldIdLst>
  <p:sldSz cx="12192000" cy="6858000"/>
  <p:notesSz cx="6858000" cy="9144000"/>
  <p:custDataLst>
    <p:tags r:id="rId7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C6DB"/>
    <a:srgbClr val="FF9933"/>
    <a:srgbClr val="3890C2"/>
    <a:srgbClr val="45BDD6"/>
    <a:srgbClr val="FF66CC"/>
    <a:srgbClr val="F5F5F5"/>
    <a:srgbClr val="242424"/>
    <a:srgbClr val="F8F8F8"/>
    <a:srgbClr val="15234F"/>
    <a:srgbClr val="2123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主题样式 2 - 强调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5338" autoAdjust="0"/>
  </p:normalViewPr>
  <p:slideViewPr>
    <p:cSldViewPr snapToGrid="0">
      <p:cViewPr varScale="1">
        <p:scale>
          <a:sx n="109" d="100"/>
          <a:sy n="109" d="100"/>
        </p:scale>
        <p:origin x="612" y="114"/>
      </p:cViewPr>
      <p:guideLst/>
    </p:cSldViewPr>
  </p:slideViewPr>
  <p:notesTextViewPr>
    <p:cViewPr>
      <p:scale>
        <a:sx n="3" d="2"/>
        <a:sy n="3" d="2"/>
      </p:scale>
      <p:origin x="0" y="0"/>
    </p:cViewPr>
  </p:notesTextViewPr>
  <p:sorterViewPr>
    <p:cViewPr>
      <p:scale>
        <a:sx n="75" d="100"/>
        <a:sy n="75" d="100"/>
      </p:scale>
      <p:origin x="0" y="0"/>
    </p:cViewPr>
  </p:sorter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7" Type="http://schemas.openxmlformats.org/officeDocument/2006/relationships/tags" Target="tags/tag3.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835F953-3C99-43FA-B156-37E89A8BFF10}" type="doc">
      <dgm:prSet loTypeId="urn:microsoft.com/office/officeart/2005/8/layout/hProcess9#1" loCatId="process" qsTypeId="urn:microsoft.com/office/officeart/2005/8/quickstyle/simple1#1" qsCatId="simple" csTypeId="urn:microsoft.com/office/officeart/2005/8/colors/colorful1" csCatId="colorful" phldr="1"/>
      <dgm:spPr/>
    </dgm:pt>
    <dgm:pt modelId="{C4931FF7-DBD4-4257-83E5-E82EEA276D83}">
      <dgm:prSet phldrT="[文本]"/>
      <dgm:spPr/>
      <dgm:t>
        <a:bodyPr/>
        <a:lstStyle/>
        <a:p>
          <a:r>
            <a:rPr lang="zh-CN" altLang="en-US" dirty="0">
              <a:latin typeface="微软雅黑 Light" panose="020B0502040204020203" pitchFamily="34" charset="-122"/>
              <a:ea typeface="微软雅黑 Light" panose="020B0502040204020203" pitchFamily="34" charset="-122"/>
            </a:rPr>
            <a:t>历史最长</a:t>
          </a:r>
        </a:p>
      </dgm:t>
    </dgm:pt>
    <dgm:pt modelId="{7C4657A9-2FC1-48D0-B178-985362F36477}" cxnId="{AC61C2C8-678C-41CD-BC31-156B15A831BE}" type="parTrans">
      <dgm:prSet/>
      <dgm:spPr/>
      <dgm:t>
        <a:bodyPr/>
        <a:lstStyle/>
        <a:p>
          <a:endParaRPr lang="zh-CN" altLang="en-US"/>
        </a:p>
      </dgm:t>
    </dgm:pt>
    <dgm:pt modelId="{975FB4AF-020B-44C6-A778-34DE4D13BDE9}" cxnId="{AC61C2C8-678C-41CD-BC31-156B15A831BE}" type="sibTrans">
      <dgm:prSet/>
      <dgm:spPr/>
      <dgm:t>
        <a:bodyPr/>
        <a:lstStyle/>
        <a:p>
          <a:endParaRPr lang="zh-CN" altLang="en-US"/>
        </a:p>
      </dgm:t>
    </dgm:pt>
    <dgm:pt modelId="{29CB54B8-5449-4ED6-8535-55F1A522ADE5}">
      <dgm:prSet phldrT="[文本]"/>
      <dgm:spPr/>
      <dgm:t>
        <a:bodyPr/>
        <a:lstStyle/>
        <a:p>
          <a:r>
            <a:rPr lang="zh-CN" altLang="en-US" dirty="0">
              <a:latin typeface="微软雅黑 Light" panose="020B0502040204020203" pitchFamily="34" charset="-122"/>
              <a:ea typeface="微软雅黑 Light" panose="020B0502040204020203" pitchFamily="34" charset="-122"/>
            </a:rPr>
            <a:t>规模最大</a:t>
          </a:r>
        </a:p>
      </dgm:t>
    </dgm:pt>
    <dgm:pt modelId="{6E220120-CFAE-42C4-90CD-E372BBF216ED}" cxnId="{CC73DE49-7D16-4E7B-BD0B-933FE41D98E8}" type="parTrans">
      <dgm:prSet/>
      <dgm:spPr/>
      <dgm:t>
        <a:bodyPr/>
        <a:lstStyle/>
        <a:p>
          <a:endParaRPr lang="zh-CN" altLang="en-US"/>
        </a:p>
      </dgm:t>
    </dgm:pt>
    <dgm:pt modelId="{1109984F-E7A5-47E8-AC55-429928EBBAFE}" cxnId="{CC73DE49-7D16-4E7B-BD0B-933FE41D98E8}" type="sibTrans">
      <dgm:prSet/>
      <dgm:spPr/>
      <dgm:t>
        <a:bodyPr/>
        <a:lstStyle/>
        <a:p>
          <a:endParaRPr lang="zh-CN" altLang="en-US"/>
        </a:p>
      </dgm:t>
    </dgm:pt>
    <dgm:pt modelId="{BC234529-6006-4883-882B-4A819A04810E}">
      <dgm:prSet phldrT="[文本]"/>
      <dgm:spPr/>
      <dgm:t>
        <a:bodyPr/>
        <a:lstStyle/>
        <a:p>
          <a:r>
            <a:rPr lang="zh-CN" altLang="en-US" dirty="0">
              <a:latin typeface="微软雅黑 Light" panose="020B0502040204020203" pitchFamily="34" charset="-122"/>
              <a:ea typeface="微软雅黑 Light" panose="020B0502040204020203" pitchFamily="34" charset="-122"/>
            </a:rPr>
            <a:t>师资最强</a:t>
          </a:r>
        </a:p>
      </dgm:t>
    </dgm:pt>
    <dgm:pt modelId="{81F5A386-9E96-45D6-B783-0421D2AFBC2D}" cxnId="{99AF2A4B-F941-4C33-8534-06578295C8B0}" type="parTrans">
      <dgm:prSet/>
      <dgm:spPr/>
      <dgm:t>
        <a:bodyPr/>
        <a:lstStyle/>
        <a:p>
          <a:endParaRPr lang="zh-CN" altLang="en-US"/>
        </a:p>
      </dgm:t>
    </dgm:pt>
    <dgm:pt modelId="{40549540-F138-4030-BDD1-E64FFC09AF3B}" cxnId="{99AF2A4B-F941-4C33-8534-06578295C8B0}" type="sibTrans">
      <dgm:prSet/>
      <dgm:spPr/>
      <dgm:t>
        <a:bodyPr/>
        <a:lstStyle/>
        <a:p>
          <a:endParaRPr lang="zh-CN" altLang="en-US"/>
        </a:p>
      </dgm:t>
    </dgm:pt>
    <dgm:pt modelId="{24038EFA-5B41-4A22-91D9-C8656EDD25C8}" type="pres">
      <dgm:prSet presAssocID="{8835F953-3C99-43FA-B156-37E89A8BFF10}" presName="CompostProcess" presStyleCnt="0">
        <dgm:presLayoutVars>
          <dgm:dir/>
          <dgm:resizeHandles val="exact"/>
        </dgm:presLayoutVars>
      </dgm:prSet>
      <dgm:spPr/>
    </dgm:pt>
    <dgm:pt modelId="{B1DF437E-DB4E-4BD4-A5BA-E6CD8D31AA22}" type="pres">
      <dgm:prSet presAssocID="{8835F953-3C99-43FA-B156-37E89A8BFF10}" presName="arrow" presStyleLbl="bgShp" presStyleIdx="0" presStyleCnt="1"/>
      <dgm:spPr/>
    </dgm:pt>
    <dgm:pt modelId="{4CD846BF-8169-4C4B-B929-2EC9EE972380}" type="pres">
      <dgm:prSet presAssocID="{8835F953-3C99-43FA-B156-37E89A8BFF10}" presName="linearProcess" presStyleCnt="0"/>
      <dgm:spPr/>
    </dgm:pt>
    <dgm:pt modelId="{3C9A5C6E-CB1E-495D-A1AA-9AF338BCC25F}" type="pres">
      <dgm:prSet presAssocID="{C4931FF7-DBD4-4257-83E5-E82EEA276D83}" presName="textNode" presStyleLbl="node1" presStyleIdx="0" presStyleCnt="3">
        <dgm:presLayoutVars>
          <dgm:bulletEnabled val="1"/>
        </dgm:presLayoutVars>
      </dgm:prSet>
      <dgm:spPr/>
      <dgm:t>
        <a:bodyPr/>
        <a:lstStyle/>
        <a:p>
          <a:endParaRPr lang="zh-CN" altLang="en-US"/>
        </a:p>
      </dgm:t>
    </dgm:pt>
    <dgm:pt modelId="{BAE40A0D-512B-4B29-AE10-4661BB864942}" type="pres">
      <dgm:prSet presAssocID="{975FB4AF-020B-44C6-A778-34DE4D13BDE9}" presName="sibTrans" presStyleCnt="0"/>
      <dgm:spPr/>
    </dgm:pt>
    <dgm:pt modelId="{1130B6C2-D6F0-4030-BEC8-975507161F7A}" type="pres">
      <dgm:prSet presAssocID="{29CB54B8-5449-4ED6-8535-55F1A522ADE5}" presName="textNode" presStyleLbl="node1" presStyleIdx="1" presStyleCnt="3">
        <dgm:presLayoutVars>
          <dgm:bulletEnabled val="1"/>
        </dgm:presLayoutVars>
      </dgm:prSet>
      <dgm:spPr/>
      <dgm:t>
        <a:bodyPr/>
        <a:lstStyle/>
        <a:p>
          <a:endParaRPr lang="zh-CN" altLang="en-US"/>
        </a:p>
      </dgm:t>
    </dgm:pt>
    <dgm:pt modelId="{AB986577-286A-499C-A7AF-01A74A27363C}" type="pres">
      <dgm:prSet presAssocID="{1109984F-E7A5-47E8-AC55-429928EBBAFE}" presName="sibTrans" presStyleCnt="0"/>
      <dgm:spPr/>
    </dgm:pt>
    <dgm:pt modelId="{A06F682F-D200-470C-BC15-16EF34F6F756}" type="pres">
      <dgm:prSet presAssocID="{BC234529-6006-4883-882B-4A819A04810E}" presName="textNode" presStyleLbl="node1" presStyleIdx="2" presStyleCnt="3">
        <dgm:presLayoutVars>
          <dgm:bulletEnabled val="1"/>
        </dgm:presLayoutVars>
      </dgm:prSet>
      <dgm:spPr/>
      <dgm:t>
        <a:bodyPr/>
        <a:lstStyle/>
        <a:p>
          <a:endParaRPr lang="zh-CN" altLang="en-US"/>
        </a:p>
      </dgm:t>
    </dgm:pt>
  </dgm:ptLst>
  <dgm:cxnLst>
    <dgm:cxn modelId="{CC73DE49-7D16-4E7B-BD0B-933FE41D98E8}" srcId="{8835F953-3C99-43FA-B156-37E89A8BFF10}" destId="{29CB54B8-5449-4ED6-8535-55F1A522ADE5}" srcOrd="1" destOrd="0" parTransId="{6E220120-CFAE-42C4-90CD-E372BBF216ED}" sibTransId="{1109984F-E7A5-47E8-AC55-429928EBBAFE}"/>
    <dgm:cxn modelId="{4993882F-00EB-4067-BCD9-2219D3918502}" type="presOf" srcId="{29CB54B8-5449-4ED6-8535-55F1A522ADE5}" destId="{1130B6C2-D6F0-4030-BEC8-975507161F7A}" srcOrd="0" destOrd="0" presId="urn:microsoft.com/office/officeart/2005/8/layout/hProcess9#1"/>
    <dgm:cxn modelId="{CE2968E2-4585-4FD2-9ADB-434A780AB9D0}" type="presOf" srcId="{BC234529-6006-4883-882B-4A819A04810E}" destId="{A06F682F-D200-470C-BC15-16EF34F6F756}" srcOrd="0" destOrd="0" presId="urn:microsoft.com/office/officeart/2005/8/layout/hProcess9#1"/>
    <dgm:cxn modelId="{9D9FB213-6D8A-4170-9632-1ADA533F0A2D}" type="presOf" srcId="{C4931FF7-DBD4-4257-83E5-E82EEA276D83}" destId="{3C9A5C6E-CB1E-495D-A1AA-9AF338BCC25F}" srcOrd="0" destOrd="0" presId="urn:microsoft.com/office/officeart/2005/8/layout/hProcess9#1"/>
    <dgm:cxn modelId="{AC61C2C8-678C-41CD-BC31-156B15A831BE}" srcId="{8835F953-3C99-43FA-B156-37E89A8BFF10}" destId="{C4931FF7-DBD4-4257-83E5-E82EEA276D83}" srcOrd="0" destOrd="0" parTransId="{7C4657A9-2FC1-48D0-B178-985362F36477}" sibTransId="{975FB4AF-020B-44C6-A778-34DE4D13BDE9}"/>
    <dgm:cxn modelId="{99AF2A4B-F941-4C33-8534-06578295C8B0}" srcId="{8835F953-3C99-43FA-B156-37E89A8BFF10}" destId="{BC234529-6006-4883-882B-4A819A04810E}" srcOrd="2" destOrd="0" parTransId="{81F5A386-9E96-45D6-B783-0421D2AFBC2D}" sibTransId="{40549540-F138-4030-BDD1-E64FFC09AF3B}"/>
    <dgm:cxn modelId="{FA84792B-E01A-4275-94AD-0A99A9F01C80}" type="presOf" srcId="{8835F953-3C99-43FA-B156-37E89A8BFF10}" destId="{24038EFA-5B41-4A22-91D9-C8656EDD25C8}" srcOrd="0" destOrd="0" presId="urn:microsoft.com/office/officeart/2005/8/layout/hProcess9#1"/>
    <dgm:cxn modelId="{A2BEBFD4-B9F5-47C7-A339-C7D263C74ACB}" type="presParOf" srcId="{24038EFA-5B41-4A22-91D9-C8656EDD25C8}" destId="{B1DF437E-DB4E-4BD4-A5BA-E6CD8D31AA22}" srcOrd="0" destOrd="0" presId="urn:microsoft.com/office/officeart/2005/8/layout/hProcess9#1"/>
    <dgm:cxn modelId="{0045CABA-90D6-48D0-89F4-A573EEB806F0}" type="presParOf" srcId="{24038EFA-5B41-4A22-91D9-C8656EDD25C8}" destId="{4CD846BF-8169-4C4B-B929-2EC9EE972380}" srcOrd="1" destOrd="0" presId="urn:microsoft.com/office/officeart/2005/8/layout/hProcess9#1"/>
    <dgm:cxn modelId="{F37F5999-58A3-405F-841C-5162DD6E440B}" type="presParOf" srcId="{4CD846BF-8169-4C4B-B929-2EC9EE972380}" destId="{3C9A5C6E-CB1E-495D-A1AA-9AF338BCC25F}" srcOrd="0" destOrd="0" presId="urn:microsoft.com/office/officeart/2005/8/layout/hProcess9#1"/>
    <dgm:cxn modelId="{D62A0E32-A7AE-4640-9ACF-1A94E720A04E}" type="presParOf" srcId="{4CD846BF-8169-4C4B-B929-2EC9EE972380}" destId="{BAE40A0D-512B-4B29-AE10-4661BB864942}" srcOrd="1" destOrd="0" presId="urn:microsoft.com/office/officeart/2005/8/layout/hProcess9#1"/>
    <dgm:cxn modelId="{AC4997A4-E7CC-42C9-887E-EF8E539B8E04}" type="presParOf" srcId="{4CD846BF-8169-4C4B-B929-2EC9EE972380}" destId="{1130B6C2-D6F0-4030-BEC8-975507161F7A}" srcOrd="2" destOrd="0" presId="urn:microsoft.com/office/officeart/2005/8/layout/hProcess9#1"/>
    <dgm:cxn modelId="{4CDAFBE7-E873-471C-83F6-92E9E5ADF8AB}" type="presParOf" srcId="{4CD846BF-8169-4C4B-B929-2EC9EE972380}" destId="{AB986577-286A-499C-A7AF-01A74A27363C}" srcOrd="3" destOrd="0" presId="urn:microsoft.com/office/officeart/2005/8/layout/hProcess9#1"/>
    <dgm:cxn modelId="{94E712A7-2E0F-4024-A0E3-17F48BCC0402}" type="presParOf" srcId="{4CD846BF-8169-4C4B-B929-2EC9EE972380}" destId="{A06F682F-D200-470C-BC15-16EF34F6F756}" srcOrd="4" destOrd="0" presId="urn:microsoft.com/office/officeart/2005/8/layout/hProcess9#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DF437E-DB4E-4BD4-A5BA-E6CD8D31AA22}">
      <dsp:nvSpPr>
        <dsp:cNvPr id="0" name=""/>
        <dsp:cNvSpPr/>
      </dsp:nvSpPr>
      <dsp:spPr>
        <a:xfrm>
          <a:off x="568796" y="0"/>
          <a:ext cx="6446365" cy="2463104"/>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9A5C6E-CB1E-495D-A1AA-9AF338BCC25F}">
      <dsp:nvSpPr>
        <dsp:cNvPr id="0" name=""/>
        <dsp:cNvSpPr/>
      </dsp:nvSpPr>
      <dsp:spPr>
        <a:xfrm>
          <a:off x="150346" y="738931"/>
          <a:ext cx="2275187" cy="98524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zh-CN" altLang="en-US" sz="3200" kern="1200" dirty="0">
              <a:latin typeface="微软雅黑 Light" panose="020B0502040204020203" pitchFamily="34" charset="-122"/>
              <a:ea typeface="微软雅黑 Light" panose="020B0502040204020203" pitchFamily="34" charset="-122"/>
            </a:rPr>
            <a:t>历史最长</a:t>
          </a:r>
        </a:p>
      </dsp:txBody>
      <dsp:txXfrm>
        <a:off x="198442" y="787027"/>
        <a:ext cx="2178995" cy="889049"/>
      </dsp:txXfrm>
    </dsp:sp>
    <dsp:sp modelId="{1130B6C2-D6F0-4030-BEC8-975507161F7A}">
      <dsp:nvSpPr>
        <dsp:cNvPr id="0" name=""/>
        <dsp:cNvSpPr/>
      </dsp:nvSpPr>
      <dsp:spPr>
        <a:xfrm>
          <a:off x="2654385" y="738931"/>
          <a:ext cx="2275187" cy="985241"/>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zh-CN" altLang="en-US" sz="3200" kern="1200" dirty="0">
              <a:latin typeface="微软雅黑 Light" panose="020B0502040204020203" pitchFamily="34" charset="-122"/>
              <a:ea typeface="微软雅黑 Light" panose="020B0502040204020203" pitchFamily="34" charset="-122"/>
            </a:rPr>
            <a:t>规模最大</a:t>
          </a:r>
        </a:p>
      </dsp:txBody>
      <dsp:txXfrm>
        <a:off x="2702481" y="787027"/>
        <a:ext cx="2178995" cy="889049"/>
      </dsp:txXfrm>
    </dsp:sp>
    <dsp:sp modelId="{A06F682F-D200-470C-BC15-16EF34F6F756}">
      <dsp:nvSpPr>
        <dsp:cNvPr id="0" name=""/>
        <dsp:cNvSpPr/>
      </dsp:nvSpPr>
      <dsp:spPr>
        <a:xfrm>
          <a:off x="5158425" y="738931"/>
          <a:ext cx="2275187" cy="985241"/>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zh-CN" altLang="en-US" sz="3200" kern="1200" dirty="0">
              <a:latin typeface="微软雅黑 Light" panose="020B0502040204020203" pitchFamily="34" charset="-122"/>
              <a:ea typeface="微软雅黑 Light" panose="020B0502040204020203" pitchFamily="34" charset="-122"/>
            </a:rPr>
            <a:t>师资最强</a:t>
          </a:r>
        </a:p>
      </dsp:txBody>
      <dsp:txXfrm>
        <a:off x="5206521" y="787027"/>
        <a:ext cx="2178995" cy="88904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Light" panose="020B0502040204020203" pitchFamily="34" charset="-122"/>
                <a:ea typeface="微软雅黑 Light" panose="020B0502040204020203"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Light" panose="020B0502040204020203" pitchFamily="34" charset="-122"/>
                <a:ea typeface="微软雅黑 Light" panose="020B0502040204020203" pitchFamily="34" charset="-122"/>
              </a:defRPr>
            </a:lvl1pPr>
          </a:lstStyle>
          <a:p>
            <a:fld id="{B7682BC3-C9C3-4B8C-AD89-8C0B7CB59FF0}"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Light" panose="020B0502040204020203" pitchFamily="34" charset="-122"/>
                <a:ea typeface="微软雅黑 Light" panose="020B0502040204020203"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Light" panose="020B0502040204020203" pitchFamily="34" charset="-122"/>
                <a:ea typeface="微软雅黑 Light" panose="020B0502040204020203" pitchFamily="34" charset="-122"/>
              </a:defRPr>
            </a:lvl1pPr>
          </a:lstStyle>
          <a:p>
            <a:fld id="{2701C7B4-9605-4599-B96E-08FF27C139CA}"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1pPr>
    <a:lvl2pPr marL="4572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2pPr>
    <a:lvl3pPr marL="9144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3pPr>
    <a:lvl4pPr marL="13716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4pPr>
    <a:lvl5pPr marL="18288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4" Type="http://schemas.openxmlformats.org/officeDocument/2006/relationships/hyperlink" Target="https://baike.baidu.com/item/%E6%BE%B3%E9%97%A8%E7%89%B9%E5%88%AB%E8%A1%8C%E6%94%BF%E5%8C%BA%E5%9F%BA%E6%9C%AC%E6%B3%95" TargetMode="External"/><Relationship Id="rId3" Type="http://schemas.openxmlformats.org/officeDocument/2006/relationships/hyperlink" Target="https://baike.baidu.com/item/%E9%A6%99%E6%B8%AF%E7%89%B9%E5%88%AB%E8%A1%8C%E6%94%BF%E5%8C%BA%E5%9F%BA%E6%9C%AC%E6%B3%95%E5%A7%94%E5%91%98%E4%BC%9A/6962644" TargetMode="External"/><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endParaRPr lang="en-US" altLang="zh-CN" dirty="0"/>
          </a:p>
          <a:p>
            <a:endParaRPr lang="en-US" altLang="zh-CN" dirty="0"/>
          </a:p>
          <a:p>
            <a:r>
              <a:rPr lang="en-US" altLang="zh-CN" dirty="0"/>
              <a:t>0710</a:t>
            </a:r>
            <a:r>
              <a:rPr lang="zh-CN" altLang="en-US" dirty="0"/>
              <a:t>：增加</a:t>
            </a:r>
            <a:r>
              <a:rPr lang="en-US" altLang="zh-CN" dirty="0"/>
              <a:t>2019</a:t>
            </a:r>
            <a:r>
              <a:rPr lang="zh-CN" altLang="en-US" dirty="0"/>
              <a:t>录取分数，党代会人才培养目标</a:t>
            </a:r>
            <a:endParaRPr lang="en-US" altLang="zh-CN" dirty="0"/>
          </a:p>
          <a:p>
            <a:r>
              <a:rPr lang="en-US" altLang="zh-CN" dirty="0"/>
              <a:t>0604</a:t>
            </a:r>
            <a:r>
              <a:rPr lang="zh-CN" altLang="en-US" dirty="0"/>
              <a:t>：增加</a:t>
            </a:r>
            <a:r>
              <a:rPr lang="en-US" altLang="zh-CN" dirty="0"/>
              <a:t>2020</a:t>
            </a:r>
            <a:r>
              <a:rPr lang="zh-CN" altLang="en-US" dirty="0"/>
              <a:t>年排名</a:t>
            </a:r>
            <a:endParaRPr lang="en-US" altLang="zh-CN" dirty="0"/>
          </a:p>
          <a:p>
            <a:r>
              <a:rPr lang="en-US" altLang="zh-CN" dirty="0"/>
              <a:t>0505</a:t>
            </a:r>
            <a:r>
              <a:rPr lang="zh-CN" altLang="en-US" dirty="0"/>
              <a:t>：微调</a:t>
            </a:r>
            <a:endParaRPr lang="en-US" altLang="zh-CN" dirty="0"/>
          </a:p>
          <a:p>
            <a:r>
              <a:rPr lang="en-US" altLang="zh-CN" dirty="0"/>
              <a:t>0405</a:t>
            </a:r>
            <a:r>
              <a:rPr lang="zh-CN" altLang="en-US" dirty="0"/>
              <a:t>：新增国内外知名校友，图书馆效果图，其他一些内容的丰富和凝练。</a:t>
            </a:r>
            <a:endParaRPr lang="en-US" altLang="zh-CN" dirty="0"/>
          </a:p>
          <a:p>
            <a:r>
              <a:rPr lang="en-US" altLang="zh-CN" dirty="0"/>
              <a:t>0328</a:t>
            </a:r>
            <a:r>
              <a:rPr lang="zh-CN" altLang="en-US" dirty="0"/>
              <a:t>：整合各部门和培养单位最新素材，提炼和突出北语特色优势。特别感谢各部门和单位的帮助支持！</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0301</a:t>
            </a:r>
            <a:r>
              <a:rPr lang="zh-CN" altLang="en-US" dirty="0"/>
              <a:t>：按照工作规划，启动 “凤鸣梧桐计划”，打造高考改革新常态下的招生宣传方案。</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cs typeface="+mn-cs"/>
              </a:rPr>
              <a:t>北京语言大学是中国教育部直属高等学校，是在周恩来总理的亲自关怀下建立的，创办于</a:t>
            </a:r>
            <a:r>
              <a:rPr lang="en-US" altLang="zh-CN" sz="1200" kern="1200" dirty="0">
                <a:solidFill>
                  <a:schemeClr val="tx1"/>
                </a:solidFill>
                <a:effectLst/>
                <a:cs typeface="+mn-cs"/>
              </a:rPr>
              <a:t>1962</a:t>
            </a:r>
            <a:r>
              <a:rPr lang="zh-CN" altLang="zh-CN" sz="1200" kern="1200" dirty="0">
                <a:solidFill>
                  <a:schemeClr val="tx1"/>
                </a:solidFill>
                <a:effectLst/>
                <a:cs typeface="+mn-cs"/>
              </a:rPr>
              <a:t>年。北京语言大学以语言文化教育和语言文化研究为特色和优势，是中国唯一一所以对来华留学生进行汉语、中华文化教育为主要任务的国际型大学，是我国中外语言、文化研究的学术重镇和培养各领域优秀人才的摇篮</a:t>
            </a:r>
            <a:r>
              <a:rPr lang="en-US" altLang="zh-CN" sz="1200" kern="1200" dirty="0">
                <a:solidFill>
                  <a:schemeClr val="tx1"/>
                </a:solidFill>
                <a:effectLst/>
                <a:cs typeface="+mn-cs"/>
              </a:rPr>
              <a:t>,</a:t>
            </a:r>
            <a:r>
              <a:rPr lang="zh-CN" altLang="zh-CN" sz="1200" kern="1200" dirty="0">
                <a:solidFill>
                  <a:schemeClr val="tx1"/>
                </a:solidFill>
                <a:effectLst/>
                <a:cs typeface="+mn-cs"/>
              </a:rPr>
              <a:t>素有“小联合国”之称。</a:t>
            </a:r>
            <a:endParaRPr lang="en-US" altLang="zh-CN" sz="1200" kern="1200" dirty="0">
              <a:solidFill>
                <a:schemeClr val="tx1"/>
              </a:solidFill>
              <a:effectLst/>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创办于</a:t>
            </a:r>
            <a:r>
              <a:rPr lang="en-US" altLang="zh-CN" dirty="0"/>
              <a:t>1962</a:t>
            </a:r>
            <a:r>
              <a:rPr lang="zh-CN" altLang="en-US" dirty="0"/>
              <a:t>年的北京语言大学，是在周恩来总理的亲自关怀下建立的，</a:t>
            </a:r>
            <a:r>
              <a:rPr lang="en-US" altLang="zh-CN" dirty="0"/>
              <a:t>1974</a:t>
            </a:r>
            <a:r>
              <a:rPr lang="zh-CN" altLang="en-US" dirty="0"/>
              <a:t>年毛泽东主席为学校题写校名，</a:t>
            </a:r>
            <a:r>
              <a:rPr lang="en-US" altLang="zh-CN" dirty="0"/>
              <a:t>1996</a:t>
            </a:r>
            <a:r>
              <a:rPr lang="zh-CN" altLang="en-US" dirty="0"/>
              <a:t>年</a:t>
            </a:r>
            <a:r>
              <a:rPr lang="en-US" altLang="zh-CN" dirty="0"/>
              <a:t>6</a:t>
            </a:r>
            <a:r>
              <a:rPr lang="zh-CN" altLang="en-US" dirty="0"/>
              <a:t>月更名为北京语言文化大学，</a:t>
            </a:r>
            <a:r>
              <a:rPr lang="en-US" altLang="zh-CN" dirty="0"/>
              <a:t>2002</a:t>
            </a:r>
            <a:r>
              <a:rPr lang="zh-CN" altLang="en-US" dirty="0"/>
              <a:t>年校名简化为北京语言大学。</a:t>
            </a:r>
            <a:endParaRPr lang="zh-CN" altLang="en-US" dirty="0"/>
          </a:p>
          <a:p>
            <a:pPr fontAlgn="base"/>
            <a:endParaRPr lang="en-US" altLang="zh-CN" sz="1200" b="0" i="0" kern="1200" dirty="0">
              <a:solidFill>
                <a:schemeClr val="tx1"/>
              </a:solidFill>
              <a:effectLst/>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b="0" i="0" kern="1200" dirty="0">
                <a:solidFill>
                  <a:schemeClr val="tx1"/>
                </a:solidFill>
                <a:effectLst/>
                <a:cs typeface="+mn-cs"/>
              </a:rPr>
              <a:t>【https://www.tsinghua.edu.cn/publish/</a:t>
            </a:r>
            <a:r>
              <a:rPr lang="en-US" altLang="zh-CN" sz="1200" b="0" i="0" kern="1200" dirty="0" err="1">
                <a:solidFill>
                  <a:schemeClr val="tx1"/>
                </a:solidFill>
                <a:effectLst/>
                <a:cs typeface="+mn-cs"/>
              </a:rPr>
              <a:t>xsg</a:t>
            </a:r>
            <a:r>
              <a:rPr lang="en-US" altLang="zh-CN" sz="1200" b="0" i="0" kern="1200" dirty="0">
                <a:solidFill>
                  <a:schemeClr val="tx1"/>
                </a:solidFill>
                <a:effectLst/>
                <a:cs typeface="+mn-cs"/>
              </a:rPr>
              <a:t>/8348/2015/20150714154204034921484/20150714154204034921484_.html】</a:t>
            </a:r>
            <a:endParaRPr lang="en-US" altLang="zh-CN" sz="1200" b="1" i="0" kern="1200" dirty="0">
              <a:solidFill>
                <a:schemeClr val="tx1"/>
              </a:solidFill>
              <a:effectLst/>
              <a:cs typeface="+mn-cs"/>
            </a:endParaRPr>
          </a:p>
          <a:p>
            <a:pPr fontAlgn="base"/>
            <a:r>
              <a:rPr lang="en-US" altLang="zh-CN" sz="1200" b="0" i="0" kern="1200" dirty="0">
                <a:solidFill>
                  <a:schemeClr val="tx1"/>
                </a:solidFill>
                <a:effectLst/>
                <a:cs typeface="+mn-cs"/>
              </a:rPr>
              <a:t>1949</a:t>
            </a:r>
            <a:r>
              <a:rPr lang="zh-CN" altLang="en-US" sz="1200" b="0" i="0" kern="1200" dirty="0">
                <a:solidFill>
                  <a:schemeClr val="tx1"/>
                </a:solidFill>
                <a:effectLst/>
                <a:cs typeface="+mn-cs"/>
              </a:rPr>
              <a:t>年</a:t>
            </a:r>
            <a:r>
              <a:rPr lang="en-US" altLang="zh-CN" sz="1200" b="0" i="0" kern="1200" dirty="0">
                <a:solidFill>
                  <a:schemeClr val="tx1"/>
                </a:solidFill>
                <a:effectLst/>
                <a:cs typeface="+mn-cs"/>
              </a:rPr>
              <a:t>10</a:t>
            </a:r>
            <a:r>
              <a:rPr lang="zh-CN" altLang="en-US" sz="1200" b="0" i="0" kern="1200" dirty="0">
                <a:solidFill>
                  <a:schemeClr val="tx1"/>
                </a:solidFill>
                <a:effectLst/>
                <a:cs typeface="+mn-cs"/>
              </a:rPr>
              <a:t>月</a:t>
            </a:r>
            <a:r>
              <a:rPr lang="en-US" altLang="zh-CN" sz="1200" b="0" i="0" kern="1200" dirty="0">
                <a:solidFill>
                  <a:schemeClr val="tx1"/>
                </a:solidFill>
                <a:effectLst/>
                <a:cs typeface="+mn-cs"/>
              </a:rPr>
              <a:t>1</a:t>
            </a:r>
            <a:r>
              <a:rPr lang="zh-CN" altLang="en-US" sz="1200" b="0" i="0" kern="1200" dirty="0">
                <a:solidFill>
                  <a:schemeClr val="tx1"/>
                </a:solidFill>
                <a:effectLst/>
                <a:cs typeface="+mn-cs"/>
              </a:rPr>
              <a:t>日，中华人民共和国成立，国际局势也随着二战的结束而逐步发生变化。以美、苏两国为首的资本主义阵营和社会主义阵营日渐形成并成对抗之势，而资本主义国家的代表美国对新中国采取了政治孤立、军事敌视的政策。为了迅速打开外交局面，新中国在成立伊始采取了“一边倒”的外交政策，到</a:t>
            </a:r>
            <a:r>
              <a:rPr lang="en-US" altLang="zh-CN" sz="1200" b="0" i="0" kern="1200" dirty="0">
                <a:solidFill>
                  <a:schemeClr val="tx1"/>
                </a:solidFill>
                <a:effectLst/>
                <a:cs typeface="+mn-cs"/>
              </a:rPr>
              <a:t>1949</a:t>
            </a:r>
            <a:r>
              <a:rPr lang="zh-CN" altLang="en-US" sz="1200" b="0" i="0" kern="1200" dirty="0">
                <a:solidFill>
                  <a:schemeClr val="tx1"/>
                </a:solidFill>
                <a:effectLst/>
                <a:cs typeface="+mn-cs"/>
              </a:rPr>
              <a:t>年底，社会主义阵营的苏联、保加利亚、罗马尼亚、捷克斯洛伐克、匈牙利、朝鲜、波兰、蒙古、阿尔巴尼亚相继与新中国建立外交关系。在这种国际形势下，我国只能与上述已建交的社会主义国家进行留学生交流，由此给新中国初期来华留学工作打上了鲜明的政治烙印。</a:t>
            </a:r>
            <a:r>
              <a:rPr lang="en-US" altLang="zh-CN" sz="1200" b="0" i="0" kern="1200" dirty="0">
                <a:solidFill>
                  <a:schemeClr val="tx1"/>
                </a:solidFill>
                <a:effectLst/>
                <a:cs typeface="+mn-cs"/>
              </a:rPr>
              <a:t>1950</a:t>
            </a:r>
            <a:r>
              <a:rPr lang="zh-CN" altLang="en-US" sz="1200" b="0" i="0" kern="1200" dirty="0">
                <a:solidFill>
                  <a:schemeClr val="tx1"/>
                </a:solidFill>
                <a:effectLst/>
                <a:cs typeface="+mn-cs"/>
              </a:rPr>
              <a:t>年</a:t>
            </a:r>
            <a:r>
              <a:rPr lang="en-US" altLang="zh-CN" sz="1200" b="0" i="0" kern="1200" dirty="0">
                <a:solidFill>
                  <a:schemeClr val="tx1"/>
                </a:solidFill>
                <a:effectLst/>
                <a:cs typeface="+mn-cs"/>
              </a:rPr>
              <a:t>1</a:t>
            </a:r>
            <a:r>
              <a:rPr lang="zh-CN" altLang="en-US" sz="1200" b="0" i="0" kern="1200" dirty="0">
                <a:solidFill>
                  <a:schemeClr val="tx1"/>
                </a:solidFill>
                <a:effectLst/>
                <a:cs typeface="+mn-cs"/>
              </a:rPr>
              <a:t>月中旬，捷克斯洛伐克和波兰政府首先向中国政府提出了交换留学生的建议。</a:t>
            </a:r>
            <a:r>
              <a:rPr lang="en-US" altLang="zh-CN" sz="1200" b="0" i="0" kern="1200" dirty="0">
                <a:solidFill>
                  <a:schemeClr val="tx1"/>
                </a:solidFill>
                <a:effectLst/>
                <a:cs typeface="+mn-cs"/>
              </a:rPr>
              <a:t>6</a:t>
            </a:r>
            <a:r>
              <a:rPr lang="zh-CN" altLang="en-US" sz="1200" b="0" i="0" kern="1200" dirty="0">
                <a:solidFill>
                  <a:schemeClr val="tx1"/>
                </a:solidFill>
                <a:effectLst/>
                <a:cs typeface="+mn-cs"/>
              </a:rPr>
              <a:t>月</a:t>
            </a:r>
            <a:r>
              <a:rPr lang="en-US" altLang="zh-CN" sz="1200" b="0" i="0" kern="1200" dirty="0">
                <a:solidFill>
                  <a:schemeClr val="tx1"/>
                </a:solidFill>
                <a:effectLst/>
                <a:cs typeface="+mn-cs"/>
              </a:rPr>
              <a:t>25</a:t>
            </a:r>
            <a:r>
              <a:rPr lang="zh-CN" altLang="en-US" sz="1200" b="0" i="0" kern="1200" dirty="0">
                <a:solidFill>
                  <a:schemeClr val="tx1"/>
                </a:solidFill>
                <a:effectLst/>
                <a:cs typeface="+mn-cs"/>
              </a:rPr>
              <a:t>日，政务院总理周恩来亲自主持会议研究此事，并责成当时的政务院文化教育委员会、外交部、教育部组成专门小组，拟定计划与有关国家商谈交换留学生事宜。根据周恩来总理的指示，中国政府除了同意与捷克斯洛伐克、波兰分别交换</a:t>
            </a:r>
            <a:r>
              <a:rPr lang="en-US" altLang="zh-CN" sz="1200" b="0" i="0" kern="1200" dirty="0">
                <a:solidFill>
                  <a:schemeClr val="tx1"/>
                </a:solidFill>
                <a:effectLst/>
                <a:cs typeface="+mn-cs"/>
              </a:rPr>
              <a:t>5</a:t>
            </a:r>
            <a:r>
              <a:rPr lang="zh-CN" altLang="en-US" sz="1200" b="0" i="0" kern="1200" dirty="0">
                <a:solidFill>
                  <a:schemeClr val="tx1"/>
                </a:solidFill>
                <a:effectLst/>
                <a:cs typeface="+mn-cs"/>
              </a:rPr>
              <a:t>名留学生外，还主动向罗马尼亚、匈牙利、保加利亚等国政府提出各交换</a:t>
            </a:r>
            <a:r>
              <a:rPr lang="en-US" altLang="zh-CN" sz="1200" b="0" i="0" kern="1200" dirty="0">
                <a:solidFill>
                  <a:schemeClr val="tx1"/>
                </a:solidFill>
                <a:effectLst/>
                <a:cs typeface="+mn-cs"/>
              </a:rPr>
              <a:t>5</a:t>
            </a:r>
            <a:r>
              <a:rPr lang="zh-CN" altLang="en-US" sz="1200" b="0" i="0" kern="1200" dirty="0">
                <a:solidFill>
                  <a:schemeClr val="tx1"/>
                </a:solidFill>
                <a:effectLst/>
                <a:cs typeface="+mn-cs"/>
              </a:rPr>
              <a:t>名留学生的建议，建议得到上述国家的积极回应并很快达成协议。</a:t>
            </a:r>
            <a:r>
              <a:rPr lang="en-US" altLang="zh-CN" sz="1200" b="0" i="0" kern="1200" dirty="0">
                <a:solidFill>
                  <a:schemeClr val="tx1"/>
                </a:solidFill>
                <a:effectLst/>
                <a:cs typeface="+mn-cs"/>
              </a:rPr>
              <a:t>1950</a:t>
            </a:r>
            <a:r>
              <a:rPr lang="zh-CN" altLang="en-US" sz="1200" b="0" i="0" kern="1200" dirty="0">
                <a:solidFill>
                  <a:schemeClr val="tx1"/>
                </a:solidFill>
                <a:effectLst/>
                <a:cs typeface="+mn-cs"/>
              </a:rPr>
              <a:t>年</a:t>
            </a:r>
            <a:r>
              <a:rPr lang="en-US" altLang="zh-CN" sz="1200" b="0" i="0" kern="1200" dirty="0">
                <a:solidFill>
                  <a:schemeClr val="tx1"/>
                </a:solidFill>
                <a:effectLst/>
                <a:cs typeface="+mn-cs"/>
              </a:rPr>
              <a:t>8</a:t>
            </a:r>
            <a:r>
              <a:rPr lang="zh-CN" altLang="en-US" sz="1200" b="0" i="0" kern="1200" dirty="0">
                <a:solidFill>
                  <a:schemeClr val="tx1"/>
                </a:solidFill>
                <a:effectLst/>
                <a:cs typeface="+mn-cs"/>
              </a:rPr>
              <a:t>月</a:t>
            </a:r>
            <a:r>
              <a:rPr lang="en-US" altLang="zh-CN" sz="1200" b="0" i="0" kern="1200" dirty="0">
                <a:solidFill>
                  <a:schemeClr val="tx1"/>
                </a:solidFill>
                <a:effectLst/>
                <a:cs typeface="+mn-cs"/>
              </a:rPr>
              <a:t>31</a:t>
            </a:r>
            <a:r>
              <a:rPr lang="zh-CN" altLang="en-US" sz="1200" b="0" i="0" kern="1200" dirty="0">
                <a:solidFill>
                  <a:schemeClr val="tx1"/>
                </a:solidFill>
                <a:effectLst/>
                <a:cs typeface="+mn-cs"/>
              </a:rPr>
              <a:t>日，政务院文化教育委员会正式向教育部下达了接收上述</a:t>
            </a:r>
            <a:r>
              <a:rPr lang="en-US" altLang="zh-CN" sz="1200" b="0" i="0" kern="1200" dirty="0">
                <a:solidFill>
                  <a:schemeClr val="tx1"/>
                </a:solidFill>
                <a:effectLst/>
                <a:cs typeface="+mn-cs"/>
              </a:rPr>
              <a:t>5</a:t>
            </a:r>
            <a:r>
              <a:rPr lang="zh-CN" altLang="en-US" sz="1200" b="0" i="0" kern="1200" dirty="0">
                <a:solidFill>
                  <a:schemeClr val="tx1"/>
                </a:solidFill>
                <a:effectLst/>
                <a:cs typeface="+mn-cs"/>
              </a:rPr>
              <a:t>国留学生的任务。</a:t>
            </a:r>
            <a:r>
              <a:rPr lang="en-US" altLang="zh-CN" sz="1200" b="0" i="0" kern="1200" dirty="0">
                <a:solidFill>
                  <a:schemeClr val="tx1"/>
                </a:solidFill>
                <a:effectLst/>
                <a:cs typeface="+mn-cs"/>
              </a:rPr>
              <a:t>1950</a:t>
            </a:r>
            <a:r>
              <a:rPr lang="zh-CN" altLang="en-US" sz="1200" b="0" i="0" kern="1200" dirty="0">
                <a:solidFill>
                  <a:schemeClr val="tx1"/>
                </a:solidFill>
                <a:effectLst/>
                <a:cs typeface="+mn-cs"/>
              </a:rPr>
              <a:t>年</a:t>
            </a:r>
            <a:r>
              <a:rPr lang="en-US" altLang="zh-CN" sz="1200" b="0" i="0" kern="1200" dirty="0">
                <a:solidFill>
                  <a:schemeClr val="tx1"/>
                </a:solidFill>
                <a:effectLst/>
                <a:cs typeface="+mn-cs"/>
              </a:rPr>
              <a:t>7</a:t>
            </a:r>
            <a:r>
              <a:rPr lang="zh-CN" altLang="en-US" sz="1200" b="0" i="0" kern="1200" dirty="0">
                <a:solidFill>
                  <a:schemeClr val="tx1"/>
                </a:solidFill>
                <a:effectLst/>
                <a:cs typeface="+mn-cs"/>
              </a:rPr>
              <a:t>月，教育部委托清华大学开始进行对外汉语教学机构的筹建工作。</a:t>
            </a:r>
            <a:r>
              <a:rPr lang="en-US" altLang="zh-CN" sz="1200" b="0" i="0" kern="1200" dirty="0">
                <a:solidFill>
                  <a:schemeClr val="tx1"/>
                </a:solidFill>
                <a:effectLst/>
                <a:cs typeface="+mn-cs"/>
              </a:rPr>
              <a:t>1950</a:t>
            </a:r>
            <a:r>
              <a:rPr lang="zh-CN" altLang="en-US" sz="1200" b="0" i="0" kern="1200" dirty="0">
                <a:solidFill>
                  <a:schemeClr val="tx1"/>
                </a:solidFill>
                <a:effectLst/>
                <a:cs typeface="+mn-cs"/>
              </a:rPr>
              <a:t>年</a:t>
            </a:r>
            <a:r>
              <a:rPr lang="en-US" altLang="zh-CN" sz="1200" b="0" i="0" kern="1200" dirty="0">
                <a:solidFill>
                  <a:schemeClr val="tx1"/>
                </a:solidFill>
                <a:effectLst/>
                <a:cs typeface="+mn-cs"/>
              </a:rPr>
              <a:t>9</a:t>
            </a:r>
            <a:r>
              <a:rPr lang="zh-CN" altLang="en-US" sz="1200" b="0" i="0" kern="1200" dirty="0">
                <a:solidFill>
                  <a:schemeClr val="tx1"/>
                </a:solidFill>
                <a:effectLst/>
                <a:cs typeface="+mn-cs"/>
              </a:rPr>
              <a:t>月</a:t>
            </a:r>
            <a:r>
              <a:rPr lang="en-US" altLang="zh-CN" sz="1200" b="0" i="0" kern="1200" dirty="0">
                <a:solidFill>
                  <a:schemeClr val="tx1"/>
                </a:solidFill>
                <a:effectLst/>
                <a:cs typeface="+mn-cs"/>
              </a:rPr>
              <a:t>6</a:t>
            </a:r>
            <a:r>
              <a:rPr lang="zh-CN" altLang="en-US" sz="1200" b="0" i="0" kern="1200" dirty="0">
                <a:solidFill>
                  <a:schemeClr val="tx1"/>
                </a:solidFill>
                <a:effectLst/>
                <a:cs typeface="+mn-cs"/>
              </a:rPr>
              <a:t>日，教育部根据政务院文化教育委员会的指示，正式通知清华大学承担新中国首批外国留学生的第一年在华的汉语培训任务。清华大学将这一为外国留学生设立的汉语培训班定名为“东欧交换生中国语文专修班”。由此，在中国高等教育发展史上，清华大学成为第一所成规模地接收外国留学生来华学习的大学。专修班不仅要为东欧国家培养掌握汉语、熟悉中国政治文化的人才，也承担着为这些国家培养第一代驻华外交官的任务。</a:t>
            </a:r>
            <a:endParaRPr lang="en-US" altLang="zh-CN" sz="1200" b="0" i="0" kern="1200" dirty="0">
              <a:solidFill>
                <a:schemeClr val="tx1"/>
              </a:solidFill>
              <a:effectLst/>
              <a:cs typeface="+mn-cs"/>
            </a:endParaRPr>
          </a:p>
          <a:p>
            <a:pPr fontAlgn="base"/>
            <a:endParaRPr lang="en-US" altLang="zh-CN" sz="1200" b="0" i="0" kern="1200" dirty="0">
              <a:solidFill>
                <a:schemeClr val="tx1"/>
              </a:solidFill>
              <a:effectLst/>
              <a:cs typeface="+mn-cs"/>
            </a:endParaRPr>
          </a:p>
          <a:p>
            <a:pPr fontAlgn="base"/>
            <a:r>
              <a:rPr lang="en-US" altLang="zh-CN" sz="1200" b="0" i="0" kern="1200" dirty="0">
                <a:solidFill>
                  <a:schemeClr val="tx1"/>
                </a:solidFill>
                <a:effectLst/>
                <a:cs typeface="+mn-cs"/>
              </a:rPr>
              <a:t>《</a:t>
            </a:r>
            <a:r>
              <a:rPr lang="zh-CN" altLang="en-US" sz="1200" b="0" i="0" kern="1200" dirty="0">
                <a:solidFill>
                  <a:schemeClr val="tx1"/>
                </a:solidFill>
                <a:effectLst/>
                <a:cs typeface="+mn-cs"/>
              </a:rPr>
              <a:t>中国二十世纪通鉴</a:t>
            </a:r>
            <a:r>
              <a:rPr lang="en-US" altLang="zh-CN" sz="1200" b="0" i="0" kern="1200" dirty="0">
                <a:solidFill>
                  <a:schemeClr val="tx1"/>
                </a:solidFill>
                <a:effectLst/>
                <a:cs typeface="+mn-cs"/>
              </a:rPr>
              <a:t>》</a:t>
            </a:r>
            <a:r>
              <a:rPr lang="zh-CN" altLang="en-US" sz="1200" b="0" i="0" kern="1200" dirty="0">
                <a:solidFill>
                  <a:schemeClr val="tx1"/>
                </a:solidFill>
                <a:effectLst/>
                <a:cs typeface="+mn-cs"/>
              </a:rPr>
              <a:t>：</a:t>
            </a:r>
            <a:r>
              <a:rPr lang="en-US" altLang="zh-CN" sz="1200" b="0" i="0" kern="1200" dirty="0">
                <a:solidFill>
                  <a:schemeClr val="tx1"/>
                </a:solidFill>
                <a:effectLst/>
                <a:cs typeface="+mn-cs"/>
              </a:rPr>
              <a:t>1962</a:t>
            </a:r>
            <a:r>
              <a:rPr lang="zh-CN" altLang="en-US" sz="1200" b="0" i="0" kern="1200" dirty="0">
                <a:solidFill>
                  <a:schemeClr val="tx1"/>
                </a:solidFill>
                <a:effectLst/>
                <a:cs typeface="+mn-cs"/>
              </a:rPr>
              <a:t>年</a:t>
            </a:r>
            <a:r>
              <a:rPr lang="en-US" altLang="zh-CN" sz="1200" b="0" i="0" kern="1200" dirty="0">
                <a:solidFill>
                  <a:schemeClr val="tx1"/>
                </a:solidFill>
                <a:effectLst/>
                <a:cs typeface="+mn-cs"/>
              </a:rPr>
              <a:t>10</a:t>
            </a:r>
            <a:r>
              <a:rPr lang="zh-CN" altLang="en-US" sz="1200" b="0" i="0" kern="1200" dirty="0">
                <a:solidFill>
                  <a:schemeClr val="tx1"/>
                </a:solidFill>
                <a:effectLst/>
                <a:cs typeface="+mn-cs"/>
              </a:rPr>
              <a:t>月</a:t>
            </a:r>
            <a:r>
              <a:rPr lang="en-US" altLang="zh-CN" sz="1200" b="0" i="0" kern="1200" dirty="0">
                <a:solidFill>
                  <a:schemeClr val="tx1"/>
                </a:solidFill>
                <a:effectLst/>
                <a:cs typeface="+mn-cs"/>
              </a:rPr>
              <a:t>1</a:t>
            </a:r>
            <a:r>
              <a:rPr lang="zh-CN" altLang="en-US" sz="1200" b="0" i="0" kern="1200" dirty="0">
                <a:solidFill>
                  <a:schemeClr val="tx1"/>
                </a:solidFill>
                <a:effectLst/>
                <a:cs typeface="+mn-cs"/>
              </a:rPr>
              <a:t>日</a:t>
            </a:r>
            <a:endParaRPr lang="en-US" altLang="zh-CN" sz="1200" b="0" i="0" kern="1200" dirty="0">
              <a:solidFill>
                <a:schemeClr val="tx1"/>
              </a:solidFill>
              <a:effectLst/>
              <a:cs typeface="+mn-cs"/>
            </a:endParaRPr>
          </a:p>
          <a:p>
            <a:pPr fontAlgn="base"/>
            <a:r>
              <a:rPr lang="zh-CN" altLang="en-US" sz="1200" b="0" i="0" kern="1200" dirty="0">
                <a:solidFill>
                  <a:schemeClr val="tx1"/>
                </a:solidFill>
                <a:effectLst/>
                <a:cs typeface="+mn-cs"/>
              </a:rPr>
              <a:t>外国留学生高等预备学校在京成立：该校由北京大学外国留学生中国语文专修班和北京外国语学院留学生部合并组成，任务是对外国来华留学生进行汉语预备教育、对中国出国留学生进行外语预备教育、对归国留学生进行整治思想教育。</a:t>
            </a:r>
            <a:r>
              <a:rPr lang="en-US" altLang="zh-CN" sz="1200" b="0" i="0" kern="1200" dirty="0">
                <a:solidFill>
                  <a:schemeClr val="tx1"/>
                </a:solidFill>
                <a:effectLst/>
                <a:cs typeface="+mn-cs"/>
              </a:rPr>
              <a:t>1964</a:t>
            </a:r>
            <a:r>
              <a:rPr lang="zh-CN" altLang="en-US" sz="1200" b="0" i="0" kern="1200" dirty="0">
                <a:solidFill>
                  <a:schemeClr val="tx1"/>
                </a:solidFill>
                <a:effectLst/>
                <a:cs typeface="+mn-cs"/>
              </a:rPr>
              <a:t>年（本书中说</a:t>
            </a:r>
            <a:r>
              <a:rPr lang="en-US" altLang="zh-CN" sz="1200" b="0" i="0" kern="1200" dirty="0">
                <a:solidFill>
                  <a:schemeClr val="tx1"/>
                </a:solidFill>
                <a:effectLst/>
                <a:cs typeface="+mn-cs"/>
              </a:rPr>
              <a:t>1965</a:t>
            </a:r>
            <a:r>
              <a:rPr lang="zh-CN" altLang="en-US" sz="1200" b="0" i="0" kern="1200" dirty="0">
                <a:solidFill>
                  <a:schemeClr val="tx1"/>
                </a:solidFill>
                <a:effectLst/>
                <a:cs typeface="+mn-cs"/>
              </a:rPr>
              <a:t>年，按学校材料记载是</a:t>
            </a:r>
            <a:r>
              <a:rPr lang="en-US" altLang="zh-CN" sz="1200" b="0" i="0" kern="1200" dirty="0">
                <a:solidFill>
                  <a:schemeClr val="tx1"/>
                </a:solidFill>
                <a:effectLst/>
                <a:cs typeface="+mn-cs"/>
              </a:rPr>
              <a:t>1964</a:t>
            </a:r>
            <a:r>
              <a:rPr lang="zh-CN" altLang="en-US" sz="1200" b="0" i="0" kern="1200" dirty="0">
                <a:solidFill>
                  <a:schemeClr val="tx1"/>
                </a:solidFill>
                <a:effectLst/>
                <a:cs typeface="+mn-cs"/>
              </a:rPr>
              <a:t>年）改名为北京语言学院。</a:t>
            </a:r>
            <a:endParaRPr lang="en-US" altLang="zh-CN" sz="1200" b="0" i="0" kern="1200" dirty="0">
              <a:solidFill>
                <a:schemeClr val="tx1"/>
              </a:solidFill>
              <a:effectLst/>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cs typeface="+mn-cs"/>
            </a:endParaRPr>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特色：三个唯一</a:t>
            </a:r>
            <a:endParaRPr lang="en-US" altLang="zh-CN" dirty="0"/>
          </a:p>
          <a:p>
            <a:r>
              <a:rPr lang="zh-CN" altLang="en-US" dirty="0"/>
              <a:t>优势：三个方面</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教学</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科研</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cs typeface="+mn-cs"/>
              </a:rPr>
              <a:t>围绕建设中国特色世界一流语言大学的目标，培养具备宽厚的人文素养、精湛的专业知识、开阔的国际视野、卓越的创新精神和突出的实践能力的中外文化交流友好使者和高端涉外人才。</a:t>
            </a:r>
            <a:endParaRPr lang="zh-CN" altLang="zh-CN" sz="1200" kern="1200" dirty="0">
              <a:solidFill>
                <a:schemeClr val="tx1"/>
              </a:solidFill>
              <a:effectLst/>
              <a:cs typeface="+mn-cs"/>
            </a:endParaRPr>
          </a:p>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培养特色四个方面：国际化、语言</a:t>
            </a:r>
            <a:r>
              <a:rPr lang="en-US" altLang="zh-CN" dirty="0"/>
              <a:t>+</a:t>
            </a:r>
            <a:r>
              <a:rPr lang="zh-CN" altLang="en-US" dirty="0"/>
              <a:t>、全贯通、重培优</a:t>
            </a:r>
            <a:endParaRPr lang="en-US" altLang="zh-CN" dirty="0"/>
          </a:p>
          <a:p>
            <a:r>
              <a:rPr lang="zh-CN" altLang="en-US" dirty="0"/>
              <a:t>下面逐一讲解</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2+2</a:t>
            </a:r>
            <a:r>
              <a:rPr lang="zh-CN" altLang="en-US" dirty="0"/>
              <a:t>入校后选拔</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导览式讲解，逻辑顺序和衔接</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进门往里走</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标志景观：晨读、语伴、社团活动地</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下课，中外学生走在梧桐大道，很多影视作品取景地</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下课后，学生最常去的地方是图书</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cs typeface="+mn-cs"/>
              </a:rPr>
              <a:t>学累了，吃饭或者去喝杯咖啡</a:t>
            </a:r>
            <a:endParaRPr lang="en-US" altLang="zh-CN" sz="1200" b="0" i="0" u="none" strike="noStrike" kern="1200" dirty="0">
              <a:solidFill>
                <a:schemeClr val="tx1"/>
              </a:solidFill>
              <a:effectLst/>
              <a:cs typeface="+mn-cs"/>
            </a:endParaRPr>
          </a:p>
          <a:p>
            <a:r>
              <a:rPr lang="zh-CN" altLang="en-US" sz="1200" b="0" i="0" u="none" strike="noStrike" kern="1200" dirty="0">
                <a:solidFill>
                  <a:schemeClr val="tx1"/>
                </a:solidFill>
                <a:effectLst/>
                <a:cs typeface="+mn-cs"/>
              </a:rPr>
              <a:t>清晏楼：清平安宁，清雅的宴集</a:t>
            </a:r>
            <a:endParaRPr lang="en-US" altLang="zh-CN" sz="1200" b="0" i="0" u="none" strike="noStrike" kern="1200" dirty="0">
              <a:solidFill>
                <a:schemeClr val="tx1"/>
              </a:solidFill>
              <a:effectLst/>
              <a:cs typeface="+mn-cs"/>
            </a:endParaRPr>
          </a:p>
          <a:p>
            <a:r>
              <a:rPr lang="zh-CN" altLang="en-US" sz="1200" b="0" i="0" u="none" strike="noStrike" kern="1200" dirty="0">
                <a:solidFill>
                  <a:schemeClr val="tx1"/>
                </a:solidFill>
                <a:effectLst/>
                <a:cs typeface="+mn-cs"/>
              </a:rPr>
              <a:t>餐饮一体，多功能</a:t>
            </a:r>
            <a:endParaRPr lang="en-US" altLang="zh-CN" sz="1200" b="0" i="0" u="none" strike="noStrike" kern="1200" dirty="0">
              <a:solidFill>
                <a:schemeClr val="tx1"/>
              </a:solidFill>
              <a:effectLst/>
              <a:cs typeface="+mn-cs"/>
            </a:endParaRPr>
          </a:p>
          <a:p>
            <a:r>
              <a:rPr lang="zh-CN" altLang="en-US" sz="1200" b="0" i="0" u="none" strike="noStrike" kern="1200" dirty="0">
                <a:solidFill>
                  <a:schemeClr val="tx1"/>
                </a:solidFill>
                <a:effectLst/>
                <a:cs typeface="+mn-cs"/>
              </a:rPr>
              <a:t>咖啡厅：语伴、学习</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食堂美食，吃得好，延展到体育运动</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各种运动设施</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健康阳光，丰富多彩的校友文化生活</a:t>
            </a:r>
            <a:endParaRPr lang="en-US" altLang="zh-CN" dirty="0"/>
          </a:p>
          <a:p>
            <a:r>
              <a:rPr lang="zh-CN" altLang="en-US" dirty="0"/>
              <a:t>体育比赛、语伴学习、专业讲座、世界文化节、歌手大赛</a:t>
            </a:r>
            <a:r>
              <a:rPr lang="en-US" altLang="zh-CN"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得益于北京地缘优势和北语语言文化特色优势</a:t>
            </a:r>
            <a:endParaRPr lang="en-US" altLang="zh-CN" dirty="0"/>
          </a:p>
          <a:p>
            <a:r>
              <a:rPr lang="zh-CN" altLang="en-US" dirty="0"/>
              <a:t>在实践中了解世界中国，磨练专业素养和能力</a:t>
            </a:r>
            <a:endParaRPr lang="en-US" altLang="zh-CN" dirty="0"/>
          </a:p>
          <a:p>
            <a:r>
              <a:rPr lang="zh-CN" altLang="en-US" dirty="0"/>
              <a:t>奥运、</a:t>
            </a:r>
            <a:r>
              <a:rPr lang="en-US" altLang="zh-CN" dirty="0"/>
              <a:t>APEC</a:t>
            </a:r>
            <a:r>
              <a:rPr lang="zh-CN" altLang="en-US" dirty="0"/>
              <a:t>、国庆</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充实的一天后，回到宿舍</a:t>
            </a:r>
            <a:endParaRPr lang="en-US" altLang="zh-CN" dirty="0"/>
          </a:p>
          <a:p>
            <a:r>
              <a:rPr lang="zh-CN" altLang="en-US" dirty="0"/>
              <a:t>一般</a:t>
            </a:r>
            <a:r>
              <a:rPr lang="en-US" altLang="zh-CN" dirty="0"/>
              <a:t>5</a:t>
            </a:r>
            <a:r>
              <a:rPr lang="zh-CN" altLang="en-US" dirty="0"/>
              <a:t>人间，条件不错</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1" kern="1200" dirty="0">
                <a:solidFill>
                  <a:schemeClr val="tx1"/>
                </a:solidFill>
                <a:effectLst/>
                <a:cs typeface="+mn-cs"/>
              </a:rPr>
              <a:t>世界公民、国际人才，知华友华的国际友人</a:t>
            </a:r>
            <a:endParaRPr lang="en-US" altLang="zh-CN" sz="1200" b="1" kern="1200" dirty="0">
              <a:solidFill>
                <a:schemeClr val="tx1"/>
              </a:solidFill>
              <a:effectLst/>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b="1" kern="1200" dirty="0">
              <a:solidFill>
                <a:schemeClr val="tx1"/>
              </a:solidFill>
              <a:effectLst/>
              <a:cs typeface="+mn-cs"/>
            </a:endParaRPr>
          </a:p>
          <a:p>
            <a:r>
              <a:rPr lang="zh-CN" altLang="zh-CN" sz="1200" b="1" kern="1200" dirty="0">
                <a:solidFill>
                  <a:schemeClr val="tx1"/>
                </a:solidFill>
                <a:effectLst/>
                <a:cs typeface="+mn-cs"/>
              </a:rPr>
              <a:t>国际学生校友：</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白乐桑</a:t>
            </a:r>
            <a:r>
              <a:rPr lang="en-US" altLang="zh-CN" sz="1200" b="1" kern="1200" dirty="0">
                <a:solidFill>
                  <a:schemeClr val="tx1"/>
                </a:solidFill>
                <a:effectLst/>
                <a:cs typeface="+mn-cs"/>
              </a:rPr>
              <a:t>  </a:t>
            </a:r>
            <a:r>
              <a:rPr lang="en-US" altLang="zh-CN" sz="1200" kern="1200" dirty="0">
                <a:solidFill>
                  <a:schemeClr val="tx1"/>
                </a:solidFill>
                <a:effectLst/>
                <a:cs typeface="+mn-cs"/>
              </a:rPr>
              <a:t>1973</a:t>
            </a:r>
            <a:r>
              <a:rPr lang="zh-CN" altLang="zh-CN" sz="1200" kern="1200" dirty="0">
                <a:solidFill>
                  <a:schemeClr val="tx1"/>
                </a:solidFill>
                <a:effectLst/>
                <a:cs typeface="+mn-cs"/>
              </a:rPr>
              <a:t>年至</a:t>
            </a:r>
            <a:r>
              <a:rPr lang="en-US" altLang="zh-CN" sz="1200" kern="1200" dirty="0">
                <a:solidFill>
                  <a:schemeClr val="tx1"/>
                </a:solidFill>
                <a:effectLst/>
                <a:cs typeface="+mn-cs"/>
              </a:rPr>
              <a:t>1974</a:t>
            </a:r>
            <a:r>
              <a:rPr lang="zh-CN" altLang="zh-CN" sz="1200" kern="1200" dirty="0">
                <a:solidFill>
                  <a:schemeClr val="tx1"/>
                </a:solidFill>
                <a:effectLst/>
                <a:cs typeface="+mn-cs"/>
              </a:rPr>
              <a:t>年在我校学习，现任法国国民教育部汉语总督学，法国著名汉学家。</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李夏德</a:t>
            </a:r>
            <a:r>
              <a:rPr lang="en-US" altLang="zh-CN" sz="1200" b="1" kern="1200" dirty="0">
                <a:solidFill>
                  <a:schemeClr val="tx1"/>
                </a:solidFill>
                <a:effectLst/>
                <a:cs typeface="+mn-cs"/>
              </a:rPr>
              <a:t>  </a:t>
            </a:r>
            <a:r>
              <a:rPr lang="en-US" altLang="zh-CN" sz="1200" kern="1200" dirty="0">
                <a:solidFill>
                  <a:schemeClr val="tx1"/>
                </a:solidFill>
                <a:effectLst/>
                <a:cs typeface="+mn-cs"/>
              </a:rPr>
              <a:t>1974</a:t>
            </a:r>
            <a:r>
              <a:rPr lang="zh-CN" altLang="zh-CN" sz="1200" kern="1200" dirty="0">
                <a:solidFill>
                  <a:schemeClr val="tx1"/>
                </a:solidFill>
                <a:effectLst/>
                <a:cs typeface="+mn-cs"/>
              </a:rPr>
              <a:t>年至</a:t>
            </a:r>
            <a:r>
              <a:rPr lang="en-US" altLang="zh-CN" sz="1200" kern="1200" dirty="0">
                <a:solidFill>
                  <a:schemeClr val="tx1"/>
                </a:solidFill>
                <a:effectLst/>
                <a:cs typeface="+mn-cs"/>
              </a:rPr>
              <a:t>1975</a:t>
            </a:r>
            <a:r>
              <a:rPr lang="zh-CN" altLang="zh-CN" sz="1200" kern="1200" dirty="0">
                <a:solidFill>
                  <a:schemeClr val="tx1"/>
                </a:solidFill>
                <a:effectLst/>
                <a:cs typeface="+mn-cs"/>
              </a:rPr>
              <a:t>年在我校学习，奥地利汉学家，现任奥地利维也纳大学孔子学院院长</a:t>
            </a:r>
            <a:r>
              <a:rPr lang="en-US" altLang="zh-CN" sz="1200" kern="1200" dirty="0">
                <a:solidFill>
                  <a:schemeClr val="tx1"/>
                </a:solidFill>
                <a:effectLst/>
                <a:cs typeface="+mn-cs"/>
              </a:rPr>
              <a:t>,</a:t>
            </a:r>
            <a:r>
              <a:rPr lang="zh-CN" altLang="zh-CN" sz="1200" kern="1200" dirty="0">
                <a:solidFill>
                  <a:schemeClr val="tx1"/>
                </a:solidFill>
                <a:effectLst/>
                <a:cs typeface="+mn-cs"/>
              </a:rPr>
              <a:t>中国政法大学名誉教授。</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顾</a:t>
            </a:r>
            <a:r>
              <a:rPr lang="en-US" altLang="zh-CN" sz="1200" b="1" kern="1200" dirty="0">
                <a:solidFill>
                  <a:schemeClr val="tx1"/>
                </a:solidFill>
                <a:effectLst/>
                <a:cs typeface="+mn-cs"/>
              </a:rPr>
              <a:t>  </a:t>
            </a:r>
            <a:r>
              <a:rPr lang="zh-CN" altLang="zh-CN" sz="1200" b="1" kern="1200" dirty="0">
                <a:solidFill>
                  <a:schemeClr val="tx1"/>
                </a:solidFill>
                <a:effectLst/>
                <a:cs typeface="+mn-cs"/>
              </a:rPr>
              <a:t>彬</a:t>
            </a:r>
            <a:r>
              <a:rPr lang="en-US" altLang="zh-CN" sz="1200" b="1" kern="1200" dirty="0">
                <a:solidFill>
                  <a:schemeClr val="tx1"/>
                </a:solidFill>
                <a:effectLst/>
                <a:cs typeface="+mn-cs"/>
              </a:rPr>
              <a:t>  </a:t>
            </a:r>
            <a:r>
              <a:rPr lang="en-US" altLang="zh-CN" sz="1200" kern="1200" dirty="0">
                <a:solidFill>
                  <a:schemeClr val="tx1"/>
                </a:solidFill>
                <a:effectLst/>
                <a:cs typeface="+mn-cs"/>
              </a:rPr>
              <a:t>1974</a:t>
            </a:r>
            <a:r>
              <a:rPr lang="zh-CN" altLang="zh-CN" sz="1200" kern="1200" dirty="0">
                <a:solidFill>
                  <a:schemeClr val="tx1"/>
                </a:solidFill>
                <a:effectLst/>
                <a:cs typeface="+mn-cs"/>
              </a:rPr>
              <a:t>年至</a:t>
            </a:r>
            <a:r>
              <a:rPr lang="en-US" altLang="zh-CN" sz="1200" kern="1200" dirty="0">
                <a:solidFill>
                  <a:schemeClr val="tx1"/>
                </a:solidFill>
                <a:effectLst/>
                <a:cs typeface="+mn-cs"/>
              </a:rPr>
              <a:t>1975</a:t>
            </a:r>
            <a:r>
              <a:rPr lang="zh-CN" altLang="zh-CN" sz="1200" kern="1200" dirty="0">
                <a:solidFill>
                  <a:schemeClr val="tx1"/>
                </a:solidFill>
                <a:effectLst/>
                <a:cs typeface="+mn-cs"/>
              </a:rPr>
              <a:t>年在我校学习，德国汉学家，波恩大学汉学系主任。</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白</a:t>
            </a:r>
            <a:r>
              <a:rPr lang="en-US" altLang="zh-CN" sz="1200" b="1" kern="1200" dirty="0">
                <a:solidFill>
                  <a:schemeClr val="tx1"/>
                </a:solidFill>
                <a:effectLst/>
                <a:cs typeface="+mn-cs"/>
              </a:rPr>
              <a:t>  </a:t>
            </a:r>
            <a:r>
              <a:rPr lang="zh-CN" altLang="zh-CN" sz="1200" b="1" kern="1200" dirty="0">
                <a:solidFill>
                  <a:schemeClr val="tx1"/>
                </a:solidFill>
                <a:effectLst/>
                <a:cs typeface="+mn-cs"/>
              </a:rPr>
              <a:t>林 </a:t>
            </a:r>
            <a:r>
              <a:rPr lang="en-US" altLang="zh-CN" sz="1200" kern="1200" dirty="0">
                <a:solidFill>
                  <a:schemeClr val="tx1"/>
                </a:solidFill>
                <a:effectLst/>
                <a:cs typeface="+mn-cs"/>
              </a:rPr>
              <a:t> 1976</a:t>
            </a:r>
            <a:r>
              <a:rPr lang="zh-CN" altLang="zh-CN" sz="1200" kern="1200" dirty="0">
                <a:solidFill>
                  <a:schemeClr val="tx1"/>
                </a:solidFill>
                <a:effectLst/>
                <a:cs typeface="+mn-cs"/>
              </a:rPr>
              <a:t>年至</a:t>
            </a:r>
            <a:r>
              <a:rPr lang="en-US" altLang="zh-CN" sz="1200" kern="1200" dirty="0">
                <a:solidFill>
                  <a:schemeClr val="tx1"/>
                </a:solidFill>
                <a:effectLst/>
                <a:cs typeface="+mn-cs"/>
              </a:rPr>
              <a:t>1977</a:t>
            </a:r>
            <a:r>
              <a:rPr lang="zh-CN" altLang="zh-CN" sz="1200" kern="1200" dirty="0">
                <a:solidFill>
                  <a:schemeClr val="tx1"/>
                </a:solidFill>
                <a:effectLst/>
                <a:cs typeface="+mn-cs"/>
              </a:rPr>
              <a:t>年在我校学习，曾任法国驻华大使。</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穆拉图·特肖梅</a:t>
            </a:r>
            <a:r>
              <a:rPr lang="en-US" altLang="zh-CN" sz="1200" b="1" kern="1200" dirty="0">
                <a:solidFill>
                  <a:schemeClr val="tx1"/>
                </a:solidFill>
                <a:effectLst/>
                <a:cs typeface="+mn-cs"/>
              </a:rPr>
              <a:t>  </a:t>
            </a:r>
            <a:r>
              <a:rPr lang="en-US" altLang="zh-CN" sz="1200" kern="1200" dirty="0">
                <a:solidFill>
                  <a:schemeClr val="tx1"/>
                </a:solidFill>
                <a:effectLst/>
                <a:cs typeface="+mn-cs"/>
              </a:rPr>
              <a:t>1976</a:t>
            </a:r>
            <a:r>
              <a:rPr lang="zh-CN" altLang="zh-CN" sz="1200" kern="1200" dirty="0">
                <a:solidFill>
                  <a:schemeClr val="tx1"/>
                </a:solidFill>
                <a:effectLst/>
                <a:cs typeface="+mn-cs"/>
              </a:rPr>
              <a:t>年至</a:t>
            </a:r>
            <a:r>
              <a:rPr lang="en-US" altLang="zh-CN" sz="1200" kern="1200" dirty="0">
                <a:solidFill>
                  <a:schemeClr val="tx1"/>
                </a:solidFill>
                <a:effectLst/>
                <a:cs typeface="+mn-cs"/>
              </a:rPr>
              <a:t>1977</a:t>
            </a:r>
            <a:r>
              <a:rPr lang="zh-CN" altLang="zh-CN" sz="1200" kern="1200" dirty="0">
                <a:solidFill>
                  <a:schemeClr val="tx1"/>
                </a:solidFill>
                <a:effectLst/>
                <a:cs typeface="+mn-cs"/>
              </a:rPr>
              <a:t>年在我校学习，曾任埃塞俄比亚总统。</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高桥洋 </a:t>
            </a:r>
            <a:r>
              <a:rPr lang="en-US" altLang="zh-CN" sz="1200" kern="1200" dirty="0">
                <a:solidFill>
                  <a:schemeClr val="tx1"/>
                </a:solidFill>
                <a:effectLst/>
                <a:cs typeface="+mn-cs"/>
              </a:rPr>
              <a:t> 1979</a:t>
            </a:r>
            <a:r>
              <a:rPr lang="zh-CN" altLang="zh-CN" sz="1200" kern="1200" dirty="0">
                <a:solidFill>
                  <a:schemeClr val="tx1"/>
                </a:solidFill>
                <a:effectLst/>
                <a:cs typeface="+mn-cs"/>
              </a:rPr>
              <a:t>年至</a:t>
            </a:r>
            <a:r>
              <a:rPr lang="en-US" altLang="zh-CN" sz="1200" kern="1200" dirty="0">
                <a:solidFill>
                  <a:schemeClr val="tx1"/>
                </a:solidFill>
                <a:effectLst/>
                <a:cs typeface="+mn-cs"/>
              </a:rPr>
              <a:t>1983</a:t>
            </a:r>
            <a:r>
              <a:rPr lang="zh-CN" altLang="zh-CN" sz="1200" kern="1200" dirty="0">
                <a:solidFill>
                  <a:schemeClr val="tx1"/>
                </a:solidFill>
                <a:effectLst/>
                <a:cs typeface="+mn-cs"/>
              </a:rPr>
              <a:t>年在我校就读本科，现任索尼中国董事长。</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卡瑟姆</a:t>
            </a:r>
            <a:r>
              <a:rPr lang="en-US" altLang="zh-CN" sz="1200" b="1" kern="1200" dirty="0">
                <a:solidFill>
                  <a:schemeClr val="tx1"/>
                </a:solidFill>
                <a:effectLst/>
                <a:cs typeface="+mn-cs"/>
              </a:rPr>
              <a:t>·</a:t>
            </a:r>
            <a:r>
              <a:rPr lang="zh-CN" altLang="zh-CN" sz="1200" b="1" kern="1200" dirty="0">
                <a:solidFill>
                  <a:schemeClr val="tx1"/>
                </a:solidFill>
                <a:effectLst/>
                <a:cs typeface="+mn-cs"/>
              </a:rPr>
              <a:t>托卡耶夫</a:t>
            </a:r>
            <a:r>
              <a:rPr lang="en-US" altLang="zh-CN" sz="1200" b="1" kern="1200" dirty="0">
                <a:solidFill>
                  <a:schemeClr val="tx1"/>
                </a:solidFill>
                <a:effectLst/>
                <a:cs typeface="+mn-cs"/>
              </a:rPr>
              <a:t>  </a:t>
            </a:r>
            <a:r>
              <a:rPr lang="en-US" altLang="zh-CN" sz="1200" kern="1200" dirty="0">
                <a:solidFill>
                  <a:schemeClr val="tx1"/>
                </a:solidFill>
                <a:effectLst/>
                <a:cs typeface="+mn-cs"/>
              </a:rPr>
              <a:t>1983</a:t>
            </a:r>
            <a:r>
              <a:rPr lang="zh-CN" altLang="zh-CN" sz="1200" kern="1200" dirty="0">
                <a:solidFill>
                  <a:schemeClr val="tx1"/>
                </a:solidFill>
                <a:effectLst/>
                <a:cs typeface="+mn-cs"/>
              </a:rPr>
              <a:t>年至</a:t>
            </a:r>
            <a:r>
              <a:rPr lang="en-US" altLang="zh-CN" sz="1200" kern="1200" dirty="0">
                <a:solidFill>
                  <a:schemeClr val="tx1"/>
                </a:solidFill>
                <a:effectLst/>
                <a:cs typeface="+mn-cs"/>
              </a:rPr>
              <a:t>1984</a:t>
            </a:r>
            <a:r>
              <a:rPr lang="zh-CN" altLang="zh-CN" sz="1200" kern="1200" dirty="0">
                <a:solidFill>
                  <a:schemeClr val="tx1"/>
                </a:solidFill>
                <a:effectLst/>
                <a:cs typeface="+mn-cs"/>
              </a:rPr>
              <a:t>年在我校学习，现任哈萨克斯坦共和国总统。</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阿尔贝托</a:t>
            </a:r>
            <a:r>
              <a:rPr lang="en-US" altLang="zh-CN" sz="1200" kern="1200" dirty="0">
                <a:solidFill>
                  <a:schemeClr val="tx1"/>
                </a:solidFill>
                <a:effectLst/>
                <a:cs typeface="+mn-cs"/>
              </a:rPr>
              <a:t>  1986</a:t>
            </a:r>
            <a:r>
              <a:rPr lang="zh-CN" altLang="zh-CN" sz="1200" kern="1200" dirty="0">
                <a:solidFill>
                  <a:schemeClr val="tx1"/>
                </a:solidFill>
                <a:effectLst/>
                <a:cs typeface="+mn-cs"/>
              </a:rPr>
              <a:t>年至</a:t>
            </a:r>
            <a:r>
              <a:rPr lang="en-US" altLang="zh-CN" sz="1200" kern="1200" dirty="0">
                <a:solidFill>
                  <a:schemeClr val="tx1"/>
                </a:solidFill>
                <a:effectLst/>
                <a:cs typeface="+mn-cs"/>
              </a:rPr>
              <a:t>1989</a:t>
            </a:r>
            <a:r>
              <a:rPr lang="zh-CN" altLang="zh-CN" sz="1200" kern="1200" dirty="0">
                <a:solidFill>
                  <a:schemeClr val="tx1"/>
                </a:solidFill>
                <a:effectLst/>
                <a:cs typeface="+mn-cs"/>
              </a:rPr>
              <a:t>年在我校就读本科，曾任古巴驻华大使。</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卡里姆·马西莫夫</a:t>
            </a:r>
            <a:r>
              <a:rPr lang="en-US" altLang="zh-CN" sz="1200" kern="1200" dirty="0">
                <a:solidFill>
                  <a:schemeClr val="tx1"/>
                </a:solidFill>
                <a:effectLst/>
                <a:cs typeface="+mn-cs"/>
              </a:rPr>
              <a:t>  1988</a:t>
            </a:r>
            <a:r>
              <a:rPr lang="zh-CN" altLang="zh-CN" sz="1200" kern="1200" dirty="0">
                <a:solidFill>
                  <a:schemeClr val="tx1"/>
                </a:solidFill>
                <a:effectLst/>
                <a:cs typeface="+mn-cs"/>
              </a:rPr>
              <a:t>年在我校学习，现任哈萨克斯坦国家安全委员会主席。</a:t>
            </a:r>
            <a:endParaRPr lang="zh-CN" altLang="zh-CN" sz="1200" kern="1200" dirty="0">
              <a:solidFill>
                <a:schemeClr val="tx1"/>
              </a:solidFill>
              <a:effectLst/>
              <a:cs typeface="+mn-cs"/>
            </a:endParaRPr>
          </a:p>
          <a:p>
            <a:r>
              <a:rPr lang="en-US" altLang="zh-CN" sz="1200" kern="1200" dirty="0">
                <a:solidFill>
                  <a:schemeClr val="tx1"/>
                </a:solidFill>
                <a:effectLst/>
                <a:cs typeface="+mn-cs"/>
              </a:rPr>
              <a:t>10. </a:t>
            </a:r>
            <a:r>
              <a:rPr lang="zh-CN" altLang="zh-CN" sz="1200" b="1" kern="1200" dirty="0">
                <a:solidFill>
                  <a:schemeClr val="tx1"/>
                </a:solidFill>
                <a:effectLst/>
                <a:cs typeface="+mn-cs"/>
              </a:rPr>
              <a:t>近藤昭一 </a:t>
            </a:r>
            <a:r>
              <a:rPr lang="en-US" altLang="zh-CN" sz="1200" kern="1200" dirty="0">
                <a:solidFill>
                  <a:schemeClr val="tx1"/>
                </a:solidFill>
                <a:effectLst/>
                <a:cs typeface="+mn-cs"/>
              </a:rPr>
              <a:t>1981</a:t>
            </a:r>
            <a:r>
              <a:rPr lang="zh-CN" altLang="zh-CN" sz="1200" kern="1200" dirty="0">
                <a:solidFill>
                  <a:schemeClr val="tx1"/>
                </a:solidFill>
                <a:effectLst/>
                <a:cs typeface="+mn-cs"/>
              </a:rPr>
              <a:t>年至</a:t>
            </a:r>
            <a:r>
              <a:rPr lang="en-US" altLang="zh-CN" sz="1200" kern="1200" dirty="0">
                <a:solidFill>
                  <a:schemeClr val="tx1"/>
                </a:solidFill>
                <a:effectLst/>
                <a:cs typeface="+mn-cs"/>
              </a:rPr>
              <a:t>1983</a:t>
            </a:r>
            <a:r>
              <a:rPr lang="zh-CN" altLang="zh-CN" sz="1200" kern="1200" dirty="0">
                <a:solidFill>
                  <a:schemeClr val="tx1"/>
                </a:solidFill>
                <a:effectLst/>
                <a:cs typeface="+mn-cs"/>
              </a:rPr>
              <a:t>年在我校学习，现任日中友好议员联盟干事长，曾任日本立宪民主党副党首。</a:t>
            </a:r>
            <a:endParaRPr lang="zh-CN" altLang="zh-CN" sz="1200" kern="1200" dirty="0">
              <a:solidFill>
                <a:schemeClr val="tx1"/>
              </a:solidFill>
              <a:effectLst/>
              <a:cs typeface="+mn-cs"/>
            </a:endParaRPr>
          </a:p>
          <a:p>
            <a:r>
              <a:rPr lang="en-US" altLang="zh-CN" sz="1200" kern="1200" dirty="0">
                <a:solidFill>
                  <a:schemeClr val="tx1"/>
                </a:solidFill>
                <a:effectLst/>
                <a:cs typeface="+mn-cs"/>
              </a:rPr>
              <a:t>11. </a:t>
            </a:r>
            <a:r>
              <a:rPr lang="zh-CN" altLang="zh-CN" sz="1200" b="1" kern="1200" dirty="0">
                <a:solidFill>
                  <a:schemeClr val="tx1"/>
                </a:solidFill>
                <a:effectLst/>
                <a:cs typeface="+mn-cs"/>
              </a:rPr>
              <a:t>伊戈尔</a:t>
            </a:r>
            <a:r>
              <a:rPr lang="en-US" altLang="zh-CN" sz="1200" b="1" kern="1200" dirty="0">
                <a:solidFill>
                  <a:schemeClr val="tx1"/>
                </a:solidFill>
                <a:effectLst/>
                <a:cs typeface="+mn-cs"/>
              </a:rPr>
              <a:t>•</a:t>
            </a:r>
            <a:r>
              <a:rPr lang="zh-CN" altLang="zh-CN" sz="1200" b="1" kern="1200" dirty="0">
                <a:solidFill>
                  <a:schemeClr val="tx1"/>
                </a:solidFill>
                <a:effectLst/>
                <a:cs typeface="+mn-cs"/>
              </a:rPr>
              <a:t>莫尔古洛夫 </a:t>
            </a:r>
            <a:r>
              <a:rPr lang="en-US" altLang="zh-CN" sz="1200" kern="1200" dirty="0">
                <a:solidFill>
                  <a:schemeClr val="tx1"/>
                </a:solidFill>
                <a:effectLst/>
                <a:cs typeface="+mn-cs"/>
              </a:rPr>
              <a:t>1983</a:t>
            </a:r>
            <a:r>
              <a:rPr lang="zh-CN" altLang="zh-CN" sz="1200" kern="1200" dirty="0">
                <a:solidFill>
                  <a:schemeClr val="tx1"/>
                </a:solidFill>
                <a:effectLst/>
                <a:cs typeface="+mn-cs"/>
              </a:rPr>
              <a:t>年至</a:t>
            </a:r>
            <a:r>
              <a:rPr lang="en-US" altLang="zh-CN" sz="1200" kern="1200" dirty="0">
                <a:solidFill>
                  <a:schemeClr val="tx1"/>
                </a:solidFill>
                <a:effectLst/>
                <a:cs typeface="+mn-cs"/>
              </a:rPr>
              <a:t>1984</a:t>
            </a:r>
            <a:r>
              <a:rPr lang="zh-CN" altLang="zh-CN" sz="1200" kern="1200" dirty="0">
                <a:solidFill>
                  <a:schemeClr val="tx1"/>
                </a:solidFill>
                <a:effectLst/>
                <a:cs typeface="+mn-cs"/>
              </a:rPr>
              <a:t>年在我校学习，现任俄罗斯外交部副部长。</a:t>
            </a:r>
            <a:endParaRPr lang="zh-CN" altLang="zh-CN" sz="1200" kern="1200" dirty="0">
              <a:solidFill>
                <a:schemeClr val="tx1"/>
              </a:solidFill>
              <a:effectLst/>
              <a:cs typeface="+mn-cs"/>
            </a:endParaRPr>
          </a:p>
          <a:p>
            <a:r>
              <a:rPr lang="en-US" altLang="zh-CN" sz="1200" kern="1200" dirty="0">
                <a:solidFill>
                  <a:schemeClr val="tx1"/>
                </a:solidFill>
                <a:effectLst/>
                <a:cs typeface="+mn-cs"/>
              </a:rPr>
              <a:t>12. </a:t>
            </a:r>
            <a:r>
              <a:rPr lang="zh-CN" altLang="zh-CN" sz="1200" b="1" kern="1200" dirty="0">
                <a:solidFill>
                  <a:schemeClr val="tx1"/>
                </a:solidFill>
                <a:effectLst/>
                <a:cs typeface="+mn-cs"/>
              </a:rPr>
              <a:t>何塞</a:t>
            </a:r>
            <a:r>
              <a:rPr lang="en-US" altLang="zh-CN" sz="1200" b="1" kern="1200" dirty="0">
                <a:solidFill>
                  <a:schemeClr val="tx1"/>
                </a:solidFill>
                <a:effectLst/>
                <a:cs typeface="+mn-cs"/>
              </a:rPr>
              <a:t>·</a:t>
            </a:r>
            <a:r>
              <a:rPr lang="zh-CN" altLang="zh-CN" sz="1200" b="1" kern="1200" dirty="0">
                <a:solidFill>
                  <a:schemeClr val="tx1"/>
                </a:solidFill>
                <a:effectLst/>
                <a:cs typeface="+mn-cs"/>
              </a:rPr>
              <a:t>罗马纳 </a:t>
            </a:r>
            <a:r>
              <a:rPr lang="en-US" altLang="zh-CN" sz="1200" kern="1200" dirty="0">
                <a:solidFill>
                  <a:schemeClr val="tx1"/>
                </a:solidFill>
                <a:effectLst/>
                <a:cs typeface="+mn-cs"/>
              </a:rPr>
              <a:t>1974</a:t>
            </a:r>
            <a:r>
              <a:rPr lang="zh-CN" altLang="zh-CN" sz="1200" kern="1200" dirty="0">
                <a:solidFill>
                  <a:schemeClr val="tx1"/>
                </a:solidFill>
                <a:effectLst/>
                <a:cs typeface="+mn-cs"/>
              </a:rPr>
              <a:t>年在我校学习，现任菲律宾驻华大使。</a:t>
            </a:r>
            <a:endParaRPr lang="zh-CN" altLang="zh-CN" sz="1200" kern="1200" dirty="0">
              <a:solidFill>
                <a:schemeClr val="tx1"/>
              </a:solidFill>
              <a:effectLst/>
              <a:cs typeface="+mn-cs"/>
            </a:endParaRPr>
          </a:p>
          <a:p>
            <a:r>
              <a:rPr lang="en-US" altLang="zh-CN" sz="1200" kern="1200" dirty="0">
                <a:solidFill>
                  <a:schemeClr val="tx1"/>
                </a:solidFill>
                <a:effectLst/>
                <a:cs typeface="+mn-cs"/>
              </a:rPr>
              <a:t>13. </a:t>
            </a:r>
            <a:r>
              <a:rPr lang="zh-CN" altLang="zh-CN" sz="1200" b="1" kern="1200" dirty="0">
                <a:solidFill>
                  <a:schemeClr val="tx1"/>
                </a:solidFill>
                <a:effectLst/>
                <a:cs typeface="+mn-cs"/>
              </a:rPr>
              <a:t>卡洛斯</a:t>
            </a:r>
            <a:r>
              <a:rPr lang="en-US" altLang="zh-CN" sz="1200" b="1" kern="1200" dirty="0">
                <a:solidFill>
                  <a:schemeClr val="tx1"/>
                </a:solidFill>
                <a:effectLst/>
                <a:cs typeface="+mn-cs"/>
              </a:rPr>
              <a:t>·</a:t>
            </a:r>
            <a:r>
              <a:rPr lang="zh-CN" altLang="zh-CN" sz="1200" b="1" kern="1200" dirty="0">
                <a:solidFill>
                  <a:schemeClr val="tx1"/>
                </a:solidFill>
                <a:effectLst/>
                <a:cs typeface="+mn-cs"/>
              </a:rPr>
              <a:t>米格尔</a:t>
            </a:r>
            <a:r>
              <a:rPr lang="en-US" altLang="zh-CN" sz="1200" b="1" kern="1200" dirty="0">
                <a:solidFill>
                  <a:schemeClr val="tx1"/>
                </a:solidFill>
                <a:effectLst/>
                <a:cs typeface="+mn-cs"/>
              </a:rPr>
              <a:t>·</a:t>
            </a:r>
            <a:r>
              <a:rPr lang="zh-CN" altLang="zh-CN" sz="1200" b="1" kern="1200" dirty="0">
                <a:solidFill>
                  <a:schemeClr val="tx1"/>
                </a:solidFill>
                <a:effectLst/>
                <a:cs typeface="+mn-cs"/>
              </a:rPr>
              <a:t>佩雷拉</a:t>
            </a:r>
            <a:r>
              <a:rPr lang="zh-CN" altLang="zh-CN" sz="1200" kern="1200" dirty="0">
                <a:solidFill>
                  <a:schemeClr val="tx1"/>
                </a:solidFill>
                <a:effectLst/>
                <a:cs typeface="+mn-cs"/>
              </a:rPr>
              <a:t> </a:t>
            </a:r>
            <a:r>
              <a:rPr lang="en-US" altLang="zh-CN" sz="1200" kern="1200" dirty="0">
                <a:solidFill>
                  <a:schemeClr val="tx1"/>
                </a:solidFill>
                <a:effectLst/>
                <a:cs typeface="+mn-cs"/>
              </a:rPr>
              <a:t>1991</a:t>
            </a:r>
            <a:r>
              <a:rPr lang="zh-CN" altLang="zh-CN" sz="1200" kern="1200" dirty="0">
                <a:solidFill>
                  <a:schemeClr val="tx1"/>
                </a:solidFill>
                <a:effectLst/>
                <a:cs typeface="+mn-cs"/>
              </a:rPr>
              <a:t>年至</a:t>
            </a:r>
            <a:r>
              <a:rPr lang="en-US" altLang="zh-CN" sz="1200" kern="1200" dirty="0">
                <a:solidFill>
                  <a:schemeClr val="tx1"/>
                </a:solidFill>
                <a:effectLst/>
                <a:cs typeface="+mn-cs"/>
              </a:rPr>
              <a:t>1992</a:t>
            </a:r>
            <a:r>
              <a:rPr lang="zh-CN" altLang="zh-CN" sz="1200" kern="1200" dirty="0">
                <a:solidFill>
                  <a:schemeClr val="tx1"/>
                </a:solidFill>
                <a:effectLst/>
                <a:cs typeface="+mn-cs"/>
              </a:rPr>
              <a:t>年在我校学习，现任古巴驻华大使。</a:t>
            </a:r>
            <a:endParaRPr lang="zh-CN" altLang="zh-CN" sz="1200" kern="1200" dirty="0">
              <a:solidFill>
                <a:schemeClr val="tx1"/>
              </a:solidFill>
              <a:effectLst/>
              <a:cs typeface="+mn-cs"/>
            </a:endParaRPr>
          </a:p>
          <a:p>
            <a:r>
              <a:rPr lang="en-US" altLang="zh-CN" sz="1200" kern="1200" dirty="0">
                <a:solidFill>
                  <a:schemeClr val="tx1"/>
                </a:solidFill>
                <a:effectLst/>
                <a:cs typeface="+mn-cs"/>
              </a:rPr>
              <a:t>14. </a:t>
            </a:r>
            <a:r>
              <a:rPr lang="zh-CN" altLang="zh-CN" sz="1200" b="1" kern="1200" dirty="0">
                <a:solidFill>
                  <a:schemeClr val="tx1"/>
                </a:solidFill>
                <a:effectLst/>
                <a:cs typeface="+mn-cs"/>
              </a:rPr>
              <a:t>伊奴萨</a:t>
            </a:r>
            <a:r>
              <a:rPr lang="en-US" altLang="zh-CN" sz="1200" b="1" kern="1200" dirty="0">
                <a:solidFill>
                  <a:schemeClr val="tx1"/>
                </a:solidFill>
                <a:effectLst/>
                <a:cs typeface="+mn-cs"/>
              </a:rPr>
              <a:t>·</a:t>
            </a:r>
            <a:r>
              <a:rPr lang="zh-CN" altLang="zh-CN" sz="1200" b="1" kern="1200" dirty="0">
                <a:solidFill>
                  <a:schemeClr val="tx1"/>
                </a:solidFill>
                <a:effectLst/>
                <a:cs typeface="+mn-cs"/>
              </a:rPr>
              <a:t>穆斯塔法 </a:t>
            </a:r>
            <a:r>
              <a:rPr lang="en-US" altLang="zh-CN" sz="1200" kern="1200" dirty="0">
                <a:solidFill>
                  <a:schemeClr val="tx1"/>
                </a:solidFill>
                <a:effectLst/>
                <a:cs typeface="+mn-cs"/>
              </a:rPr>
              <a:t>1984-1988</a:t>
            </a:r>
            <a:r>
              <a:rPr lang="zh-CN" altLang="zh-CN" sz="1200" kern="1200" dirty="0">
                <a:solidFill>
                  <a:schemeClr val="tx1"/>
                </a:solidFill>
                <a:effectLst/>
                <a:cs typeface="+mn-cs"/>
              </a:rPr>
              <a:t>年在我校学习，现任尼日尔驻华大使。</a:t>
            </a:r>
            <a:endParaRPr lang="zh-CN" altLang="zh-CN" sz="1200" kern="1200" dirty="0">
              <a:solidFill>
                <a:schemeClr val="tx1"/>
              </a:solidFill>
              <a:effectLst/>
              <a:cs typeface="+mn-cs"/>
            </a:endParaRPr>
          </a:p>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认识其中几位</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cs typeface="+mn-cs"/>
              </a:rPr>
              <a:t>中国籍校友：</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乔晓阳 </a:t>
            </a:r>
            <a:r>
              <a:rPr lang="en-US" altLang="zh-CN" sz="1200" kern="1200" dirty="0">
                <a:solidFill>
                  <a:schemeClr val="tx1"/>
                </a:solidFill>
                <a:effectLst/>
                <a:cs typeface="+mn-cs"/>
              </a:rPr>
              <a:t> 1964</a:t>
            </a:r>
            <a:r>
              <a:rPr lang="zh-CN" altLang="zh-CN" sz="1200" kern="1200" dirty="0">
                <a:solidFill>
                  <a:schemeClr val="tx1"/>
                </a:solidFill>
                <a:effectLst/>
                <a:cs typeface="+mn-cs"/>
              </a:rPr>
              <a:t>年至</a:t>
            </a:r>
            <a:r>
              <a:rPr lang="en-US" altLang="zh-CN" sz="1200" kern="1200" dirty="0">
                <a:solidFill>
                  <a:schemeClr val="tx1"/>
                </a:solidFill>
                <a:effectLst/>
                <a:cs typeface="+mn-cs"/>
              </a:rPr>
              <a:t>1968</a:t>
            </a:r>
            <a:r>
              <a:rPr lang="zh-CN" altLang="zh-CN" sz="1200" kern="1200" dirty="0">
                <a:solidFill>
                  <a:schemeClr val="tx1"/>
                </a:solidFill>
                <a:effectLst/>
                <a:cs typeface="+mn-cs"/>
              </a:rPr>
              <a:t>年在我校就读本科，曾任第十二届全国人民代表大会法律委员会主任委员，</a:t>
            </a:r>
            <a:r>
              <a:rPr lang="en-US" altLang="zh-CN" sz="1200" u="none" strike="noStrike" kern="1200" dirty="0" err="1">
                <a:solidFill>
                  <a:schemeClr val="tx1"/>
                </a:solidFill>
                <a:effectLst/>
                <a:cs typeface="+mn-cs"/>
                <a:hlinkClick r:id="rId3"/>
              </a:rPr>
              <a:t>香港特别行政区基本法委员会</a:t>
            </a:r>
            <a:r>
              <a:rPr lang="zh-CN" altLang="zh-CN" sz="1200" kern="1200" dirty="0">
                <a:solidFill>
                  <a:schemeClr val="tx1"/>
                </a:solidFill>
                <a:effectLst/>
                <a:cs typeface="+mn-cs"/>
              </a:rPr>
              <a:t>主任、</a:t>
            </a:r>
            <a:r>
              <a:rPr lang="en-US" altLang="zh-CN" sz="1200" u="none" strike="noStrike" kern="1200" dirty="0" err="1">
                <a:solidFill>
                  <a:schemeClr val="tx1"/>
                </a:solidFill>
                <a:effectLst/>
                <a:cs typeface="+mn-cs"/>
                <a:hlinkClick r:id="rId4"/>
              </a:rPr>
              <a:t>澳门特别行政区基本法</a:t>
            </a:r>
            <a:r>
              <a:rPr lang="zh-CN" altLang="zh-CN" sz="1200" kern="1200" dirty="0">
                <a:solidFill>
                  <a:schemeClr val="tx1"/>
                </a:solidFill>
                <a:effectLst/>
                <a:cs typeface="+mn-cs"/>
              </a:rPr>
              <a:t>委员会主任。</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洪</a:t>
            </a:r>
            <a:r>
              <a:rPr lang="en-US" altLang="zh-CN" sz="1200" b="1" kern="1200" dirty="0">
                <a:solidFill>
                  <a:schemeClr val="tx1"/>
                </a:solidFill>
                <a:effectLst/>
                <a:cs typeface="+mn-cs"/>
              </a:rPr>
              <a:t>  </a:t>
            </a:r>
            <a:r>
              <a:rPr lang="zh-CN" altLang="zh-CN" sz="1200" b="1" kern="1200" dirty="0">
                <a:solidFill>
                  <a:schemeClr val="tx1"/>
                </a:solidFill>
                <a:effectLst/>
                <a:cs typeface="+mn-cs"/>
              </a:rPr>
              <a:t>磊</a:t>
            </a:r>
            <a:r>
              <a:rPr lang="en-US" altLang="zh-CN" sz="1200" b="1" kern="1200" dirty="0">
                <a:solidFill>
                  <a:schemeClr val="tx1"/>
                </a:solidFill>
                <a:effectLst/>
                <a:cs typeface="+mn-cs"/>
              </a:rPr>
              <a:t>  </a:t>
            </a:r>
            <a:r>
              <a:rPr lang="en-US" altLang="zh-CN" sz="1200" kern="1200" dirty="0">
                <a:solidFill>
                  <a:schemeClr val="tx1"/>
                </a:solidFill>
                <a:effectLst/>
                <a:cs typeface="+mn-cs"/>
              </a:rPr>
              <a:t>1987</a:t>
            </a:r>
            <a:r>
              <a:rPr lang="zh-CN" altLang="zh-CN" sz="1200" kern="1200" dirty="0">
                <a:solidFill>
                  <a:schemeClr val="tx1"/>
                </a:solidFill>
                <a:effectLst/>
                <a:cs typeface="+mn-cs"/>
              </a:rPr>
              <a:t>年至</a:t>
            </a:r>
            <a:r>
              <a:rPr lang="en-US" altLang="zh-CN" sz="1200" kern="1200" dirty="0">
                <a:solidFill>
                  <a:schemeClr val="tx1"/>
                </a:solidFill>
                <a:effectLst/>
                <a:cs typeface="+mn-cs"/>
              </a:rPr>
              <a:t>1991</a:t>
            </a:r>
            <a:r>
              <a:rPr lang="zh-CN" altLang="zh-CN" sz="1200" kern="1200" dirty="0">
                <a:solidFill>
                  <a:schemeClr val="tx1"/>
                </a:solidFill>
                <a:effectLst/>
                <a:cs typeface="+mn-cs"/>
              </a:rPr>
              <a:t>年在我校就读本科，现任外交部礼宾司司长</a:t>
            </a:r>
            <a:r>
              <a:rPr lang="en-US" altLang="zh-CN" sz="1200" kern="1200" dirty="0">
                <a:solidFill>
                  <a:schemeClr val="tx1"/>
                </a:solidFill>
                <a:effectLst/>
                <a:cs typeface="+mn-cs"/>
              </a:rPr>
              <a:t>,</a:t>
            </a:r>
            <a:r>
              <a:rPr lang="zh-CN" altLang="zh-CN" sz="1200" kern="1200" dirty="0">
                <a:solidFill>
                  <a:schemeClr val="tx1"/>
                </a:solidFill>
                <a:effectLst/>
                <a:cs typeface="+mn-cs"/>
              </a:rPr>
              <a:t>曾任外交部发言人。</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周</a:t>
            </a:r>
            <a:r>
              <a:rPr lang="en-US" altLang="zh-CN" sz="1200" b="1" kern="1200" dirty="0">
                <a:solidFill>
                  <a:schemeClr val="tx1"/>
                </a:solidFill>
                <a:effectLst/>
                <a:cs typeface="+mn-cs"/>
              </a:rPr>
              <a:t>  </a:t>
            </a:r>
            <a:r>
              <a:rPr lang="zh-CN" altLang="zh-CN" sz="1200" b="1" kern="1200" dirty="0">
                <a:solidFill>
                  <a:schemeClr val="tx1"/>
                </a:solidFill>
                <a:effectLst/>
                <a:cs typeface="+mn-cs"/>
              </a:rPr>
              <a:t>鼎</a:t>
            </a:r>
            <a:r>
              <a:rPr lang="en-US" altLang="zh-CN" sz="1200" b="1" kern="1200" dirty="0">
                <a:solidFill>
                  <a:schemeClr val="tx1"/>
                </a:solidFill>
                <a:effectLst/>
                <a:cs typeface="+mn-cs"/>
              </a:rPr>
              <a:t>  </a:t>
            </a:r>
            <a:r>
              <a:rPr lang="en-US" altLang="zh-CN" sz="1200" kern="1200" dirty="0">
                <a:solidFill>
                  <a:schemeClr val="tx1"/>
                </a:solidFill>
                <a:effectLst/>
                <a:cs typeface="+mn-cs"/>
              </a:rPr>
              <a:t>1987</a:t>
            </a:r>
            <a:r>
              <a:rPr lang="zh-CN" altLang="zh-CN" sz="1200" kern="1200" dirty="0">
                <a:solidFill>
                  <a:schemeClr val="tx1"/>
                </a:solidFill>
                <a:effectLst/>
                <a:cs typeface="+mn-cs"/>
              </a:rPr>
              <a:t>年至</a:t>
            </a:r>
            <a:r>
              <a:rPr lang="en-US" altLang="zh-CN" sz="1200" kern="1200" dirty="0">
                <a:solidFill>
                  <a:schemeClr val="tx1"/>
                </a:solidFill>
                <a:effectLst/>
                <a:cs typeface="+mn-cs"/>
              </a:rPr>
              <a:t>1991</a:t>
            </a:r>
            <a:r>
              <a:rPr lang="zh-CN" altLang="zh-CN" sz="1200" kern="1200" dirty="0">
                <a:solidFill>
                  <a:schemeClr val="tx1"/>
                </a:solidFill>
                <a:effectLst/>
                <a:cs typeface="+mn-cs"/>
              </a:rPr>
              <a:t>年在我校就读本科，现任中华人民共和国驻阿尔巴尼亚共和国特命全权大使。</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李津津 </a:t>
            </a:r>
            <a:r>
              <a:rPr lang="en-US" altLang="zh-CN" sz="1200" kern="1200" dirty="0">
                <a:solidFill>
                  <a:schemeClr val="tx1"/>
                </a:solidFill>
                <a:effectLst/>
                <a:cs typeface="+mn-cs"/>
              </a:rPr>
              <a:t> 1990</a:t>
            </a:r>
            <a:r>
              <a:rPr lang="zh-CN" altLang="zh-CN" sz="1200" kern="1200" dirty="0">
                <a:solidFill>
                  <a:schemeClr val="tx1"/>
                </a:solidFill>
                <a:effectLst/>
                <a:cs typeface="+mn-cs"/>
              </a:rPr>
              <a:t>年至</a:t>
            </a:r>
            <a:r>
              <a:rPr lang="en-US" altLang="zh-CN" sz="1200" kern="1200" dirty="0">
                <a:solidFill>
                  <a:schemeClr val="tx1"/>
                </a:solidFill>
                <a:effectLst/>
                <a:cs typeface="+mn-cs"/>
              </a:rPr>
              <a:t>1994</a:t>
            </a:r>
            <a:r>
              <a:rPr lang="zh-CN" altLang="zh-CN" sz="1200" kern="1200" dirty="0">
                <a:solidFill>
                  <a:schemeClr val="tx1"/>
                </a:solidFill>
                <a:effectLst/>
                <a:cs typeface="+mn-cs"/>
              </a:rPr>
              <a:t>年在我校就读本科，现任中华人民共和国驻乍得共和国特命全权大使。</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季小军</a:t>
            </a:r>
            <a:r>
              <a:rPr lang="en-US" altLang="zh-CN" sz="1200" kern="1200" dirty="0">
                <a:solidFill>
                  <a:schemeClr val="tx1"/>
                </a:solidFill>
                <a:effectLst/>
                <a:cs typeface="+mn-cs"/>
              </a:rPr>
              <a:t>  1990</a:t>
            </a:r>
            <a:r>
              <a:rPr lang="zh-CN" altLang="zh-CN" sz="1200" kern="1200" dirty="0">
                <a:solidFill>
                  <a:schemeClr val="tx1"/>
                </a:solidFill>
                <a:effectLst/>
                <a:cs typeface="+mn-cs"/>
              </a:rPr>
              <a:t>年至</a:t>
            </a:r>
            <a:r>
              <a:rPr lang="en-US" altLang="zh-CN" sz="1200" kern="1200" dirty="0">
                <a:solidFill>
                  <a:schemeClr val="tx1"/>
                </a:solidFill>
                <a:effectLst/>
                <a:cs typeface="+mn-cs"/>
              </a:rPr>
              <a:t>1994</a:t>
            </a:r>
            <a:r>
              <a:rPr lang="zh-CN" altLang="zh-CN" sz="1200" kern="1200" dirty="0">
                <a:solidFill>
                  <a:schemeClr val="tx1"/>
                </a:solidFill>
                <a:effectLst/>
                <a:cs typeface="+mn-cs"/>
              </a:rPr>
              <a:t>年在我校就读本科，现任中央电视台双语主持人。</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陈丽敏 </a:t>
            </a:r>
            <a:r>
              <a:rPr lang="en-US" altLang="zh-CN" sz="1200" kern="1200" dirty="0">
                <a:solidFill>
                  <a:schemeClr val="tx1"/>
                </a:solidFill>
                <a:effectLst/>
                <a:cs typeface="+mn-cs"/>
              </a:rPr>
              <a:t> 1992</a:t>
            </a:r>
            <a:r>
              <a:rPr lang="zh-CN" altLang="zh-CN" sz="1200" kern="1200" dirty="0">
                <a:solidFill>
                  <a:schemeClr val="tx1"/>
                </a:solidFill>
                <a:effectLst/>
                <a:cs typeface="+mn-cs"/>
              </a:rPr>
              <a:t>年至</a:t>
            </a:r>
            <a:r>
              <a:rPr lang="en-US" altLang="zh-CN" sz="1200" kern="1200" dirty="0">
                <a:solidFill>
                  <a:schemeClr val="tx1"/>
                </a:solidFill>
                <a:effectLst/>
                <a:cs typeface="+mn-cs"/>
              </a:rPr>
              <a:t>1993</a:t>
            </a:r>
            <a:r>
              <a:rPr lang="zh-CN" altLang="zh-CN" sz="1200" kern="1200" dirty="0">
                <a:solidFill>
                  <a:schemeClr val="tx1"/>
                </a:solidFill>
                <a:effectLst/>
                <a:cs typeface="+mn-cs"/>
              </a:rPr>
              <a:t>年在我校学习普通话。曾任澳门特别行政区行政法务司司长。</a:t>
            </a:r>
            <a:endParaRPr lang="zh-CN" altLang="zh-CN" sz="1200" kern="1200" dirty="0">
              <a:solidFill>
                <a:schemeClr val="tx1"/>
              </a:solidFill>
              <a:effectLst/>
              <a:cs typeface="+mn-cs"/>
            </a:endParaRPr>
          </a:p>
          <a:p>
            <a:pPr lvl="0"/>
            <a:r>
              <a:rPr lang="zh-CN" altLang="zh-CN" sz="1200" b="1" kern="1200" dirty="0">
                <a:solidFill>
                  <a:schemeClr val="tx1"/>
                </a:solidFill>
                <a:effectLst/>
                <a:cs typeface="+mn-cs"/>
              </a:rPr>
              <a:t>高</a:t>
            </a:r>
            <a:r>
              <a:rPr lang="en-US" altLang="zh-CN" sz="1200" b="1" kern="1200" dirty="0">
                <a:solidFill>
                  <a:schemeClr val="tx1"/>
                </a:solidFill>
                <a:effectLst/>
                <a:cs typeface="+mn-cs"/>
              </a:rPr>
              <a:t>  </a:t>
            </a:r>
            <a:r>
              <a:rPr lang="zh-CN" altLang="zh-CN" sz="1200" b="1" kern="1200" dirty="0">
                <a:solidFill>
                  <a:schemeClr val="tx1"/>
                </a:solidFill>
                <a:effectLst/>
                <a:cs typeface="+mn-cs"/>
              </a:rPr>
              <a:t>峰  </a:t>
            </a:r>
            <a:r>
              <a:rPr lang="en-US" altLang="zh-CN" sz="1200" kern="1200" dirty="0">
                <a:solidFill>
                  <a:schemeClr val="tx1"/>
                </a:solidFill>
                <a:effectLst/>
                <a:cs typeface="+mn-cs"/>
              </a:rPr>
              <a:t>1993</a:t>
            </a:r>
            <a:r>
              <a:rPr lang="zh-CN" altLang="zh-CN" sz="1200" kern="1200" dirty="0">
                <a:solidFill>
                  <a:schemeClr val="tx1"/>
                </a:solidFill>
                <a:effectLst/>
                <a:cs typeface="+mn-cs"/>
              </a:rPr>
              <a:t>年至</a:t>
            </a:r>
            <a:r>
              <a:rPr lang="en-US" altLang="zh-CN" sz="1200" kern="1200" dirty="0">
                <a:solidFill>
                  <a:schemeClr val="tx1"/>
                </a:solidFill>
                <a:effectLst/>
                <a:cs typeface="+mn-cs"/>
              </a:rPr>
              <a:t>1997</a:t>
            </a:r>
            <a:r>
              <a:rPr lang="zh-CN" altLang="zh-CN" sz="1200" kern="1200" dirty="0">
                <a:solidFill>
                  <a:schemeClr val="tx1"/>
                </a:solidFill>
                <a:effectLst/>
                <a:cs typeface="+mn-cs"/>
              </a:rPr>
              <a:t>年在我校就读本科，现任商务部办公厅副主任，兼商务部新闻发言人。</a:t>
            </a:r>
            <a:endParaRPr lang="zh-CN" altLang="zh-CN" sz="1200" kern="1200" dirty="0">
              <a:solidFill>
                <a:schemeClr val="tx1"/>
              </a:solidFill>
              <a:effectLst/>
              <a:cs typeface="+mn-cs"/>
            </a:endParaRPr>
          </a:p>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英语</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cs typeface="+mn-cs"/>
              </a:rPr>
              <a:t>马强，阿语系</a:t>
            </a:r>
            <a:r>
              <a:rPr lang="en-US" altLang="zh-CN" sz="1200" kern="1200" dirty="0">
                <a:solidFill>
                  <a:schemeClr val="tx1"/>
                </a:solidFill>
                <a:effectLst/>
                <a:cs typeface="+mn-cs"/>
              </a:rPr>
              <a:t>1982</a:t>
            </a:r>
            <a:r>
              <a:rPr lang="zh-CN" altLang="zh-CN" sz="1200" kern="1200" dirty="0">
                <a:solidFill>
                  <a:schemeClr val="tx1"/>
                </a:solidFill>
                <a:effectLst/>
                <a:cs typeface="+mn-cs"/>
              </a:rPr>
              <a:t>届毕业生，首任中华人民共和国驻南苏丹共和国特命全权大使（</a:t>
            </a:r>
            <a:r>
              <a:rPr lang="en-US" altLang="zh-CN" sz="1200" kern="1200" dirty="0">
                <a:solidFill>
                  <a:schemeClr val="tx1"/>
                </a:solidFill>
                <a:effectLst/>
                <a:cs typeface="+mn-cs"/>
              </a:rPr>
              <a:t>2013-2016</a:t>
            </a:r>
            <a:r>
              <a:rPr lang="zh-CN" altLang="zh-CN" sz="1200" kern="1200" dirty="0">
                <a:solidFill>
                  <a:schemeClr val="tx1"/>
                </a:solidFill>
                <a:effectLst/>
                <a:cs typeface="+mn-cs"/>
              </a:rPr>
              <a:t>），也是北语中国籍校友中的首位大使。</a:t>
            </a:r>
            <a:r>
              <a:rPr lang="en-US" altLang="zh-CN" sz="1200" kern="1200" dirty="0">
                <a:solidFill>
                  <a:schemeClr val="tx1"/>
                </a:solidFill>
                <a:effectLst/>
                <a:cs typeface="+mn-cs"/>
              </a:rPr>
              <a:t>1982</a:t>
            </a:r>
            <a:r>
              <a:rPr lang="zh-CN" altLang="zh-CN" sz="1200" kern="1200" dirty="0">
                <a:solidFill>
                  <a:schemeClr val="tx1"/>
                </a:solidFill>
                <a:effectLst/>
                <a:cs typeface="+mn-cs"/>
              </a:rPr>
              <a:t>年毕业后到外交部亚非司工作，在担任大使前，曾先后在阿曼、苏丹、科威特、利比亚、约旦等阿拉伯国家工作，历任随员、三秘、二秘、一秘、参赞等职，</a:t>
            </a:r>
            <a:r>
              <a:rPr lang="en-US" altLang="zh-CN" sz="1200" kern="1200" dirty="0">
                <a:solidFill>
                  <a:schemeClr val="tx1"/>
                </a:solidFill>
                <a:effectLst/>
                <a:cs typeface="+mn-cs"/>
              </a:rPr>
              <a:t>2011</a:t>
            </a:r>
            <a:r>
              <a:rPr lang="zh-CN" altLang="zh-CN" sz="1200" kern="1200" dirty="0">
                <a:solidFill>
                  <a:schemeClr val="tx1"/>
                </a:solidFill>
                <a:effectLst/>
                <a:cs typeface="+mn-cs"/>
              </a:rPr>
              <a:t>年至</a:t>
            </a:r>
            <a:r>
              <a:rPr lang="en-US" altLang="zh-CN" sz="1200" kern="1200" dirty="0">
                <a:solidFill>
                  <a:schemeClr val="tx1"/>
                </a:solidFill>
                <a:effectLst/>
                <a:cs typeface="+mn-cs"/>
              </a:rPr>
              <a:t>2013</a:t>
            </a:r>
            <a:r>
              <a:rPr lang="zh-CN" altLang="zh-CN" sz="1200" kern="1200" dirty="0">
                <a:solidFill>
                  <a:schemeClr val="tx1"/>
                </a:solidFill>
                <a:effectLst/>
                <a:cs typeface="+mn-cs"/>
              </a:rPr>
              <a:t>年，曾担任宁夏博览局副局长。</a:t>
            </a:r>
            <a:endParaRPr lang="zh-CN" altLang="zh-CN" sz="1200" kern="1200" dirty="0">
              <a:solidFill>
                <a:schemeClr val="tx1"/>
              </a:solidFill>
              <a:effectLst/>
              <a:cs typeface="+mn-cs"/>
            </a:endParaRPr>
          </a:p>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对外汉</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英语</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通过校友看到：多元文化校园环境，帮助学生多元化发展</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学校尊重和呵护每一位学生的个性化，帮助他们成长成才</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3+1</a:t>
            </a:r>
            <a:r>
              <a:rPr lang="zh-CN" altLang="en-US" dirty="0"/>
              <a:t>的培养模式</a:t>
            </a:r>
            <a:endParaRPr lang="zh-CN" altLang="en-US" dirty="0"/>
          </a:p>
        </p:txBody>
      </p:sp>
      <p:sp>
        <p:nvSpPr>
          <p:cNvPr id="4" name="灯片编号占位符 3"/>
          <p:cNvSpPr>
            <a:spLocks noGrp="1"/>
          </p:cNvSpPr>
          <p:nvPr>
            <p:ph type="sldNum" sz="quarter" idx="10"/>
          </p:nvPr>
        </p:nvSpPr>
        <p:spPr/>
        <p:txBody>
          <a:bodyPr/>
          <a:lstStyle/>
          <a:p>
            <a:fld id="{2701C7B4-9605-4599-B96E-08FF27C139CA}" type="slidenum">
              <a:rPr lang="zh-CN" altLang="en-US" smtClean="0"/>
            </a:fld>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微软雅黑 Light" panose="020B0502040204020203" pitchFamily="34" charset="-122"/>
                <a:ea typeface="微软雅黑 Light" panose="020B0502040204020203" pitchFamily="34" charset="-122"/>
                <a:cs typeface="+mn-cs"/>
              </a:rPr>
              <a:t>网络与新媒体：</a:t>
            </a:r>
            <a:r>
              <a:rPr lang="zh-CN" altLang="zh-CN" sz="1200" kern="1200" dirty="0">
                <a:solidFill>
                  <a:schemeClr val="tx1"/>
                </a:solidFill>
                <a:effectLst/>
                <a:latin typeface="微软雅黑 Light" panose="020B0502040204020203" pitchFamily="34" charset="-122"/>
                <a:ea typeface="微软雅黑 Light" panose="020B0502040204020203" pitchFamily="34" charset="-122"/>
                <a:cs typeface="+mn-cs"/>
              </a:rPr>
              <a:t>网络与新媒体专业融传播学、新闻学、互联网信息技术为一体，文理兼备的综合性新兴专业，其人才培养具有全媒体、复合型、创新型特点。网络与新媒体专业要求学生能够把握传统媒介和新媒体与信息网络领域的变革趋势；理解信息网络交叉融合的发展方向、新媒体与信息网络业态的多样性；掌握和运用新媒体内容策划与制作、新媒体与信息网络的传播战略、现代互动营销理论和媒体经营模式、新互动广告类型策划与创意、新媒介数据监测系统分析应用等知识结构体系；最终培养能够服务于广播电视网络、通信网络、互联网络等各种新媒体行业所急需的高级复合型专业人才，同时符合北京语言大学培养中外交流友好使者及善于讲好中国故事新型人才的人才培养目标。</a:t>
            </a:r>
            <a:endParaRPr lang="zh-CN" altLang="zh-CN" sz="1200" kern="1200" dirty="0">
              <a:solidFill>
                <a:schemeClr val="tx1"/>
              </a:solidFill>
              <a:effectLst/>
              <a:latin typeface="微软雅黑 Light" panose="020B0502040204020203" pitchFamily="34" charset="-122"/>
              <a:ea typeface="微软雅黑 Light" panose="020B0502040204020203" pitchFamily="34" charset="-122"/>
              <a:cs typeface="+mn-cs"/>
            </a:endParaRPr>
          </a:p>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800F4F6-88F4-497E-85FC-72E0B7373755}"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会计硕士专业学位又称专业会计硕士（</a:t>
            </a:r>
            <a:r>
              <a:rPr lang="en-US" altLang="zh-CN" sz="1200" b="0" i="0" kern="1200" dirty="0">
                <a:solidFill>
                  <a:schemeClr val="tx1"/>
                </a:solidFill>
                <a:effectLst/>
                <a:latin typeface="+mn-lt"/>
                <a:ea typeface="+mn-ea"/>
                <a:cs typeface="+mn-cs"/>
              </a:rPr>
              <a:t>Master of Professional Accounting</a:t>
            </a:r>
            <a:r>
              <a:rPr lang="zh-CN" altLang="en-US" sz="1200" b="0" i="0" kern="1200" dirty="0">
                <a:solidFill>
                  <a:schemeClr val="tx1"/>
                </a:solidFill>
                <a:effectLst/>
                <a:latin typeface="+mn-lt"/>
                <a:ea typeface="+mn-ea"/>
                <a:cs typeface="+mn-cs"/>
              </a:rPr>
              <a:t>，简称</a:t>
            </a:r>
            <a:r>
              <a:rPr lang="en-US" altLang="zh-CN" sz="1200" b="0" i="0" kern="1200" dirty="0" err="1">
                <a:solidFill>
                  <a:schemeClr val="tx1"/>
                </a:solidFill>
                <a:effectLst/>
                <a:latin typeface="+mn-lt"/>
                <a:ea typeface="+mn-ea"/>
                <a:cs typeface="+mn-cs"/>
              </a:rPr>
              <a:t>MPAcc</a:t>
            </a:r>
            <a:r>
              <a:rPr lang="zh-CN" altLang="en-US" sz="1200" b="0" i="0" kern="1200" dirty="0">
                <a:solidFill>
                  <a:schemeClr val="tx1"/>
                </a:solidFill>
                <a:effectLst/>
                <a:latin typeface="+mn-lt"/>
                <a:ea typeface="+mn-ea"/>
                <a:cs typeface="+mn-cs"/>
              </a:rPr>
              <a:t>）是经教育部、国务院学位办批准设立的一种专业学位。专业代码为</a:t>
            </a:r>
            <a:r>
              <a:rPr lang="en-US" altLang="zh-CN" sz="1200" b="0" i="0" kern="1200" dirty="0">
                <a:solidFill>
                  <a:schemeClr val="tx1"/>
                </a:solidFill>
                <a:effectLst/>
                <a:latin typeface="+mn-lt"/>
                <a:ea typeface="+mn-ea"/>
                <a:cs typeface="+mn-cs"/>
              </a:rPr>
              <a:t>125300</a:t>
            </a:r>
            <a:r>
              <a:rPr lang="zh-CN" altLang="en-US" sz="1200" b="0" i="0" kern="1200" dirty="0">
                <a:solidFill>
                  <a:schemeClr val="tx1"/>
                </a:solidFill>
                <a:effectLst/>
                <a:latin typeface="+mn-lt"/>
                <a:ea typeface="+mn-ea"/>
                <a:cs typeface="+mn-cs"/>
              </a:rPr>
              <a:t>。会计硕士专业学位的目标是培养具有良好职业道德，系统掌握现代会计理论与实务以及相关领域的知识与技能，具备会计工作领导能力的高素质会计人才。</a:t>
            </a:r>
            <a:endParaRPr lang="zh-CN" altLang="en-US" dirty="0"/>
          </a:p>
        </p:txBody>
      </p:sp>
      <p:sp>
        <p:nvSpPr>
          <p:cNvPr id="4" name="灯片编号占位符 3"/>
          <p:cNvSpPr>
            <a:spLocks noGrp="1"/>
          </p:cNvSpPr>
          <p:nvPr>
            <p:ph type="sldNum" sz="quarter" idx="10"/>
          </p:nvPr>
        </p:nvSpPr>
        <p:spPr/>
        <p:txBody>
          <a:bodyPr/>
          <a:lstStyle/>
          <a:p>
            <a:pPr>
              <a:defRPr/>
            </a:pPr>
            <a:fld id="{A800F4F6-88F4-497E-85FC-72E0B7373755}"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800F4F6-88F4-497E-85FC-72E0B7373755}"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800F4F6-88F4-497E-85FC-72E0B7373755}"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800F4F6-88F4-497E-85FC-72E0B7373755}"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民族班：广西</a:t>
            </a:r>
            <a:r>
              <a:rPr lang="en-US" altLang="zh-CN" dirty="0"/>
              <a:t>2020</a:t>
            </a:r>
            <a:r>
              <a:rPr lang="zh-CN" altLang="en-US" dirty="0"/>
              <a:t>年，民族班计划从</a:t>
            </a:r>
            <a:r>
              <a:rPr lang="en-US" altLang="zh-CN" dirty="0"/>
              <a:t>4</a:t>
            </a:r>
            <a:r>
              <a:rPr lang="zh-CN" altLang="en-US" dirty="0"/>
              <a:t>人增加到</a:t>
            </a:r>
            <a:r>
              <a:rPr lang="en-US" altLang="zh-CN" dirty="0"/>
              <a:t>6</a:t>
            </a:r>
            <a:r>
              <a:rPr lang="zh-CN" altLang="en-US" dirty="0"/>
              <a:t>人，具体以审批后公布数据为准</a:t>
            </a:r>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EAADCBAA-E34B-42C8-AAE5-3C2C0FA36A38}"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注意排名是平均分排名，应关注各专业情况，具体登陆北语本科招生网查看</a:t>
            </a:r>
            <a:endParaRPr lang="zh-CN" altLang="en-US" dirty="0"/>
          </a:p>
        </p:txBody>
      </p:sp>
      <p:sp>
        <p:nvSpPr>
          <p:cNvPr id="4" name="灯片编号占位符 3"/>
          <p:cNvSpPr>
            <a:spLocks noGrp="1"/>
          </p:cNvSpPr>
          <p:nvPr>
            <p:ph type="sldNum" sz="quarter" idx="5"/>
          </p:nvPr>
        </p:nvSpPr>
        <p:spPr/>
        <p:txBody>
          <a:bodyPr/>
          <a:lstStyle/>
          <a:p>
            <a:fld id="{EAADCBAA-E34B-42C8-AAE5-3C2C0FA36A38}"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注意排名是平均分排名，应关注各专业情况，具体登陆北语本科招生网查看</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EAADCBAA-E34B-42C8-AAE5-3C2C0FA36A38}"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2" name="图片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日期占位符 1"/>
          <p:cNvSpPr>
            <a:spLocks noGrp="1"/>
          </p:cNvSpPr>
          <p:nvPr>
            <p:ph type="dt" sz="half" idx="10"/>
          </p:nvPr>
        </p:nvSpPr>
        <p:spPr/>
        <p:txBody>
          <a:bodyPr/>
          <a:lstStyle>
            <a:lvl1pPr>
              <a:defRPr/>
            </a:lvl1pPr>
          </a:lstStyle>
          <a:p>
            <a:pPr>
              <a:defRPr/>
            </a:pPr>
            <a:fld id="{CD29C128-3269-4A09-B26D-60B46C5CD2E7}" type="datetimeFigureOut">
              <a:rPr lang="zh-CN" altLang="en-US"/>
            </a:fld>
            <a:endParaRPr lang="zh-CN" altLang="en-US"/>
          </a:p>
        </p:txBody>
      </p:sp>
      <p:sp>
        <p:nvSpPr>
          <p:cNvPr id="4" name="页脚占位符 2"/>
          <p:cNvSpPr>
            <a:spLocks noGrp="1"/>
          </p:cNvSpPr>
          <p:nvPr>
            <p:ph type="ftr" sz="quarter" idx="11"/>
          </p:nvPr>
        </p:nvSpPr>
        <p:spPr/>
        <p:txBody>
          <a:bodyPr/>
          <a:lstStyle>
            <a:lvl1pPr>
              <a:defRPr/>
            </a:lvl1pPr>
          </a:lstStyle>
          <a:p>
            <a:pPr>
              <a:defRPr/>
            </a:pPr>
            <a:endParaRPr lang="zh-CN" altLang="en-US"/>
          </a:p>
        </p:txBody>
      </p:sp>
      <p:sp>
        <p:nvSpPr>
          <p:cNvPr id="5" name="灯片编号占位符 3"/>
          <p:cNvSpPr>
            <a:spLocks noGrp="1"/>
          </p:cNvSpPr>
          <p:nvPr>
            <p:ph type="sldNum" sz="quarter" idx="12"/>
          </p:nvPr>
        </p:nvSpPr>
        <p:spPr/>
        <p:txBody>
          <a:bodyPr/>
          <a:lstStyle>
            <a:lvl1pPr>
              <a:defRPr/>
            </a:lvl1pPr>
          </a:lstStyle>
          <a:p>
            <a:pPr>
              <a:defRPr/>
            </a:pPr>
            <a:fld id="{01412663-0A2D-495C-8FEA-ED825A671235}" type="slidenum">
              <a:rPr lang="zh-CN" altLang="en-US"/>
            </a:fld>
            <a:endParaRPr lang="zh-CN" altLang="en-US"/>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3.tiff"/><Relationship Id="rId3" Type="http://schemas.openxmlformats.org/officeDocument/2006/relationships/image" Target="../media/image2.tiff"/><Relationship Id="rId2" Type="http://schemas.openxmlformats.org/officeDocument/2006/relationships/image" Target="../media/image7.jpeg"/><Relationship Id="rId1" Type="http://schemas.openxmlformats.org/officeDocument/2006/relationships/image" Target="../media/image1.tiff"/></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24.jpeg"/><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28.jpeg"/><Relationship Id="rId1" Type="http://schemas.openxmlformats.org/officeDocument/2006/relationships/image" Target="../media/image27.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30.jpeg"/><Relationship Id="rId1" Type="http://schemas.openxmlformats.org/officeDocument/2006/relationships/image" Target="../media/image29.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34.jpeg"/><Relationship Id="rId1" Type="http://schemas.openxmlformats.org/officeDocument/2006/relationships/image" Target="../media/image33.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microsoft.com/office/2007/relationships/hdphoto" Target="../media/image38.wdp"/><Relationship Id="rId3" Type="http://schemas.openxmlformats.org/officeDocument/2006/relationships/image" Target="../media/image37.png"/><Relationship Id="rId2" Type="http://schemas.microsoft.com/office/2007/relationships/hdphoto" Target="../media/image36.wdp"/><Relationship Id="rId1" Type="http://schemas.openxmlformats.org/officeDocument/2006/relationships/image" Target="../media/image35.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40.jpeg"/><Relationship Id="rId1" Type="http://schemas.openxmlformats.org/officeDocument/2006/relationships/image" Target="../media/image39.jpe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2.xml"/><Relationship Id="rId5" Type="http://schemas.microsoft.com/office/2007/relationships/hdphoto" Target="../media/image45.wdp"/><Relationship Id="rId4" Type="http://schemas.openxmlformats.org/officeDocument/2006/relationships/image" Target="../media/image44.png"/><Relationship Id="rId3" Type="http://schemas.microsoft.com/office/2007/relationships/hdphoto" Target="../media/image43.wdp"/><Relationship Id="rId2" Type="http://schemas.openxmlformats.org/officeDocument/2006/relationships/image" Target="../media/image42.png"/><Relationship Id="rId1" Type="http://schemas.openxmlformats.org/officeDocument/2006/relationships/image" Target="../media/image41.jpe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2.xml"/><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image" Target="../media/image51.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54.jpeg"/></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jpeg"/><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image" Target="../media/image56.jpeg"/></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2.xml"/><Relationship Id="rId5" Type="http://schemas.openxmlformats.org/officeDocument/2006/relationships/image" Target="../media/image65.jpeg"/><Relationship Id="rId4" Type="http://schemas.openxmlformats.org/officeDocument/2006/relationships/image" Target="../media/image64.jpeg"/><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image" Target="../media/image61.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67.jpeg"/><Relationship Id="rId1" Type="http://schemas.openxmlformats.org/officeDocument/2006/relationships/image" Target="../media/image66.jpe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2.xml"/><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4.tif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73.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74.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75.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76.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77.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78.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79.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81.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82.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83.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84.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85.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8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89.jpe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2.xml"/><Relationship Id="rId2" Type="http://schemas.openxmlformats.org/officeDocument/2006/relationships/image" Target="../media/image92.png"/><Relationship Id="rId1" Type="http://schemas.openxmlformats.org/officeDocument/2006/relationships/image" Target="../media/image9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93.jpeg"/></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2.xml"/><Relationship Id="rId3" Type="http://schemas.openxmlformats.org/officeDocument/2006/relationships/image" Target="../media/image96.png"/><Relationship Id="rId2" Type="http://schemas.microsoft.com/office/2007/relationships/hdphoto" Target="../media/image95.wdp"/><Relationship Id="rId1" Type="http://schemas.openxmlformats.org/officeDocument/2006/relationships/image" Target="../media/image94.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57.xml"/><Relationship Id="rId4" Type="http://schemas.openxmlformats.org/officeDocument/2006/relationships/slideLayout" Target="../slideLayouts/slideLayout4.xml"/><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image" Target="../media/image97.jpeg"/></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0.jpeg"/></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4.xml"/><Relationship Id="rId3" Type="http://schemas.openxmlformats.org/officeDocument/2006/relationships/image" Target="../media/image103.jpeg"/><Relationship Id="rId2" Type="http://schemas.openxmlformats.org/officeDocument/2006/relationships/image" Target="../media/image102.jpeg"/><Relationship Id="rId1" Type="http://schemas.openxmlformats.org/officeDocument/2006/relationships/image" Target="../media/image101.jpe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4.xml"/><Relationship Id="rId2" Type="http://schemas.openxmlformats.org/officeDocument/2006/relationships/image" Target="../media/image105.jpeg"/><Relationship Id="rId1" Type="http://schemas.openxmlformats.org/officeDocument/2006/relationships/image" Target="../media/image104.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image" Target="../media/image106.jpe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4.xml"/><Relationship Id="rId2" Type="http://schemas.openxmlformats.org/officeDocument/2006/relationships/image" Target="../media/image108.png"/><Relationship Id="rId1" Type="http://schemas.openxmlformats.org/officeDocument/2006/relationships/image" Target="../media/image107.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image" Target="../media/image109.jpe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67.xml"/><Relationship Id="rId4" Type="http://schemas.openxmlformats.org/officeDocument/2006/relationships/slideLayout" Target="../slideLayouts/slideLayout2.xml"/><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image" Target="../media/image110.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2.xml"/><Relationship Id="rId2" Type="http://schemas.openxmlformats.org/officeDocument/2006/relationships/image" Target="../media/image114.jpeg"/><Relationship Id="rId1" Type="http://schemas.openxmlformats.org/officeDocument/2006/relationships/image" Target="../media/image1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1" cstate="hqprint"/>
          <a:stretch>
            <a:fillRect/>
          </a:stretch>
        </p:blipFill>
        <p:spPr>
          <a:xfrm>
            <a:off x="0" y="0"/>
            <a:ext cx="12211027" cy="8140684"/>
          </a:xfrm>
          <a:prstGeom prst="rect">
            <a:avLst/>
          </a:prstGeom>
        </p:spPr>
      </p:pic>
      <p:sp>
        <p:nvSpPr>
          <p:cNvPr id="5" name="矩形 4"/>
          <p:cNvSpPr/>
          <p:nvPr/>
        </p:nvSpPr>
        <p:spPr>
          <a:xfrm>
            <a:off x="19027" y="180975"/>
            <a:ext cx="12192000" cy="6858000"/>
          </a:xfrm>
          <a:prstGeom prst="rect">
            <a:avLst/>
          </a:prstGeom>
          <a:gradFill>
            <a:gsLst>
              <a:gs pos="0">
                <a:srgbClr val="15234F">
                  <a:alpha val="0"/>
                </a:srgbClr>
              </a:gs>
              <a:gs pos="100000">
                <a:srgbClr val="15234F">
                  <a:alpha val="9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495299" y="0"/>
            <a:ext cx="6540310" cy="685800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nvSpPr>
        <p:spPr>
          <a:xfrm>
            <a:off x="4078886" y="4769058"/>
            <a:ext cx="1984909" cy="245089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gradFill>
            <a:gsLst>
              <a:gs pos="25800">
                <a:srgbClr val="45BDD6">
                  <a:alpha val="57000"/>
                </a:srgbClr>
              </a:gs>
              <a:gs pos="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1280543" y="-355719"/>
            <a:ext cx="2561084" cy="3162330"/>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gradFill>
            <a:gsLst>
              <a:gs pos="25800">
                <a:srgbClr val="45BDD6">
                  <a:alpha val="57000"/>
                </a:srgbClr>
              </a:gs>
              <a:gs pos="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nvSpPr>
        <p:spPr>
          <a:xfrm>
            <a:off x="10807700" y="4760600"/>
            <a:ext cx="2569110" cy="317224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rgbClr val="45B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135951" y="2409797"/>
            <a:ext cx="7356247" cy="1246495"/>
          </a:xfrm>
          <a:prstGeom prst="rect">
            <a:avLst/>
          </a:prstGeom>
          <a:noFill/>
        </p:spPr>
        <p:txBody>
          <a:bodyPr wrap="square" rtlCol="0">
            <a:spAutoFit/>
            <a:scene3d>
              <a:camera prst="orthographicFront"/>
              <a:lightRig rig="threePt" dir="t"/>
            </a:scene3d>
            <a:sp3d contourW="12700"/>
          </a:bodyPr>
          <a:lstStyle/>
          <a:p>
            <a:pPr algn="dist"/>
            <a:r>
              <a:rPr lang="zh-CN" altLang="en-US" sz="7500"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北京语言大学</a:t>
            </a:r>
            <a:endParaRPr lang="zh-CN" altLang="en-US" sz="7500"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6" name="Oval 1"/>
          <p:cNvSpPr/>
          <p:nvPr/>
        </p:nvSpPr>
        <p:spPr>
          <a:xfrm flipH="1">
            <a:off x="342899"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Oval 13"/>
          <p:cNvSpPr/>
          <p:nvPr/>
        </p:nvSpPr>
        <p:spPr>
          <a:xfrm>
            <a:off x="825498"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文本框 22"/>
          <p:cNvSpPr txBox="1"/>
          <p:nvPr/>
        </p:nvSpPr>
        <p:spPr>
          <a:xfrm>
            <a:off x="4078886" y="3941752"/>
            <a:ext cx="7258249" cy="646331"/>
          </a:xfrm>
          <a:prstGeom prst="rect">
            <a:avLst/>
          </a:prstGeom>
          <a:noFill/>
        </p:spPr>
        <p:txBody>
          <a:bodyPr wrap="square" rtlCol="0">
            <a:spAutoFit/>
          </a:bodyPr>
          <a:lstStyle/>
          <a:p>
            <a:r>
              <a:rPr lang="zh-CN" altLang="en-US" sz="3600" i="1" dirty="0">
                <a:solidFill>
                  <a:schemeClr val="bg1">
                    <a:lumMod val="85000"/>
                  </a:schemeClr>
                </a:solidFill>
                <a:effectLst>
                  <a:outerShdw blurRad="38100" dist="38100" dir="8100000" algn="tr" rotWithShape="0">
                    <a:prstClr val="black">
                      <a:alpha val="45000"/>
                    </a:prstClr>
                  </a:outerShdw>
                </a:effectLst>
                <a:latin typeface="微软雅黑 Light" panose="020B0502040204020203" pitchFamily="34" charset="-122"/>
                <a:ea typeface="微软雅黑 Light" panose="020B0502040204020203" pitchFamily="34" charset="-122"/>
              </a:rPr>
              <a:t>德   行   言   语      敦   睦   天   下</a:t>
            </a:r>
            <a:endParaRPr lang="zh-CN" altLang="en-US" sz="3600" i="1" dirty="0">
              <a:solidFill>
                <a:schemeClr val="bg1">
                  <a:lumMod val="85000"/>
                </a:schemeClr>
              </a:solidFill>
              <a:effectLst>
                <a:outerShdw blurRad="38100" dist="38100" dir="8100000" algn="tr" rotWithShape="0">
                  <a:prstClr val="black">
                    <a:alpha val="45000"/>
                  </a:prstClr>
                </a:outerShdw>
              </a:effectLst>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4135952" y="3649921"/>
            <a:ext cx="7180318" cy="314253"/>
          </a:xfrm>
          <a:prstGeom prst="rect">
            <a:avLst/>
          </a:prstGeom>
          <a:noFill/>
        </p:spPr>
        <p:txBody>
          <a:bodyPr wrap="square" rtlCol="0">
            <a:spAutoFit/>
          </a:bodyPr>
          <a:lstStyle/>
          <a:p>
            <a:pPr algn="dist">
              <a:lnSpc>
                <a:spcPct val="110000"/>
              </a:lnSpc>
            </a:pPr>
            <a:r>
              <a:rPr lang="en-US" altLang="zh-CN" sz="1400" i="1" dirty="0">
                <a:solidFill>
                  <a:schemeClr val="bg1">
                    <a:lumMod val="85000"/>
                  </a:schemeClr>
                </a:solidFill>
                <a:effectLst>
                  <a:outerShdw blurRad="38100" dist="38100" dir="2700000" algn="tl" rotWithShape="0">
                    <a:prstClr val="black">
                      <a:alpha val="45000"/>
                    </a:prstClr>
                  </a:outerShdw>
                </a:effectLst>
                <a:latin typeface="微软雅黑 Light" panose="020B0502040204020203" pitchFamily="34" charset="-122"/>
                <a:ea typeface="微软雅黑 Light" panose="020B0502040204020203" pitchFamily="34" charset="-122"/>
                <a:cs typeface="Arial" panose="020B0604020202020204" pitchFamily="34" charset="0"/>
              </a:rPr>
              <a:t>BEIJING LANGUAGE AND CULTURE UNIVERSITY</a:t>
            </a:r>
            <a:endParaRPr lang="zh-CN" altLang="en-US" sz="1400" i="1" dirty="0">
              <a:solidFill>
                <a:schemeClr val="bg1">
                  <a:lumMod val="85000"/>
                </a:schemeClr>
              </a:solidFill>
              <a:effectLst>
                <a:outerShdw blurRad="38100" dist="38100" dir="2700000" algn="tl" rotWithShape="0">
                  <a:prstClr val="black">
                    <a:alpha val="45000"/>
                  </a:prstClr>
                </a:outerShdw>
              </a:effectLst>
              <a:latin typeface="微软雅黑 Light" panose="020B0502040204020203" pitchFamily="34" charset="-122"/>
              <a:ea typeface="微软雅黑 Light" panose="020B0502040204020203" pitchFamily="34" charset="-122"/>
              <a:cs typeface="Arial" panose="020B0604020202020204" pitchFamily="34" charset="0"/>
            </a:endParaRPr>
          </a:p>
        </p:txBody>
      </p:sp>
      <p:pic>
        <p:nvPicPr>
          <p:cNvPr id="25" name="图片 24"/>
          <p:cNvPicPr>
            <a:picLocks noChangeAspect="1"/>
          </p:cNvPicPr>
          <p:nvPr/>
        </p:nvPicPr>
        <p:blipFill>
          <a:blip r:embed="rId2"/>
          <a:stretch>
            <a:fillRect/>
          </a:stretch>
        </p:blipFill>
        <p:spPr>
          <a:xfrm>
            <a:off x="10364843" y="211759"/>
            <a:ext cx="623927" cy="622758"/>
          </a:xfrm>
          <a:prstGeom prst="rect">
            <a:avLst/>
          </a:prstGeom>
        </p:spPr>
      </p:pic>
      <p:pic>
        <p:nvPicPr>
          <p:cNvPr id="26" name="图片 25"/>
          <p:cNvPicPr>
            <a:picLocks noChangeAspect="1"/>
          </p:cNvPicPr>
          <p:nvPr/>
        </p:nvPicPr>
        <p:blipFill>
          <a:blip r:embed="rId3"/>
          <a:stretch>
            <a:fillRect/>
          </a:stretch>
        </p:blipFill>
        <p:spPr>
          <a:xfrm>
            <a:off x="11105972" y="78582"/>
            <a:ext cx="943430" cy="9434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500"/>
                                        <p:tgtEl>
                                          <p:spTgt spid="1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par>
                          <p:cTn id="20" fill="hold">
                            <p:stCondLst>
                              <p:cond delay="1000"/>
                            </p:stCondLst>
                            <p:childTnLst>
                              <p:par>
                                <p:cTn id="21" presetID="12" presetClass="entr" presetSubtype="8"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p:tgtEl>
                                          <p:spTgt spid="13"/>
                                        </p:tgtEl>
                                        <p:attrNameLst>
                                          <p:attrName>ppt_x</p:attrName>
                                        </p:attrNameLst>
                                      </p:cBhvr>
                                      <p:tavLst>
                                        <p:tav tm="0">
                                          <p:val>
                                            <p:strVal val="#ppt_x-#ppt_w*1.125000"/>
                                          </p:val>
                                        </p:tav>
                                        <p:tav tm="100000">
                                          <p:val>
                                            <p:strVal val="#ppt_x"/>
                                          </p:val>
                                        </p:tav>
                                      </p:tavLst>
                                    </p:anim>
                                    <p:animEffect transition="in" filter="wipe(right)">
                                      <p:cBhvr>
                                        <p:cTn id="24" dur="500"/>
                                        <p:tgtEl>
                                          <p:spTgt spid="13"/>
                                        </p:tgtEl>
                                      </p:cBhvr>
                                    </p:animEffect>
                                  </p:childTnLst>
                                </p:cTn>
                              </p:par>
                              <p:par>
                                <p:cTn id="25" presetID="2" presetClass="entr" presetSubtype="1"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500" fill="hold"/>
                                        <p:tgtEl>
                                          <p:spTgt spid="23"/>
                                        </p:tgtEl>
                                        <p:attrNameLst>
                                          <p:attrName>ppt_x</p:attrName>
                                        </p:attrNameLst>
                                      </p:cBhvr>
                                      <p:tavLst>
                                        <p:tav tm="0">
                                          <p:val>
                                            <p:strVal val="#ppt_x"/>
                                          </p:val>
                                        </p:tav>
                                        <p:tav tm="100000">
                                          <p:val>
                                            <p:strVal val="#ppt_x"/>
                                          </p:val>
                                        </p:tav>
                                      </p:tavLst>
                                    </p:anim>
                                    <p:anim calcmode="lin" valueType="num">
                                      <p:cBhvr additive="base">
                                        <p:cTn id="28" dur="500" fill="hold"/>
                                        <p:tgtEl>
                                          <p:spTgt spid="23"/>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P spid="9" grpId="0" animBg="1"/>
      <p:bldP spid="10" grpId="0" animBg="1"/>
      <p:bldP spid="13" grpId="0"/>
      <p:bldP spid="23" grpId="0"/>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a:stretch>
            <a:fillRect/>
          </a:stretch>
        </p:blipFill>
        <p:spPr>
          <a:xfrm>
            <a:off x="1212682" y="0"/>
            <a:ext cx="4885508" cy="6858000"/>
          </a:xfrm>
          <a:prstGeom prst="flowChartManualOperation">
            <a:avLst/>
          </a:prstGeom>
        </p:spPr>
      </p:pic>
      <p:sp>
        <p:nvSpPr>
          <p:cNvPr id="52" name="任意多边形: 形状 51"/>
          <p:cNvSpPr/>
          <p:nvPr/>
        </p:nvSpPr>
        <p:spPr>
          <a:xfrm flipH="1">
            <a:off x="370024" y="0"/>
            <a:ext cx="5728165" cy="6858000"/>
          </a:xfrm>
          <a:custGeom>
            <a:avLst/>
            <a:gdLst>
              <a:gd name="connsiteX0" fmla="*/ 5728165 w 5728165"/>
              <a:gd name="connsiteY0" fmla="*/ 0 h 6858000"/>
              <a:gd name="connsiteX1" fmla="*/ 3448049 w 5728165"/>
              <a:gd name="connsiteY1" fmla="*/ 0 h 6858000"/>
              <a:gd name="connsiteX2" fmla="*/ 3415121 w 5728165"/>
              <a:gd name="connsiteY2" fmla="*/ 0 h 6858000"/>
              <a:gd name="connsiteX3" fmla="*/ 0 w 5728165"/>
              <a:gd name="connsiteY3" fmla="*/ 0 h 6858000"/>
              <a:gd name="connsiteX4" fmla="*/ 0 w 5728165"/>
              <a:gd name="connsiteY4" fmla="*/ 6858000 h 6858000"/>
              <a:gd name="connsiteX5" fmla="*/ 377713 w 5728165"/>
              <a:gd name="connsiteY5" fmla="*/ 6858000 h 6858000"/>
              <a:gd name="connsiteX6" fmla="*/ 410641 w 5728165"/>
              <a:gd name="connsiteY6" fmla="*/ 6858000 h 6858000"/>
              <a:gd name="connsiteX7" fmla="*/ 2690757 w 5728165"/>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28165" h="6858000">
                <a:moveTo>
                  <a:pt x="5728165" y="0"/>
                </a:moveTo>
                <a:lnTo>
                  <a:pt x="3448049" y="0"/>
                </a:lnTo>
                <a:lnTo>
                  <a:pt x="3415121" y="0"/>
                </a:lnTo>
                <a:lnTo>
                  <a:pt x="0" y="0"/>
                </a:lnTo>
                <a:lnTo>
                  <a:pt x="0" y="6858000"/>
                </a:lnTo>
                <a:lnTo>
                  <a:pt x="377713" y="6858000"/>
                </a:lnTo>
                <a:lnTo>
                  <a:pt x="410641" y="6858000"/>
                </a:lnTo>
                <a:lnTo>
                  <a:pt x="2690757" y="6858000"/>
                </a:lnTo>
                <a:close/>
              </a:path>
            </a:pathLst>
          </a:custGeom>
          <a:gradFill>
            <a:gsLst>
              <a:gs pos="0">
                <a:srgbClr val="45BDD6">
                  <a:alpha val="45000"/>
                </a:srgbClr>
              </a:gs>
              <a:gs pos="100000">
                <a:srgbClr val="24242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i="1" dirty="0"/>
          </a:p>
        </p:txBody>
      </p:sp>
      <p:sp>
        <p:nvSpPr>
          <p:cNvPr id="5" name="文本框 4"/>
          <p:cNvSpPr txBox="1"/>
          <p:nvPr/>
        </p:nvSpPr>
        <p:spPr>
          <a:xfrm flipH="1">
            <a:off x="8365409" y="1017085"/>
            <a:ext cx="1928733" cy="523220"/>
          </a:xfrm>
          <a:prstGeom prst="rect">
            <a:avLst/>
          </a:prstGeom>
          <a:noFill/>
        </p:spPr>
        <p:txBody>
          <a:bodyPr wrap="none" rtlCol="0">
            <a:spAutoFit/>
            <a:scene3d>
              <a:camera prst="orthographicFront"/>
              <a:lightRig rig="threePt" dir="t"/>
            </a:scene3d>
            <a:sp3d contourW="12700"/>
          </a:bodyPr>
          <a:lstStyle/>
          <a:p>
            <a:r>
              <a:rPr lang="zh-CN" altLang="en-US" sz="2800" b="1" i="1" spc="600" dirty="0">
                <a:solidFill>
                  <a:schemeClr val="bg2">
                    <a:lumMod val="50000"/>
                  </a:schemeClr>
                </a:solidFill>
                <a:latin typeface="黑体" panose="02010609060101010101" pitchFamily="49" charset="-122"/>
                <a:ea typeface="黑体" panose="02010609060101010101" pitchFamily="49" charset="-122"/>
              </a:rPr>
              <a:t>办学优势</a:t>
            </a:r>
            <a:endParaRPr lang="zh-CN" altLang="en-US" sz="2800" b="1" i="1" spc="600" dirty="0">
              <a:solidFill>
                <a:schemeClr val="bg2">
                  <a:lumMod val="50000"/>
                </a:schemeClr>
              </a:solidFill>
              <a:latin typeface="黑体" panose="02010609060101010101" pitchFamily="49" charset="-122"/>
              <a:ea typeface="黑体" panose="02010609060101010101" pitchFamily="49" charset="-122"/>
            </a:endParaRPr>
          </a:p>
        </p:txBody>
      </p:sp>
      <p:sp>
        <p:nvSpPr>
          <p:cNvPr id="26" name="文本框 25"/>
          <p:cNvSpPr txBox="1"/>
          <p:nvPr/>
        </p:nvSpPr>
        <p:spPr>
          <a:xfrm flipH="1">
            <a:off x="7469222" y="949079"/>
            <a:ext cx="910699" cy="646331"/>
          </a:xfrm>
          <a:prstGeom prst="rect">
            <a:avLst/>
          </a:prstGeom>
          <a:noFill/>
        </p:spPr>
        <p:txBody>
          <a:bodyPr wrap="square" rtlCol="0">
            <a:spAutoFit/>
            <a:scene3d>
              <a:camera prst="orthographicFront"/>
              <a:lightRig rig="threePt" dir="t"/>
            </a:scene3d>
            <a:sp3d contourW="12700"/>
          </a:bodyPr>
          <a:lstStyle/>
          <a:p>
            <a:r>
              <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rPr>
              <a:t>01.</a:t>
            </a:r>
            <a:endPar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endParaRPr>
          </a:p>
        </p:txBody>
      </p:sp>
      <p:sp>
        <p:nvSpPr>
          <p:cNvPr id="18" name="文本框 17"/>
          <p:cNvSpPr txBox="1"/>
          <p:nvPr/>
        </p:nvSpPr>
        <p:spPr>
          <a:xfrm flipH="1">
            <a:off x="8365408" y="2035820"/>
            <a:ext cx="1928733" cy="523220"/>
          </a:xfrm>
          <a:prstGeom prst="rect">
            <a:avLst/>
          </a:prstGeom>
          <a:noFill/>
        </p:spPr>
        <p:txBody>
          <a:bodyPr wrap="none" rtlCol="0">
            <a:spAutoFit/>
            <a:scene3d>
              <a:camera prst="orthographicFront"/>
              <a:lightRig rig="threePt" dir="t"/>
            </a:scene3d>
            <a:sp3d contourW="12700"/>
          </a:bodyPr>
          <a:lstStyle/>
          <a:p>
            <a:r>
              <a:rPr lang="zh-CN" altLang="en-US" sz="2800" b="1" i="1" spc="600" dirty="0">
                <a:solidFill>
                  <a:schemeClr val="bg2">
                    <a:lumMod val="50000"/>
                  </a:schemeClr>
                </a:solidFill>
                <a:latin typeface="黑体" panose="02010609060101010101" pitchFamily="49" charset="-122"/>
                <a:ea typeface="黑体" panose="02010609060101010101" pitchFamily="49" charset="-122"/>
              </a:rPr>
              <a:t>培养特色</a:t>
            </a:r>
            <a:endParaRPr lang="zh-CN" altLang="en-US" sz="2800" b="1" i="1" spc="600" dirty="0">
              <a:solidFill>
                <a:schemeClr val="bg2">
                  <a:lumMod val="50000"/>
                </a:schemeClr>
              </a:solidFill>
              <a:latin typeface="黑体" panose="02010609060101010101" pitchFamily="49" charset="-122"/>
              <a:ea typeface="黑体" panose="02010609060101010101" pitchFamily="49" charset="-122"/>
            </a:endParaRPr>
          </a:p>
        </p:txBody>
      </p:sp>
      <p:sp>
        <p:nvSpPr>
          <p:cNvPr id="21" name="文本框 20"/>
          <p:cNvSpPr txBox="1"/>
          <p:nvPr/>
        </p:nvSpPr>
        <p:spPr>
          <a:xfrm flipH="1">
            <a:off x="8365408" y="3116940"/>
            <a:ext cx="1928733" cy="523220"/>
          </a:xfrm>
          <a:prstGeom prst="rect">
            <a:avLst/>
          </a:prstGeom>
          <a:noFill/>
        </p:spPr>
        <p:txBody>
          <a:bodyPr wrap="none" rtlCol="0">
            <a:spAutoFit/>
            <a:scene3d>
              <a:camera prst="orthographicFront"/>
              <a:lightRig rig="threePt" dir="t"/>
            </a:scene3d>
            <a:sp3d contourW="12700"/>
          </a:bodyPr>
          <a:lstStyle/>
          <a:p>
            <a:r>
              <a:rPr lang="zh-CN" altLang="en-US" sz="2800" b="1" i="1" spc="600" dirty="0">
                <a:solidFill>
                  <a:schemeClr val="bg2">
                    <a:lumMod val="50000"/>
                  </a:schemeClr>
                </a:solidFill>
                <a:latin typeface="黑体" panose="02010609060101010101" pitchFamily="49" charset="-122"/>
                <a:ea typeface="黑体" panose="02010609060101010101" pitchFamily="49" charset="-122"/>
              </a:rPr>
              <a:t>校园生活</a:t>
            </a:r>
            <a:endParaRPr lang="zh-CN" altLang="en-US" sz="2800" b="1" i="1" spc="600" dirty="0">
              <a:solidFill>
                <a:schemeClr val="bg2">
                  <a:lumMod val="50000"/>
                </a:schemeClr>
              </a:solidFill>
              <a:latin typeface="黑体" panose="02010609060101010101" pitchFamily="49" charset="-122"/>
              <a:ea typeface="黑体" panose="02010609060101010101" pitchFamily="49" charset="-122"/>
            </a:endParaRPr>
          </a:p>
        </p:txBody>
      </p:sp>
      <p:sp>
        <p:nvSpPr>
          <p:cNvPr id="24" name="文本框 23"/>
          <p:cNvSpPr txBox="1"/>
          <p:nvPr/>
        </p:nvSpPr>
        <p:spPr>
          <a:xfrm flipH="1">
            <a:off x="8365408" y="4198060"/>
            <a:ext cx="1928733" cy="523220"/>
          </a:xfrm>
          <a:prstGeom prst="rect">
            <a:avLst/>
          </a:prstGeom>
          <a:noFill/>
        </p:spPr>
        <p:txBody>
          <a:bodyPr wrap="none" rtlCol="0">
            <a:spAutoFit/>
            <a:scene3d>
              <a:camera prst="orthographicFront"/>
              <a:lightRig rig="threePt" dir="t"/>
            </a:scene3d>
            <a:sp3d contourW="12700"/>
          </a:bodyPr>
          <a:lstStyle/>
          <a:p>
            <a:r>
              <a:rPr lang="zh-CN" altLang="en-US" sz="2800" b="1" i="1" spc="600" dirty="0">
                <a:solidFill>
                  <a:schemeClr val="bg2">
                    <a:lumMod val="50000"/>
                  </a:schemeClr>
                </a:solidFill>
                <a:latin typeface="黑体" panose="02010609060101010101" pitchFamily="49" charset="-122"/>
                <a:ea typeface="黑体" panose="02010609060101010101" pitchFamily="49" charset="-122"/>
              </a:rPr>
              <a:t>生涯发展</a:t>
            </a:r>
            <a:endParaRPr lang="zh-CN" altLang="en-US" sz="2800" b="1" i="1" spc="600" dirty="0">
              <a:solidFill>
                <a:schemeClr val="bg2">
                  <a:lumMod val="50000"/>
                </a:schemeClr>
              </a:solidFill>
              <a:latin typeface="黑体" panose="02010609060101010101" pitchFamily="49" charset="-122"/>
              <a:ea typeface="黑体" panose="02010609060101010101" pitchFamily="49" charset="-122"/>
            </a:endParaRPr>
          </a:p>
        </p:txBody>
      </p:sp>
      <p:sp>
        <p:nvSpPr>
          <p:cNvPr id="30" name="文本框 29"/>
          <p:cNvSpPr txBox="1"/>
          <p:nvPr/>
        </p:nvSpPr>
        <p:spPr>
          <a:xfrm flipH="1">
            <a:off x="7469221" y="1975094"/>
            <a:ext cx="910699" cy="646331"/>
          </a:xfrm>
          <a:prstGeom prst="rect">
            <a:avLst/>
          </a:prstGeom>
          <a:noFill/>
        </p:spPr>
        <p:txBody>
          <a:bodyPr wrap="square" rtlCol="0">
            <a:spAutoFit/>
            <a:scene3d>
              <a:camera prst="orthographicFront"/>
              <a:lightRig rig="threePt" dir="t"/>
            </a:scene3d>
            <a:sp3d contourW="12700"/>
          </a:bodyPr>
          <a:lstStyle/>
          <a:p>
            <a:r>
              <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rPr>
              <a:t>02.</a:t>
            </a:r>
            <a:endPar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endParaRPr>
          </a:p>
        </p:txBody>
      </p:sp>
      <p:sp>
        <p:nvSpPr>
          <p:cNvPr id="32" name="文本框 31"/>
          <p:cNvSpPr txBox="1"/>
          <p:nvPr/>
        </p:nvSpPr>
        <p:spPr>
          <a:xfrm flipH="1">
            <a:off x="7469221" y="3056800"/>
            <a:ext cx="910699" cy="646331"/>
          </a:xfrm>
          <a:prstGeom prst="rect">
            <a:avLst/>
          </a:prstGeom>
          <a:noFill/>
        </p:spPr>
        <p:txBody>
          <a:bodyPr wrap="square" rtlCol="0">
            <a:spAutoFit/>
            <a:scene3d>
              <a:camera prst="orthographicFront"/>
              <a:lightRig rig="threePt" dir="t"/>
            </a:scene3d>
            <a:sp3d contourW="12700"/>
          </a:bodyPr>
          <a:lstStyle/>
          <a:p>
            <a:r>
              <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rPr>
              <a:t>03.</a:t>
            </a:r>
            <a:endPar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endParaRPr>
          </a:p>
        </p:txBody>
      </p:sp>
      <p:sp>
        <p:nvSpPr>
          <p:cNvPr id="34" name="文本框 33"/>
          <p:cNvSpPr txBox="1"/>
          <p:nvPr/>
        </p:nvSpPr>
        <p:spPr>
          <a:xfrm flipH="1">
            <a:off x="7469221" y="4137858"/>
            <a:ext cx="910699" cy="646331"/>
          </a:xfrm>
          <a:prstGeom prst="rect">
            <a:avLst/>
          </a:prstGeom>
          <a:noFill/>
        </p:spPr>
        <p:txBody>
          <a:bodyPr wrap="square" rtlCol="0">
            <a:spAutoFit/>
            <a:scene3d>
              <a:camera prst="orthographicFront"/>
              <a:lightRig rig="threePt" dir="t"/>
            </a:scene3d>
            <a:sp3d contourW="12700"/>
          </a:bodyPr>
          <a:lstStyle/>
          <a:p>
            <a:r>
              <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rPr>
              <a:t>04.</a:t>
            </a:r>
            <a:endPar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endParaRPr>
          </a:p>
        </p:txBody>
      </p:sp>
      <p:sp>
        <p:nvSpPr>
          <p:cNvPr id="51" name="任意多边形: 形状 50"/>
          <p:cNvSpPr/>
          <p:nvPr/>
        </p:nvSpPr>
        <p:spPr>
          <a:xfrm flipV="1">
            <a:off x="0" y="4721279"/>
            <a:ext cx="4249782" cy="1499208"/>
          </a:xfrm>
          <a:custGeom>
            <a:avLst/>
            <a:gdLst>
              <a:gd name="connsiteX0" fmla="*/ 0 w 5884770"/>
              <a:gd name="connsiteY0" fmla="*/ 2415294 h 2415294"/>
              <a:gd name="connsiteX1" fmla="*/ 133025 w 5884770"/>
              <a:gd name="connsiteY1" fmla="*/ 2415294 h 2415294"/>
              <a:gd name="connsiteX2" fmla="*/ 144622 w 5884770"/>
              <a:gd name="connsiteY2" fmla="*/ 2415294 h 2415294"/>
              <a:gd name="connsiteX3" fmla="*/ 947648 w 5884770"/>
              <a:gd name="connsiteY3" fmla="*/ 2415294 h 2415294"/>
              <a:gd name="connsiteX4" fmla="*/ 1530097 w 5884770"/>
              <a:gd name="connsiteY4" fmla="*/ 2415294 h 2415294"/>
              <a:gd name="connsiteX5" fmla="*/ 1754519 w 5884770"/>
              <a:gd name="connsiteY5" fmla="*/ 2415294 h 2415294"/>
              <a:gd name="connsiteX6" fmla="*/ 1887544 w 5884770"/>
              <a:gd name="connsiteY6" fmla="*/ 2415294 h 2415294"/>
              <a:gd name="connsiteX7" fmla="*/ 1899141 w 5884770"/>
              <a:gd name="connsiteY7" fmla="*/ 2415294 h 2415294"/>
              <a:gd name="connsiteX8" fmla="*/ 2100883 w 5884770"/>
              <a:gd name="connsiteY8" fmla="*/ 2415294 h 2415294"/>
              <a:gd name="connsiteX9" fmla="*/ 2112870 w 5884770"/>
              <a:gd name="connsiteY9" fmla="*/ 2415294 h 2415294"/>
              <a:gd name="connsiteX10" fmla="*/ 2245895 w 5884770"/>
              <a:gd name="connsiteY10" fmla="*/ 2415294 h 2415294"/>
              <a:gd name="connsiteX11" fmla="*/ 2257492 w 5884770"/>
              <a:gd name="connsiteY11" fmla="*/ 2415294 h 2415294"/>
              <a:gd name="connsiteX12" fmla="*/ 2702167 w 5884770"/>
              <a:gd name="connsiteY12" fmla="*/ 2415294 h 2415294"/>
              <a:gd name="connsiteX13" fmla="*/ 3060518 w 5884770"/>
              <a:gd name="connsiteY13" fmla="*/ 2415294 h 2415294"/>
              <a:gd name="connsiteX14" fmla="*/ 3642967 w 5884770"/>
              <a:gd name="connsiteY14" fmla="*/ 2415294 h 2415294"/>
              <a:gd name="connsiteX15" fmla="*/ 3867389 w 5884770"/>
              <a:gd name="connsiteY15" fmla="*/ 2415294 h 2415294"/>
              <a:gd name="connsiteX16" fmla="*/ 4000414 w 5884770"/>
              <a:gd name="connsiteY16" fmla="*/ 2415294 h 2415294"/>
              <a:gd name="connsiteX17" fmla="*/ 4012011 w 5884770"/>
              <a:gd name="connsiteY17" fmla="*/ 2415294 h 2415294"/>
              <a:gd name="connsiteX18" fmla="*/ 4213753 w 5884770"/>
              <a:gd name="connsiteY18" fmla="*/ 2415294 h 2415294"/>
              <a:gd name="connsiteX19" fmla="*/ 4815037 w 5884770"/>
              <a:gd name="connsiteY19" fmla="*/ 2415294 h 2415294"/>
              <a:gd name="connsiteX20" fmla="*/ 5884770 w 5884770"/>
              <a:gd name="connsiteY20" fmla="*/ 0 h 2415294"/>
              <a:gd name="connsiteX21" fmla="*/ 5283487 w 5884770"/>
              <a:gd name="connsiteY21" fmla="*/ 0 h 2415294"/>
              <a:gd name="connsiteX22" fmla="*/ 5081744 w 5884770"/>
              <a:gd name="connsiteY22" fmla="*/ 0 h 2415294"/>
              <a:gd name="connsiteX23" fmla="*/ 5070148 w 5884770"/>
              <a:gd name="connsiteY23" fmla="*/ 0 h 2415294"/>
              <a:gd name="connsiteX24" fmla="*/ 4712700 w 5884770"/>
              <a:gd name="connsiteY24" fmla="*/ 0 h 2415294"/>
              <a:gd name="connsiteX25" fmla="*/ 4480461 w 5884770"/>
              <a:gd name="connsiteY25" fmla="*/ 0 h 2415294"/>
              <a:gd name="connsiteX26" fmla="*/ 4468864 w 5884770"/>
              <a:gd name="connsiteY26" fmla="*/ 0 h 2415294"/>
              <a:gd name="connsiteX27" fmla="*/ 4130252 w 5884770"/>
              <a:gd name="connsiteY27" fmla="*/ 0 h 2415294"/>
              <a:gd name="connsiteX28" fmla="*/ 3909675 w 5884770"/>
              <a:gd name="connsiteY28" fmla="*/ 0 h 2415294"/>
              <a:gd name="connsiteX29" fmla="*/ 3898078 w 5884770"/>
              <a:gd name="connsiteY29" fmla="*/ 0 h 2415294"/>
              <a:gd name="connsiteX30" fmla="*/ 3867389 w 5884770"/>
              <a:gd name="connsiteY30" fmla="*/ 0 h 2415294"/>
              <a:gd name="connsiteX31" fmla="*/ 3771900 w 5884770"/>
              <a:gd name="connsiteY31" fmla="*/ 0 h 2415294"/>
              <a:gd name="connsiteX32" fmla="*/ 3327226 w 5884770"/>
              <a:gd name="connsiteY32" fmla="*/ 0 h 2415294"/>
              <a:gd name="connsiteX33" fmla="*/ 3315629 w 5884770"/>
              <a:gd name="connsiteY33" fmla="*/ 0 h 2415294"/>
              <a:gd name="connsiteX34" fmla="*/ 3266105 w 5884770"/>
              <a:gd name="connsiteY34" fmla="*/ 0 h 2415294"/>
              <a:gd name="connsiteX35" fmla="*/ 3170617 w 5884770"/>
              <a:gd name="connsiteY35" fmla="*/ 0 h 2415294"/>
              <a:gd name="connsiteX36" fmla="*/ 2968874 w 5884770"/>
              <a:gd name="connsiteY36" fmla="*/ 0 h 2415294"/>
              <a:gd name="connsiteX37" fmla="*/ 2957278 w 5884770"/>
              <a:gd name="connsiteY37" fmla="*/ 0 h 2415294"/>
              <a:gd name="connsiteX38" fmla="*/ 2695319 w 5884770"/>
              <a:gd name="connsiteY38" fmla="*/ 0 h 2415294"/>
              <a:gd name="connsiteX39" fmla="*/ 2599830 w 5884770"/>
              <a:gd name="connsiteY39" fmla="*/ 0 h 2415294"/>
              <a:gd name="connsiteX40" fmla="*/ 2367591 w 5884770"/>
              <a:gd name="connsiteY40" fmla="*/ 0 h 2415294"/>
              <a:gd name="connsiteX41" fmla="*/ 2355994 w 5884770"/>
              <a:gd name="connsiteY41" fmla="*/ 0 h 2415294"/>
              <a:gd name="connsiteX42" fmla="*/ 2112870 w 5884770"/>
              <a:gd name="connsiteY42" fmla="*/ 0 h 2415294"/>
              <a:gd name="connsiteX43" fmla="*/ 2017381 w 5884770"/>
              <a:gd name="connsiteY43" fmla="*/ 0 h 2415294"/>
              <a:gd name="connsiteX44" fmla="*/ 1796805 w 5884770"/>
              <a:gd name="connsiteY44" fmla="*/ 0 h 2415294"/>
              <a:gd name="connsiteX45" fmla="*/ 1785208 w 5884770"/>
              <a:gd name="connsiteY45" fmla="*/ 0 h 2415294"/>
              <a:gd name="connsiteX46" fmla="*/ 1754519 w 5884770"/>
              <a:gd name="connsiteY46" fmla="*/ 0 h 2415294"/>
              <a:gd name="connsiteX47" fmla="*/ 1214356 w 5884770"/>
              <a:gd name="connsiteY47" fmla="*/ 0 h 2415294"/>
              <a:gd name="connsiteX48" fmla="*/ 1202759 w 5884770"/>
              <a:gd name="connsiteY48" fmla="*/ 0 h 2415294"/>
              <a:gd name="connsiteX49" fmla="*/ 1153235 w 5884770"/>
              <a:gd name="connsiteY49" fmla="*/ 0 h 2415294"/>
              <a:gd name="connsiteX50" fmla="*/ 582449 w 5884770"/>
              <a:gd name="connsiteY50" fmla="*/ 0 h 2415294"/>
              <a:gd name="connsiteX51" fmla="*/ 0 w 5884770"/>
              <a:gd name="connsiteY51" fmla="*/ 0 h 241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884770" h="2415294">
                <a:moveTo>
                  <a:pt x="0" y="2415294"/>
                </a:moveTo>
                <a:lnTo>
                  <a:pt x="133025" y="2415294"/>
                </a:lnTo>
                <a:lnTo>
                  <a:pt x="144622" y="2415294"/>
                </a:lnTo>
                <a:lnTo>
                  <a:pt x="947648" y="2415294"/>
                </a:lnTo>
                <a:lnTo>
                  <a:pt x="1530097" y="2415294"/>
                </a:lnTo>
                <a:lnTo>
                  <a:pt x="1754519" y="2415294"/>
                </a:lnTo>
                <a:lnTo>
                  <a:pt x="1887544" y="2415294"/>
                </a:lnTo>
                <a:lnTo>
                  <a:pt x="1899141" y="2415294"/>
                </a:lnTo>
                <a:lnTo>
                  <a:pt x="2100883" y="2415294"/>
                </a:lnTo>
                <a:lnTo>
                  <a:pt x="2112870" y="2415294"/>
                </a:lnTo>
                <a:lnTo>
                  <a:pt x="2245895" y="2415294"/>
                </a:lnTo>
                <a:lnTo>
                  <a:pt x="2257492" y="2415294"/>
                </a:lnTo>
                <a:lnTo>
                  <a:pt x="2702167" y="2415294"/>
                </a:lnTo>
                <a:lnTo>
                  <a:pt x="3060518" y="2415294"/>
                </a:lnTo>
                <a:lnTo>
                  <a:pt x="3642967" y="2415294"/>
                </a:lnTo>
                <a:lnTo>
                  <a:pt x="3867389" y="2415294"/>
                </a:lnTo>
                <a:lnTo>
                  <a:pt x="4000414" y="2415294"/>
                </a:lnTo>
                <a:lnTo>
                  <a:pt x="4012011" y="2415294"/>
                </a:lnTo>
                <a:lnTo>
                  <a:pt x="4213753" y="2415294"/>
                </a:lnTo>
                <a:lnTo>
                  <a:pt x="4815037" y="2415294"/>
                </a:lnTo>
                <a:lnTo>
                  <a:pt x="5884770" y="0"/>
                </a:lnTo>
                <a:lnTo>
                  <a:pt x="5283487" y="0"/>
                </a:lnTo>
                <a:lnTo>
                  <a:pt x="5081744" y="0"/>
                </a:lnTo>
                <a:lnTo>
                  <a:pt x="5070148" y="0"/>
                </a:lnTo>
                <a:lnTo>
                  <a:pt x="4712700" y="0"/>
                </a:lnTo>
                <a:lnTo>
                  <a:pt x="4480461" y="0"/>
                </a:lnTo>
                <a:lnTo>
                  <a:pt x="4468864" y="0"/>
                </a:lnTo>
                <a:lnTo>
                  <a:pt x="4130252" y="0"/>
                </a:lnTo>
                <a:lnTo>
                  <a:pt x="3909675" y="0"/>
                </a:lnTo>
                <a:lnTo>
                  <a:pt x="3898078" y="0"/>
                </a:lnTo>
                <a:lnTo>
                  <a:pt x="3867389" y="0"/>
                </a:lnTo>
                <a:lnTo>
                  <a:pt x="3771900" y="0"/>
                </a:lnTo>
                <a:lnTo>
                  <a:pt x="3327226" y="0"/>
                </a:lnTo>
                <a:lnTo>
                  <a:pt x="3315629" y="0"/>
                </a:lnTo>
                <a:lnTo>
                  <a:pt x="3266105" y="0"/>
                </a:lnTo>
                <a:lnTo>
                  <a:pt x="3170617" y="0"/>
                </a:lnTo>
                <a:lnTo>
                  <a:pt x="2968874" y="0"/>
                </a:lnTo>
                <a:lnTo>
                  <a:pt x="2957278" y="0"/>
                </a:lnTo>
                <a:lnTo>
                  <a:pt x="2695319" y="0"/>
                </a:lnTo>
                <a:lnTo>
                  <a:pt x="2599830" y="0"/>
                </a:lnTo>
                <a:lnTo>
                  <a:pt x="2367591" y="0"/>
                </a:lnTo>
                <a:lnTo>
                  <a:pt x="2355994" y="0"/>
                </a:lnTo>
                <a:lnTo>
                  <a:pt x="2112870" y="0"/>
                </a:lnTo>
                <a:lnTo>
                  <a:pt x="2017381" y="0"/>
                </a:lnTo>
                <a:lnTo>
                  <a:pt x="1796805" y="0"/>
                </a:lnTo>
                <a:lnTo>
                  <a:pt x="1785208" y="0"/>
                </a:lnTo>
                <a:lnTo>
                  <a:pt x="1754519" y="0"/>
                </a:lnTo>
                <a:lnTo>
                  <a:pt x="1214356" y="0"/>
                </a:lnTo>
                <a:lnTo>
                  <a:pt x="1202759" y="0"/>
                </a:lnTo>
                <a:lnTo>
                  <a:pt x="1153235" y="0"/>
                </a:lnTo>
                <a:lnTo>
                  <a:pt x="582449" y="0"/>
                </a:lnTo>
                <a:lnTo>
                  <a:pt x="0" y="0"/>
                </a:lnTo>
                <a:close/>
              </a:path>
            </a:pathLst>
          </a:custGeom>
          <a:solidFill>
            <a:srgbClr val="24242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i="1" dirty="0"/>
          </a:p>
        </p:txBody>
      </p:sp>
      <p:sp>
        <p:nvSpPr>
          <p:cNvPr id="54" name="文本框 53"/>
          <p:cNvSpPr txBox="1"/>
          <p:nvPr/>
        </p:nvSpPr>
        <p:spPr>
          <a:xfrm>
            <a:off x="185280" y="5047016"/>
            <a:ext cx="3171516" cy="847733"/>
          </a:xfrm>
          <a:prstGeom prst="rect">
            <a:avLst/>
          </a:prstGeom>
          <a:noFill/>
        </p:spPr>
        <p:txBody>
          <a:bodyPr wrap="square" rtlCol="0">
            <a:spAutoFit/>
            <a:scene3d>
              <a:camera prst="orthographicFront"/>
              <a:lightRig rig="threePt" dir="t"/>
            </a:scene3d>
            <a:sp3d contourW="12700"/>
          </a:bodyPr>
          <a:lstStyle/>
          <a:p>
            <a:pPr algn="ctr">
              <a:lnSpc>
                <a:spcPct val="130000"/>
              </a:lnSpc>
            </a:pPr>
            <a:r>
              <a:rPr lang="zh-CN" altLang="en-US" sz="4400" b="1" i="1" spc="300" dirty="0">
                <a:solidFill>
                  <a:srgbClr val="45BDD6"/>
                </a:solidFill>
                <a:latin typeface="黑体" panose="02010609060101010101" pitchFamily="49" charset="-122"/>
                <a:ea typeface="黑体" panose="02010609060101010101" pitchFamily="49" charset="-122"/>
                <a:cs typeface="Arial" panose="020B0604020202020204" pitchFamily="34" charset="0"/>
              </a:rPr>
              <a:t>内容概览</a:t>
            </a:r>
            <a:endParaRPr lang="en-US" altLang="zh-CN" sz="4400" b="1" i="1" spc="300" dirty="0">
              <a:solidFill>
                <a:srgbClr val="45BDD6"/>
              </a:solidFill>
              <a:latin typeface="黑体" panose="02010609060101010101" pitchFamily="49" charset="-122"/>
              <a:ea typeface="黑体" panose="02010609060101010101" pitchFamily="49" charset="-122"/>
              <a:cs typeface="Arial" panose="020B0604020202020204" pitchFamily="34" charset="0"/>
            </a:endParaRPr>
          </a:p>
        </p:txBody>
      </p:sp>
      <p:sp>
        <p:nvSpPr>
          <p:cNvPr id="25" name="文本框 24"/>
          <p:cNvSpPr txBox="1"/>
          <p:nvPr/>
        </p:nvSpPr>
        <p:spPr>
          <a:xfrm flipH="1">
            <a:off x="8379920" y="5279118"/>
            <a:ext cx="1928733" cy="523220"/>
          </a:xfrm>
          <a:prstGeom prst="rect">
            <a:avLst/>
          </a:prstGeom>
          <a:noFill/>
        </p:spPr>
        <p:txBody>
          <a:bodyPr wrap="none" rtlCol="0">
            <a:spAutoFit/>
            <a:scene3d>
              <a:camera prst="orthographicFront"/>
              <a:lightRig rig="threePt" dir="t"/>
            </a:scene3d>
            <a:sp3d contourW="12700"/>
          </a:bodyPr>
          <a:lstStyle/>
          <a:p>
            <a:r>
              <a:rPr lang="zh-CN" altLang="en-US" sz="2800" b="1" i="1" spc="600" dirty="0">
                <a:solidFill>
                  <a:schemeClr val="bg2">
                    <a:lumMod val="50000"/>
                  </a:schemeClr>
                </a:solidFill>
                <a:latin typeface="黑体" panose="02010609060101010101" pitchFamily="49" charset="-122"/>
                <a:ea typeface="黑体" panose="02010609060101010101" pitchFamily="49" charset="-122"/>
              </a:rPr>
              <a:t>招生政策</a:t>
            </a:r>
            <a:endParaRPr lang="zh-CN" altLang="en-US" sz="2800" b="1" i="1" spc="600" dirty="0">
              <a:solidFill>
                <a:schemeClr val="bg2">
                  <a:lumMod val="50000"/>
                </a:schemeClr>
              </a:solidFill>
              <a:latin typeface="黑体" panose="02010609060101010101" pitchFamily="49" charset="-122"/>
              <a:ea typeface="黑体" panose="02010609060101010101" pitchFamily="49" charset="-122"/>
            </a:endParaRPr>
          </a:p>
        </p:txBody>
      </p:sp>
      <p:sp>
        <p:nvSpPr>
          <p:cNvPr id="27" name="文本框 26"/>
          <p:cNvSpPr txBox="1"/>
          <p:nvPr/>
        </p:nvSpPr>
        <p:spPr>
          <a:xfrm flipH="1">
            <a:off x="7483733" y="5218916"/>
            <a:ext cx="910699" cy="646331"/>
          </a:xfrm>
          <a:prstGeom prst="rect">
            <a:avLst/>
          </a:prstGeom>
          <a:noFill/>
        </p:spPr>
        <p:txBody>
          <a:bodyPr wrap="square" rtlCol="0">
            <a:spAutoFit/>
            <a:scene3d>
              <a:camera prst="orthographicFront"/>
              <a:lightRig rig="threePt" dir="t"/>
            </a:scene3d>
            <a:sp3d contourW="12700"/>
          </a:bodyPr>
          <a:lstStyle/>
          <a:p>
            <a:r>
              <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rPr>
              <a:t>05.</a:t>
            </a:r>
            <a:endParaRPr lang="en-US" altLang="zh-CN" sz="3600" b="1" i="1" dirty="0">
              <a:solidFill>
                <a:srgbClr val="45BDD6"/>
              </a:solidFill>
              <a:latin typeface="3ds" panose="02000503020000020004" pitchFamily="2" charset="0"/>
              <a:ea typeface="黑体" panose="02010609060101010101" pitchFamily="49" charset="-122"/>
              <a:cs typeface="Angsana New" panose="02020603050405020304" pitchFamily="18" charset="-34"/>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0-#ppt_w/2"/>
                                          </p:val>
                                        </p:tav>
                                        <p:tav tm="100000">
                                          <p:val>
                                            <p:strVal val="#ppt_x"/>
                                          </p:val>
                                        </p:tav>
                                      </p:tavLst>
                                    </p:anim>
                                    <p:anim calcmode="lin" valueType="num">
                                      <p:cBhvr additive="base">
                                        <p:cTn id="8" dur="500" fill="hold"/>
                                        <p:tgtEl>
                                          <p:spTgt spid="5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500" fill="hold"/>
                                        <p:tgtEl>
                                          <p:spTgt spid="51"/>
                                        </p:tgtEl>
                                        <p:attrNameLst>
                                          <p:attrName>ppt_x</p:attrName>
                                        </p:attrNameLst>
                                      </p:cBhvr>
                                      <p:tavLst>
                                        <p:tav tm="0">
                                          <p:val>
                                            <p:strVal val="0-#ppt_w/2"/>
                                          </p:val>
                                        </p:tav>
                                        <p:tav tm="100000">
                                          <p:val>
                                            <p:strVal val="#ppt_x"/>
                                          </p:val>
                                        </p:tav>
                                      </p:tavLst>
                                    </p:anim>
                                    <p:anim calcmode="lin" valueType="num">
                                      <p:cBhvr additive="base">
                                        <p:cTn id="12" dur="500" fill="hold"/>
                                        <p:tgtEl>
                                          <p:spTgt spid="5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anim calcmode="lin" valueType="num">
                                      <p:cBhvr additive="base">
                                        <p:cTn id="15" dur="500" fill="hold"/>
                                        <p:tgtEl>
                                          <p:spTgt spid="54"/>
                                        </p:tgtEl>
                                        <p:attrNameLst>
                                          <p:attrName>ppt_x</p:attrName>
                                        </p:attrNameLst>
                                      </p:cBhvr>
                                      <p:tavLst>
                                        <p:tav tm="0">
                                          <p:val>
                                            <p:strVal val="0-#ppt_w/2"/>
                                          </p:val>
                                        </p:tav>
                                        <p:tav tm="100000">
                                          <p:val>
                                            <p:strVal val="#ppt_x"/>
                                          </p:val>
                                        </p:tav>
                                      </p:tavLst>
                                    </p:anim>
                                    <p:anim calcmode="lin" valueType="num">
                                      <p:cBhvr additive="base">
                                        <p:cTn id="16" dur="500" fill="hold"/>
                                        <p:tgtEl>
                                          <p:spTgt spid="54"/>
                                        </p:tgtEl>
                                        <p:attrNameLst>
                                          <p:attrName>ppt_y</p:attrName>
                                        </p:attrNameLst>
                                      </p:cBhvr>
                                      <p:tavLst>
                                        <p:tav tm="0">
                                          <p:val>
                                            <p:strVal val="#ppt_y"/>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1000"/>
                                        <p:tgtEl>
                                          <p:spTgt spid="21"/>
                                        </p:tgtEl>
                                      </p:cBhvr>
                                    </p:animEffect>
                                    <p:anim calcmode="lin" valueType="num">
                                      <p:cBhvr>
                                        <p:cTn id="30" dur="1000" fill="hold"/>
                                        <p:tgtEl>
                                          <p:spTgt spid="21"/>
                                        </p:tgtEl>
                                        <p:attrNameLst>
                                          <p:attrName>ppt_x</p:attrName>
                                        </p:attrNameLst>
                                      </p:cBhvr>
                                      <p:tavLst>
                                        <p:tav tm="0">
                                          <p:val>
                                            <p:strVal val="#ppt_x"/>
                                          </p:val>
                                        </p:tav>
                                        <p:tav tm="100000">
                                          <p:val>
                                            <p:strVal val="#ppt_x"/>
                                          </p:val>
                                        </p:tav>
                                      </p:tavLst>
                                    </p:anim>
                                    <p:anim calcmode="lin" valueType="num">
                                      <p:cBhvr>
                                        <p:cTn id="31" dur="1000" fill="hold"/>
                                        <p:tgtEl>
                                          <p:spTgt spid="2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1000"/>
                                        <p:tgtEl>
                                          <p:spTgt spid="24"/>
                                        </p:tgtEl>
                                      </p:cBhvr>
                                    </p:animEffect>
                                    <p:anim calcmode="lin" valueType="num">
                                      <p:cBhvr>
                                        <p:cTn id="35" dur="1000" fill="hold"/>
                                        <p:tgtEl>
                                          <p:spTgt spid="24"/>
                                        </p:tgtEl>
                                        <p:attrNameLst>
                                          <p:attrName>ppt_x</p:attrName>
                                        </p:attrNameLst>
                                      </p:cBhvr>
                                      <p:tavLst>
                                        <p:tav tm="0">
                                          <p:val>
                                            <p:strVal val="#ppt_x"/>
                                          </p:val>
                                        </p:tav>
                                        <p:tav tm="100000">
                                          <p:val>
                                            <p:strVal val="#ppt_x"/>
                                          </p:val>
                                        </p:tav>
                                      </p:tavLst>
                                    </p:anim>
                                    <p:anim calcmode="lin" valueType="num">
                                      <p:cBhvr>
                                        <p:cTn id="36" dur="1000" fill="hold"/>
                                        <p:tgtEl>
                                          <p:spTgt spid="24"/>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1000"/>
                                        <p:tgtEl>
                                          <p:spTgt spid="25"/>
                                        </p:tgtEl>
                                      </p:cBhvr>
                                    </p:animEffect>
                                    <p:anim calcmode="lin" valueType="num">
                                      <p:cBhvr>
                                        <p:cTn id="40" dur="1000" fill="hold"/>
                                        <p:tgtEl>
                                          <p:spTgt spid="25"/>
                                        </p:tgtEl>
                                        <p:attrNameLst>
                                          <p:attrName>ppt_x</p:attrName>
                                        </p:attrNameLst>
                                      </p:cBhvr>
                                      <p:tavLst>
                                        <p:tav tm="0">
                                          <p:val>
                                            <p:strVal val="#ppt_x"/>
                                          </p:val>
                                        </p:tav>
                                        <p:tav tm="100000">
                                          <p:val>
                                            <p:strVal val="#ppt_x"/>
                                          </p:val>
                                        </p:tav>
                                      </p:tavLst>
                                    </p:anim>
                                    <p:anim calcmode="lin" valueType="num">
                                      <p:cBhvr>
                                        <p:cTn id="4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 grpId="0"/>
      <p:bldP spid="18" grpId="0"/>
      <p:bldP spid="21" grpId="0"/>
      <p:bldP spid="24" grpId="0"/>
      <p:bldP spid="51" grpId="0" animBg="1"/>
      <p:bldP spid="54"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444539"/>
            <a:ext cx="12191657" cy="8134766"/>
          </a:xfrm>
          <a:prstGeom prst="rect">
            <a:avLst/>
          </a:prstGeom>
        </p:spPr>
      </p:pic>
      <p:sp>
        <p:nvSpPr>
          <p:cNvPr id="5" name="矩形 4"/>
          <p:cNvSpPr/>
          <p:nvPr/>
        </p:nvSpPr>
        <p:spPr>
          <a:xfrm>
            <a:off x="-343" y="257364"/>
            <a:ext cx="12192000" cy="6858000"/>
          </a:xfrm>
          <a:prstGeom prst="rect">
            <a:avLst/>
          </a:prstGeom>
          <a:gradFill>
            <a:gsLst>
              <a:gs pos="0">
                <a:srgbClr val="15234F">
                  <a:alpha val="0"/>
                </a:srgbClr>
              </a:gs>
              <a:gs pos="100000">
                <a:srgbClr val="15234F">
                  <a:alpha val="9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2867596" y="0"/>
            <a:ext cx="6241670" cy="5016500"/>
          </a:xfrm>
          <a:custGeom>
            <a:avLst/>
            <a:gdLst>
              <a:gd name="connsiteX0" fmla="*/ 2221808 w 6241670"/>
              <a:gd name="connsiteY0" fmla="*/ 0 h 5016500"/>
              <a:gd name="connsiteX1" fmla="*/ 3679362 w 6241670"/>
              <a:gd name="connsiteY1" fmla="*/ 0 h 5016500"/>
              <a:gd name="connsiteX2" fmla="*/ 4784116 w 6241670"/>
              <a:gd name="connsiteY2" fmla="*/ 0 h 5016500"/>
              <a:gd name="connsiteX3" fmla="*/ 6241670 w 6241670"/>
              <a:gd name="connsiteY3" fmla="*/ 0 h 5016500"/>
              <a:gd name="connsiteX4" fmla="*/ 4019862 w 6241670"/>
              <a:gd name="connsiteY4" fmla="*/ 5016500 h 5016500"/>
              <a:gd name="connsiteX5" fmla="*/ 2562308 w 6241670"/>
              <a:gd name="connsiteY5" fmla="*/ 5016500 h 5016500"/>
              <a:gd name="connsiteX6" fmla="*/ 1457554 w 6241670"/>
              <a:gd name="connsiteY6" fmla="*/ 5016500 h 5016500"/>
              <a:gd name="connsiteX7" fmla="*/ 0 w 6241670"/>
              <a:gd name="connsiteY7" fmla="*/ 5016500 h 501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1670" h="5016500">
                <a:moveTo>
                  <a:pt x="2221808" y="0"/>
                </a:moveTo>
                <a:lnTo>
                  <a:pt x="3679362" y="0"/>
                </a:lnTo>
                <a:lnTo>
                  <a:pt x="4784116" y="0"/>
                </a:lnTo>
                <a:lnTo>
                  <a:pt x="6241670" y="0"/>
                </a:lnTo>
                <a:lnTo>
                  <a:pt x="4019862" y="5016500"/>
                </a:lnTo>
                <a:lnTo>
                  <a:pt x="2562308" y="5016500"/>
                </a:lnTo>
                <a:lnTo>
                  <a:pt x="1457554" y="5016500"/>
                </a:lnTo>
                <a:lnTo>
                  <a:pt x="0" y="5016500"/>
                </a:lnTo>
                <a:close/>
              </a:path>
            </a:pathLst>
          </a:custGeom>
          <a:gradFill>
            <a:gsLst>
              <a:gs pos="900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p:nvSpPr>
        <p:spPr>
          <a:xfrm>
            <a:off x="1681814" y="0"/>
            <a:ext cx="1984909" cy="245089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gradFill>
            <a:gsLst>
              <a:gs pos="25800">
                <a:srgbClr val="45BDD6">
                  <a:alpha val="57000"/>
                </a:srgbClr>
              </a:gs>
              <a:gs pos="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064933" y="3068846"/>
            <a:ext cx="6062133" cy="1107996"/>
          </a:xfrm>
          <a:prstGeom prst="rect">
            <a:avLst/>
          </a:prstGeom>
          <a:noFill/>
        </p:spPr>
        <p:txBody>
          <a:bodyPr wrap="square" rtlCol="0">
            <a:spAutoFit/>
            <a:scene3d>
              <a:camera prst="orthographicFront"/>
              <a:lightRig rig="threePt" dir="t"/>
            </a:scene3d>
            <a:sp3d contourW="12700"/>
          </a:bodyPr>
          <a:lstStyle/>
          <a:p>
            <a:pPr algn="ctr"/>
            <a:r>
              <a:rPr lang="en-US" altLang="zh-CN"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01.</a:t>
            </a:r>
            <a:r>
              <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办学优势</a:t>
            </a:r>
            <a:endPar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6" name="Oval 1"/>
          <p:cNvSpPr/>
          <p:nvPr/>
        </p:nvSpPr>
        <p:spPr>
          <a:xfrm flipH="1">
            <a:off x="342899"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Oval 13"/>
          <p:cNvSpPr/>
          <p:nvPr/>
        </p:nvSpPr>
        <p:spPr>
          <a:xfrm>
            <a:off x="825498"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任意多边形: 形状 22"/>
          <p:cNvSpPr/>
          <p:nvPr/>
        </p:nvSpPr>
        <p:spPr>
          <a:xfrm>
            <a:off x="-1365869" y="-643354"/>
            <a:ext cx="2423829" cy="2992854"/>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任意多边形: 形状 23"/>
          <p:cNvSpPr/>
          <p:nvPr/>
        </p:nvSpPr>
        <p:spPr>
          <a:xfrm>
            <a:off x="10907445" y="4626578"/>
            <a:ext cx="2569110" cy="317224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任意多边形: 形状 26"/>
          <p:cNvSpPr/>
          <p:nvPr/>
        </p:nvSpPr>
        <p:spPr>
          <a:xfrm>
            <a:off x="7905841" y="5052194"/>
            <a:ext cx="1967489" cy="1905405"/>
          </a:xfrm>
          <a:custGeom>
            <a:avLst/>
            <a:gdLst>
              <a:gd name="connsiteX0" fmla="*/ 876588 w 2043689"/>
              <a:gd name="connsiteY0" fmla="*/ 0 h 1979200"/>
              <a:gd name="connsiteX1" fmla="*/ 1317378 w 2043689"/>
              <a:gd name="connsiteY1" fmla="*/ 0 h 1979200"/>
              <a:gd name="connsiteX2" fmla="*/ 1602899 w 2043689"/>
              <a:gd name="connsiteY2" fmla="*/ 0 h 1979200"/>
              <a:gd name="connsiteX3" fmla="*/ 2043689 w 2043689"/>
              <a:gd name="connsiteY3" fmla="*/ 0 h 1979200"/>
              <a:gd name="connsiteX4" fmla="*/ 1167101 w 2043689"/>
              <a:gd name="connsiteY4" fmla="*/ 1979200 h 1979200"/>
              <a:gd name="connsiteX5" fmla="*/ 726311 w 2043689"/>
              <a:gd name="connsiteY5" fmla="*/ 1979200 h 1979200"/>
              <a:gd name="connsiteX6" fmla="*/ 440790 w 2043689"/>
              <a:gd name="connsiteY6" fmla="*/ 1979200 h 1979200"/>
              <a:gd name="connsiteX7" fmla="*/ 0 w 2043689"/>
              <a:gd name="connsiteY7" fmla="*/ 1979200 h 197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3689" h="1979200">
                <a:moveTo>
                  <a:pt x="876588" y="0"/>
                </a:moveTo>
                <a:lnTo>
                  <a:pt x="1317378" y="0"/>
                </a:lnTo>
                <a:lnTo>
                  <a:pt x="1602899" y="0"/>
                </a:lnTo>
                <a:lnTo>
                  <a:pt x="2043689" y="0"/>
                </a:lnTo>
                <a:lnTo>
                  <a:pt x="1167101" y="1979200"/>
                </a:lnTo>
                <a:lnTo>
                  <a:pt x="726311" y="1979200"/>
                </a:lnTo>
                <a:lnTo>
                  <a:pt x="440790" y="1979200"/>
                </a:lnTo>
                <a:lnTo>
                  <a:pt x="0" y="1979200"/>
                </a:lnTo>
                <a:close/>
              </a:path>
            </a:pathLst>
          </a:custGeom>
          <a:gradFill>
            <a:gsLst>
              <a:gs pos="0">
                <a:srgbClr val="45BDD6">
                  <a:alpha val="72000"/>
                </a:srgbClr>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0-#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500" fill="hold"/>
                                        <p:tgtEl>
                                          <p:spTgt spid="27"/>
                                        </p:tgtEl>
                                        <p:attrNameLst>
                                          <p:attrName>ppt_x</p:attrName>
                                        </p:attrNameLst>
                                      </p:cBhvr>
                                      <p:tavLst>
                                        <p:tav tm="0">
                                          <p:val>
                                            <p:strVal val="#ppt_x"/>
                                          </p:val>
                                        </p:tav>
                                        <p:tav tm="100000">
                                          <p:val>
                                            <p:strVal val="#ppt_x"/>
                                          </p:val>
                                        </p:tav>
                                      </p:tavLst>
                                    </p:anim>
                                    <p:anim calcmode="lin" valueType="num">
                                      <p:cBhvr additive="base">
                                        <p:cTn id="21" dur="500" fill="hold"/>
                                        <p:tgtEl>
                                          <p:spTgt spid="27"/>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up)">
                                      <p:cBhvr>
                                        <p:cTn id="25" dur="500"/>
                                        <p:tgtEl>
                                          <p:spTgt spid="22"/>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8" grpId="0" animBg="1"/>
      <p:bldP spid="13" grpId="0"/>
      <p:bldP spid="23" grpId="0" animBg="1"/>
      <p:bldP spid="24"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任意多边形: 形状 26"/>
          <p:cNvSpPr/>
          <p:nvPr/>
        </p:nvSpPr>
        <p:spPr>
          <a:xfrm>
            <a:off x="4113032"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任意多边形: 形状 27"/>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5" name="组合 34"/>
          <p:cNvGrpSpPr/>
          <p:nvPr/>
        </p:nvGrpSpPr>
        <p:grpSpPr bwMode="auto">
          <a:xfrm>
            <a:off x="834437" y="3471543"/>
            <a:ext cx="11106150" cy="3484562"/>
            <a:chOff x="571500" y="2568238"/>
            <a:chExt cx="8330373" cy="2613361"/>
          </a:xfrm>
        </p:grpSpPr>
        <p:sp>
          <p:nvSpPr>
            <p:cNvPr id="36" name="任意多边形 35"/>
            <p:cNvSpPr/>
            <p:nvPr/>
          </p:nvSpPr>
          <p:spPr>
            <a:xfrm>
              <a:off x="571500" y="2568238"/>
              <a:ext cx="8000540" cy="2613361"/>
            </a:xfrm>
            <a:custGeom>
              <a:avLst/>
              <a:gdLst>
                <a:gd name="connsiteX0" fmla="*/ 0 w 8001000"/>
                <a:gd name="connsiteY0" fmla="*/ 2542126 h 2542126"/>
                <a:gd name="connsiteX1" fmla="*/ 1009650 w 8001000"/>
                <a:gd name="connsiteY1" fmla="*/ 1265776 h 2542126"/>
                <a:gd name="connsiteX2" fmla="*/ 2400300 w 8001000"/>
                <a:gd name="connsiteY2" fmla="*/ 446626 h 2542126"/>
                <a:gd name="connsiteX3" fmla="*/ 4114800 w 8001000"/>
                <a:gd name="connsiteY3" fmla="*/ 27526 h 2542126"/>
                <a:gd name="connsiteX4" fmla="*/ 6324600 w 8001000"/>
                <a:gd name="connsiteY4" fmla="*/ 103726 h 2542126"/>
                <a:gd name="connsiteX5" fmla="*/ 8001000 w 8001000"/>
                <a:gd name="connsiteY5" fmla="*/ 618076 h 2542126"/>
                <a:gd name="connsiteX0-1" fmla="*/ 0 w 8001000"/>
                <a:gd name="connsiteY0-2" fmla="*/ 2542126 h 2542126"/>
                <a:gd name="connsiteX1-3" fmla="*/ 1066800 w 8001000"/>
                <a:gd name="connsiteY1-4" fmla="*/ 1284826 h 2542126"/>
                <a:gd name="connsiteX2-5" fmla="*/ 2400300 w 8001000"/>
                <a:gd name="connsiteY2-6" fmla="*/ 446626 h 2542126"/>
                <a:gd name="connsiteX3-7" fmla="*/ 4114800 w 8001000"/>
                <a:gd name="connsiteY3-8" fmla="*/ 27526 h 2542126"/>
                <a:gd name="connsiteX4-9" fmla="*/ 6324600 w 8001000"/>
                <a:gd name="connsiteY4-10" fmla="*/ 103726 h 2542126"/>
                <a:gd name="connsiteX5-11" fmla="*/ 8001000 w 8001000"/>
                <a:gd name="connsiteY5-12" fmla="*/ 618076 h 2542126"/>
                <a:gd name="connsiteX0-13" fmla="*/ 0 w 8001000"/>
                <a:gd name="connsiteY0-14" fmla="*/ 2600659 h 2600659"/>
                <a:gd name="connsiteX1-15" fmla="*/ 1066800 w 8001000"/>
                <a:gd name="connsiteY1-16" fmla="*/ 1343359 h 2600659"/>
                <a:gd name="connsiteX2-17" fmla="*/ 2400300 w 8001000"/>
                <a:gd name="connsiteY2-18" fmla="*/ 505159 h 2600659"/>
                <a:gd name="connsiteX3-19" fmla="*/ 4191000 w 8001000"/>
                <a:gd name="connsiteY3-20" fmla="*/ 17479 h 2600659"/>
                <a:gd name="connsiteX4-21" fmla="*/ 6324600 w 8001000"/>
                <a:gd name="connsiteY4-22" fmla="*/ 162259 h 2600659"/>
                <a:gd name="connsiteX5-23" fmla="*/ 8001000 w 8001000"/>
                <a:gd name="connsiteY5-24" fmla="*/ 676609 h 2600659"/>
                <a:gd name="connsiteX0-25" fmla="*/ 0 w 8001000"/>
                <a:gd name="connsiteY0-26" fmla="*/ 2613361 h 2613361"/>
                <a:gd name="connsiteX1-27" fmla="*/ 1066800 w 8001000"/>
                <a:gd name="connsiteY1-28" fmla="*/ 1356061 h 2613361"/>
                <a:gd name="connsiteX2-29" fmla="*/ 2400300 w 8001000"/>
                <a:gd name="connsiteY2-30" fmla="*/ 517861 h 2613361"/>
                <a:gd name="connsiteX3-31" fmla="*/ 4191000 w 8001000"/>
                <a:gd name="connsiteY3-32" fmla="*/ 30181 h 2613361"/>
                <a:gd name="connsiteX4-33" fmla="*/ 6339840 w 8001000"/>
                <a:gd name="connsiteY4-34" fmla="*/ 121621 h 2613361"/>
                <a:gd name="connsiteX5-35" fmla="*/ 8001000 w 8001000"/>
                <a:gd name="connsiteY5-36" fmla="*/ 689311 h 26133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001000" h="2613361">
                  <a:moveTo>
                    <a:pt x="0" y="2613361"/>
                  </a:moveTo>
                  <a:cubicBezTo>
                    <a:pt x="304800" y="2149811"/>
                    <a:pt x="666750" y="1705311"/>
                    <a:pt x="1066800" y="1356061"/>
                  </a:cubicBezTo>
                  <a:cubicBezTo>
                    <a:pt x="1466850" y="1006811"/>
                    <a:pt x="1879600" y="738841"/>
                    <a:pt x="2400300" y="517861"/>
                  </a:cubicBezTo>
                  <a:cubicBezTo>
                    <a:pt x="2921000" y="296881"/>
                    <a:pt x="3534410" y="96221"/>
                    <a:pt x="4191000" y="30181"/>
                  </a:cubicBezTo>
                  <a:cubicBezTo>
                    <a:pt x="4847590" y="-35859"/>
                    <a:pt x="5704840" y="11766"/>
                    <a:pt x="6339840" y="121621"/>
                  </a:cubicBezTo>
                  <a:cubicBezTo>
                    <a:pt x="6974840" y="231476"/>
                    <a:pt x="7486650" y="481348"/>
                    <a:pt x="8001000" y="689311"/>
                  </a:cubicBezTo>
                </a:path>
              </a:pathLst>
            </a:custGeom>
            <a:noFill/>
            <a:ln w="1270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latin typeface="3ds" panose="02000503020000020004" pitchFamily="2" charset="0"/>
                <a:ea typeface="微软雅黑" panose="020B0503020204020204" pitchFamily="34" charset="-122"/>
                <a:sym typeface="Arial" panose="020B0604020202020204" pitchFamily="34" charset="0"/>
              </a:endParaRPr>
            </a:p>
          </p:txBody>
        </p:sp>
        <p:cxnSp>
          <p:nvCxnSpPr>
            <p:cNvPr id="37" name="直接箭头连接符 36"/>
            <p:cNvCxnSpPr/>
            <p:nvPr/>
          </p:nvCxnSpPr>
          <p:spPr>
            <a:xfrm flipV="1">
              <a:off x="8513694" y="2709919"/>
              <a:ext cx="388179" cy="571487"/>
            </a:xfrm>
            <a:prstGeom prst="straightConnector1">
              <a:avLst/>
            </a:prstGeom>
            <a:ln w="127000">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8" name="组合 37"/>
          <p:cNvGrpSpPr/>
          <p:nvPr/>
        </p:nvGrpSpPr>
        <p:grpSpPr>
          <a:xfrm rot="18958258">
            <a:off x="1275024" y="5382730"/>
            <a:ext cx="951655" cy="496147"/>
            <a:chOff x="2903220" y="280488"/>
            <a:chExt cx="886334" cy="473892"/>
          </a:xfrm>
          <a:solidFill>
            <a:schemeClr val="accent2">
              <a:lumMod val="60000"/>
              <a:lumOff val="40000"/>
            </a:schemeClr>
          </a:solidFill>
        </p:grpSpPr>
        <p:sp>
          <p:nvSpPr>
            <p:cNvPr id="39" name="矩形 38"/>
            <p:cNvSpPr/>
            <p:nvPr/>
          </p:nvSpPr>
          <p:spPr>
            <a:xfrm>
              <a:off x="2903220" y="480234"/>
              <a:ext cx="886334" cy="27414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r>
                <a:rPr lang="en-US" altLang="zh-CN"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rPr>
                <a:t>1950</a:t>
              </a:r>
              <a:r>
                <a:rPr lang="zh-CN" altLang="zh-CN"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rPr>
                <a:t>年</a:t>
              </a:r>
              <a:endParaRPr lang="zh-CN" altLang="zh-CN"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0" name="等腰三角形 39"/>
            <p:cNvSpPr/>
            <p:nvPr/>
          </p:nvSpPr>
          <p:spPr>
            <a:xfrm>
              <a:off x="3089910" y="280488"/>
              <a:ext cx="373380" cy="26670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sz="1200" noProof="1">
                <a:latin typeface="3ds" panose="02000503020000020004" pitchFamily="2" charset="0"/>
                <a:ea typeface="微软雅黑" panose="020B0503020204020204" pitchFamily="34" charset="-122"/>
                <a:sym typeface="Arial" panose="020B0604020202020204" pitchFamily="34" charset="0"/>
              </a:endParaRPr>
            </a:p>
          </p:txBody>
        </p:sp>
      </p:grpSp>
      <p:grpSp>
        <p:nvGrpSpPr>
          <p:cNvPr id="41" name="组合 40"/>
          <p:cNvGrpSpPr/>
          <p:nvPr/>
        </p:nvGrpSpPr>
        <p:grpSpPr>
          <a:xfrm rot="8938009">
            <a:off x="3117262" y="4202909"/>
            <a:ext cx="871220" cy="499531"/>
            <a:chOff x="2903220" y="280488"/>
            <a:chExt cx="746760" cy="473892"/>
          </a:xfrm>
          <a:solidFill>
            <a:schemeClr val="accent2">
              <a:lumMod val="60000"/>
              <a:lumOff val="40000"/>
            </a:schemeClr>
          </a:solidFill>
        </p:grpSpPr>
        <p:sp>
          <p:nvSpPr>
            <p:cNvPr id="42" name="矩形 41"/>
            <p:cNvSpPr/>
            <p:nvPr/>
          </p:nvSpPr>
          <p:spPr>
            <a:xfrm rot="11040000">
              <a:off x="2903220" y="480060"/>
              <a:ext cx="74676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r>
                <a:rPr lang="en-US" altLang="zh-CN" sz="1500" b="1" noProof="1">
                  <a:solidFill>
                    <a:srgbClr val="FF0000"/>
                  </a:solidFill>
                  <a:latin typeface="微软雅黑" panose="020B0503020204020204" pitchFamily="34" charset="-122"/>
                  <a:ea typeface="微软雅黑" panose="020B0503020204020204" pitchFamily="34" charset="-122"/>
                  <a:sym typeface="Arial" panose="020B0604020202020204" pitchFamily="34" charset="0"/>
                </a:rPr>
                <a:t>1962</a:t>
              </a:r>
              <a:r>
                <a:rPr lang="zh-CN" altLang="en-US" sz="1500" b="1" noProof="1">
                  <a:solidFill>
                    <a:srgbClr val="FF0000"/>
                  </a:solidFill>
                  <a:latin typeface="微软雅黑" panose="020B0503020204020204" pitchFamily="34" charset="-122"/>
                  <a:ea typeface="微软雅黑" panose="020B0503020204020204" pitchFamily="34" charset="-122"/>
                  <a:sym typeface="Arial" panose="020B0604020202020204" pitchFamily="34" charset="0"/>
                </a:rPr>
                <a:t>年</a:t>
              </a:r>
              <a:endParaRPr lang="zh-CN" altLang="en-US" sz="1500" b="1" noProof="1">
                <a:solidFill>
                  <a:srgbClr val="FF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3" name="等腰三角形 42"/>
            <p:cNvSpPr/>
            <p:nvPr/>
          </p:nvSpPr>
          <p:spPr>
            <a:xfrm>
              <a:off x="3089910" y="280488"/>
              <a:ext cx="373380" cy="26670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sz="100" noProof="1">
                <a:latin typeface="3ds" panose="02000503020000020004" pitchFamily="2" charset="0"/>
                <a:ea typeface="微软雅黑" panose="020B0503020204020204" pitchFamily="34" charset="-122"/>
                <a:sym typeface="Arial" panose="020B0604020202020204" pitchFamily="34" charset="0"/>
              </a:endParaRPr>
            </a:p>
          </p:txBody>
        </p:sp>
      </p:grpSp>
      <p:grpSp>
        <p:nvGrpSpPr>
          <p:cNvPr id="44" name="组合 43"/>
          <p:cNvGrpSpPr/>
          <p:nvPr/>
        </p:nvGrpSpPr>
        <p:grpSpPr>
          <a:xfrm rot="20658534">
            <a:off x="4912179" y="3290997"/>
            <a:ext cx="1016000" cy="581660"/>
            <a:chOff x="2741145" y="280488"/>
            <a:chExt cx="908831" cy="473892"/>
          </a:xfrm>
          <a:solidFill>
            <a:schemeClr val="accent2">
              <a:lumMod val="60000"/>
              <a:lumOff val="40000"/>
            </a:schemeClr>
          </a:solidFill>
        </p:grpSpPr>
        <p:sp>
          <p:nvSpPr>
            <p:cNvPr id="45" name="矩形 44"/>
            <p:cNvSpPr/>
            <p:nvPr/>
          </p:nvSpPr>
          <p:spPr>
            <a:xfrm>
              <a:off x="2741145" y="479840"/>
              <a:ext cx="908831" cy="274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r>
                <a:rPr lang="en-US"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rPr>
                <a:t>1964</a:t>
              </a:r>
              <a:r>
                <a:rPr lang="zh-CN" altLang="en-US"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rPr>
                <a:t>年</a:t>
              </a:r>
              <a:endParaRPr lang="zh-CN" altLang="en-US"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6" name="等腰三角形 45"/>
            <p:cNvSpPr/>
            <p:nvPr/>
          </p:nvSpPr>
          <p:spPr>
            <a:xfrm>
              <a:off x="3089910" y="280488"/>
              <a:ext cx="373380" cy="26670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latin typeface="3ds" panose="02000503020000020004" pitchFamily="2" charset="0"/>
                <a:ea typeface="微软雅黑" panose="020B0503020204020204" pitchFamily="34" charset="-122"/>
                <a:sym typeface="Arial" panose="020B0604020202020204" pitchFamily="34" charset="0"/>
              </a:endParaRPr>
            </a:p>
          </p:txBody>
        </p:sp>
      </p:grpSp>
      <p:grpSp>
        <p:nvGrpSpPr>
          <p:cNvPr id="47" name="组合 46"/>
          <p:cNvGrpSpPr/>
          <p:nvPr/>
        </p:nvGrpSpPr>
        <p:grpSpPr>
          <a:xfrm rot="10800000">
            <a:off x="7170420" y="3261464"/>
            <a:ext cx="928793" cy="504613"/>
            <a:chOff x="2742787" y="280488"/>
            <a:chExt cx="907192" cy="473892"/>
          </a:xfrm>
          <a:solidFill>
            <a:schemeClr val="accent2">
              <a:lumMod val="60000"/>
              <a:lumOff val="40000"/>
            </a:schemeClr>
          </a:solidFill>
        </p:grpSpPr>
        <p:sp>
          <p:nvSpPr>
            <p:cNvPr id="48" name="矩形 47"/>
            <p:cNvSpPr/>
            <p:nvPr/>
          </p:nvSpPr>
          <p:spPr>
            <a:xfrm rot="10800000">
              <a:off x="2742787" y="480063"/>
              <a:ext cx="907192" cy="2743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r>
                <a:rPr lang="en-US"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rPr>
                <a:t>1996</a:t>
              </a:r>
              <a:r>
                <a:rPr lang="zh-CN" altLang="en-US"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rPr>
                <a:t>年</a:t>
              </a:r>
              <a:endParaRPr lang="zh-CN" altLang="en-US"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9" name="等腰三角形 48"/>
            <p:cNvSpPr/>
            <p:nvPr/>
          </p:nvSpPr>
          <p:spPr>
            <a:xfrm>
              <a:off x="3089910" y="280488"/>
              <a:ext cx="373380" cy="26670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sz="400" b="1" noProof="1">
                <a:latin typeface="3ds" panose="02000503020000020004" pitchFamily="2" charset="0"/>
                <a:ea typeface="微软雅黑" panose="020B0503020204020204" pitchFamily="34" charset="-122"/>
                <a:sym typeface="Arial" panose="020B0604020202020204" pitchFamily="34" charset="0"/>
              </a:endParaRPr>
            </a:p>
          </p:txBody>
        </p:sp>
      </p:grpSp>
      <p:grpSp>
        <p:nvGrpSpPr>
          <p:cNvPr id="50" name="组合 49"/>
          <p:cNvGrpSpPr/>
          <p:nvPr/>
        </p:nvGrpSpPr>
        <p:grpSpPr>
          <a:xfrm rot="1114117">
            <a:off x="9536148" y="3401596"/>
            <a:ext cx="977053" cy="528195"/>
            <a:chOff x="2903220" y="284367"/>
            <a:chExt cx="870466" cy="470013"/>
          </a:xfrm>
          <a:solidFill>
            <a:schemeClr val="accent2">
              <a:lumMod val="60000"/>
              <a:lumOff val="40000"/>
            </a:schemeClr>
          </a:solidFill>
        </p:grpSpPr>
        <p:sp>
          <p:nvSpPr>
            <p:cNvPr id="51" name="矩形 50"/>
            <p:cNvSpPr/>
            <p:nvPr/>
          </p:nvSpPr>
          <p:spPr>
            <a:xfrm>
              <a:off x="2903220" y="480140"/>
              <a:ext cx="870466" cy="2742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r>
                <a:rPr lang="en-US"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rPr>
                <a:t>2002</a:t>
              </a:r>
              <a:r>
                <a:rPr lang="zh-CN" altLang="en-US"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rPr>
                <a:t>年</a:t>
              </a:r>
              <a:endParaRPr lang="zh-CN" altLang="en-US" sz="1500" b="1" noProof="1">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 name="等腰三角形 51"/>
            <p:cNvSpPr/>
            <p:nvPr/>
          </p:nvSpPr>
          <p:spPr>
            <a:xfrm>
              <a:off x="3056190" y="284367"/>
              <a:ext cx="373380" cy="26670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b="1" noProof="1">
                <a:latin typeface="3ds" panose="02000503020000020004" pitchFamily="2" charset="0"/>
                <a:ea typeface="微软雅黑" panose="020B0503020204020204" pitchFamily="34" charset="-122"/>
                <a:sym typeface="Arial" panose="020B0604020202020204" pitchFamily="34" charset="0"/>
              </a:endParaRPr>
            </a:p>
          </p:txBody>
        </p:sp>
      </p:grpSp>
      <p:sp>
        <p:nvSpPr>
          <p:cNvPr id="53" name="TextBox 54"/>
          <p:cNvSpPr txBox="1">
            <a:spLocks noChangeArrowheads="1"/>
          </p:cNvSpPr>
          <p:nvPr/>
        </p:nvSpPr>
        <p:spPr bwMode="auto">
          <a:xfrm>
            <a:off x="6607384" y="2407758"/>
            <a:ext cx="21125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rPr>
              <a:t>更名：</a:t>
            </a:r>
            <a:endParaRPr lang="en-US" altLang="zh-CN"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endParaRPr>
          </a:p>
          <a:p>
            <a:pPr>
              <a:lnSpc>
                <a:spcPct val="100000"/>
              </a:lnSpc>
              <a:spcBef>
                <a:spcPct val="0"/>
              </a:spcBef>
              <a:buFontTx/>
              <a:buNone/>
            </a:pPr>
            <a:r>
              <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rPr>
              <a:t>北京语言文化大学</a:t>
            </a:r>
            <a:endPar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endParaRPr>
          </a:p>
        </p:txBody>
      </p:sp>
      <p:sp>
        <p:nvSpPr>
          <p:cNvPr id="54" name="TextBox 55"/>
          <p:cNvSpPr txBox="1">
            <a:spLocks noChangeArrowheads="1"/>
          </p:cNvSpPr>
          <p:nvPr/>
        </p:nvSpPr>
        <p:spPr bwMode="auto">
          <a:xfrm rot="19755267">
            <a:off x="2014707" y="3169630"/>
            <a:ext cx="203401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rPr>
              <a:t>建立：</a:t>
            </a:r>
            <a:endParaRPr lang="en-US" altLang="zh-CN"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endParaRPr>
          </a:p>
          <a:p>
            <a:pPr>
              <a:lnSpc>
                <a:spcPct val="100000"/>
              </a:lnSpc>
              <a:spcBef>
                <a:spcPct val="0"/>
              </a:spcBef>
              <a:buFontTx/>
              <a:buNone/>
            </a:pPr>
            <a:r>
              <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rPr>
              <a:t>外国留学生高等预备学校</a:t>
            </a:r>
            <a:endPar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endParaRPr>
          </a:p>
        </p:txBody>
      </p:sp>
      <p:sp>
        <p:nvSpPr>
          <p:cNvPr id="55" name="TextBox 57"/>
          <p:cNvSpPr txBox="1">
            <a:spLocks noChangeArrowheads="1"/>
          </p:cNvSpPr>
          <p:nvPr/>
        </p:nvSpPr>
        <p:spPr bwMode="auto">
          <a:xfrm rot="-900000">
            <a:off x="4885444" y="3954444"/>
            <a:ext cx="187163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rPr>
              <a:t>定名：</a:t>
            </a:r>
            <a:endParaRPr lang="en-US" altLang="zh-CN"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endParaRPr>
          </a:p>
          <a:p>
            <a:pPr>
              <a:lnSpc>
                <a:spcPct val="100000"/>
              </a:lnSpc>
              <a:spcBef>
                <a:spcPct val="0"/>
              </a:spcBef>
              <a:buFontTx/>
              <a:buNone/>
            </a:pPr>
            <a:r>
              <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rPr>
              <a:t>北京语言学院</a:t>
            </a:r>
            <a:endPar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endParaRPr>
          </a:p>
        </p:txBody>
      </p:sp>
      <p:sp>
        <p:nvSpPr>
          <p:cNvPr id="56" name="TextBox 58"/>
          <p:cNvSpPr txBox="1">
            <a:spLocks noChangeArrowheads="1"/>
          </p:cNvSpPr>
          <p:nvPr/>
        </p:nvSpPr>
        <p:spPr bwMode="auto">
          <a:xfrm rot="1164214">
            <a:off x="9070489" y="4141748"/>
            <a:ext cx="18755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rPr>
              <a:t>校名简化：</a:t>
            </a:r>
            <a:endParaRPr lang="en-US" altLang="zh-CN"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endParaRPr>
          </a:p>
          <a:p>
            <a:pPr>
              <a:lnSpc>
                <a:spcPct val="100000"/>
              </a:lnSpc>
              <a:spcBef>
                <a:spcPct val="0"/>
              </a:spcBef>
              <a:buFontTx/>
              <a:buNone/>
            </a:pPr>
            <a:r>
              <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rPr>
              <a:t>北京语言大学</a:t>
            </a:r>
            <a:endPar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endParaRPr>
          </a:p>
        </p:txBody>
      </p:sp>
      <p:sp>
        <p:nvSpPr>
          <p:cNvPr id="57" name="椭圆 56"/>
          <p:cNvSpPr/>
          <p:nvPr/>
        </p:nvSpPr>
        <p:spPr>
          <a:xfrm>
            <a:off x="294630" y="3845541"/>
            <a:ext cx="1655763" cy="1655762"/>
          </a:xfrm>
          <a:prstGeom prst="ellipse">
            <a:avLst/>
          </a:prstGeom>
          <a:blipFill rotWithShape="1">
            <a:blip r:embed="rId1" cstate="print"/>
            <a:stretch>
              <a:fillRect/>
            </a:stretch>
          </a:blipFill>
          <a:ln w="28575" cmpd="sng">
            <a:solidFill>
              <a:srgbClr val="3890C2"/>
            </a:solidFill>
            <a:prstDash val="solid"/>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latin typeface="3ds" panose="02000503020000020004" pitchFamily="2" charset="0"/>
              <a:ea typeface="微软雅黑" panose="020B0503020204020204" pitchFamily="34" charset="-122"/>
              <a:sym typeface="+mn-ea"/>
            </a:endParaRPr>
          </a:p>
        </p:txBody>
      </p:sp>
      <p:sp>
        <p:nvSpPr>
          <p:cNvPr id="58" name="椭圆 57"/>
          <p:cNvSpPr/>
          <p:nvPr/>
        </p:nvSpPr>
        <p:spPr>
          <a:xfrm>
            <a:off x="3146698" y="4648492"/>
            <a:ext cx="2081118" cy="1908568"/>
          </a:xfrm>
          <a:prstGeom prst="ellipse">
            <a:avLst/>
          </a:prstGeom>
          <a:blipFill rotWithShape="1">
            <a:blip r:embed="rId2" cstate="email"/>
            <a:stretch>
              <a:fillRect/>
            </a:stretch>
          </a:blipFill>
          <a:ln w="28575" cmpd="sng">
            <a:solidFill>
              <a:srgbClr val="3890C2"/>
            </a:solidFill>
            <a:prstDash val="solid"/>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latin typeface="3ds" panose="02000503020000020004" pitchFamily="2" charset="0"/>
              <a:ea typeface="微软雅黑" panose="020B0503020204020204" pitchFamily="34" charset="-122"/>
              <a:sym typeface="+mn-ea"/>
            </a:endParaRPr>
          </a:p>
        </p:txBody>
      </p:sp>
      <p:sp>
        <p:nvSpPr>
          <p:cNvPr id="59" name="椭圆 58"/>
          <p:cNvSpPr/>
          <p:nvPr/>
        </p:nvSpPr>
        <p:spPr>
          <a:xfrm>
            <a:off x="3759200" y="1425598"/>
            <a:ext cx="2166839" cy="1823810"/>
          </a:xfrm>
          <a:prstGeom prst="ellipse">
            <a:avLst/>
          </a:prstGeom>
          <a:blipFill rotWithShape="1">
            <a:blip r:embed="rId3" cstate="email"/>
            <a:stretch>
              <a:fillRect/>
            </a:stretch>
          </a:blipFill>
          <a:ln w="28575" cmpd="sng">
            <a:solidFill>
              <a:srgbClr val="3890C2"/>
            </a:solidFill>
            <a:prstDash val="solid"/>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latin typeface="3ds" panose="02000503020000020004" pitchFamily="2" charset="0"/>
              <a:ea typeface="微软雅黑" panose="020B0503020204020204" pitchFamily="34" charset="-122"/>
              <a:sym typeface="+mn-ea"/>
            </a:endParaRPr>
          </a:p>
        </p:txBody>
      </p:sp>
      <p:sp>
        <p:nvSpPr>
          <p:cNvPr id="60" name="椭圆 59"/>
          <p:cNvSpPr/>
          <p:nvPr/>
        </p:nvSpPr>
        <p:spPr>
          <a:xfrm>
            <a:off x="6442803" y="3826612"/>
            <a:ext cx="2003697" cy="1956208"/>
          </a:xfrm>
          <a:prstGeom prst="ellipse">
            <a:avLst/>
          </a:prstGeom>
          <a:blipFill rotWithShape="1">
            <a:blip r:embed="rId4" cstate="email"/>
            <a:stretch>
              <a:fillRect/>
            </a:stretch>
          </a:blipFill>
          <a:ln w="28575" cmpd="sng">
            <a:solidFill>
              <a:srgbClr val="3890C2"/>
            </a:solidFill>
            <a:prstDash val="solid"/>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latin typeface="3ds" panose="02000503020000020004" pitchFamily="2" charset="0"/>
              <a:ea typeface="微软雅黑" panose="020B0503020204020204" pitchFamily="34" charset="-122"/>
              <a:sym typeface="+mn-ea"/>
            </a:endParaRPr>
          </a:p>
        </p:txBody>
      </p:sp>
      <p:sp>
        <p:nvSpPr>
          <p:cNvPr id="61" name="椭圆 60"/>
          <p:cNvSpPr/>
          <p:nvPr/>
        </p:nvSpPr>
        <p:spPr>
          <a:xfrm>
            <a:off x="9033251" y="1188720"/>
            <a:ext cx="2255476" cy="2032169"/>
          </a:xfrm>
          <a:prstGeom prst="ellipse">
            <a:avLst/>
          </a:prstGeom>
          <a:blipFill rotWithShape="1">
            <a:blip r:embed="rId5" cstate="hqprint"/>
            <a:stretch>
              <a:fillRect/>
            </a:stretch>
          </a:blipFill>
          <a:ln w="28575" cmpd="sng">
            <a:solidFill>
              <a:srgbClr val="3890C2"/>
            </a:solidFill>
            <a:prstDash val="solid"/>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latin typeface="3ds" panose="02000503020000020004" pitchFamily="2" charset="0"/>
              <a:ea typeface="微软雅黑" panose="020B0503020204020204" pitchFamily="34" charset="-122"/>
              <a:sym typeface="+mn-ea"/>
            </a:endParaRPr>
          </a:p>
        </p:txBody>
      </p:sp>
      <p:sp>
        <p:nvSpPr>
          <p:cNvPr id="62" name="矩形 36"/>
          <p:cNvSpPr>
            <a:spLocks noChangeArrowheads="1"/>
          </p:cNvSpPr>
          <p:nvPr/>
        </p:nvSpPr>
        <p:spPr bwMode="auto">
          <a:xfrm>
            <a:off x="8330407" y="5700799"/>
            <a:ext cx="3603624" cy="857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zh-CN" altLang="en-US" sz="2400" b="1" i="1" spc="300" dirty="0">
                <a:solidFill>
                  <a:srgbClr val="FF9933"/>
                </a:solidFill>
                <a:latin typeface="黑体" panose="02010609060101010101" pitchFamily="49" charset="-122"/>
                <a:ea typeface="黑体" panose="02010609060101010101" pitchFamily="49" charset="-122"/>
              </a:rPr>
              <a:t>教育部直属</a:t>
            </a:r>
            <a:r>
              <a:rPr lang="zh-CN" altLang="en-US" sz="2400" b="1" i="1" spc="300" dirty="0">
                <a:solidFill>
                  <a:srgbClr val="24C6DB"/>
                </a:solidFill>
                <a:latin typeface="黑体" panose="02010609060101010101" pitchFamily="49" charset="-122"/>
                <a:ea typeface="黑体" panose="02010609060101010101" pitchFamily="49" charset="-122"/>
              </a:rPr>
              <a:t>高等院校</a:t>
            </a:r>
            <a:endParaRPr lang="en-US" altLang="zh-CN" sz="2400" b="1" i="1" spc="300" dirty="0">
              <a:solidFill>
                <a:srgbClr val="24C6DB"/>
              </a:solidFill>
              <a:latin typeface="黑体" panose="02010609060101010101" pitchFamily="49" charset="-122"/>
              <a:ea typeface="黑体" panose="02010609060101010101" pitchFamily="49" charset="-122"/>
            </a:endParaRPr>
          </a:p>
        </p:txBody>
      </p:sp>
      <p:grpSp>
        <p:nvGrpSpPr>
          <p:cNvPr id="63" name="组合 62"/>
          <p:cNvGrpSpPr/>
          <p:nvPr/>
        </p:nvGrpSpPr>
        <p:grpSpPr>
          <a:xfrm>
            <a:off x="494553" y="150818"/>
            <a:ext cx="6106714" cy="1131566"/>
            <a:chOff x="494553" y="150818"/>
            <a:chExt cx="6106714" cy="1131566"/>
          </a:xfrm>
        </p:grpSpPr>
        <p:grpSp>
          <p:nvGrpSpPr>
            <p:cNvPr id="64" name="组合 63"/>
            <p:cNvGrpSpPr/>
            <p:nvPr/>
          </p:nvGrpSpPr>
          <p:grpSpPr>
            <a:xfrm>
              <a:off x="494553" y="321393"/>
              <a:ext cx="5744845" cy="960991"/>
              <a:chOff x="494553" y="321393"/>
              <a:chExt cx="5744845" cy="960991"/>
            </a:xfrm>
          </p:grpSpPr>
          <p:sp>
            <p:nvSpPr>
              <p:cNvPr id="66" name="文本框 6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办学</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优势</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67" name="文本框 66"/>
              <p:cNvSpPr txBox="1"/>
              <p:nvPr/>
            </p:nvSpPr>
            <p:spPr>
              <a:xfrm>
                <a:off x="494553" y="935814"/>
                <a:ext cx="5744845" cy="346570"/>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微软雅黑 Light" panose="020B0502040204020203" pitchFamily="34"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微软雅黑 Light" panose="020B0502040204020203" pitchFamily="34" charset="-122"/>
                  <a:cs typeface="Angsana New" panose="02020603050405020304" pitchFamily="18" charset="-34"/>
                </a:endParaRPr>
              </a:p>
            </p:txBody>
          </p:sp>
        </p:grpSp>
        <p:sp>
          <p:nvSpPr>
            <p:cNvPr id="65"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历史</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沿革</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sp>
        <p:nvSpPr>
          <p:cNvPr id="68" name="TextBox 55"/>
          <p:cNvSpPr txBox="1">
            <a:spLocks noChangeArrowheads="1"/>
          </p:cNvSpPr>
          <p:nvPr/>
        </p:nvSpPr>
        <p:spPr bwMode="auto">
          <a:xfrm rot="18976519">
            <a:off x="1330099" y="5568076"/>
            <a:ext cx="212190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rPr>
              <a:t>筹建：东欧交换生中国语文专修班</a:t>
            </a:r>
            <a:endParaRPr lang="zh-CN" altLang="en-US" sz="1800" i="1" dirty="0">
              <a:solidFill>
                <a:schemeClr val="bg2">
                  <a:lumMod val="50000"/>
                </a:schemeClr>
              </a:solidFill>
              <a:latin typeface="微软雅黑 Light" panose="020B0502040204020203" pitchFamily="34" charset="-122"/>
              <a:ea typeface="微软雅黑 Light" panose="020B0502040204020203" pitchFamily="34" charset="-122"/>
              <a:sym typeface="Arial" panose="020B0604020202020204" pitchFamily="34" charset="0"/>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1000"/>
                                        <p:tgtEl>
                                          <p:spTgt spid="62"/>
                                        </p:tgtEl>
                                      </p:cBhvr>
                                    </p:animEffect>
                                    <p:anim calcmode="lin" valueType="num">
                                      <p:cBhvr>
                                        <p:cTn id="8" dur="1000" fill="hold"/>
                                        <p:tgtEl>
                                          <p:spTgt spid="62"/>
                                        </p:tgtEl>
                                        <p:attrNameLst>
                                          <p:attrName>ppt_x</p:attrName>
                                        </p:attrNameLst>
                                      </p:cBhvr>
                                      <p:tavLst>
                                        <p:tav tm="0">
                                          <p:val>
                                            <p:strVal val="#ppt_x"/>
                                          </p:val>
                                        </p:tav>
                                        <p:tav tm="100000">
                                          <p:val>
                                            <p:strVal val="#ppt_x"/>
                                          </p:val>
                                        </p:tav>
                                      </p:tavLst>
                                    </p:anim>
                                    <p:anim calcmode="lin" valueType="num">
                                      <p:cBhvr>
                                        <p:cTn id="9" dur="1000" fill="hold"/>
                                        <p:tgtEl>
                                          <p:spTgt spid="6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nodeType="after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down)">
                                      <p:cBhvr>
                                        <p:cTn id="1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任意多边形: 形状 26"/>
          <p:cNvSpPr/>
          <p:nvPr/>
        </p:nvSpPr>
        <p:spPr>
          <a:xfrm>
            <a:off x="4113032"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形状 27"/>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6253133" y="-418476"/>
            <a:ext cx="8307721" cy="7620000"/>
            <a:chOff x="549316" y="966391"/>
            <a:chExt cx="6213395" cy="5699044"/>
          </a:xfrm>
        </p:grpSpPr>
        <p:sp>
          <p:nvSpPr>
            <p:cNvPr id="6" name="任意多边形: 形状 5"/>
            <p:cNvSpPr/>
            <p:nvPr/>
          </p:nvSpPr>
          <p:spPr>
            <a:xfrm>
              <a:off x="549316" y="966391"/>
              <a:ext cx="5699045" cy="5699044"/>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p:nvSpPr>
          <p:spPr>
            <a:xfrm>
              <a:off x="806491" y="966391"/>
              <a:ext cx="5699045" cy="5699044"/>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solidFill>
              <a:srgbClr val="24C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a:off x="1063666" y="966391"/>
              <a:ext cx="5699045" cy="5699044"/>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blipFill>
              <a:blip r:embed="rId1"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8815245" y="2518769"/>
            <a:ext cx="4426646" cy="4510993"/>
            <a:chOff x="549316" y="966391"/>
            <a:chExt cx="6213395" cy="5699044"/>
          </a:xfrm>
        </p:grpSpPr>
        <p:sp>
          <p:nvSpPr>
            <p:cNvPr id="9" name="任意多边形: 形状 8"/>
            <p:cNvSpPr/>
            <p:nvPr/>
          </p:nvSpPr>
          <p:spPr>
            <a:xfrm>
              <a:off x="549316" y="966391"/>
              <a:ext cx="5699045" cy="5699044"/>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nvSpPr>
          <p:spPr>
            <a:xfrm>
              <a:off x="806491" y="966391"/>
              <a:ext cx="5699045" cy="5699044"/>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solidFill>
              <a:srgbClr val="24C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a:xfrm>
              <a:off x="1063666" y="966391"/>
              <a:ext cx="5699045" cy="5699044"/>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blipFill>
              <a:blip r:embed="rId2" cstate="hqprint"/>
              <a:stretch>
                <a:fillRect l="-25056" r="-2494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bwMode="auto">
          <a:xfrm>
            <a:off x="503796" y="2208762"/>
            <a:ext cx="5534308" cy="1548962"/>
            <a:chOff x="6085636" y="1953643"/>
            <a:chExt cx="5535553" cy="1548811"/>
          </a:xfrm>
        </p:grpSpPr>
        <p:sp>
          <p:nvSpPr>
            <p:cNvPr id="38" name="圆角矩形 37"/>
            <p:cNvSpPr/>
            <p:nvPr/>
          </p:nvSpPr>
          <p:spPr>
            <a:xfrm>
              <a:off x="7203770" y="2199244"/>
              <a:ext cx="4417419" cy="1303210"/>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0" name="组合 11"/>
            <p:cNvGrpSpPr/>
            <p:nvPr/>
          </p:nvGrpSpPr>
          <p:grpSpPr bwMode="auto">
            <a:xfrm>
              <a:off x="7289992" y="1953643"/>
              <a:ext cx="4296741" cy="1493288"/>
              <a:chOff x="5822579" y="2395885"/>
              <a:chExt cx="4296830" cy="1492850"/>
            </a:xfrm>
          </p:grpSpPr>
          <p:sp>
            <p:nvSpPr>
              <p:cNvPr id="44" name="TextBox 35"/>
              <p:cNvSpPr txBox="1">
                <a:spLocks noChangeArrowheads="1"/>
              </p:cNvSpPr>
              <p:nvPr/>
            </p:nvSpPr>
            <p:spPr bwMode="auto">
              <a:xfrm>
                <a:off x="5822579" y="2866098"/>
                <a:ext cx="4296830" cy="1022637"/>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30000"/>
                  </a:lnSpc>
                  <a:buNone/>
                  <a:defRPr/>
                </a:pPr>
                <a:r>
                  <a:rPr lang="zh-CN" altLang="en-US" sz="1600" dirty="0">
                    <a:solidFill>
                      <a:srgbClr val="45BDD6"/>
                    </a:solidFill>
                    <a:latin typeface="微软雅黑 Light" panose="020B0502040204020203" pitchFamily="34" charset="-122"/>
                    <a:ea typeface="微软雅黑 Light" panose="020B0502040204020203" pitchFamily="34" charset="-122"/>
                  </a:rPr>
                  <a:t>中国唯一 </a:t>
                </a:r>
                <a:r>
                  <a:rPr lang="zh-CN" altLang="en-US" sz="1600" dirty="0">
                    <a:solidFill>
                      <a:schemeClr val="bg2">
                        <a:lumMod val="50000"/>
                      </a:schemeClr>
                    </a:solidFill>
                    <a:latin typeface="微软雅黑 Light" panose="020B0502040204020203" pitchFamily="34" charset="-122"/>
                    <a:ea typeface="微软雅黑 Light" panose="020B0502040204020203" pitchFamily="34" charset="-122"/>
                  </a:rPr>
                  <a:t>以对来华留学生进行汉语、中华文化教育为主要任务的国际型大学，素有“小联合国”之称</a:t>
                </a:r>
                <a:endParaRPr lang="zh-CN" altLang="en-US" sz="1600" dirty="0">
                  <a:solidFill>
                    <a:schemeClr val="bg2">
                      <a:lumMod val="50000"/>
                    </a:schemeClr>
                  </a:solidFill>
                  <a:latin typeface="微软雅黑 Light" panose="020B0502040204020203" pitchFamily="34" charset="-122"/>
                  <a:ea typeface="微软雅黑 Light" panose="020B0502040204020203" pitchFamily="34" charset="-122"/>
                </a:endParaRPr>
              </a:p>
            </p:txBody>
          </p:sp>
          <p:sp>
            <p:nvSpPr>
              <p:cNvPr id="45" name="文本框 13"/>
              <p:cNvSpPr txBox="1">
                <a:spLocks noChangeArrowheads="1"/>
              </p:cNvSpPr>
              <p:nvPr/>
            </p:nvSpPr>
            <p:spPr bwMode="auto">
              <a:xfrm>
                <a:off x="6479432" y="2395885"/>
                <a:ext cx="1884235" cy="47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400" dirty="0">
                    <a:solidFill>
                      <a:schemeClr val="bg1"/>
                    </a:solidFill>
                    <a:latin typeface="微软雅黑" panose="020B0503020204020204" pitchFamily="34" charset="-122"/>
                    <a:ea typeface="黑体" panose="02010609060101010101" pitchFamily="49" charset="-122"/>
                  </a:rPr>
                  <a:t>“小联合国”</a:t>
                </a:r>
                <a:endParaRPr lang="zh-CN" altLang="en-US" sz="2400" dirty="0">
                  <a:solidFill>
                    <a:schemeClr val="bg1"/>
                  </a:solidFill>
                  <a:latin typeface="微软雅黑" panose="020B0503020204020204" pitchFamily="34" charset="-122"/>
                  <a:ea typeface="黑体" panose="02010609060101010101" pitchFamily="49" charset="-122"/>
                </a:endParaRPr>
              </a:p>
            </p:txBody>
          </p:sp>
        </p:grpSp>
        <p:grpSp>
          <p:nvGrpSpPr>
            <p:cNvPr id="41" name="组合 2"/>
            <p:cNvGrpSpPr/>
            <p:nvPr/>
          </p:nvGrpSpPr>
          <p:grpSpPr bwMode="auto">
            <a:xfrm>
              <a:off x="6085636" y="1971677"/>
              <a:ext cx="918639" cy="918639"/>
              <a:chOff x="6085636" y="3482889"/>
              <a:chExt cx="918639" cy="918639"/>
            </a:xfrm>
          </p:grpSpPr>
          <p:sp>
            <p:nvSpPr>
              <p:cNvPr id="42" name="椭圆 41"/>
              <p:cNvSpPr/>
              <p:nvPr/>
            </p:nvSpPr>
            <p:spPr>
              <a:xfrm>
                <a:off x="6085636" y="3482889"/>
                <a:ext cx="918639" cy="918639"/>
              </a:xfrm>
              <a:prstGeom prst="ellipse">
                <a:avLst/>
              </a:prstGeom>
              <a:gradFill>
                <a:gsLst>
                  <a:gs pos="0">
                    <a:schemeClr val="bg1"/>
                  </a:gs>
                  <a:gs pos="51000">
                    <a:schemeClr val="bg1">
                      <a:lumMod val="95000"/>
                    </a:schemeClr>
                  </a:gs>
                  <a:gs pos="100000">
                    <a:schemeClr val="bg1">
                      <a:lumMod val="85000"/>
                    </a:schemeClr>
                  </a:gs>
                </a:gsLst>
                <a:lin ang="18900000" scaled="0"/>
              </a:gradFill>
              <a:ln w="25400">
                <a:gradFill>
                  <a:gsLst>
                    <a:gs pos="0">
                      <a:schemeClr val="accent1">
                        <a:lumMod val="5000"/>
                        <a:lumOff val="95000"/>
                      </a:schemeClr>
                    </a:gs>
                    <a:gs pos="54000">
                      <a:schemeClr val="bg1">
                        <a:lumMod val="95000"/>
                      </a:schemeClr>
                    </a:gs>
                    <a:gs pos="100000">
                      <a:schemeClr val="bg1">
                        <a:lumMod val="75000"/>
                      </a:schemeClr>
                    </a:gs>
                  </a:gsLst>
                  <a:lin ang="8100000" scaled="0"/>
                </a:gradFill>
              </a:ln>
              <a:effectLst>
                <a:outerShdw blurRad="381000" dist="127000" dir="72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30000"/>
                  </a:lnSpc>
                  <a:defRPr/>
                </a:pPr>
                <a:endParaRPr lang="zh-CN" altLang="en-US" sz="3000" b="1">
                  <a:gradFill>
                    <a:gsLst>
                      <a:gs pos="0">
                        <a:srgbClr val="FF6600"/>
                      </a:gs>
                      <a:gs pos="52000">
                        <a:srgbClr val="FF3300"/>
                      </a:gs>
                      <a:gs pos="100000">
                        <a:srgbClr val="EA2314"/>
                      </a:gs>
                    </a:gsLst>
                    <a:lin ang="18900000" scaled="0"/>
                  </a:gradFill>
                  <a:latin typeface="微软雅黑" panose="020B0503020204020204" pitchFamily="34" charset="-122"/>
                  <a:ea typeface="微软雅黑" panose="020B0503020204020204" pitchFamily="34" charset="-122"/>
                </a:endParaRPr>
              </a:p>
            </p:txBody>
          </p:sp>
          <p:pic>
            <p:nvPicPr>
              <p:cNvPr id="43" name="图片 31"/>
              <p:cNvPicPr>
                <a:picLocks noChangeAspect="1" noChangeArrowheads="1"/>
              </p:cNvPicPr>
              <p:nvPr/>
            </p:nvPicPr>
            <p:blipFill>
              <a:blip r:embed="rId3">
                <a:duotone>
                  <a:schemeClr val="accent5">
                    <a:shade val="45000"/>
                    <a:satMod val="135000"/>
                  </a:schemeClr>
                  <a:prstClr val="white"/>
                </a:duotone>
              </a:blip>
              <a:srcRect/>
              <a:stretch>
                <a:fillRect/>
              </a:stretch>
            </p:blipFill>
            <p:spPr bwMode="auto">
              <a:xfrm>
                <a:off x="6378416" y="3701438"/>
                <a:ext cx="342047" cy="521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46" name="组合 45"/>
          <p:cNvGrpSpPr/>
          <p:nvPr/>
        </p:nvGrpSpPr>
        <p:grpSpPr bwMode="auto">
          <a:xfrm>
            <a:off x="505579" y="4009125"/>
            <a:ext cx="5624134" cy="1207656"/>
            <a:chOff x="6073416" y="4830528"/>
            <a:chExt cx="5624945" cy="1207582"/>
          </a:xfrm>
        </p:grpSpPr>
        <p:sp>
          <p:nvSpPr>
            <p:cNvPr id="48" name="圆角矩形 47"/>
            <p:cNvSpPr/>
            <p:nvPr/>
          </p:nvSpPr>
          <p:spPr>
            <a:xfrm>
              <a:off x="7189674" y="5084913"/>
              <a:ext cx="4417064" cy="953197"/>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9" name="组合 38"/>
            <p:cNvGrpSpPr/>
            <p:nvPr/>
          </p:nvGrpSpPr>
          <p:grpSpPr bwMode="auto">
            <a:xfrm>
              <a:off x="6073416" y="4830528"/>
              <a:ext cx="924713" cy="871239"/>
              <a:chOff x="6057994" y="4830528"/>
              <a:chExt cx="1104145" cy="790065"/>
            </a:xfrm>
          </p:grpSpPr>
          <p:sp>
            <p:nvSpPr>
              <p:cNvPr id="52" name="椭圆 51"/>
              <p:cNvSpPr/>
              <p:nvPr/>
            </p:nvSpPr>
            <p:spPr>
              <a:xfrm>
                <a:off x="6057994" y="4830528"/>
                <a:ext cx="1104145" cy="790065"/>
              </a:xfrm>
              <a:prstGeom prst="ellipse">
                <a:avLst/>
              </a:prstGeom>
              <a:gradFill>
                <a:gsLst>
                  <a:gs pos="0">
                    <a:schemeClr val="bg1"/>
                  </a:gs>
                  <a:gs pos="51000">
                    <a:schemeClr val="bg1">
                      <a:lumMod val="95000"/>
                    </a:schemeClr>
                  </a:gs>
                  <a:gs pos="100000">
                    <a:schemeClr val="bg1">
                      <a:lumMod val="85000"/>
                    </a:schemeClr>
                  </a:gs>
                </a:gsLst>
                <a:lin ang="18900000" scaled="0"/>
              </a:gradFill>
              <a:ln w="25400">
                <a:gradFill>
                  <a:gsLst>
                    <a:gs pos="0">
                      <a:schemeClr val="accent1">
                        <a:lumMod val="5000"/>
                        <a:lumOff val="95000"/>
                      </a:schemeClr>
                    </a:gs>
                    <a:gs pos="54000">
                      <a:schemeClr val="bg1">
                        <a:lumMod val="95000"/>
                      </a:schemeClr>
                    </a:gs>
                    <a:gs pos="100000">
                      <a:schemeClr val="bg1">
                        <a:lumMod val="75000"/>
                      </a:schemeClr>
                    </a:gs>
                  </a:gsLst>
                  <a:lin ang="8100000" scaled="0"/>
                </a:gradFill>
              </a:ln>
              <a:effectLst>
                <a:outerShdw blurRad="381000" dist="127000" dir="72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30000"/>
                  </a:lnSpc>
                  <a:defRPr/>
                </a:pPr>
                <a:endParaRPr lang="zh-CN" altLang="en-US" sz="3000" b="1">
                  <a:gradFill>
                    <a:gsLst>
                      <a:gs pos="0">
                        <a:srgbClr val="FF6600"/>
                      </a:gs>
                      <a:gs pos="52000">
                        <a:srgbClr val="FF3300"/>
                      </a:gs>
                      <a:gs pos="100000">
                        <a:srgbClr val="EA2314"/>
                      </a:gs>
                    </a:gsLst>
                    <a:lin ang="18900000" scaled="0"/>
                  </a:gradFill>
                  <a:latin typeface="微软雅黑" panose="020B0503020204020204" pitchFamily="34" charset="-122"/>
                  <a:ea typeface="微软雅黑" panose="020B0503020204020204" pitchFamily="34" charset="-122"/>
                </a:endParaRPr>
              </a:p>
            </p:txBody>
          </p:sp>
          <p:pic>
            <p:nvPicPr>
              <p:cNvPr id="53" name="图片 29"/>
              <p:cNvPicPr>
                <a:picLocks noChangeAspect="1" noChangeArrowheads="1"/>
              </p:cNvPicPr>
              <p:nvPr/>
            </p:nvPicPr>
            <p:blipFill>
              <a:blip r:embed="rId4">
                <a:duotone>
                  <a:schemeClr val="accent5">
                    <a:shade val="45000"/>
                    <a:satMod val="135000"/>
                  </a:schemeClr>
                  <a:prstClr val="white"/>
                </a:duotone>
              </a:blip>
              <a:srcRect/>
              <a:stretch>
                <a:fillRect/>
              </a:stretch>
            </p:blipFill>
            <p:spPr bwMode="auto">
              <a:xfrm>
                <a:off x="6326004" y="5003702"/>
                <a:ext cx="575335" cy="403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0" name="TextBox 35"/>
            <p:cNvSpPr txBox="1">
              <a:spLocks noChangeArrowheads="1"/>
            </p:cNvSpPr>
            <p:nvPr/>
          </p:nvSpPr>
          <p:spPr bwMode="auto">
            <a:xfrm>
              <a:off x="7281297" y="5280837"/>
              <a:ext cx="4417064" cy="732463"/>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30000"/>
                </a:lnSpc>
                <a:buNone/>
                <a:defRPr/>
              </a:pPr>
              <a:r>
                <a:rPr lang="zh-CN" altLang="en-US" sz="1600" dirty="0">
                  <a:solidFill>
                    <a:srgbClr val="45BDD6"/>
                  </a:solidFill>
                  <a:latin typeface="微软雅黑 Light" panose="020B0502040204020203" pitchFamily="34" charset="-122"/>
                  <a:ea typeface="微软雅黑 Light" panose="020B0502040204020203" pitchFamily="34" charset="-122"/>
                </a:rPr>
                <a:t>中国唯一 </a:t>
              </a:r>
              <a:r>
                <a:rPr lang="zh-CN" altLang="en-US" sz="1600" dirty="0">
                  <a:solidFill>
                    <a:schemeClr val="bg2">
                      <a:lumMod val="50000"/>
                    </a:schemeClr>
                  </a:solidFill>
                  <a:latin typeface="微软雅黑 Light" panose="020B0502040204020203" pitchFamily="34" charset="-122"/>
                  <a:ea typeface="微软雅黑 Light" panose="020B0502040204020203" pitchFamily="34" charset="-122"/>
                </a:rPr>
                <a:t>同时拥有中国语言文学和外国语言文学两个一级学科博士学位授予权的语言类高校</a:t>
              </a:r>
              <a:endParaRPr lang="zh-CN" altLang="en-US" sz="1600" dirty="0">
                <a:solidFill>
                  <a:schemeClr val="bg2">
                    <a:lumMod val="50000"/>
                  </a:schemeClr>
                </a:solidFill>
                <a:latin typeface="微软雅黑 Light" panose="020B0502040204020203" pitchFamily="34" charset="-122"/>
                <a:ea typeface="微软雅黑 Light" panose="020B0502040204020203" pitchFamily="34" charset="-122"/>
              </a:endParaRPr>
            </a:p>
          </p:txBody>
        </p:sp>
      </p:grpSp>
      <p:grpSp>
        <p:nvGrpSpPr>
          <p:cNvPr id="54" name="组合 53"/>
          <p:cNvGrpSpPr/>
          <p:nvPr/>
        </p:nvGrpSpPr>
        <p:grpSpPr bwMode="auto">
          <a:xfrm>
            <a:off x="494553" y="5445766"/>
            <a:ext cx="5543550" cy="1025292"/>
            <a:chOff x="6077592" y="3170164"/>
            <a:chExt cx="5543597" cy="1025038"/>
          </a:xfrm>
        </p:grpSpPr>
        <p:sp>
          <p:nvSpPr>
            <p:cNvPr id="56" name="圆角矩形 55"/>
            <p:cNvSpPr/>
            <p:nvPr/>
          </p:nvSpPr>
          <p:spPr>
            <a:xfrm>
              <a:off x="7203140" y="3377595"/>
              <a:ext cx="4418049" cy="817607"/>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1" name="TextBox 35"/>
            <p:cNvSpPr txBox="1">
              <a:spLocks noChangeArrowheads="1"/>
            </p:cNvSpPr>
            <p:nvPr/>
          </p:nvSpPr>
          <p:spPr bwMode="auto">
            <a:xfrm>
              <a:off x="7293600" y="3617612"/>
              <a:ext cx="4162461" cy="382767"/>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30000"/>
                </a:lnSpc>
                <a:buNone/>
                <a:defRPr/>
              </a:pPr>
              <a:r>
                <a:rPr lang="zh-CN" altLang="en-US" sz="1600" dirty="0">
                  <a:solidFill>
                    <a:srgbClr val="45BDD6"/>
                  </a:solidFill>
                  <a:latin typeface="微软雅黑 Light" panose="020B0502040204020203" pitchFamily="34" charset="-122"/>
                  <a:ea typeface="微软雅黑 Light" panose="020B0502040204020203" pitchFamily="34" charset="-122"/>
                </a:rPr>
                <a:t>中国唯一 </a:t>
              </a:r>
              <a:r>
                <a:rPr lang="zh-CN" altLang="en-US" sz="1600" dirty="0">
                  <a:solidFill>
                    <a:schemeClr val="bg2">
                      <a:lumMod val="50000"/>
                    </a:schemeClr>
                  </a:solidFill>
                  <a:latin typeface="微软雅黑 Light" panose="020B0502040204020203" pitchFamily="34" charset="-122"/>
                  <a:ea typeface="微软雅黑 Light" panose="020B0502040204020203" pitchFamily="34" charset="-122"/>
                </a:rPr>
                <a:t>以语言命名的大学</a:t>
              </a:r>
              <a:endParaRPr lang="zh-CN" altLang="en-US" sz="1600" dirty="0">
                <a:solidFill>
                  <a:schemeClr val="bg2">
                    <a:lumMod val="50000"/>
                  </a:schemeClr>
                </a:solidFill>
                <a:latin typeface="微软雅黑 Light" panose="020B0502040204020203" pitchFamily="34" charset="-122"/>
                <a:ea typeface="微软雅黑 Light" panose="020B0502040204020203" pitchFamily="34" charset="-122"/>
              </a:endParaRPr>
            </a:p>
          </p:txBody>
        </p:sp>
        <p:grpSp>
          <p:nvGrpSpPr>
            <p:cNvPr id="58" name="组合 1"/>
            <p:cNvGrpSpPr/>
            <p:nvPr/>
          </p:nvGrpSpPr>
          <p:grpSpPr bwMode="auto">
            <a:xfrm>
              <a:off x="6077592" y="3170164"/>
              <a:ext cx="918639" cy="918639"/>
              <a:chOff x="6158960" y="2046020"/>
              <a:chExt cx="918639" cy="918639"/>
            </a:xfrm>
          </p:grpSpPr>
          <p:sp>
            <p:nvSpPr>
              <p:cNvPr id="59" name="椭圆 58"/>
              <p:cNvSpPr/>
              <p:nvPr/>
            </p:nvSpPr>
            <p:spPr>
              <a:xfrm>
                <a:off x="6158960" y="2046020"/>
                <a:ext cx="918639" cy="918639"/>
              </a:xfrm>
              <a:prstGeom prst="ellipse">
                <a:avLst/>
              </a:prstGeom>
              <a:gradFill>
                <a:gsLst>
                  <a:gs pos="0">
                    <a:schemeClr val="bg1"/>
                  </a:gs>
                  <a:gs pos="51000">
                    <a:schemeClr val="bg1">
                      <a:lumMod val="95000"/>
                    </a:schemeClr>
                  </a:gs>
                  <a:gs pos="100000">
                    <a:schemeClr val="bg1">
                      <a:lumMod val="85000"/>
                    </a:schemeClr>
                  </a:gs>
                </a:gsLst>
                <a:lin ang="18900000" scaled="0"/>
              </a:gradFill>
              <a:ln w="25400">
                <a:gradFill>
                  <a:gsLst>
                    <a:gs pos="0">
                      <a:schemeClr val="accent1">
                        <a:lumMod val="5000"/>
                        <a:lumOff val="95000"/>
                      </a:schemeClr>
                    </a:gs>
                    <a:gs pos="54000">
                      <a:schemeClr val="bg1">
                        <a:lumMod val="95000"/>
                      </a:schemeClr>
                    </a:gs>
                    <a:gs pos="100000">
                      <a:schemeClr val="bg1">
                        <a:lumMod val="75000"/>
                      </a:schemeClr>
                    </a:gs>
                  </a:gsLst>
                  <a:lin ang="8100000" scaled="0"/>
                </a:gradFill>
              </a:ln>
              <a:effectLst>
                <a:outerShdw blurRad="381000" dist="127000" dir="72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30000"/>
                  </a:lnSpc>
                  <a:defRPr/>
                </a:pPr>
                <a:endParaRPr lang="zh-CN" altLang="en-US" sz="3000" b="1">
                  <a:gradFill>
                    <a:gsLst>
                      <a:gs pos="0">
                        <a:srgbClr val="FF6600"/>
                      </a:gs>
                      <a:gs pos="52000">
                        <a:srgbClr val="FF3300"/>
                      </a:gs>
                      <a:gs pos="100000">
                        <a:srgbClr val="EA2314"/>
                      </a:gs>
                    </a:gsLst>
                    <a:lin ang="18900000" scaled="0"/>
                  </a:gradFill>
                  <a:latin typeface="微软雅黑" panose="020B0503020204020204" pitchFamily="34" charset="-122"/>
                  <a:ea typeface="微软雅黑" panose="020B0503020204020204" pitchFamily="34" charset="-122"/>
                </a:endParaRPr>
              </a:p>
            </p:txBody>
          </p:sp>
          <p:pic>
            <p:nvPicPr>
              <p:cNvPr id="60" name="图片 32"/>
              <p:cNvPicPr>
                <a:picLocks noChangeAspect="1" noChangeArrowheads="1"/>
              </p:cNvPicPr>
              <p:nvPr/>
            </p:nvPicPr>
            <p:blipFill>
              <a:blip r:embed="rId5">
                <a:duotone>
                  <a:schemeClr val="accent5">
                    <a:shade val="45000"/>
                    <a:satMod val="135000"/>
                  </a:schemeClr>
                  <a:prstClr val="white"/>
                </a:duotone>
              </a:blip>
              <a:srcRect/>
              <a:stretch>
                <a:fillRect/>
              </a:stretch>
            </p:blipFill>
            <p:spPr bwMode="auto">
              <a:xfrm>
                <a:off x="6356540" y="2260600"/>
                <a:ext cx="526937" cy="52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 name="组合 2"/>
          <p:cNvGrpSpPr/>
          <p:nvPr/>
        </p:nvGrpSpPr>
        <p:grpSpPr>
          <a:xfrm>
            <a:off x="494553" y="150818"/>
            <a:ext cx="6106714" cy="1131566"/>
            <a:chOff x="494553" y="150818"/>
            <a:chExt cx="6106714" cy="1131566"/>
          </a:xfrm>
        </p:grpSpPr>
        <p:grpSp>
          <p:nvGrpSpPr>
            <p:cNvPr id="34" name="组合 33"/>
            <p:cNvGrpSpPr/>
            <p:nvPr/>
          </p:nvGrpSpPr>
          <p:grpSpPr>
            <a:xfrm>
              <a:off x="494553" y="321393"/>
              <a:ext cx="5744845" cy="960991"/>
              <a:chOff x="494553" y="321393"/>
              <a:chExt cx="5744845" cy="960991"/>
            </a:xfrm>
          </p:grpSpPr>
          <p:sp>
            <p:nvSpPr>
              <p:cNvPr id="35" name="文本框 34"/>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办学</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优势</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36" name="文本框 35"/>
              <p:cNvSpPr txBox="1"/>
              <p:nvPr/>
            </p:nvSpPr>
            <p:spPr>
              <a:xfrm>
                <a:off x="494553" y="935814"/>
                <a:ext cx="5744845" cy="346570"/>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微软雅黑 Light" panose="020B0502040204020203" pitchFamily="34"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微软雅黑 Light" panose="020B0502040204020203" pitchFamily="34" charset="-122"/>
                  <a:cs typeface="Angsana New" panose="02020603050405020304" pitchFamily="18" charset="-34"/>
                </a:endParaRPr>
              </a:p>
            </p:txBody>
          </p:sp>
        </p:grpSp>
        <p:sp>
          <p:nvSpPr>
            <p:cNvPr id="63"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语言</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特色</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sp>
        <p:nvSpPr>
          <p:cNvPr id="67" name="圆角矩形 66"/>
          <p:cNvSpPr/>
          <p:nvPr/>
        </p:nvSpPr>
        <p:spPr bwMode="auto">
          <a:xfrm>
            <a:off x="1790171" y="2206111"/>
            <a:ext cx="1701771" cy="450850"/>
          </a:xfrm>
          <a:prstGeom prst="roundRect">
            <a:avLst/>
          </a:prstGeom>
          <a:solidFill>
            <a:srgbClr val="FF9933"/>
          </a:solidFill>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zh-CN" altLang="en-US"/>
          </a:p>
        </p:txBody>
      </p:sp>
      <p:sp>
        <p:nvSpPr>
          <p:cNvPr id="68" name="文本框 13"/>
          <p:cNvSpPr txBox="1">
            <a:spLocks noChangeArrowheads="1"/>
          </p:cNvSpPr>
          <p:nvPr/>
        </p:nvSpPr>
        <p:spPr bwMode="auto">
          <a:xfrm>
            <a:off x="1815094" y="2178019"/>
            <a:ext cx="17569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400" i="1" dirty="0">
                <a:solidFill>
                  <a:schemeClr val="bg1"/>
                </a:solidFill>
                <a:latin typeface="黑体" panose="02010609060101010101" pitchFamily="49" charset="-122"/>
                <a:ea typeface="黑体" panose="02010609060101010101" pitchFamily="49" charset="-122"/>
              </a:rPr>
              <a:t>小联合国</a:t>
            </a:r>
            <a:endParaRPr lang="zh-CN" altLang="en-US" sz="2400" i="1" dirty="0">
              <a:solidFill>
                <a:schemeClr val="bg1"/>
              </a:solidFill>
              <a:latin typeface="黑体" panose="02010609060101010101" pitchFamily="49" charset="-122"/>
              <a:ea typeface="黑体" panose="02010609060101010101" pitchFamily="49" charset="-122"/>
            </a:endParaRPr>
          </a:p>
        </p:txBody>
      </p:sp>
      <p:sp>
        <p:nvSpPr>
          <p:cNvPr id="69" name="圆角矩形 68"/>
          <p:cNvSpPr/>
          <p:nvPr/>
        </p:nvSpPr>
        <p:spPr bwMode="auto">
          <a:xfrm>
            <a:off x="1790171" y="4048239"/>
            <a:ext cx="3904071" cy="429931"/>
          </a:xfrm>
          <a:prstGeom prst="roundRect">
            <a:avLst/>
          </a:prstGeom>
          <a:solidFill>
            <a:srgbClr val="FF9933"/>
          </a:solidFill>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zh-CN" altLang="en-US"/>
          </a:p>
        </p:txBody>
      </p:sp>
      <p:sp>
        <p:nvSpPr>
          <p:cNvPr id="70" name="文本框 13"/>
          <p:cNvSpPr txBox="1">
            <a:spLocks noChangeArrowheads="1"/>
          </p:cNvSpPr>
          <p:nvPr/>
        </p:nvSpPr>
        <p:spPr bwMode="auto">
          <a:xfrm>
            <a:off x="1776436" y="4009010"/>
            <a:ext cx="39178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400" i="1" dirty="0">
                <a:solidFill>
                  <a:schemeClr val="bg1"/>
                </a:solidFill>
                <a:latin typeface="黑体" panose="02010609060101010101" pitchFamily="49" charset="-122"/>
                <a:ea typeface="黑体" panose="02010609060101010101" pitchFamily="49" charset="-122"/>
              </a:rPr>
              <a:t>中外语一级学科博士授予权</a:t>
            </a:r>
            <a:endParaRPr lang="zh-CN" altLang="en-US" sz="2400" i="1" dirty="0">
              <a:solidFill>
                <a:schemeClr val="bg1"/>
              </a:solidFill>
              <a:latin typeface="黑体" panose="02010609060101010101" pitchFamily="49" charset="-122"/>
              <a:ea typeface="黑体" panose="02010609060101010101" pitchFamily="49" charset="-122"/>
            </a:endParaRPr>
          </a:p>
        </p:txBody>
      </p:sp>
      <p:sp>
        <p:nvSpPr>
          <p:cNvPr id="71" name="圆角矩形 70"/>
          <p:cNvSpPr/>
          <p:nvPr/>
        </p:nvSpPr>
        <p:spPr bwMode="auto">
          <a:xfrm>
            <a:off x="1790172" y="5421535"/>
            <a:ext cx="1511042" cy="450850"/>
          </a:xfrm>
          <a:prstGeom prst="roundRect">
            <a:avLst/>
          </a:prstGeom>
          <a:solidFill>
            <a:srgbClr val="FF9933"/>
          </a:solidFill>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zh-CN" altLang="en-US"/>
          </a:p>
        </p:txBody>
      </p:sp>
      <p:sp>
        <p:nvSpPr>
          <p:cNvPr id="72" name="文本框 13"/>
          <p:cNvSpPr txBox="1">
            <a:spLocks noChangeArrowheads="1"/>
          </p:cNvSpPr>
          <p:nvPr/>
        </p:nvSpPr>
        <p:spPr bwMode="auto">
          <a:xfrm>
            <a:off x="1818607" y="5387920"/>
            <a:ext cx="14518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400" i="1" dirty="0">
                <a:solidFill>
                  <a:schemeClr val="bg1"/>
                </a:solidFill>
                <a:latin typeface="黑体" panose="02010609060101010101" pitchFamily="49" charset="-122"/>
                <a:ea typeface="黑体" panose="02010609060101010101" pitchFamily="49" charset="-122"/>
              </a:rPr>
              <a:t>语言特色</a:t>
            </a:r>
            <a:endParaRPr lang="zh-CN" altLang="en-US" sz="2400" i="1" dirty="0">
              <a:solidFill>
                <a:schemeClr val="bg1"/>
              </a:solidFill>
              <a:latin typeface="黑体" panose="02010609060101010101" pitchFamily="49" charset="-122"/>
              <a:ea typeface="黑体" panose="02010609060101010101" pitchFamily="49" charset="-122"/>
            </a:endParaRPr>
          </a:p>
        </p:txBody>
      </p:sp>
      <p:sp>
        <p:nvSpPr>
          <p:cNvPr id="12" name="矩形 11"/>
          <p:cNvSpPr/>
          <p:nvPr/>
        </p:nvSpPr>
        <p:spPr>
          <a:xfrm>
            <a:off x="503796" y="1500953"/>
            <a:ext cx="6093197" cy="438518"/>
          </a:xfrm>
          <a:prstGeom prst="rect">
            <a:avLst/>
          </a:prstGeom>
        </p:spPr>
        <p:txBody>
          <a:bodyPr wrap="square">
            <a:spAutoFit/>
          </a:bodyPr>
          <a:lstStyle/>
          <a:p>
            <a:pPr>
              <a:lnSpc>
                <a:spcPct val="150000"/>
              </a:lnSpc>
            </a:pPr>
            <a:r>
              <a:rPr lang="zh-CN" altLang="en-US" sz="1700" b="1" dirty="0">
                <a:solidFill>
                  <a:srgbClr val="FF9933"/>
                </a:solidFill>
                <a:latin typeface="微软雅黑" panose="020B0503020204020204" pitchFamily="34" charset="-122"/>
                <a:ea typeface="微软雅黑" panose="020B0503020204020204" pitchFamily="34" charset="-122"/>
              </a:rPr>
              <a:t>以语言学科为引领的多科性大学</a:t>
            </a:r>
            <a:endParaRPr lang="zh-CN" altLang="en-US" sz="1700" dirty="0">
              <a:solidFill>
                <a:schemeClr val="bg2">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37"/>
                                        </p:tgtEl>
                                        <p:attrNameLst>
                                          <p:attrName>style.visibility</p:attrName>
                                        </p:attrNameLst>
                                      </p:cBhvr>
                                      <p:to>
                                        <p:strVal val="visible"/>
                                      </p:to>
                                    </p:set>
                                    <p:anim calcmode="lin" valueType="num">
                                      <p:cBhvr additive="base">
                                        <p:cTn id="16" dur="500" fill="hold"/>
                                        <p:tgtEl>
                                          <p:spTgt spid="37"/>
                                        </p:tgtEl>
                                        <p:attrNameLst>
                                          <p:attrName>ppt_x</p:attrName>
                                        </p:attrNameLst>
                                      </p:cBhvr>
                                      <p:tavLst>
                                        <p:tav tm="0">
                                          <p:val>
                                            <p:strVal val="#ppt_x"/>
                                          </p:val>
                                        </p:tav>
                                        <p:tav tm="100000">
                                          <p:val>
                                            <p:strVal val="#ppt_x"/>
                                          </p:val>
                                        </p:tav>
                                      </p:tavLst>
                                    </p:anim>
                                    <p:anim calcmode="lin" valueType="num">
                                      <p:cBhvr additive="base">
                                        <p:cTn id="17" dur="500" fill="hold"/>
                                        <p:tgtEl>
                                          <p:spTgt spid="3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4" fill="hold" nodeType="afterEffect">
                                  <p:stCondLst>
                                    <p:cond delay="0"/>
                                  </p:stCondLst>
                                  <p:childTnLst>
                                    <p:set>
                                      <p:cBhvr>
                                        <p:cTn id="20" dur="1" fill="hold">
                                          <p:stCondLst>
                                            <p:cond delay="0"/>
                                          </p:stCondLst>
                                        </p:cTn>
                                        <p:tgtEl>
                                          <p:spTgt spid="46"/>
                                        </p:tgtEl>
                                        <p:attrNameLst>
                                          <p:attrName>style.visibility</p:attrName>
                                        </p:attrNameLst>
                                      </p:cBhvr>
                                      <p:to>
                                        <p:strVal val="visible"/>
                                      </p:to>
                                    </p:set>
                                    <p:anim calcmode="lin" valueType="num">
                                      <p:cBhvr additive="base">
                                        <p:cTn id="21" dur="500" fill="hold"/>
                                        <p:tgtEl>
                                          <p:spTgt spid="46"/>
                                        </p:tgtEl>
                                        <p:attrNameLst>
                                          <p:attrName>ppt_x</p:attrName>
                                        </p:attrNameLst>
                                      </p:cBhvr>
                                      <p:tavLst>
                                        <p:tav tm="0">
                                          <p:val>
                                            <p:strVal val="#ppt_x"/>
                                          </p:val>
                                        </p:tav>
                                        <p:tav tm="100000">
                                          <p:val>
                                            <p:strVal val="#ppt_x"/>
                                          </p:val>
                                        </p:tav>
                                      </p:tavLst>
                                    </p:anim>
                                    <p:anim calcmode="lin" valueType="num">
                                      <p:cBhvr additive="base">
                                        <p:cTn id="22" dur="500" fill="hold"/>
                                        <p:tgtEl>
                                          <p:spTgt spid="46"/>
                                        </p:tgtEl>
                                        <p:attrNameLst>
                                          <p:attrName>ppt_y</p:attrName>
                                        </p:attrNameLst>
                                      </p:cBhvr>
                                      <p:tavLst>
                                        <p:tav tm="0">
                                          <p:val>
                                            <p:strVal val="1+#ppt_h/2"/>
                                          </p:val>
                                        </p:tav>
                                        <p:tav tm="100000">
                                          <p:val>
                                            <p:strVal val="#ppt_y"/>
                                          </p:val>
                                        </p:tav>
                                      </p:tavLst>
                                    </p:anim>
                                  </p:childTnLst>
                                </p:cTn>
                              </p:par>
                            </p:childTnLst>
                          </p:cTn>
                        </p:par>
                        <p:par>
                          <p:cTn id="23" fill="hold">
                            <p:stCondLst>
                              <p:cond delay="1500"/>
                            </p:stCondLst>
                            <p:childTnLst>
                              <p:par>
                                <p:cTn id="24" presetID="2" presetClass="entr" presetSubtype="4" fill="hold" nodeType="afterEffect">
                                  <p:stCondLst>
                                    <p:cond delay="0"/>
                                  </p:stCondLst>
                                  <p:childTnLst>
                                    <p:set>
                                      <p:cBhvr>
                                        <p:cTn id="25" dur="1" fill="hold">
                                          <p:stCondLst>
                                            <p:cond delay="0"/>
                                          </p:stCondLst>
                                        </p:cTn>
                                        <p:tgtEl>
                                          <p:spTgt spid="54"/>
                                        </p:tgtEl>
                                        <p:attrNameLst>
                                          <p:attrName>style.visibility</p:attrName>
                                        </p:attrNameLst>
                                      </p:cBhvr>
                                      <p:to>
                                        <p:strVal val="visible"/>
                                      </p:to>
                                    </p:set>
                                    <p:anim calcmode="lin" valueType="num">
                                      <p:cBhvr additive="base">
                                        <p:cTn id="26" dur="500" fill="hold"/>
                                        <p:tgtEl>
                                          <p:spTgt spid="54"/>
                                        </p:tgtEl>
                                        <p:attrNameLst>
                                          <p:attrName>ppt_x</p:attrName>
                                        </p:attrNameLst>
                                      </p:cBhvr>
                                      <p:tavLst>
                                        <p:tav tm="0">
                                          <p:val>
                                            <p:strVal val="#ppt_x"/>
                                          </p:val>
                                        </p:tav>
                                        <p:tav tm="100000">
                                          <p:val>
                                            <p:strVal val="#ppt_x"/>
                                          </p:val>
                                        </p:tav>
                                      </p:tavLst>
                                    </p:anim>
                                    <p:anim calcmode="lin" valueType="num">
                                      <p:cBhvr additive="base">
                                        <p:cTn id="27"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任意多边形: 形状 26"/>
          <p:cNvSpPr/>
          <p:nvPr/>
        </p:nvSpPr>
        <p:spPr>
          <a:xfrm>
            <a:off x="4113032"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27"/>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94553" y="150818"/>
            <a:ext cx="6106714" cy="1125795"/>
            <a:chOff x="494553" y="150818"/>
            <a:chExt cx="6106714" cy="1125795"/>
          </a:xfrm>
        </p:grpSpPr>
        <p:grpSp>
          <p:nvGrpSpPr>
            <p:cNvPr id="34" name="组合 33"/>
            <p:cNvGrpSpPr/>
            <p:nvPr/>
          </p:nvGrpSpPr>
          <p:grpSpPr>
            <a:xfrm>
              <a:off x="494553" y="321393"/>
              <a:ext cx="5744845" cy="955220"/>
              <a:chOff x="494553" y="321393"/>
              <a:chExt cx="5744845" cy="955220"/>
            </a:xfrm>
          </p:grpSpPr>
          <p:sp>
            <p:nvSpPr>
              <p:cNvPr id="35" name="文本框 34"/>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办学</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优势</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36" name="文本框 35"/>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63" name="矩形 36"/>
            <p:cNvSpPr>
              <a:spLocks noChangeArrowheads="1"/>
            </p:cNvSpPr>
            <p:nvPr/>
          </p:nvSpPr>
          <p:spPr bwMode="auto">
            <a:xfrm>
              <a:off x="2997643" y="150818"/>
              <a:ext cx="3603624" cy="865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北语</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sp>
        <p:nvSpPr>
          <p:cNvPr id="2" name="矩形 1"/>
          <p:cNvSpPr/>
          <p:nvPr/>
        </p:nvSpPr>
        <p:spPr>
          <a:xfrm>
            <a:off x="408709" y="1423086"/>
            <a:ext cx="7660209" cy="5078313"/>
          </a:xfrm>
          <a:prstGeom prst="rect">
            <a:avLst/>
          </a:prstGeom>
        </p:spPr>
        <p:txBody>
          <a:bodyPr wrap="square">
            <a:spAutoFit/>
          </a:bodyPr>
          <a:lstStyle/>
          <a:p>
            <a:pPr marL="285750" indent="-285750" algn="just">
              <a:lnSpc>
                <a:spcPct val="300000"/>
              </a:lnSpc>
              <a:spcAft>
                <a:spcPts val="0"/>
              </a:spcAft>
              <a:buFont typeface="Arial" panose="020B0604020202020204" pitchFamily="34" charset="0"/>
              <a:buChar char="•"/>
            </a:pP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全方位、多领域、深层次、富有成效的</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国际教育格局</a:t>
            </a:r>
            <a:endPar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与世界上</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72</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个国家和地区的</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365</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所大学及教育机构建立</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合作交流关系</a:t>
            </a:r>
            <a:endPar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承办了</a:t>
            </a:r>
            <a:r>
              <a:rPr lang="en-US"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18</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所孔子学院和</a:t>
            </a:r>
            <a:r>
              <a:rPr lang="en-US"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2</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所孔子课堂</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，被评为</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先进中方合作院校</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与哈佛大学合作设立</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哈佛北京书院</a:t>
            </a:r>
            <a:r>
              <a:rPr lang="zh-CN" altLang="zh-CN" kern="100" dirty="0">
                <a:latin typeface="微软雅黑 Light" panose="020B0502040204020203" pitchFamily="34" charset="-122"/>
                <a:ea typeface="微软雅黑 Light" panose="020B0502040204020203" pitchFamily="34" charset="-122"/>
                <a:cs typeface="Arial" panose="020B0604020202020204" pitchFamily="34" charset="0"/>
              </a:rPr>
              <a:t>，</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在海外设立了</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曼谷学院、东京分校</a:t>
            </a:r>
            <a:endPar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平均每年有</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100</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名左右教师在</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海外任教</a:t>
            </a:r>
            <a:r>
              <a:rPr lang="zh-CN" altLang="zh-CN" kern="100" dirty="0">
                <a:latin typeface="微软雅黑 Light" panose="020B0502040204020203" pitchFamily="34" charset="-122"/>
                <a:ea typeface="微软雅黑 Light" panose="020B0502040204020203" pitchFamily="34" charset="-122"/>
                <a:cs typeface="Arial" panose="020B0604020202020204" pitchFamily="34" charset="0"/>
              </a:rPr>
              <a:t>，</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接待外宾</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1500</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余人次</a:t>
            </a:r>
            <a:endPar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zh-CN" altLang="en-US"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来自</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150</a:t>
            </a:r>
            <a:r>
              <a:rPr lang="zh-CN" altLang="en-US"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多个国家的外国留学生，</a:t>
            </a:r>
            <a:r>
              <a:rPr lang="zh-CN" altLang="en-US"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多元化、国际化的学习生活氛围</a:t>
            </a:r>
            <a:endPar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endParaRPr>
          </a:p>
        </p:txBody>
      </p:sp>
      <p:pic>
        <p:nvPicPr>
          <p:cNvPr id="14" name="图片 13"/>
          <p:cNvPicPr>
            <a:picLocks noChangeAspect="1"/>
          </p:cNvPicPr>
          <p:nvPr/>
        </p:nvPicPr>
        <p:blipFill rotWithShape="1">
          <a:blip r:embed="rId1"/>
          <a:srcRect/>
          <a:stretch>
            <a:fillRect/>
          </a:stretch>
        </p:blipFill>
        <p:spPr>
          <a:xfrm>
            <a:off x="8307456" y="0"/>
            <a:ext cx="4923333" cy="6858000"/>
          </a:xfrm>
          <a:prstGeom prst="rect">
            <a:avLst/>
          </a:prstGeom>
        </p:spPr>
      </p:pic>
      <p:sp>
        <p:nvSpPr>
          <p:cNvPr id="64" name="矩形 63"/>
          <p:cNvSpPr/>
          <p:nvPr/>
        </p:nvSpPr>
        <p:spPr>
          <a:xfrm>
            <a:off x="8307457" y="3262744"/>
            <a:ext cx="4923333" cy="3595255"/>
          </a:xfrm>
          <a:prstGeom prst="rect">
            <a:avLst/>
          </a:prstGeom>
          <a:gradFill>
            <a:gsLst>
              <a:gs pos="0">
                <a:srgbClr val="15234F">
                  <a:alpha val="0"/>
                </a:srgbClr>
              </a:gs>
              <a:gs pos="100000">
                <a:srgbClr val="15234F">
                  <a:alpha val="9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26"/>
          <p:cNvSpPr/>
          <p:nvPr/>
        </p:nvSpPr>
        <p:spPr>
          <a:xfrm>
            <a:off x="4113032" y="612742"/>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27"/>
          <p:cNvSpPr/>
          <p:nvPr/>
        </p:nvSpPr>
        <p:spPr>
          <a:xfrm flipH="1">
            <a:off x="1" y="10391"/>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94553" y="150818"/>
            <a:ext cx="6106714" cy="1125795"/>
            <a:chOff x="494553" y="150818"/>
            <a:chExt cx="6106714" cy="1125795"/>
          </a:xfrm>
        </p:grpSpPr>
        <p:grpSp>
          <p:nvGrpSpPr>
            <p:cNvPr id="34" name="组合 33"/>
            <p:cNvGrpSpPr/>
            <p:nvPr/>
          </p:nvGrpSpPr>
          <p:grpSpPr>
            <a:xfrm>
              <a:off x="494553" y="321393"/>
              <a:ext cx="5744845" cy="955220"/>
              <a:chOff x="494553" y="321393"/>
              <a:chExt cx="5744845" cy="955220"/>
            </a:xfrm>
          </p:grpSpPr>
          <p:sp>
            <p:nvSpPr>
              <p:cNvPr id="35" name="文本框 34"/>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办学</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优势</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36" name="文本框 35"/>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63"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知识</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北语</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sp>
        <p:nvSpPr>
          <p:cNvPr id="4" name="矩形 3"/>
          <p:cNvSpPr/>
          <p:nvPr/>
        </p:nvSpPr>
        <p:spPr>
          <a:xfrm>
            <a:off x="3768012" y="1430260"/>
            <a:ext cx="8316615" cy="5078313"/>
          </a:xfrm>
          <a:prstGeom prst="rect">
            <a:avLst/>
          </a:prstGeom>
        </p:spPr>
        <p:txBody>
          <a:bodyPr wrap="square">
            <a:spAutoFit/>
          </a:bodyPr>
          <a:lstStyle/>
          <a:p>
            <a:pPr marL="285750" indent="-285750" algn="just">
              <a:lnSpc>
                <a:spcPct val="300000"/>
              </a:lnSpc>
              <a:spcAft>
                <a:spcPts val="0"/>
              </a:spcAft>
              <a:buFont typeface="Arial" panose="020B0604020202020204" pitchFamily="34" charset="0"/>
              <a:buChar char="•"/>
            </a:pP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汉语国际教育和中华文化教育</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历史最长，规模最大，师资力量最雄厚的高校</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双万专业：</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5</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个国家级一流本科专业建设点，</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1</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个省级一流本科专业建设点</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特色专业：</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国家级特色专业</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7</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个、北京市</a:t>
            </a:r>
            <a:r>
              <a:rPr lang="zh-CN" altLang="en-US"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重点学科</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4</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师资团队：</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国家级优秀教学团队</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2</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个、市级优秀教学团队</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3</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2019</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软科</a:t>
            </a:r>
            <a:r>
              <a:rPr lang="en-US"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中国最好大学排名</a:t>
            </a:r>
            <a:r>
              <a:rPr lang="en-US"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，北语位列全国高校第</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63</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位</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300000"/>
              </a:lnSpc>
              <a:spcAft>
                <a:spcPts val="0"/>
              </a:spcAft>
              <a:buFont typeface="Arial" panose="020B0604020202020204" pitchFamily="34" charset="0"/>
              <a:buChar char="•"/>
            </a:pP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2019</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软科</a:t>
            </a:r>
            <a:r>
              <a:rPr lang="zh-CN" altLang="en-US"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中国最好学科排名”</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，中国语言文学</a:t>
            </a:r>
            <a:r>
              <a:rPr lang="zh-CN" altLang="en-US"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一级</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学科位列全国前</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6%</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p:txBody>
      </p:sp>
      <p:pic>
        <p:nvPicPr>
          <p:cNvPr id="10" name="图片 9"/>
          <p:cNvPicPr>
            <a:picLocks noChangeAspect="1"/>
          </p:cNvPicPr>
          <p:nvPr/>
        </p:nvPicPr>
        <p:blipFill>
          <a:blip r:embed="rId1"/>
          <a:stretch>
            <a:fillRect/>
          </a:stretch>
        </p:blipFill>
        <p:spPr>
          <a:xfrm>
            <a:off x="494553" y="1875830"/>
            <a:ext cx="3132963" cy="4447067"/>
          </a:xfrm>
          <a:prstGeom prst="snip2DiagRect">
            <a:avLst/>
          </a:prstGeom>
          <a:solidFill>
            <a:srgbClr val="FFFFFF">
              <a:shade val="85000"/>
            </a:srgbClr>
          </a:solidFill>
          <a:ln w="88900" cap="sq">
            <a:solidFill>
              <a:srgbClr val="FFFF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26"/>
          <p:cNvSpPr/>
          <p:nvPr/>
        </p:nvSpPr>
        <p:spPr>
          <a:xfrm>
            <a:off x="4113032"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27"/>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94553" y="150818"/>
            <a:ext cx="6106714" cy="1125795"/>
            <a:chOff x="494553" y="150818"/>
            <a:chExt cx="6106714" cy="1125795"/>
          </a:xfrm>
        </p:grpSpPr>
        <p:grpSp>
          <p:nvGrpSpPr>
            <p:cNvPr id="34" name="组合 33"/>
            <p:cNvGrpSpPr/>
            <p:nvPr/>
          </p:nvGrpSpPr>
          <p:grpSpPr>
            <a:xfrm>
              <a:off x="494553" y="321393"/>
              <a:ext cx="5744845" cy="955220"/>
              <a:chOff x="494553" y="321393"/>
              <a:chExt cx="5744845" cy="955220"/>
            </a:xfrm>
          </p:grpSpPr>
          <p:sp>
            <p:nvSpPr>
              <p:cNvPr id="35" name="文本框 34"/>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办学</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优势</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36" name="文本框 35"/>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63"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学术</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北语</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sp>
        <p:nvSpPr>
          <p:cNvPr id="2" name="矩形 1"/>
          <p:cNvSpPr/>
          <p:nvPr/>
        </p:nvSpPr>
        <p:spPr>
          <a:xfrm>
            <a:off x="494553" y="1175025"/>
            <a:ext cx="11091311" cy="3416320"/>
          </a:xfrm>
          <a:prstGeom prst="rect">
            <a:avLst/>
          </a:prstGeom>
        </p:spPr>
        <p:txBody>
          <a:bodyPr wrap="square">
            <a:spAutoFit/>
          </a:bodyPr>
          <a:lstStyle/>
          <a:p>
            <a:pPr marL="285750" indent="-285750" algn="just">
              <a:lnSpc>
                <a:spcPct val="200000"/>
              </a:lnSpc>
              <a:spcAft>
                <a:spcPts val="0"/>
              </a:spcAft>
              <a:buFont typeface="Arial" panose="020B0604020202020204" pitchFamily="34" charset="0"/>
              <a:buChar char="•"/>
            </a:pPr>
            <a:r>
              <a:rPr lang="zh-CN" altLang="en-US"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以汉语国际教育研究为优势和特色、以语言学研究和中华文化研究为重心、以促进中华文化传承与传播和构建人类命运共同体为宗旨的科学研究体系</a:t>
            </a:r>
            <a:endPar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200000"/>
              </a:lnSpc>
              <a:spcAft>
                <a:spcPts val="0"/>
              </a:spcAft>
              <a:buFont typeface="Arial" panose="020B0604020202020204" pitchFamily="34" charset="0"/>
              <a:buChar char="•"/>
            </a:pP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从“本、硕、博”到博士后流动站</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，人才培养体系层次齐备</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200000"/>
              </a:lnSpc>
              <a:spcAft>
                <a:spcPts val="0"/>
              </a:spcAft>
              <a:buFont typeface="Arial" panose="020B0604020202020204" pitchFamily="34" charset="0"/>
              <a:buChar char="•"/>
            </a:pP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文学、经济学、法学、工学、历史学、教育学、管理学和艺术学</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八个学科门类</a:t>
            </a:r>
            <a:endPar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200000"/>
              </a:lnSpc>
              <a:spcAft>
                <a:spcPts val="0"/>
              </a:spcAft>
              <a:buFont typeface="Arial" panose="020B0604020202020204" pitchFamily="34" charset="0"/>
              <a:buChar char="•"/>
            </a:pP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国家重点</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学科</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1</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a:t>
            </a:r>
            <a:r>
              <a:rPr lang="zh-CN" altLang="en-US"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北京市</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重点</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学科</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10</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北京市高精尖</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学科</a:t>
            </a:r>
            <a:r>
              <a:rPr lang="en-US"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2</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个</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a:p>
            <a:pPr marL="285750" indent="-285750" algn="just">
              <a:lnSpc>
                <a:spcPct val="200000"/>
              </a:lnSpc>
              <a:spcAft>
                <a:spcPts val="0"/>
              </a:spcAft>
              <a:buFont typeface="Arial" panose="020B0604020202020204" pitchFamily="34" charset="0"/>
              <a:buChar char="•"/>
            </a:pP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省部级以上</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研究中心（基地）</a:t>
            </a:r>
            <a:r>
              <a:rPr lang="en-US"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13</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个，</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汉语国际教育研究院是</a:t>
            </a:r>
            <a:r>
              <a:rPr lang="zh-CN" altLang="zh-CN" b="1" kern="100" dirty="0">
                <a:solidFill>
                  <a:srgbClr val="FF9933"/>
                </a:solidFill>
                <a:latin typeface="微软雅黑 Light" panose="020B0502040204020203" pitchFamily="34" charset="-122"/>
                <a:ea typeface="微软雅黑 Light" panose="020B0502040204020203" pitchFamily="34" charset="-122"/>
                <a:cs typeface="Arial" panose="020B0604020202020204" pitchFamily="34" charset="0"/>
              </a:rPr>
              <a:t>教育部人文社会科学百所重点研究基地</a:t>
            </a:r>
            <a:r>
              <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rPr>
              <a:t>之一</a:t>
            </a:r>
            <a:endParaRPr lang="zh-CN" altLang="zh-CN" kern="100" dirty="0">
              <a:solidFill>
                <a:schemeClr val="bg2">
                  <a:lumMod val="50000"/>
                </a:schemeClr>
              </a:solidFill>
              <a:latin typeface="微软雅黑 Light" panose="020B0502040204020203" pitchFamily="34" charset="-122"/>
              <a:ea typeface="微软雅黑 Light" panose="020B0502040204020203" pitchFamily="34" charset="-122"/>
              <a:cs typeface="Arial" panose="020B0604020202020204" pitchFamily="34" charset="0"/>
            </a:endParaRPr>
          </a:p>
        </p:txBody>
      </p:sp>
      <p:pic>
        <p:nvPicPr>
          <p:cNvPr id="7" name="图片 6"/>
          <p:cNvPicPr>
            <a:picLocks noChangeAspect="1"/>
          </p:cNvPicPr>
          <p:nvPr/>
        </p:nvPicPr>
        <p:blipFill rotWithShape="1">
          <a:blip r:embed="rId1"/>
          <a:srcRect/>
          <a:stretch>
            <a:fillRect/>
          </a:stretch>
        </p:blipFill>
        <p:spPr>
          <a:xfrm>
            <a:off x="0" y="4620095"/>
            <a:ext cx="12192000" cy="3584864"/>
          </a:xfrm>
          <a:prstGeom prst="rect">
            <a:avLst/>
          </a:prstGeom>
        </p:spPr>
      </p:pic>
      <p:sp>
        <p:nvSpPr>
          <p:cNvPr id="13" name="矩形 12"/>
          <p:cNvSpPr/>
          <p:nvPr/>
        </p:nvSpPr>
        <p:spPr>
          <a:xfrm>
            <a:off x="-93705" y="5041996"/>
            <a:ext cx="12379410" cy="3632008"/>
          </a:xfrm>
          <a:prstGeom prst="rect">
            <a:avLst/>
          </a:prstGeom>
          <a:gradFill>
            <a:gsLst>
              <a:gs pos="0">
                <a:srgbClr val="15234F">
                  <a:alpha val="0"/>
                </a:srgbClr>
              </a:gs>
              <a:gs pos="100000">
                <a:srgbClr val="15234F">
                  <a:alpha val="9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26"/>
          <p:cNvSpPr/>
          <p:nvPr/>
        </p:nvSpPr>
        <p:spPr>
          <a:xfrm>
            <a:off x="4113032"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27"/>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94553" y="150818"/>
            <a:ext cx="6106714" cy="1125795"/>
            <a:chOff x="494553" y="150818"/>
            <a:chExt cx="6106714" cy="1125795"/>
          </a:xfrm>
        </p:grpSpPr>
        <p:grpSp>
          <p:nvGrpSpPr>
            <p:cNvPr id="34" name="组合 33"/>
            <p:cNvGrpSpPr/>
            <p:nvPr/>
          </p:nvGrpSpPr>
          <p:grpSpPr>
            <a:xfrm>
              <a:off x="494553" y="321393"/>
              <a:ext cx="5744845" cy="955220"/>
              <a:chOff x="494553" y="321393"/>
              <a:chExt cx="5744845" cy="955220"/>
            </a:xfrm>
          </p:grpSpPr>
          <p:sp>
            <p:nvSpPr>
              <p:cNvPr id="35" name="文本框 34"/>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办学</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优势</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36" name="文本框 35"/>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63"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社会</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认可</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sp>
        <p:nvSpPr>
          <p:cNvPr id="4" name="矩形 3"/>
          <p:cNvSpPr/>
          <p:nvPr/>
        </p:nvSpPr>
        <p:spPr>
          <a:xfrm>
            <a:off x="761241" y="1610076"/>
            <a:ext cx="6703581" cy="3785652"/>
          </a:xfrm>
          <a:prstGeom prst="rect">
            <a:avLst/>
          </a:prstGeom>
        </p:spPr>
        <p:txBody>
          <a:bodyPr wrap="square">
            <a:spAutoFit/>
          </a:bodyPr>
          <a:lstStyle/>
          <a:p>
            <a:pPr marL="342900" indent="-342900">
              <a:lnSpc>
                <a:spcPct val="200000"/>
              </a:lnSpc>
              <a:buFont typeface="Wingdings" panose="05000000000000000000" pitchFamily="2" charset="2"/>
              <a:buChar char="l"/>
            </a:pPr>
            <a:r>
              <a:rPr lang="en-US" altLang="zh-CN" sz="2000" b="1" dirty="0">
                <a:latin typeface="微软雅黑 Light" panose="020B0502040204020203" pitchFamily="34" charset="-122"/>
                <a:ea typeface="微软雅黑 Light" panose="020B0502040204020203" pitchFamily="34" charset="-122"/>
              </a:rPr>
              <a:t>2020</a:t>
            </a:r>
            <a:r>
              <a:rPr lang="zh-CN" altLang="en-US" sz="2000" b="1" dirty="0">
                <a:latin typeface="微软雅黑 Light" panose="020B0502040204020203" pitchFamily="34" charset="-122"/>
                <a:ea typeface="微软雅黑 Light" panose="020B0502040204020203" pitchFamily="34" charset="-122"/>
              </a:rPr>
              <a:t>软科中国大学新生质量排名</a:t>
            </a:r>
            <a:endParaRPr lang="en-US" altLang="zh-CN" sz="2000" b="1" dirty="0">
              <a:latin typeface="微软雅黑 Light" panose="020B0502040204020203" pitchFamily="34" charset="-122"/>
              <a:ea typeface="微软雅黑 Light" panose="020B0502040204020203" pitchFamily="34" charset="-122"/>
            </a:endParaRPr>
          </a:p>
          <a:p>
            <a:pPr marL="800100" lvl="1" indent="-342900">
              <a:lnSpc>
                <a:spcPct val="200000"/>
              </a:lnSpc>
              <a:buFont typeface="Wingdings" panose="05000000000000000000" pitchFamily="2" charset="2"/>
              <a:buChar char="ü"/>
            </a:pPr>
            <a:r>
              <a:rPr lang="zh-CN" altLang="en-US" sz="2000" b="1" dirty="0">
                <a:solidFill>
                  <a:srgbClr val="F4180B"/>
                </a:solidFill>
                <a:latin typeface="微软雅黑 Light" panose="020B0502040204020203" pitchFamily="34" charset="-122"/>
                <a:ea typeface="微软雅黑 Light" panose="020B0502040204020203" pitchFamily="34" charset="-122"/>
              </a:rPr>
              <a:t>北语位居第</a:t>
            </a:r>
            <a:r>
              <a:rPr lang="en-US" altLang="zh-CN" sz="2000" b="1" dirty="0">
                <a:solidFill>
                  <a:srgbClr val="F4180B"/>
                </a:solidFill>
                <a:latin typeface="微软雅黑 Light" panose="020B0502040204020203" pitchFamily="34" charset="-122"/>
                <a:ea typeface="微软雅黑 Light" panose="020B0502040204020203" pitchFamily="34" charset="-122"/>
              </a:rPr>
              <a:t>57</a:t>
            </a:r>
            <a:r>
              <a:rPr lang="zh-CN" altLang="en-US" sz="2000" b="1" dirty="0">
                <a:solidFill>
                  <a:srgbClr val="F4180B"/>
                </a:solidFill>
                <a:latin typeface="微软雅黑 Light" panose="020B0502040204020203" pitchFamily="34" charset="-122"/>
                <a:ea typeface="微软雅黑 Light" panose="020B0502040204020203" pitchFamily="34" charset="-122"/>
              </a:rPr>
              <a:t>位</a:t>
            </a:r>
            <a:endParaRPr lang="en-US" altLang="zh-CN" sz="2000" dirty="0">
              <a:solidFill>
                <a:srgbClr val="333333"/>
              </a:solidFill>
              <a:latin typeface="微软雅黑 Light" panose="020B0502040204020203" pitchFamily="34" charset="-122"/>
              <a:ea typeface="微软雅黑 Light" panose="020B0502040204020203" pitchFamily="34" charset="-122"/>
            </a:endParaRPr>
          </a:p>
          <a:p>
            <a:pPr marL="342900" indent="-342900">
              <a:lnSpc>
                <a:spcPct val="200000"/>
              </a:lnSpc>
              <a:buFont typeface="Wingdings" panose="05000000000000000000" pitchFamily="2" charset="2"/>
              <a:buChar char="l"/>
            </a:pPr>
            <a:r>
              <a:rPr lang="en-US" altLang="zh-CN" sz="2000" b="1" dirty="0">
                <a:solidFill>
                  <a:srgbClr val="333333"/>
                </a:solidFill>
                <a:latin typeface="微软雅黑 Light" panose="020B0502040204020203" pitchFamily="34" charset="-122"/>
                <a:ea typeface="微软雅黑 Light" panose="020B0502040204020203" pitchFamily="34" charset="-122"/>
              </a:rPr>
              <a:t>2020</a:t>
            </a:r>
            <a:r>
              <a:rPr lang="zh-CN" altLang="en-US" sz="2000" b="1" dirty="0">
                <a:solidFill>
                  <a:srgbClr val="333333"/>
                </a:solidFill>
                <a:latin typeface="微软雅黑 Light" panose="020B0502040204020203" pitchFamily="34" charset="-122"/>
                <a:ea typeface="微软雅黑 Light" panose="020B0502040204020203" pitchFamily="34" charset="-122"/>
              </a:rPr>
              <a:t>中国大学本科毕业生质量排行榜</a:t>
            </a:r>
            <a:endParaRPr lang="en-US" altLang="zh-CN" sz="2000" b="1" dirty="0">
              <a:solidFill>
                <a:srgbClr val="333333"/>
              </a:solidFill>
              <a:latin typeface="微软雅黑 Light" panose="020B0502040204020203" pitchFamily="34" charset="-122"/>
              <a:ea typeface="微软雅黑 Light" panose="020B0502040204020203" pitchFamily="34" charset="-122"/>
            </a:endParaRPr>
          </a:p>
          <a:p>
            <a:pPr marL="800100" lvl="1" indent="-342900">
              <a:lnSpc>
                <a:spcPct val="200000"/>
              </a:lnSpc>
              <a:buFont typeface="Wingdings" panose="05000000000000000000" pitchFamily="2" charset="2"/>
              <a:buChar char="ü"/>
            </a:pPr>
            <a:r>
              <a:rPr lang="zh-CN" altLang="en-US" sz="2000" b="1" dirty="0">
                <a:solidFill>
                  <a:srgbClr val="F4180B"/>
                </a:solidFill>
                <a:latin typeface="微软雅黑 Light" panose="020B0502040204020203" pitchFamily="34" charset="-122"/>
                <a:ea typeface="微软雅黑 Light" panose="020B0502040204020203" pitchFamily="34" charset="-122"/>
              </a:rPr>
              <a:t>毕业质量等级为</a:t>
            </a:r>
            <a:r>
              <a:rPr lang="en-US" altLang="zh-CN" sz="2000" b="1" dirty="0">
                <a:solidFill>
                  <a:srgbClr val="F4180B"/>
                </a:solidFill>
                <a:latin typeface="微软雅黑 Light" panose="020B0502040204020203" pitchFamily="34" charset="-122"/>
                <a:ea typeface="微软雅黑 Light" panose="020B0502040204020203" pitchFamily="34" charset="-122"/>
              </a:rPr>
              <a:t>A</a:t>
            </a:r>
            <a:r>
              <a:rPr lang="zh-CN" altLang="en-US" sz="2000" b="1" dirty="0">
                <a:solidFill>
                  <a:srgbClr val="F4180B"/>
                </a:solidFill>
                <a:latin typeface="微软雅黑 Light" panose="020B0502040204020203" pitchFamily="34" charset="-122"/>
                <a:ea typeface="微软雅黑 Light" panose="020B0502040204020203" pitchFamily="34" charset="-122"/>
              </a:rPr>
              <a:t>级，位居第</a:t>
            </a:r>
            <a:r>
              <a:rPr lang="en-US" altLang="zh-CN" sz="2000" b="1" dirty="0">
                <a:solidFill>
                  <a:srgbClr val="F4180B"/>
                </a:solidFill>
                <a:latin typeface="微软雅黑 Light" panose="020B0502040204020203" pitchFamily="34" charset="-122"/>
                <a:ea typeface="微软雅黑 Light" panose="020B0502040204020203" pitchFamily="34" charset="-122"/>
              </a:rPr>
              <a:t>50</a:t>
            </a:r>
            <a:r>
              <a:rPr lang="zh-CN" altLang="en-US" sz="2000" b="1" dirty="0">
                <a:solidFill>
                  <a:srgbClr val="F4180B"/>
                </a:solidFill>
                <a:latin typeface="微软雅黑 Light" panose="020B0502040204020203" pitchFamily="34" charset="-122"/>
                <a:ea typeface="微软雅黑 Light" panose="020B0502040204020203" pitchFamily="34" charset="-122"/>
              </a:rPr>
              <a:t>位</a:t>
            </a:r>
            <a:endParaRPr lang="en-US" altLang="zh-CN" sz="2000" dirty="0">
              <a:solidFill>
                <a:srgbClr val="333333"/>
              </a:solidFill>
              <a:latin typeface="微软雅黑 Light" panose="020B0502040204020203" pitchFamily="34" charset="-122"/>
              <a:ea typeface="微软雅黑 Light" panose="020B0502040204020203" pitchFamily="34" charset="-122"/>
            </a:endParaRPr>
          </a:p>
          <a:p>
            <a:pPr marL="342900" indent="-342900">
              <a:lnSpc>
                <a:spcPct val="200000"/>
              </a:lnSpc>
              <a:buFont typeface="Wingdings" panose="05000000000000000000" pitchFamily="2" charset="2"/>
              <a:buChar char="l"/>
            </a:pPr>
            <a:r>
              <a:rPr lang="en-US" altLang="zh-CN" sz="2000" b="1" dirty="0">
                <a:solidFill>
                  <a:srgbClr val="333333"/>
                </a:solidFill>
                <a:latin typeface="微软雅黑 Light" panose="020B0502040204020203" pitchFamily="34" charset="-122"/>
                <a:ea typeface="微软雅黑 Light" panose="020B0502040204020203" pitchFamily="34" charset="-122"/>
              </a:rPr>
              <a:t>2020</a:t>
            </a:r>
            <a:r>
              <a:rPr lang="zh-CN" altLang="en-US" sz="2000" b="1" dirty="0">
                <a:solidFill>
                  <a:srgbClr val="333333"/>
                </a:solidFill>
                <a:latin typeface="微软雅黑 Light" panose="020B0502040204020203" pitchFamily="34" charset="-122"/>
                <a:ea typeface="微软雅黑 Light" panose="020B0502040204020203" pitchFamily="34" charset="-122"/>
              </a:rPr>
              <a:t>校友会世界一流大学排名</a:t>
            </a:r>
            <a:endParaRPr lang="en-US" altLang="zh-CN" sz="2000" b="1" dirty="0">
              <a:solidFill>
                <a:srgbClr val="333333"/>
              </a:solidFill>
              <a:latin typeface="微软雅黑 Light" panose="020B0502040204020203" pitchFamily="34" charset="-122"/>
              <a:ea typeface="微软雅黑 Light" panose="020B0502040204020203" pitchFamily="34" charset="-122"/>
            </a:endParaRPr>
          </a:p>
          <a:p>
            <a:pPr marL="800100" lvl="1" indent="-342900">
              <a:lnSpc>
                <a:spcPct val="200000"/>
              </a:lnSpc>
              <a:buFont typeface="Wingdings" panose="05000000000000000000" pitchFamily="2" charset="2"/>
              <a:buChar char="ü"/>
            </a:pPr>
            <a:r>
              <a:rPr lang="zh-CN" altLang="en-US" sz="2000" b="1" dirty="0">
                <a:solidFill>
                  <a:srgbClr val="F4180B"/>
                </a:solidFill>
                <a:latin typeface="微软雅黑 Light" panose="020B0502040204020203" pitchFamily="34" charset="-122"/>
                <a:ea typeface="微软雅黑 Light" panose="020B0502040204020203" pitchFamily="34" charset="-122"/>
              </a:rPr>
              <a:t>中国五星级大学，世界知名、中国一流大学</a:t>
            </a:r>
            <a:endParaRPr lang="zh-CN" altLang="en-US" sz="2000" dirty="0">
              <a:latin typeface="微软雅黑 Light" panose="020B0502040204020203" pitchFamily="34" charset="-122"/>
              <a:ea typeface="微软雅黑 Light" panose="020B0502040204020203" pitchFamily="34"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28919" y="0"/>
            <a:ext cx="4263081" cy="6858000"/>
          </a:xfrm>
          <a:prstGeom prst="rect">
            <a:avLst/>
          </a:prstGeom>
        </p:spPr>
      </p:pic>
    </p:spTree>
  </p:cSld>
  <p:clrMapOvr>
    <a:masterClrMapping/>
  </p:clrMapOvr>
  <p:transition spd="slow">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9028"/>
            <a:ext cx="12192000" cy="8128000"/>
          </a:xfrm>
          <a:prstGeom prst="rect">
            <a:avLst/>
          </a:prstGeom>
        </p:spPr>
      </p:pic>
      <p:sp>
        <p:nvSpPr>
          <p:cNvPr id="5" name="矩形 4"/>
          <p:cNvSpPr/>
          <p:nvPr/>
        </p:nvSpPr>
        <p:spPr>
          <a:xfrm>
            <a:off x="0" y="853073"/>
            <a:ext cx="12192000" cy="6858000"/>
          </a:xfrm>
          <a:prstGeom prst="rect">
            <a:avLst/>
          </a:prstGeom>
          <a:gradFill>
            <a:gsLst>
              <a:gs pos="0">
                <a:srgbClr val="15234F">
                  <a:alpha val="0"/>
                </a:srgbClr>
              </a:gs>
              <a:gs pos="100000">
                <a:srgbClr val="15234F">
                  <a:alpha val="9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2867596" y="0"/>
            <a:ext cx="6241670" cy="5016500"/>
          </a:xfrm>
          <a:custGeom>
            <a:avLst/>
            <a:gdLst>
              <a:gd name="connsiteX0" fmla="*/ 2221808 w 6241670"/>
              <a:gd name="connsiteY0" fmla="*/ 0 h 5016500"/>
              <a:gd name="connsiteX1" fmla="*/ 3679362 w 6241670"/>
              <a:gd name="connsiteY1" fmla="*/ 0 h 5016500"/>
              <a:gd name="connsiteX2" fmla="*/ 4784116 w 6241670"/>
              <a:gd name="connsiteY2" fmla="*/ 0 h 5016500"/>
              <a:gd name="connsiteX3" fmla="*/ 6241670 w 6241670"/>
              <a:gd name="connsiteY3" fmla="*/ 0 h 5016500"/>
              <a:gd name="connsiteX4" fmla="*/ 4019862 w 6241670"/>
              <a:gd name="connsiteY4" fmla="*/ 5016500 h 5016500"/>
              <a:gd name="connsiteX5" fmla="*/ 2562308 w 6241670"/>
              <a:gd name="connsiteY5" fmla="*/ 5016500 h 5016500"/>
              <a:gd name="connsiteX6" fmla="*/ 1457554 w 6241670"/>
              <a:gd name="connsiteY6" fmla="*/ 5016500 h 5016500"/>
              <a:gd name="connsiteX7" fmla="*/ 0 w 6241670"/>
              <a:gd name="connsiteY7" fmla="*/ 5016500 h 501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1670" h="5016500">
                <a:moveTo>
                  <a:pt x="2221808" y="0"/>
                </a:moveTo>
                <a:lnTo>
                  <a:pt x="3679362" y="0"/>
                </a:lnTo>
                <a:lnTo>
                  <a:pt x="4784116" y="0"/>
                </a:lnTo>
                <a:lnTo>
                  <a:pt x="6241670" y="0"/>
                </a:lnTo>
                <a:lnTo>
                  <a:pt x="4019862" y="5016500"/>
                </a:lnTo>
                <a:lnTo>
                  <a:pt x="2562308" y="5016500"/>
                </a:lnTo>
                <a:lnTo>
                  <a:pt x="1457554" y="5016500"/>
                </a:lnTo>
                <a:lnTo>
                  <a:pt x="0" y="5016500"/>
                </a:lnTo>
                <a:close/>
              </a:path>
            </a:pathLst>
          </a:custGeom>
          <a:gradFill>
            <a:gsLst>
              <a:gs pos="900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p:nvSpPr>
        <p:spPr>
          <a:xfrm>
            <a:off x="1681814" y="0"/>
            <a:ext cx="1984909" cy="245089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gradFill>
            <a:gsLst>
              <a:gs pos="25800">
                <a:srgbClr val="45BDD6">
                  <a:alpha val="57000"/>
                </a:srgbClr>
              </a:gs>
              <a:gs pos="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064933" y="3068846"/>
            <a:ext cx="6062133" cy="1107996"/>
          </a:xfrm>
          <a:prstGeom prst="rect">
            <a:avLst/>
          </a:prstGeom>
          <a:noFill/>
        </p:spPr>
        <p:txBody>
          <a:bodyPr wrap="square" rtlCol="0">
            <a:spAutoFit/>
            <a:scene3d>
              <a:camera prst="orthographicFront"/>
              <a:lightRig rig="threePt" dir="t"/>
            </a:scene3d>
            <a:sp3d contourW="12700"/>
          </a:bodyPr>
          <a:lstStyle/>
          <a:p>
            <a:pPr algn="ctr"/>
            <a:r>
              <a:rPr lang="en-US" altLang="zh-CN"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02.</a:t>
            </a:r>
            <a:r>
              <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培养特色</a:t>
            </a:r>
            <a:endPar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6" name="Oval 1"/>
          <p:cNvSpPr/>
          <p:nvPr/>
        </p:nvSpPr>
        <p:spPr>
          <a:xfrm flipH="1">
            <a:off x="342899"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Oval 13"/>
          <p:cNvSpPr/>
          <p:nvPr/>
        </p:nvSpPr>
        <p:spPr>
          <a:xfrm>
            <a:off x="825498"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任意多边形: 形状 22"/>
          <p:cNvSpPr/>
          <p:nvPr/>
        </p:nvSpPr>
        <p:spPr>
          <a:xfrm>
            <a:off x="-1365869" y="-643354"/>
            <a:ext cx="2423829" cy="2992854"/>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任意多边形: 形状 23"/>
          <p:cNvSpPr/>
          <p:nvPr/>
        </p:nvSpPr>
        <p:spPr>
          <a:xfrm>
            <a:off x="10907445" y="4626578"/>
            <a:ext cx="2569110" cy="317224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任意多边形: 形状 26"/>
          <p:cNvSpPr/>
          <p:nvPr/>
        </p:nvSpPr>
        <p:spPr>
          <a:xfrm>
            <a:off x="7905841" y="5052194"/>
            <a:ext cx="1967489" cy="1905405"/>
          </a:xfrm>
          <a:custGeom>
            <a:avLst/>
            <a:gdLst>
              <a:gd name="connsiteX0" fmla="*/ 876588 w 2043689"/>
              <a:gd name="connsiteY0" fmla="*/ 0 h 1979200"/>
              <a:gd name="connsiteX1" fmla="*/ 1317378 w 2043689"/>
              <a:gd name="connsiteY1" fmla="*/ 0 h 1979200"/>
              <a:gd name="connsiteX2" fmla="*/ 1602899 w 2043689"/>
              <a:gd name="connsiteY2" fmla="*/ 0 h 1979200"/>
              <a:gd name="connsiteX3" fmla="*/ 2043689 w 2043689"/>
              <a:gd name="connsiteY3" fmla="*/ 0 h 1979200"/>
              <a:gd name="connsiteX4" fmla="*/ 1167101 w 2043689"/>
              <a:gd name="connsiteY4" fmla="*/ 1979200 h 1979200"/>
              <a:gd name="connsiteX5" fmla="*/ 726311 w 2043689"/>
              <a:gd name="connsiteY5" fmla="*/ 1979200 h 1979200"/>
              <a:gd name="connsiteX6" fmla="*/ 440790 w 2043689"/>
              <a:gd name="connsiteY6" fmla="*/ 1979200 h 1979200"/>
              <a:gd name="connsiteX7" fmla="*/ 0 w 2043689"/>
              <a:gd name="connsiteY7" fmla="*/ 1979200 h 197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3689" h="1979200">
                <a:moveTo>
                  <a:pt x="876588" y="0"/>
                </a:moveTo>
                <a:lnTo>
                  <a:pt x="1317378" y="0"/>
                </a:lnTo>
                <a:lnTo>
                  <a:pt x="1602899" y="0"/>
                </a:lnTo>
                <a:lnTo>
                  <a:pt x="2043689" y="0"/>
                </a:lnTo>
                <a:lnTo>
                  <a:pt x="1167101" y="1979200"/>
                </a:lnTo>
                <a:lnTo>
                  <a:pt x="726311" y="1979200"/>
                </a:lnTo>
                <a:lnTo>
                  <a:pt x="440790" y="1979200"/>
                </a:lnTo>
                <a:lnTo>
                  <a:pt x="0" y="1979200"/>
                </a:lnTo>
                <a:close/>
              </a:path>
            </a:pathLst>
          </a:custGeom>
          <a:gradFill>
            <a:gsLst>
              <a:gs pos="0">
                <a:srgbClr val="45BDD6">
                  <a:alpha val="72000"/>
                </a:srgbClr>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0-#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500" fill="hold"/>
                                        <p:tgtEl>
                                          <p:spTgt spid="27"/>
                                        </p:tgtEl>
                                        <p:attrNameLst>
                                          <p:attrName>ppt_x</p:attrName>
                                        </p:attrNameLst>
                                      </p:cBhvr>
                                      <p:tavLst>
                                        <p:tav tm="0">
                                          <p:val>
                                            <p:strVal val="#ppt_x"/>
                                          </p:val>
                                        </p:tav>
                                        <p:tav tm="100000">
                                          <p:val>
                                            <p:strVal val="#ppt_x"/>
                                          </p:val>
                                        </p:tav>
                                      </p:tavLst>
                                    </p:anim>
                                    <p:anim calcmode="lin" valueType="num">
                                      <p:cBhvr additive="base">
                                        <p:cTn id="21" dur="500" fill="hold"/>
                                        <p:tgtEl>
                                          <p:spTgt spid="27"/>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up)">
                                      <p:cBhvr>
                                        <p:cTn id="25" dur="500"/>
                                        <p:tgtEl>
                                          <p:spTgt spid="22"/>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8" grpId="0" animBg="1"/>
      <p:bldP spid="13" grpId="0"/>
      <p:bldP spid="23" grpId="0" animBg="1"/>
      <p:bldP spid="24" grpId="0" animBg="1"/>
      <p:bldP spid="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任意多边形: 形状 4"/>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5"/>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p:cNvSpPr/>
          <p:nvPr/>
        </p:nvSpPr>
        <p:spPr>
          <a:xfrm>
            <a:off x="1058220" y="3479800"/>
            <a:ext cx="9458492" cy="2681157"/>
          </a:xfrm>
          <a:custGeom>
            <a:avLst/>
            <a:gdLst>
              <a:gd name="connsiteX0" fmla="*/ 1116980 w 9458492"/>
              <a:gd name="connsiteY0" fmla="*/ 0 h 2521969"/>
              <a:gd name="connsiteX1" fmla="*/ 9458492 w 9458492"/>
              <a:gd name="connsiteY1" fmla="*/ 0 h 2521969"/>
              <a:gd name="connsiteX2" fmla="*/ 8341512 w 9458492"/>
              <a:gd name="connsiteY2" fmla="*/ 2521969 h 2521969"/>
              <a:gd name="connsiteX3" fmla="*/ 0 w 9458492"/>
              <a:gd name="connsiteY3" fmla="*/ 2521969 h 2521969"/>
            </a:gdLst>
            <a:ahLst/>
            <a:cxnLst>
              <a:cxn ang="0">
                <a:pos x="connsiteX0" y="connsiteY0"/>
              </a:cxn>
              <a:cxn ang="0">
                <a:pos x="connsiteX1" y="connsiteY1"/>
              </a:cxn>
              <a:cxn ang="0">
                <a:pos x="connsiteX2" y="connsiteY2"/>
              </a:cxn>
              <a:cxn ang="0">
                <a:pos x="connsiteX3" y="connsiteY3"/>
              </a:cxn>
            </a:cxnLst>
            <a:rect l="l" t="t" r="r" b="b"/>
            <a:pathLst>
              <a:path w="9458492" h="2521969">
                <a:moveTo>
                  <a:pt x="1116980" y="0"/>
                </a:moveTo>
                <a:lnTo>
                  <a:pt x="9458492" y="0"/>
                </a:lnTo>
                <a:lnTo>
                  <a:pt x="8341512" y="2521969"/>
                </a:lnTo>
                <a:lnTo>
                  <a:pt x="0" y="2521969"/>
                </a:lnTo>
                <a:close/>
              </a:path>
            </a:pathLst>
          </a:cu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33" name="任意多边形: 形状 32"/>
          <p:cNvSpPr/>
          <p:nvPr/>
        </p:nvSpPr>
        <p:spPr>
          <a:xfrm>
            <a:off x="2175199" y="2074862"/>
            <a:ext cx="8963760" cy="1404938"/>
          </a:xfrm>
          <a:custGeom>
            <a:avLst/>
            <a:gdLst>
              <a:gd name="connsiteX0" fmla="*/ 622247 w 8963760"/>
              <a:gd name="connsiteY0" fmla="*/ 0 h 1404938"/>
              <a:gd name="connsiteX1" fmla="*/ 8963760 w 8963760"/>
              <a:gd name="connsiteY1" fmla="*/ 0 h 1404938"/>
              <a:gd name="connsiteX2" fmla="*/ 8341513 w 8963760"/>
              <a:gd name="connsiteY2" fmla="*/ 1404938 h 1404938"/>
              <a:gd name="connsiteX3" fmla="*/ 0 w 8963760"/>
              <a:gd name="connsiteY3" fmla="*/ 1404938 h 1404938"/>
            </a:gdLst>
            <a:ahLst/>
            <a:cxnLst>
              <a:cxn ang="0">
                <a:pos x="connsiteX0" y="connsiteY0"/>
              </a:cxn>
              <a:cxn ang="0">
                <a:pos x="connsiteX1" y="connsiteY1"/>
              </a:cxn>
              <a:cxn ang="0">
                <a:pos x="connsiteX2" y="connsiteY2"/>
              </a:cxn>
              <a:cxn ang="0">
                <a:pos x="connsiteX3" y="connsiteY3"/>
              </a:cxn>
            </a:cxnLst>
            <a:rect l="l" t="t" r="r" b="b"/>
            <a:pathLst>
              <a:path w="8963760" h="1404938">
                <a:moveTo>
                  <a:pt x="622247" y="0"/>
                </a:moveTo>
                <a:lnTo>
                  <a:pt x="8963760" y="0"/>
                </a:lnTo>
                <a:lnTo>
                  <a:pt x="8341513" y="1404938"/>
                </a:lnTo>
                <a:lnTo>
                  <a:pt x="0" y="1404938"/>
                </a:lnTo>
                <a:close/>
              </a:path>
            </a:pathLst>
          </a:custGeom>
          <a:solidFill>
            <a:srgbClr val="24C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001980" y="3944043"/>
            <a:ext cx="7646116" cy="1886607"/>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20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    学校秉承</a:t>
            </a:r>
            <a:r>
              <a:rPr lang="zh-CN" altLang="en-US" sz="2000" b="1" dirty="0">
                <a:solidFill>
                  <a:srgbClr val="FFC000"/>
                </a:solidFill>
                <a:latin typeface="微软雅黑 Light" panose="020B0502040204020203" pitchFamily="34" charset="-122"/>
                <a:ea typeface="微软雅黑 Light" panose="020B0502040204020203" pitchFamily="34" charset="-122"/>
                <a:cs typeface="Angsana New" panose="02020603050405020304" pitchFamily="18" charset="-34"/>
              </a:rPr>
              <a:t>“德行言语、敦睦天下”</a:t>
            </a:r>
            <a:r>
              <a:rPr lang="zh-CN" altLang="en-US" sz="20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的校训，弘扬</a:t>
            </a:r>
            <a:r>
              <a:rPr lang="zh-CN" altLang="en-US" sz="2000" b="1" dirty="0">
                <a:solidFill>
                  <a:srgbClr val="FFC000"/>
                </a:solidFill>
                <a:latin typeface="微软雅黑 Light" panose="020B0502040204020203" pitchFamily="34" charset="-122"/>
                <a:ea typeface="微软雅黑 Light" panose="020B0502040204020203" pitchFamily="34" charset="-122"/>
                <a:cs typeface="Angsana New" panose="02020603050405020304" pitchFamily="18" charset="-34"/>
              </a:rPr>
              <a:t>“爱国担当、诚朴厚德、求真创新、开放包容”</a:t>
            </a:r>
            <a:r>
              <a:rPr lang="zh-CN" altLang="en-US" sz="20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的北语精神，围绕建设中国特色世界一流语言大学的目标，使中外学生成为</a:t>
            </a:r>
            <a:r>
              <a:rPr lang="zh-CN" altLang="en-US" sz="2000" b="1" dirty="0">
                <a:solidFill>
                  <a:srgbClr val="FFC000"/>
                </a:solidFill>
                <a:latin typeface="微软雅黑 Light" panose="020B0502040204020203" pitchFamily="34" charset="-122"/>
                <a:ea typeface="微软雅黑 Light" panose="020B0502040204020203" pitchFamily="34" charset="-122"/>
                <a:cs typeface="Angsana New" panose="02020603050405020304" pitchFamily="18" charset="-34"/>
              </a:rPr>
              <a:t>人类命运共同体的建设者、文明交流互鉴的推动者和具有全球竞争力的高素质国际化人才</a:t>
            </a:r>
            <a:r>
              <a:rPr lang="zh-CN" altLang="en-US" sz="20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endParaRPr lang="en-US" altLang="zh-CN" sz="2000" dirty="0">
              <a:solidFill>
                <a:schemeClr val="bg2">
                  <a:lumMod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
        <p:nvSpPr>
          <p:cNvPr id="17" name="任意多边形: 形状 16"/>
          <p:cNvSpPr/>
          <p:nvPr/>
        </p:nvSpPr>
        <p:spPr>
          <a:xfrm>
            <a:off x="1497816" y="3913189"/>
            <a:ext cx="798780" cy="404178"/>
          </a:xfrm>
          <a:custGeom>
            <a:avLst/>
            <a:gdLst>
              <a:gd name="connsiteX0" fmla="*/ 796771 w 3555337"/>
              <a:gd name="connsiteY0" fmla="*/ 0 h 1798986"/>
              <a:gd name="connsiteX1" fmla="*/ 1354466 w 3555337"/>
              <a:gd name="connsiteY1" fmla="*/ 0 h 1798986"/>
              <a:gd name="connsiteX2" fmla="*/ 1437767 w 3555337"/>
              <a:gd name="connsiteY2" fmla="*/ 0 h 1798986"/>
              <a:gd name="connsiteX3" fmla="*/ 1715650 w 3555337"/>
              <a:gd name="connsiteY3" fmla="*/ 0 h 1798986"/>
              <a:gd name="connsiteX4" fmla="*/ 1995462 w 3555337"/>
              <a:gd name="connsiteY4" fmla="*/ 0 h 1798986"/>
              <a:gd name="connsiteX5" fmla="*/ 2078763 w 3555337"/>
              <a:gd name="connsiteY5" fmla="*/ 0 h 1798986"/>
              <a:gd name="connsiteX6" fmla="*/ 2273345 w 3555337"/>
              <a:gd name="connsiteY6" fmla="*/ 0 h 1798986"/>
              <a:gd name="connsiteX7" fmla="*/ 2356646 w 3555337"/>
              <a:gd name="connsiteY7" fmla="*/ 0 h 1798986"/>
              <a:gd name="connsiteX8" fmla="*/ 2636458 w 3555337"/>
              <a:gd name="connsiteY8" fmla="*/ 0 h 1798986"/>
              <a:gd name="connsiteX9" fmla="*/ 2914341 w 3555337"/>
              <a:gd name="connsiteY9" fmla="*/ 0 h 1798986"/>
              <a:gd name="connsiteX10" fmla="*/ 2997642 w 3555337"/>
              <a:gd name="connsiteY10" fmla="*/ 0 h 1798986"/>
              <a:gd name="connsiteX11" fmla="*/ 3555337 w 3555337"/>
              <a:gd name="connsiteY11" fmla="*/ 0 h 1798986"/>
              <a:gd name="connsiteX12" fmla="*/ 2758566 w 3555337"/>
              <a:gd name="connsiteY12" fmla="*/ 1798986 h 1798986"/>
              <a:gd name="connsiteX13" fmla="*/ 2200871 w 3555337"/>
              <a:gd name="connsiteY13" fmla="*/ 1798986 h 1798986"/>
              <a:gd name="connsiteX14" fmla="*/ 2117571 w 3555337"/>
              <a:gd name="connsiteY14" fmla="*/ 1798986 h 1798986"/>
              <a:gd name="connsiteX15" fmla="*/ 1839688 w 3555337"/>
              <a:gd name="connsiteY15" fmla="*/ 1798986 h 1798986"/>
              <a:gd name="connsiteX16" fmla="*/ 1559876 w 3555337"/>
              <a:gd name="connsiteY16" fmla="*/ 1798986 h 1798986"/>
              <a:gd name="connsiteX17" fmla="*/ 1476574 w 3555337"/>
              <a:gd name="connsiteY17" fmla="*/ 1798986 h 1798986"/>
              <a:gd name="connsiteX18" fmla="*/ 1281993 w 3555337"/>
              <a:gd name="connsiteY18" fmla="*/ 1798986 h 1798986"/>
              <a:gd name="connsiteX19" fmla="*/ 1198692 w 3555337"/>
              <a:gd name="connsiteY19" fmla="*/ 1798986 h 1798986"/>
              <a:gd name="connsiteX20" fmla="*/ 918879 w 3555337"/>
              <a:gd name="connsiteY20" fmla="*/ 1798986 h 1798986"/>
              <a:gd name="connsiteX21" fmla="*/ 640997 w 3555337"/>
              <a:gd name="connsiteY21" fmla="*/ 1798986 h 1798986"/>
              <a:gd name="connsiteX22" fmla="*/ 557695 w 3555337"/>
              <a:gd name="connsiteY22" fmla="*/ 1798986 h 1798986"/>
              <a:gd name="connsiteX23" fmla="*/ 0 w 3555337"/>
              <a:gd name="connsiteY23" fmla="*/ 1798986 h 179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337" h="1798986">
                <a:moveTo>
                  <a:pt x="796771" y="0"/>
                </a:moveTo>
                <a:lnTo>
                  <a:pt x="1354466" y="0"/>
                </a:lnTo>
                <a:lnTo>
                  <a:pt x="1437767" y="0"/>
                </a:lnTo>
                <a:lnTo>
                  <a:pt x="1715650" y="0"/>
                </a:lnTo>
                <a:lnTo>
                  <a:pt x="1995462" y="0"/>
                </a:lnTo>
                <a:lnTo>
                  <a:pt x="2078763" y="0"/>
                </a:lnTo>
                <a:lnTo>
                  <a:pt x="2273345" y="0"/>
                </a:lnTo>
                <a:lnTo>
                  <a:pt x="2356646" y="0"/>
                </a:lnTo>
                <a:lnTo>
                  <a:pt x="2636458" y="0"/>
                </a:lnTo>
                <a:lnTo>
                  <a:pt x="2914341" y="0"/>
                </a:lnTo>
                <a:lnTo>
                  <a:pt x="2997642" y="0"/>
                </a:lnTo>
                <a:lnTo>
                  <a:pt x="3555337" y="0"/>
                </a:lnTo>
                <a:lnTo>
                  <a:pt x="2758566" y="1798986"/>
                </a:lnTo>
                <a:lnTo>
                  <a:pt x="2200871" y="1798986"/>
                </a:lnTo>
                <a:lnTo>
                  <a:pt x="2117571" y="1798986"/>
                </a:lnTo>
                <a:lnTo>
                  <a:pt x="1839688" y="1798986"/>
                </a:lnTo>
                <a:lnTo>
                  <a:pt x="1559876" y="1798986"/>
                </a:lnTo>
                <a:lnTo>
                  <a:pt x="1476574" y="1798986"/>
                </a:lnTo>
                <a:lnTo>
                  <a:pt x="1281993" y="1798986"/>
                </a:lnTo>
                <a:lnTo>
                  <a:pt x="1198692" y="1798986"/>
                </a:lnTo>
                <a:lnTo>
                  <a:pt x="918879" y="1798986"/>
                </a:lnTo>
                <a:lnTo>
                  <a:pt x="640997" y="1798986"/>
                </a:lnTo>
                <a:lnTo>
                  <a:pt x="557695" y="1798986"/>
                </a:lnTo>
                <a:lnTo>
                  <a:pt x="0" y="1798986"/>
                </a:lnTo>
                <a:close/>
              </a:path>
            </a:pathLst>
          </a:custGeom>
          <a:solidFill>
            <a:srgbClr val="2424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3" name="Oval 17"/>
          <p:cNvSpPr/>
          <p:nvPr/>
        </p:nvSpPr>
        <p:spPr>
          <a:xfrm>
            <a:off x="1792430" y="4010551"/>
            <a:ext cx="209550" cy="209453"/>
          </a:xfrm>
          <a:custGeom>
            <a:avLst/>
            <a:gdLst>
              <a:gd name="T0" fmla="*/ 3311 w 6101"/>
              <a:gd name="T1" fmla="*/ 5345 h 6107"/>
              <a:gd name="T2" fmla="*/ 3311 w 6101"/>
              <a:gd name="T3" fmla="*/ 5942 h 6107"/>
              <a:gd name="T4" fmla="*/ 2714 w 6101"/>
              <a:gd name="T5" fmla="*/ 5942 h 6107"/>
              <a:gd name="T6" fmla="*/ 123 w 6101"/>
              <a:gd name="T7" fmla="*/ 3351 h 6107"/>
              <a:gd name="T8" fmla="*/ 0 w 6101"/>
              <a:gd name="T9" fmla="*/ 3053 h 6107"/>
              <a:gd name="T10" fmla="*/ 123 w 6101"/>
              <a:gd name="T11" fmla="*/ 2755 h 6107"/>
              <a:gd name="T12" fmla="*/ 2714 w 6101"/>
              <a:gd name="T13" fmla="*/ 164 h 6107"/>
              <a:gd name="T14" fmla="*/ 3311 w 6101"/>
              <a:gd name="T15" fmla="*/ 164 h 6107"/>
              <a:gd name="T16" fmla="*/ 3311 w 6101"/>
              <a:gd name="T17" fmla="*/ 761 h 6107"/>
              <a:gd name="T18" fmla="*/ 1019 w 6101"/>
              <a:gd name="T19" fmla="*/ 3053 h 6107"/>
              <a:gd name="T20" fmla="*/ 3311 w 6101"/>
              <a:gd name="T21" fmla="*/ 5345 h 6107"/>
              <a:gd name="T22" fmla="*/ 3645 w 6101"/>
              <a:gd name="T23" fmla="*/ 3053 h 6107"/>
              <a:gd name="T24" fmla="*/ 5937 w 6101"/>
              <a:gd name="T25" fmla="*/ 761 h 6107"/>
              <a:gd name="T26" fmla="*/ 5937 w 6101"/>
              <a:gd name="T27" fmla="*/ 164 h 6107"/>
              <a:gd name="T28" fmla="*/ 5340 w 6101"/>
              <a:gd name="T29" fmla="*/ 164 h 6107"/>
              <a:gd name="T30" fmla="*/ 2750 w 6101"/>
              <a:gd name="T31" fmla="*/ 2755 h 6107"/>
              <a:gd name="T32" fmla="*/ 2626 w 6101"/>
              <a:gd name="T33" fmla="*/ 3053 h 6107"/>
              <a:gd name="T34" fmla="*/ 2750 w 6101"/>
              <a:gd name="T35" fmla="*/ 3351 h 6107"/>
              <a:gd name="T36" fmla="*/ 5340 w 6101"/>
              <a:gd name="T37" fmla="*/ 5942 h 6107"/>
              <a:gd name="T38" fmla="*/ 5937 w 6101"/>
              <a:gd name="T39" fmla="*/ 5942 h 6107"/>
              <a:gd name="T40" fmla="*/ 5937 w 6101"/>
              <a:gd name="T41" fmla="*/ 5345 h 6107"/>
              <a:gd name="T42" fmla="*/ 3645 w 6101"/>
              <a:gd name="T43" fmla="*/ 3053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3311" y="5345"/>
                </a:moveTo>
                <a:cubicBezTo>
                  <a:pt x="3475" y="5510"/>
                  <a:pt x="3475" y="5777"/>
                  <a:pt x="3311" y="5942"/>
                </a:cubicBezTo>
                <a:cubicBezTo>
                  <a:pt x="3146" y="6107"/>
                  <a:pt x="2879" y="6107"/>
                  <a:pt x="2714" y="5942"/>
                </a:cubicBezTo>
                <a:lnTo>
                  <a:pt x="123" y="3351"/>
                </a:lnTo>
                <a:cubicBezTo>
                  <a:pt x="41" y="3269"/>
                  <a:pt x="0" y="3161"/>
                  <a:pt x="0" y="3053"/>
                </a:cubicBezTo>
                <a:cubicBezTo>
                  <a:pt x="0" y="2945"/>
                  <a:pt x="41" y="2837"/>
                  <a:pt x="123" y="2755"/>
                </a:cubicBezTo>
                <a:lnTo>
                  <a:pt x="2714" y="164"/>
                </a:lnTo>
                <a:cubicBezTo>
                  <a:pt x="2879" y="0"/>
                  <a:pt x="3146" y="0"/>
                  <a:pt x="3311" y="164"/>
                </a:cubicBezTo>
                <a:cubicBezTo>
                  <a:pt x="3475" y="329"/>
                  <a:pt x="3475" y="596"/>
                  <a:pt x="3311" y="761"/>
                </a:cubicBezTo>
                <a:lnTo>
                  <a:pt x="1019" y="3053"/>
                </a:lnTo>
                <a:lnTo>
                  <a:pt x="3311" y="5345"/>
                </a:lnTo>
                <a:close/>
                <a:moveTo>
                  <a:pt x="3645" y="3053"/>
                </a:moveTo>
                <a:lnTo>
                  <a:pt x="5937" y="761"/>
                </a:lnTo>
                <a:cubicBezTo>
                  <a:pt x="6101" y="596"/>
                  <a:pt x="6101" y="329"/>
                  <a:pt x="5937" y="164"/>
                </a:cubicBezTo>
                <a:cubicBezTo>
                  <a:pt x="5772" y="0"/>
                  <a:pt x="5505" y="0"/>
                  <a:pt x="5340" y="164"/>
                </a:cubicBezTo>
                <a:lnTo>
                  <a:pt x="2750" y="2755"/>
                </a:lnTo>
                <a:cubicBezTo>
                  <a:pt x="2667" y="2837"/>
                  <a:pt x="2626" y="2945"/>
                  <a:pt x="2626" y="3053"/>
                </a:cubicBezTo>
                <a:cubicBezTo>
                  <a:pt x="2626" y="3161"/>
                  <a:pt x="2667" y="3269"/>
                  <a:pt x="2750" y="3351"/>
                </a:cubicBezTo>
                <a:lnTo>
                  <a:pt x="5340" y="5942"/>
                </a:lnTo>
                <a:cubicBezTo>
                  <a:pt x="5505" y="6107"/>
                  <a:pt x="5772" y="6107"/>
                  <a:pt x="5937" y="5942"/>
                </a:cubicBezTo>
                <a:cubicBezTo>
                  <a:pt x="6101" y="5777"/>
                  <a:pt x="6101" y="5510"/>
                  <a:pt x="5937" y="5345"/>
                </a:cubicBezTo>
                <a:lnTo>
                  <a:pt x="3645" y="30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任意多边形: 形状 20"/>
          <p:cNvSpPr/>
          <p:nvPr/>
        </p:nvSpPr>
        <p:spPr>
          <a:xfrm>
            <a:off x="9830322" y="3913189"/>
            <a:ext cx="798780" cy="404178"/>
          </a:xfrm>
          <a:custGeom>
            <a:avLst/>
            <a:gdLst>
              <a:gd name="connsiteX0" fmla="*/ 796771 w 3555337"/>
              <a:gd name="connsiteY0" fmla="*/ 0 h 1798986"/>
              <a:gd name="connsiteX1" fmla="*/ 1354466 w 3555337"/>
              <a:gd name="connsiteY1" fmla="*/ 0 h 1798986"/>
              <a:gd name="connsiteX2" fmla="*/ 1437767 w 3555337"/>
              <a:gd name="connsiteY2" fmla="*/ 0 h 1798986"/>
              <a:gd name="connsiteX3" fmla="*/ 1715650 w 3555337"/>
              <a:gd name="connsiteY3" fmla="*/ 0 h 1798986"/>
              <a:gd name="connsiteX4" fmla="*/ 1995462 w 3555337"/>
              <a:gd name="connsiteY4" fmla="*/ 0 h 1798986"/>
              <a:gd name="connsiteX5" fmla="*/ 2078763 w 3555337"/>
              <a:gd name="connsiteY5" fmla="*/ 0 h 1798986"/>
              <a:gd name="connsiteX6" fmla="*/ 2273345 w 3555337"/>
              <a:gd name="connsiteY6" fmla="*/ 0 h 1798986"/>
              <a:gd name="connsiteX7" fmla="*/ 2356646 w 3555337"/>
              <a:gd name="connsiteY7" fmla="*/ 0 h 1798986"/>
              <a:gd name="connsiteX8" fmla="*/ 2636458 w 3555337"/>
              <a:gd name="connsiteY8" fmla="*/ 0 h 1798986"/>
              <a:gd name="connsiteX9" fmla="*/ 2914341 w 3555337"/>
              <a:gd name="connsiteY9" fmla="*/ 0 h 1798986"/>
              <a:gd name="connsiteX10" fmla="*/ 2997642 w 3555337"/>
              <a:gd name="connsiteY10" fmla="*/ 0 h 1798986"/>
              <a:gd name="connsiteX11" fmla="*/ 3555337 w 3555337"/>
              <a:gd name="connsiteY11" fmla="*/ 0 h 1798986"/>
              <a:gd name="connsiteX12" fmla="*/ 2758566 w 3555337"/>
              <a:gd name="connsiteY12" fmla="*/ 1798986 h 1798986"/>
              <a:gd name="connsiteX13" fmla="*/ 2200871 w 3555337"/>
              <a:gd name="connsiteY13" fmla="*/ 1798986 h 1798986"/>
              <a:gd name="connsiteX14" fmla="*/ 2117571 w 3555337"/>
              <a:gd name="connsiteY14" fmla="*/ 1798986 h 1798986"/>
              <a:gd name="connsiteX15" fmla="*/ 1839688 w 3555337"/>
              <a:gd name="connsiteY15" fmla="*/ 1798986 h 1798986"/>
              <a:gd name="connsiteX16" fmla="*/ 1559876 w 3555337"/>
              <a:gd name="connsiteY16" fmla="*/ 1798986 h 1798986"/>
              <a:gd name="connsiteX17" fmla="*/ 1476574 w 3555337"/>
              <a:gd name="connsiteY17" fmla="*/ 1798986 h 1798986"/>
              <a:gd name="connsiteX18" fmla="*/ 1281993 w 3555337"/>
              <a:gd name="connsiteY18" fmla="*/ 1798986 h 1798986"/>
              <a:gd name="connsiteX19" fmla="*/ 1198692 w 3555337"/>
              <a:gd name="connsiteY19" fmla="*/ 1798986 h 1798986"/>
              <a:gd name="connsiteX20" fmla="*/ 918879 w 3555337"/>
              <a:gd name="connsiteY20" fmla="*/ 1798986 h 1798986"/>
              <a:gd name="connsiteX21" fmla="*/ 640997 w 3555337"/>
              <a:gd name="connsiteY21" fmla="*/ 1798986 h 1798986"/>
              <a:gd name="connsiteX22" fmla="*/ 557695 w 3555337"/>
              <a:gd name="connsiteY22" fmla="*/ 1798986 h 1798986"/>
              <a:gd name="connsiteX23" fmla="*/ 0 w 3555337"/>
              <a:gd name="connsiteY23" fmla="*/ 1798986 h 179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337" h="1798986">
                <a:moveTo>
                  <a:pt x="796771" y="0"/>
                </a:moveTo>
                <a:lnTo>
                  <a:pt x="1354466" y="0"/>
                </a:lnTo>
                <a:lnTo>
                  <a:pt x="1437767" y="0"/>
                </a:lnTo>
                <a:lnTo>
                  <a:pt x="1715650" y="0"/>
                </a:lnTo>
                <a:lnTo>
                  <a:pt x="1995462" y="0"/>
                </a:lnTo>
                <a:lnTo>
                  <a:pt x="2078763" y="0"/>
                </a:lnTo>
                <a:lnTo>
                  <a:pt x="2273345" y="0"/>
                </a:lnTo>
                <a:lnTo>
                  <a:pt x="2356646" y="0"/>
                </a:lnTo>
                <a:lnTo>
                  <a:pt x="2636458" y="0"/>
                </a:lnTo>
                <a:lnTo>
                  <a:pt x="2914341" y="0"/>
                </a:lnTo>
                <a:lnTo>
                  <a:pt x="2997642" y="0"/>
                </a:lnTo>
                <a:lnTo>
                  <a:pt x="3555337" y="0"/>
                </a:lnTo>
                <a:lnTo>
                  <a:pt x="2758566" y="1798986"/>
                </a:lnTo>
                <a:lnTo>
                  <a:pt x="2200871" y="1798986"/>
                </a:lnTo>
                <a:lnTo>
                  <a:pt x="2117571" y="1798986"/>
                </a:lnTo>
                <a:lnTo>
                  <a:pt x="1839688" y="1798986"/>
                </a:lnTo>
                <a:lnTo>
                  <a:pt x="1559876" y="1798986"/>
                </a:lnTo>
                <a:lnTo>
                  <a:pt x="1476574" y="1798986"/>
                </a:lnTo>
                <a:lnTo>
                  <a:pt x="1281993" y="1798986"/>
                </a:lnTo>
                <a:lnTo>
                  <a:pt x="1198692" y="1798986"/>
                </a:lnTo>
                <a:lnTo>
                  <a:pt x="918879" y="1798986"/>
                </a:lnTo>
                <a:lnTo>
                  <a:pt x="640997" y="1798986"/>
                </a:lnTo>
                <a:lnTo>
                  <a:pt x="557695" y="1798986"/>
                </a:lnTo>
                <a:lnTo>
                  <a:pt x="0" y="1798986"/>
                </a:lnTo>
                <a:close/>
              </a:path>
            </a:pathLst>
          </a:custGeom>
          <a:solidFill>
            <a:srgbClr val="2424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4" name="Oval 21"/>
          <p:cNvSpPr/>
          <p:nvPr/>
        </p:nvSpPr>
        <p:spPr>
          <a:xfrm flipH="1">
            <a:off x="10124936" y="4010551"/>
            <a:ext cx="209550" cy="209453"/>
          </a:xfrm>
          <a:custGeom>
            <a:avLst/>
            <a:gdLst>
              <a:gd name="T0" fmla="*/ 3311 w 6101"/>
              <a:gd name="T1" fmla="*/ 5345 h 6107"/>
              <a:gd name="T2" fmla="*/ 3311 w 6101"/>
              <a:gd name="T3" fmla="*/ 5942 h 6107"/>
              <a:gd name="T4" fmla="*/ 2714 w 6101"/>
              <a:gd name="T5" fmla="*/ 5942 h 6107"/>
              <a:gd name="T6" fmla="*/ 123 w 6101"/>
              <a:gd name="T7" fmla="*/ 3351 h 6107"/>
              <a:gd name="T8" fmla="*/ 0 w 6101"/>
              <a:gd name="T9" fmla="*/ 3053 h 6107"/>
              <a:gd name="T10" fmla="*/ 123 w 6101"/>
              <a:gd name="T11" fmla="*/ 2755 h 6107"/>
              <a:gd name="T12" fmla="*/ 2714 w 6101"/>
              <a:gd name="T13" fmla="*/ 164 h 6107"/>
              <a:gd name="T14" fmla="*/ 3311 w 6101"/>
              <a:gd name="T15" fmla="*/ 164 h 6107"/>
              <a:gd name="T16" fmla="*/ 3311 w 6101"/>
              <a:gd name="T17" fmla="*/ 761 h 6107"/>
              <a:gd name="T18" fmla="*/ 1019 w 6101"/>
              <a:gd name="T19" fmla="*/ 3053 h 6107"/>
              <a:gd name="T20" fmla="*/ 3311 w 6101"/>
              <a:gd name="T21" fmla="*/ 5345 h 6107"/>
              <a:gd name="T22" fmla="*/ 3645 w 6101"/>
              <a:gd name="T23" fmla="*/ 3053 h 6107"/>
              <a:gd name="T24" fmla="*/ 5937 w 6101"/>
              <a:gd name="T25" fmla="*/ 761 h 6107"/>
              <a:gd name="T26" fmla="*/ 5937 w 6101"/>
              <a:gd name="T27" fmla="*/ 164 h 6107"/>
              <a:gd name="T28" fmla="*/ 5340 w 6101"/>
              <a:gd name="T29" fmla="*/ 164 h 6107"/>
              <a:gd name="T30" fmla="*/ 2750 w 6101"/>
              <a:gd name="T31" fmla="*/ 2755 h 6107"/>
              <a:gd name="T32" fmla="*/ 2626 w 6101"/>
              <a:gd name="T33" fmla="*/ 3053 h 6107"/>
              <a:gd name="T34" fmla="*/ 2750 w 6101"/>
              <a:gd name="T35" fmla="*/ 3351 h 6107"/>
              <a:gd name="T36" fmla="*/ 5340 w 6101"/>
              <a:gd name="T37" fmla="*/ 5942 h 6107"/>
              <a:gd name="T38" fmla="*/ 5937 w 6101"/>
              <a:gd name="T39" fmla="*/ 5942 h 6107"/>
              <a:gd name="T40" fmla="*/ 5937 w 6101"/>
              <a:gd name="T41" fmla="*/ 5345 h 6107"/>
              <a:gd name="T42" fmla="*/ 3645 w 6101"/>
              <a:gd name="T43" fmla="*/ 3053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3311" y="5345"/>
                </a:moveTo>
                <a:cubicBezTo>
                  <a:pt x="3475" y="5510"/>
                  <a:pt x="3475" y="5777"/>
                  <a:pt x="3311" y="5942"/>
                </a:cubicBezTo>
                <a:cubicBezTo>
                  <a:pt x="3146" y="6107"/>
                  <a:pt x="2879" y="6107"/>
                  <a:pt x="2714" y="5942"/>
                </a:cubicBezTo>
                <a:lnTo>
                  <a:pt x="123" y="3351"/>
                </a:lnTo>
                <a:cubicBezTo>
                  <a:pt x="41" y="3269"/>
                  <a:pt x="0" y="3161"/>
                  <a:pt x="0" y="3053"/>
                </a:cubicBezTo>
                <a:cubicBezTo>
                  <a:pt x="0" y="2945"/>
                  <a:pt x="41" y="2837"/>
                  <a:pt x="123" y="2755"/>
                </a:cubicBezTo>
                <a:lnTo>
                  <a:pt x="2714" y="164"/>
                </a:lnTo>
                <a:cubicBezTo>
                  <a:pt x="2879" y="0"/>
                  <a:pt x="3146" y="0"/>
                  <a:pt x="3311" y="164"/>
                </a:cubicBezTo>
                <a:cubicBezTo>
                  <a:pt x="3475" y="329"/>
                  <a:pt x="3475" y="596"/>
                  <a:pt x="3311" y="761"/>
                </a:cubicBezTo>
                <a:lnTo>
                  <a:pt x="1019" y="3053"/>
                </a:lnTo>
                <a:lnTo>
                  <a:pt x="3311" y="5345"/>
                </a:lnTo>
                <a:close/>
                <a:moveTo>
                  <a:pt x="3645" y="3053"/>
                </a:moveTo>
                <a:lnTo>
                  <a:pt x="5937" y="761"/>
                </a:lnTo>
                <a:cubicBezTo>
                  <a:pt x="6101" y="596"/>
                  <a:pt x="6101" y="329"/>
                  <a:pt x="5937" y="164"/>
                </a:cubicBezTo>
                <a:cubicBezTo>
                  <a:pt x="5772" y="0"/>
                  <a:pt x="5505" y="0"/>
                  <a:pt x="5340" y="164"/>
                </a:cubicBezTo>
                <a:lnTo>
                  <a:pt x="2750" y="2755"/>
                </a:lnTo>
                <a:cubicBezTo>
                  <a:pt x="2667" y="2837"/>
                  <a:pt x="2626" y="2945"/>
                  <a:pt x="2626" y="3053"/>
                </a:cubicBezTo>
                <a:cubicBezTo>
                  <a:pt x="2626" y="3161"/>
                  <a:pt x="2667" y="3269"/>
                  <a:pt x="2750" y="3351"/>
                </a:cubicBezTo>
                <a:lnTo>
                  <a:pt x="5340" y="5942"/>
                </a:lnTo>
                <a:cubicBezTo>
                  <a:pt x="5505" y="6107"/>
                  <a:pt x="5772" y="6107"/>
                  <a:pt x="5937" y="5942"/>
                </a:cubicBezTo>
                <a:cubicBezTo>
                  <a:pt x="6101" y="5777"/>
                  <a:pt x="6101" y="5510"/>
                  <a:pt x="5937" y="5345"/>
                </a:cubicBezTo>
                <a:lnTo>
                  <a:pt x="3645" y="30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8" name="组合 17"/>
          <p:cNvGrpSpPr/>
          <p:nvPr/>
        </p:nvGrpSpPr>
        <p:grpSpPr>
          <a:xfrm>
            <a:off x="494553" y="150818"/>
            <a:ext cx="6106714" cy="1125795"/>
            <a:chOff x="494553" y="150818"/>
            <a:chExt cx="6106714" cy="1125795"/>
          </a:xfrm>
        </p:grpSpPr>
        <p:grpSp>
          <p:nvGrpSpPr>
            <p:cNvPr id="22" name="组合 21"/>
            <p:cNvGrpSpPr/>
            <p:nvPr/>
          </p:nvGrpSpPr>
          <p:grpSpPr>
            <a:xfrm>
              <a:off x="494553" y="321393"/>
              <a:ext cx="5744845" cy="955220"/>
              <a:chOff x="494553" y="321393"/>
              <a:chExt cx="5744845" cy="955220"/>
            </a:xfrm>
          </p:grpSpPr>
          <p:sp>
            <p:nvSpPr>
              <p:cNvPr id="26" name="文本框 2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培养</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特色</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27" name="文本框 2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25"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培养</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目标</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2" name="图片 1"/>
          <p:cNvPicPr>
            <a:picLocks noChangeAspect="1"/>
          </p:cNvPicPr>
          <p:nvPr/>
        </p:nvPicPr>
        <p:blipFill>
          <a:blip r:embed="rId1"/>
          <a:stretch>
            <a:fillRect/>
          </a:stretch>
        </p:blipFill>
        <p:spPr>
          <a:xfrm>
            <a:off x="5223926" y="2206597"/>
            <a:ext cx="1627635" cy="1624587"/>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0-#ppt_w/2"/>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12"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p:cTn id="21" dur="500" fill="hold"/>
                                        <p:tgtEl>
                                          <p:spTgt spid="23"/>
                                        </p:tgtEl>
                                        <p:attrNameLst>
                                          <p:attrName>ppt_w</p:attrName>
                                        </p:attrNameLst>
                                      </p:cBhvr>
                                      <p:tavLst>
                                        <p:tav tm="0">
                                          <p:val>
                                            <p:fltVal val="0"/>
                                          </p:val>
                                        </p:tav>
                                        <p:tav tm="100000">
                                          <p:val>
                                            <p:strVal val="#ppt_w"/>
                                          </p:val>
                                        </p:tav>
                                      </p:tavLst>
                                    </p:anim>
                                    <p:anim calcmode="lin" valueType="num">
                                      <p:cBhvr>
                                        <p:cTn id="22" dur="500" fill="hold"/>
                                        <p:tgtEl>
                                          <p:spTgt spid="23"/>
                                        </p:tgtEl>
                                        <p:attrNameLst>
                                          <p:attrName>ppt_h</p:attrName>
                                        </p:attrNameLst>
                                      </p:cBhvr>
                                      <p:tavLst>
                                        <p:tav tm="0">
                                          <p:val>
                                            <p:fltVal val="0"/>
                                          </p:val>
                                        </p:tav>
                                        <p:tav tm="100000">
                                          <p:val>
                                            <p:strVal val="#ppt_h"/>
                                          </p:val>
                                        </p:tav>
                                      </p:tavLst>
                                    </p:anim>
                                    <p:animEffect transition="in" filter="fade">
                                      <p:cBhvr>
                                        <p:cTn id="23" dur="500"/>
                                        <p:tgtEl>
                                          <p:spTgt spid="23"/>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p:cTn id="26" dur="500" fill="hold"/>
                                        <p:tgtEl>
                                          <p:spTgt spid="21"/>
                                        </p:tgtEl>
                                        <p:attrNameLst>
                                          <p:attrName>ppt_w</p:attrName>
                                        </p:attrNameLst>
                                      </p:cBhvr>
                                      <p:tavLst>
                                        <p:tav tm="0">
                                          <p:val>
                                            <p:fltVal val="0"/>
                                          </p:val>
                                        </p:tav>
                                        <p:tav tm="100000">
                                          <p:val>
                                            <p:strVal val="#ppt_w"/>
                                          </p:val>
                                        </p:tav>
                                      </p:tavLst>
                                    </p:anim>
                                    <p:anim calcmode="lin" valueType="num">
                                      <p:cBhvr>
                                        <p:cTn id="27" dur="500" fill="hold"/>
                                        <p:tgtEl>
                                          <p:spTgt spid="21"/>
                                        </p:tgtEl>
                                        <p:attrNameLst>
                                          <p:attrName>ppt_h</p:attrName>
                                        </p:attrNameLst>
                                      </p:cBhvr>
                                      <p:tavLst>
                                        <p:tav tm="0">
                                          <p:val>
                                            <p:fltVal val="0"/>
                                          </p:val>
                                        </p:tav>
                                        <p:tav tm="100000">
                                          <p:val>
                                            <p:strVal val="#ppt_h"/>
                                          </p:val>
                                        </p:tav>
                                      </p:tavLst>
                                    </p:anim>
                                    <p:animEffect transition="in" filter="fade">
                                      <p:cBhvr>
                                        <p:cTn id="28" dur="500"/>
                                        <p:tgtEl>
                                          <p:spTgt spid="21"/>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3" grpId="0" animBg="1"/>
      <p:bldP spid="17" grpId="0" animBg="1"/>
      <p:bldP spid="23" grpId="0" animBg="1"/>
      <p:bldP spid="21" grpId="0" animBg="1"/>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任意多边形: 形状 4"/>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5"/>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1062418" y="2278810"/>
            <a:ext cx="2522702" cy="3192556"/>
            <a:chOff x="703098" y="2528888"/>
            <a:chExt cx="2794464" cy="3536479"/>
          </a:xfrm>
        </p:grpSpPr>
        <p:sp>
          <p:nvSpPr>
            <p:cNvPr id="17" name="任意多边形: 形状 16"/>
            <p:cNvSpPr/>
            <p:nvPr/>
          </p:nvSpPr>
          <p:spPr>
            <a:xfrm rot="2700000">
              <a:off x="703097" y="3270903"/>
              <a:ext cx="2794465" cy="2794464"/>
            </a:xfrm>
            <a:custGeom>
              <a:avLst/>
              <a:gdLst>
                <a:gd name="connsiteX0" fmla="*/ 0 w 2779281"/>
                <a:gd name="connsiteY0" fmla="*/ 1250260 h 2779280"/>
                <a:gd name="connsiteX1" fmla="*/ 1250261 w 2779281"/>
                <a:gd name="connsiteY1" fmla="*/ 0 h 2779280"/>
                <a:gd name="connsiteX2" fmla="*/ 1646853 w 2779281"/>
                <a:gd name="connsiteY2" fmla="*/ 396592 h 2779280"/>
                <a:gd name="connsiteX3" fmla="*/ 2382689 w 2779281"/>
                <a:gd name="connsiteY3" fmla="*/ 1132428 h 2779280"/>
                <a:gd name="connsiteX4" fmla="*/ 2779281 w 2779281"/>
                <a:gd name="connsiteY4" fmla="*/ 1529020 h 2779280"/>
                <a:gd name="connsiteX5" fmla="*/ 2779281 w 2779281"/>
                <a:gd name="connsiteY5" fmla="*/ 2364348 h 2779280"/>
                <a:gd name="connsiteX6" fmla="*/ 2364349 w 2779281"/>
                <a:gd name="connsiteY6" fmla="*/ 2779280 h 2779280"/>
                <a:gd name="connsiteX7" fmla="*/ 1529020 w 2779281"/>
                <a:gd name="connsiteY7" fmla="*/ 2779280 h 2779280"/>
                <a:gd name="connsiteX8" fmla="*/ 1132428 w 2779281"/>
                <a:gd name="connsiteY8" fmla="*/ 2382688 h 2779280"/>
                <a:gd name="connsiteX9" fmla="*/ 396592 w 2779281"/>
                <a:gd name="connsiteY9" fmla="*/ 1646852 h 277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79281" h="2779280">
                  <a:moveTo>
                    <a:pt x="0" y="1250260"/>
                  </a:moveTo>
                  <a:lnTo>
                    <a:pt x="1250261" y="0"/>
                  </a:lnTo>
                  <a:lnTo>
                    <a:pt x="1646853" y="396592"/>
                  </a:lnTo>
                  <a:lnTo>
                    <a:pt x="2382689" y="1132428"/>
                  </a:lnTo>
                  <a:lnTo>
                    <a:pt x="2779281" y="1529020"/>
                  </a:lnTo>
                  <a:lnTo>
                    <a:pt x="2779281" y="2364348"/>
                  </a:lnTo>
                  <a:cubicBezTo>
                    <a:pt x="2779281" y="2593509"/>
                    <a:pt x="2593510" y="2779280"/>
                    <a:pt x="2364349" y="2779280"/>
                  </a:cubicBezTo>
                  <a:lnTo>
                    <a:pt x="1529020" y="2779280"/>
                  </a:lnTo>
                  <a:lnTo>
                    <a:pt x="1132428" y="2382688"/>
                  </a:lnTo>
                  <a:lnTo>
                    <a:pt x="396592" y="1646852"/>
                  </a:lnTo>
                  <a:close/>
                </a:path>
              </a:pathLst>
            </a:cu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dirty="0"/>
            </a:p>
          </p:txBody>
        </p:sp>
        <p:sp>
          <p:nvSpPr>
            <p:cNvPr id="4" name="矩形: 圆顶角 3"/>
            <p:cNvSpPr/>
            <p:nvPr/>
          </p:nvSpPr>
          <p:spPr>
            <a:xfrm>
              <a:off x="1082600" y="2528888"/>
              <a:ext cx="2039386" cy="1123950"/>
            </a:xfrm>
            <a:prstGeom prst="round2SameRect">
              <a:avLst/>
            </a:pr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3577239" y="2278810"/>
            <a:ext cx="2522702" cy="3192556"/>
            <a:chOff x="703098" y="2528888"/>
            <a:chExt cx="2794464" cy="3536479"/>
          </a:xfrm>
        </p:grpSpPr>
        <p:sp>
          <p:nvSpPr>
            <p:cNvPr id="20" name="任意多边形: 形状 19"/>
            <p:cNvSpPr/>
            <p:nvPr/>
          </p:nvSpPr>
          <p:spPr>
            <a:xfrm rot="2700000">
              <a:off x="703097" y="3270903"/>
              <a:ext cx="2794465" cy="2794464"/>
            </a:xfrm>
            <a:custGeom>
              <a:avLst/>
              <a:gdLst>
                <a:gd name="connsiteX0" fmla="*/ 0 w 2779281"/>
                <a:gd name="connsiteY0" fmla="*/ 1250260 h 2779280"/>
                <a:gd name="connsiteX1" fmla="*/ 1250261 w 2779281"/>
                <a:gd name="connsiteY1" fmla="*/ 0 h 2779280"/>
                <a:gd name="connsiteX2" fmla="*/ 1646853 w 2779281"/>
                <a:gd name="connsiteY2" fmla="*/ 396592 h 2779280"/>
                <a:gd name="connsiteX3" fmla="*/ 2382689 w 2779281"/>
                <a:gd name="connsiteY3" fmla="*/ 1132428 h 2779280"/>
                <a:gd name="connsiteX4" fmla="*/ 2779281 w 2779281"/>
                <a:gd name="connsiteY4" fmla="*/ 1529020 h 2779280"/>
                <a:gd name="connsiteX5" fmla="*/ 2779281 w 2779281"/>
                <a:gd name="connsiteY5" fmla="*/ 2364348 h 2779280"/>
                <a:gd name="connsiteX6" fmla="*/ 2364349 w 2779281"/>
                <a:gd name="connsiteY6" fmla="*/ 2779280 h 2779280"/>
                <a:gd name="connsiteX7" fmla="*/ 1529020 w 2779281"/>
                <a:gd name="connsiteY7" fmla="*/ 2779280 h 2779280"/>
                <a:gd name="connsiteX8" fmla="*/ 1132428 w 2779281"/>
                <a:gd name="connsiteY8" fmla="*/ 2382688 h 2779280"/>
                <a:gd name="connsiteX9" fmla="*/ 396592 w 2779281"/>
                <a:gd name="connsiteY9" fmla="*/ 1646852 h 277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79281" h="2779280">
                  <a:moveTo>
                    <a:pt x="0" y="1250260"/>
                  </a:moveTo>
                  <a:lnTo>
                    <a:pt x="1250261" y="0"/>
                  </a:lnTo>
                  <a:lnTo>
                    <a:pt x="1646853" y="396592"/>
                  </a:lnTo>
                  <a:lnTo>
                    <a:pt x="2382689" y="1132428"/>
                  </a:lnTo>
                  <a:lnTo>
                    <a:pt x="2779281" y="1529020"/>
                  </a:lnTo>
                  <a:lnTo>
                    <a:pt x="2779281" y="2364348"/>
                  </a:lnTo>
                  <a:cubicBezTo>
                    <a:pt x="2779281" y="2593509"/>
                    <a:pt x="2593510" y="2779280"/>
                    <a:pt x="2364349" y="2779280"/>
                  </a:cubicBezTo>
                  <a:lnTo>
                    <a:pt x="1529020" y="2779280"/>
                  </a:lnTo>
                  <a:lnTo>
                    <a:pt x="1132428" y="2382688"/>
                  </a:lnTo>
                  <a:lnTo>
                    <a:pt x="396592" y="1646852"/>
                  </a:lnTo>
                  <a:close/>
                </a:path>
              </a:pathLst>
            </a:cu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dirty="0"/>
            </a:p>
          </p:txBody>
        </p:sp>
        <p:sp>
          <p:nvSpPr>
            <p:cNvPr id="21" name="矩形: 圆顶角 20"/>
            <p:cNvSpPr/>
            <p:nvPr/>
          </p:nvSpPr>
          <p:spPr>
            <a:xfrm>
              <a:off x="1082600" y="2528888"/>
              <a:ext cx="2039386" cy="1123950"/>
            </a:xfrm>
            <a:prstGeom prst="round2SameRect">
              <a:avLst/>
            </a:prstGeom>
            <a:gradFill>
              <a:gsLst>
                <a:gs pos="0">
                  <a:srgbClr val="242424"/>
                </a:gs>
                <a:gs pos="100000">
                  <a:schemeClr val="tx1">
                    <a:lumMod val="65000"/>
                    <a:lumOff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22" name="组合 21"/>
          <p:cNvGrpSpPr/>
          <p:nvPr/>
        </p:nvGrpSpPr>
        <p:grpSpPr>
          <a:xfrm>
            <a:off x="6092060" y="2278810"/>
            <a:ext cx="2522702" cy="3192556"/>
            <a:chOff x="703098" y="2528888"/>
            <a:chExt cx="2794464" cy="3536479"/>
          </a:xfrm>
        </p:grpSpPr>
        <p:sp>
          <p:nvSpPr>
            <p:cNvPr id="23" name="任意多边形: 形状 22"/>
            <p:cNvSpPr/>
            <p:nvPr/>
          </p:nvSpPr>
          <p:spPr>
            <a:xfrm rot="2700000">
              <a:off x="703097" y="3270903"/>
              <a:ext cx="2794465" cy="2794464"/>
            </a:xfrm>
            <a:custGeom>
              <a:avLst/>
              <a:gdLst>
                <a:gd name="connsiteX0" fmla="*/ 0 w 2779281"/>
                <a:gd name="connsiteY0" fmla="*/ 1250260 h 2779280"/>
                <a:gd name="connsiteX1" fmla="*/ 1250261 w 2779281"/>
                <a:gd name="connsiteY1" fmla="*/ 0 h 2779280"/>
                <a:gd name="connsiteX2" fmla="*/ 1646853 w 2779281"/>
                <a:gd name="connsiteY2" fmla="*/ 396592 h 2779280"/>
                <a:gd name="connsiteX3" fmla="*/ 2382689 w 2779281"/>
                <a:gd name="connsiteY3" fmla="*/ 1132428 h 2779280"/>
                <a:gd name="connsiteX4" fmla="*/ 2779281 w 2779281"/>
                <a:gd name="connsiteY4" fmla="*/ 1529020 h 2779280"/>
                <a:gd name="connsiteX5" fmla="*/ 2779281 w 2779281"/>
                <a:gd name="connsiteY5" fmla="*/ 2364348 h 2779280"/>
                <a:gd name="connsiteX6" fmla="*/ 2364349 w 2779281"/>
                <a:gd name="connsiteY6" fmla="*/ 2779280 h 2779280"/>
                <a:gd name="connsiteX7" fmla="*/ 1529020 w 2779281"/>
                <a:gd name="connsiteY7" fmla="*/ 2779280 h 2779280"/>
                <a:gd name="connsiteX8" fmla="*/ 1132428 w 2779281"/>
                <a:gd name="connsiteY8" fmla="*/ 2382688 h 2779280"/>
                <a:gd name="connsiteX9" fmla="*/ 396592 w 2779281"/>
                <a:gd name="connsiteY9" fmla="*/ 1646852 h 277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79281" h="2779280">
                  <a:moveTo>
                    <a:pt x="0" y="1250260"/>
                  </a:moveTo>
                  <a:lnTo>
                    <a:pt x="1250261" y="0"/>
                  </a:lnTo>
                  <a:lnTo>
                    <a:pt x="1646853" y="396592"/>
                  </a:lnTo>
                  <a:lnTo>
                    <a:pt x="2382689" y="1132428"/>
                  </a:lnTo>
                  <a:lnTo>
                    <a:pt x="2779281" y="1529020"/>
                  </a:lnTo>
                  <a:lnTo>
                    <a:pt x="2779281" y="2364348"/>
                  </a:lnTo>
                  <a:cubicBezTo>
                    <a:pt x="2779281" y="2593509"/>
                    <a:pt x="2593510" y="2779280"/>
                    <a:pt x="2364349" y="2779280"/>
                  </a:cubicBezTo>
                  <a:lnTo>
                    <a:pt x="1529020" y="2779280"/>
                  </a:lnTo>
                  <a:lnTo>
                    <a:pt x="1132428" y="2382688"/>
                  </a:lnTo>
                  <a:lnTo>
                    <a:pt x="396592" y="1646852"/>
                  </a:lnTo>
                  <a:close/>
                </a:path>
              </a:pathLst>
            </a:cu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dirty="0"/>
            </a:p>
          </p:txBody>
        </p:sp>
        <p:sp>
          <p:nvSpPr>
            <p:cNvPr id="24" name="矩形: 圆顶角 23"/>
            <p:cNvSpPr/>
            <p:nvPr/>
          </p:nvSpPr>
          <p:spPr>
            <a:xfrm>
              <a:off x="1082600" y="2528888"/>
              <a:ext cx="2039386" cy="1123950"/>
            </a:xfrm>
            <a:prstGeom prst="round2SameRect">
              <a:avLst/>
            </a:pr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8606880" y="2278810"/>
            <a:ext cx="2522702" cy="3192556"/>
            <a:chOff x="703098" y="2528888"/>
            <a:chExt cx="2794464" cy="3536479"/>
          </a:xfrm>
        </p:grpSpPr>
        <p:sp>
          <p:nvSpPr>
            <p:cNvPr id="26" name="任意多边形: 形状 25"/>
            <p:cNvSpPr/>
            <p:nvPr/>
          </p:nvSpPr>
          <p:spPr>
            <a:xfrm rot="2700000">
              <a:off x="703097" y="3270903"/>
              <a:ext cx="2794465" cy="2794464"/>
            </a:xfrm>
            <a:custGeom>
              <a:avLst/>
              <a:gdLst>
                <a:gd name="connsiteX0" fmla="*/ 0 w 2779281"/>
                <a:gd name="connsiteY0" fmla="*/ 1250260 h 2779280"/>
                <a:gd name="connsiteX1" fmla="*/ 1250261 w 2779281"/>
                <a:gd name="connsiteY1" fmla="*/ 0 h 2779280"/>
                <a:gd name="connsiteX2" fmla="*/ 1646853 w 2779281"/>
                <a:gd name="connsiteY2" fmla="*/ 396592 h 2779280"/>
                <a:gd name="connsiteX3" fmla="*/ 2382689 w 2779281"/>
                <a:gd name="connsiteY3" fmla="*/ 1132428 h 2779280"/>
                <a:gd name="connsiteX4" fmla="*/ 2779281 w 2779281"/>
                <a:gd name="connsiteY4" fmla="*/ 1529020 h 2779280"/>
                <a:gd name="connsiteX5" fmla="*/ 2779281 w 2779281"/>
                <a:gd name="connsiteY5" fmla="*/ 2364348 h 2779280"/>
                <a:gd name="connsiteX6" fmla="*/ 2364349 w 2779281"/>
                <a:gd name="connsiteY6" fmla="*/ 2779280 h 2779280"/>
                <a:gd name="connsiteX7" fmla="*/ 1529020 w 2779281"/>
                <a:gd name="connsiteY7" fmla="*/ 2779280 h 2779280"/>
                <a:gd name="connsiteX8" fmla="*/ 1132428 w 2779281"/>
                <a:gd name="connsiteY8" fmla="*/ 2382688 h 2779280"/>
                <a:gd name="connsiteX9" fmla="*/ 396592 w 2779281"/>
                <a:gd name="connsiteY9" fmla="*/ 1646852 h 277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79281" h="2779280">
                  <a:moveTo>
                    <a:pt x="0" y="1250260"/>
                  </a:moveTo>
                  <a:lnTo>
                    <a:pt x="1250261" y="0"/>
                  </a:lnTo>
                  <a:lnTo>
                    <a:pt x="1646853" y="396592"/>
                  </a:lnTo>
                  <a:lnTo>
                    <a:pt x="2382689" y="1132428"/>
                  </a:lnTo>
                  <a:lnTo>
                    <a:pt x="2779281" y="1529020"/>
                  </a:lnTo>
                  <a:lnTo>
                    <a:pt x="2779281" y="2364348"/>
                  </a:lnTo>
                  <a:cubicBezTo>
                    <a:pt x="2779281" y="2593509"/>
                    <a:pt x="2593510" y="2779280"/>
                    <a:pt x="2364349" y="2779280"/>
                  </a:cubicBezTo>
                  <a:lnTo>
                    <a:pt x="1529020" y="2779280"/>
                  </a:lnTo>
                  <a:lnTo>
                    <a:pt x="1132428" y="2382688"/>
                  </a:lnTo>
                  <a:lnTo>
                    <a:pt x="396592" y="1646852"/>
                  </a:lnTo>
                  <a:close/>
                </a:path>
              </a:pathLst>
            </a:cu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dirty="0"/>
            </a:p>
          </p:txBody>
        </p:sp>
        <p:sp>
          <p:nvSpPr>
            <p:cNvPr id="27" name="矩形: 圆顶角 26"/>
            <p:cNvSpPr/>
            <p:nvPr/>
          </p:nvSpPr>
          <p:spPr>
            <a:xfrm>
              <a:off x="1082600" y="2528888"/>
              <a:ext cx="2039386" cy="1123950"/>
            </a:xfrm>
            <a:prstGeom prst="round2SameRect">
              <a:avLst/>
            </a:prstGeom>
            <a:gradFill>
              <a:gsLst>
                <a:gs pos="0">
                  <a:srgbClr val="242424"/>
                </a:gs>
                <a:gs pos="100000">
                  <a:schemeClr val="tx1">
                    <a:lumMod val="65000"/>
                    <a:lumOff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Group 30"/>
          <p:cNvGrpSpPr/>
          <p:nvPr/>
        </p:nvGrpSpPr>
        <p:grpSpPr>
          <a:xfrm>
            <a:off x="1947198" y="2916886"/>
            <a:ext cx="753140" cy="753140"/>
            <a:chOff x="1947198" y="2853386"/>
            <a:chExt cx="753140" cy="753140"/>
          </a:xfrm>
        </p:grpSpPr>
        <p:sp>
          <p:nvSpPr>
            <p:cNvPr id="53" name="椭圆 52"/>
            <p:cNvSpPr/>
            <p:nvPr/>
          </p:nvSpPr>
          <p:spPr>
            <a:xfrm>
              <a:off x="1947198" y="2853386"/>
              <a:ext cx="753140" cy="753140"/>
            </a:xfrm>
            <a:prstGeom prst="ellipse">
              <a:avLst/>
            </a:prstGeom>
            <a:solidFill>
              <a:srgbClr val="24C6DB"/>
            </a:solidFill>
            <a:ln w="5715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 name="Oval 29"/>
            <p:cNvSpPr/>
            <p:nvPr/>
          </p:nvSpPr>
          <p:spPr>
            <a:xfrm>
              <a:off x="2184068" y="3102099"/>
              <a:ext cx="279400" cy="255713"/>
            </a:xfrm>
            <a:custGeom>
              <a:avLst/>
              <a:gdLst>
                <a:gd name="connsiteX0" fmla="*/ 531631 w 607639"/>
                <a:gd name="connsiteY0" fmla="*/ 404551 h 556126"/>
                <a:gd name="connsiteX1" fmla="*/ 556997 w 607639"/>
                <a:gd name="connsiteY1" fmla="*/ 429784 h 556126"/>
                <a:gd name="connsiteX2" fmla="*/ 556997 w 607639"/>
                <a:gd name="connsiteY2" fmla="*/ 455017 h 556126"/>
                <a:gd name="connsiteX3" fmla="*/ 582273 w 607639"/>
                <a:gd name="connsiteY3" fmla="*/ 455017 h 556126"/>
                <a:gd name="connsiteX4" fmla="*/ 607639 w 607639"/>
                <a:gd name="connsiteY4" fmla="*/ 480339 h 556126"/>
                <a:gd name="connsiteX5" fmla="*/ 582273 w 607639"/>
                <a:gd name="connsiteY5" fmla="*/ 505572 h 556126"/>
                <a:gd name="connsiteX6" fmla="*/ 556997 w 607639"/>
                <a:gd name="connsiteY6" fmla="*/ 505572 h 556126"/>
                <a:gd name="connsiteX7" fmla="*/ 556997 w 607639"/>
                <a:gd name="connsiteY7" fmla="*/ 530893 h 556126"/>
                <a:gd name="connsiteX8" fmla="*/ 531631 w 607639"/>
                <a:gd name="connsiteY8" fmla="*/ 556126 h 556126"/>
                <a:gd name="connsiteX9" fmla="*/ 506354 w 607639"/>
                <a:gd name="connsiteY9" fmla="*/ 530893 h 556126"/>
                <a:gd name="connsiteX10" fmla="*/ 506354 w 607639"/>
                <a:gd name="connsiteY10" fmla="*/ 505572 h 556126"/>
                <a:gd name="connsiteX11" fmla="*/ 480989 w 607639"/>
                <a:gd name="connsiteY11" fmla="*/ 505572 h 556126"/>
                <a:gd name="connsiteX12" fmla="*/ 455712 w 607639"/>
                <a:gd name="connsiteY12" fmla="*/ 480339 h 556126"/>
                <a:gd name="connsiteX13" fmla="*/ 480989 w 607639"/>
                <a:gd name="connsiteY13" fmla="*/ 455017 h 556126"/>
                <a:gd name="connsiteX14" fmla="*/ 506354 w 607639"/>
                <a:gd name="connsiteY14" fmla="*/ 455017 h 556126"/>
                <a:gd name="connsiteX15" fmla="*/ 506354 w 607639"/>
                <a:gd name="connsiteY15" fmla="*/ 429784 h 556126"/>
                <a:gd name="connsiteX16" fmla="*/ 531631 w 607639"/>
                <a:gd name="connsiteY16" fmla="*/ 404551 h 556126"/>
                <a:gd name="connsiteX17" fmla="*/ 126541 w 607639"/>
                <a:gd name="connsiteY17" fmla="*/ 353956 h 556126"/>
                <a:gd name="connsiteX18" fmla="*/ 430431 w 607639"/>
                <a:gd name="connsiteY18" fmla="*/ 353956 h 556126"/>
                <a:gd name="connsiteX19" fmla="*/ 455711 w 607639"/>
                <a:gd name="connsiteY19" fmla="*/ 379209 h 556126"/>
                <a:gd name="connsiteX20" fmla="*/ 430431 w 607639"/>
                <a:gd name="connsiteY20" fmla="*/ 404551 h 556126"/>
                <a:gd name="connsiteX21" fmla="*/ 126541 w 607639"/>
                <a:gd name="connsiteY21" fmla="*/ 404551 h 556126"/>
                <a:gd name="connsiteX22" fmla="*/ 101261 w 607639"/>
                <a:gd name="connsiteY22" fmla="*/ 379209 h 556126"/>
                <a:gd name="connsiteX23" fmla="*/ 126541 w 607639"/>
                <a:gd name="connsiteY23" fmla="*/ 353956 h 556126"/>
                <a:gd name="connsiteX24" fmla="*/ 177203 w 607639"/>
                <a:gd name="connsiteY24" fmla="*/ 252836 h 556126"/>
                <a:gd name="connsiteX25" fmla="*/ 379769 w 607639"/>
                <a:gd name="connsiteY25" fmla="*/ 252836 h 556126"/>
                <a:gd name="connsiteX26" fmla="*/ 405045 w 607639"/>
                <a:gd name="connsiteY26" fmla="*/ 278054 h 556126"/>
                <a:gd name="connsiteX27" fmla="*/ 379769 w 607639"/>
                <a:gd name="connsiteY27" fmla="*/ 303361 h 556126"/>
                <a:gd name="connsiteX28" fmla="*/ 177203 w 607639"/>
                <a:gd name="connsiteY28" fmla="*/ 303361 h 556126"/>
                <a:gd name="connsiteX29" fmla="*/ 151927 w 607639"/>
                <a:gd name="connsiteY29" fmla="*/ 278054 h 556126"/>
                <a:gd name="connsiteX30" fmla="*/ 177203 w 607639"/>
                <a:gd name="connsiteY30" fmla="*/ 252836 h 556126"/>
                <a:gd name="connsiteX31" fmla="*/ 430424 w 607639"/>
                <a:gd name="connsiteY31" fmla="*/ 101120 h 556126"/>
                <a:gd name="connsiteX32" fmla="*/ 455712 w 607639"/>
                <a:gd name="connsiteY32" fmla="*/ 126373 h 556126"/>
                <a:gd name="connsiteX33" fmla="*/ 455712 w 607639"/>
                <a:gd name="connsiteY33" fmla="*/ 126462 h 556126"/>
                <a:gd name="connsiteX34" fmla="*/ 430424 w 607639"/>
                <a:gd name="connsiteY34" fmla="*/ 151715 h 556126"/>
                <a:gd name="connsiteX35" fmla="*/ 405046 w 607639"/>
                <a:gd name="connsiteY35" fmla="*/ 126462 h 556126"/>
                <a:gd name="connsiteX36" fmla="*/ 430424 w 607639"/>
                <a:gd name="connsiteY36" fmla="*/ 101120 h 556126"/>
                <a:gd name="connsiteX37" fmla="*/ 329126 w 607639"/>
                <a:gd name="connsiteY37" fmla="*/ 101120 h 556126"/>
                <a:gd name="connsiteX38" fmla="*/ 354379 w 607639"/>
                <a:gd name="connsiteY38" fmla="*/ 126373 h 556126"/>
                <a:gd name="connsiteX39" fmla="*/ 354379 w 607639"/>
                <a:gd name="connsiteY39" fmla="*/ 126462 h 556126"/>
                <a:gd name="connsiteX40" fmla="*/ 329126 w 607639"/>
                <a:gd name="connsiteY40" fmla="*/ 151715 h 556126"/>
                <a:gd name="connsiteX41" fmla="*/ 303784 w 607639"/>
                <a:gd name="connsiteY41" fmla="*/ 126462 h 556126"/>
                <a:gd name="connsiteX42" fmla="*/ 329126 w 607639"/>
                <a:gd name="connsiteY42" fmla="*/ 101120 h 556126"/>
                <a:gd name="connsiteX43" fmla="*/ 227856 w 607639"/>
                <a:gd name="connsiteY43" fmla="*/ 101120 h 556126"/>
                <a:gd name="connsiteX44" fmla="*/ 253118 w 607639"/>
                <a:gd name="connsiteY44" fmla="*/ 126373 h 556126"/>
                <a:gd name="connsiteX45" fmla="*/ 253118 w 607639"/>
                <a:gd name="connsiteY45" fmla="*/ 126462 h 556126"/>
                <a:gd name="connsiteX46" fmla="*/ 227856 w 607639"/>
                <a:gd name="connsiteY46" fmla="*/ 151715 h 556126"/>
                <a:gd name="connsiteX47" fmla="*/ 202593 w 607639"/>
                <a:gd name="connsiteY47" fmla="*/ 126462 h 556126"/>
                <a:gd name="connsiteX48" fmla="*/ 227856 w 607639"/>
                <a:gd name="connsiteY48" fmla="*/ 101120 h 556126"/>
                <a:gd name="connsiteX49" fmla="*/ 25276 w 607639"/>
                <a:gd name="connsiteY49" fmla="*/ 0 h 556126"/>
                <a:gd name="connsiteX50" fmla="*/ 531608 w 607639"/>
                <a:gd name="connsiteY50" fmla="*/ 0 h 556126"/>
                <a:gd name="connsiteX51" fmla="*/ 556973 w 607639"/>
                <a:gd name="connsiteY51" fmla="*/ 25329 h 556126"/>
                <a:gd name="connsiteX52" fmla="*/ 556973 w 607639"/>
                <a:gd name="connsiteY52" fmla="*/ 328654 h 556126"/>
                <a:gd name="connsiteX53" fmla="*/ 531608 w 607639"/>
                <a:gd name="connsiteY53" fmla="*/ 353983 h 556126"/>
                <a:gd name="connsiteX54" fmla="*/ 506331 w 607639"/>
                <a:gd name="connsiteY54" fmla="*/ 328654 h 556126"/>
                <a:gd name="connsiteX55" fmla="*/ 506331 w 607639"/>
                <a:gd name="connsiteY55" fmla="*/ 50569 h 556126"/>
                <a:gd name="connsiteX56" fmla="*/ 50642 w 607639"/>
                <a:gd name="connsiteY56" fmla="*/ 50569 h 556126"/>
                <a:gd name="connsiteX57" fmla="*/ 50642 w 607639"/>
                <a:gd name="connsiteY57" fmla="*/ 455032 h 556126"/>
                <a:gd name="connsiteX58" fmla="*/ 379770 w 607639"/>
                <a:gd name="connsiteY58" fmla="*/ 455032 h 556126"/>
                <a:gd name="connsiteX59" fmla="*/ 405047 w 607639"/>
                <a:gd name="connsiteY59" fmla="*/ 480361 h 556126"/>
                <a:gd name="connsiteX60" fmla="*/ 379770 w 607639"/>
                <a:gd name="connsiteY60" fmla="*/ 505601 h 556126"/>
                <a:gd name="connsiteX61" fmla="*/ 25276 w 607639"/>
                <a:gd name="connsiteY61" fmla="*/ 505601 h 556126"/>
                <a:gd name="connsiteX62" fmla="*/ 0 w 607639"/>
                <a:gd name="connsiteY62" fmla="*/ 480361 h 556126"/>
                <a:gd name="connsiteX63" fmla="*/ 0 w 607639"/>
                <a:gd name="connsiteY63" fmla="*/ 25329 h 556126"/>
                <a:gd name="connsiteX64" fmla="*/ 25276 w 607639"/>
                <a:gd name="connsiteY64" fmla="*/ 0 h 55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7639" h="556126">
                  <a:moveTo>
                    <a:pt x="531631" y="404551"/>
                  </a:moveTo>
                  <a:cubicBezTo>
                    <a:pt x="545604" y="404551"/>
                    <a:pt x="556997" y="415835"/>
                    <a:pt x="556997" y="429784"/>
                  </a:cubicBezTo>
                  <a:lnTo>
                    <a:pt x="556997" y="455017"/>
                  </a:lnTo>
                  <a:lnTo>
                    <a:pt x="582273" y="455017"/>
                  </a:lnTo>
                  <a:cubicBezTo>
                    <a:pt x="596247" y="455017"/>
                    <a:pt x="607639" y="466390"/>
                    <a:pt x="607639" y="480339"/>
                  </a:cubicBezTo>
                  <a:cubicBezTo>
                    <a:pt x="607639" y="494288"/>
                    <a:pt x="596247" y="505572"/>
                    <a:pt x="582273" y="505572"/>
                  </a:cubicBezTo>
                  <a:lnTo>
                    <a:pt x="556997" y="505572"/>
                  </a:lnTo>
                  <a:lnTo>
                    <a:pt x="556997" y="530893"/>
                  </a:lnTo>
                  <a:cubicBezTo>
                    <a:pt x="556997" y="544843"/>
                    <a:pt x="545604" y="556126"/>
                    <a:pt x="531631" y="556126"/>
                  </a:cubicBezTo>
                  <a:cubicBezTo>
                    <a:pt x="517658" y="556126"/>
                    <a:pt x="506354" y="544843"/>
                    <a:pt x="506354" y="530893"/>
                  </a:cubicBezTo>
                  <a:lnTo>
                    <a:pt x="506354" y="505572"/>
                  </a:lnTo>
                  <a:lnTo>
                    <a:pt x="480989" y="505572"/>
                  </a:lnTo>
                  <a:cubicBezTo>
                    <a:pt x="467015" y="505572"/>
                    <a:pt x="455712" y="494288"/>
                    <a:pt x="455712" y="480339"/>
                  </a:cubicBezTo>
                  <a:cubicBezTo>
                    <a:pt x="455712" y="466390"/>
                    <a:pt x="467015" y="455017"/>
                    <a:pt x="480989" y="455017"/>
                  </a:cubicBezTo>
                  <a:lnTo>
                    <a:pt x="506354" y="455017"/>
                  </a:lnTo>
                  <a:lnTo>
                    <a:pt x="506354" y="429784"/>
                  </a:lnTo>
                  <a:cubicBezTo>
                    <a:pt x="506354" y="415835"/>
                    <a:pt x="517658" y="404551"/>
                    <a:pt x="531631" y="404551"/>
                  </a:cubicBezTo>
                  <a:close/>
                  <a:moveTo>
                    <a:pt x="126541" y="353956"/>
                  </a:moveTo>
                  <a:lnTo>
                    <a:pt x="430431" y="353956"/>
                  </a:lnTo>
                  <a:cubicBezTo>
                    <a:pt x="444406" y="353956"/>
                    <a:pt x="455711" y="365248"/>
                    <a:pt x="455711" y="379209"/>
                  </a:cubicBezTo>
                  <a:cubicBezTo>
                    <a:pt x="455711" y="393169"/>
                    <a:pt x="444406" y="404551"/>
                    <a:pt x="430431" y="404551"/>
                  </a:cubicBezTo>
                  <a:lnTo>
                    <a:pt x="126541" y="404551"/>
                  </a:lnTo>
                  <a:cubicBezTo>
                    <a:pt x="112566" y="404551"/>
                    <a:pt x="101261" y="393169"/>
                    <a:pt x="101261" y="379209"/>
                  </a:cubicBezTo>
                  <a:cubicBezTo>
                    <a:pt x="101261" y="365248"/>
                    <a:pt x="112566" y="353956"/>
                    <a:pt x="126541" y="353956"/>
                  </a:cubicBezTo>
                  <a:close/>
                  <a:moveTo>
                    <a:pt x="177203" y="252836"/>
                  </a:moveTo>
                  <a:lnTo>
                    <a:pt x="379769" y="252836"/>
                  </a:lnTo>
                  <a:cubicBezTo>
                    <a:pt x="393742" y="252836"/>
                    <a:pt x="405045" y="264113"/>
                    <a:pt x="405045" y="278054"/>
                  </a:cubicBezTo>
                  <a:cubicBezTo>
                    <a:pt x="405045" y="291995"/>
                    <a:pt x="393742" y="303361"/>
                    <a:pt x="379769" y="303361"/>
                  </a:cubicBezTo>
                  <a:lnTo>
                    <a:pt x="177203" y="303361"/>
                  </a:lnTo>
                  <a:cubicBezTo>
                    <a:pt x="163230" y="303361"/>
                    <a:pt x="151927" y="291995"/>
                    <a:pt x="151927" y="278054"/>
                  </a:cubicBezTo>
                  <a:cubicBezTo>
                    <a:pt x="151927" y="264113"/>
                    <a:pt x="163230" y="252836"/>
                    <a:pt x="177203" y="252836"/>
                  </a:cubicBezTo>
                  <a:close/>
                  <a:moveTo>
                    <a:pt x="430424" y="101120"/>
                  </a:moveTo>
                  <a:cubicBezTo>
                    <a:pt x="444403" y="101120"/>
                    <a:pt x="455712" y="112412"/>
                    <a:pt x="455712" y="126373"/>
                  </a:cubicBezTo>
                  <a:lnTo>
                    <a:pt x="455712" y="126462"/>
                  </a:lnTo>
                  <a:cubicBezTo>
                    <a:pt x="455712" y="140422"/>
                    <a:pt x="444403" y="151715"/>
                    <a:pt x="430424" y="151715"/>
                  </a:cubicBezTo>
                  <a:cubicBezTo>
                    <a:pt x="416355" y="151715"/>
                    <a:pt x="405046" y="140422"/>
                    <a:pt x="405046" y="126462"/>
                  </a:cubicBezTo>
                  <a:cubicBezTo>
                    <a:pt x="405046" y="112501"/>
                    <a:pt x="416355" y="101120"/>
                    <a:pt x="430424" y="101120"/>
                  </a:cubicBezTo>
                  <a:close/>
                  <a:moveTo>
                    <a:pt x="329126" y="101120"/>
                  </a:moveTo>
                  <a:cubicBezTo>
                    <a:pt x="343086" y="101120"/>
                    <a:pt x="354379" y="112412"/>
                    <a:pt x="354379" y="126373"/>
                  </a:cubicBezTo>
                  <a:lnTo>
                    <a:pt x="354379" y="126462"/>
                  </a:lnTo>
                  <a:cubicBezTo>
                    <a:pt x="354379" y="140422"/>
                    <a:pt x="343086" y="151715"/>
                    <a:pt x="329126" y="151715"/>
                  </a:cubicBezTo>
                  <a:cubicBezTo>
                    <a:pt x="315166" y="151715"/>
                    <a:pt x="303784" y="140422"/>
                    <a:pt x="303784" y="126462"/>
                  </a:cubicBezTo>
                  <a:cubicBezTo>
                    <a:pt x="303784" y="112501"/>
                    <a:pt x="315166" y="101120"/>
                    <a:pt x="329126" y="101120"/>
                  </a:cubicBezTo>
                  <a:close/>
                  <a:moveTo>
                    <a:pt x="227856" y="101120"/>
                  </a:moveTo>
                  <a:cubicBezTo>
                    <a:pt x="241821" y="101120"/>
                    <a:pt x="253118" y="112412"/>
                    <a:pt x="253118" y="126373"/>
                  </a:cubicBezTo>
                  <a:lnTo>
                    <a:pt x="253118" y="126462"/>
                  </a:lnTo>
                  <a:cubicBezTo>
                    <a:pt x="253118" y="140422"/>
                    <a:pt x="241821" y="151715"/>
                    <a:pt x="227856" y="151715"/>
                  </a:cubicBezTo>
                  <a:cubicBezTo>
                    <a:pt x="213890" y="151715"/>
                    <a:pt x="202593" y="140422"/>
                    <a:pt x="202593" y="126462"/>
                  </a:cubicBezTo>
                  <a:cubicBezTo>
                    <a:pt x="202593" y="112501"/>
                    <a:pt x="213890" y="101120"/>
                    <a:pt x="227856" y="101120"/>
                  </a:cubicBezTo>
                  <a:close/>
                  <a:moveTo>
                    <a:pt x="25276" y="0"/>
                  </a:moveTo>
                  <a:lnTo>
                    <a:pt x="531608" y="0"/>
                  </a:lnTo>
                  <a:cubicBezTo>
                    <a:pt x="545581" y="0"/>
                    <a:pt x="556973" y="11376"/>
                    <a:pt x="556973" y="25329"/>
                  </a:cubicBezTo>
                  <a:lnTo>
                    <a:pt x="556973" y="328654"/>
                  </a:lnTo>
                  <a:cubicBezTo>
                    <a:pt x="556973" y="342607"/>
                    <a:pt x="545581" y="353983"/>
                    <a:pt x="531608" y="353983"/>
                  </a:cubicBezTo>
                  <a:cubicBezTo>
                    <a:pt x="517634" y="353983"/>
                    <a:pt x="506331" y="342607"/>
                    <a:pt x="506331" y="328654"/>
                  </a:cubicBezTo>
                  <a:lnTo>
                    <a:pt x="506331" y="50569"/>
                  </a:lnTo>
                  <a:lnTo>
                    <a:pt x="50642" y="50569"/>
                  </a:lnTo>
                  <a:lnTo>
                    <a:pt x="50642" y="455032"/>
                  </a:lnTo>
                  <a:lnTo>
                    <a:pt x="379770" y="455032"/>
                  </a:lnTo>
                  <a:cubicBezTo>
                    <a:pt x="393744" y="455032"/>
                    <a:pt x="405047" y="466408"/>
                    <a:pt x="405047" y="480361"/>
                  </a:cubicBezTo>
                  <a:cubicBezTo>
                    <a:pt x="405047" y="494314"/>
                    <a:pt x="393744" y="505601"/>
                    <a:pt x="379770" y="505601"/>
                  </a:cubicBezTo>
                  <a:lnTo>
                    <a:pt x="25276" y="505601"/>
                  </a:lnTo>
                  <a:cubicBezTo>
                    <a:pt x="11303" y="505601"/>
                    <a:pt x="0" y="494314"/>
                    <a:pt x="0" y="480361"/>
                  </a:cubicBezTo>
                  <a:lnTo>
                    <a:pt x="0" y="25329"/>
                  </a:lnTo>
                  <a:cubicBezTo>
                    <a:pt x="0" y="11376"/>
                    <a:pt x="11303" y="0"/>
                    <a:pt x="252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55" name="Group 31"/>
          <p:cNvGrpSpPr/>
          <p:nvPr/>
        </p:nvGrpSpPr>
        <p:grpSpPr>
          <a:xfrm>
            <a:off x="4461687" y="2916886"/>
            <a:ext cx="753140" cy="753140"/>
            <a:chOff x="1947198" y="2853386"/>
            <a:chExt cx="753140" cy="753140"/>
          </a:xfrm>
        </p:grpSpPr>
        <p:sp>
          <p:nvSpPr>
            <p:cNvPr id="56" name="椭圆 55"/>
            <p:cNvSpPr/>
            <p:nvPr/>
          </p:nvSpPr>
          <p:spPr>
            <a:xfrm>
              <a:off x="1947198" y="2853386"/>
              <a:ext cx="753140" cy="753140"/>
            </a:xfrm>
            <a:prstGeom prst="ellipse">
              <a:avLst/>
            </a:prstGeom>
            <a:solidFill>
              <a:srgbClr val="242424"/>
            </a:solidFill>
            <a:ln w="5715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7" name="Oval 33"/>
            <p:cNvSpPr/>
            <p:nvPr/>
          </p:nvSpPr>
          <p:spPr>
            <a:xfrm>
              <a:off x="2184068" y="3090483"/>
              <a:ext cx="279400" cy="278944"/>
            </a:xfrm>
            <a:custGeom>
              <a:avLst/>
              <a:gdLst>
                <a:gd name="connsiteX0" fmla="*/ 140017 w 606581"/>
                <a:gd name="connsiteY0" fmla="*/ 411043 h 605592"/>
                <a:gd name="connsiteX1" fmla="*/ 178821 w 606581"/>
                <a:gd name="connsiteY1" fmla="*/ 427078 h 605592"/>
                <a:gd name="connsiteX2" fmla="*/ 178821 w 606581"/>
                <a:gd name="connsiteY2" fmla="*/ 504564 h 605592"/>
                <a:gd name="connsiteX3" fmla="*/ 93692 w 606581"/>
                <a:gd name="connsiteY3" fmla="*/ 589557 h 605592"/>
                <a:gd name="connsiteX4" fmla="*/ 54887 w 606581"/>
                <a:gd name="connsiteY4" fmla="*/ 605592 h 605592"/>
                <a:gd name="connsiteX5" fmla="*/ 16083 w 606581"/>
                <a:gd name="connsiteY5" fmla="*/ 589557 h 605592"/>
                <a:gd name="connsiteX6" fmla="*/ 16083 w 606581"/>
                <a:gd name="connsiteY6" fmla="*/ 511979 h 605592"/>
                <a:gd name="connsiteX7" fmla="*/ 101212 w 606581"/>
                <a:gd name="connsiteY7" fmla="*/ 427078 h 605592"/>
                <a:gd name="connsiteX8" fmla="*/ 140017 w 606581"/>
                <a:gd name="connsiteY8" fmla="*/ 411043 h 605592"/>
                <a:gd name="connsiteX9" fmla="*/ 382501 w 606581"/>
                <a:gd name="connsiteY9" fmla="*/ 49537 h 605592"/>
                <a:gd name="connsiteX10" fmla="*/ 557044 w 606581"/>
                <a:gd name="connsiteY10" fmla="*/ 223798 h 605592"/>
                <a:gd name="connsiteX11" fmla="*/ 382501 w 606581"/>
                <a:gd name="connsiteY11" fmla="*/ 398059 h 605592"/>
                <a:gd name="connsiteX12" fmla="*/ 207957 w 606581"/>
                <a:gd name="connsiteY12" fmla="*/ 223798 h 605592"/>
                <a:gd name="connsiteX13" fmla="*/ 382501 w 606581"/>
                <a:gd name="connsiteY13" fmla="*/ 49537 h 605592"/>
                <a:gd name="connsiteX14" fmla="*/ 382536 w 606581"/>
                <a:gd name="connsiteY14" fmla="*/ 24750 h 605592"/>
                <a:gd name="connsiteX15" fmla="*/ 304914 w 606581"/>
                <a:gd name="connsiteY15" fmla="*/ 40417 h 605592"/>
                <a:gd name="connsiteX16" fmla="*/ 241591 w 606581"/>
                <a:gd name="connsiteY16" fmla="*/ 83058 h 605592"/>
                <a:gd name="connsiteX17" fmla="*/ 198880 w 606581"/>
                <a:gd name="connsiteY17" fmla="*/ 146278 h 605592"/>
                <a:gd name="connsiteX18" fmla="*/ 183189 w 606581"/>
                <a:gd name="connsiteY18" fmla="*/ 223774 h 605592"/>
                <a:gd name="connsiteX19" fmla="*/ 198880 w 606581"/>
                <a:gd name="connsiteY19" fmla="*/ 301177 h 605592"/>
                <a:gd name="connsiteX20" fmla="*/ 241591 w 606581"/>
                <a:gd name="connsiteY20" fmla="*/ 364490 h 605592"/>
                <a:gd name="connsiteX21" fmla="*/ 304914 w 606581"/>
                <a:gd name="connsiteY21" fmla="*/ 407131 h 605592"/>
                <a:gd name="connsiteX22" fmla="*/ 382536 w 606581"/>
                <a:gd name="connsiteY22" fmla="*/ 422705 h 605592"/>
                <a:gd name="connsiteX23" fmla="*/ 460158 w 606581"/>
                <a:gd name="connsiteY23" fmla="*/ 407131 h 605592"/>
                <a:gd name="connsiteX24" fmla="*/ 523481 w 606581"/>
                <a:gd name="connsiteY24" fmla="*/ 364490 h 605592"/>
                <a:gd name="connsiteX25" fmla="*/ 566192 w 606581"/>
                <a:gd name="connsiteY25" fmla="*/ 301177 h 605592"/>
                <a:gd name="connsiteX26" fmla="*/ 581883 w 606581"/>
                <a:gd name="connsiteY26" fmla="*/ 223774 h 605592"/>
                <a:gd name="connsiteX27" fmla="*/ 566192 w 606581"/>
                <a:gd name="connsiteY27" fmla="*/ 146278 h 605592"/>
                <a:gd name="connsiteX28" fmla="*/ 523481 w 606581"/>
                <a:gd name="connsiteY28" fmla="*/ 83058 h 605592"/>
                <a:gd name="connsiteX29" fmla="*/ 460158 w 606581"/>
                <a:gd name="connsiteY29" fmla="*/ 40417 h 605592"/>
                <a:gd name="connsiteX30" fmla="*/ 382536 w 606581"/>
                <a:gd name="connsiteY30" fmla="*/ 24750 h 605592"/>
                <a:gd name="connsiteX31" fmla="*/ 382536 w 606581"/>
                <a:gd name="connsiteY31" fmla="*/ 0 h 605592"/>
                <a:gd name="connsiteX32" fmla="*/ 469721 w 606581"/>
                <a:gd name="connsiteY32" fmla="*/ 17613 h 605592"/>
                <a:gd name="connsiteX33" fmla="*/ 540937 w 606581"/>
                <a:gd name="connsiteY33" fmla="*/ 65538 h 605592"/>
                <a:gd name="connsiteX34" fmla="*/ 588940 w 606581"/>
                <a:gd name="connsiteY34" fmla="*/ 136637 h 605592"/>
                <a:gd name="connsiteX35" fmla="*/ 606581 w 606581"/>
                <a:gd name="connsiteY35" fmla="*/ 223774 h 605592"/>
                <a:gd name="connsiteX36" fmla="*/ 588940 w 606581"/>
                <a:gd name="connsiteY36" fmla="*/ 310818 h 605592"/>
                <a:gd name="connsiteX37" fmla="*/ 540937 w 606581"/>
                <a:gd name="connsiteY37" fmla="*/ 381917 h 605592"/>
                <a:gd name="connsiteX38" fmla="*/ 469721 w 606581"/>
                <a:gd name="connsiteY38" fmla="*/ 429842 h 605592"/>
                <a:gd name="connsiteX39" fmla="*/ 382536 w 606581"/>
                <a:gd name="connsiteY39" fmla="*/ 447455 h 605592"/>
                <a:gd name="connsiteX40" fmla="*/ 295258 w 606581"/>
                <a:gd name="connsiteY40" fmla="*/ 429842 h 605592"/>
                <a:gd name="connsiteX41" fmla="*/ 240105 w 606581"/>
                <a:gd name="connsiteY41" fmla="*/ 396471 h 605592"/>
                <a:gd name="connsiteX42" fmla="*/ 209558 w 606581"/>
                <a:gd name="connsiteY42" fmla="*/ 427061 h 605592"/>
                <a:gd name="connsiteX43" fmla="*/ 196373 w 606581"/>
                <a:gd name="connsiteY43" fmla="*/ 409541 h 605592"/>
                <a:gd name="connsiteX44" fmla="*/ 178918 w 606581"/>
                <a:gd name="connsiteY44" fmla="*/ 396378 h 605592"/>
                <a:gd name="connsiteX45" fmla="*/ 209465 w 606581"/>
                <a:gd name="connsiteY45" fmla="*/ 365880 h 605592"/>
                <a:gd name="connsiteX46" fmla="*/ 176040 w 606581"/>
                <a:gd name="connsiteY46" fmla="*/ 310818 h 605592"/>
                <a:gd name="connsiteX47" fmla="*/ 158491 w 606581"/>
                <a:gd name="connsiteY47" fmla="*/ 223774 h 605592"/>
                <a:gd name="connsiteX48" fmla="*/ 176040 w 606581"/>
                <a:gd name="connsiteY48" fmla="*/ 136637 h 605592"/>
                <a:gd name="connsiteX49" fmla="*/ 224043 w 606581"/>
                <a:gd name="connsiteY49" fmla="*/ 65538 h 605592"/>
                <a:gd name="connsiteX50" fmla="*/ 295258 w 606581"/>
                <a:gd name="connsiteY50" fmla="*/ 17613 h 605592"/>
                <a:gd name="connsiteX51" fmla="*/ 382536 w 606581"/>
                <a:gd name="connsiteY51"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6581" h="605592">
                  <a:moveTo>
                    <a:pt x="140017" y="411043"/>
                  </a:moveTo>
                  <a:cubicBezTo>
                    <a:pt x="154035" y="411043"/>
                    <a:pt x="168053" y="416326"/>
                    <a:pt x="178821" y="427078"/>
                  </a:cubicBezTo>
                  <a:cubicBezTo>
                    <a:pt x="200266" y="448488"/>
                    <a:pt x="200266" y="483153"/>
                    <a:pt x="178821" y="504564"/>
                  </a:cubicBezTo>
                  <a:lnTo>
                    <a:pt x="93692" y="589557"/>
                  </a:lnTo>
                  <a:cubicBezTo>
                    <a:pt x="83016" y="600216"/>
                    <a:pt x="68905" y="605592"/>
                    <a:pt x="54887" y="605592"/>
                  </a:cubicBezTo>
                  <a:cubicBezTo>
                    <a:pt x="40870" y="605592"/>
                    <a:pt x="26759" y="600216"/>
                    <a:pt x="16083" y="589557"/>
                  </a:cubicBezTo>
                  <a:cubicBezTo>
                    <a:pt x="-5362" y="568147"/>
                    <a:pt x="-5362" y="533389"/>
                    <a:pt x="16083" y="511979"/>
                  </a:cubicBezTo>
                  <a:lnTo>
                    <a:pt x="101212" y="427078"/>
                  </a:lnTo>
                  <a:cubicBezTo>
                    <a:pt x="111888" y="416326"/>
                    <a:pt x="125999" y="411043"/>
                    <a:pt x="140017" y="411043"/>
                  </a:cubicBezTo>
                  <a:close/>
                  <a:moveTo>
                    <a:pt x="382501" y="49537"/>
                  </a:moveTo>
                  <a:cubicBezTo>
                    <a:pt x="478871" y="49537"/>
                    <a:pt x="557044" y="127491"/>
                    <a:pt x="557044" y="223798"/>
                  </a:cubicBezTo>
                  <a:cubicBezTo>
                    <a:pt x="557044" y="320012"/>
                    <a:pt x="478871" y="398059"/>
                    <a:pt x="382501" y="398059"/>
                  </a:cubicBezTo>
                  <a:cubicBezTo>
                    <a:pt x="286130" y="398059"/>
                    <a:pt x="207957" y="320012"/>
                    <a:pt x="207957" y="223798"/>
                  </a:cubicBezTo>
                  <a:cubicBezTo>
                    <a:pt x="207957" y="127491"/>
                    <a:pt x="286130" y="49537"/>
                    <a:pt x="382501" y="49537"/>
                  </a:cubicBezTo>
                  <a:close/>
                  <a:moveTo>
                    <a:pt x="382536" y="24750"/>
                  </a:moveTo>
                  <a:cubicBezTo>
                    <a:pt x="355610" y="24750"/>
                    <a:pt x="329519" y="30034"/>
                    <a:pt x="304914" y="40417"/>
                  </a:cubicBezTo>
                  <a:cubicBezTo>
                    <a:pt x="281238" y="50428"/>
                    <a:pt x="259882" y="64796"/>
                    <a:pt x="241591" y="83058"/>
                  </a:cubicBezTo>
                  <a:cubicBezTo>
                    <a:pt x="223300" y="101319"/>
                    <a:pt x="208908" y="122547"/>
                    <a:pt x="198880" y="146278"/>
                  </a:cubicBezTo>
                  <a:cubicBezTo>
                    <a:pt x="188481" y="170843"/>
                    <a:pt x="183189" y="196891"/>
                    <a:pt x="183189" y="223774"/>
                  </a:cubicBezTo>
                  <a:cubicBezTo>
                    <a:pt x="183189" y="250564"/>
                    <a:pt x="188481" y="276705"/>
                    <a:pt x="198880" y="301177"/>
                  </a:cubicBezTo>
                  <a:cubicBezTo>
                    <a:pt x="208908" y="324908"/>
                    <a:pt x="223300" y="346228"/>
                    <a:pt x="241591" y="364490"/>
                  </a:cubicBezTo>
                  <a:cubicBezTo>
                    <a:pt x="259882" y="382752"/>
                    <a:pt x="281238" y="397027"/>
                    <a:pt x="304914" y="407131"/>
                  </a:cubicBezTo>
                  <a:cubicBezTo>
                    <a:pt x="329519" y="417513"/>
                    <a:pt x="355610" y="422705"/>
                    <a:pt x="382536" y="422705"/>
                  </a:cubicBezTo>
                  <a:cubicBezTo>
                    <a:pt x="409462" y="422705"/>
                    <a:pt x="435553" y="417513"/>
                    <a:pt x="460158" y="407131"/>
                  </a:cubicBezTo>
                  <a:cubicBezTo>
                    <a:pt x="483834" y="397027"/>
                    <a:pt x="505190" y="382752"/>
                    <a:pt x="523481" y="364490"/>
                  </a:cubicBezTo>
                  <a:cubicBezTo>
                    <a:pt x="541772" y="346228"/>
                    <a:pt x="556164" y="324908"/>
                    <a:pt x="566192" y="301177"/>
                  </a:cubicBezTo>
                  <a:cubicBezTo>
                    <a:pt x="576591" y="276705"/>
                    <a:pt x="581883" y="250564"/>
                    <a:pt x="581883" y="223774"/>
                  </a:cubicBezTo>
                  <a:cubicBezTo>
                    <a:pt x="581883" y="196891"/>
                    <a:pt x="576591" y="170843"/>
                    <a:pt x="566192" y="146278"/>
                  </a:cubicBezTo>
                  <a:cubicBezTo>
                    <a:pt x="556164" y="122547"/>
                    <a:pt x="541772" y="101319"/>
                    <a:pt x="523481" y="83058"/>
                  </a:cubicBezTo>
                  <a:cubicBezTo>
                    <a:pt x="505190" y="64796"/>
                    <a:pt x="483834" y="50428"/>
                    <a:pt x="460158" y="40417"/>
                  </a:cubicBezTo>
                  <a:cubicBezTo>
                    <a:pt x="435553" y="30034"/>
                    <a:pt x="409462" y="24750"/>
                    <a:pt x="382536" y="24750"/>
                  </a:cubicBezTo>
                  <a:close/>
                  <a:moveTo>
                    <a:pt x="382536" y="0"/>
                  </a:moveTo>
                  <a:cubicBezTo>
                    <a:pt x="412712" y="0"/>
                    <a:pt x="442145" y="5933"/>
                    <a:pt x="469721" y="17613"/>
                  </a:cubicBezTo>
                  <a:cubicBezTo>
                    <a:pt x="496462" y="28922"/>
                    <a:pt x="520417" y="45051"/>
                    <a:pt x="540937" y="65538"/>
                  </a:cubicBezTo>
                  <a:cubicBezTo>
                    <a:pt x="561549" y="86117"/>
                    <a:pt x="577705" y="110033"/>
                    <a:pt x="588940" y="136637"/>
                  </a:cubicBezTo>
                  <a:cubicBezTo>
                    <a:pt x="600639" y="164262"/>
                    <a:pt x="606581" y="193554"/>
                    <a:pt x="606581" y="223774"/>
                  </a:cubicBezTo>
                  <a:cubicBezTo>
                    <a:pt x="606581" y="253901"/>
                    <a:pt x="600639" y="283194"/>
                    <a:pt x="588940" y="310818"/>
                  </a:cubicBezTo>
                  <a:cubicBezTo>
                    <a:pt x="577705" y="337515"/>
                    <a:pt x="561549" y="361431"/>
                    <a:pt x="540937" y="381917"/>
                  </a:cubicBezTo>
                  <a:cubicBezTo>
                    <a:pt x="520417" y="402496"/>
                    <a:pt x="496462" y="418626"/>
                    <a:pt x="469721" y="429842"/>
                  </a:cubicBezTo>
                  <a:cubicBezTo>
                    <a:pt x="442145" y="441522"/>
                    <a:pt x="412805" y="447455"/>
                    <a:pt x="382536" y="447455"/>
                  </a:cubicBezTo>
                  <a:cubicBezTo>
                    <a:pt x="352267" y="447455"/>
                    <a:pt x="322927" y="441522"/>
                    <a:pt x="295258" y="429842"/>
                  </a:cubicBezTo>
                  <a:cubicBezTo>
                    <a:pt x="275295" y="421407"/>
                    <a:pt x="256818" y="410190"/>
                    <a:pt x="240105" y="396471"/>
                  </a:cubicBezTo>
                  <a:lnTo>
                    <a:pt x="209558" y="427061"/>
                  </a:lnTo>
                  <a:cubicBezTo>
                    <a:pt x="206030" y="420758"/>
                    <a:pt x="201666" y="414918"/>
                    <a:pt x="196373" y="409541"/>
                  </a:cubicBezTo>
                  <a:cubicBezTo>
                    <a:pt x="191081" y="404350"/>
                    <a:pt x="185232" y="399901"/>
                    <a:pt x="178918" y="396378"/>
                  </a:cubicBezTo>
                  <a:lnTo>
                    <a:pt x="209465" y="365880"/>
                  </a:lnTo>
                  <a:cubicBezTo>
                    <a:pt x="195724" y="349287"/>
                    <a:pt x="184582" y="330840"/>
                    <a:pt x="176040" y="310818"/>
                  </a:cubicBezTo>
                  <a:cubicBezTo>
                    <a:pt x="164341" y="283194"/>
                    <a:pt x="158491" y="253901"/>
                    <a:pt x="158491" y="223774"/>
                  </a:cubicBezTo>
                  <a:cubicBezTo>
                    <a:pt x="158491" y="193554"/>
                    <a:pt x="164341" y="164262"/>
                    <a:pt x="176040" y="136637"/>
                  </a:cubicBezTo>
                  <a:cubicBezTo>
                    <a:pt x="187367" y="110033"/>
                    <a:pt x="203523" y="86117"/>
                    <a:pt x="224043" y="65538"/>
                  </a:cubicBezTo>
                  <a:cubicBezTo>
                    <a:pt x="244655" y="45051"/>
                    <a:pt x="268610" y="28922"/>
                    <a:pt x="295258" y="17613"/>
                  </a:cubicBezTo>
                  <a:cubicBezTo>
                    <a:pt x="322927" y="5933"/>
                    <a:pt x="352267" y="0"/>
                    <a:pt x="38253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58" name="Group 34"/>
          <p:cNvGrpSpPr/>
          <p:nvPr/>
        </p:nvGrpSpPr>
        <p:grpSpPr>
          <a:xfrm>
            <a:off x="6976840" y="2916886"/>
            <a:ext cx="753140" cy="753140"/>
            <a:chOff x="1947198" y="2853386"/>
            <a:chExt cx="753140" cy="753140"/>
          </a:xfrm>
        </p:grpSpPr>
        <p:sp>
          <p:nvSpPr>
            <p:cNvPr id="59" name="椭圆 58"/>
            <p:cNvSpPr/>
            <p:nvPr/>
          </p:nvSpPr>
          <p:spPr>
            <a:xfrm>
              <a:off x="1947198" y="2853386"/>
              <a:ext cx="753140" cy="753140"/>
            </a:xfrm>
            <a:prstGeom prst="ellipse">
              <a:avLst/>
            </a:prstGeom>
            <a:solidFill>
              <a:srgbClr val="24C6DB"/>
            </a:solidFill>
            <a:ln w="5715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0" name="Oval 36"/>
            <p:cNvSpPr/>
            <p:nvPr/>
          </p:nvSpPr>
          <p:spPr>
            <a:xfrm>
              <a:off x="2184068" y="3090466"/>
              <a:ext cx="279400" cy="278978"/>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61" name="Group 37"/>
          <p:cNvGrpSpPr/>
          <p:nvPr/>
        </p:nvGrpSpPr>
        <p:grpSpPr>
          <a:xfrm>
            <a:off x="9491660" y="2916886"/>
            <a:ext cx="753140" cy="753140"/>
            <a:chOff x="1947198" y="2853386"/>
            <a:chExt cx="753140" cy="753140"/>
          </a:xfrm>
        </p:grpSpPr>
        <p:sp>
          <p:nvSpPr>
            <p:cNvPr id="62" name="椭圆 61"/>
            <p:cNvSpPr/>
            <p:nvPr/>
          </p:nvSpPr>
          <p:spPr>
            <a:xfrm>
              <a:off x="1947198" y="2853386"/>
              <a:ext cx="753140" cy="753140"/>
            </a:xfrm>
            <a:prstGeom prst="ellipse">
              <a:avLst/>
            </a:prstGeom>
            <a:solidFill>
              <a:srgbClr val="242424"/>
            </a:solidFill>
            <a:ln w="5715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3" name="Oval 39"/>
            <p:cNvSpPr/>
            <p:nvPr/>
          </p:nvSpPr>
          <p:spPr>
            <a:xfrm>
              <a:off x="2188591" y="3090256"/>
              <a:ext cx="270353" cy="279400"/>
            </a:xfrm>
            <a:custGeom>
              <a:avLst/>
              <a:gdLst>
                <a:gd name="T0" fmla="*/ 743 w 743"/>
                <a:gd name="T1" fmla="*/ 27 h 769"/>
                <a:gd name="T2" fmla="*/ 736 w 743"/>
                <a:gd name="T3" fmla="*/ 8 h 769"/>
                <a:gd name="T4" fmla="*/ 717 w 743"/>
                <a:gd name="T5" fmla="*/ 0 h 769"/>
                <a:gd name="T6" fmla="*/ 599 w 743"/>
                <a:gd name="T7" fmla="*/ 0 h 769"/>
                <a:gd name="T8" fmla="*/ 591 w 743"/>
                <a:gd name="T9" fmla="*/ 1 h 769"/>
                <a:gd name="T10" fmla="*/ 569 w 743"/>
                <a:gd name="T11" fmla="*/ 1 h 769"/>
                <a:gd name="T12" fmla="*/ 555 w 743"/>
                <a:gd name="T13" fmla="*/ 2 h 769"/>
                <a:gd name="T14" fmla="*/ 184 w 743"/>
                <a:gd name="T15" fmla="*/ 2 h 769"/>
                <a:gd name="T16" fmla="*/ 171 w 743"/>
                <a:gd name="T17" fmla="*/ 1 h 769"/>
                <a:gd name="T18" fmla="*/ 152 w 743"/>
                <a:gd name="T19" fmla="*/ 1 h 769"/>
                <a:gd name="T20" fmla="*/ 144 w 743"/>
                <a:gd name="T21" fmla="*/ 0 h 769"/>
                <a:gd name="T22" fmla="*/ 26 w 743"/>
                <a:gd name="T23" fmla="*/ 0 h 769"/>
                <a:gd name="T24" fmla="*/ 8 w 743"/>
                <a:gd name="T25" fmla="*/ 8 h 769"/>
                <a:gd name="T26" fmla="*/ 0 w 743"/>
                <a:gd name="T27" fmla="*/ 27 h 769"/>
                <a:gd name="T28" fmla="*/ 118 w 743"/>
                <a:gd name="T29" fmla="*/ 266 h 769"/>
                <a:gd name="T30" fmla="*/ 118 w 743"/>
                <a:gd name="T31" fmla="*/ 267 h 769"/>
                <a:gd name="T32" fmla="*/ 118 w 743"/>
                <a:gd name="T33" fmla="*/ 270 h 769"/>
                <a:gd name="T34" fmla="*/ 342 w 743"/>
                <a:gd name="T35" fmla="*/ 511 h 769"/>
                <a:gd name="T36" fmla="*/ 342 w 743"/>
                <a:gd name="T37" fmla="*/ 713 h 769"/>
                <a:gd name="T38" fmla="*/ 242 w 743"/>
                <a:gd name="T39" fmla="*/ 713 h 769"/>
                <a:gd name="T40" fmla="*/ 228 w 743"/>
                <a:gd name="T41" fmla="*/ 727 h 769"/>
                <a:gd name="T42" fmla="*/ 228 w 743"/>
                <a:gd name="T43" fmla="*/ 756 h 769"/>
                <a:gd name="T44" fmla="*/ 242 w 743"/>
                <a:gd name="T45" fmla="*/ 769 h 769"/>
                <a:gd name="T46" fmla="*/ 498 w 743"/>
                <a:gd name="T47" fmla="*/ 769 h 769"/>
                <a:gd name="T48" fmla="*/ 511 w 743"/>
                <a:gd name="T49" fmla="*/ 756 h 769"/>
                <a:gd name="T50" fmla="*/ 511 w 743"/>
                <a:gd name="T51" fmla="*/ 727 h 769"/>
                <a:gd name="T52" fmla="*/ 498 w 743"/>
                <a:gd name="T53" fmla="*/ 713 h 769"/>
                <a:gd name="T54" fmla="*/ 398 w 743"/>
                <a:gd name="T55" fmla="*/ 713 h 769"/>
                <a:gd name="T56" fmla="*/ 398 w 743"/>
                <a:gd name="T57" fmla="*/ 511 h 769"/>
                <a:gd name="T58" fmla="*/ 621 w 743"/>
                <a:gd name="T59" fmla="*/ 279 h 769"/>
                <a:gd name="T60" fmla="*/ 623 w 743"/>
                <a:gd name="T61" fmla="*/ 271 h 769"/>
                <a:gd name="T62" fmla="*/ 623 w 743"/>
                <a:gd name="T63" fmla="*/ 266 h 769"/>
                <a:gd name="T64" fmla="*/ 743 w 743"/>
                <a:gd name="T65" fmla="*/ 27 h 769"/>
                <a:gd name="T66" fmla="*/ 370 w 743"/>
                <a:gd name="T67" fmla="*/ 457 h 769"/>
                <a:gd name="T68" fmla="*/ 174 w 743"/>
                <a:gd name="T69" fmla="*/ 261 h 769"/>
                <a:gd name="T70" fmla="*/ 174 w 743"/>
                <a:gd name="T71" fmla="*/ 58 h 769"/>
                <a:gd name="T72" fmla="*/ 566 w 743"/>
                <a:gd name="T73" fmla="*/ 58 h 769"/>
                <a:gd name="T74" fmla="*/ 566 w 743"/>
                <a:gd name="T75" fmla="*/ 261 h 769"/>
                <a:gd name="T76" fmla="*/ 370 w 743"/>
                <a:gd name="T77" fmla="*/ 457 h 769"/>
                <a:gd name="T78" fmla="*/ 118 w 743"/>
                <a:gd name="T79" fmla="*/ 209 h 769"/>
                <a:gd name="T80" fmla="*/ 55 w 743"/>
                <a:gd name="T81" fmla="*/ 53 h 769"/>
                <a:gd name="T82" fmla="*/ 118 w 743"/>
                <a:gd name="T83" fmla="*/ 53 h 769"/>
                <a:gd name="T84" fmla="*/ 118 w 743"/>
                <a:gd name="T85" fmla="*/ 209 h 769"/>
                <a:gd name="T86" fmla="*/ 626 w 743"/>
                <a:gd name="T87" fmla="*/ 209 h 769"/>
                <a:gd name="T88" fmla="*/ 626 w 743"/>
                <a:gd name="T89" fmla="*/ 53 h 769"/>
                <a:gd name="T90" fmla="*/ 688 w 743"/>
                <a:gd name="T91" fmla="*/ 53 h 769"/>
                <a:gd name="T92" fmla="*/ 626 w 743"/>
                <a:gd name="T93" fmla="*/ 209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43" h="769">
                  <a:moveTo>
                    <a:pt x="743" y="27"/>
                  </a:moveTo>
                  <a:cubicBezTo>
                    <a:pt x="743" y="20"/>
                    <a:pt x="741" y="13"/>
                    <a:pt x="736" y="8"/>
                  </a:cubicBezTo>
                  <a:cubicBezTo>
                    <a:pt x="731" y="3"/>
                    <a:pt x="724" y="0"/>
                    <a:pt x="717" y="0"/>
                  </a:cubicBezTo>
                  <a:lnTo>
                    <a:pt x="599" y="0"/>
                  </a:lnTo>
                  <a:cubicBezTo>
                    <a:pt x="596" y="0"/>
                    <a:pt x="594" y="0"/>
                    <a:pt x="591" y="1"/>
                  </a:cubicBezTo>
                  <a:lnTo>
                    <a:pt x="569" y="1"/>
                  </a:lnTo>
                  <a:cubicBezTo>
                    <a:pt x="565" y="1"/>
                    <a:pt x="560" y="1"/>
                    <a:pt x="555" y="2"/>
                  </a:cubicBezTo>
                  <a:lnTo>
                    <a:pt x="184" y="2"/>
                  </a:lnTo>
                  <a:cubicBezTo>
                    <a:pt x="179" y="1"/>
                    <a:pt x="175" y="1"/>
                    <a:pt x="171" y="1"/>
                  </a:cubicBezTo>
                  <a:lnTo>
                    <a:pt x="152" y="1"/>
                  </a:lnTo>
                  <a:cubicBezTo>
                    <a:pt x="149" y="0"/>
                    <a:pt x="147" y="0"/>
                    <a:pt x="144" y="0"/>
                  </a:cubicBezTo>
                  <a:lnTo>
                    <a:pt x="26" y="0"/>
                  </a:lnTo>
                  <a:cubicBezTo>
                    <a:pt x="19" y="0"/>
                    <a:pt x="13" y="3"/>
                    <a:pt x="8" y="8"/>
                  </a:cubicBezTo>
                  <a:cubicBezTo>
                    <a:pt x="2" y="13"/>
                    <a:pt x="0" y="20"/>
                    <a:pt x="0" y="27"/>
                  </a:cubicBezTo>
                  <a:cubicBezTo>
                    <a:pt x="0" y="36"/>
                    <a:pt x="3" y="239"/>
                    <a:pt x="118" y="266"/>
                  </a:cubicBezTo>
                  <a:lnTo>
                    <a:pt x="118" y="267"/>
                  </a:lnTo>
                  <a:cubicBezTo>
                    <a:pt x="118" y="268"/>
                    <a:pt x="118" y="269"/>
                    <a:pt x="118" y="270"/>
                  </a:cubicBezTo>
                  <a:cubicBezTo>
                    <a:pt x="123" y="394"/>
                    <a:pt x="220" y="497"/>
                    <a:pt x="342" y="511"/>
                  </a:cubicBezTo>
                  <a:lnTo>
                    <a:pt x="342" y="713"/>
                  </a:lnTo>
                  <a:lnTo>
                    <a:pt x="242" y="713"/>
                  </a:lnTo>
                  <a:cubicBezTo>
                    <a:pt x="234" y="713"/>
                    <a:pt x="228" y="719"/>
                    <a:pt x="228" y="727"/>
                  </a:cubicBezTo>
                  <a:lnTo>
                    <a:pt x="228" y="756"/>
                  </a:lnTo>
                  <a:cubicBezTo>
                    <a:pt x="228" y="763"/>
                    <a:pt x="234" y="769"/>
                    <a:pt x="242" y="769"/>
                  </a:cubicBezTo>
                  <a:lnTo>
                    <a:pt x="498" y="769"/>
                  </a:lnTo>
                  <a:cubicBezTo>
                    <a:pt x="505" y="769"/>
                    <a:pt x="511" y="763"/>
                    <a:pt x="511" y="756"/>
                  </a:cubicBezTo>
                  <a:lnTo>
                    <a:pt x="511" y="727"/>
                  </a:lnTo>
                  <a:cubicBezTo>
                    <a:pt x="511" y="719"/>
                    <a:pt x="505" y="713"/>
                    <a:pt x="498" y="713"/>
                  </a:cubicBezTo>
                  <a:lnTo>
                    <a:pt x="398" y="713"/>
                  </a:lnTo>
                  <a:lnTo>
                    <a:pt x="398" y="511"/>
                  </a:lnTo>
                  <a:cubicBezTo>
                    <a:pt x="519" y="498"/>
                    <a:pt x="612" y="401"/>
                    <a:pt x="621" y="279"/>
                  </a:cubicBezTo>
                  <a:cubicBezTo>
                    <a:pt x="622" y="277"/>
                    <a:pt x="623" y="274"/>
                    <a:pt x="623" y="271"/>
                  </a:cubicBezTo>
                  <a:lnTo>
                    <a:pt x="623" y="266"/>
                  </a:lnTo>
                  <a:cubicBezTo>
                    <a:pt x="740" y="242"/>
                    <a:pt x="743" y="36"/>
                    <a:pt x="743" y="27"/>
                  </a:cubicBezTo>
                  <a:close/>
                  <a:moveTo>
                    <a:pt x="370" y="457"/>
                  </a:moveTo>
                  <a:cubicBezTo>
                    <a:pt x="262" y="457"/>
                    <a:pt x="174" y="369"/>
                    <a:pt x="174" y="261"/>
                  </a:cubicBezTo>
                  <a:lnTo>
                    <a:pt x="174" y="58"/>
                  </a:lnTo>
                  <a:lnTo>
                    <a:pt x="566" y="58"/>
                  </a:lnTo>
                  <a:lnTo>
                    <a:pt x="566" y="261"/>
                  </a:lnTo>
                  <a:cubicBezTo>
                    <a:pt x="566" y="369"/>
                    <a:pt x="478" y="457"/>
                    <a:pt x="370" y="457"/>
                  </a:cubicBezTo>
                  <a:close/>
                  <a:moveTo>
                    <a:pt x="118" y="209"/>
                  </a:moveTo>
                  <a:cubicBezTo>
                    <a:pt x="73" y="184"/>
                    <a:pt x="59" y="98"/>
                    <a:pt x="55" y="53"/>
                  </a:cubicBezTo>
                  <a:lnTo>
                    <a:pt x="118" y="53"/>
                  </a:lnTo>
                  <a:lnTo>
                    <a:pt x="118" y="209"/>
                  </a:lnTo>
                  <a:close/>
                  <a:moveTo>
                    <a:pt x="626" y="209"/>
                  </a:moveTo>
                  <a:lnTo>
                    <a:pt x="626" y="53"/>
                  </a:lnTo>
                  <a:lnTo>
                    <a:pt x="688" y="53"/>
                  </a:lnTo>
                  <a:cubicBezTo>
                    <a:pt x="684" y="98"/>
                    <a:pt x="670" y="184"/>
                    <a:pt x="626" y="20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41" name="文本框 40"/>
          <p:cNvSpPr txBox="1"/>
          <p:nvPr/>
        </p:nvSpPr>
        <p:spPr>
          <a:xfrm>
            <a:off x="1617653" y="2388235"/>
            <a:ext cx="1415772" cy="461665"/>
          </a:xfrm>
          <a:prstGeom prst="rect">
            <a:avLst/>
          </a:prstGeom>
          <a:noFill/>
        </p:spPr>
        <p:txBody>
          <a:bodyPr wrap="none" rtlCol="0">
            <a:spAutoFit/>
            <a:scene3d>
              <a:camera prst="orthographicFront"/>
              <a:lightRig rig="threePt" dir="t"/>
            </a:scene3d>
            <a:sp3d contourW="12700"/>
          </a:bodyPr>
          <a:lstStyle/>
          <a:p>
            <a:pPr algn="ctr"/>
            <a:r>
              <a:rPr lang="zh-CN" altLang="zh-CN" sz="2400" i="1" dirty="0">
                <a:solidFill>
                  <a:schemeClr val="bg1"/>
                </a:solidFill>
                <a:latin typeface="黑体" panose="02010609060101010101" pitchFamily="49" charset="-122"/>
                <a:ea typeface="黑体" panose="02010609060101010101" pitchFamily="49" charset="-122"/>
              </a:rPr>
              <a:t>中外融通</a:t>
            </a:r>
            <a:endParaRPr lang="zh-CN" altLang="en-US" sz="2400" i="1" dirty="0">
              <a:solidFill>
                <a:schemeClr val="bg1"/>
              </a:solidFill>
              <a:latin typeface="黑体" panose="02010609060101010101" pitchFamily="49" charset="-122"/>
              <a:ea typeface="黑体" panose="02010609060101010101" pitchFamily="49" charset="-122"/>
            </a:endParaRPr>
          </a:p>
        </p:txBody>
      </p:sp>
      <p:sp>
        <p:nvSpPr>
          <p:cNvPr id="42" name="文本框 41"/>
          <p:cNvSpPr txBox="1"/>
          <p:nvPr/>
        </p:nvSpPr>
        <p:spPr>
          <a:xfrm>
            <a:off x="3965438" y="2388235"/>
            <a:ext cx="1723549" cy="461665"/>
          </a:xfrm>
          <a:prstGeom prst="rect">
            <a:avLst/>
          </a:prstGeom>
          <a:noFill/>
        </p:spPr>
        <p:txBody>
          <a:bodyPr wrap="none" rtlCol="0">
            <a:spAutoFit/>
            <a:scene3d>
              <a:camera prst="orthographicFront"/>
              <a:lightRig rig="threePt" dir="t"/>
            </a:scene3d>
            <a:sp3d contourW="12700"/>
          </a:bodyPr>
          <a:lstStyle/>
          <a:p>
            <a:pPr algn="ctr"/>
            <a:r>
              <a:rPr lang="zh-CN" altLang="en-US" sz="2400" i="1" dirty="0">
                <a:solidFill>
                  <a:schemeClr val="bg1"/>
                </a:solidFill>
                <a:latin typeface="黑体" panose="02010609060101010101" pitchFamily="49" charset="-122"/>
                <a:ea typeface="黑体" panose="02010609060101010101" pitchFamily="49" charset="-122"/>
              </a:rPr>
              <a:t>国际小学期</a:t>
            </a:r>
            <a:endParaRPr lang="zh-CN" altLang="en-US" sz="2400" i="1" dirty="0">
              <a:solidFill>
                <a:schemeClr val="bg1"/>
              </a:solidFill>
              <a:latin typeface="黑体" panose="02010609060101010101" pitchFamily="49" charset="-122"/>
              <a:ea typeface="黑体" panose="02010609060101010101" pitchFamily="49" charset="-122"/>
            </a:endParaRPr>
          </a:p>
        </p:txBody>
      </p:sp>
      <p:sp>
        <p:nvSpPr>
          <p:cNvPr id="43" name="文本框 42"/>
          <p:cNvSpPr txBox="1"/>
          <p:nvPr/>
        </p:nvSpPr>
        <p:spPr>
          <a:xfrm>
            <a:off x="6648245" y="2388235"/>
            <a:ext cx="1415772" cy="461665"/>
          </a:xfrm>
          <a:prstGeom prst="rect">
            <a:avLst/>
          </a:prstGeom>
          <a:noFill/>
        </p:spPr>
        <p:txBody>
          <a:bodyPr wrap="none" rtlCol="0">
            <a:spAutoFit/>
            <a:scene3d>
              <a:camera prst="orthographicFront"/>
              <a:lightRig rig="threePt" dir="t"/>
            </a:scene3d>
            <a:sp3d contourW="12700"/>
          </a:bodyPr>
          <a:lstStyle/>
          <a:p>
            <a:pPr algn="ctr"/>
            <a:r>
              <a:rPr lang="zh-CN" altLang="en-US" sz="2400" i="1" dirty="0">
                <a:solidFill>
                  <a:schemeClr val="bg1"/>
                </a:solidFill>
                <a:latin typeface="黑体" panose="02010609060101010101" pitchFamily="49" charset="-122"/>
                <a:ea typeface="黑体" panose="02010609060101010101" pitchFamily="49" charset="-122"/>
              </a:rPr>
              <a:t>联合培养</a:t>
            </a:r>
            <a:endParaRPr lang="zh-CN" altLang="en-US" sz="2400" i="1" dirty="0">
              <a:solidFill>
                <a:schemeClr val="bg1"/>
              </a:solidFill>
              <a:latin typeface="黑体" panose="02010609060101010101" pitchFamily="49" charset="-122"/>
              <a:ea typeface="黑体" panose="02010609060101010101" pitchFamily="49" charset="-122"/>
            </a:endParaRPr>
          </a:p>
        </p:txBody>
      </p:sp>
      <p:sp>
        <p:nvSpPr>
          <p:cNvPr id="44" name="文本框 43"/>
          <p:cNvSpPr txBox="1"/>
          <p:nvPr/>
        </p:nvSpPr>
        <p:spPr>
          <a:xfrm>
            <a:off x="9164613" y="2388235"/>
            <a:ext cx="1415772" cy="461665"/>
          </a:xfrm>
          <a:prstGeom prst="rect">
            <a:avLst/>
          </a:prstGeom>
          <a:noFill/>
        </p:spPr>
        <p:txBody>
          <a:bodyPr wrap="none" rtlCol="0">
            <a:spAutoFit/>
            <a:scene3d>
              <a:camera prst="orthographicFront"/>
              <a:lightRig rig="threePt" dir="t"/>
            </a:scene3d>
            <a:sp3d contourW="12700"/>
          </a:bodyPr>
          <a:lstStyle/>
          <a:p>
            <a:pPr algn="ctr"/>
            <a:r>
              <a:rPr lang="zh-CN" altLang="en-US" sz="2400" i="1" dirty="0">
                <a:solidFill>
                  <a:schemeClr val="bg1"/>
                </a:solidFill>
                <a:latin typeface="黑体" panose="02010609060101010101" pitchFamily="49" charset="-122"/>
                <a:ea typeface="黑体" panose="02010609060101010101" pitchFamily="49" charset="-122"/>
              </a:rPr>
              <a:t>出国交流</a:t>
            </a:r>
            <a:endParaRPr lang="zh-CN" altLang="en-US" sz="2400" i="1" dirty="0">
              <a:solidFill>
                <a:schemeClr val="bg1"/>
              </a:solidFill>
              <a:latin typeface="黑体" panose="02010609060101010101" pitchFamily="49" charset="-122"/>
              <a:ea typeface="黑体" panose="02010609060101010101" pitchFamily="49" charset="-122"/>
            </a:endParaRPr>
          </a:p>
        </p:txBody>
      </p:sp>
      <p:sp>
        <p:nvSpPr>
          <p:cNvPr id="45" name="文本框 44"/>
          <p:cNvSpPr txBox="1"/>
          <p:nvPr/>
        </p:nvSpPr>
        <p:spPr>
          <a:xfrm>
            <a:off x="1540754" y="3709458"/>
            <a:ext cx="1559862" cy="1631216"/>
          </a:xfrm>
          <a:prstGeom prst="rect">
            <a:avLst/>
          </a:prstGeom>
          <a:noFill/>
        </p:spPr>
        <p:txBody>
          <a:bodyPr wrap="square" rtlCol="0">
            <a:spAutoFit/>
            <a:scene3d>
              <a:camera prst="orthographicFront"/>
              <a:lightRig rig="threePt" dir="t"/>
            </a:scene3d>
            <a:sp3d contourW="12700"/>
          </a:bodyPr>
          <a:lstStyle/>
          <a:p>
            <a:pPr algn="just">
              <a:spcAft>
                <a:spcPts val="0"/>
              </a:spcAft>
            </a:pPr>
            <a:r>
              <a:rPr lang="zh-CN" altLang="zh-CN" sz="2000" kern="0" dirty="0">
                <a:latin typeface="微软雅黑 Light" panose="020B0502040204020203" pitchFamily="34" charset="-122"/>
                <a:ea typeface="微软雅黑 Light" panose="020B0502040204020203" pitchFamily="34" charset="-122"/>
                <a:cs typeface="Arial" panose="020B0604020202020204" pitchFamily="34" charset="0"/>
              </a:rPr>
              <a:t>在课程、校园文化</a:t>
            </a:r>
            <a:r>
              <a:rPr lang="zh-CN" altLang="zh-CN" sz="2000" kern="0">
                <a:latin typeface="微软雅黑 Light" panose="020B0502040204020203" pitchFamily="34" charset="-122"/>
                <a:ea typeface="微软雅黑 Light" panose="020B0502040204020203" pitchFamily="34" charset="-122"/>
                <a:cs typeface="Arial" panose="020B0604020202020204" pitchFamily="34" charset="0"/>
              </a:rPr>
              <a:t>活动和</a:t>
            </a:r>
            <a:r>
              <a:rPr lang="zh-CN" altLang="en-US" sz="2000" kern="0">
                <a:latin typeface="微软雅黑 Light" panose="020B0502040204020203" pitchFamily="34" charset="-122"/>
                <a:ea typeface="微软雅黑 Light" panose="020B0502040204020203" pitchFamily="34" charset="-122"/>
                <a:cs typeface="Arial" panose="020B0604020202020204" pitchFamily="34" charset="0"/>
              </a:rPr>
              <a:t>学</a:t>
            </a:r>
            <a:r>
              <a:rPr lang="zh-CN" altLang="zh-CN" sz="2000" kern="0">
                <a:latin typeface="微软雅黑 Light" panose="020B0502040204020203" pitchFamily="34" charset="-122"/>
                <a:ea typeface="微软雅黑 Light" panose="020B0502040204020203" pitchFamily="34" charset="-122"/>
                <a:cs typeface="Arial" panose="020B0604020202020204" pitchFamily="34" charset="0"/>
              </a:rPr>
              <a:t>生</a:t>
            </a:r>
            <a:r>
              <a:rPr lang="zh-CN" altLang="zh-CN" sz="2000" kern="0" dirty="0">
                <a:latin typeface="微软雅黑 Light" panose="020B0502040204020203" pitchFamily="34" charset="-122"/>
                <a:ea typeface="微软雅黑 Light" panose="020B0502040204020203" pitchFamily="34" charset="-122"/>
                <a:cs typeface="Arial" panose="020B0604020202020204" pitchFamily="34" charset="0"/>
              </a:rPr>
              <a:t>日常管理上融通融合</a:t>
            </a:r>
            <a:endParaRPr lang="zh-CN" altLang="zh-CN" sz="1600" kern="100" dirty="0">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46" name="文本框 45"/>
          <p:cNvSpPr txBox="1"/>
          <p:nvPr/>
        </p:nvSpPr>
        <p:spPr>
          <a:xfrm>
            <a:off x="4054844" y="3704452"/>
            <a:ext cx="1559862" cy="1631216"/>
          </a:xfrm>
          <a:prstGeom prst="rect">
            <a:avLst/>
          </a:prstGeom>
          <a:noFill/>
        </p:spPr>
        <p:txBody>
          <a:bodyPr wrap="square" rtlCol="0">
            <a:spAutoFit/>
            <a:scene3d>
              <a:camera prst="orthographicFront"/>
              <a:lightRig rig="threePt" dir="t"/>
            </a:scene3d>
            <a:sp3d contourW="12700"/>
          </a:bodyPr>
          <a:lstStyle/>
          <a:p>
            <a:pPr algn="just">
              <a:spcAft>
                <a:spcPts val="0"/>
              </a:spcAft>
            </a:pPr>
            <a:r>
              <a:rPr lang="zh-CN" altLang="zh-CN" sz="2000" kern="0" dirty="0">
                <a:latin typeface="微软雅黑 Light" panose="020B0502040204020203" pitchFamily="34" charset="-122"/>
                <a:ea typeface="微软雅黑 Light" panose="020B0502040204020203" pitchFamily="34" charset="-122"/>
                <a:cs typeface="Arial" panose="020B0604020202020204" pitchFamily="34" charset="0"/>
              </a:rPr>
              <a:t>聘请世界知名高校的教授暑期来校讲授学分课程</a:t>
            </a:r>
            <a:endParaRPr lang="zh-CN" altLang="zh-CN" sz="1600" kern="100" dirty="0">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47" name="文本框 46"/>
          <p:cNvSpPr txBox="1"/>
          <p:nvPr/>
        </p:nvSpPr>
        <p:spPr>
          <a:xfrm>
            <a:off x="6573479" y="3704452"/>
            <a:ext cx="1559862" cy="1631216"/>
          </a:xfrm>
          <a:prstGeom prst="rect">
            <a:avLst/>
          </a:prstGeom>
          <a:noFill/>
        </p:spPr>
        <p:txBody>
          <a:bodyPr wrap="square" rtlCol="0">
            <a:spAutoFit/>
            <a:scene3d>
              <a:camera prst="orthographicFront"/>
              <a:lightRig rig="threePt" dir="t"/>
            </a:scene3d>
            <a:sp3d contourW="12700"/>
          </a:bodyPr>
          <a:lstStyle/>
          <a:p>
            <a:pPr algn="just">
              <a:spcAft>
                <a:spcPts val="0"/>
              </a:spcAft>
            </a:pPr>
            <a:r>
              <a:rPr lang="zh-CN" altLang="zh-CN" sz="2000" kern="0" dirty="0">
                <a:latin typeface="微软雅黑 Light" panose="020B0502040204020203" pitchFamily="34" charset="-122"/>
                <a:ea typeface="微软雅黑 Light" panose="020B0502040204020203" pitchFamily="34" charset="-122"/>
                <a:cs typeface="Arial" panose="020B0604020202020204" pitchFamily="34" charset="0"/>
              </a:rPr>
              <a:t>与十余所世界知名高校开展联合培养本科生或研究生项目</a:t>
            </a:r>
            <a:endParaRPr lang="zh-CN" altLang="zh-CN" sz="1600" kern="100" dirty="0">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48" name="文本框 47"/>
          <p:cNvSpPr txBox="1"/>
          <p:nvPr/>
        </p:nvSpPr>
        <p:spPr>
          <a:xfrm>
            <a:off x="9137231" y="3737012"/>
            <a:ext cx="1559862" cy="1631216"/>
          </a:xfrm>
          <a:prstGeom prst="rect">
            <a:avLst/>
          </a:prstGeom>
          <a:noFill/>
        </p:spPr>
        <p:txBody>
          <a:bodyPr wrap="square" rtlCol="0">
            <a:spAutoFit/>
            <a:scene3d>
              <a:camera prst="orthographicFront"/>
              <a:lightRig rig="threePt" dir="t"/>
            </a:scene3d>
            <a:sp3d contourW="12700"/>
          </a:bodyPr>
          <a:lstStyle/>
          <a:p>
            <a:pPr algn="just">
              <a:spcAft>
                <a:spcPts val="0"/>
              </a:spcAft>
            </a:pPr>
            <a:r>
              <a:rPr lang="zh-CN" altLang="zh-CN" sz="2000" kern="0" dirty="0">
                <a:latin typeface="微软雅黑 Light" panose="020B0502040204020203" pitchFamily="34" charset="-122"/>
                <a:ea typeface="微软雅黑 Light" panose="020B0502040204020203" pitchFamily="34" charset="-122"/>
                <a:cs typeface="Arial" panose="020B0604020202020204" pitchFamily="34" charset="0"/>
              </a:rPr>
              <a:t>每年有</a:t>
            </a:r>
            <a:r>
              <a:rPr lang="en-US" altLang="zh-CN" sz="2000" kern="0" dirty="0">
                <a:latin typeface="微软雅黑 Light" panose="020B0502040204020203" pitchFamily="34" charset="-122"/>
                <a:ea typeface="微软雅黑 Light" panose="020B0502040204020203" pitchFamily="34" charset="-122"/>
                <a:cs typeface="Arial" panose="020B0604020202020204" pitchFamily="34" charset="0"/>
              </a:rPr>
              <a:t>400</a:t>
            </a:r>
            <a:r>
              <a:rPr lang="zh-CN" altLang="zh-CN" sz="2000" kern="0" dirty="0">
                <a:latin typeface="微软雅黑 Light" panose="020B0502040204020203" pitchFamily="34" charset="-122"/>
                <a:ea typeface="微软雅黑 Light" panose="020B0502040204020203" pitchFamily="34" charset="-122"/>
                <a:cs typeface="Arial" panose="020B0604020202020204" pitchFamily="34" charset="0"/>
              </a:rPr>
              <a:t>余名学生通过各类项目赴海外交流学习</a:t>
            </a:r>
            <a:endParaRPr lang="zh-CN" altLang="zh-CN" sz="1600" kern="100" dirty="0">
              <a:latin typeface="微软雅黑 Light" panose="020B0502040204020203" pitchFamily="34" charset="-122"/>
              <a:ea typeface="微软雅黑 Light" panose="020B0502040204020203" pitchFamily="34" charset="-122"/>
              <a:cs typeface="Arial" panose="020B0604020202020204" pitchFamily="34" charset="0"/>
            </a:endParaRPr>
          </a:p>
        </p:txBody>
      </p:sp>
      <p:grpSp>
        <p:nvGrpSpPr>
          <p:cNvPr id="67" name="组合 66"/>
          <p:cNvGrpSpPr/>
          <p:nvPr/>
        </p:nvGrpSpPr>
        <p:grpSpPr>
          <a:xfrm>
            <a:off x="494553" y="150818"/>
            <a:ext cx="6106714" cy="1125795"/>
            <a:chOff x="494553" y="150818"/>
            <a:chExt cx="6106714" cy="1125795"/>
          </a:xfrm>
        </p:grpSpPr>
        <p:grpSp>
          <p:nvGrpSpPr>
            <p:cNvPr id="68" name="组合 67"/>
            <p:cNvGrpSpPr/>
            <p:nvPr/>
          </p:nvGrpSpPr>
          <p:grpSpPr>
            <a:xfrm>
              <a:off x="494553" y="321393"/>
              <a:ext cx="5744845" cy="955220"/>
              <a:chOff x="494553" y="321393"/>
              <a:chExt cx="5744845" cy="955220"/>
            </a:xfrm>
          </p:grpSpPr>
          <p:sp>
            <p:nvSpPr>
              <p:cNvPr id="70" name="文本框 69"/>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培养</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特色</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71" name="文本框 70"/>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69"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化</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00" fill="hold"/>
                                        <p:tgtEl>
                                          <p:spTgt spid="45"/>
                                        </p:tgtEl>
                                        <p:attrNameLst>
                                          <p:attrName>ppt_x</p:attrName>
                                        </p:attrNameLst>
                                      </p:cBhvr>
                                      <p:tavLst>
                                        <p:tav tm="0">
                                          <p:val>
                                            <p:strVal val="#ppt_x"/>
                                          </p:val>
                                        </p:tav>
                                        <p:tav tm="100000">
                                          <p:val>
                                            <p:strVal val="#ppt_x"/>
                                          </p:val>
                                        </p:tav>
                                      </p:tavLst>
                                    </p:anim>
                                    <p:anim calcmode="lin" valueType="num">
                                      <p:cBhvr additive="base">
                                        <p:cTn id="20" dur="500" fill="hold"/>
                                        <p:tgtEl>
                                          <p:spTgt spid="45"/>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500" fill="hold"/>
                                        <p:tgtEl>
                                          <p:spTgt spid="19"/>
                                        </p:tgtEl>
                                        <p:attrNameLst>
                                          <p:attrName>ppt_x</p:attrName>
                                        </p:attrNameLst>
                                      </p:cBhvr>
                                      <p:tavLst>
                                        <p:tav tm="0">
                                          <p:val>
                                            <p:strVal val="#ppt_x"/>
                                          </p:val>
                                        </p:tav>
                                        <p:tav tm="100000">
                                          <p:val>
                                            <p:strVal val="#ppt_x"/>
                                          </p:val>
                                        </p:tav>
                                      </p:tavLst>
                                    </p:anim>
                                    <p:anim calcmode="lin" valueType="num">
                                      <p:cBhvr additive="base">
                                        <p:cTn id="25" dur="500" fill="hold"/>
                                        <p:tgtEl>
                                          <p:spTgt spid="19"/>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55"/>
                                        </p:tgtEl>
                                        <p:attrNameLst>
                                          <p:attrName>style.visibility</p:attrName>
                                        </p:attrNameLst>
                                      </p:cBhvr>
                                      <p:to>
                                        <p:strVal val="visible"/>
                                      </p:to>
                                    </p:set>
                                    <p:anim calcmode="lin" valueType="num">
                                      <p:cBhvr additive="base">
                                        <p:cTn id="28" dur="500" fill="hold"/>
                                        <p:tgtEl>
                                          <p:spTgt spid="55"/>
                                        </p:tgtEl>
                                        <p:attrNameLst>
                                          <p:attrName>ppt_x</p:attrName>
                                        </p:attrNameLst>
                                      </p:cBhvr>
                                      <p:tavLst>
                                        <p:tav tm="0">
                                          <p:val>
                                            <p:strVal val="#ppt_x"/>
                                          </p:val>
                                        </p:tav>
                                        <p:tav tm="100000">
                                          <p:val>
                                            <p:strVal val="#ppt_x"/>
                                          </p:val>
                                        </p:tav>
                                      </p:tavLst>
                                    </p:anim>
                                    <p:anim calcmode="lin" valueType="num">
                                      <p:cBhvr additive="base">
                                        <p:cTn id="29" dur="500" fill="hold"/>
                                        <p:tgtEl>
                                          <p:spTgt spid="55"/>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 calcmode="lin" valueType="num">
                                      <p:cBhvr additive="base">
                                        <p:cTn id="32" dur="500" fill="hold"/>
                                        <p:tgtEl>
                                          <p:spTgt spid="42"/>
                                        </p:tgtEl>
                                        <p:attrNameLst>
                                          <p:attrName>ppt_x</p:attrName>
                                        </p:attrNameLst>
                                      </p:cBhvr>
                                      <p:tavLst>
                                        <p:tav tm="0">
                                          <p:val>
                                            <p:strVal val="#ppt_x"/>
                                          </p:val>
                                        </p:tav>
                                        <p:tav tm="100000">
                                          <p:val>
                                            <p:strVal val="#ppt_x"/>
                                          </p:val>
                                        </p:tav>
                                      </p:tavLst>
                                    </p:anim>
                                    <p:anim calcmode="lin" valueType="num">
                                      <p:cBhvr additive="base">
                                        <p:cTn id="33" dur="500" fill="hold"/>
                                        <p:tgtEl>
                                          <p:spTgt spid="42"/>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46"/>
                                        </p:tgtEl>
                                        <p:attrNameLst>
                                          <p:attrName>style.visibility</p:attrName>
                                        </p:attrNameLst>
                                      </p:cBhvr>
                                      <p:to>
                                        <p:strVal val="visible"/>
                                      </p:to>
                                    </p:set>
                                    <p:anim calcmode="lin" valueType="num">
                                      <p:cBhvr additive="base">
                                        <p:cTn id="36" dur="500" fill="hold"/>
                                        <p:tgtEl>
                                          <p:spTgt spid="46"/>
                                        </p:tgtEl>
                                        <p:attrNameLst>
                                          <p:attrName>ppt_x</p:attrName>
                                        </p:attrNameLst>
                                      </p:cBhvr>
                                      <p:tavLst>
                                        <p:tav tm="0">
                                          <p:val>
                                            <p:strVal val="#ppt_x"/>
                                          </p:val>
                                        </p:tav>
                                        <p:tav tm="100000">
                                          <p:val>
                                            <p:strVal val="#ppt_x"/>
                                          </p:val>
                                        </p:tav>
                                      </p:tavLst>
                                    </p:anim>
                                    <p:anim calcmode="lin" valueType="num">
                                      <p:cBhvr additive="base">
                                        <p:cTn id="37" dur="500" fill="hold"/>
                                        <p:tgtEl>
                                          <p:spTgt spid="46"/>
                                        </p:tgtEl>
                                        <p:attrNameLst>
                                          <p:attrName>ppt_y</p:attrName>
                                        </p:attrNameLst>
                                      </p:cBhvr>
                                      <p:tavLst>
                                        <p:tav tm="0">
                                          <p:val>
                                            <p:strVal val="1+#ppt_h/2"/>
                                          </p:val>
                                        </p:tav>
                                        <p:tav tm="100000">
                                          <p:val>
                                            <p:strVal val="#ppt_y"/>
                                          </p:val>
                                        </p:tav>
                                      </p:tavLst>
                                    </p:anim>
                                  </p:childTnLst>
                                </p:cTn>
                              </p:par>
                            </p:childTnLst>
                          </p:cTn>
                        </p:par>
                        <p:par>
                          <p:cTn id="38" fill="hold">
                            <p:stCondLst>
                              <p:cond delay="1000"/>
                            </p:stCondLst>
                            <p:childTnLst>
                              <p:par>
                                <p:cTn id="39" presetID="2" presetClass="entr" presetSubtype="4" fill="hold" nodeType="after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8"/>
                                        </p:tgtEl>
                                        <p:attrNameLst>
                                          <p:attrName>style.visibility</p:attrName>
                                        </p:attrNameLst>
                                      </p:cBhvr>
                                      <p:to>
                                        <p:strVal val="visible"/>
                                      </p:to>
                                    </p:set>
                                    <p:anim calcmode="lin" valueType="num">
                                      <p:cBhvr additive="base">
                                        <p:cTn id="45" dur="500" fill="hold"/>
                                        <p:tgtEl>
                                          <p:spTgt spid="58"/>
                                        </p:tgtEl>
                                        <p:attrNameLst>
                                          <p:attrName>ppt_x</p:attrName>
                                        </p:attrNameLst>
                                      </p:cBhvr>
                                      <p:tavLst>
                                        <p:tav tm="0">
                                          <p:val>
                                            <p:strVal val="#ppt_x"/>
                                          </p:val>
                                        </p:tav>
                                        <p:tav tm="100000">
                                          <p:val>
                                            <p:strVal val="#ppt_x"/>
                                          </p:val>
                                        </p:tav>
                                      </p:tavLst>
                                    </p:anim>
                                    <p:anim calcmode="lin" valueType="num">
                                      <p:cBhvr additive="base">
                                        <p:cTn id="46" dur="500" fill="hold"/>
                                        <p:tgtEl>
                                          <p:spTgt spid="58"/>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additive="base">
                                        <p:cTn id="49" dur="500" fill="hold"/>
                                        <p:tgtEl>
                                          <p:spTgt spid="43"/>
                                        </p:tgtEl>
                                        <p:attrNameLst>
                                          <p:attrName>ppt_x</p:attrName>
                                        </p:attrNameLst>
                                      </p:cBhvr>
                                      <p:tavLst>
                                        <p:tav tm="0">
                                          <p:val>
                                            <p:strVal val="#ppt_x"/>
                                          </p:val>
                                        </p:tav>
                                        <p:tav tm="100000">
                                          <p:val>
                                            <p:strVal val="#ppt_x"/>
                                          </p:val>
                                        </p:tav>
                                      </p:tavLst>
                                    </p:anim>
                                    <p:anim calcmode="lin" valueType="num">
                                      <p:cBhvr additive="base">
                                        <p:cTn id="50" dur="500" fill="hold"/>
                                        <p:tgtEl>
                                          <p:spTgt spid="4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 calcmode="lin" valueType="num">
                                      <p:cBhvr additive="base">
                                        <p:cTn id="53" dur="500" fill="hold"/>
                                        <p:tgtEl>
                                          <p:spTgt spid="47"/>
                                        </p:tgtEl>
                                        <p:attrNameLst>
                                          <p:attrName>ppt_x</p:attrName>
                                        </p:attrNameLst>
                                      </p:cBhvr>
                                      <p:tavLst>
                                        <p:tav tm="0">
                                          <p:val>
                                            <p:strVal val="#ppt_x"/>
                                          </p:val>
                                        </p:tav>
                                        <p:tav tm="100000">
                                          <p:val>
                                            <p:strVal val="#ppt_x"/>
                                          </p:val>
                                        </p:tav>
                                      </p:tavLst>
                                    </p:anim>
                                    <p:anim calcmode="lin" valueType="num">
                                      <p:cBhvr additive="base">
                                        <p:cTn id="54" dur="500" fill="hold"/>
                                        <p:tgtEl>
                                          <p:spTgt spid="47"/>
                                        </p:tgtEl>
                                        <p:attrNameLst>
                                          <p:attrName>ppt_y</p:attrName>
                                        </p:attrNameLst>
                                      </p:cBhvr>
                                      <p:tavLst>
                                        <p:tav tm="0">
                                          <p:val>
                                            <p:strVal val="1+#ppt_h/2"/>
                                          </p:val>
                                        </p:tav>
                                        <p:tav tm="100000">
                                          <p:val>
                                            <p:strVal val="#ppt_y"/>
                                          </p:val>
                                        </p:tav>
                                      </p:tavLst>
                                    </p:anim>
                                  </p:childTnLst>
                                </p:cTn>
                              </p:par>
                            </p:childTnLst>
                          </p:cTn>
                        </p:par>
                        <p:par>
                          <p:cTn id="55" fill="hold">
                            <p:stCondLst>
                              <p:cond delay="1500"/>
                            </p:stCondLst>
                            <p:childTnLst>
                              <p:par>
                                <p:cTn id="56" presetID="2" presetClass="entr" presetSubtype="4" fill="hold" nodeType="after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additive="base">
                                        <p:cTn id="58" dur="500" fill="hold"/>
                                        <p:tgtEl>
                                          <p:spTgt spid="25"/>
                                        </p:tgtEl>
                                        <p:attrNameLst>
                                          <p:attrName>ppt_x</p:attrName>
                                        </p:attrNameLst>
                                      </p:cBhvr>
                                      <p:tavLst>
                                        <p:tav tm="0">
                                          <p:val>
                                            <p:strVal val="#ppt_x"/>
                                          </p:val>
                                        </p:tav>
                                        <p:tav tm="100000">
                                          <p:val>
                                            <p:strVal val="#ppt_x"/>
                                          </p:val>
                                        </p:tav>
                                      </p:tavLst>
                                    </p:anim>
                                    <p:anim calcmode="lin" valueType="num">
                                      <p:cBhvr additive="base">
                                        <p:cTn id="59" dur="500" fill="hold"/>
                                        <p:tgtEl>
                                          <p:spTgt spid="25"/>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61"/>
                                        </p:tgtEl>
                                        <p:attrNameLst>
                                          <p:attrName>style.visibility</p:attrName>
                                        </p:attrNameLst>
                                      </p:cBhvr>
                                      <p:to>
                                        <p:strVal val="visible"/>
                                      </p:to>
                                    </p:set>
                                    <p:anim calcmode="lin" valueType="num">
                                      <p:cBhvr additive="base">
                                        <p:cTn id="62" dur="500" fill="hold"/>
                                        <p:tgtEl>
                                          <p:spTgt spid="61"/>
                                        </p:tgtEl>
                                        <p:attrNameLst>
                                          <p:attrName>ppt_x</p:attrName>
                                        </p:attrNameLst>
                                      </p:cBhvr>
                                      <p:tavLst>
                                        <p:tav tm="0">
                                          <p:val>
                                            <p:strVal val="#ppt_x"/>
                                          </p:val>
                                        </p:tav>
                                        <p:tav tm="100000">
                                          <p:val>
                                            <p:strVal val="#ppt_x"/>
                                          </p:val>
                                        </p:tav>
                                      </p:tavLst>
                                    </p:anim>
                                    <p:anim calcmode="lin" valueType="num">
                                      <p:cBhvr additive="base">
                                        <p:cTn id="63" dur="500" fill="hold"/>
                                        <p:tgtEl>
                                          <p:spTgt spid="61"/>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 calcmode="lin" valueType="num">
                                      <p:cBhvr additive="base">
                                        <p:cTn id="66" dur="500" fill="hold"/>
                                        <p:tgtEl>
                                          <p:spTgt spid="44"/>
                                        </p:tgtEl>
                                        <p:attrNameLst>
                                          <p:attrName>ppt_x</p:attrName>
                                        </p:attrNameLst>
                                      </p:cBhvr>
                                      <p:tavLst>
                                        <p:tav tm="0">
                                          <p:val>
                                            <p:strVal val="#ppt_x"/>
                                          </p:val>
                                        </p:tav>
                                        <p:tav tm="100000">
                                          <p:val>
                                            <p:strVal val="#ppt_x"/>
                                          </p:val>
                                        </p:tav>
                                      </p:tavLst>
                                    </p:anim>
                                    <p:anim calcmode="lin" valueType="num">
                                      <p:cBhvr additive="base">
                                        <p:cTn id="67" dur="500" fill="hold"/>
                                        <p:tgtEl>
                                          <p:spTgt spid="4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48"/>
                                        </p:tgtEl>
                                        <p:attrNameLst>
                                          <p:attrName>style.visibility</p:attrName>
                                        </p:attrNameLst>
                                      </p:cBhvr>
                                      <p:to>
                                        <p:strVal val="visible"/>
                                      </p:to>
                                    </p:set>
                                    <p:anim calcmode="lin" valueType="num">
                                      <p:cBhvr additive="base">
                                        <p:cTn id="70" dur="500" fill="hold"/>
                                        <p:tgtEl>
                                          <p:spTgt spid="48"/>
                                        </p:tgtEl>
                                        <p:attrNameLst>
                                          <p:attrName>ppt_x</p:attrName>
                                        </p:attrNameLst>
                                      </p:cBhvr>
                                      <p:tavLst>
                                        <p:tav tm="0">
                                          <p:val>
                                            <p:strVal val="#ppt_x"/>
                                          </p:val>
                                        </p:tav>
                                        <p:tav tm="100000">
                                          <p:val>
                                            <p:strVal val="#ppt_x"/>
                                          </p:val>
                                        </p:tav>
                                      </p:tavLst>
                                    </p:anim>
                                    <p:anim calcmode="lin" valueType="num">
                                      <p:cBhvr additive="base">
                                        <p:cTn id="71"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45" grpId="0"/>
      <p:bldP spid="46" grpId="0"/>
      <p:bldP spid="47" grpId="0"/>
      <p:bldP spid="4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任意多边形: 形状 4"/>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形状 5"/>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p:cNvGrpSpPr/>
          <p:nvPr/>
        </p:nvGrpSpPr>
        <p:grpSpPr>
          <a:xfrm>
            <a:off x="494553" y="150818"/>
            <a:ext cx="6106714" cy="1125795"/>
            <a:chOff x="494553" y="150818"/>
            <a:chExt cx="6106714" cy="1125795"/>
          </a:xfrm>
        </p:grpSpPr>
        <p:grpSp>
          <p:nvGrpSpPr>
            <p:cNvPr id="68" name="组合 67"/>
            <p:cNvGrpSpPr/>
            <p:nvPr/>
          </p:nvGrpSpPr>
          <p:grpSpPr>
            <a:xfrm>
              <a:off x="494553" y="321393"/>
              <a:ext cx="5744845" cy="955220"/>
              <a:chOff x="494553" y="321393"/>
              <a:chExt cx="5744845" cy="955220"/>
            </a:xfrm>
          </p:grpSpPr>
          <p:sp>
            <p:nvSpPr>
              <p:cNvPr id="70" name="文本框 69"/>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培养</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特色</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71" name="文本框 70"/>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69"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化</a:t>
              </a:r>
              <a:r>
                <a:rPr lang="zh-CN" altLang="en-US" sz="2400" b="1" i="1" spc="300" dirty="0">
                  <a:solidFill>
                    <a:srgbClr val="24C6DB"/>
                  </a:solidFill>
                  <a:latin typeface="黑体" panose="02010609060101010101" pitchFamily="49" charset="-122"/>
                  <a:ea typeface="黑体" panose="02010609060101010101" pitchFamily="49" charset="-122"/>
                </a:rPr>
                <a:t>（出国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交流</a:t>
              </a:r>
              <a:r>
                <a:rPr lang="zh-CN" altLang="en-US" sz="2400" b="1" i="1" spc="300" dirty="0">
                  <a:solidFill>
                    <a:srgbClr val="24C6DB"/>
                  </a:solidFill>
                  <a:latin typeface="黑体" panose="02010609060101010101" pitchFamily="49" charset="-122"/>
                  <a:ea typeface="黑体" panose="02010609060101010101" pitchFamily="49" charset="-122"/>
                </a:rPr>
                <a:t>）</a:t>
              </a:r>
              <a:endParaRPr lang="en-US" altLang="zh-CN" sz="2400" b="1" i="1" spc="300" dirty="0">
                <a:latin typeface="黑体" panose="02010609060101010101" pitchFamily="49" charset="-122"/>
                <a:ea typeface="黑体" panose="02010609060101010101" pitchFamily="49" charset="-122"/>
              </a:endParaRPr>
            </a:p>
          </p:txBody>
        </p:sp>
      </p:grpSp>
      <p:grpSp>
        <p:nvGrpSpPr>
          <p:cNvPr id="5" name="组合 4"/>
          <p:cNvGrpSpPr/>
          <p:nvPr/>
        </p:nvGrpSpPr>
        <p:grpSpPr>
          <a:xfrm>
            <a:off x="7141078" y="1831264"/>
            <a:ext cx="4322647" cy="3871058"/>
            <a:chOff x="6624243" y="1631422"/>
            <a:chExt cx="4322647" cy="3871058"/>
          </a:xfrm>
        </p:grpSpPr>
        <p:sp>
          <p:nvSpPr>
            <p:cNvPr id="2" name="等腰三角形 1"/>
            <p:cNvSpPr/>
            <p:nvPr/>
          </p:nvSpPr>
          <p:spPr>
            <a:xfrm>
              <a:off x="7300682" y="2465388"/>
              <a:ext cx="2842591" cy="2454010"/>
            </a:xfrm>
            <a:prstGeom prst="triangle">
              <a:avLst/>
            </a:prstGeom>
            <a:blipFill>
              <a:blip r:embed="rId1" cstate="hqprin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Group 30"/>
            <p:cNvGrpSpPr/>
            <p:nvPr/>
          </p:nvGrpSpPr>
          <p:grpSpPr>
            <a:xfrm>
              <a:off x="8117287" y="1631422"/>
              <a:ext cx="1209380" cy="1209374"/>
              <a:chOff x="1947198" y="2853386"/>
              <a:chExt cx="753140" cy="753140"/>
            </a:xfrm>
          </p:grpSpPr>
          <p:sp>
            <p:nvSpPr>
              <p:cNvPr id="74" name="椭圆 73"/>
              <p:cNvSpPr/>
              <p:nvPr/>
            </p:nvSpPr>
            <p:spPr>
              <a:xfrm>
                <a:off x="1947198" y="2853386"/>
                <a:ext cx="753140" cy="753140"/>
              </a:xfrm>
              <a:prstGeom prst="ellipse">
                <a:avLst/>
              </a:prstGeom>
              <a:solidFill>
                <a:srgbClr val="24C6DB"/>
              </a:solidFill>
              <a:ln w="5715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5" name="Oval 29"/>
              <p:cNvSpPr/>
              <p:nvPr/>
            </p:nvSpPr>
            <p:spPr>
              <a:xfrm>
                <a:off x="2184068" y="3102099"/>
                <a:ext cx="279400" cy="255713"/>
              </a:xfrm>
              <a:custGeom>
                <a:avLst/>
                <a:gdLst>
                  <a:gd name="connsiteX0" fmla="*/ 531631 w 607639"/>
                  <a:gd name="connsiteY0" fmla="*/ 404551 h 556126"/>
                  <a:gd name="connsiteX1" fmla="*/ 556997 w 607639"/>
                  <a:gd name="connsiteY1" fmla="*/ 429784 h 556126"/>
                  <a:gd name="connsiteX2" fmla="*/ 556997 w 607639"/>
                  <a:gd name="connsiteY2" fmla="*/ 455017 h 556126"/>
                  <a:gd name="connsiteX3" fmla="*/ 582273 w 607639"/>
                  <a:gd name="connsiteY3" fmla="*/ 455017 h 556126"/>
                  <a:gd name="connsiteX4" fmla="*/ 607639 w 607639"/>
                  <a:gd name="connsiteY4" fmla="*/ 480339 h 556126"/>
                  <a:gd name="connsiteX5" fmla="*/ 582273 w 607639"/>
                  <a:gd name="connsiteY5" fmla="*/ 505572 h 556126"/>
                  <a:gd name="connsiteX6" fmla="*/ 556997 w 607639"/>
                  <a:gd name="connsiteY6" fmla="*/ 505572 h 556126"/>
                  <a:gd name="connsiteX7" fmla="*/ 556997 w 607639"/>
                  <a:gd name="connsiteY7" fmla="*/ 530893 h 556126"/>
                  <a:gd name="connsiteX8" fmla="*/ 531631 w 607639"/>
                  <a:gd name="connsiteY8" fmla="*/ 556126 h 556126"/>
                  <a:gd name="connsiteX9" fmla="*/ 506354 w 607639"/>
                  <a:gd name="connsiteY9" fmla="*/ 530893 h 556126"/>
                  <a:gd name="connsiteX10" fmla="*/ 506354 w 607639"/>
                  <a:gd name="connsiteY10" fmla="*/ 505572 h 556126"/>
                  <a:gd name="connsiteX11" fmla="*/ 480989 w 607639"/>
                  <a:gd name="connsiteY11" fmla="*/ 505572 h 556126"/>
                  <a:gd name="connsiteX12" fmla="*/ 455712 w 607639"/>
                  <a:gd name="connsiteY12" fmla="*/ 480339 h 556126"/>
                  <a:gd name="connsiteX13" fmla="*/ 480989 w 607639"/>
                  <a:gd name="connsiteY13" fmla="*/ 455017 h 556126"/>
                  <a:gd name="connsiteX14" fmla="*/ 506354 w 607639"/>
                  <a:gd name="connsiteY14" fmla="*/ 455017 h 556126"/>
                  <a:gd name="connsiteX15" fmla="*/ 506354 w 607639"/>
                  <a:gd name="connsiteY15" fmla="*/ 429784 h 556126"/>
                  <a:gd name="connsiteX16" fmla="*/ 531631 w 607639"/>
                  <a:gd name="connsiteY16" fmla="*/ 404551 h 556126"/>
                  <a:gd name="connsiteX17" fmla="*/ 126541 w 607639"/>
                  <a:gd name="connsiteY17" fmla="*/ 353956 h 556126"/>
                  <a:gd name="connsiteX18" fmla="*/ 430431 w 607639"/>
                  <a:gd name="connsiteY18" fmla="*/ 353956 h 556126"/>
                  <a:gd name="connsiteX19" fmla="*/ 455711 w 607639"/>
                  <a:gd name="connsiteY19" fmla="*/ 379209 h 556126"/>
                  <a:gd name="connsiteX20" fmla="*/ 430431 w 607639"/>
                  <a:gd name="connsiteY20" fmla="*/ 404551 h 556126"/>
                  <a:gd name="connsiteX21" fmla="*/ 126541 w 607639"/>
                  <a:gd name="connsiteY21" fmla="*/ 404551 h 556126"/>
                  <a:gd name="connsiteX22" fmla="*/ 101261 w 607639"/>
                  <a:gd name="connsiteY22" fmla="*/ 379209 h 556126"/>
                  <a:gd name="connsiteX23" fmla="*/ 126541 w 607639"/>
                  <a:gd name="connsiteY23" fmla="*/ 353956 h 556126"/>
                  <a:gd name="connsiteX24" fmla="*/ 177203 w 607639"/>
                  <a:gd name="connsiteY24" fmla="*/ 252836 h 556126"/>
                  <a:gd name="connsiteX25" fmla="*/ 379769 w 607639"/>
                  <a:gd name="connsiteY25" fmla="*/ 252836 h 556126"/>
                  <a:gd name="connsiteX26" fmla="*/ 405045 w 607639"/>
                  <a:gd name="connsiteY26" fmla="*/ 278054 h 556126"/>
                  <a:gd name="connsiteX27" fmla="*/ 379769 w 607639"/>
                  <a:gd name="connsiteY27" fmla="*/ 303361 h 556126"/>
                  <a:gd name="connsiteX28" fmla="*/ 177203 w 607639"/>
                  <a:gd name="connsiteY28" fmla="*/ 303361 h 556126"/>
                  <a:gd name="connsiteX29" fmla="*/ 151927 w 607639"/>
                  <a:gd name="connsiteY29" fmla="*/ 278054 h 556126"/>
                  <a:gd name="connsiteX30" fmla="*/ 177203 w 607639"/>
                  <a:gd name="connsiteY30" fmla="*/ 252836 h 556126"/>
                  <a:gd name="connsiteX31" fmla="*/ 430424 w 607639"/>
                  <a:gd name="connsiteY31" fmla="*/ 101120 h 556126"/>
                  <a:gd name="connsiteX32" fmla="*/ 455712 w 607639"/>
                  <a:gd name="connsiteY32" fmla="*/ 126373 h 556126"/>
                  <a:gd name="connsiteX33" fmla="*/ 455712 w 607639"/>
                  <a:gd name="connsiteY33" fmla="*/ 126462 h 556126"/>
                  <a:gd name="connsiteX34" fmla="*/ 430424 w 607639"/>
                  <a:gd name="connsiteY34" fmla="*/ 151715 h 556126"/>
                  <a:gd name="connsiteX35" fmla="*/ 405046 w 607639"/>
                  <a:gd name="connsiteY35" fmla="*/ 126462 h 556126"/>
                  <a:gd name="connsiteX36" fmla="*/ 430424 w 607639"/>
                  <a:gd name="connsiteY36" fmla="*/ 101120 h 556126"/>
                  <a:gd name="connsiteX37" fmla="*/ 329126 w 607639"/>
                  <a:gd name="connsiteY37" fmla="*/ 101120 h 556126"/>
                  <a:gd name="connsiteX38" fmla="*/ 354379 w 607639"/>
                  <a:gd name="connsiteY38" fmla="*/ 126373 h 556126"/>
                  <a:gd name="connsiteX39" fmla="*/ 354379 w 607639"/>
                  <a:gd name="connsiteY39" fmla="*/ 126462 h 556126"/>
                  <a:gd name="connsiteX40" fmla="*/ 329126 w 607639"/>
                  <a:gd name="connsiteY40" fmla="*/ 151715 h 556126"/>
                  <a:gd name="connsiteX41" fmla="*/ 303784 w 607639"/>
                  <a:gd name="connsiteY41" fmla="*/ 126462 h 556126"/>
                  <a:gd name="connsiteX42" fmla="*/ 329126 w 607639"/>
                  <a:gd name="connsiteY42" fmla="*/ 101120 h 556126"/>
                  <a:gd name="connsiteX43" fmla="*/ 227856 w 607639"/>
                  <a:gd name="connsiteY43" fmla="*/ 101120 h 556126"/>
                  <a:gd name="connsiteX44" fmla="*/ 253118 w 607639"/>
                  <a:gd name="connsiteY44" fmla="*/ 126373 h 556126"/>
                  <a:gd name="connsiteX45" fmla="*/ 253118 w 607639"/>
                  <a:gd name="connsiteY45" fmla="*/ 126462 h 556126"/>
                  <a:gd name="connsiteX46" fmla="*/ 227856 w 607639"/>
                  <a:gd name="connsiteY46" fmla="*/ 151715 h 556126"/>
                  <a:gd name="connsiteX47" fmla="*/ 202593 w 607639"/>
                  <a:gd name="connsiteY47" fmla="*/ 126462 h 556126"/>
                  <a:gd name="connsiteX48" fmla="*/ 227856 w 607639"/>
                  <a:gd name="connsiteY48" fmla="*/ 101120 h 556126"/>
                  <a:gd name="connsiteX49" fmla="*/ 25276 w 607639"/>
                  <a:gd name="connsiteY49" fmla="*/ 0 h 556126"/>
                  <a:gd name="connsiteX50" fmla="*/ 531608 w 607639"/>
                  <a:gd name="connsiteY50" fmla="*/ 0 h 556126"/>
                  <a:gd name="connsiteX51" fmla="*/ 556973 w 607639"/>
                  <a:gd name="connsiteY51" fmla="*/ 25329 h 556126"/>
                  <a:gd name="connsiteX52" fmla="*/ 556973 w 607639"/>
                  <a:gd name="connsiteY52" fmla="*/ 328654 h 556126"/>
                  <a:gd name="connsiteX53" fmla="*/ 531608 w 607639"/>
                  <a:gd name="connsiteY53" fmla="*/ 353983 h 556126"/>
                  <a:gd name="connsiteX54" fmla="*/ 506331 w 607639"/>
                  <a:gd name="connsiteY54" fmla="*/ 328654 h 556126"/>
                  <a:gd name="connsiteX55" fmla="*/ 506331 w 607639"/>
                  <a:gd name="connsiteY55" fmla="*/ 50569 h 556126"/>
                  <a:gd name="connsiteX56" fmla="*/ 50642 w 607639"/>
                  <a:gd name="connsiteY56" fmla="*/ 50569 h 556126"/>
                  <a:gd name="connsiteX57" fmla="*/ 50642 w 607639"/>
                  <a:gd name="connsiteY57" fmla="*/ 455032 h 556126"/>
                  <a:gd name="connsiteX58" fmla="*/ 379770 w 607639"/>
                  <a:gd name="connsiteY58" fmla="*/ 455032 h 556126"/>
                  <a:gd name="connsiteX59" fmla="*/ 405047 w 607639"/>
                  <a:gd name="connsiteY59" fmla="*/ 480361 h 556126"/>
                  <a:gd name="connsiteX60" fmla="*/ 379770 w 607639"/>
                  <a:gd name="connsiteY60" fmla="*/ 505601 h 556126"/>
                  <a:gd name="connsiteX61" fmla="*/ 25276 w 607639"/>
                  <a:gd name="connsiteY61" fmla="*/ 505601 h 556126"/>
                  <a:gd name="connsiteX62" fmla="*/ 0 w 607639"/>
                  <a:gd name="connsiteY62" fmla="*/ 480361 h 556126"/>
                  <a:gd name="connsiteX63" fmla="*/ 0 w 607639"/>
                  <a:gd name="connsiteY63" fmla="*/ 25329 h 556126"/>
                  <a:gd name="connsiteX64" fmla="*/ 25276 w 607639"/>
                  <a:gd name="connsiteY64" fmla="*/ 0 h 55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7639" h="556126">
                    <a:moveTo>
                      <a:pt x="531631" y="404551"/>
                    </a:moveTo>
                    <a:cubicBezTo>
                      <a:pt x="545604" y="404551"/>
                      <a:pt x="556997" y="415835"/>
                      <a:pt x="556997" y="429784"/>
                    </a:cubicBezTo>
                    <a:lnTo>
                      <a:pt x="556997" y="455017"/>
                    </a:lnTo>
                    <a:lnTo>
                      <a:pt x="582273" y="455017"/>
                    </a:lnTo>
                    <a:cubicBezTo>
                      <a:pt x="596247" y="455017"/>
                      <a:pt x="607639" y="466390"/>
                      <a:pt x="607639" y="480339"/>
                    </a:cubicBezTo>
                    <a:cubicBezTo>
                      <a:pt x="607639" y="494288"/>
                      <a:pt x="596247" y="505572"/>
                      <a:pt x="582273" y="505572"/>
                    </a:cubicBezTo>
                    <a:lnTo>
                      <a:pt x="556997" y="505572"/>
                    </a:lnTo>
                    <a:lnTo>
                      <a:pt x="556997" y="530893"/>
                    </a:lnTo>
                    <a:cubicBezTo>
                      <a:pt x="556997" y="544843"/>
                      <a:pt x="545604" y="556126"/>
                      <a:pt x="531631" y="556126"/>
                    </a:cubicBezTo>
                    <a:cubicBezTo>
                      <a:pt x="517658" y="556126"/>
                      <a:pt x="506354" y="544843"/>
                      <a:pt x="506354" y="530893"/>
                    </a:cubicBezTo>
                    <a:lnTo>
                      <a:pt x="506354" y="505572"/>
                    </a:lnTo>
                    <a:lnTo>
                      <a:pt x="480989" y="505572"/>
                    </a:lnTo>
                    <a:cubicBezTo>
                      <a:pt x="467015" y="505572"/>
                      <a:pt x="455712" y="494288"/>
                      <a:pt x="455712" y="480339"/>
                    </a:cubicBezTo>
                    <a:cubicBezTo>
                      <a:pt x="455712" y="466390"/>
                      <a:pt x="467015" y="455017"/>
                      <a:pt x="480989" y="455017"/>
                    </a:cubicBezTo>
                    <a:lnTo>
                      <a:pt x="506354" y="455017"/>
                    </a:lnTo>
                    <a:lnTo>
                      <a:pt x="506354" y="429784"/>
                    </a:lnTo>
                    <a:cubicBezTo>
                      <a:pt x="506354" y="415835"/>
                      <a:pt x="517658" y="404551"/>
                      <a:pt x="531631" y="404551"/>
                    </a:cubicBezTo>
                    <a:close/>
                    <a:moveTo>
                      <a:pt x="126541" y="353956"/>
                    </a:moveTo>
                    <a:lnTo>
                      <a:pt x="430431" y="353956"/>
                    </a:lnTo>
                    <a:cubicBezTo>
                      <a:pt x="444406" y="353956"/>
                      <a:pt x="455711" y="365248"/>
                      <a:pt x="455711" y="379209"/>
                    </a:cubicBezTo>
                    <a:cubicBezTo>
                      <a:pt x="455711" y="393169"/>
                      <a:pt x="444406" y="404551"/>
                      <a:pt x="430431" y="404551"/>
                    </a:cubicBezTo>
                    <a:lnTo>
                      <a:pt x="126541" y="404551"/>
                    </a:lnTo>
                    <a:cubicBezTo>
                      <a:pt x="112566" y="404551"/>
                      <a:pt x="101261" y="393169"/>
                      <a:pt x="101261" y="379209"/>
                    </a:cubicBezTo>
                    <a:cubicBezTo>
                      <a:pt x="101261" y="365248"/>
                      <a:pt x="112566" y="353956"/>
                      <a:pt x="126541" y="353956"/>
                    </a:cubicBezTo>
                    <a:close/>
                    <a:moveTo>
                      <a:pt x="177203" y="252836"/>
                    </a:moveTo>
                    <a:lnTo>
                      <a:pt x="379769" y="252836"/>
                    </a:lnTo>
                    <a:cubicBezTo>
                      <a:pt x="393742" y="252836"/>
                      <a:pt x="405045" y="264113"/>
                      <a:pt x="405045" y="278054"/>
                    </a:cubicBezTo>
                    <a:cubicBezTo>
                      <a:pt x="405045" y="291995"/>
                      <a:pt x="393742" y="303361"/>
                      <a:pt x="379769" y="303361"/>
                    </a:cubicBezTo>
                    <a:lnTo>
                      <a:pt x="177203" y="303361"/>
                    </a:lnTo>
                    <a:cubicBezTo>
                      <a:pt x="163230" y="303361"/>
                      <a:pt x="151927" y="291995"/>
                      <a:pt x="151927" y="278054"/>
                    </a:cubicBezTo>
                    <a:cubicBezTo>
                      <a:pt x="151927" y="264113"/>
                      <a:pt x="163230" y="252836"/>
                      <a:pt x="177203" y="252836"/>
                    </a:cubicBezTo>
                    <a:close/>
                    <a:moveTo>
                      <a:pt x="430424" y="101120"/>
                    </a:moveTo>
                    <a:cubicBezTo>
                      <a:pt x="444403" y="101120"/>
                      <a:pt x="455712" y="112412"/>
                      <a:pt x="455712" y="126373"/>
                    </a:cubicBezTo>
                    <a:lnTo>
                      <a:pt x="455712" y="126462"/>
                    </a:lnTo>
                    <a:cubicBezTo>
                      <a:pt x="455712" y="140422"/>
                      <a:pt x="444403" y="151715"/>
                      <a:pt x="430424" y="151715"/>
                    </a:cubicBezTo>
                    <a:cubicBezTo>
                      <a:pt x="416355" y="151715"/>
                      <a:pt x="405046" y="140422"/>
                      <a:pt x="405046" y="126462"/>
                    </a:cubicBezTo>
                    <a:cubicBezTo>
                      <a:pt x="405046" y="112501"/>
                      <a:pt x="416355" y="101120"/>
                      <a:pt x="430424" y="101120"/>
                    </a:cubicBezTo>
                    <a:close/>
                    <a:moveTo>
                      <a:pt x="329126" y="101120"/>
                    </a:moveTo>
                    <a:cubicBezTo>
                      <a:pt x="343086" y="101120"/>
                      <a:pt x="354379" y="112412"/>
                      <a:pt x="354379" y="126373"/>
                    </a:cubicBezTo>
                    <a:lnTo>
                      <a:pt x="354379" y="126462"/>
                    </a:lnTo>
                    <a:cubicBezTo>
                      <a:pt x="354379" y="140422"/>
                      <a:pt x="343086" y="151715"/>
                      <a:pt x="329126" y="151715"/>
                    </a:cubicBezTo>
                    <a:cubicBezTo>
                      <a:pt x="315166" y="151715"/>
                      <a:pt x="303784" y="140422"/>
                      <a:pt x="303784" y="126462"/>
                    </a:cubicBezTo>
                    <a:cubicBezTo>
                      <a:pt x="303784" y="112501"/>
                      <a:pt x="315166" y="101120"/>
                      <a:pt x="329126" y="101120"/>
                    </a:cubicBezTo>
                    <a:close/>
                    <a:moveTo>
                      <a:pt x="227856" y="101120"/>
                    </a:moveTo>
                    <a:cubicBezTo>
                      <a:pt x="241821" y="101120"/>
                      <a:pt x="253118" y="112412"/>
                      <a:pt x="253118" y="126373"/>
                    </a:cubicBezTo>
                    <a:lnTo>
                      <a:pt x="253118" y="126462"/>
                    </a:lnTo>
                    <a:cubicBezTo>
                      <a:pt x="253118" y="140422"/>
                      <a:pt x="241821" y="151715"/>
                      <a:pt x="227856" y="151715"/>
                    </a:cubicBezTo>
                    <a:cubicBezTo>
                      <a:pt x="213890" y="151715"/>
                      <a:pt x="202593" y="140422"/>
                      <a:pt x="202593" y="126462"/>
                    </a:cubicBezTo>
                    <a:cubicBezTo>
                      <a:pt x="202593" y="112501"/>
                      <a:pt x="213890" y="101120"/>
                      <a:pt x="227856" y="101120"/>
                    </a:cubicBezTo>
                    <a:close/>
                    <a:moveTo>
                      <a:pt x="25276" y="0"/>
                    </a:moveTo>
                    <a:lnTo>
                      <a:pt x="531608" y="0"/>
                    </a:lnTo>
                    <a:cubicBezTo>
                      <a:pt x="545581" y="0"/>
                      <a:pt x="556973" y="11376"/>
                      <a:pt x="556973" y="25329"/>
                    </a:cubicBezTo>
                    <a:lnTo>
                      <a:pt x="556973" y="328654"/>
                    </a:lnTo>
                    <a:cubicBezTo>
                      <a:pt x="556973" y="342607"/>
                      <a:pt x="545581" y="353983"/>
                      <a:pt x="531608" y="353983"/>
                    </a:cubicBezTo>
                    <a:cubicBezTo>
                      <a:pt x="517634" y="353983"/>
                      <a:pt x="506331" y="342607"/>
                      <a:pt x="506331" y="328654"/>
                    </a:cubicBezTo>
                    <a:lnTo>
                      <a:pt x="506331" y="50569"/>
                    </a:lnTo>
                    <a:lnTo>
                      <a:pt x="50642" y="50569"/>
                    </a:lnTo>
                    <a:lnTo>
                      <a:pt x="50642" y="455032"/>
                    </a:lnTo>
                    <a:lnTo>
                      <a:pt x="379770" y="455032"/>
                    </a:lnTo>
                    <a:cubicBezTo>
                      <a:pt x="393744" y="455032"/>
                      <a:pt x="405047" y="466408"/>
                      <a:pt x="405047" y="480361"/>
                    </a:cubicBezTo>
                    <a:cubicBezTo>
                      <a:pt x="405047" y="494314"/>
                      <a:pt x="393744" y="505601"/>
                      <a:pt x="379770" y="505601"/>
                    </a:cubicBezTo>
                    <a:lnTo>
                      <a:pt x="25276" y="505601"/>
                    </a:lnTo>
                    <a:cubicBezTo>
                      <a:pt x="11303" y="505601"/>
                      <a:pt x="0" y="494314"/>
                      <a:pt x="0" y="480361"/>
                    </a:cubicBezTo>
                    <a:lnTo>
                      <a:pt x="0" y="25329"/>
                    </a:lnTo>
                    <a:cubicBezTo>
                      <a:pt x="0" y="11376"/>
                      <a:pt x="11303" y="0"/>
                      <a:pt x="252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51" name="Group 30"/>
            <p:cNvGrpSpPr/>
            <p:nvPr/>
          </p:nvGrpSpPr>
          <p:grpSpPr>
            <a:xfrm>
              <a:off x="9737510" y="4293106"/>
              <a:ext cx="1209380" cy="1209374"/>
              <a:chOff x="1947198" y="2853386"/>
              <a:chExt cx="753140" cy="753140"/>
            </a:xfrm>
          </p:grpSpPr>
          <p:sp>
            <p:nvSpPr>
              <p:cNvPr id="72" name="椭圆 71"/>
              <p:cNvSpPr/>
              <p:nvPr/>
            </p:nvSpPr>
            <p:spPr>
              <a:xfrm>
                <a:off x="1947198" y="2853386"/>
                <a:ext cx="753140" cy="753140"/>
              </a:xfrm>
              <a:prstGeom prst="ellipse">
                <a:avLst/>
              </a:prstGeom>
              <a:solidFill>
                <a:srgbClr val="0070C0"/>
              </a:solidFill>
              <a:ln w="5715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3" name="Oval 29"/>
              <p:cNvSpPr/>
              <p:nvPr/>
            </p:nvSpPr>
            <p:spPr>
              <a:xfrm>
                <a:off x="2184068" y="3090467"/>
                <a:ext cx="279400" cy="278975"/>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88862 h 440259"/>
                  <a:gd name="T27" fmla="*/ 88862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57" h="2757">
                    <a:moveTo>
                      <a:pt x="1063" y="2589"/>
                    </a:moveTo>
                    <a:lnTo>
                      <a:pt x="0" y="2757"/>
                    </a:lnTo>
                    <a:lnTo>
                      <a:pt x="168" y="1694"/>
                    </a:lnTo>
                    <a:lnTo>
                      <a:pt x="1226" y="883"/>
                    </a:lnTo>
                    <a:lnTo>
                      <a:pt x="1503" y="1160"/>
                    </a:lnTo>
                    <a:lnTo>
                      <a:pt x="984" y="1679"/>
                    </a:lnTo>
                    <a:cubicBezTo>
                      <a:pt x="914" y="1646"/>
                      <a:pt x="827" y="1659"/>
                      <a:pt x="769" y="1717"/>
                    </a:cubicBezTo>
                    <a:cubicBezTo>
                      <a:pt x="694" y="1792"/>
                      <a:pt x="694" y="1913"/>
                      <a:pt x="769" y="1988"/>
                    </a:cubicBezTo>
                    <a:cubicBezTo>
                      <a:pt x="844" y="2063"/>
                      <a:pt x="965" y="2063"/>
                      <a:pt x="1040" y="1988"/>
                    </a:cubicBezTo>
                    <a:cubicBezTo>
                      <a:pt x="1098" y="1930"/>
                      <a:pt x="1111" y="1844"/>
                      <a:pt x="1079" y="1773"/>
                    </a:cubicBezTo>
                    <a:lnTo>
                      <a:pt x="1597" y="1254"/>
                    </a:lnTo>
                    <a:lnTo>
                      <a:pt x="1875" y="1531"/>
                    </a:lnTo>
                    <a:lnTo>
                      <a:pt x="1063" y="2589"/>
                    </a:lnTo>
                    <a:close/>
                    <a:moveTo>
                      <a:pt x="1763" y="291"/>
                    </a:moveTo>
                    <a:lnTo>
                      <a:pt x="1695" y="223"/>
                    </a:lnTo>
                    <a:lnTo>
                      <a:pt x="1266" y="652"/>
                    </a:lnTo>
                    <a:lnTo>
                      <a:pt x="2105" y="1491"/>
                    </a:lnTo>
                    <a:lnTo>
                      <a:pt x="2534" y="1062"/>
                    </a:lnTo>
                    <a:lnTo>
                      <a:pt x="2466" y="994"/>
                    </a:lnTo>
                    <a:lnTo>
                      <a:pt x="2757" y="755"/>
                    </a:lnTo>
                    <a:lnTo>
                      <a:pt x="2002" y="0"/>
                    </a:lnTo>
                    <a:lnTo>
                      <a:pt x="1763" y="29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grpSp>
          <p:nvGrpSpPr>
            <p:cNvPr id="64" name="Group 30"/>
            <p:cNvGrpSpPr/>
            <p:nvPr/>
          </p:nvGrpSpPr>
          <p:grpSpPr>
            <a:xfrm>
              <a:off x="6624243" y="4251441"/>
              <a:ext cx="1209380" cy="1209374"/>
              <a:chOff x="1947198" y="2853386"/>
              <a:chExt cx="753140" cy="753140"/>
            </a:xfrm>
          </p:grpSpPr>
          <p:sp>
            <p:nvSpPr>
              <p:cNvPr id="65" name="椭圆 64"/>
              <p:cNvSpPr/>
              <p:nvPr/>
            </p:nvSpPr>
            <p:spPr>
              <a:xfrm>
                <a:off x="1947198" y="2853386"/>
                <a:ext cx="753140" cy="753140"/>
              </a:xfrm>
              <a:prstGeom prst="ellipse">
                <a:avLst/>
              </a:prstGeom>
              <a:solidFill>
                <a:srgbClr val="3890C2"/>
              </a:solidFill>
              <a:ln w="5715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6" name="Oval 29"/>
              <p:cNvSpPr/>
              <p:nvPr/>
            </p:nvSpPr>
            <p:spPr>
              <a:xfrm>
                <a:off x="2194960" y="3090255"/>
                <a:ext cx="257615" cy="279400"/>
              </a:xfrm>
              <a:custGeom>
                <a:avLst/>
                <a:gdLst>
                  <a:gd name="connsiteX0" fmla="*/ 546381 w 557893"/>
                  <a:gd name="connsiteY0" fmla="*/ 346236 h 605070"/>
                  <a:gd name="connsiteX1" fmla="*/ 547615 w 557893"/>
                  <a:gd name="connsiteY1" fmla="*/ 346236 h 605070"/>
                  <a:gd name="connsiteX2" fmla="*/ 557863 w 557893"/>
                  <a:gd name="connsiteY2" fmla="*/ 357510 h 605070"/>
                  <a:gd name="connsiteX3" fmla="*/ 554352 w 557893"/>
                  <a:gd name="connsiteY3" fmla="*/ 433777 h 605070"/>
                  <a:gd name="connsiteX4" fmla="*/ 548374 w 557893"/>
                  <a:gd name="connsiteY4" fmla="*/ 445146 h 605070"/>
                  <a:gd name="connsiteX5" fmla="*/ 544484 w 557893"/>
                  <a:gd name="connsiteY5" fmla="*/ 446283 h 605070"/>
                  <a:gd name="connsiteX6" fmla="*/ 536987 w 557893"/>
                  <a:gd name="connsiteY6" fmla="*/ 441736 h 605070"/>
                  <a:gd name="connsiteX7" fmla="*/ 513359 w 557893"/>
                  <a:gd name="connsiteY7" fmla="*/ 418334 h 605070"/>
                  <a:gd name="connsiteX8" fmla="*/ 504629 w 557893"/>
                  <a:gd name="connsiteY8" fmla="*/ 427051 h 605070"/>
                  <a:gd name="connsiteX9" fmla="*/ 432320 w 557893"/>
                  <a:gd name="connsiteY9" fmla="*/ 499244 h 605070"/>
                  <a:gd name="connsiteX10" fmla="*/ 425868 w 557893"/>
                  <a:gd name="connsiteY10" fmla="*/ 505686 h 605070"/>
                  <a:gd name="connsiteX11" fmla="*/ 410115 w 557893"/>
                  <a:gd name="connsiteY11" fmla="*/ 521413 h 605070"/>
                  <a:gd name="connsiteX12" fmla="*/ 335720 w 557893"/>
                  <a:gd name="connsiteY12" fmla="*/ 595691 h 605070"/>
                  <a:gd name="connsiteX13" fmla="*/ 331354 w 557893"/>
                  <a:gd name="connsiteY13" fmla="*/ 600049 h 605070"/>
                  <a:gd name="connsiteX14" fmla="*/ 319208 w 557893"/>
                  <a:gd name="connsiteY14" fmla="*/ 605070 h 605070"/>
                  <a:gd name="connsiteX15" fmla="*/ 307062 w 557893"/>
                  <a:gd name="connsiteY15" fmla="*/ 600049 h 605070"/>
                  <a:gd name="connsiteX16" fmla="*/ 302792 w 557893"/>
                  <a:gd name="connsiteY16" fmla="*/ 595691 h 605070"/>
                  <a:gd name="connsiteX17" fmla="*/ 286945 w 557893"/>
                  <a:gd name="connsiteY17" fmla="*/ 579963 h 605070"/>
                  <a:gd name="connsiteX18" fmla="*/ 212549 w 557893"/>
                  <a:gd name="connsiteY18" fmla="*/ 505686 h 605070"/>
                  <a:gd name="connsiteX19" fmla="*/ 208943 w 557893"/>
                  <a:gd name="connsiteY19" fmla="*/ 501991 h 605070"/>
                  <a:gd name="connsiteX20" fmla="*/ 130846 w 557893"/>
                  <a:gd name="connsiteY20" fmla="*/ 579963 h 605070"/>
                  <a:gd name="connsiteX21" fmla="*/ 118700 w 557893"/>
                  <a:gd name="connsiteY21" fmla="*/ 584985 h 605070"/>
                  <a:gd name="connsiteX22" fmla="*/ 106554 w 557893"/>
                  <a:gd name="connsiteY22" fmla="*/ 579963 h 605070"/>
                  <a:gd name="connsiteX23" fmla="*/ 102283 w 557893"/>
                  <a:gd name="connsiteY23" fmla="*/ 575605 h 605070"/>
                  <a:gd name="connsiteX24" fmla="*/ 102283 w 557893"/>
                  <a:gd name="connsiteY24" fmla="*/ 551257 h 605070"/>
                  <a:gd name="connsiteX25" fmla="*/ 192431 w 557893"/>
                  <a:gd name="connsiteY25" fmla="*/ 461158 h 605070"/>
                  <a:gd name="connsiteX26" fmla="*/ 196797 w 557893"/>
                  <a:gd name="connsiteY26" fmla="*/ 456894 h 605070"/>
                  <a:gd name="connsiteX27" fmla="*/ 208943 w 557893"/>
                  <a:gd name="connsiteY27" fmla="*/ 451873 h 605070"/>
                  <a:gd name="connsiteX28" fmla="*/ 221089 w 557893"/>
                  <a:gd name="connsiteY28" fmla="*/ 456894 h 605070"/>
                  <a:gd name="connsiteX29" fmla="*/ 225359 w 557893"/>
                  <a:gd name="connsiteY29" fmla="*/ 461158 h 605070"/>
                  <a:gd name="connsiteX30" fmla="*/ 241206 w 557893"/>
                  <a:gd name="connsiteY30" fmla="*/ 476979 h 605070"/>
                  <a:gd name="connsiteX31" fmla="*/ 315602 w 557893"/>
                  <a:gd name="connsiteY31" fmla="*/ 551257 h 605070"/>
                  <a:gd name="connsiteX32" fmla="*/ 319208 w 557893"/>
                  <a:gd name="connsiteY32" fmla="*/ 554952 h 605070"/>
                  <a:gd name="connsiteX33" fmla="*/ 381458 w 557893"/>
                  <a:gd name="connsiteY33" fmla="*/ 492801 h 605070"/>
                  <a:gd name="connsiteX34" fmla="*/ 397305 w 557893"/>
                  <a:gd name="connsiteY34" fmla="*/ 476979 h 605070"/>
                  <a:gd name="connsiteX35" fmla="*/ 403758 w 557893"/>
                  <a:gd name="connsiteY35" fmla="*/ 470537 h 605070"/>
                  <a:gd name="connsiteX36" fmla="*/ 476161 w 557893"/>
                  <a:gd name="connsiteY36" fmla="*/ 398439 h 605070"/>
                  <a:gd name="connsiteX37" fmla="*/ 484986 w 557893"/>
                  <a:gd name="connsiteY37" fmla="*/ 389533 h 605070"/>
                  <a:gd name="connsiteX38" fmla="*/ 460788 w 557893"/>
                  <a:gd name="connsiteY38" fmla="*/ 365563 h 605070"/>
                  <a:gd name="connsiteX39" fmla="*/ 457752 w 557893"/>
                  <a:gd name="connsiteY39" fmla="*/ 355236 h 605070"/>
                  <a:gd name="connsiteX40" fmla="*/ 468000 w 557893"/>
                  <a:gd name="connsiteY40" fmla="*/ 349931 h 605070"/>
                  <a:gd name="connsiteX41" fmla="*/ 546381 w 557893"/>
                  <a:gd name="connsiteY41" fmla="*/ 346236 h 605070"/>
                  <a:gd name="connsiteX42" fmla="*/ 278625 w 557893"/>
                  <a:gd name="connsiteY42" fmla="*/ 278352 h 605070"/>
                  <a:gd name="connsiteX43" fmla="*/ 371816 w 557893"/>
                  <a:gd name="connsiteY43" fmla="*/ 329810 h 605070"/>
                  <a:gd name="connsiteX44" fmla="*/ 412053 w 557893"/>
                  <a:gd name="connsiteY44" fmla="*/ 405338 h 605070"/>
                  <a:gd name="connsiteX45" fmla="*/ 412148 w 557893"/>
                  <a:gd name="connsiteY45" fmla="*/ 405717 h 605070"/>
                  <a:gd name="connsiteX46" fmla="*/ 412148 w 557893"/>
                  <a:gd name="connsiteY46" fmla="*/ 408086 h 605070"/>
                  <a:gd name="connsiteX47" fmla="*/ 412243 w 557893"/>
                  <a:gd name="connsiteY47" fmla="*/ 412919 h 605070"/>
                  <a:gd name="connsiteX48" fmla="*/ 379123 w 557893"/>
                  <a:gd name="connsiteY48" fmla="*/ 445992 h 605070"/>
                  <a:gd name="connsiteX49" fmla="*/ 372670 w 557893"/>
                  <a:gd name="connsiteY49" fmla="*/ 452436 h 605070"/>
                  <a:gd name="connsiteX50" fmla="*/ 356822 w 557893"/>
                  <a:gd name="connsiteY50" fmla="*/ 468262 h 605070"/>
                  <a:gd name="connsiteX51" fmla="*/ 319147 w 557893"/>
                  <a:gd name="connsiteY51" fmla="*/ 505884 h 605070"/>
                  <a:gd name="connsiteX52" fmla="*/ 265623 w 557893"/>
                  <a:gd name="connsiteY52" fmla="*/ 452436 h 605070"/>
                  <a:gd name="connsiteX53" fmla="*/ 249775 w 557893"/>
                  <a:gd name="connsiteY53" fmla="*/ 436705 h 605070"/>
                  <a:gd name="connsiteX54" fmla="*/ 245505 w 557893"/>
                  <a:gd name="connsiteY54" fmla="*/ 432346 h 605070"/>
                  <a:gd name="connsiteX55" fmla="*/ 208779 w 557893"/>
                  <a:gd name="connsiteY55" fmla="*/ 417184 h 605070"/>
                  <a:gd name="connsiteX56" fmla="*/ 172148 w 557893"/>
                  <a:gd name="connsiteY56" fmla="*/ 432346 h 605070"/>
                  <a:gd name="connsiteX57" fmla="*/ 167782 w 557893"/>
                  <a:gd name="connsiteY57" fmla="*/ 436705 h 605070"/>
                  <a:gd name="connsiteX58" fmla="*/ 89490 w 557893"/>
                  <a:gd name="connsiteY58" fmla="*/ 514887 h 605070"/>
                  <a:gd name="connsiteX59" fmla="*/ 190 w 557893"/>
                  <a:gd name="connsiteY59" fmla="*/ 514792 h 605070"/>
                  <a:gd name="connsiteX60" fmla="*/ 0 w 557893"/>
                  <a:gd name="connsiteY60" fmla="*/ 405433 h 605070"/>
                  <a:gd name="connsiteX61" fmla="*/ 40237 w 557893"/>
                  <a:gd name="connsiteY61" fmla="*/ 329904 h 605070"/>
                  <a:gd name="connsiteX62" fmla="*/ 133429 w 557893"/>
                  <a:gd name="connsiteY62" fmla="*/ 278447 h 605070"/>
                  <a:gd name="connsiteX63" fmla="*/ 172527 w 557893"/>
                  <a:gd name="connsiteY63" fmla="*/ 401926 h 605070"/>
                  <a:gd name="connsiteX64" fmla="*/ 195398 w 557893"/>
                  <a:gd name="connsiteY64" fmla="*/ 337201 h 605070"/>
                  <a:gd name="connsiteX65" fmla="*/ 205932 w 557893"/>
                  <a:gd name="connsiteY65" fmla="*/ 278447 h 605070"/>
                  <a:gd name="connsiteX66" fmla="*/ 206121 w 557893"/>
                  <a:gd name="connsiteY66" fmla="*/ 278447 h 605070"/>
                  <a:gd name="connsiteX67" fmla="*/ 206406 w 557893"/>
                  <a:gd name="connsiteY67" fmla="*/ 278447 h 605070"/>
                  <a:gd name="connsiteX68" fmla="*/ 216940 w 557893"/>
                  <a:gd name="connsiteY68" fmla="*/ 337201 h 605070"/>
                  <a:gd name="connsiteX69" fmla="*/ 239811 w 557893"/>
                  <a:gd name="connsiteY69" fmla="*/ 401926 h 605070"/>
                  <a:gd name="connsiteX70" fmla="*/ 406730 w 557893"/>
                  <a:gd name="connsiteY70" fmla="*/ 85850 h 605070"/>
                  <a:gd name="connsiteX71" fmla="*/ 412614 w 557893"/>
                  <a:gd name="connsiteY71" fmla="*/ 85850 h 605070"/>
                  <a:gd name="connsiteX72" fmla="*/ 426185 w 557893"/>
                  <a:gd name="connsiteY72" fmla="*/ 99398 h 605070"/>
                  <a:gd name="connsiteX73" fmla="*/ 435770 w 557893"/>
                  <a:gd name="connsiteY73" fmla="*/ 110483 h 605070"/>
                  <a:gd name="connsiteX74" fmla="*/ 456838 w 557893"/>
                  <a:gd name="connsiteY74" fmla="*/ 116641 h 605070"/>
                  <a:gd name="connsiteX75" fmla="*/ 460728 w 557893"/>
                  <a:gd name="connsiteY75" fmla="*/ 124788 h 605070"/>
                  <a:gd name="connsiteX76" fmla="*/ 455509 w 557893"/>
                  <a:gd name="connsiteY76" fmla="*/ 142221 h 605070"/>
                  <a:gd name="connsiteX77" fmla="*/ 446778 w 557893"/>
                  <a:gd name="connsiteY77" fmla="*/ 145821 h 605070"/>
                  <a:gd name="connsiteX78" fmla="*/ 413563 w 557893"/>
                  <a:gd name="connsiteY78" fmla="*/ 139284 h 605070"/>
                  <a:gd name="connsiteX79" fmla="*/ 404642 w 557893"/>
                  <a:gd name="connsiteY79" fmla="*/ 141084 h 605070"/>
                  <a:gd name="connsiteX80" fmla="*/ 401511 w 557893"/>
                  <a:gd name="connsiteY80" fmla="*/ 163443 h 605070"/>
                  <a:gd name="connsiteX81" fmla="*/ 415936 w 557893"/>
                  <a:gd name="connsiteY81" fmla="*/ 171496 h 605070"/>
                  <a:gd name="connsiteX82" fmla="*/ 442223 w 557893"/>
                  <a:gd name="connsiteY82" fmla="*/ 183338 h 605070"/>
                  <a:gd name="connsiteX83" fmla="*/ 457407 w 557893"/>
                  <a:gd name="connsiteY83" fmla="*/ 255152 h 605070"/>
                  <a:gd name="connsiteX84" fmla="*/ 431214 w 557893"/>
                  <a:gd name="connsiteY84" fmla="*/ 271921 h 605070"/>
                  <a:gd name="connsiteX85" fmla="*/ 424951 w 557893"/>
                  <a:gd name="connsiteY85" fmla="*/ 280258 h 605070"/>
                  <a:gd name="connsiteX86" fmla="*/ 424951 w 557893"/>
                  <a:gd name="connsiteY86" fmla="*/ 294185 h 605070"/>
                  <a:gd name="connsiteX87" fmla="*/ 418688 w 557893"/>
                  <a:gd name="connsiteY87" fmla="*/ 300627 h 605070"/>
                  <a:gd name="connsiteX88" fmla="*/ 403693 w 557893"/>
                  <a:gd name="connsiteY88" fmla="*/ 300627 h 605070"/>
                  <a:gd name="connsiteX89" fmla="*/ 397240 w 557893"/>
                  <a:gd name="connsiteY89" fmla="*/ 293806 h 605070"/>
                  <a:gd name="connsiteX90" fmla="*/ 397050 w 557893"/>
                  <a:gd name="connsiteY90" fmla="*/ 283669 h 605070"/>
                  <a:gd name="connsiteX91" fmla="*/ 389648 w 557893"/>
                  <a:gd name="connsiteY91" fmla="*/ 274668 h 605070"/>
                  <a:gd name="connsiteX92" fmla="*/ 362886 w 557893"/>
                  <a:gd name="connsiteY92" fmla="*/ 267089 h 605070"/>
                  <a:gd name="connsiteX93" fmla="*/ 357192 w 557893"/>
                  <a:gd name="connsiteY93" fmla="*/ 255246 h 605070"/>
                  <a:gd name="connsiteX94" fmla="*/ 361653 w 557893"/>
                  <a:gd name="connsiteY94" fmla="*/ 239804 h 605070"/>
                  <a:gd name="connsiteX95" fmla="*/ 370668 w 557893"/>
                  <a:gd name="connsiteY95" fmla="*/ 236014 h 605070"/>
                  <a:gd name="connsiteX96" fmla="*/ 400277 w 557893"/>
                  <a:gd name="connsiteY96" fmla="*/ 244920 h 605070"/>
                  <a:gd name="connsiteX97" fmla="*/ 419732 w 557893"/>
                  <a:gd name="connsiteY97" fmla="*/ 242362 h 605070"/>
                  <a:gd name="connsiteX98" fmla="*/ 423243 w 557893"/>
                  <a:gd name="connsiteY98" fmla="*/ 215929 h 605070"/>
                  <a:gd name="connsiteX99" fmla="*/ 412234 w 557893"/>
                  <a:gd name="connsiteY99" fmla="*/ 209487 h 605070"/>
                  <a:gd name="connsiteX100" fmla="*/ 382056 w 557893"/>
                  <a:gd name="connsiteY100" fmla="*/ 196033 h 605070"/>
                  <a:gd name="connsiteX101" fmla="*/ 357857 w 557893"/>
                  <a:gd name="connsiteY101" fmla="*/ 155105 h 605070"/>
                  <a:gd name="connsiteX102" fmla="*/ 390882 w 557893"/>
                  <a:gd name="connsiteY102" fmla="*/ 113230 h 605070"/>
                  <a:gd name="connsiteX103" fmla="*/ 399138 w 557893"/>
                  <a:gd name="connsiteY103" fmla="*/ 102051 h 605070"/>
                  <a:gd name="connsiteX104" fmla="*/ 399138 w 557893"/>
                  <a:gd name="connsiteY104" fmla="*/ 93429 h 605070"/>
                  <a:gd name="connsiteX105" fmla="*/ 406730 w 557893"/>
                  <a:gd name="connsiteY105" fmla="*/ 85850 h 605070"/>
                  <a:gd name="connsiteX106" fmla="*/ 205945 w 557893"/>
                  <a:gd name="connsiteY106" fmla="*/ 50 h 605070"/>
                  <a:gd name="connsiteX107" fmla="*/ 302823 w 557893"/>
                  <a:gd name="connsiteY107" fmla="*/ 99179 h 605070"/>
                  <a:gd name="connsiteX108" fmla="*/ 206514 w 557893"/>
                  <a:gd name="connsiteY108" fmla="*/ 250620 h 605070"/>
                  <a:gd name="connsiteX109" fmla="*/ 205945 w 557893"/>
                  <a:gd name="connsiteY109" fmla="*/ 250620 h 605070"/>
                  <a:gd name="connsiteX110" fmla="*/ 205281 w 557893"/>
                  <a:gd name="connsiteY110" fmla="*/ 250620 h 605070"/>
                  <a:gd name="connsiteX111" fmla="*/ 108972 w 557893"/>
                  <a:gd name="connsiteY111" fmla="*/ 99179 h 605070"/>
                  <a:gd name="connsiteX112" fmla="*/ 205945 w 557893"/>
                  <a:gd name="connsiteY112" fmla="*/ 50 h 60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57893" h="605070">
                    <a:moveTo>
                      <a:pt x="546381" y="346236"/>
                    </a:moveTo>
                    <a:lnTo>
                      <a:pt x="547615" y="346236"/>
                    </a:lnTo>
                    <a:cubicBezTo>
                      <a:pt x="555112" y="346236"/>
                      <a:pt x="558243" y="349647"/>
                      <a:pt x="557863" y="357510"/>
                    </a:cubicBezTo>
                    <a:cubicBezTo>
                      <a:pt x="556725" y="382901"/>
                      <a:pt x="555491" y="408386"/>
                      <a:pt x="554352" y="433777"/>
                    </a:cubicBezTo>
                    <a:cubicBezTo>
                      <a:pt x="554068" y="438420"/>
                      <a:pt x="553024" y="442588"/>
                      <a:pt x="548374" y="445146"/>
                    </a:cubicBezTo>
                    <a:cubicBezTo>
                      <a:pt x="546856" y="445904"/>
                      <a:pt x="545622" y="446283"/>
                      <a:pt x="544484" y="446283"/>
                    </a:cubicBezTo>
                    <a:cubicBezTo>
                      <a:pt x="541257" y="446283"/>
                      <a:pt x="539170" y="443915"/>
                      <a:pt x="536987" y="441736"/>
                    </a:cubicBezTo>
                    <a:lnTo>
                      <a:pt x="513359" y="418334"/>
                    </a:lnTo>
                    <a:lnTo>
                      <a:pt x="504629" y="427051"/>
                    </a:lnTo>
                    <a:lnTo>
                      <a:pt x="432320" y="499244"/>
                    </a:lnTo>
                    <a:lnTo>
                      <a:pt x="425868" y="505686"/>
                    </a:lnTo>
                    <a:lnTo>
                      <a:pt x="410115" y="521413"/>
                    </a:lnTo>
                    <a:lnTo>
                      <a:pt x="335720" y="595691"/>
                    </a:lnTo>
                    <a:lnTo>
                      <a:pt x="331354" y="600049"/>
                    </a:lnTo>
                    <a:cubicBezTo>
                      <a:pt x="328128" y="603459"/>
                      <a:pt x="323668" y="605070"/>
                      <a:pt x="319208" y="605070"/>
                    </a:cubicBezTo>
                    <a:cubicBezTo>
                      <a:pt x="314843" y="605070"/>
                      <a:pt x="310478" y="603459"/>
                      <a:pt x="307062" y="600049"/>
                    </a:cubicBezTo>
                    <a:lnTo>
                      <a:pt x="302792" y="595691"/>
                    </a:lnTo>
                    <a:lnTo>
                      <a:pt x="286945" y="579963"/>
                    </a:lnTo>
                    <a:lnTo>
                      <a:pt x="212549" y="505686"/>
                    </a:lnTo>
                    <a:lnTo>
                      <a:pt x="208943" y="501991"/>
                    </a:lnTo>
                    <a:lnTo>
                      <a:pt x="130846" y="579963"/>
                    </a:lnTo>
                    <a:cubicBezTo>
                      <a:pt x="127525" y="583374"/>
                      <a:pt x="123160" y="584985"/>
                      <a:pt x="118700" y="584985"/>
                    </a:cubicBezTo>
                    <a:cubicBezTo>
                      <a:pt x="114240" y="584985"/>
                      <a:pt x="109970" y="583374"/>
                      <a:pt x="106554" y="579963"/>
                    </a:cubicBezTo>
                    <a:lnTo>
                      <a:pt x="102283" y="575605"/>
                    </a:lnTo>
                    <a:cubicBezTo>
                      <a:pt x="95546" y="568973"/>
                      <a:pt x="95546" y="557983"/>
                      <a:pt x="102283" y="551257"/>
                    </a:cubicBezTo>
                    <a:lnTo>
                      <a:pt x="192431" y="461158"/>
                    </a:lnTo>
                    <a:lnTo>
                      <a:pt x="196797" y="456894"/>
                    </a:lnTo>
                    <a:cubicBezTo>
                      <a:pt x="200023" y="453483"/>
                      <a:pt x="204483" y="451873"/>
                      <a:pt x="208943" y="451873"/>
                    </a:cubicBezTo>
                    <a:cubicBezTo>
                      <a:pt x="213308" y="451873"/>
                      <a:pt x="217673" y="453483"/>
                      <a:pt x="221089" y="456894"/>
                    </a:cubicBezTo>
                    <a:lnTo>
                      <a:pt x="225359" y="461158"/>
                    </a:lnTo>
                    <a:lnTo>
                      <a:pt x="241206" y="476979"/>
                    </a:lnTo>
                    <a:lnTo>
                      <a:pt x="315602" y="551257"/>
                    </a:lnTo>
                    <a:lnTo>
                      <a:pt x="319208" y="554952"/>
                    </a:lnTo>
                    <a:lnTo>
                      <a:pt x="381458" y="492801"/>
                    </a:lnTo>
                    <a:lnTo>
                      <a:pt x="397305" y="476979"/>
                    </a:lnTo>
                    <a:lnTo>
                      <a:pt x="403758" y="470537"/>
                    </a:lnTo>
                    <a:lnTo>
                      <a:pt x="476161" y="398439"/>
                    </a:lnTo>
                    <a:lnTo>
                      <a:pt x="484986" y="389533"/>
                    </a:lnTo>
                    <a:cubicBezTo>
                      <a:pt x="476730" y="381764"/>
                      <a:pt x="468759" y="373616"/>
                      <a:pt x="460788" y="365563"/>
                    </a:cubicBezTo>
                    <a:cubicBezTo>
                      <a:pt x="458036" y="362816"/>
                      <a:pt x="455474" y="359974"/>
                      <a:pt x="457752" y="355236"/>
                    </a:cubicBezTo>
                    <a:cubicBezTo>
                      <a:pt x="459934" y="350310"/>
                      <a:pt x="464015" y="350120"/>
                      <a:pt x="468000" y="349931"/>
                    </a:cubicBezTo>
                    <a:cubicBezTo>
                      <a:pt x="494095" y="348605"/>
                      <a:pt x="520286" y="347468"/>
                      <a:pt x="546381" y="346236"/>
                    </a:cubicBezTo>
                    <a:close/>
                    <a:moveTo>
                      <a:pt x="278625" y="278352"/>
                    </a:moveTo>
                    <a:cubicBezTo>
                      <a:pt x="278625" y="278352"/>
                      <a:pt x="327877" y="302233"/>
                      <a:pt x="371816" y="329810"/>
                    </a:cubicBezTo>
                    <a:cubicBezTo>
                      <a:pt x="404936" y="350469"/>
                      <a:pt x="411104" y="373023"/>
                      <a:pt x="412053" y="405338"/>
                    </a:cubicBezTo>
                    <a:cubicBezTo>
                      <a:pt x="412148" y="405433"/>
                      <a:pt x="412148" y="405622"/>
                      <a:pt x="412148" y="405717"/>
                    </a:cubicBezTo>
                    <a:lnTo>
                      <a:pt x="412148" y="408086"/>
                    </a:lnTo>
                    <a:cubicBezTo>
                      <a:pt x="412243" y="409602"/>
                      <a:pt x="412243" y="411308"/>
                      <a:pt x="412243" y="412919"/>
                    </a:cubicBezTo>
                    <a:lnTo>
                      <a:pt x="379123" y="445992"/>
                    </a:lnTo>
                    <a:lnTo>
                      <a:pt x="372670" y="452436"/>
                    </a:lnTo>
                    <a:lnTo>
                      <a:pt x="356822" y="468262"/>
                    </a:lnTo>
                    <a:lnTo>
                      <a:pt x="319147" y="505884"/>
                    </a:lnTo>
                    <a:lnTo>
                      <a:pt x="265623" y="452436"/>
                    </a:lnTo>
                    <a:lnTo>
                      <a:pt x="249775" y="436705"/>
                    </a:lnTo>
                    <a:lnTo>
                      <a:pt x="245505" y="432346"/>
                    </a:lnTo>
                    <a:cubicBezTo>
                      <a:pt x="235730" y="422680"/>
                      <a:pt x="222729" y="417184"/>
                      <a:pt x="208779" y="417184"/>
                    </a:cubicBezTo>
                    <a:cubicBezTo>
                      <a:pt x="194923" y="417184"/>
                      <a:pt x="181827" y="422680"/>
                      <a:pt x="172148" y="432346"/>
                    </a:cubicBezTo>
                    <a:lnTo>
                      <a:pt x="167782" y="436705"/>
                    </a:lnTo>
                    <a:lnTo>
                      <a:pt x="89490" y="514887"/>
                    </a:lnTo>
                    <a:lnTo>
                      <a:pt x="190" y="514792"/>
                    </a:lnTo>
                    <a:lnTo>
                      <a:pt x="0" y="405433"/>
                    </a:lnTo>
                    <a:cubicBezTo>
                      <a:pt x="949" y="373118"/>
                      <a:pt x="7117" y="350753"/>
                      <a:pt x="40237" y="329904"/>
                    </a:cubicBezTo>
                    <a:cubicBezTo>
                      <a:pt x="84271" y="302233"/>
                      <a:pt x="133429" y="278447"/>
                      <a:pt x="133429" y="278447"/>
                    </a:cubicBezTo>
                    <a:lnTo>
                      <a:pt x="172527" y="401926"/>
                    </a:lnTo>
                    <a:lnTo>
                      <a:pt x="195398" y="337201"/>
                    </a:lnTo>
                    <a:cubicBezTo>
                      <a:pt x="155255" y="281384"/>
                      <a:pt x="198340" y="278636"/>
                      <a:pt x="205932" y="278447"/>
                    </a:cubicBezTo>
                    <a:lnTo>
                      <a:pt x="206121" y="278447"/>
                    </a:lnTo>
                    <a:lnTo>
                      <a:pt x="206406" y="278447"/>
                    </a:lnTo>
                    <a:cubicBezTo>
                      <a:pt x="214093" y="278636"/>
                      <a:pt x="256988" y="281384"/>
                      <a:pt x="216940" y="337201"/>
                    </a:cubicBezTo>
                    <a:lnTo>
                      <a:pt x="239811" y="401926"/>
                    </a:lnTo>
                    <a:close/>
                    <a:moveTo>
                      <a:pt x="406730" y="85850"/>
                    </a:moveTo>
                    <a:lnTo>
                      <a:pt x="412614" y="85850"/>
                    </a:lnTo>
                    <a:cubicBezTo>
                      <a:pt x="426185" y="85850"/>
                      <a:pt x="426185" y="85850"/>
                      <a:pt x="426185" y="99398"/>
                    </a:cubicBezTo>
                    <a:cubicBezTo>
                      <a:pt x="426280" y="108967"/>
                      <a:pt x="426280" y="108967"/>
                      <a:pt x="435770" y="110483"/>
                    </a:cubicBezTo>
                    <a:cubicBezTo>
                      <a:pt x="443172" y="111619"/>
                      <a:pt x="450100" y="113799"/>
                      <a:pt x="456838" y="116641"/>
                    </a:cubicBezTo>
                    <a:cubicBezTo>
                      <a:pt x="460444" y="118346"/>
                      <a:pt x="461867" y="120809"/>
                      <a:pt x="460728" y="124788"/>
                    </a:cubicBezTo>
                    <a:cubicBezTo>
                      <a:pt x="458925" y="130568"/>
                      <a:pt x="457407" y="136347"/>
                      <a:pt x="455509" y="142221"/>
                    </a:cubicBezTo>
                    <a:cubicBezTo>
                      <a:pt x="453801" y="147621"/>
                      <a:pt x="451998" y="148379"/>
                      <a:pt x="446778" y="145821"/>
                    </a:cubicBezTo>
                    <a:cubicBezTo>
                      <a:pt x="436339" y="140800"/>
                      <a:pt x="425141" y="138621"/>
                      <a:pt x="413563" y="139284"/>
                    </a:cubicBezTo>
                    <a:cubicBezTo>
                      <a:pt x="410526" y="139379"/>
                      <a:pt x="407489" y="139757"/>
                      <a:pt x="404642" y="141084"/>
                    </a:cubicBezTo>
                    <a:cubicBezTo>
                      <a:pt x="394583" y="145442"/>
                      <a:pt x="392875" y="156621"/>
                      <a:pt x="401511" y="163443"/>
                    </a:cubicBezTo>
                    <a:cubicBezTo>
                      <a:pt x="405781" y="166853"/>
                      <a:pt x="410716" y="169317"/>
                      <a:pt x="415936" y="171496"/>
                    </a:cubicBezTo>
                    <a:cubicBezTo>
                      <a:pt x="424761" y="175191"/>
                      <a:pt x="433777" y="178696"/>
                      <a:pt x="442223" y="183338"/>
                    </a:cubicBezTo>
                    <a:cubicBezTo>
                      <a:pt x="469175" y="198307"/>
                      <a:pt x="476387" y="232130"/>
                      <a:pt x="457407" y="255152"/>
                    </a:cubicBezTo>
                    <a:cubicBezTo>
                      <a:pt x="450574" y="263489"/>
                      <a:pt x="441654" y="268984"/>
                      <a:pt x="431214" y="271921"/>
                    </a:cubicBezTo>
                    <a:cubicBezTo>
                      <a:pt x="426659" y="273152"/>
                      <a:pt x="424666" y="275616"/>
                      <a:pt x="424951" y="280258"/>
                    </a:cubicBezTo>
                    <a:cubicBezTo>
                      <a:pt x="425141" y="284900"/>
                      <a:pt x="424951" y="289448"/>
                      <a:pt x="424951" y="294185"/>
                    </a:cubicBezTo>
                    <a:cubicBezTo>
                      <a:pt x="424951" y="298353"/>
                      <a:pt x="422768" y="300438"/>
                      <a:pt x="418688" y="300627"/>
                    </a:cubicBezTo>
                    <a:cubicBezTo>
                      <a:pt x="413658" y="300722"/>
                      <a:pt x="408628" y="300722"/>
                      <a:pt x="403693" y="300627"/>
                    </a:cubicBezTo>
                    <a:cubicBezTo>
                      <a:pt x="399328" y="300438"/>
                      <a:pt x="397240" y="298069"/>
                      <a:pt x="397240" y="293806"/>
                    </a:cubicBezTo>
                    <a:cubicBezTo>
                      <a:pt x="397050" y="290490"/>
                      <a:pt x="397050" y="287079"/>
                      <a:pt x="397050" y="283669"/>
                    </a:cubicBezTo>
                    <a:cubicBezTo>
                      <a:pt x="397050" y="276184"/>
                      <a:pt x="396861" y="275805"/>
                      <a:pt x="389648" y="274668"/>
                    </a:cubicBezTo>
                    <a:cubicBezTo>
                      <a:pt x="380348" y="273342"/>
                      <a:pt x="371427" y="271163"/>
                      <a:pt x="362886" y="267089"/>
                    </a:cubicBezTo>
                    <a:cubicBezTo>
                      <a:pt x="356243" y="263963"/>
                      <a:pt x="355579" y="262163"/>
                      <a:pt x="357192" y="255246"/>
                    </a:cubicBezTo>
                    <a:cubicBezTo>
                      <a:pt x="358616" y="250036"/>
                      <a:pt x="360039" y="244920"/>
                      <a:pt x="361653" y="239804"/>
                    </a:cubicBezTo>
                    <a:cubicBezTo>
                      <a:pt x="363551" y="233930"/>
                      <a:pt x="365164" y="233172"/>
                      <a:pt x="370668" y="236014"/>
                    </a:cubicBezTo>
                    <a:cubicBezTo>
                      <a:pt x="379968" y="240846"/>
                      <a:pt x="389838" y="243593"/>
                      <a:pt x="400277" y="244920"/>
                    </a:cubicBezTo>
                    <a:cubicBezTo>
                      <a:pt x="406920" y="245772"/>
                      <a:pt x="413563" y="245014"/>
                      <a:pt x="419732" y="242362"/>
                    </a:cubicBezTo>
                    <a:cubicBezTo>
                      <a:pt x="431214" y="237435"/>
                      <a:pt x="433018" y="224077"/>
                      <a:pt x="423243" y="215929"/>
                    </a:cubicBezTo>
                    <a:cubicBezTo>
                      <a:pt x="420016" y="213276"/>
                      <a:pt x="416220" y="211287"/>
                      <a:pt x="412234" y="209487"/>
                    </a:cubicBezTo>
                    <a:cubicBezTo>
                      <a:pt x="402175" y="205129"/>
                      <a:pt x="391641" y="201718"/>
                      <a:pt x="382056" y="196033"/>
                    </a:cubicBezTo>
                    <a:cubicBezTo>
                      <a:pt x="366587" y="186654"/>
                      <a:pt x="356718" y="173864"/>
                      <a:pt x="357857" y="155105"/>
                    </a:cubicBezTo>
                    <a:cubicBezTo>
                      <a:pt x="359280" y="133694"/>
                      <a:pt x="371238" y="120336"/>
                      <a:pt x="390882" y="113230"/>
                    </a:cubicBezTo>
                    <a:cubicBezTo>
                      <a:pt x="398948" y="110388"/>
                      <a:pt x="399138" y="110483"/>
                      <a:pt x="399138" y="102051"/>
                    </a:cubicBezTo>
                    <a:cubicBezTo>
                      <a:pt x="399138" y="99114"/>
                      <a:pt x="398948" y="96366"/>
                      <a:pt x="399138" y="93429"/>
                    </a:cubicBezTo>
                    <a:cubicBezTo>
                      <a:pt x="399233" y="87082"/>
                      <a:pt x="400372" y="85945"/>
                      <a:pt x="406730" y="85850"/>
                    </a:cubicBezTo>
                    <a:close/>
                    <a:moveTo>
                      <a:pt x="205945" y="50"/>
                    </a:moveTo>
                    <a:cubicBezTo>
                      <a:pt x="214105" y="-329"/>
                      <a:pt x="298173" y="-1087"/>
                      <a:pt x="302823" y="99179"/>
                    </a:cubicBezTo>
                    <a:cubicBezTo>
                      <a:pt x="302823" y="99179"/>
                      <a:pt x="319238" y="249483"/>
                      <a:pt x="206514" y="250620"/>
                    </a:cubicBezTo>
                    <a:lnTo>
                      <a:pt x="205945" y="250620"/>
                    </a:lnTo>
                    <a:lnTo>
                      <a:pt x="205281" y="250620"/>
                    </a:lnTo>
                    <a:cubicBezTo>
                      <a:pt x="92652" y="249483"/>
                      <a:pt x="108972" y="99179"/>
                      <a:pt x="108972" y="99179"/>
                    </a:cubicBezTo>
                    <a:cubicBezTo>
                      <a:pt x="113527" y="-1087"/>
                      <a:pt x="197690" y="-329"/>
                      <a:pt x="205945" y="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76" name="Group 30"/>
          <p:cNvGrpSpPr/>
          <p:nvPr/>
        </p:nvGrpSpPr>
        <p:grpSpPr>
          <a:xfrm>
            <a:off x="1169195" y="1809817"/>
            <a:ext cx="655571" cy="655568"/>
            <a:chOff x="1947198" y="2853386"/>
            <a:chExt cx="753140" cy="753140"/>
          </a:xfrm>
        </p:grpSpPr>
        <p:sp>
          <p:nvSpPr>
            <p:cNvPr id="77" name="椭圆 76"/>
            <p:cNvSpPr/>
            <p:nvPr/>
          </p:nvSpPr>
          <p:spPr>
            <a:xfrm>
              <a:off x="1947198" y="2853386"/>
              <a:ext cx="753140" cy="753140"/>
            </a:xfrm>
            <a:prstGeom prst="ellipse">
              <a:avLst/>
            </a:prstGeom>
            <a:solidFill>
              <a:srgbClr val="24C6DB"/>
            </a:solidFill>
            <a:ln w="28575">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8" name="Oval 29"/>
            <p:cNvSpPr/>
            <p:nvPr/>
          </p:nvSpPr>
          <p:spPr>
            <a:xfrm>
              <a:off x="2184068" y="3102099"/>
              <a:ext cx="279400" cy="255713"/>
            </a:xfrm>
            <a:custGeom>
              <a:avLst/>
              <a:gdLst>
                <a:gd name="connsiteX0" fmla="*/ 531631 w 607639"/>
                <a:gd name="connsiteY0" fmla="*/ 404551 h 556126"/>
                <a:gd name="connsiteX1" fmla="*/ 556997 w 607639"/>
                <a:gd name="connsiteY1" fmla="*/ 429784 h 556126"/>
                <a:gd name="connsiteX2" fmla="*/ 556997 w 607639"/>
                <a:gd name="connsiteY2" fmla="*/ 455017 h 556126"/>
                <a:gd name="connsiteX3" fmla="*/ 582273 w 607639"/>
                <a:gd name="connsiteY3" fmla="*/ 455017 h 556126"/>
                <a:gd name="connsiteX4" fmla="*/ 607639 w 607639"/>
                <a:gd name="connsiteY4" fmla="*/ 480339 h 556126"/>
                <a:gd name="connsiteX5" fmla="*/ 582273 w 607639"/>
                <a:gd name="connsiteY5" fmla="*/ 505572 h 556126"/>
                <a:gd name="connsiteX6" fmla="*/ 556997 w 607639"/>
                <a:gd name="connsiteY6" fmla="*/ 505572 h 556126"/>
                <a:gd name="connsiteX7" fmla="*/ 556997 w 607639"/>
                <a:gd name="connsiteY7" fmla="*/ 530893 h 556126"/>
                <a:gd name="connsiteX8" fmla="*/ 531631 w 607639"/>
                <a:gd name="connsiteY8" fmla="*/ 556126 h 556126"/>
                <a:gd name="connsiteX9" fmla="*/ 506354 w 607639"/>
                <a:gd name="connsiteY9" fmla="*/ 530893 h 556126"/>
                <a:gd name="connsiteX10" fmla="*/ 506354 w 607639"/>
                <a:gd name="connsiteY10" fmla="*/ 505572 h 556126"/>
                <a:gd name="connsiteX11" fmla="*/ 480989 w 607639"/>
                <a:gd name="connsiteY11" fmla="*/ 505572 h 556126"/>
                <a:gd name="connsiteX12" fmla="*/ 455712 w 607639"/>
                <a:gd name="connsiteY12" fmla="*/ 480339 h 556126"/>
                <a:gd name="connsiteX13" fmla="*/ 480989 w 607639"/>
                <a:gd name="connsiteY13" fmla="*/ 455017 h 556126"/>
                <a:gd name="connsiteX14" fmla="*/ 506354 w 607639"/>
                <a:gd name="connsiteY14" fmla="*/ 455017 h 556126"/>
                <a:gd name="connsiteX15" fmla="*/ 506354 w 607639"/>
                <a:gd name="connsiteY15" fmla="*/ 429784 h 556126"/>
                <a:gd name="connsiteX16" fmla="*/ 531631 w 607639"/>
                <a:gd name="connsiteY16" fmla="*/ 404551 h 556126"/>
                <a:gd name="connsiteX17" fmla="*/ 126541 w 607639"/>
                <a:gd name="connsiteY17" fmla="*/ 353956 h 556126"/>
                <a:gd name="connsiteX18" fmla="*/ 430431 w 607639"/>
                <a:gd name="connsiteY18" fmla="*/ 353956 h 556126"/>
                <a:gd name="connsiteX19" fmla="*/ 455711 w 607639"/>
                <a:gd name="connsiteY19" fmla="*/ 379209 h 556126"/>
                <a:gd name="connsiteX20" fmla="*/ 430431 w 607639"/>
                <a:gd name="connsiteY20" fmla="*/ 404551 h 556126"/>
                <a:gd name="connsiteX21" fmla="*/ 126541 w 607639"/>
                <a:gd name="connsiteY21" fmla="*/ 404551 h 556126"/>
                <a:gd name="connsiteX22" fmla="*/ 101261 w 607639"/>
                <a:gd name="connsiteY22" fmla="*/ 379209 h 556126"/>
                <a:gd name="connsiteX23" fmla="*/ 126541 w 607639"/>
                <a:gd name="connsiteY23" fmla="*/ 353956 h 556126"/>
                <a:gd name="connsiteX24" fmla="*/ 177203 w 607639"/>
                <a:gd name="connsiteY24" fmla="*/ 252836 h 556126"/>
                <a:gd name="connsiteX25" fmla="*/ 379769 w 607639"/>
                <a:gd name="connsiteY25" fmla="*/ 252836 h 556126"/>
                <a:gd name="connsiteX26" fmla="*/ 405045 w 607639"/>
                <a:gd name="connsiteY26" fmla="*/ 278054 h 556126"/>
                <a:gd name="connsiteX27" fmla="*/ 379769 w 607639"/>
                <a:gd name="connsiteY27" fmla="*/ 303361 h 556126"/>
                <a:gd name="connsiteX28" fmla="*/ 177203 w 607639"/>
                <a:gd name="connsiteY28" fmla="*/ 303361 h 556126"/>
                <a:gd name="connsiteX29" fmla="*/ 151927 w 607639"/>
                <a:gd name="connsiteY29" fmla="*/ 278054 h 556126"/>
                <a:gd name="connsiteX30" fmla="*/ 177203 w 607639"/>
                <a:gd name="connsiteY30" fmla="*/ 252836 h 556126"/>
                <a:gd name="connsiteX31" fmla="*/ 430424 w 607639"/>
                <a:gd name="connsiteY31" fmla="*/ 101120 h 556126"/>
                <a:gd name="connsiteX32" fmla="*/ 455712 w 607639"/>
                <a:gd name="connsiteY32" fmla="*/ 126373 h 556126"/>
                <a:gd name="connsiteX33" fmla="*/ 455712 w 607639"/>
                <a:gd name="connsiteY33" fmla="*/ 126462 h 556126"/>
                <a:gd name="connsiteX34" fmla="*/ 430424 w 607639"/>
                <a:gd name="connsiteY34" fmla="*/ 151715 h 556126"/>
                <a:gd name="connsiteX35" fmla="*/ 405046 w 607639"/>
                <a:gd name="connsiteY35" fmla="*/ 126462 h 556126"/>
                <a:gd name="connsiteX36" fmla="*/ 430424 w 607639"/>
                <a:gd name="connsiteY36" fmla="*/ 101120 h 556126"/>
                <a:gd name="connsiteX37" fmla="*/ 329126 w 607639"/>
                <a:gd name="connsiteY37" fmla="*/ 101120 h 556126"/>
                <a:gd name="connsiteX38" fmla="*/ 354379 w 607639"/>
                <a:gd name="connsiteY38" fmla="*/ 126373 h 556126"/>
                <a:gd name="connsiteX39" fmla="*/ 354379 w 607639"/>
                <a:gd name="connsiteY39" fmla="*/ 126462 h 556126"/>
                <a:gd name="connsiteX40" fmla="*/ 329126 w 607639"/>
                <a:gd name="connsiteY40" fmla="*/ 151715 h 556126"/>
                <a:gd name="connsiteX41" fmla="*/ 303784 w 607639"/>
                <a:gd name="connsiteY41" fmla="*/ 126462 h 556126"/>
                <a:gd name="connsiteX42" fmla="*/ 329126 w 607639"/>
                <a:gd name="connsiteY42" fmla="*/ 101120 h 556126"/>
                <a:gd name="connsiteX43" fmla="*/ 227856 w 607639"/>
                <a:gd name="connsiteY43" fmla="*/ 101120 h 556126"/>
                <a:gd name="connsiteX44" fmla="*/ 253118 w 607639"/>
                <a:gd name="connsiteY44" fmla="*/ 126373 h 556126"/>
                <a:gd name="connsiteX45" fmla="*/ 253118 w 607639"/>
                <a:gd name="connsiteY45" fmla="*/ 126462 h 556126"/>
                <a:gd name="connsiteX46" fmla="*/ 227856 w 607639"/>
                <a:gd name="connsiteY46" fmla="*/ 151715 h 556126"/>
                <a:gd name="connsiteX47" fmla="*/ 202593 w 607639"/>
                <a:gd name="connsiteY47" fmla="*/ 126462 h 556126"/>
                <a:gd name="connsiteX48" fmla="*/ 227856 w 607639"/>
                <a:gd name="connsiteY48" fmla="*/ 101120 h 556126"/>
                <a:gd name="connsiteX49" fmla="*/ 25276 w 607639"/>
                <a:gd name="connsiteY49" fmla="*/ 0 h 556126"/>
                <a:gd name="connsiteX50" fmla="*/ 531608 w 607639"/>
                <a:gd name="connsiteY50" fmla="*/ 0 h 556126"/>
                <a:gd name="connsiteX51" fmla="*/ 556973 w 607639"/>
                <a:gd name="connsiteY51" fmla="*/ 25329 h 556126"/>
                <a:gd name="connsiteX52" fmla="*/ 556973 w 607639"/>
                <a:gd name="connsiteY52" fmla="*/ 328654 h 556126"/>
                <a:gd name="connsiteX53" fmla="*/ 531608 w 607639"/>
                <a:gd name="connsiteY53" fmla="*/ 353983 h 556126"/>
                <a:gd name="connsiteX54" fmla="*/ 506331 w 607639"/>
                <a:gd name="connsiteY54" fmla="*/ 328654 h 556126"/>
                <a:gd name="connsiteX55" fmla="*/ 506331 w 607639"/>
                <a:gd name="connsiteY55" fmla="*/ 50569 h 556126"/>
                <a:gd name="connsiteX56" fmla="*/ 50642 w 607639"/>
                <a:gd name="connsiteY56" fmla="*/ 50569 h 556126"/>
                <a:gd name="connsiteX57" fmla="*/ 50642 w 607639"/>
                <a:gd name="connsiteY57" fmla="*/ 455032 h 556126"/>
                <a:gd name="connsiteX58" fmla="*/ 379770 w 607639"/>
                <a:gd name="connsiteY58" fmla="*/ 455032 h 556126"/>
                <a:gd name="connsiteX59" fmla="*/ 405047 w 607639"/>
                <a:gd name="connsiteY59" fmla="*/ 480361 h 556126"/>
                <a:gd name="connsiteX60" fmla="*/ 379770 w 607639"/>
                <a:gd name="connsiteY60" fmla="*/ 505601 h 556126"/>
                <a:gd name="connsiteX61" fmla="*/ 25276 w 607639"/>
                <a:gd name="connsiteY61" fmla="*/ 505601 h 556126"/>
                <a:gd name="connsiteX62" fmla="*/ 0 w 607639"/>
                <a:gd name="connsiteY62" fmla="*/ 480361 h 556126"/>
                <a:gd name="connsiteX63" fmla="*/ 0 w 607639"/>
                <a:gd name="connsiteY63" fmla="*/ 25329 h 556126"/>
                <a:gd name="connsiteX64" fmla="*/ 25276 w 607639"/>
                <a:gd name="connsiteY64" fmla="*/ 0 h 55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7639" h="556126">
                  <a:moveTo>
                    <a:pt x="531631" y="404551"/>
                  </a:moveTo>
                  <a:cubicBezTo>
                    <a:pt x="545604" y="404551"/>
                    <a:pt x="556997" y="415835"/>
                    <a:pt x="556997" y="429784"/>
                  </a:cubicBezTo>
                  <a:lnTo>
                    <a:pt x="556997" y="455017"/>
                  </a:lnTo>
                  <a:lnTo>
                    <a:pt x="582273" y="455017"/>
                  </a:lnTo>
                  <a:cubicBezTo>
                    <a:pt x="596247" y="455017"/>
                    <a:pt x="607639" y="466390"/>
                    <a:pt x="607639" y="480339"/>
                  </a:cubicBezTo>
                  <a:cubicBezTo>
                    <a:pt x="607639" y="494288"/>
                    <a:pt x="596247" y="505572"/>
                    <a:pt x="582273" y="505572"/>
                  </a:cubicBezTo>
                  <a:lnTo>
                    <a:pt x="556997" y="505572"/>
                  </a:lnTo>
                  <a:lnTo>
                    <a:pt x="556997" y="530893"/>
                  </a:lnTo>
                  <a:cubicBezTo>
                    <a:pt x="556997" y="544843"/>
                    <a:pt x="545604" y="556126"/>
                    <a:pt x="531631" y="556126"/>
                  </a:cubicBezTo>
                  <a:cubicBezTo>
                    <a:pt x="517658" y="556126"/>
                    <a:pt x="506354" y="544843"/>
                    <a:pt x="506354" y="530893"/>
                  </a:cubicBezTo>
                  <a:lnTo>
                    <a:pt x="506354" y="505572"/>
                  </a:lnTo>
                  <a:lnTo>
                    <a:pt x="480989" y="505572"/>
                  </a:lnTo>
                  <a:cubicBezTo>
                    <a:pt x="467015" y="505572"/>
                    <a:pt x="455712" y="494288"/>
                    <a:pt x="455712" y="480339"/>
                  </a:cubicBezTo>
                  <a:cubicBezTo>
                    <a:pt x="455712" y="466390"/>
                    <a:pt x="467015" y="455017"/>
                    <a:pt x="480989" y="455017"/>
                  </a:cubicBezTo>
                  <a:lnTo>
                    <a:pt x="506354" y="455017"/>
                  </a:lnTo>
                  <a:lnTo>
                    <a:pt x="506354" y="429784"/>
                  </a:lnTo>
                  <a:cubicBezTo>
                    <a:pt x="506354" y="415835"/>
                    <a:pt x="517658" y="404551"/>
                    <a:pt x="531631" y="404551"/>
                  </a:cubicBezTo>
                  <a:close/>
                  <a:moveTo>
                    <a:pt x="126541" y="353956"/>
                  </a:moveTo>
                  <a:lnTo>
                    <a:pt x="430431" y="353956"/>
                  </a:lnTo>
                  <a:cubicBezTo>
                    <a:pt x="444406" y="353956"/>
                    <a:pt x="455711" y="365248"/>
                    <a:pt x="455711" y="379209"/>
                  </a:cubicBezTo>
                  <a:cubicBezTo>
                    <a:pt x="455711" y="393169"/>
                    <a:pt x="444406" y="404551"/>
                    <a:pt x="430431" y="404551"/>
                  </a:cubicBezTo>
                  <a:lnTo>
                    <a:pt x="126541" y="404551"/>
                  </a:lnTo>
                  <a:cubicBezTo>
                    <a:pt x="112566" y="404551"/>
                    <a:pt x="101261" y="393169"/>
                    <a:pt x="101261" y="379209"/>
                  </a:cubicBezTo>
                  <a:cubicBezTo>
                    <a:pt x="101261" y="365248"/>
                    <a:pt x="112566" y="353956"/>
                    <a:pt x="126541" y="353956"/>
                  </a:cubicBezTo>
                  <a:close/>
                  <a:moveTo>
                    <a:pt x="177203" y="252836"/>
                  </a:moveTo>
                  <a:lnTo>
                    <a:pt x="379769" y="252836"/>
                  </a:lnTo>
                  <a:cubicBezTo>
                    <a:pt x="393742" y="252836"/>
                    <a:pt x="405045" y="264113"/>
                    <a:pt x="405045" y="278054"/>
                  </a:cubicBezTo>
                  <a:cubicBezTo>
                    <a:pt x="405045" y="291995"/>
                    <a:pt x="393742" y="303361"/>
                    <a:pt x="379769" y="303361"/>
                  </a:cubicBezTo>
                  <a:lnTo>
                    <a:pt x="177203" y="303361"/>
                  </a:lnTo>
                  <a:cubicBezTo>
                    <a:pt x="163230" y="303361"/>
                    <a:pt x="151927" y="291995"/>
                    <a:pt x="151927" y="278054"/>
                  </a:cubicBezTo>
                  <a:cubicBezTo>
                    <a:pt x="151927" y="264113"/>
                    <a:pt x="163230" y="252836"/>
                    <a:pt x="177203" y="252836"/>
                  </a:cubicBezTo>
                  <a:close/>
                  <a:moveTo>
                    <a:pt x="430424" y="101120"/>
                  </a:moveTo>
                  <a:cubicBezTo>
                    <a:pt x="444403" y="101120"/>
                    <a:pt x="455712" y="112412"/>
                    <a:pt x="455712" y="126373"/>
                  </a:cubicBezTo>
                  <a:lnTo>
                    <a:pt x="455712" y="126462"/>
                  </a:lnTo>
                  <a:cubicBezTo>
                    <a:pt x="455712" y="140422"/>
                    <a:pt x="444403" y="151715"/>
                    <a:pt x="430424" y="151715"/>
                  </a:cubicBezTo>
                  <a:cubicBezTo>
                    <a:pt x="416355" y="151715"/>
                    <a:pt x="405046" y="140422"/>
                    <a:pt x="405046" y="126462"/>
                  </a:cubicBezTo>
                  <a:cubicBezTo>
                    <a:pt x="405046" y="112501"/>
                    <a:pt x="416355" y="101120"/>
                    <a:pt x="430424" y="101120"/>
                  </a:cubicBezTo>
                  <a:close/>
                  <a:moveTo>
                    <a:pt x="329126" y="101120"/>
                  </a:moveTo>
                  <a:cubicBezTo>
                    <a:pt x="343086" y="101120"/>
                    <a:pt x="354379" y="112412"/>
                    <a:pt x="354379" y="126373"/>
                  </a:cubicBezTo>
                  <a:lnTo>
                    <a:pt x="354379" y="126462"/>
                  </a:lnTo>
                  <a:cubicBezTo>
                    <a:pt x="354379" y="140422"/>
                    <a:pt x="343086" y="151715"/>
                    <a:pt x="329126" y="151715"/>
                  </a:cubicBezTo>
                  <a:cubicBezTo>
                    <a:pt x="315166" y="151715"/>
                    <a:pt x="303784" y="140422"/>
                    <a:pt x="303784" y="126462"/>
                  </a:cubicBezTo>
                  <a:cubicBezTo>
                    <a:pt x="303784" y="112501"/>
                    <a:pt x="315166" y="101120"/>
                    <a:pt x="329126" y="101120"/>
                  </a:cubicBezTo>
                  <a:close/>
                  <a:moveTo>
                    <a:pt x="227856" y="101120"/>
                  </a:moveTo>
                  <a:cubicBezTo>
                    <a:pt x="241821" y="101120"/>
                    <a:pt x="253118" y="112412"/>
                    <a:pt x="253118" y="126373"/>
                  </a:cubicBezTo>
                  <a:lnTo>
                    <a:pt x="253118" y="126462"/>
                  </a:lnTo>
                  <a:cubicBezTo>
                    <a:pt x="253118" y="140422"/>
                    <a:pt x="241821" y="151715"/>
                    <a:pt x="227856" y="151715"/>
                  </a:cubicBezTo>
                  <a:cubicBezTo>
                    <a:pt x="213890" y="151715"/>
                    <a:pt x="202593" y="140422"/>
                    <a:pt x="202593" y="126462"/>
                  </a:cubicBezTo>
                  <a:cubicBezTo>
                    <a:pt x="202593" y="112501"/>
                    <a:pt x="213890" y="101120"/>
                    <a:pt x="227856" y="101120"/>
                  </a:cubicBezTo>
                  <a:close/>
                  <a:moveTo>
                    <a:pt x="25276" y="0"/>
                  </a:moveTo>
                  <a:lnTo>
                    <a:pt x="531608" y="0"/>
                  </a:lnTo>
                  <a:cubicBezTo>
                    <a:pt x="545581" y="0"/>
                    <a:pt x="556973" y="11376"/>
                    <a:pt x="556973" y="25329"/>
                  </a:cubicBezTo>
                  <a:lnTo>
                    <a:pt x="556973" y="328654"/>
                  </a:lnTo>
                  <a:cubicBezTo>
                    <a:pt x="556973" y="342607"/>
                    <a:pt x="545581" y="353983"/>
                    <a:pt x="531608" y="353983"/>
                  </a:cubicBezTo>
                  <a:cubicBezTo>
                    <a:pt x="517634" y="353983"/>
                    <a:pt x="506331" y="342607"/>
                    <a:pt x="506331" y="328654"/>
                  </a:cubicBezTo>
                  <a:lnTo>
                    <a:pt x="506331" y="50569"/>
                  </a:lnTo>
                  <a:lnTo>
                    <a:pt x="50642" y="50569"/>
                  </a:lnTo>
                  <a:lnTo>
                    <a:pt x="50642" y="455032"/>
                  </a:lnTo>
                  <a:lnTo>
                    <a:pt x="379770" y="455032"/>
                  </a:lnTo>
                  <a:cubicBezTo>
                    <a:pt x="393744" y="455032"/>
                    <a:pt x="405047" y="466408"/>
                    <a:pt x="405047" y="480361"/>
                  </a:cubicBezTo>
                  <a:cubicBezTo>
                    <a:pt x="405047" y="494314"/>
                    <a:pt x="393744" y="505601"/>
                    <a:pt x="379770" y="505601"/>
                  </a:cubicBezTo>
                  <a:lnTo>
                    <a:pt x="25276" y="505601"/>
                  </a:lnTo>
                  <a:cubicBezTo>
                    <a:pt x="11303" y="505601"/>
                    <a:pt x="0" y="494314"/>
                    <a:pt x="0" y="480361"/>
                  </a:cubicBezTo>
                  <a:lnTo>
                    <a:pt x="0" y="25329"/>
                  </a:lnTo>
                  <a:cubicBezTo>
                    <a:pt x="0" y="11376"/>
                    <a:pt x="11303" y="0"/>
                    <a:pt x="252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79" name="组合 78"/>
          <p:cNvGrpSpPr/>
          <p:nvPr/>
        </p:nvGrpSpPr>
        <p:grpSpPr>
          <a:xfrm>
            <a:off x="2023601" y="1762192"/>
            <a:ext cx="4577666" cy="1110830"/>
            <a:chOff x="922668" y="2723985"/>
            <a:chExt cx="4577666" cy="1110830"/>
          </a:xfrm>
        </p:grpSpPr>
        <p:sp>
          <p:nvSpPr>
            <p:cNvPr id="80" name="文本框 79"/>
            <p:cNvSpPr txBox="1"/>
            <p:nvPr/>
          </p:nvSpPr>
          <p:spPr>
            <a:xfrm>
              <a:off x="922668" y="2723985"/>
              <a:ext cx="156966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国家公派</a:t>
              </a:r>
              <a:endParaRPr lang="zh-CN" altLang="en-US" sz="2400" i="1" spc="300" dirty="0">
                <a:latin typeface="黑体" panose="02010609060101010101" pitchFamily="49" charset="-122"/>
                <a:ea typeface="黑体" panose="02010609060101010101" pitchFamily="49" charset="-122"/>
              </a:endParaRPr>
            </a:p>
          </p:txBody>
        </p:sp>
        <p:sp>
          <p:nvSpPr>
            <p:cNvPr id="81" name="文本框 80"/>
            <p:cNvSpPr txBox="1"/>
            <p:nvPr/>
          </p:nvSpPr>
          <p:spPr>
            <a:xfrm>
              <a:off x="941717" y="3102307"/>
              <a:ext cx="4558617"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国家留学基金管理委员会</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组织实施，以日、韩、西、阿拉伯语等小语种专业出国交流为主</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82" name="Group 30"/>
          <p:cNvGrpSpPr/>
          <p:nvPr/>
        </p:nvGrpSpPr>
        <p:grpSpPr>
          <a:xfrm>
            <a:off x="1169195" y="3218207"/>
            <a:ext cx="655571" cy="655568"/>
            <a:chOff x="1947198" y="2853386"/>
            <a:chExt cx="753140" cy="753140"/>
          </a:xfrm>
        </p:grpSpPr>
        <p:sp>
          <p:nvSpPr>
            <p:cNvPr id="83" name="椭圆 82"/>
            <p:cNvSpPr/>
            <p:nvPr/>
          </p:nvSpPr>
          <p:spPr>
            <a:xfrm>
              <a:off x="1947198" y="2853386"/>
              <a:ext cx="753140" cy="753140"/>
            </a:xfrm>
            <a:prstGeom prst="ellipse">
              <a:avLst/>
            </a:prstGeom>
            <a:solidFill>
              <a:srgbClr val="3890C2"/>
            </a:solidFill>
            <a:ln w="28575">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4" name="Oval 29"/>
            <p:cNvSpPr/>
            <p:nvPr/>
          </p:nvSpPr>
          <p:spPr>
            <a:xfrm>
              <a:off x="2194960" y="3090255"/>
              <a:ext cx="257615" cy="279400"/>
            </a:xfrm>
            <a:custGeom>
              <a:avLst/>
              <a:gdLst>
                <a:gd name="connsiteX0" fmla="*/ 546381 w 557893"/>
                <a:gd name="connsiteY0" fmla="*/ 346236 h 605070"/>
                <a:gd name="connsiteX1" fmla="*/ 547615 w 557893"/>
                <a:gd name="connsiteY1" fmla="*/ 346236 h 605070"/>
                <a:gd name="connsiteX2" fmla="*/ 557863 w 557893"/>
                <a:gd name="connsiteY2" fmla="*/ 357510 h 605070"/>
                <a:gd name="connsiteX3" fmla="*/ 554352 w 557893"/>
                <a:gd name="connsiteY3" fmla="*/ 433777 h 605070"/>
                <a:gd name="connsiteX4" fmla="*/ 548374 w 557893"/>
                <a:gd name="connsiteY4" fmla="*/ 445146 h 605070"/>
                <a:gd name="connsiteX5" fmla="*/ 544484 w 557893"/>
                <a:gd name="connsiteY5" fmla="*/ 446283 h 605070"/>
                <a:gd name="connsiteX6" fmla="*/ 536987 w 557893"/>
                <a:gd name="connsiteY6" fmla="*/ 441736 h 605070"/>
                <a:gd name="connsiteX7" fmla="*/ 513359 w 557893"/>
                <a:gd name="connsiteY7" fmla="*/ 418334 h 605070"/>
                <a:gd name="connsiteX8" fmla="*/ 504629 w 557893"/>
                <a:gd name="connsiteY8" fmla="*/ 427051 h 605070"/>
                <a:gd name="connsiteX9" fmla="*/ 432320 w 557893"/>
                <a:gd name="connsiteY9" fmla="*/ 499244 h 605070"/>
                <a:gd name="connsiteX10" fmla="*/ 425868 w 557893"/>
                <a:gd name="connsiteY10" fmla="*/ 505686 h 605070"/>
                <a:gd name="connsiteX11" fmla="*/ 410115 w 557893"/>
                <a:gd name="connsiteY11" fmla="*/ 521413 h 605070"/>
                <a:gd name="connsiteX12" fmla="*/ 335720 w 557893"/>
                <a:gd name="connsiteY12" fmla="*/ 595691 h 605070"/>
                <a:gd name="connsiteX13" fmla="*/ 331354 w 557893"/>
                <a:gd name="connsiteY13" fmla="*/ 600049 h 605070"/>
                <a:gd name="connsiteX14" fmla="*/ 319208 w 557893"/>
                <a:gd name="connsiteY14" fmla="*/ 605070 h 605070"/>
                <a:gd name="connsiteX15" fmla="*/ 307062 w 557893"/>
                <a:gd name="connsiteY15" fmla="*/ 600049 h 605070"/>
                <a:gd name="connsiteX16" fmla="*/ 302792 w 557893"/>
                <a:gd name="connsiteY16" fmla="*/ 595691 h 605070"/>
                <a:gd name="connsiteX17" fmla="*/ 286945 w 557893"/>
                <a:gd name="connsiteY17" fmla="*/ 579963 h 605070"/>
                <a:gd name="connsiteX18" fmla="*/ 212549 w 557893"/>
                <a:gd name="connsiteY18" fmla="*/ 505686 h 605070"/>
                <a:gd name="connsiteX19" fmla="*/ 208943 w 557893"/>
                <a:gd name="connsiteY19" fmla="*/ 501991 h 605070"/>
                <a:gd name="connsiteX20" fmla="*/ 130846 w 557893"/>
                <a:gd name="connsiteY20" fmla="*/ 579963 h 605070"/>
                <a:gd name="connsiteX21" fmla="*/ 118700 w 557893"/>
                <a:gd name="connsiteY21" fmla="*/ 584985 h 605070"/>
                <a:gd name="connsiteX22" fmla="*/ 106554 w 557893"/>
                <a:gd name="connsiteY22" fmla="*/ 579963 h 605070"/>
                <a:gd name="connsiteX23" fmla="*/ 102283 w 557893"/>
                <a:gd name="connsiteY23" fmla="*/ 575605 h 605070"/>
                <a:gd name="connsiteX24" fmla="*/ 102283 w 557893"/>
                <a:gd name="connsiteY24" fmla="*/ 551257 h 605070"/>
                <a:gd name="connsiteX25" fmla="*/ 192431 w 557893"/>
                <a:gd name="connsiteY25" fmla="*/ 461158 h 605070"/>
                <a:gd name="connsiteX26" fmla="*/ 196797 w 557893"/>
                <a:gd name="connsiteY26" fmla="*/ 456894 h 605070"/>
                <a:gd name="connsiteX27" fmla="*/ 208943 w 557893"/>
                <a:gd name="connsiteY27" fmla="*/ 451873 h 605070"/>
                <a:gd name="connsiteX28" fmla="*/ 221089 w 557893"/>
                <a:gd name="connsiteY28" fmla="*/ 456894 h 605070"/>
                <a:gd name="connsiteX29" fmla="*/ 225359 w 557893"/>
                <a:gd name="connsiteY29" fmla="*/ 461158 h 605070"/>
                <a:gd name="connsiteX30" fmla="*/ 241206 w 557893"/>
                <a:gd name="connsiteY30" fmla="*/ 476979 h 605070"/>
                <a:gd name="connsiteX31" fmla="*/ 315602 w 557893"/>
                <a:gd name="connsiteY31" fmla="*/ 551257 h 605070"/>
                <a:gd name="connsiteX32" fmla="*/ 319208 w 557893"/>
                <a:gd name="connsiteY32" fmla="*/ 554952 h 605070"/>
                <a:gd name="connsiteX33" fmla="*/ 381458 w 557893"/>
                <a:gd name="connsiteY33" fmla="*/ 492801 h 605070"/>
                <a:gd name="connsiteX34" fmla="*/ 397305 w 557893"/>
                <a:gd name="connsiteY34" fmla="*/ 476979 h 605070"/>
                <a:gd name="connsiteX35" fmla="*/ 403758 w 557893"/>
                <a:gd name="connsiteY35" fmla="*/ 470537 h 605070"/>
                <a:gd name="connsiteX36" fmla="*/ 476161 w 557893"/>
                <a:gd name="connsiteY36" fmla="*/ 398439 h 605070"/>
                <a:gd name="connsiteX37" fmla="*/ 484986 w 557893"/>
                <a:gd name="connsiteY37" fmla="*/ 389533 h 605070"/>
                <a:gd name="connsiteX38" fmla="*/ 460788 w 557893"/>
                <a:gd name="connsiteY38" fmla="*/ 365563 h 605070"/>
                <a:gd name="connsiteX39" fmla="*/ 457752 w 557893"/>
                <a:gd name="connsiteY39" fmla="*/ 355236 h 605070"/>
                <a:gd name="connsiteX40" fmla="*/ 468000 w 557893"/>
                <a:gd name="connsiteY40" fmla="*/ 349931 h 605070"/>
                <a:gd name="connsiteX41" fmla="*/ 546381 w 557893"/>
                <a:gd name="connsiteY41" fmla="*/ 346236 h 605070"/>
                <a:gd name="connsiteX42" fmla="*/ 278625 w 557893"/>
                <a:gd name="connsiteY42" fmla="*/ 278352 h 605070"/>
                <a:gd name="connsiteX43" fmla="*/ 371816 w 557893"/>
                <a:gd name="connsiteY43" fmla="*/ 329810 h 605070"/>
                <a:gd name="connsiteX44" fmla="*/ 412053 w 557893"/>
                <a:gd name="connsiteY44" fmla="*/ 405338 h 605070"/>
                <a:gd name="connsiteX45" fmla="*/ 412148 w 557893"/>
                <a:gd name="connsiteY45" fmla="*/ 405717 h 605070"/>
                <a:gd name="connsiteX46" fmla="*/ 412148 w 557893"/>
                <a:gd name="connsiteY46" fmla="*/ 408086 h 605070"/>
                <a:gd name="connsiteX47" fmla="*/ 412243 w 557893"/>
                <a:gd name="connsiteY47" fmla="*/ 412919 h 605070"/>
                <a:gd name="connsiteX48" fmla="*/ 379123 w 557893"/>
                <a:gd name="connsiteY48" fmla="*/ 445992 h 605070"/>
                <a:gd name="connsiteX49" fmla="*/ 372670 w 557893"/>
                <a:gd name="connsiteY49" fmla="*/ 452436 h 605070"/>
                <a:gd name="connsiteX50" fmla="*/ 356822 w 557893"/>
                <a:gd name="connsiteY50" fmla="*/ 468262 h 605070"/>
                <a:gd name="connsiteX51" fmla="*/ 319147 w 557893"/>
                <a:gd name="connsiteY51" fmla="*/ 505884 h 605070"/>
                <a:gd name="connsiteX52" fmla="*/ 265623 w 557893"/>
                <a:gd name="connsiteY52" fmla="*/ 452436 h 605070"/>
                <a:gd name="connsiteX53" fmla="*/ 249775 w 557893"/>
                <a:gd name="connsiteY53" fmla="*/ 436705 h 605070"/>
                <a:gd name="connsiteX54" fmla="*/ 245505 w 557893"/>
                <a:gd name="connsiteY54" fmla="*/ 432346 h 605070"/>
                <a:gd name="connsiteX55" fmla="*/ 208779 w 557893"/>
                <a:gd name="connsiteY55" fmla="*/ 417184 h 605070"/>
                <a:gd name="connsiteX56" fmla="*/ 172148 w 557893"/>
                <a:gd name="connsiteY56" fmla="*/ 432346 h 605070"/>
                <a:gd name="connsiteX57" fmla="*/ 167782 w 557893"/>
                <a:gd name="connsiteY57" fmla="*/ 436705 h 605070"/>
                <a:gd name="connsiteX58" fmla="*/ 89490 w 557893"/>
                <a:gd name="connsiteY58" fmla="*/ 514887 h 605070"/>
                <a:gd name="connsiteX59" fmla="*/ 190 w 557893"/>
                <a:gd name="connsiteY59" fmla="*/ 514792 h 605070"/>
                <a:gd name="connsiteX60" fmla="*/ 0 w 557893"/>
                <a:gd name="connsiteY60" fmla="*/ 405433 h 605070"/>
                <a:gd name="connsiteX61" fmla="*/ 40237 w 557893"/>
                <a:gd name="connsiteY61" fmla="*/ 329904 h 605070"/>
                <a:gd name="connsiteX62" fmla="*/ 133429 w 557893"/>
                <a:gd name="connsiteY62" fmla="*/ 278447 h 605070"/>
                <a:gd name="connsiteX63" fmla="*/ 172527 w 557893"/>
                <a:gd name="connsiteY63" fmla="*/ 401926 h 605070"/>
                <a:gd name="connsiteX64" fmla="*/ 195398 w 557893"/>
                <a:gd name="connsiteY64" fmla="*/ 337201 h 605070"/>
                <a:gd name="connsiteX65" fmla="*/ 205932 w 557893"/>
                <a:gd name="connsiteY65" fmla="*/ 278447 h 605070"/>
                <a:gd name="connsiteX66" fmla="*/ 206121 w 557893"/>
                <a:gd name="connsiteY66" fmla="*/ 278447 h 605070"/>
                <a:gd name="connsiteX67" fmla="*/ 206406 w 557893"/>
                <a:gd name="connsiteY67" fmla="*/ 278447 h 605070"/>
                <a:gd name="connsiteX68" fmla="*/ 216940 w 557893"/>
                <a:gd name="connsiteY68" fmla="*/ 337201 h 605070"/>
                <a:gd name="connsiteX69" fmla="*/ 239811 w 557893"/>
                <a:gd name="connsiteY69" fmla="*/ 401926 h 605070"/>
                <a:gd name="connsiteX70" fmla="*/ 406730 w 557893"/>
                <a:gd name="connsiteY70" fmla="*/ 85850 h 605070"/>
                <a:gd name="connsiteX71" fmla="*/ 412614 w 557893"/>
                <a:gd name="connsiteY71" fmla="*/ 85850 h 605070"/>
                <a:gd name="connsiteX72" fmla="*/ 426185 w 557893"/>
                <a:gd name="connsiteY72" fmla="*/ 99398 h 605070"/>
                <a:gd name="connsiteX73" fmla="*/ 435770 w 557893"/>
                <a:gd name="connsiteY73" fmla="*/ 110483 h 605070"/>
                <a:gd name="connsiteX74" fmla="*/ 456838 w 557893"/>
                <a:gd name="connsiteY74" fmla="*/ 116641 h 605070"/>
                <a:gd name="connsiteX75" fmla="*/ 460728 w 557893"/>
                <a:gd name="connsiteY75" fmla="*/ 124788 h 605070"/>
                <a:gd name="connsiteX76" fmla="*/ 455509 w 557893"/>
                <a:gd name="connsiteY76" fmla="*/ 142221 h 605070"/>
                <a:gd name="connsiteX77" fmla="*/ 446778 w 557893"/>
                <a:gd name="connsiteY77" fmla="*/ 145821 h 605070"/>
                <a:gd name="connsiteX78" fmla="*/ 413563 w 557893"/>
                <a:gd name="connsiteY78" fmla="*/ 139284 h 605070"/>
                <a:gd name="connsiteX79" fmla="*/ 404642 w 557893"/>
                <a:gd name="connsiteY79" fmla="*/ 141084 h 605070"/>
                <a:gd name="connsiteX80" fmla="*/ 401511 w 557893"/>
                <a:gd name="connsiteY80" fmla="*/ 163443 h 605070"/>
                <a:gd name="connsiteX81" fmla="*/ 415936 w 557893"/>
                <a:gd name="connsiteY81" fmla="*/ 171496 h 605070"/>
                <a:gd name="connsiteX82" fmla="*/ 442223 w 557893"/>
                <a:gd name="connsiteY82" fmla="*/ 183338 h 605070"/>
                <a:gd name="connsiteX83" fmla="*/ 457407 w 557893"/>
                <a:gd name="connsiteY83" fmla="*/ 255152 h 605070"/>
                <a:gd name="connsiteX84" fmla="*/ 431214 w 557893"/>
                <a:gd name="connsiteY84" fmla="*/ 271921 h 605070"/>
                <a:gd name="connsiteX85" fmla="*/ 424951 w 557893"/>
                <a:gd name="connsiteY85" fmla="*/ 280258 h 605070"/>
                <a:gd name="connsiteX86" fmla="*/ 424951 w 557893"/>
                <a:gd name="connsiteY86" fmla="*/ 294185 h 605070"/>
                <a:gd name="connsiteX87" fmla="*/ 418688 w 557893"/>
                <a:gd name="connsiteY87" fmla="*/ 300627 h 605070"/>
                <a:gd name="connsiteX88" fmla="*/ 403693 w 557893"/>
                <a:gd name="connsiteY88" fmla="*/ 300627 h 605070"/>
                <a:gd name="connsiteX89" fmla="*/ 397240 w 557893"/>
                <a:gd name="connsiteY89" fmla="*/ 293806 h 605070"/>
                <a:gd name="connsiteX90" fmla="*/ 397050 w 557893"/>
                <a:gd name="connsiteY90" fmla="*/ 283669 h 605070"/>
                <a:gd name="connsiteX91" fmla="*/ 389648 w 557893"/>
                <a:gd name="connsiteY91" fmla="*/ 274668 h 605070"/>
                <a:gd name="connsiteX92" fmla="*/ 362886 w 557893"/>
                <a:gd name="connsiteY92" fmla="*/ 267089 h 605070"/>
                <a:gd name="connsiteX93" fmla="*/ 357192 w 557893"/>
                <a:gd name="connsiteY93" fmla="*/ 255246 h 605070"/>
                <a:gd name="connsiteX94" fmla="*/ 361653 w 557893"/>
                <a:gd name="connsiteY94" fmla="*/ 239804 h 605070"/>
                <a:gd name="connsiteX95" fmla="*/ 370668 w 557893"/>
                <a:gd name="connsiteY95" fmla="*/ 236014 h 605070"/>
                <a:gd name="connsiteX96" fmla="*/ 400277 w 557893"/>
                <a:gd name="connsiteY96" fmla="*/ 244920 h 605070"/>
                <a:gd name="connsiteX97" fmla="*/ 419732 w 557893"/>
                <a:gd name="connsiteY97" fmla="*/ 242362 h 605070"/>
                <a:gd name="connsiteX98" fmla="*/ 423243 w 557893"/>
                <a:gd name="connsiteY98" fmla="*/ 215929 h 605070"/>
                <a:gd name="connsiteX99" fmla="*/ 412234 w 557893"/>
                <a:gd name="connsiteY99" fmla="*/ 209487 h 605070"/>
                <a:gd name="connsiteX100" fmla="*/ 382056 w 557893"/>
                <a:gd name="connsiteY100" fmla="*/ 196033 h 605070"/>
                <a:gd name="connsiteX101" fmla="*/ 357857 w 557893"/>
                <a:gd name="connsiteY101" fmla="*/ 155105 h 605070"/>
                <a:gd name="connsiteX102" fmla="*/ 390882 w 557893"/>
                <a:gd name="connsiteY102" fmla="*/ 113230 h 605070"/>
                <a:gd name="connsiteX103" fmla="*/ 399138 w 557893"/>
                <a:gd name="connsiteY103" fmla="*/ 102051 h 605070"/>
                <a:gd name="connsiteX104" fmla="*/ 399138 w 557893"/>
                <a:gd name="connsiteY104" fmla="*/ 93429 h 605070"/>
                <a:gd name="connsiteX105" fmla="*/ 406730 w 557893"/>
                <a:gd name="connsiteY105" fmla="*/ 85850 h 605070"/>
                <a:gd name="connsiteX106" fmla="*/ 205945 w 557893"/>
                <a:gd name="connsiteY106" fmla="*/ 50 h 605070"/>
                <a:gd name="connsiteX107" fmla="*/ 302823 w 557893"/>
                <a:gd name="connsiteY107" fmla="*/ 99179 h 605070"/>
                <a:gd name="connsiteX108" fmla="*/ 206514 w 557893"/>
                <a:gd name="connsiteY108" fmla="*/ 250620 h 605070"/>
                <a:gd name="connsiteX109" fmla="*/ 205945 w 557893"/>
                <a:gd name="connsiteY109" fmla="*/ 250620 h 605070"/>
                <a:gd name="connsiteX110" fmla="*/ 205281 w 557893"/>
                <a:gd name="connsiteY110" fmla="*/ 250620 h 605070"/>
                <a:gd name="connsiteX111" fmla="*/ 108972 w 557893"/>
                <a:gd name="connsiteY111" fmla="*/ 99179 h 605070"/>
                <a:gd name="connsiteX112" fmla="*/ 205945 w 557893"/>
                <a:gd name="connsiteY112" fmla="*/ 50 h 60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57893" h="605070">
                  <a:moveTo>
                    <a:pt x="546381" y="346236"/>
                  </a:moveTo>
                  <a:lnTo>
                    <a:pt x="547615" y="346236"/>
                  </a:lnTo>
                  <a:cubicBezTo>
                    <a:pt x="555112" y="346236"/>
                    <a:pt x="558243" y="349647"/>
                    <a:pt x="557863" y="357510"/>
                  </a:cubicBezTo>
                  <a:cubicBezTo>
                    <a:pt x="556725" y="382901"/>
                    <a:pt x="555491" y="408386"/>
                    <a:pt x="554352" y="433777"/>
                  </a:cubicBezTo>
                  <a:cubicBezTo>
                    <a:pt x="554068" y="438420"/>
                    <a:pt x="553024" y="442588"/>
                    <a:pt x="548374" y="445146"/>
                  </a:cubicBezTo>
                  <a:cubicBezTo>
                    <a:pt x="546856" y="445904"/>
                    <a:pt x="545622" y="446283"/>
                    <a:pt x="544484" y="446283"/>
                  </a:cubicBezTo>
                  <a:cubicBezTo>
                    <a:pt x="541257" y="446283"/>
                    <a:pt x="539170" y="443915"/>
                    <a:pt x="536987" y="441736"/>
                  </a:cubicBezTo>
                  <a:lnTo>
                    <a:pt x="513359" y="418334"/>
                  </a:lnTo>
                  <a:lnTo>
                    <a:pt x="504629" y="427051"/>
                  </a:lnTo>
                  <a:lnTo>
                    <a:pt x="432320" y="499244"/>
                  </a:lnTo>
                  <a:lnTo>
                    <a:pt x="425868" y="505686"/>
                  </a:lnTo>
                  <a:lnTo>
                    <a:pt x="410115" y="521413"/>
                  </a:lnTo>
                  <a:lnTo>
                    <a:pt x="335720" y="595691"/>
                  </a:lnTo>
                  <a:lnTo>
                    <a:pt x="331354" y="600049"/>
                  </a:lnTo>
                  <a:cubicBezTo>
                    <a:pt x="328128" y="603459"/>
                    <a:pt x="323668" y="605070"/>
                    <a:pt x="319208" y="605070"/>
                  </a:cubicBezTo>
                  <a:cubicBezTo>
                    <a:pt x="314843" y="605070"/>
                    <a:pt x="310478" y="603459"/>
                    <a:pt x="307062" y="600049"/>
                  </a:cubicBezTo>
                  <a:lnTo>
                    <a:pt x="302792" y="595691"/>
                  </a:lnTo>
                  <a:lnTo>
                    <a:pt x="286945" y="579963"/>
                  </a:lnTo>
                  <a:lnTo>
                    <a:pt x="212549" y="505686"/>
                  </a:lnTo>
                  <a:lnTo>
                    <a:pt x="208943" y="501991"/>
                  </a:lnTo>
                  <a:lnTo>
                    <a:pt x="130846" y="579963"/>
                  </a:lnTo>
                  <a:cubicBezTo>
                    <a:pt x="127525" y="583374"/>
                    <a:pt x="123160" y="584985"/>
                    <a:pt x="118700" y="584985"/>
                  </a:cubicBezTo>
                  <a:cubicBezTo>
                    <a:pt x="114240" y="584985"/>
                    <a:pt x="109970" y="583374"/>
                    <a:pt x="106554" y="579963"/>
                  </a:cubicBezTo>
                  <a:lnTo>
                    <a:pt x="102283" y="575605"/>
                  </a:lnTo>
                  <a:cubicBezTo>
                    <a:pt x="95546" y="568973"/>
                    <a:pt x="95546" y="557983"/>
                    <a:pt x="102283" y="551257"/>
                  </a:cubicBezTo>
                  <a:lnTo>
                    <a:pt x="192431" y="461158"/>
                  </a:lnTo>
                  <a:lnTo>
                    <a:pt x="196797" y="456894"/>
                  </a:lnTo>
                  <a:cubicBezTo>
                    <a:pt x="200023" y="453483"/>
                    <a:pt x="204483" y="451873"/>
                    <a:pt x="208943" y="451873"/>
                  </a:cubicBezTo>
                  <a:cubicBezTo>
                    <a:pt x="213308" y="451873"/>
                    <a:pt x="217673" y="453483"/>
                    <a:pt x="221089" y="456894"/>
                  </a:cubicBezTo>
                  <a:lnTo>
                    <a:pt x="225359" y="461158"/>
                  </a:lnTo>
                  <a:lnTo>
                    <a:pt x="241206" y="476979"/>
                  </a:lnTo>
                  <a:lnTo>
                    <a:pt x="315602" y="551257"/>
                  </a:lnTo>
                  <a:lnTo>
                    <a:pt x="319208" y="554952"/>
                  </a:lnTo>
                  <a:lnTo>
                    <a:pt x="381458" y="492801"/>
                  </a:lnTo>
                  <a:lnTo>
                    <a:pt x="397305" y="476979"/>
                  </a:lnTo>
                  <a:lnTo>
                    <a:pt x="403758" y="470537"/>
                  </a:lnTo>
                  <a:lnTo>
                    <a:pt x="476161" y="398439"/>
                  </a:lnTo>
                  <a:lnTo>
                    <a:pt x="484986" y="389533"/>
                  </a:lnTo>
                  <a:cubicBezTo>
                    <a:pt x="476730" y="381764"/>
                    <a:pt x="468759" y="373616"/>
                    <a:pt x="460788" y="365563"/>
                  </a:cubicBezTo>
                  <a:cubicBezTo>
                    <a:pt x="458036" y="362816"/>
                    <a:pt x="455474" y="359974"/>
                    <a:pt x="457752" y="355236"/>
                  </a:cubicBezTo>
                  <a:cubicBezTo>
                    <a:pt x="459934" y="350310"/>
                    <a:pt x="464015" y="350120"/>
                    <a:pt x="468000" y="349931"/>
                  </a:cubicBezTo>
                  <a:cubicBezTo>
                    <a:pt x="494095" y="348605"/>
                    <a:pt x="520286" y="347468"/>
                    <a:pt x="546381" y="346236"/>
                  </a:cubicBezTo>
                  <a:close/>
                  <a:moveTo>
                    <a:pt x="278625" y="278352"/>
                  </a:moveTo>
                  <a:cubicBezTo>
                    <a:pt x="278625" y="278352"/>
                    <a:pt x="327877" y="302233"/>
                    <a:pt x="371816" y="329810"/>
                  </a:cubicBezTo>
                  <a:cubicBezTo>
                    <a:pt x="404936" y="350469"/>
                    <a:pt x="411104" y="373023"/>
                    <a:pt x="412053" y="405338"/>
                  </a:cubicBezTo>
                  <a:cubicBezTo>
                    <a:pt x="412148" y="405433"/>
                    <a:pt x="412148" y="405622"/>
                    <a:pt x="412148" y="405717"/>
                  </a:cubicBezTo>
                  <a:lnTo>
                    <a:pt x="412148" y="408086"/>
                  </a:lnTo>
                  <a:cubicBezTo>
                    <a:pt x="412243" y="409602"/>
                    <a:pt x="412243" y="411308"/>
                    <a:pt x="412243" y="412919"/>
                  </a:cubicBezTo>
                  <a:lnTo>
                    <a:pt x="379123" y="445992"/>
                  </a:lnTo>
                  <a:lnTo>
                    <a:pt x="372670" y="452436"/>
                  </a:lnTo>
                  <a:lnTo>
                    <a:pt x="356822" y="468262"/>
                  </a:lnTo>
                  <a:lnTo>
                    <a:pt x="319147" y="505884"/>
                  </a:lnTo>
                  <a:lnTo>
                    <a:pt x="265623" y="452436"/>
                  </a:lnTo>
                  <a:lnTo>
                    <a:pt x="249775" y="436705"/>
                  </a:lnTo>
                  <a:lnTo>
                    <a:pt x="245505" y="432346"/>
                  </a:lnTo>
                  <a:cubicBezTo>
                    <a:pt x="235730" y="422680"/>
                    <a:pt x="222729" y="417184"/>
                    <a:pt x="208779" y="417184"/>
                  </a:cubicBezTo>
                  <a:cubicBezTo>
                    <a:pt x="194923" y="417184"/>
                    <a:pt x="181827" y="422680"/>
                    <a:pt x="172148" y="432346"/>
                  </a:cubicBezTo>
                  <a:lnTo>
                    <a:pt x="167782" y="436705"/>
                  </a:lnTo>
                  <a:lnTo>
                    <a:pt x="89490" y="514887"/>
                  </a:lnTo>
                  <a:lnTo>
                    <a:pt x="190" y="514792"/>
                  </a:lnTo>
                  <a:lnTo>
                    <a:pt x="0" y="405433"/>
                  </a:lnTo>
                  <a:cubicBezTo>
                    <a:pt x="949" y="373118"/>
                    <a:pt x="7117" y="350753"/>
                    <a:pt x="40237" y="329904"/>
                  </a:cubicBezTo>
                  <a:cubicBezTo>
                    <a:pt x="84271" y="302233"/>
                    <a:pt x="133429" y="278447"/>
                    <a:pt x="133429" y="278447"/>
                  </a:cubicBezTo>
                  <a:lnTo>
                    <a:pt x="172527" y="401926"/>
                  </a:lnTo>
                  <a:lnTo>
                    <a:pt x="195398" y="337201"/>
                  </a:lnTo>
                  <a:cubicBezTo>
                    <a:pt x="155255" y="281384"/>
                    <a:pt x="198340" y="278636"/>
                    <a:pt x="205932" y="278447"/>
                  </a:cubicBezTo>
                  <a:lnTo>
                    <a:pt x="206121" y="278447"/>
                  </a:lnTo>
                  <a:lnTo>
                    <a:pt x="206406" y="278447"/>
                  </a:lnTo>
                  <a:cubicBezTo>
                    <a:pt x="214093" y="278636"/>
                    <a:pt x="256988" y="281384"/>
                    <a:pt x="216940" y="337201"/>
                  </a:cubicBezTo>
                  <a:lnTo>
                    <a:pt x="239811" y="401926"/>
                  </a:lnTo>
                  <a:close/>
                  <a:moveTo>
                    <a:pt x="406730" y="85850"/>
                  </a:moveTo>
                  <a:lnTo>
                    <a:pt x="412614" y="85850"/>
                  </a:lnTo>
                  <a:cubicBezTo>
                    <a:pt x="426185" y="85850"/>
                    <a:pt x="426185" y="85850"/>
                    <a:pt x="426185" y="99398"/>
                  </a:cubicBezTo>
                  <a:cubicBezTo>
                    <a:pt x="426280" y="108967"/>
                    <a:pt x="426280" y="108967"/>
                    <a:pt x="435770" y="110483"/>
                  </a:cubicBezTo>
                  <a:cubicBezTo>
                    <a:pt x="443172" y="111619"/>
                    <a:pt x="450100" y="113799"/>
                    <a:pt x="456838" y="116641"/>
                  </a:cubicBezTo>
                  <a:cubicBezTo>
                    <a:pt x="460444" y="118346"/>
                    <a:pt x="461867" y="120809"/>
                    <a:pt x="460728" y="124788"/>
                  </a:cubicBezTo>
                  <a:cubicBezTo>
                    <a:pt x="458925" y="130568"/>
                    <a:pt x="457407" y="136347"/>
                    <a:pt x="455509" y="142221"/>
                  </a:cubicBezTo>
                  <a:cubicBezTo>
                    <a:pt x="453801" y="147621"/>
                    <a:pt x="451998" y="148379"/>
                    <a:pt x="446778" y="145821"/>
                  </a:cubicBezTo>
                  <a:cubicBezTo>
                    <a:pt x="436339" y="140800"/>
                    <a:pt x="425141" y="138621"/>
                    <a:pt x="413563" y="139284"/>
                  </a:cubicBezTo>
                  <a:cubicBezTo>
                    <a:pt x="410526" y="139379"/>
                    <a:pt x="407489" y="139757"/>
                    <a:pt x="404642" y="141084"/>
                  </a:cubicBezTo>
                  <a:cubicBezTo>
                    <a:pt x="394583" y="145442"/>
                    <a:pt x="392875" y="156621"/>
                    <a:pt x="401511" y="163443"/>
                  </a:cubicBezTo>
                  <a:cubicBezTo>
                    <a:pt x="405781" y="166853"/>
                    <a:pt x="410716" y="169317"/>
                    <a:pt x="415936" y="171496"/>
                  </a:cubicBezTo>
                  <a:cubicBezTo>
                    <a:pt x="424761" y="175191"/>
                    <a:pt x="433777" y="178696"/>
                    <a:pt x="442223" y="183338"/>
                  </a:cubicBezTo>
                  <a:cubicBezTo>
                    <a:pt x="469175" y="198307"/>
                    <a:pt x="476387" y="232130"/>
                    <a:pt x="457407" y="255152"/>
                  </a:cubicBezTo>
                  <a:cubicBezTo>
                    <a:pt x="450574" y="263489"/>
                    <a:pt x="441654" y="268984"/>
                    <a:pt x="431214" y="271921"/>
                  </a:cubicBezTo>
                  <a:cubicBezTo>
                    <a:pt x="426659" y="273152"/>
                    <a:pt x="424666" y="275616"/>
                    <a:pt x="424951" y="280258"/>
                  </a:cubicBezTo>
                  <a:cubicBezTo>
                    <a:pt x="425141" y="284900"/>
                    <a:pt x="424951" y="289448"/>
                    <a:pt x="424951" y="294185"/>
                  </a:cubicBezTo>
                  <a:cubicBezTo>
                    <a:pt x="424951" y="298353"/>
                    <a:pt x="422768" y="300438"/>
                    <a:pt x="418688" y="300627"/>
                  </a:cubicBezTo>
                  <a:cubicBezTo>
                    <a:pt x="413658" y="300722"/>
                    <a:pt x="408628" y="300722"/>
                    <a:pt x="403693" y="300627"/>
                  </a:cubicBezTo>
                  <a:cubicBezTo>
                    <a:pt x="399328" y="300438"/>
                    <a:pt x="397240" y="298069"/>
                    <a:pt x="397240" y="293806"/>
                  </a:cubicBezTo>
                  <a:cubicBezTo>
                    <a:pt x="397050" y="290490"/>
                    <a:pt x="397050" y="287079"/>
                    <a:pt x="397050" y="283669"/>
                  </a:cubicBezTo>
                  <a:cubicBezTo>
                    <a:pt x="397050" y="276184"/>
                    <a:pt x="396861" y="275805"/>
                    <a:pt x="389648" y="274668"/>
                  </a:cubicBezTo>
                  <a:cubicBezTo>
                    <a:pt x="380348" y="273342"/>
                    <a:pt x="371427" y="271163"/>
                    <a:pt x="362886" y="267089"/>
                  </a:cubicBezTo>
                  <a:cubicBezTo>
                    <a:pt x="356243" y="263963"/>
                    <a:pt x="355579" y="262163"/>
                    <a:pt x="357192" y="255246"/>
                  </a:cubicBezTo>
                  <a:cubicBezTo>
                    <a:pt x="358616" y="250036"/>
                    <a:pt x="360039" y="244920"/>
                    <a:pt x="361653" y="239804"/>
                  </a:cubicBezTo>
                  <a:cubicBezTo>
                    <a:pt x="363551" y="233930"/>
                    <a:pt x="365164" y="233172"/>
                    <a:pt x="370668" y="236014"/>
                  </a:cubicBezTo>
                  <a:cubicBezTo>
                    <a:pt x="379968" y="240846"/>
                    <a:pt x="389838" y="243593"/>
                    <a:pt x="400277" y="244920"/>
                  </a:cubicBezTo>
                  <a:cubicBezTo>
                    <a:pt x="406920" y="245772"/>
                    <a:pt x="413563" y="245014"/>
                    <a:pt x="419732" y="242362"/>
                  </a:cubicBezTo>
                  <a:cubicBezTo>
                    <a:pt x="431214" y="237435"/>
                    <a:pt x="433018" y="224077"/>
                    <a:pt x="423243" y="215929"/>
                  </a:cubicBezTo>
                  <a:cubicBezTo>
                    <a:pt x="420016" y="213276"/>
                    <a:pt x="416220" y="211287"/>
                    <a:pt x="412234" y="209487"/>
                  </a:cubicBezTo>
                  <a:cubicBezTo>
                    <a:pt x="402175" y="205129"/>
                    <a:pt x="391641" y="201718"/>
                    <a:pt x="382056" y="196033"/>
                  </a:cubicBezTo>
                  <a:cubicBezTo>
                    <a:pt x="366587" y="186654"/>
                    <a:pt x="356718" y="173864"/>
                    <a:pt x="357857" y="155105"/>
                  </a:cubicBezTo>
                  <a:cubicBezTo>
                    <a:pt x="359280" y="133694"/>
                    <a:pt x="371238" y="120336"/>
                    <a:pt x="390882" y="113230"/>
                  </a:cubicBezTo>
                  <a:cubicBezTo>
                    <a:pt x="398948" y="110388"/>
                    <a:pt x="399138" y="110483"/>
                    <a:pt x="399138" y="102051"/>
                  </a:cubicBezTo>
                  <a:cubicBezTo>
                    <a:pt x="399138" y="99114"/>
                    <a:pt x="398948" y="96366"/>
                    <a:pt x="399138" y="93429"/>
                  </a:cubicBezTo>
                  <a:cubicBezTo>
                    <a:pt x="399233" y="87082"/>
                    <a:pt x="400372" y="85945"/>
                    <a:pt x="406730" y="85850"/>
                  </a:cubicBezTo>
                  <a:close/>
                  <a:moveTo>
                    <a:pt x="205945" y="50"/>
                  </a:moveTo>
                  <a:cubicBezTo>
                    <a:pt x="214105" y="-329"/>
                    <a:pt x="298173" y="-1087"/>
                    <a:pt x="302823" y="99179"/>
                  </a:cubicBezTo>
                  <a:cubicBezTo>
                    <a:pt x="302823" y="99179"/>
                    <a:pt x="319238" y="249483"/>
                    <a:pt x="206514" y="250620"/>
                  </a:cubicBezTo>
                  <a:lnTo>
                    <a:pt x="205945" y="250620"/>
                  </a:lnTo>
                  <a:lnTo>
                    <a:pt x="205281" y="250620"/>
                  </a:lnTo>
                  <a:cubicBezTo>
                    <a:pt x="92652" y="249483"/>
                    <a:pt x="108972" y="99179"/>
                    <a:pt x="108972" y="99179"/>
                  </a:cubicBezTo>
                  <a:cubicBezTo>
                    <a:pt x="113527" y="-1087"/>
                    <a:pt x="197690" y="-329"/>
                    <a:pt x="205945" y="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85" name="组合 84"/>
          <p:cNvGrpSpPr/>
          <p:nvPr/>
        </p:nvGrpSpPr>
        <p:grpSpPr>
          <a:xfrm>
            <a:off x="2023601" y="3170582"/>
            <a:ext cx="4577666" cy="1430918"/>
            <a:chOff x="922668" y="2723985"/>
            <a:chExt cx="4577666" cy="1430918"/>
          </a:xfrm>
        </p:grpSpPr>
        <p:sp>
          <p:nvSpPr>
            <p:cNvPr id="86" name="文本框 85"/>
            <p:cNvSpPr txBox="1"/>
            <p:nvPr/>
          </p:nvSpPr>
          <p:spPr>
            <a:xfrm>
              <a:off x="922668" y="2723985"/>
              <a:ext cx="156966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校际互换</a:t>
              </a:r>
              <a:endParaRPr lang="zh-CN" altLang="en-US" sz="2400" i="1" spc="300" dirty="0">
                <a:latin typeface="黑体" panose="02010609060101010101" pitchFamily="49" charset="-122"/>
                <a:ea typeface="黑体" panose="02010609060101010101" pitchFamily="49" charset="-122"/>
              </a:endParaRPr>
            </a:p>
          </p:txBody>
        </p:sp>
        <p:sp>
          <p:nvSpPr>
            <p:cNvPr id="87" name="文本框 86"/>
            <p:cNvSpPr txBox="1"/>
            <p:nvPr/>
          </p:nvSpPr>
          <p:spPr>
            <a:xfrm>
              <a:off x="941717" y="3102307"/>
              <a:ext cx="4558617"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美国、加拿大、澳大利亚、英国、法国、比利时、芬兰、瑞典、西班牙、墨西哥、韩国、日本等多个国家和香港、台湾等地区建立了</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校际交换项目</a:t>
              </a:r>
              <a:endPar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88" name="Group 30"/>
          <p:cNvGrpSpPr/>
          <p:nvPr/>
        </p:nvGrpSpPr>
        <p:grpSpPr>
          <a:xfrm>
            <a:off x="1169195" y="4978253"/>
            <a:ext cx="655571" cy="655568"/>
            <a:chOff x="1947198" y="2853386"/>
            <a:chExt cx="753140" cy="753140"/>
          </a:xfrm>
        </p:grpSpPr>
        <p:sp>
          <p:nvSpPr>
            <p:cNvPr id="89" name="椭圆 88"/>
            <p:cNvSpPr/>
            <p:nvPr/>
          </p:nvSpPr>
          <p:spPr>
            <a:xfrm>
              <a:off x="1947198" y="2853386"/>
              <a:ext cx="753140" cy="753140"/>
            </a:xfrm>
            <a:prstGeom prst="ellipse">
              <a:avLst/>
            </a:prstGeom>
            <a:solidFill>
              <a:srgbClr val="0070C0"/>
            </a:solidFill>
            <a:ln w="28575">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0" name="Oval 29"/>
            <p:cNvSpPr/>
            <p:nvPr/>
          </p:nvSpPr>
          <p:spPr>
            <a:xfrm>
              <a:off x="2184068" y="3090467"/>
              <a:ext cx="279400" cy="278975"/>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88862 h 440259"/>
                <a:gd name="T27" fmla="*/ 88862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57" h="2757">
                  <a:moveTo>
                    <a:pt x="1063" y="2589"/>
                  </a:moveTo>
                  <a:lnTo>
                    <a:pt x="0" y="2757"/>
                  </a:lnTo>
                  <a:lnTo>
                    <a:pt x="168" y="1694"/>
                  </a:lnTo>
                  <a:lnTo>
                    <a:pt x="1226" y="883"/>
                  </a:lnTo>
                  <a:lnTo>
                    <a:pt x="1503" y="1160"/>
                  </a:lnTo>
                  <a:lnTo>
                    <a:pt x="984" y="1679"/>
                  </a:lnTo>
                  <a:cubicBezTo>
                    <a:pt x="914" y="1646"/>
                    <a:pt x="827" y="1659"/>
                    <a:pt x="769" y="1717"/>
                  </a:cubicBezTo>
                  <a:cubicBezTo>
                    <a:pt x="694" y="1792"/>
                    <a:pt x="694" y="1913"/>
                    <a:pt x="769" y="1988"/>
                  </a:cubicBezTo>
                  <a:cubicBezTo>
                    <a:pt x="844" y="2063"/>
                    <a:pt x="965" y="2063"/>
                    <a:pt x="1040" y="1988"/>
                  </a:cubicBezTo>
                  <a:cubicBezTo>
                    <a:pt x="1098" y="1930"/>
                    <a:pt x="1111" y="1844"/>
                    <a:pt x="1079" y="1773"/>
                  </a:cubicBezTo>
                  <a:lnTo>
                    <a:pt x="1597" y="1254"/>
                  </a:lnTo>
                  <a:lnTo>
                    <a:pt x="1875" y="1531"/>
                  </a:lnTo>
                  <a:lnTo>
                    <a:pt x="1063" y="2589"/>
                  </a:lnTo>
                  <a:close/>
                  <a:moveTo>
                    <a:pt x="1763" y="291"/>
                  </a:moveTo>
                  <a:lnTo>
                    <a:pt x="1695" y="223"/>
                  </a:lnTo>
                  <a:lnTo>
                    <a:pt x="1266" y="652"/>
                  </a:lnTo>
                  <a:lnTo>
                    <a:pt x="2105" y="1491"/>
                  </a:lnTo>
                  <a:lnTo>
                    <a:pt x="2534" y="1062"/>
                  </a:lnTo>
                  <a:lnTo>
                    <a:pt x="2466" y="994"/>
                  </a:lnTo>
                  <a:lnTo>
                    <a:pt x="2757" y="755"/>
                  </a:lnTo>
                  <a:lnTo>
                    <a:pt x="2002" y="0"/>
                  </a:lnTo>
                  <a:lnTo>
                    <a:pt x="1763" y="29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91" name="组合 90"/>
          <p:cNvGrpSpPr/>
          <p:nvPr/>
        </p:nvGrpSpPr>
        <p:grpSpPr>
          <a:xfrm>
            <a:off x="2023601" y="4930628"/>
            <a:ext cx="4577666" cy="1110830"/>
            <a:chOff x="922668" y="2723985"/>
            <a:chExt cx="4577666" cy="1110830"/>
          </a:xfrm>
        </p:grpSpPr>
        <p:sp>
          <p:nvSpPr>
            <p:cNvPr id="92" name="文本框 91"/>
            <p:cNvSpPr txBox="1"/>
            <p:nvPr/>
          </p:nvSpPr>
          <p:spPr>
            <a:xfrm>
              <a:off x="922668" y="2723985"/>
              <a:ext cx="156966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联合培养</a:t>
              </a:r>
              <a:endParaRPr lang="zh-CN" altLang="en-US" sz="2400" i="1" spc="300" dirty="0">
                <a:latin typeface="黑体" panose="02010609060101010101" pitchFamily="49" charset="-122"/>
                <a:ea typeface="黑体" panose="02010609060101010101" pitchFamily="49" charset="-122"/>
              </a:endParaRPr>
            </a:p>
          </p:txBody>
        </p:sp>
        <p:sp>
          <p:nvSpPr>
            <p:cNvPr id="93" name="文本框 92"/>
            <p:cNvSpPr txBox="1"/>
            <p:nvPr/>
          </p:nvSpPr>
          <p:spPr>
            <a:xfrm>
              <a:off x="941717" y="3102307"/>
              <a:ext cx="4558617"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赴日本、韩国、英国、德国等知名高校的</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本科生“</a:t>
              </a:r>
              <a:r>
                <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2+2”</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项目</a:t>
              </a:r>
              <a:endPar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additive="base">
                                        <p:cTn id="7" dur="500" fill="hold"/>
                                        <p:tgtEl>
                                          <p:spTgt spid="76"/>
                                        </p:tgtEl>
                                        <p:attrNameLst>
                                          <p:attrName>ppt_x</p:attrName>
                                        </p:attrNameLst>
                                      </p:cBhvr>
                                      <p:tavLst>
                                        <p:tav tm="0">
                                          <p:val>
                                            <p:strVal val="#ppt_x"/>
                                          </p:val>
                                        </p:tav>
                                        <p:tav tm="100000">
                                          <p:val>
                                            <p:strVal val="#ppt_x"/>
                                          </p:val>
                                        </p:tav>
                                      </p:tavLst>
                                    </p:anim>
                                    <p:anim calcmode="lin" valueType="num">
                                      <p:cBhvr additive="base">
                                        <p:cTn id="8" dur="500" fill="hold"/>
                                        <p:tgtEl>
                                          <p:spTgt spid="7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2"/>
                                        </p:tgtEl>
                                        <p:attrNameLst>
                                          <p:attrName>style.visibility</p:attrName>
                                        </p:attrNameLst>
                                      </p:cBhvr>
                                      <p:to>
                                        <p:strVal val="visible"/>
                                      </p:to>
                                    </p:set>
                                    <p:anim calcmode="lin" valueType="num">
                                      <p:cBhvr additive="base">
                                        <p:cTn id="11" dur="500" fill="hold"/>
                                        <p:tgtEl>
                                          <p:spTgt spid="82"/>
                                        </p:tgtEl>
                                        <p:attrNameLst>
                                          <p:attrName>ppt_x</p:attrName>
                                        </p:attrNameLst>
                                      </p:cBhvr>
                                      <p:tavLst>
                                        <p:tav tm="0">
                                          <p:val>
                                            <p:strVal val="#ppt_x"/>
                                          </p:val>
                                        </p:tav>
                                        <p:tav tm="100000">
                                          <p:val>
                                            <p:strVal val="#ppt_x"/>
                                          </p:val>
                                        </p:tav>
                                      </p:tavLst>
                                    </p:anim>
                                    <p:anim calcmode="lin" valueType="num">
                                      <p:cBhvr additive="base">
                                        <p:cTn id="12" dur="500" fill="hold"/>
                                        <p:tgtEl>
                                          <p:spTgt spid="8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8"/>
                                        </p:tgtEl>
                                        <p:attrNameLst>
                                          <p:attrName>style.visibility</p:attrName>
                                        </p:attrNameLst>
                                      </p:cBhvr>
                                      <p:to>
                                        <p:strVal val="visible"/>
                                      </p:to>
                                    </p:set>
                                    <p:anim calcmode="lin" valueType="num">
                                      <p:cBhvr additive="base">
                                        <p:cTn id="15" dur="500" fill="hold"/>
                                        <p:tgtEl>
                                          <p:spTgt spid="88"/>
                                        </p:tgtEl>
                                        <p:attrNameLst>
                                          <p:attrName>ppt_x</p:attrName>
                                        </p:attrNameLst>
                                      </p:cBhvr>
                                      <p:tavLst>
                                        <p:tav tm="0">
                                          <p:val>
                                            <p:strVal val="#ppt_x"/>
                                          </p:val>
                                        </p:tav>
                                        <p:tav tm="100000">
                                          <p:val>
                                            <p:strVal val="#ppt_x"/>
                                          </p:val>
                                        </p:tav>
                                      </p:tavLst>
                                    </p:anim>
                                    <p:anim calcmode="lin" valueType="num">
                                      <p:cBhvr additive="base">
                                        <p:cTn id="16" dur="500" fill="hold"/>
                                        <p:tgtEl>
                                          <p:spTgt spid="88"/>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9"/>
                                        </p:tgtEl>
                                        <p:attrNameLst>
                                          <p:attrName>style.visibility</p:attrName>
                                        </p:attrNameLst>
                                      </p:cBhvr>
                                      <p:to>
                                        <p:strVal val="visible"/>
                                      </p:to>
                                    </p:set>
                                    <p:animEffect transition="in" filter="wipe(left)">
                                      <p:cBhvr>
                                        <p:cTn id="20" dur="500"/>
                                        <p:tgtEl>
                                          <p:spTgt spid="79"/>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85"/>
                                        </p:tgtEl>
                                        <p:attrNameLst>
                                          <p:attrName>style.visibility</p:attrName>
                                        </p:attrNameLst>
                                      </p:cBhvr>
                                      <p:to>
                                        <p:strVal val="visible"/>
                                      </p:to>
                                    </p:set>
                                    <p:animEffect transition="in" filter="wipe(left)">
                                      <p:cBhvr>
                                        <p:cTn id="24" dur="500"/>
                                        <p:tgtEl>
                                          <p:spTgt spid="85"/>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wipe(left)">
                                      <p:cBhvr>
                                        <p:cTn id="28"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任意多边形: 形状 4"/>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任意多边形: 形状 5"/>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25587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3942082" y="1811313"/>
            <a:ext cx="4104638" cy="4104636"/>
            <a:chOff x="4087321" y="1548337"/>
            <a:chExt cx="4017359" cy="4017358"/>
          </a:xfrm>
          <a:effectLst>
            <a:outerShdw blurRad="444500" dist="38100" dir="8100000" algn="tr" rotWithShape="0">
              <a:prstClr val="black">
                <a:alpha val="30000"/>
              </a:prstClr>
            </a:outerShdw>
          </a:effectLst>
          <a:scene3d>
            <a:camera prst="perspectiveRelaxed" fov="3600000">
              <a:rot lat="19800000" lon="1200000" rev="19800000"/>
            </a:camera>
            <a:lightRig rig="threePt" dir="t"/>
          </a:scene3d>
        </p:grpSpPr>
        <p:grpSp>
          <p:nvGrpSpPr>
            <p:cNvPr id="57" name="îSľîḓè"/>
            <p:cNvGrpSpPr/>
            <p:nvPr/>
          </p:nvGrpSpPr>
          <p:grpSpPr>
            <a:xfrm rot="2700000">
              <a:off x="5363422" y="1548337"/>
              <a:ext cx="1465158" cy="1465158"/>
              <a:chOff x="1905000" y="2108996"/>
              <a:chExt cx="1716088" cy="1716088"/>
            </a:xfrm>
          </p:grpSpPr>
          <p:sp>
            <p:nvSpPr>
              <p:cNvPr id="75" name="îśliḑé"/>
              <p:cNvSpPr/>
              <p:nvPr/>
            </p:nvSpPr>
            <p:spPr>
              <a:xfrm rot="5400000">
                <a:off x="1905000" y="2108996"/>
                <a:ext cx="1716088" cy="1716088"/>
              </a:xfrm>
              <a:prstGeom prst="teardrop">
                <a:avLst/>
              </a:prstGeom>
              <a:solidFill>
                <a:schemeClr val="bg1">
                  <a:lumMod val="95000"/>
                </a:schemeClr>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sp>
            <p:nvSpPr>
              <p:cNvPr id="76" name="ïṡļîḋé"/>
              <p:cNvSpPr/>
              <p:nvPr/>
            </p:nvSpPr>
            <p:spPr>
              <a:xfrm rot="5400000">
                <a:off x="2078038" y="2282033"/>
                <a:ext cx="1543050" cy="1543050"/>
              </a:xfrm>
              <a:prstGeom prst="teardrop">
                <a:avLst/>
              </a:prstGeom>
              <a:solidFill>
                <a:srgbClr val="24C6DB"/>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grpSp>
        <p:sp>
          <p:nvSpPr>
            <p:cNvPr id="58" name="ïSļiḓe"/>
            <p:cNvSpPr/>
            <p:nvPr/>
          </p:nvSpPr>
          <p:spPr>
            <a:xfrm>
              <a:off x="5625044" y="1914423"/>
              <a:ext cx="941915" cy="941914"/>
            </a:xfrm>
            <a:prstGeom prst="ellipse">
              <a:avLst/>
            </a:prstGeom>
            <a:solidFill>
              <a:schemeClr val="bg1"/>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grpSp>
          <p:nvGrpSpPr>
            <p:cNvPr id="59" name="íṩliḋe"/>
            <p:cNvGrpSpPr/>
            <p:nvPr/>
          </p:nvGrpSpPr>
          <p:grpSpPr>
            <a:xfrm rot="2700000" flipH="1">
              <a:off x="6639522" y="2824436"/>
              <a:ext cx="1465159" cy="1465157"/>
              <a:chOff x="1905000" y="2108996"/>
              <a:chExt cx="1716088" cy="1716088"/>
            </a:xfrm>
          </p:grpSpPr>
          <p:sp>
            <p:nvSpPr>
              <p:cNvPr id="73" name="î$ľïḑe"/>
              <p:cNvSpPr/>
              <p:nvPr/>
            </p:nvSpPr>
            <p:spPr>
              <a:xfrm rot="5400000">
                <a:off x="1905000" y="2108996"/>
                <a:ext cx="1716088" cy="1716088"/>
              </a:xfrm>
              <a:prstGeom prst="teardrop">
                <a:avLst/>
              </a:prstGeom>
              <a:solidFill>
                <a:schemeClr val="bg1">
                  <a:lumMod val="95000"/>
                </a:schemeClr>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sp>
            <p:nvSpPr>
              <p:cNvPr id="74" name="îşļíḑê"/>
              <p:cNvSpPr/>
              <p:nvPr/>
            </p:nvSpPr>
            <p:spPr>
              <a:xfrm rot="5400000">
                <a:off x="2078038" y="2282033"/>
                <a:ext cx="1543050" cy="1543050"/>
              </a:xfrm>
              <a:prstGeom prst="teardrop">
                <a:avLst/>
              </a:prstGeom>
              <a:solidFill>
                <a:srgbClr val="242424"/>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grpSp>
        <p:sp>
          <p:nvSpPr>
            <p:cNvPr id="60" name="îṩlîdé"/>
            <p:cNvSpPr/>
            <p:nvPr/>
          </p:nvSpPr>
          <p:spPr>
            <a:xfrm>
              <a:off x="6796680" y="3086057"/>
              <a:ext cx="941915" cy="941914"/>
            </a:xfrm>
            <a:prstGeom prst="ellipse">
              <a:avLst/>
            </a:prstGeom>
            <a:solidFill>
              <a:schemeClr val="bg1"/>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grpSp>
          <p:nvGrpSpPr>
            <p:cNvPr id="61" name="iṡ1îďé"/>
            <p:cNvGrpSpPr/>
            <p:nvPr/>
          </p:nvGrpSpPr>
          <p:grpSpPr>
            <a:xfrm rot="2700000" flipV="1">
              <a:off x="4087320" y="2824436"/>
              <a:ext cx="1465159" cy="1465157"/>
              <a:chOff x="1905000" y="2108996"/>
              <a:chExt cx="1716088" cy="1716088"/>
            </a:xfrm>
          </p:grpSpPr>
          <p:sp>
            <p:nvSpPr>
              <p:cNvPr id="71" name="iš1íḋê"/>
              <p:cNvSpPr/>
              <p:nvPr/>
            </p:nvSpPr>
            <p:spPr>
              <a:xfrm rot="5400000">
                <a:off x="1905000" y="2108996"/>
                <a:ext cx="1716088" cy="1716088"/>
              </a:xfrm>
              <a:prstGeom prst="teardrop">
                <a:avLst/>
              </a:prstGeom>
              <a:solidFill>
                <a:schemeClr val="bg1">
                  <a:lumMod val="95000"/>
                </a:schemeClr>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sp>
            <p:nvSpPr>
              <p:cNvPr id="72" name="íšļíḋe"/>
              <p:cNvSpPr/>
              <p:nvPr/>
            </p:nvSpPr>
            <p:spPr>
              <a:xfrm rot="5400000">
                <a:off x="2078038" y="2282033"/>
                <a:ext cx="1543050" cy="1543050"/>
              </a:xfrm>
              <a:prstGeom prst="teardrop">
                <a:avLst/>
              </a:prstGeom>
              <a:solidFill>
                <a:srgbClr val="242424"/>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grpSp>
        <p:sp>
          <p:nvSpPr>
            <p:cNvPr id="62" name="iṥľiḋê"/>
            <p:cNvSpPr/>
            <p:nvPr/>
          </p:nvSpPr>
          <p:spPr>
            <a:xfrm>
              <a:off x="4453407" y="3086059"/>
              <a:ext cx="941915" cy="941914"/>
            </a:xfrm>
            <a:prstGeom prst="ellipse">
              <a:avLst/>
            </a:prstGeom>
            <a:solidFill>
              <a:schemeClr val="bg1"/>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grpSp>
          <p:nvGrpSpPr>
            <p:cNvPr id="63" name="ïş1îďê"/>
            <p:cNvGrpSpPr/>
            <p:nvPr/>
          </p:nvGrpSpPr>
          <p:grpSpPr>
            <a:xfrm>
              <a:off x="5363422" y="4069940"/>
              <a:ext cx="1465158" cy="1495755"/>
              <a:chOff x="5250554" y="4713149"/>
              <a:chExt cx="1690893" cy="1726204"/>
            </a:xfrm>
          </p:grpSpPr>
          <p:sp>
            <p:nvSpPr>
              <p:cNvPr id="69" name="išļiḑé"/>
              <p:cNvSpPr/>
              <p:nvPr/>
            </p:nvSpPr>
            <p:spPr>
              <a:xfrm rot="8100000" flipH="1" flipV="1">
                <a:off x="5250554" y="4748460"/>
                <a:ext cx="1690893" cy="1690893"/>
              </a:xfrm>
              <a:prstGeom prst="teardrop">
                <a:avLst/>
              </a:prstGeom>
              <a:solidFill>
                <a:schemeClr val="bg1">
                  <a:lumMod val="95000"/>
                </a:schemeClr>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sp>
            <p:nvSpPr>
              <p:cNvPr id="70" name="iṥḷïdé"/>
              <p:cNvSpPr/>
              <p:nvPr/>
            </p:nvSpPr>
            <p:spPr>
              <a:xfrm rot="8100000" flipH="1" flipV="1">
                <a:off x="5335801" y="4713149"/>
                <a:ext cx="1520396" cy="1520395"/>
              </a:xfrm>
              <a:prstGeom prst="teardrop">
                <a:avLst/>
              </a:prstGeom>
              <a:solidFill>
                <a:srgbClr val="24C6DB"/>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grpSp>
        <p:sp>
          <p:nvSpPr>
            <p:cNvPr id="64" name="íś1iďê"/>
            <p:cNvSpPr/>
            <p:nvPr/>
          </p:nvSpPr>
          <p:spPr>
            <a:xfrm>
              <a:off x="5623532" y="4256184"/>
              <a:ext cx="941915" cy="941914"/>
            </a:xfrm>
            <a:prstGeom prst="ellipse">
              <a:avLst/>
            </a:prstGeom>
            <a:solidFill>
              <a:schemeClr val="bg1"/>
            </a:solidFill>
            <a:ln>
              <a:noFill/>
            </a:ln>
            <a:sp3d prstMaterial="matte"/>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a:p>
          </p:txBody>
        </p:sp>
        <p:sp>
          <p:nvSpPr>
            <p:cNvPr id="65" name="iśḻîḍé"/>
            <p:cNvSpPr/>
            <p:nvPr/>
          </p:nvSpPr>
          <p:spPr bwMode="auto">
            <a:xfrm>
              <a:off x="5883676" y="2211069"/>
              <a:ext cx="436146" cy="348622"/>
            </a:xfrm>
            <a:custGeom>
              <a:avLst/>
              <a:gdLst>
                <a:gd name="connsiteX0" fmla="*/ 476154 w 607493"/>
                <a:gd name="connsiteY0" fmla="*/ 304419 h 485584"/>
                <a:gd name="connsiteX1" fmla="*/ 488298 w 607493"/>
                <a:gd name="connsiteY1" fmla="*/ 316270 h 485584"/>
                <a:gd name="connsiteX2" fmla="*/ 476344 w 607493"/>
                <a:gd name="connsiteY2" fmla="*/ 328310 h 485584"/>
                <a:gd name="connsiteX3" fmla="*/ 450158 w 607493"/>
                <a:gd name="connsiteY3" fmla="*/ 354477 h 485584"/>
                <a:gd name="connsiteX4" fmla="*/ 438108 w 607493"/>
                <a:gd name="connsiteY4" fmla="*/ 366517 h 485584"/>
                <a:gd name="connsiteX5" fmla="*/ 426059 w 607493"/>
                <a:gd name="connsiteY5" fmla="*/ 354477 h 485584"/>
                <a:gd name="connsiteX6" fmla="*/ 476154 w 607493"/>
                <a:gd name="connsiteY6" fmla="*/ 304419 h 485584"/>
                <a:gd name="connsiteX7" fmla="*/ 131497 w 607493"/>
                <a:gd name="connsiteY7" fmla="*/ 304419 h 485584"/>
                <a:gd name="connsiteX8" fmla="*/ 143655 w 607493"/>
                <a:gd name="connsiteY8" fmla="*/ 316270 h 485584"/>
                <a:gd name="connsiteX9" fmla="*/ 131687 w 607493"/>
                <a:gd name="connsiteY9" fmla="*/ 328310 h 485584"/>
                <a:gd name="connsiteX10" fmla="*/ 105472 w 607493"/>
                <a:gd name="connsiteY10" fmla="*/ 354477 h 485584"/>
                <a:gd name="connsiteX11" fmla="*/ 93409 w 607493"/>
                <a:gd name="connsiteY11" fmla="*/ 366517 h 485584"/>
                <a:gd name="connsiteX12" fmla="*/ 81346 w 607493"/>
                <a:gd name="connsiteY12" fmla="*/ 354477 h 485584"/>
                <a:gd name="connsiteX13" fmla="*/ 131497 w 607493"/>
                <a:gd name="connsiteY13" fmla="*/ 304419 h 485584"/>
                <a:gd name="connsiteX14" fmla="*/ 476139 w 607493"/>
                <a:gd name="connsiteY14" fmla="*/ 274396 h 485584"/>
                <a:gd name="connsiteX15" fmla="*/ 395950 w 607493"/>
                <a:gd name="connsiteY15" fmla="*/ 354460 h 485584"/>
                <a:gd name="connsiteX16" fmla="*/ 476139 w 607493"/>
                <a:gd name="connsiteY16" fmla="*/ 434524 h 485584"/>
                <a:gd name="connsiteX17" fmla="*/ 556422 w 607493"/>
                <a:gd name="connsiteY17" fmla="*/ 354460 h 485584"/>
                <a:gd name="connsiteX18" fmla="*/ 476139 w 607493"/>
                <a:gd name="connsiteY18" fmla="*/ 274396 h 485584"/>
                <a:gd name="connsiteX19" fmla="*/ 131469 w 607493"/>
                <a:gd name="connsiteY19" fmla="*/ 274396 h 485584"/>
                <a:gd name="connsiteX20" fmla="*/ 51280 w 607493"/>
                <a:gd name="connsiteY20" fmla="*/ 354460 h 485584"/>
                <a:gd name="connsiteX21" fmla="*/ 131469 w 607493"/>
                <a:gd name="connsiteY21" fmla="*/ 434524 h 485584"/>
                <a:gd name="connsiteX22" fmla="*/ 211753 w 607493"/>
                <a:gd name="connsiteY22" fmla="*/ 354460 h 485584"/>
                <a:gd name="connsiteX23" fmla="*/ 131469 w 607493"/>
                <a:gd name="connsiteY23" fmla="*/ 274396 h 485584"/>
                <a:gd name="connsiteX24" fmla="*/ 162216 w 607493"/>
                <a:gd name="connsiteY24" fmla="*/ 0 h 485584"/>
                <a:gd name="connsiteX25" fmla="*/ 261100 w 607493"/>
                <a:gd name="connsiteY25" fmla="*/ 64146 h 485584"/>
                <a:gd name="connsiteX26" fmla="*/ 303804 w 607493"/>
                <a:gd name="connsiteY26" fmla="*/ 54197 h 485584"/>
                <a:gd name="connsiteX27" fmla="*/ 346603 w 607493"/>
                <a:gd name="connsiteY27" fmla="*/ 64146 h 485584"/>
                <a:gd name="connsiteX28" fmla="*/ 445392 w 607493"/>
                <a:gd name="connsiteY28" fmla="*/ 0 h 485584"/>
                <a:gd name="connsiteX29" fmla="*/ 542947 w 607493"/>
                <a:gd name="connsiteY29" fmla="*/ 61493 h 485584"/>
                <a:gd name="connsiteX30" fmla="*/ 607288 w 607493"/>
                <a:gd name="connsiteY30" fmla="*/ 340342 h 485584"/>
                <a:gd name="connsiteX31" fmla="*/ 603587 w 607493"/>
                <a:gd name="connsiteY31" fmla="*/ 380611 h 485584"/>
                <a:gd name="connsiteX32" fmla="*/ 458203 w 607493"/>
                <a:gd name="connsiteY32" fmla="*/ 484173 h 485584"/>
                <a:gd name="connsiteX33" fmla="*/ 351158 w 607493"/>
                <a:gd name="connsiteY33" fmla="*/ 392834 h 485584"/>
                <a:gd name="connsiteX34" fmla="*/ 345085 w 607493"/>
                <a:gd name="connsiteY34" fmla="*/ 328309 h 485584"/>
                <a:gd name="connsiteX35" fmla="*/ 340055 w 607493"/>
                <a:gd name="connsiteY35" fmla="*/ 316655 h 485584"/>
                <a:gd name="connsiteX36" fmla="*/ 303709 w 607493"/>
                <a:gd name="connsiteY36" fmla="*/ 302063 h 485584"/>
                <a:gd name="connsiteX37" fmla="*/ 267363 w 607493"/>
                <a:gd name="connsiteY37" fmla="*/ 316655 h 485584"/>
                <a:gd name="connsiteX38" fmla="*/ 262334 w 607493"/>
                <a:gd name="connsiteY38" fmla="*/ 328309 h 485584"/>
                <a:gd name="connsiteX39" fmla="*/ 256260 w 607493"/>
                <a:gd name="connsiteY39" fmla="*/ 392834 h 485584"/>
                <a:gd name="connsiteX40" fmla="*/ 149215 w 607493"/>
                <a:gd name="connsiteY40" fmla="*/ 484173 h 485584"/>
                <a:gd name="connsiteX41" fmla="*/ 3831 w 607493"/>
                <a:gd name="connsiteY41" fmla="*/ 380611 h 485584"/>
                <a:gd name="connsiteX42" fmla="*/ 130 w 607493"/>
                <a:gd name="connsiteY42" fmla="*/ 340342 h 485584"/>
                <a:gd name="connsiteX43" fmla="*/ 64661 w 607493"/>
                <a:gd name="connsiteY43" fmla="*/ 61493 h 485584"/>
                <a:gd name="connsiteX44" fmla="*/ 162216 w 607493"/>
                <a:gd name="connsiteY44" fmla="*/ 0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493" h="485584">
                  <a:moveTo>
                    <a:pt x="476154" y="304419"/>
                  </a:moveTo>
                  <a:cubicBezTo>
                    <a:pt x="482890" y="304419"/>
                    <a:pt x="488203" y="309823"/>
                    <a:pt x="488298" y="316270"/>
                  </a:cubicBezTo>
                  <a:cubicBezTo>
                    <a:pt x="488298" y="323001"/>
                    <a:pt x="482890" y="328310"/>
                    <a:pt x="476344" y="328310"/>
                  </a:cubicBezTo>
                  <a:cubicBezTo>
                    <a:pt x="461922" y="328310"/>
                    <a:pt x="450158" y="340066"/>
                    <a:pt x="450158" y="354477"/>
                  </a:cubicBezTo>
                  <a:cubicBezTo>
                    <a:pt x="450158" y="361208"/>
                    <a:pt x="444655" y="366517"/>
                    <a:pt x="438108" y="366517"/>
                  </a:cubicBezTo>
                  <a:cubicBezTo>
                    <a:pt x="431372" y="366517"/>
                    <a:pt x="426059" y="361018"/>
                    <a:pt x="426059" y="354477"/>
                  </a:cubicBezTo>
                  <a:cubicBezTo>
                    <a:pt x="426059" y="326888"/>
                    <a:pt x="448640" y="304419"/>
                    <a:pt x="476154" y="304419"/>
                  </a:cubicBezTo>
                  <a:close/>
                  <a:moveTo>
                    <a:pt x="131497" y="304419"/>
                  </a:moveTo>
                  <a:cubicBezTo>
                    <a:pt x="138146" y="304419"/>
                    <a:pt x="143465" y="309823"/>
                    <a:pt x="143655" y="316270"/>
                  </a:cubicBezTo>
                  <a:cubicBezTo>
                    <a:pt x="143655" y="323001"/>
                    <a:pt x="138241" y="328310"/>
                    <a:pt x="131687" y="328310"/>
                  </a:cubicBezTo>
                  <a:cubicBezTo>
                    <a:pt x="117250" y="328310"/>
                    <a:pt x="105472" y="340066"/>
                    <a:pt x="105472" y="354477"/>
                  </a:cubicBezTo>
                  <a:cubicBezTo>
                    <a:pt x="105472" y="361208"/>
                    <a:pt x="100153" y="366517"/>
                    <a:pt x="93409" y="366517"/>
                  </a:cubicBezTo>
                  <a:cubicBezTo>
                    <a:pt x="86665" y="366517"/>
                    <a:pt x="81346" y="361018"/>
                    <a:pt x="81346" y="354477"/>
                  </a:cubicBezTo>
                  <a:cubicBezTo>
                    <a:pt x="81346" y="326888"/>
                    <a:pt x="103952" y="304419"/>
                    <a:pt x="131497" y="304419"/>
                  </a:cubicBezTo>
                  <a:close/>
                  <a:moveTo>
                    <a:pt x="476139" y="274396"/>
                  </a:moveTo>
                  <a:cubicBezTo>
                    <a:pt x="431916" y="274396"/>
                    <a:pt x="395950" y="310212"/>
                    <a:pt x="395950" y="354460"/>
                  </a:cubicBezTo>
                  <a:cubicBezTo>
                    <a:pt x="395950" y="398708"/>
                    <a:pt x="431916" y="434524"/>
                    <a:pt x="476139" y="434524"/>
                  </a:cubicBezTo>
                  <a:cubicBezTo>
                    <a:pt x="520456" y="434524"/>
                    <a:pt x="556422" y="398708"/>
                    <a:pt x="556422" y="354460"/>
                  </a:cubicBezTo>
                  <a:cubicBezTo>
                    <a:pt x="556422" y="310212"/>
                    <a:pt x="520456" y="274396"/>
                    <a:pt x="476139" y="274396"/>
                  </a:cubicBezTo>
                  <a:close/>
                  <a:moveTo>
                    <a:pt x="131469" y="274396"/>
                  </a:moveTo>
                  <a:cubicBezTo>
                    <a:pt x="87247" y="274396"/>
                    <a:pt x="51280" y="310212"/>
                    <a:pt x="51280" y="354460"/>
                  </a:cubicBezTo>
                  <a:cubicBezTo>
                    <a:pt x="51280" y="398708"/>
                    <a:pt x="87247" y="434524"/>
                    <a:pt x="131469" y="434524"/>
                  </a:cubicBezTo>
                  <a:cubicBezTo>
                    <a:pt x="175787" y="434524"/>
                    <a:pt x="211753" y="398708"/>
                    <a:pt x="211753" y="354460"/>
                  </a:cubicBezTo>
                  <a:cubicBezTo>
                    <a:pt x="211753" y="310212"/>
                    <a:pt x="175787" y="274396"/>
                    <a:pt x="131469" y="274396"/>
                  </a:cubicBezTo>
                  <a:close/>
                  <a:moveTo>
                    <a:pt x="162216" y="0"/>
                  </a:moveTo>
                  <a:cubicBezTo>
                    <a:pt x="205015" y="0"/>
                    <a:pt x="243734" y="25109"/>
                    <a:pt x="261100" y="64146"/>
                  </a:cubicBezTo>
                  <a:cubicBezTo>
                    <a:pt x="273057" y="57798"/>
                    <a:pt x="287861" y="54197"/>
                    <a:pt x="303804" y="54197"/>
                  </a:cubicBezTo>
                  <a:cubicBezTo>
                    <a:pt x="319747" y="54292"/>
                    <a:pt x="334551" y="57987"/>
                    <a:pt x="346603" y="64146"/>
                  </a:cubicBezTo>
                  <a:cubicBezTo>
                    <a:pt x="363969" y="25109"/>
                    <a:pt x="402688" y="0"/>
                    <a:pt x="445392" y="0"/>
                  </a:cubicBezTo>
                  <a:cubicBezTo>
                    <a:pt x="487052" y="0"/>
                    <a:pt x="525106" y="23877"/>
                    <a:pt x="542947" y="61493"/>
                  </a:cubicBezTo>
                  <a:cubicBezTo>
                    <a:pt x="613551" y="210724"/>
                    <a:pt x="607478" y="340342"/>
                    <a:pt x="607288" y="340342"/>
                  </a:cubicBezTo>
                  <a:cubicBezTo>
                    <a:pt x="607288" y="353797"/>
                    <a:pt x="606339" y="367251"/>
                    <a:pt x="603587" y="380611"/>
                  </a:cubicBezTo>
                  <a:cubicBezTo>
                    <a:pt x="589637" y="448831"/>
                    <a:pt x="526909" y="494311"/>
                    <a:pt x="458203" y="484173"/>
                  </a:cubicBezTo>
                  <a:cubicBezTo>
                    <a:pt x="404301" y="476403"/>
                    <a:pt x="368524" y="444567"/>
                    <a:pt x="351158" y="392834"/>
                  </a:cubicBezTo>
                  <a:cubicBezTo>
                    <a:pt x="344231" y="371894"/>
                    <a:pt x="345085" y="350007"/>
                    <a:pt x="345085" y="328309"/>
                  </a:cubicBezTo>
                  <a:cubicBezTo>
                    <a:pt x="345085" y="323382"/>
                    <a:pt x="343471" y="319971"/>
                    <a:pt x="340055" y="316655"/>
                  </a:cubicBezTo>
                  <a:cubicBezTo>
                    <a:pt x="329996" y="306990"/>
                    <a:pt x="316900" y="302063"/>
                    <a:pt x="303709" y="302063"/>
                  </a:cubicBezTo>
                  <a:cubicBezTo>
                    <a:pt x="290518" y="302063"/>
                    <a:pt x="277517" y="306990"/>
                    <a:pt x="267363" y="316655"/>
                  </a:cubicBezTo>
                  <a:cubicBezTo>
                    <a:pt x="263947" y="319971"/>
                    <a:pt x="262334" y="323382"/>
                    <a:pt x="262334" y="328309"/>
                  </a:cubicBezTo>
                  <a:cubicBezTo>
                    <a:pt x="262428" y="350007"/>
                    <a:pt x="263377" y="371894"/>
                    <a:pt x="256260" y="392834"/>
                  </a:cubicBezTo>
                  <a:cubicBezTo>
                    <a:pt x="238799" y="444567"/>
                    <a:pt x="203117" y="476403"/>
                    <a:pt x="149215" y="484173"/>
                  </a:cubicBezTo>
                  <a:cubicBezTo>
                    <a:pt x="80509" y="494216"/>
                    <a:pt x="17781" y="448736"/>
                    <a:pt x="3831" y="380611"/>
                  </a:cubicBezTo>
                  <a:cubicBezTo>
                    <a:pt x="1174" y="367346"/>
                    <a:pt x="130" y="353797"/>
                    <a:pt x="130" y="340342"/>
                  </a:cubicBezTo>
                  <a:cubicBezTo>
                    <a:pt x="130" y="340342"/>
                    <a:pt x="-5943" y="210724"/>
                    <a:pt x="64661" y="61493"/>
                  </a:cubicBezTo>
                  <a:cubicBezTo>
                    <a:pt x="82407" y="23877"/>
                    <a:pt x="120651" y="0"/>
                    <a:pt x="162216" y="0"/>
                  </a:cubicBezTo>
                  <a:close/>
                </a:path>
              </a:pathLst>
            </a:custGeom>
            <a:solidFill>
              <a:srgbClr val="24C6DB"/>
            </a:solidFill>
            <a:ln>
              <a:noFill/>
            </a:ln>
            <a:sp3d prstMaterial="matte"/>
          </p:spPr>
          <p:txBody>
            <a:bodyPr wrap="square" lIns="91440" tIns="45720" rIns="91440" bIns="4572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îsḷíḋe"/>
            <p:cNvSpPr/>
            <p:nvPr/>
          </p:nvSpPr>
          <p:spPr bwMode="auto">
            <a:xfrm>
              <a:off x="7061957" y="3347196"/>
              <a:ext cx="436146" cy="419634"/>
            </a:xfrm>
            <a:custGeom>
              <a:avLst/>
              <a:gdLst>
                <a:gd name="connsiteX0" fmla="*/ 470550 w 607639"/>
                <a:gd name="connsiteY0" fmla="*/ 350499 h 584635"/>
                <a:gd name="connsiteX1" fmla="*/ 508283 w 607639"/>
                <a:gd name="connsiteY1" fmla="*/ 414411 h 584635"/>
                <a:gd name="connsiteX2" fmla="*/ 508283 w 607639"/>
                <a:gd name="connsiteY2" fmla="*/ 504990 h 584635"/>
                <a:gd name="connsiteX3" fmla="*/ 303775 w 607639"/>
                <a:gd name="connsiteY3" fmla="*/ 584635 h 584635"/>
                <a:gd name="connsiteX4" fmla="*/ 99356 w 607639"/>
                <a:gd name="connsiteY4" fmla="*/ 504990 h 584635"/>
                <a:gd name="connsiteX5" fmla="*/ 99356 w 607639"/>
                <a:gd name="connsiteY5" fmla="*/ 414411 h 584635"/>
                <a:gd name="connsiteX6" fmla="*/ 124897 w 607639"/>
                <a:gd name="connsiteY6" fmla="*/ 360899 h 584635"/>
                <a:gd name="connsiteX7" fmla="*/ 289002 w 607639"/>
                <a:gd name="connsiteY7" fmla="*/ 478767 h 584635"/>
                <a:gd name="connsiteX8" fmla="*/ 303775 w 607639"/>
                <a:gd name="connsiteY8" fmla="*/ 483567 h 584635"/>
                <a:gd name="connsiteX9" fmla="*/ 320150 w 607639"/>
                <a:gd name="connsiteY9" fmla="*/ 477612 h 584635"/>
                <a:gd name="connsiteX10" fmla="*/ 224526 w 607639"/>
                <a:gd name="connsiteY10" fmla="*/ 79098 h 584635"/>
                <a:gd name="connsiteX11" fmla="*/ 290796 w 607639"/>
                <a:gd name="connsiteY11" fmla="*/ 100714 h 584635"/>
                <a:gd name="connsiteX12" fmla="*/ 378918 w 607639"/>
                <a:gd name="connsiteY12" fmla="*/ 129594 h 584635"/>
                <a:gd name="connsiteX13" fmla="*/ 413099 w 607639"/>
                <a:gd name="connsiteY13" fmla="*/ 123729 h 584635"/>
                <a:gd name="connsiteX14" fmla="*/ 413188 w 607639"/>
                <a:gd name="connsiteY14" fmla="*/ 123729 h 584635"/>
                <a:gd name="connsiteX15" fmla="*/ 354351 w 607639"/>
                <a:gd name="connsiteY15" fmla="*/ 248669 h 584635"/>
                <a:gd name="connsiteX16" fmla="*/ 329160 w 607639"/>
                <a:gd name="connsiteY16" fmla="*/ 284658 h 584635"/>
                <a:gd name="connsiteX17" fmla="*/ 329160 w 607639"/>
                <a:gd name="connsiteY17" fmla="*/ 290879 h 584635"/>
                <a:gd name="connsiteX18" fmla="*/ 367524 w 607639"/>
                <a:gd name="connsiteY18" fmla="*/ 331844 h 584635"/>
                <a:gd name="connsiteX19" fmla="*/ 412476 w 607639"/>
                <a:gd name="connsiteY19" fmla="*/ 331844 h 584635"/>
                <a:gd name="connsiteX20" fmla="*/ 414078 w 607639"/>
                <a:gd name="connsiteY20" fmla="*/ 332022 h 584635"/>
                <a:gd name="connsiteX21" fmla="*/ 302545 w 607639"/>
                <a:gd name="connsiteY21" fmla="*/ 426216 h 584635"/>
                <a:gd name="connsiteX22" fmla="*/ 174367 w 607639"/>
                <a:gd name="connsiteY22" fmla="*/ 334155 h 584635"/>
                <a:gd name="connsiteX23" fmla="*/ 195196 w 607639"/>
                <a:gd name="connsiteY23" fmla="*/ 331844 h 584635"/>
                <a:gd name="connsiteX24" fmla="*/ 240058 w 607639"/>
                <a:gd name="connsiteY24" fmla="*/ 331844 h 584635"/>
                <a:gd name="connsiteX25" fmla="*/ 278512 w 607639"/>
                <a:gd name="connsiteY25" fmla="*/ 290879 h 584635"/>
                <a:gd name="connsiteX26" fmla="*/ 278512 w 607639"/>
                <a:gd name="connsiteY26" fmla="*/ 284747 h 584635"/>
                <a:gd name="connsiteX27" fmla="*/ 253766 w 607639"/>
                <a:gd name="connsiteY27" fmla="*/ 248847 h 584635"/>
                <a:gd name="connsiteX28" fmla="*/ 194662 w 607639"/>
                <a:gd name="connsiteY28" fmla="*/ 112177 h 584635"/>
                <a:gd name="connsiteX29" fmla="*/ 196976 w 607639"/>
                <a:gd name="connsiteY29" fmla="*/ 90139 h 584635"/>
                <a:gd name="connsiteX30" fmla="*/ 224526 w 607639"/>
                <a:gd name="connsiteY30" fmla="*/ 79098 h 584635"/>
                <a:gd name="connsiteX31" fmla="*/ 304118 w 607639"/>
                <a:gd name="connsiteY31" fmla="*/ 3246 h 584635"/>
                <a:gd name="connsiteX32" fmla="*/ 316487 w 607639"/>
                <a:gd name="connsiteY32" fmla="*/ 3956 h 584635"/>
                <a:gd name="connsiteX33" fmla="*/ 404763 w 607639"/>
                <a:gd name="connsiteY33" fmla="*/ 71802 h 584635"/>
                <a:gd name="connsiteX34" fmla="*/ 316843 w 607639"/>
                <a:gd name="connsiteY34" fmla="*/ 57416 h 584635"/>
                <a:gd name="connsiteX35" fmla="*/ 233995 w 607639"/>
                <a:gd name="connsiteY35" fmla="*/ 29088 h 584635"/>
                <a:gd name="connsiteX36" fmla="*/ 304118 w 607639"/>
                <a:gd name="connsiteY36" fmla="*/ 3246 h 584635"/>
                <a:gd name="connsiteX37" fmla="*/ 190090 w 607639"/>
                <a:gd name="connsiteY37" fmla="*/ 212 h 584635"/>
                <a:gd name="connsiteX38" fmla="*/ 148886 w 607639"/>
                <a:gd name="connsiteY38" fmla="*/ 73526 h 584635"/>
                <a:gd name="connsiteX39" fmla="*/ 148708 w 607639"/>
                <a:gd name="connsiteY39" fmla="*/ 74415 h 584635"/>
                <a:gd name="connsiteX40" fmla="*/ 143991 w 607639"/>
                <a:gd name="connsiteY40" fmla="*/ 112182 h 584635"/>
                <a:gd name="connsiteX41" fmla="*/ 209579 w 607639"/>
                <a:gd name="connsiteY41" fmla="*/ 281293 h 584635"/>
                <a:gd name="connsiteX42" fmla="*/ 195162 w 607639"/>
                <a:gd name="connsiteY42" fmla="*/ 281293 h 584635"/>
                <a:gd name="connsiteX43" fmla="*/ 112665 w 607639"/>
                <a:gd name="connsiteY43" fmla="*/ 306353 h 584635"/>
                <a:gd name="connsiteX44" fmla="*/ 105813 w 607639"/>
                <a:gd name="connsiteY44" fmla="*/ 311330 h 584635"/>
                <a:gd name="connsiteX45" fmla="*/ 48768 w 607639"/>
                <a:gd name="connsiteY45" fmla="*/ 410415 h 584635"/>
                <a:gd name="connsiteX46" fmla="*/ 48679 w 607639"/>
                <a:gd name="connsiteY46" fmla="*/ 413081 h 584635"/>
                <a:gd name="connsiteX47" fmla="*/ 48679 w 607639"/>
                <a:gd name="connsiteY47" fmla="*/ 445339 h 584635"/>
                <a:gd name="connsiteX48" fmla="*/ 0 w 607639"/>
                <a:gd name="connsiteY48" fmla="*/ 281293 h 584635"/>
                <a:gd name="connsiteX49" fmla="*/ 190090 w 607639"/>
                <a:gd name="connsiteY49" fmla="*/ 212 h 584635"/>
                <a:gd name="connsiteX50" fmla="*/ 417085 w 607639"/>
                <a:gd name="connsiteY50" fmla="*/ 0 h 584635"/>
                <a:gd name="connsiteX51" fmla="*/ 607639 w 607639"/>
                <a:gd name="connsiteY51" fmla="*/ 281281 h 584635"/>
                <a:gd name="connsiteX52" fmla="*/ 558955 w 607639"/>
                <a:gd name="connsiteY52" fmla="*/ 445339 h 584635"/>
                <a:gd name="connsiteX53" fmla="*/ 558955 w 607639"/>
                <a:gd name="connsiteY53" fmla="*/ 413078 h 584635"/>
                <a:gd name="connsiteX54" fmla="*/ 558866 w 607639"/>
                <a:gd name="connsiteY54" fmla="*/ 410412 h 584635"/>
                <a:gd name="connsiteX55" fmla="*/ 482234 w 607639"/>
                <a:gd name="connsiteY55" fmla="*/ 298966 h 584635"/>
                <a:gd name="connsiteX56" fmla="*/ 475737 w 607639"/>
                <a:gd name="connsiteY56" fmla="*/ 295767 h 584635"/>
                <a:gd name="connsiteX57" fmla="*/ 412456 w 607639"/>
                <a:gd name="connsiteY57" fmla="*/ 281281 h 584635"/>
                <a:gd name="connsiteX58" fmla="*/ 398483 w 607639"/>
                <a:gd name="connsiteY58" fmla="*/ 281281 h 584635"/>
                <a:gd name="connsiteX59" fmla="*/ 462387 w 607639"/>
                <a:gd name="connsiteY59" fmla="*/ 92605 h 584635"/>
                <a:gd name="connsiteX60" fmla="*/ 458560 w 607639"/>
                <a:gd name="connsiteY60" fmla="*/ 74386 h 584635"/>
                <a:gd name="connsiteX61" fmla="*/ 457848 w 607639"/>
                <a:gd name="connsiteY61" fmla="*/ 71098 h 584635"/>
                <a:gd name="connsiteX62" fmla="*/ 417085 w 607639"/>
                <a:gd name="connsiteY62" fmla="*/ 0 h 58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7639" h="584635">
                  <a:moveTo>
                    <a:pt x="470550" y="350499"/>
                  </a:moveTo>
                  <a:cubicBezTo>
                    <a:pt x="491018" y="365255"/>
                    <a:pt x="505168" y="387566"/>
                    <a:pt x="508283" y="414411"/>
                  </a:cubicBezTo>
                  <a:lnTo>
                    <a:pt x="508283" y="504990"/>
                  </a:lnTo>
                  <a:cubicBezTo>
                    <a:pt x="454264" y="554324"/>
                    <a:pt x="382624" y="584635"/>
                    <a:pt x="303775" y="584635"/>
                  </a:cubicBezTo>
                  <a:cubicBezTo>
                    <a:pt x="225015" y="584635"/>
                    <a:pt x="153375" y="554324"/>
                    <a:pt x="99356" y="504990"/>
                  </a:cubicBezTo>
                  <a:lnTo>
                    <a:pt x="99356" y="414411"/>
                  </a:lnTo>
                  <a:cubicBezTo>
                    <a:pt x="101759" y="393344"/>
                    <a:pt x="111192" y="375033"/>
                    <a:pt x="124897" y="360899"/>
                  </a:cubicBezTo>
                  <a:lnTo>
                    <a:pt x="289002" y="478767"/>
                  </a:lnTo>
                  <a:cubicBezTo>
                    <a:pt x="293452" y="481967"/>
                    <a:pt x="298613" y="483567"/>
                    <a:pt x="303775" y="483567"/>
                  </a:cubicBezTo>
                  <a:cubicBezTo>
                    <a:pt x="309649" y="483567"/>
                    <a:pt x="315433" y="481523"/>
                    <a:pt x="320150" y="477612"/>
                  </a:cubicBezTo>
                  <a:close/>
                  <a:moveTo>
                    <a:pt x="224526" y="79098"/>
                  </a:moveTo>
                  <a:cubicBezTo>
                    <a:pt x="239569" y="78254"/>
                    <a:pt x="261065" y="82853"/>
                    <a:pt x="290796" y="100714"/>
                  </a:cubicBezTo>
                  <a:cubicBezTo>
                    <a:pt x="322751" y="119908"/>
                    <a:pt x="352214" y="129594"/>
                    <a:pt x="378918" y="129594"/>
                  </a:cubicBezTo>
                  <a:cubicBezTo>
                    <a:pt x="390846" y="129594"/>
                    <a:pt x="402239" y="127639"/>
                    <a:pt x="413099" y="123729"/>
                  </a:cubicBezTo>
                  <a:cubicBezTo>
                    <a:pt x="413099" y="123729"/>
                    <a:pt x="413099" y="123729"/>
                    <a:pt x="413188" y="123729"/>
                  </a:cubicBezTo>
                  <a:cubicBezTo>
                    <a:pt x="411853" y="176247"/>
                    <a:pt x="389511" y="235518"/>
                    <a:pt x="354351" y="248669"/>
                  </a:cubicBezTo>
                  <a:cubicBezTo>
                    <a:pt x="339040" y="254445"/>
                    <a:pt x="329160" y="268574"/>
                    <a:pt x="329160" y="284658"/>
                  </a:cubicBezTo>
                  <a:lnTo>
                    <a:pt x="329160" y="290879"/>
                  </a:lnTo>
                  <a:cubicBezTo>
                    <a:pt x="329160" y="310695"/>
                    <a:pt x="344559" y="331844"/>
                    <a:pt x="367524" y="331844"/>
                  </a:cubicBezTo>
                  <a:lnTo>
                    <a:pt x="412476" y="331844"/>
                  </a:lnTo>
                  <a:cubicBezTo>
                    <a:pt x="413010" y="331844"/>
                    <a:pt x="413544" y="331933"/>
                    <a:pt x="414078" y="332022"/>
                  </a:cubicBezTo>
                  <a:lnTo>
                    <a:pt x="302545" y="426216"/>
                  </a:lnTo>
                  <a:lnTo>
                    <a:pt x="174367" y="334155"/>
                  </a:lnTo>
                  <a:cubicBezTo>
                    <a:pt x="181043" y="332733"/>
                    <a:pt x="187986" y="331844"/>
                    <a:pt x="195196" y="331844"/>
                  </a:cubicBezTo>
                  <a:lnTo>
                    <a:pt x="240058" y="331844"/>
                  </a:lnTo>
                  <a:cubicBezTo>
                    <a:pt x="263113" y="331844"/>
                    <a:pt x="278512" y="310695"/>
                    <a:pt x="278512" y="290879"/>
                  </a:cubicBezTo>
                  <a:lnTo>
                    <a:pt x="278512" y="284747"/>
                  </a:lnTo>
                  <a:cubicBezTo>
                    <a:pt x="278512" y="268841"/>
                    <a:pt x="268631" y="254356"/>
                    <a:pt x="253766" y="248847"/>
                  </a:cubicBezTo>
                  <a:cubicBezTo>
                    <a:pt x="218428" y="235873"/>
                    <a:pt x="194662" y="167627"/>
                    <a:pt x="194662" y="112177"/>
                  </a:cubicBezTo>
                  <a:cubicBezTo>
                    <a:pt x="194662" y="104712"/>
                    <a:pt x="195463" y="97337"/>
                    <a:pt x="196976" y="90139"/>
                  </a:cubicBezTo>
                  <a:cubicBezTo>
                    <a:pt x="200893" y="86229"/>
                    <a:pt x="209483" y="79942"/>
                    <a:pt x="224526" y="79098"/>
                  </a:cubicBezTo>
                  <a:close/>
                  <a:moveTo>
                    <a:pt x="304118" y="3246"/>
                  </a:moveTo>
                  <a:cubicBezTo>
                    <a:pt x="307855" y="3601"/>
                    <a:pt x="312305" y="3512"/>
                    <a:pt x="316487" y="3956"/>
                  </a:cubicBezTo>
                  <a:cubicBezTo>
                    <a:pt x="356532" y="8397"/>
                    <a:pt x="390169" y="35481"/>
                    <a:pt x="404763" y="71802"/>
                  </a:cubicBezTo>
                  <a:cubicBezTo>
                    <a:pt x="393017" y="79794"/>
                    <a:pt x="366765" y="87431"/>
                    <a:pt x="316843" y="57416"/>
                  </a:cubicBezTo>
                  <a:cubicBezTo>
                    <a:pt x="284896" y="38234"/>
                    <a:pt x="257221" y="30331"/>
                    <a:pt x="233995" y="29088"/>
                  </a:cubicBezTo>
                  <a:cubicBezTo>
                    <a:pt x="253661" y="12659"/>
                    <a:pt x="277866" y="3246"/>
                    <a:pt x="304118" y="3246"/>
                  </a:cubicBezTo>
                  <a:close/>
                  <a:moveTo>
                    <a:pt x="190090" y="212"/>
                  </a:moveTo>
                  <a:cubicBezTo>
                    <a:pt x="169710" y="20829"/>
                    <a:pt x="155738" y="46067"/>
                    <a:pt x="148886" y="73526"/>
                  </a:cubicBezTo>
                  <a:cubicBezTo>
                    <a:pt x="148886" y="73793"/>
                    <a:pt x="148708" y="74148"/>
                    <a:pt x="148708" y="74415"/>
                  </a:cubicBezTo>
                  <a:cubicBezTo>
                    <a:pt x="145771" y="86678"/>
                    <a:pt x="143991" y="99297"/>
                    <a:pt x="143991" y="112182"/>
                  </a:cubicBezTo>
                  <a:cubicBezTo>
                    <a:pt x="143991" y="163902"/>
                    <a:pt x="162057" y="243792"/>
                    <a:pt x="209579" y="281293"/>
                  </a:cubicBezTo>
                  <a:lnTo>
                    <a:pt x="195162" y="281293"/>
                  </a:lnTo>
                  <a:cubicBezTo>
                    <a:pt x="164549" y="281293"/>
                    <a:pt x="136249" y="290713"/>
                    <a:pt x="112665" y="306353"/>
                  </a:cubicBezTo>
                  <a:cubicBezTo>
                    <a:pt x="110085" y="307509"/>
                    <a:pt x="107949" y="309286"/>
                    <a:pt x="105813" y="311330"/>
                  </a:cubicBezTo>
                  <a:cubicBezTo>
                    <a:pt x="74665" y="334702"/>
                    <a:pt x="53040" y="369537"/>
                    <a:pt x="48768" y="410415"/>
                  </a:cubicBezTo>
                  <a:cubicBezTo>
                    <a:pt x="48679" y="411304"/>
                    <a:pt x="48679" y="412192"/>
                    <a:pt x="48679" y="413081"/>
                  </a:cubicBezTo>
                  <a:lnTo>
                    <a:pt x="48679" y="445339"/>
                  </a:lnTo>
                  <a:cubicBezTo>
                    <a:pt x="17977" y="398063"/>
                    <a:pt x="0" y="341722"/>
                    <a:pt x="0" y="281293"/>
                  </a:cubicBezTo>
                  <a:cubicBezTo>
                    <a:pt x="0" y="154216"/>
                    <a:pt x="78759" y="45267"/>
                    <a:pt x="190090" y="212"/>
                  </a:cubicBezTo>
                  <a:close/>
                  <a:moveTo>
                    <a:pt x="417085" y="0"/>
                  </a:moveTo>
                  <a:cubicBezTo>
                    <a:pt x="528605" y="44969"/>
                    <a:pt x="607639" y="154016"/>
                    <a:pt x="607639" y="281281"/>
                  </a:cubicBezTo>
                  <a:cubicBezTo>
                    <a:pt x="607639" y="341714"/>
                    <a:pt x="589572" y="397970"/>
                    <a:pt x="558955" y="445339"/>
                  </a:cubicBezTo>
                  <a:lnTo>
                    <a:pt x="558955" y="413078"/>
                  </a:lnTo>
                  <a:cubicBezTo>
                    <a:pt x="558955" y="412190"/>
                    <a:pt x="558955" y="411301"/>
                    <a:pt x="558866" y="410412"/>
                  </a:cubicBezTo>
                  <a:cubicBezTo>
                    <a:pt x="553793" y="361444"/>
                    <a:pt x="523888" y="320918"/>
                    <a:pt x="482234" y="298966"/>
                  </a:cubicBezTo>
                  <a:cubicBezTo>
                    <a:pt x="480187" y="297544"/>
                    <a:pt x="478051" y="296478"/>
                    <a:pt x="475737" y="295767"/>
                  </a:cubicBezTo>
                  <a:cubicBezTo>
                    <a:pt x="456424" y="286791"/>
                    <a:pt x="435152" y="281281"/>
                    <a:pt x="412456" y="281281"/>
                  </a:cubicBezTo>
                  <a:lnTo>
                    <a:pt x="398483" y="281281"/>
                  </a:lnTo>
                  <a:cubicBezTo>
                    <a:pt x="448057" y="243155"/>
                    <a:pt x="470486" y="159703"/>
                    <a:pt x="462387" y="92605"/>
                  </a:cubicBezTo>
                  <a:cubicBezTo>
                    <a:pt x="461675" y="86295"/>
                    <a:pt x="459984" y="80341"/>
                    <a:pt x="458560" y="74386"/>
                  </a:cubicBezTo>
                  <a:cubicBezTo>
                    <a:pt x="458382" y="73231"/>
                    <a:pt x="458204" y="72164"/>
                    <a:pt x="457848" y="71098"/>
                  </a:cubicBezTo>
                  <a:cubicBezTo>
                    <a:pt x="450639" y="43992"/>
                    <a:pt x="436487" y="19552"/>
                    <a:pt x="417085" y="0"/>
                  </a:cubicBezTo>
                  <a:close/>
                </a:path>
              </a:pathLst>
            </a:custGeom>
            <a:solidFill>
              <a:srgbClr val="242424"/>
            </a:solidFill>
            <a:ln>
              <a:noFill/>
            </a:ln>
            <a:sp3d prstMaterial="matte"/>
          </p:spPr>
          <p:txBody>
            <a:bodyPr wrap="square" lIns="91440" tIns="45720" rIns="91440" bIns="4572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íṡ1iḑe"/>
            <p:cNvSpPr/>
            <p:nvPr/>
          </p:nvSpPr>
          <p:spPr bwMode="auto">
            <a:xfrm>
              <a:off x="4706290" y="3339126"/>
              <a:ext cx="436146" cy="435772"/>
            </a:xfrm>
            <a:custGeom>
              <a:avLst/>
              <a:gdLst>
                <a:gd name="connsiteX0" fmla="*/ 287026 w 573852"/>
                <a:gd name="connsiteY0" fmla="*/ 374041 h 573361"/>
                <a:gd name="connsiteX1" fmla="*/ 297027 w 573852"/>
                <a:gd name="connsiteY1" fmla="*/ 383352 h 573361"/>
                <a:gd name="connsiteX2" fmla="*/ 287026 w 573852"/>
                <a:gd name="connsiteY2" fmla="*/ 392663 h 573361"/>
                <a:gd name="connsiteX3" fmla="*/ 277025 w 573852"/>
                <a:gd name="connsiteY3" fmla="*/ 383352 h 573361"/>
                <a:gd name="connsiteX4" fmla="*/ 287026 w 573852"/>
                <a:gd name="connsiteY4" fmla="*/ 374041 h 573361"/>
                <a:gd name="connsiteX5" fmla="*/ 469309 w 573852"/>
                <a:gd name="connsiteY5" fmla="*/ 322516 h 573361"/>
                <a:gd name="connsiteX6" fmla="*/ 400419 w 573852"/>
                <a:gd name="connsiteY6" fmla="*/ 399919 h 573361"/>
                <a:gd name="connsiteX7" fmla="*/ 322919 w 573852"/>
                <a:gd name="connsiteY7" fmla="*/ 468723 h 573361"/>
                <a:gd name="connsiteX8" fmla="*/ 479355 w 573852"/>
                <a:gd name="connsiteY8" fmla="*/ 530359 h 573361"/>
                <a:gd name="connsiteX9" fmla="*/ 518105 w 573852"/>
                <a:gd name="connsiteY9" fmla="*/ 517458 h 573361"/>
                <a:gd name="connsiteX10" fmla="*/ 469309 w 573852"/>
                <a:gd name="connsiteY10" fmla="*/ 322516 h 573361"/>
                <a:gd name="connsiteX11" fmla="*/ 104769 w 573852"/>
                <a:gd name="connsiteY11" fmla="*/ 322516 h 573361"/>
                <a:gd name="connsiteX12" fmla="*/ 43056 w 573852"/>
                <a:gd name="connsiteY12" fmla="*/ 478756 h 573361"/>
                <a:gd name="connsiteX13" fmla="*/ 55972 w 573852"/>
                <a:gd name="connsiteY13" fmla="*/ 517458 h 573361"/>
                <a:gd name="connsiteX14" fmla="*/ 94723 w 573852"/>
                <a:gd name="connsiteY14" fmla="*/ 530359 h 573361"/>
                <a:gd name="connsiteX15" fmla="*/ 251159 w 573852"/>
                <a:gd name="connsiteY15" fmla="*/ 468723 h 573361"/>
                <a:gd name="connsiteX16" fmla="*/ 173658 w 573852"/>
                <a:gd name="connsiteY16" fmla="*/ 399919 h 573361"/>
                <a:gd name="connsiteX17" fmla="*/ 104769 w 573852"/>
                <a:gd name="connsiteY17" fmla="*/ 322516 h 573361"/>
                <a:gd name="connsiteX18" fmla="*/ 231082 w 573852"/>
                <a:gd name="connsiteY18" fmla="*/ 186446 h 573361"/>
                <a:gd name="connsiteX19" fmla="*/ 342970 w 573852"/>
                <a:gd name="connsiteY19" fmla="*/ 186446 h 573361"/>
                <a:gd name="connsiteX20" fmla="*/ 355880 w 573852"/>
                <a:gd name="connsiteY20" fmla="*/ 200773 h 573361"/>
                <a:gd name="connsiteX21" fmla="*/ 355880 w 573852"/>
                <a:gd name="connsiteY21" fmla="*/ 351208 h 573361"/>
                <a:gd name="connsiteX22" fmla="*/ 342970 w 573852"/>
                <a:gd name="connsiteY22" fmla="*/ 365535 h 573361"/>
                <a:gd name="connsiteX23" fmla="*/ 231082 w 573852"/>
                <a:gd name="connsiteY23" fmla="*/ 365535 h 573361"/>
                <a:gd name="connsiteX24" fmla="*/ 218172 w 573852"/>
                <a:gd name="connsiteY24" fmla="*/ 351208 h 573361"/>
                <a:gd name="connsiteX25" fmla="*/ 218172 w 573852"/>
                <a:gd name="connsiteY25" fmla="*/ 200773 h 573361"/>
                <a:gd name="connsiteX26" fmla="*/ 231082 w 573852"/>
                <a:gd name="connsiteY26" fmla="*/ 186446 h 573361"/>
                <a:gd name="connsiteX27" fmla="*/ 231066 w 573852"/>
                <a:gd name="connsiteY27" fmla="*/ 172008 h 573361"/>
                <a:gd name="connsiteX28" fmla="*/ 203798 w 573852"/>
                <a:gd name="connsiteY28" fmla="*/ 200676 h 573361"/>
                <a:gd name="connsiteX29" fmla="*/ 203798 w 573852"/>
                <a:gd name="connsiteY29" fmla="*/ 372685 h 573361"/>
                <a:gd name="connsiteX30" fmla="*/ 231066 w 573852"/>
                <a:gd name="connsiteY30" fmla="*/ 401353 h 573361"/>
                <a:gd name="connsiteX31" fmla="*/ 343012 w 573852"/>
                <a:gd name="connsiteY31" fmla="*/ 401353 h 573361"/>
                <a:gd name="connsiteX32" fmla="*/ 370280 w 573852"/>
                <a:gd name="connsiteY32" fmla="*/ 372685 h 573361"/>
                <a:gd name="connsiteX33" fmla="*/ 370280 w 573852"/>
                <a:gd name="connsiteY33" fmla="*/ 200676 h 573361"/>
                <a:gd name="connsiteX34" fmla="*/ 343012 w 573852"/>
                <a:gd name="connsiteY34" fmla="*/ 172008 h 573361"/>
                <a:gd name="connsiteX35" fmla="*/ 479355 w 573852"/>
                <a:gd name="connsiteY35" fmla="*/ 43002 h 573361"/>
                <a:gd name="connsiteX36" fmla="*/ 322919 w 573852"/>
                <a:gd name="connsiteY36" fmla="*/ 104638 h 573361"/>
                <a:gd name="connsiteX37" fmla="*/ 400419 w 573852"/>
                <a:gd name="connsiteY37" fmla="*/ 173442 h 573361"/>
                <a:gd name="connsiteX38" fmla="*/ 469309 w 573852"/>
                <a:gd name="connsiteY38" fmla="*/ 250845 h 573361"/>
                <a:gd name="connsiteX39" fmla="*/ 518105 w 573852"/>
                <a:gd name="connsiteY39" fmla="*/ 55903 h 573361"/>
                <a:gd name="connsiteX40" fmla="*/ 479355 w 573852"/>
                <a:gd name="connsiteY40" fmla="*/ 43002 h 573361"/>
                <a:gd name="connsiteX41" fmla="*/ 94723 w 573852"/>
                <a:gd name="connsiteY41" fmla="*/ 43002 h 573361"/>
                <a:gd name="connsiteX42" fmla="*/ 55972 w 573852"/>
                <a:gd name="connsiteY42" fmla="*/ 55903 h 573361"/>
                <a:gd name="connsiteX43" fmla="*/ 43056 w 573852"/>
                <a:gd name="connsiteY43" fmla="*/ 94605 h 573361"/>
                <a:gd name="connsiteX44" fmla="*/ 104769 w 573852"/>
                <a:gd name="connsiteY44" fmla="*/ 250845 h 573361"/>
                <a:gd name="connsiteX45" fmla="*/ 173658 w 573852"/>
                <a:gd name="connsiteY45" fmla="*/ 173442 h 573361"/>
                <a:gd name="connsiteX46" fmla="*/ 251159 w 573852"/>
                <a:gd name="connsiteY46" fmla="*/ 104638 h 573361"/>
                <a:gd name="connsiteX47" fmla="*/ 94723 w 573852"/>
                <a:gd name="connsiteY47" fmla="*/ 43002 h 573361"/>
                <a:gd name="connsiteX48" fmla="*/ 94723 w 573852"/>
                <a:gd name="connsiteY48" fmla="*/ 0 h 573361"/>
                <a:gd name="connsiteX49" fmla="*/ 287039 w 573852"/>
                <a:gd name="connsiteY49" fmla="*/ 77404 h 573361"/>
                <a:gd name="connsiteX50" fmla="*/ 479355 w 573852"/>
                <a:gd name="connsiteY50" fmla="*/ 0 h 573361"/>
                <a:gd name="connsiteX51" fmla="*/ 548245 w 573852"/>
                <a:gd name="connsiteY51" fmla="*/ 25801 h 573361"/>
                <a:gd name="connsiteX52" fmla="*/ 496578 w 573852"/>
                <a:gd name="connsiteY52" fmla="*/ 286681 h 573361"/>
                <a:gd name="connsiteX53" fmla="*/ 548245 w 573852"/>
                <a:gd name="connsiteY53" fmla="*/ 547560 h 573361"/>
                <a:gd name="connsiteX54" fmla="*/ 479355 w 573852"/>
                <a:gd name="connsiteY54" fmla="*/ 573361 h 573361"/>
                <a:gd name="connsiteX55" fmla="*/ 287039 w 573852"/>
                <a:gd name="connsiteY55" fmla="*/ 495957 h 573361"/>
                <a:gd name="connsiteX56" fmla="*/ 94723 w 573852"/>
                <a:gd name="connsiteY56" fmla="*/ 573361 h 573361"/>
                <a:gd name="connsiteX57" fmla="*/ 25833 w 573852"/>
                <a:gd name="connsiteY57" fmla="*/ 547560 h 573361"/>
                <a:gd name="connsiteX58" fmla="*/ 0 w 573852"/>
                <a:gd name="connsiteY58" fmla="*/ 478756 h 573361"/>
                <a:gd name="connsiteX59" fmla="*/ 77500 w 573852"/>
                <a:gd name="connsiteY59" fmla="*/ 286681 h 573361"/>
                <a:gd name="connsiteX60" fmla="*/ 0 w 573852"/>
                <a:gd name="connsiteY60" fmla="*/ 94605 h 573361"/>
                <a:gd name="connsiteX61" fmla="*/ 25833 w 573852"/>
                <a:gd name="connsiteY61" fmla="*/ 25801 h 573361"/>
                <a:gd name="connsiteX62" fmla="*/ 94723 w 573852"/>
                <a:gd name="connsiteY62" fmla="*/ 0 h 573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73852" h="573361">
                  <a:moveTo>
                    <a:pt x="287026" y="374041"/>
                  </a:moveTo>
                  <a:cubicBezTo>
                    <a:pt x="292549" y="374041"/>
                    <a:pt x="297027" y="378210"/>
                    <a:pt x="297027" y="383352"/>
                  </a:cubicBezTo>
                  <a:cubicBezTo>
                    <a:pt x="297027" y="388494"/>
                    <a:pt x="292549" y="392663"/>
                    <a:pt x="287026" y="392663"/>
                  </a:cubicBezTo>
                  <a:cubicBezTo>
                    <a:pt x="281503" y="392663"/>
                    <a:pt x="277025" y="388494"/>
                    <a:pt x="277025" y="383352"/>
                  </a:cubicBezTo>
                  <a:cubicBezTo>
                    <a:pt x="277025" y="378210"/>
                    <a:pt x="281503" y="374041"/>
                    <a:pt x="287026" y="374041"/>
                  </a:cubicBezTo>
                  <a:close/>
                  <a:moveTo>
                    <a:pt x="469309" y="322516"/>
                  </a:moveTo>
                  <a:cubicBezTo>
                    <a:pt x="449216" y="348317"/>
                    <a:pt x="426253" y="374118"/>
                    <a:pt x="400419" y="399919"/>
                  </a:cubicBezTo>
                  <a:cubicBezTo>
                    <a:pt x="376021" y="425721"/>
                    <a:pt x="350188" y="448655"/>
                    <a:pt x="322919" y="468723"/>
                  </a:cubicBezTo>
                  <a:cubicBezTo>
                    <a:pt x="381762" y="507425"/>
                    <a:pt x="437735" y="530359"/>
                    <a:pt x="479355" y="530359"/>
                  </a:cubicBezTo>
                  <a:cubicBezTo>
                    <a:pt x="496578" y="530359"/>
                    <a:pt x="509494" y="526059"/>
                    <a:pt x="518105" y="517458"/>
                  </a:cubicBezTo>
                  <a:cubicBezTo>
                    <a:pt x="546809" y="490224"/>
                    <a:pt x="529587" y="412820"/>
                    <a:pt x="469309" y="322516"/>
                  </a:cubicBezTo>
                  <a:close/>
                  <a:moveTo>
                    <a:pt x="104769" y="322516"/>
                  </a:moveTo>
                  <a:cubicBezTo>
                    <a:pt x="66019" y="381285"/>
                    <a:pt x="43056" y="437188"/>
                    <a:pt x="43056" y="478756"/>
                  </a:cubicBezTo>
                  <a:cubicBezTo>
                    <a:pt x="43056" y="495957"/>
                    <a:pt x="47361" y="508858"/>
                    <a:pt x="55972" y="517458"/>
                  </a:cubicBezTo>
                  <a:cubicBezTo>
                    <a:pt x="64584" y="526059"/>
                    <a:pt x="77500" y="530359"/>
                    <a:pt x="94723" y="530359"/>
                  </a:cubicBezTo>
                  <a:cubicBezTo>
                    <a:pt x="136343" y="530359"/>
                    <a:pt x="192316" y="507425"/>
                    <a:pt x="251159" y="468723"/>
                  </a:cubicBezTo>
                  <a:cubicBezTo>
                    <a:pt x="223891" y="448655"/>
                    <a:pt x="198057" y="425721"/>
                    <a:pt x="173658" y="399919"/>
                  </a:cubicBezTo>
                  <a:cubicBezTo>
                    <a:pt x="147825" y="375551"/>
                    <a:pt x="124862" y="348317"/>
                    <a:pt x="104769" y="322516"/>
                  </a:cubicBezTo>
                  <a:close/>
                  <a:moveTo>
                    <a:pt x="231082" y="186446"/>
                  </a:moveTo>
                  <a:lnTo>
                    <a:pt x="342970" y="186446"/>
                  </a:lnTo>
                  <a:cubicBezTo>
                    <a:pt x="350142" y="186446"/>
                    <a:pt x="355880" y="192177"/>
                    <a:pt x="355880" y="200773"/>
                  </a:cubicBezTo>
                  <a:lnTo>
                    <a:pt x="355880" y="351208"/>
                  </a:lnTo>
                  <a:cubicBezTo>
                    <a:pt x="355880" y="359804"/>
                    <a:pt x="350142" y="365535"/>
                    <a:pt x="342970" y="365535"/>
                  </a:cubicBezTo>
                  <a:lnTo>
                    <a:pt x="231082" y="365535"/>
                  </a:lnTo>
                  <a:cubicBezTo>
                    <a:pt x="223910" y="365535"/>
                    <a:pt x="218172" y="359804"/>
                    <a:pt x="218172" y="351208"/>
                  </a:cubicBezTo>
                  <a:lnTo>
                    <a:pt x="218172" y="200773"/>
                  </a:lnTo>
                  <a:cubicBezTo>
                    <a:pt x="218172" y="192177"/>
                    <a:pt x="223910" y="186446"/>
                    <a:pt x="231082" y="186446"/>
                  </a:cubicBezTo>
                  <a:close/>
                  <a:moveTo>
                    <a:pt x="231066" y="172008"/>
                  </a:moveTo>
                  <a:cubicBezTo>
                    <a:pt x="216714" y="172008"/>
                    <a:pt x="203798" y="184909"/>
                    <a:pt x="203798" y="200676"/>
                  </a:cubicBezTo>
                  <a:lnTo>
                    <a:pt x="203798" y="372685"/>
                  </a:lnTo>
                  <a:cubicBezTo>
                    <a:pt x="203798" y="388452"/>
                    <a:pt x="216714" y="401353"/>
                    <a:pt x="231066" y="401353"/>
                  </a:cubicBezTo>
                  <a:lnTo>
                    <a:pt x="343012" y="401353"/>
                  </a:lnTo>
                  <a:cubicBezTo>
                    <a:pt x="357364" y="401353"/>
                    <a:pt x="370280" y="388452"/>
                    <a:pt x="370280" y="372685"/>
                  </a:cubicBezTo>
                  <a:lnTo>
                    <a:pt x="370280" y="200676"/>
                  </a:lnTo>
                  <a:cubicBezTo>
                    <a:pt x="370280" y="184909"/>
                    <a:pt x="357364" y="172008"/>
                    <a:pt x="343012" y="172008"/>
                  </a:cubicBezTo>
                  <a:close/>
                  <a:moveTo>
                    <a:pt x="479355" y="43002"/>
                  </a:moveTo>
                  <a:cubicBezTo>
                    <a:pt x="437735" y="43002"/>
                    <a:pt x="381762" y="65937"/>
                    <a:pt x="322919" y="104638"/>
                  </a:cubicBezTo>
                  <a:cubicBezTo>
                    <a:pt x="350188" y="124706"/>
                    <a:pt x="376021" y="147640"/>
                    <a:pt x="400419" y="173442"/>
                  </a:cubicBezTo>
                  <a:cubicBezTo>
                    <a:pt x="426253" y="199243"/>
                    <a:pt x="449216" y="225044"/>
                    <a:pt x="469309" y="250845"/>
                  </a:cubicBezTo>
                  <a:cubicBezTo>
                    <a:pt x="529587" y="160541"/>
                    <a:pt x="546809" y="83137"/>
                    <a:pt x="518105" y="55903"/>
                  </a:cubicBezTo>
                  <a:cubicBezTo>
                    <a:pt x="510929" y="47302"/>
                    <a:pt x="496578" y="43002"/>
                    <a:pt x="479355" y="43002"/>
                  </a:cubicBezTo>
                  <a:close/>
                  <a:moveTo>
                    <a:pt x="94723" y="43002"/>
                  </a:moveTo>
                  <a:cubicBezTo>
                    <a:pt x="77500" y="43002"/>
                    <a:pt x="64584" y="47302"/>
                    <a:pt x="55972" y="55903"/>
                  </a:cubicBezTo>
                  <a:cubicBezTo>
                    <a:pt x="47361" y="64503"/>
                    <a:pt x="43056" y="77404"/>
                    <a:pt x="43056" y="94605"/>
                  </a:cubicBezTo>
                  <a:cubicBezTo>
                    <a:pt x="43056" y="136173"/>
                    <a:pt x="66019" y="192076"/>
                    <a:pt x="104769" y="250845"/>
                  </a:cubicBezTo>
                  <a:cubicBezTo>
                    <a:pt x="124862" y="223611"/>
                    <a:pt x="147825" y="197810"/>
                    <a:pt x="173658" y="173442"/>
                  </a:cubicBezTo>
                  <a:cubicBezTo>
                    <a:pt x="198057" y="147640"/>
                    <a:pt x="223891" y="124706"/>
                    <a:pt x="251159" y="104638"/>
                  </a:cubicBezTo>
                  <a:cubicBezTo>
                    <a:pt x="192316" y="65937"/>
                    <a:pt x="136343" y="43002"/>
                    <a:pt x="94723" y="43002"/>
                  </a:cubicBezTo>
                  <a:close/>
                  <a:moveTo>
                    <a:pt x="94723" y="0"/>
                  </a:moveTo>
                  <a:cubicBezTo>
                    <a:pt x="146390" y="0"/>
                    <a:pt x="216714" y="28668"/>
                    <a:pt x="287039" y="77404"/>
                  </a:cubicBezTo>
                  <a:cubicBezTo>
                    <a:pt x="357364" y="28668"/>
                    <a:pt x="427688" y="0"/>
                    <a:pt x="479355" y="0"/>
                  </a:cubicBezTo>
                  <a:cubicBezTo>
                    <a:pt x="508059" y="0"/>
                    <a:pt x="532457" y="8600"/>
                    <a:pt x="548245" y="25801"/>
                  </a:cubicBezTo>
                  <a:cubicBezTo>
                    <a:pt x="597041" y="73104"/>
                    <a:pt x="574078" y="176309"/>
                    <a:pt x="496578" y="286681"/>
                  </a:cubicBezTo>
                  <a:cubicBezTo>
                    <a:pt x="574078" y="397053"/>
                    <a:pt x="597041" y="500257"/>
                    <a:pt x="548245" y="547560"/>
                  </a:cubicBezTo>
                  <a:cubicBezTo>
                    <a:pt x="532457" y="564761"/>
                    <a:pt x="508059" y="573361"/>
                    <a:pt x="479355" y="573361"/>
                  </a:cubicBezTo>
                  <a:cubicBezTo>
                    <a:pt x="427688" y="573361"/>
                    <a:pt x="357364" y="544693"/>
                    <a:pt x="287039" y="495957"/>
                  </a:cubicBezTo>
                  <a:cubicBezTo>
                    <a:pt x="216714" y="544693"/>
                    <a:pt x="146390" y="573361"/>
                    <a:pt x="94723" y="573361"/>
                  </a:cubicBezTo>
                  <a:cubicBezTo>
                    <a:pt x="66019" y="573361"/>
                    <a:pt x="41621" y="564761"/>
                    <a:pt x="25833" y="547560"/>
                  </a:cubicBezTo>
                  <a:cubicBezTo>
                    <a:pt x="8611" y="531792"/>
                    <a:pt x="0" y="507425"/>
                    <a:pt x="0" y="478756"/>
                  </a:cubicBezTo>
                  <a:cubicBezTo>
                    <a:pt x="0" y="427154"/>
                    <a:pt x="28704" y="356917"/>
                    <a:pt x="77500" y="286681"/>
                  </a:cubicBezTo>
                  <a:cubicBezTo>
                    <a:pt x="28704" y="216444"/>
                    <a:pt x="0" y="146207"/>
                    <a:pt x="0" y="94605"/>
                  </a:cubicBezTo>
                  <a:cubicBezTo>
                    <a:pt x="0" y="65937"/>
                    <a:pt x="8611" y="41569"/>
                    <a:pt x="25833" y="25801"/>
                  </a:cubicBezTo>
                  <a:cubicBezTo>
                    <a:pt x="41621" y="8600"/>
                    <a:pt x="66019" y="0"/>
                    <a:pt x="94723" y="0"/>
                  </a:cubicBezTo>
                  <a:close/>
                </a:path>
              </a:pathLst>
            </a:custGeom>
            <a:solidFill>
              <a:srgbClr val="242424"/>
            </a:solidFill>
            <a:ln>
              <a:noFill/>
            </a:ln>
            <a:sp3d prstMaterial="matte"/>
          </p:spPr>
          <p:txBody>
            <a:bodyPr wrap="square" lIns="91440" tIns="45720" rIns="91440" bIns="4572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ïSlîḋê"/>
            <p:cNvSpPr/>
            <p:nvPr/>
          </p:nvSpPr>
          <p:spPr bwMode="auto">
            <a:xfrm>
              <a:off x="5883676" y="4514582"/>
              <a:ext cx="436146" cy="425117"/>
            </a:xfrm>
            <a:custGeom>
              <a:avLst/>
              <a:gdLst>
                <a:gd name="T0" fmla="*/ 472622 w 604011"/>
                <a:gd name="T1" fmla="*/ 472622 w 604011"/>
                <a:gd name="T2" fmla="*/ 472622 w 604011"/>
                <a:gd name="T3" fmla="*/ 472622 w 604011"/>
                <a:gd name="T4" fmla="*/ 472622 w 604011"/>
                <a:gd name="T5" fmla="*/ 472622 w 604011"/>
                <a:gd name="T6" fmla="*/ 472622 w 604011"/>
                <a:gd name="T7" fmla="*/ 472622 w 604011"/>
                <a:gd name="T8" fmla="*/ 472622 w 604011"/>
                <a:gd name="T9" fmla="*/ 472622 w 604011"/>
                <a:gd name="T10" fmla="*/ 472622 w 604011"/>
                <a:gd name="T11" fmla="*/ 472622 w 604011"/>
                <a:gd name="T12" fmla="*/ 472622 w 604011"/>
                <a:gd name="T13" fmla="*/ 472622 w 604011"/>
                <a:gd name="T14" fmla="*/ 472622 w 604011"/>
                <a:gd name="T15" fmla="*/ 472622 w 604011"/>
                <a:gd name="T16" fmla="*/ 472622 w 604011"/>
                <a:gd name="T17" fmla="*/ 472622 w 604011"/>
                <a:gd name="T18" fmla="*/ 472622 w 604011"/>
                <a:gd name="T19" fmla="*/ 472622 w 604011"/>
                <a:gd name="T20" fmla="*/ 472622 w 604011"/>
                <a:gd name="T21" fmla="*/ 472622 w 604011"/>
                <a:gd name="T22" fmla="*/ 472622 w 604011"/>
                <a:gd name="T23" fmla="*/ 472622 w 604011"/>
                <a:gd name="T24" fmla="*/ 472622 w 604011"/>
                <a:gd name="T25" fmla="*/ 472622 w 604011"/>
                <a:gd name="T26" fmla="*/ 472622 w 604011"/>
                <a:gd name="T27" fmla="*/ 472622 w 604011"/>
                <a:gd name="T28" fmla="*/ 472622 w 604011"/>
                <a:gd name="T29" fmla="*/ 472622 w 604011"/>
                <a:gd name="T30" fmla="*/ 472622 w 604011"/>
                <a:gd name="T31" fmla="*/ 472622 w 604011"/>
                <a:gd name="T32" fmla="*/ 472622 w 604011"/>
                <a:gd name="T33" fmla="*/ 472622 w 604011"/>
                <a:gd name="T34" fmla="*/ 472622 w 604011"/>
                <a:gd name="T35" fmla="*/ 472622 w 604011"/>
                <a:gd name="T36" fmla="*/ 472622 w 604011"/>
                <a:gd name="T37" fmla="*/ 472622 w 604011"/>
                <a:gd name="T38" fmla="*/ 472622 w 604011"/>
                <a:gd name="T39" fmla="*/ 472622 w 604011"/>
                <a:gd name="T40" fmla="*/ 472622 w 604011"/>
                <a:gd name="T41" fmla="*/ 472622 w 604011"/>
                <a:gd name="T42" fmla="*/ 472622 w 604011"/>
                <a:gd name="T43" fmla="*/ 472622 w 604011"/>
                <a:gd name="T44" fmla="*/ 472622 w 604011"/>
                <a:gd name="T45" fmla="*/ 472622 w 604011"/>
                <a:gd name="T46" fmla="*/ 472622 w 604011"/>
                <a:gd name="T47" fmla="*/ 472622 w 604011"/>
                <a:gd name="T48" fmla="*/ 472622 w 604011"/>
                <a:gd name="T49" fmla="*/ 472622 w 604011"/>
                <a:gd name="T50" fmla="*/ 472622 w 604011"/>
                <a:gd name="T51" fmla="*/ 472622 w 604011"/>
                <a:gd name="T52" fmla="*/ 472622 w 604011"/>
                <a:gd name="T53" fmla="*/ 472622 w 604011"/>
                <a:gd name="T54" fmla="*/ 472622 w 604011"/>
                <a:gd name="T55" fmla="*/ 472622 w 604011"/>
                <a:gd name="T56" fmla="*/ 472622 w 604011"/>
                <a:gd name="T57" fmla="*/ 472622 w 604011"/>
                <a:gd name="T58" fmla="*/ 472622 w 604011"/>
                <a:gd name="T59" fmla="*/ 472622 w 604011"/>
                <a:gd name="T60" fmla="*/ 472622 w 604011"/>
                <a:gd name="T61" fmla="*/ 472622 w 604011"/>
                <a:gd name="T62" fmla="*/ 472622 w 604011"/>
                <a:gd name="T63" fmla="*/ 472622 w 604011"/>
                <a:gd name="T64" fmla="*/ 472622 w 604011"/>
                <a:gd name="T65" fmla="*/ 472622 w 604011"/>
                <a:gd name="T66" fmla="*/ 472622 w 604011"/>
                <a:gd name="T67" fmla="*/ 472622 w 604011"/>
                <a:gd name="T68" fmla="*/ 472622 w 604011"/>
                <a:gd name="T69" fmla="*/ 472622 w 604011"/>
                <a:gd name="T70" fmla="*/ 472622 w 604011"/>
                <a:gd name="T71" fmla="*/ 472622 w 604011"/>
                <a:gd name="T72" fmla="*/ 472622 w 604011"/>
                <a:gd name="T73" fmla="*/ 472622 w 604011"/>
                <a:gd name="T74" fmla="*/ 472622 w 604011"/>
                <a:gd name="T75" fmla="*/ 472622 w 604011"/>
                <a:gd name="T76" fmla="*/ 472622 w 604011"/>
                <a:gd name="T77" fmla="*/ 472622 w 604011"/>
                <a:gd name="T78" fmla="*/ 472622 w 604011"/>
                <a:gd name="T79" fmla="*/ 472622 w 604011"/>
                <a:gd name="T80" fmla="*/ 472622 w 604011"/>
                <a:gd name="T81" fmla="*/ 472622 w 604011"/>
                <a:gd name="T82" fmla="*/ 472622 w 604011"/>
                <a:gd name="T83" fmla="*/ 472622 w 604011"/>
                <a:gd name="T84" fmla="*/ 472622 w 604011"/>
                <a:gd name="T85" fmla="*/ 472622 w 604011"/>
                <a:gd name="T86" fmla="*/ 472622 w 604011"/>
                <a:gd name="T87" fmla="*/ 472622 w 604011"/>
                <a:gd name="T88" fmla="*/ 472622 w 604011"/>
                <a:gd name="T89" fmla="*/ 472622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18" h="408">
                  <a:moveTo>
                    <a:pt x="246" y="243"/>
                  </a:moveTo>
                  <a:lnTo>
                    <a:pt x="362" y="127"/>
                  </a:lnTo>
                  <a:lnTo>
                    <a:pt x="418" y="183"/>
                  </a:lnTo>
                  <a:lnTo>
                    <a:pt x="302" y="299"/>
                  </a:lnTo>
                  <a:lnTo>
                    <a:pt x="246" y="243"/>
                  </a:lnTo>
                  <a:close/>
                  <a:moveTo>
                    <a:pt x="235" y="283"/>
                  </a:moveTo>
                  <a:lnTo>
                    <a:pt x="227" y="318"/>
                  </a:lnTo>
                  <a:lnTo>
                    <a:pt x="261" y="309"/>
                  </a:lnTo>
                  <a:lnTo>
                    <a:pt x="235" y="283"/>
                  </a:lnTo>
                  <a:close/>
                  <a:moveTo>
                    <a:pt x="304" y="316"/>
                  </a:moveTo>
                  <a:lnTo>
                    <a:pt x="330" y="290"/>
                  </a:lnTo>
                  <a:lnTo>
                    <a:pt x="330" y="408"/>
                  </a:lnTo>
                  <a:lnTo>
                    <a:pt x="0" y="408"/>
                  </a:lnTo>
                  <a:lnTo>
                    <a:pt x="0" y="112"/>
                  </a:lnTo>
                  <a:lnTo>
                    <a:pt x="106" y="0"/>
                  </a:lnTo>
                  <a:lnTo>
                    <a:pt x="330" y="0"/>
                  </a:lnTo>
                  <a:lnTo>
                    <a:pt x="330" y="140"/>
                  </a:lnTo>
                  <a:lnTo>
                    <a:pt x="304" y="165"/>
                  </a:lnTo>
                  <a:lnTo>
                    <a:pt x="304" y="26"/>
                  </a:lnTo>
                  <a:lnTo>
                    <a:pt x="122" y="26"/>
                  </a:lnTo>
                  <a:lnTo>
                    <a:pt x="122" y="122"/>
                  </a:lnTo>
                  <a:lnTo>
                    <a:pt x="25" y="122"/>
                  </a:lnTo>
                  <a:lnTo>
                    <a:pt x="25" y="382"/>
                  </a:lnTo>
                  <a:lnTo>
                    <a:pt x="304" y="382"/>
                  </a:lnTo>
                  <a:lnTo>
                    <a:pt x="304" y="316"/>
                  </a:lnTo>
                  <a:close/>
                  <a:moveTo>
                    <a:pt x="49" y="96"/>
                  </a:moveTo>
                  <a:lnTo>
                    <a:pt x="96" y="96"/>
                  </a:lnTo>
                  <a:lnTo>
                    <a:pt x="96" y="47"/>
                  </a:lnTo>
                  <a:lnTo>
                    <a:pt x="49" y="96"/>
                  </a:lnTo>
                  <a:close/>
                  <a:moveTo>
                    <a:pt x="272" y="197"/>
                  </a:moveTo>
                  <a:lnTo>
                    <a:pt x="272" y="194"/>
                  </a:lnTo>
                  <a:lnTo>
                    <a:pt x="56" y="194"/>
                  </a:lnTo>
                  <a:lnTo>
                    <a:pt x="56" y="222"/>
                  </a:lnTo>
                  <a:lnTo>
                    <a:pt x="247" y="222"/>
                  </a:lnTo>
                  <a:lnTo>
                    <a:pt x="272" y="197"/>
                  </a:lnTo>
                  <a:close/>
                  <a:moveTo>
                    <a:pt x="230" y="250"/>
                  </a:moveTo>
                  <a:lnTo>
                    <a:pt x="56" y="250"/>
                  </a:lnTo>
                  <a:lnTo>
                    <a:pt x="56" y="279"/>
                  </a:lnTo>
                  <a:lnTo>
                    <a:pt x="222" y="279"/>
                  </a:lnTo>
                  <a:lnTo>
                    <a:pt x="230" y="250"/>
                  </a:lnTo>
                  <a:close/>
                  <a:moveTo>
                    <a:pt x="56" y="338"/>
                  </a:moveTo>
                  <a:lnTo>
                    <a:pt x="208" y="338"/>
                  </a:lnTo>
                  <a:lnTo>
                    <a:pt x="215" y="310"/>
                  </a:lnTo>
                  <a:lnTo>
                    <a:pt x="56" y="310"/>
                  </a:lnTo>
                  <a:lnTo>
                    <a:pt x="56" y="338"/>
                  </a:lnTo>
                  <a:close/>
                </a:path>
              </a:pathLst>
            </a:custGeom>
            <a:solidFill>
              <a:srgbClr val="24C6DB"/>
            </a:solidFill>
            <a:ln>
              <a:noFill/>
            </a:ln>
            <a:sp3d prstMaterial="matte"/>
          </p:spPr>
          <p:txBody>
            <a:bodyPr wrap="square" lIns="91440" tIns="45720" rIns="91440" bIns="4572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7" name="组合 76"/>
          <p:cNvGrpSpPr/>
          <p:nvPr/>
        </p:nvGrpSpPr>
        <p:grpSpPr>
          <a:xfrm>
            <a:off x="8447822" y="2328587"/>
            <a:ext cx="2276500" cy="1488068"/>
            <a:chOff x="928274" y="2723985"/>
            <a:chExt cx="2276500" cy="1488068"/>
          </a:xfrm>
        </p:grpSpPr>
        <p:sp>
          <p:nvSpPr>
            <p:cNvPr id="78" name="文本框 77"/>
            <p:cNvSpPr txBox="1"/>
            <p:nvPr/>
          </p:nvSpPr>
          <p:spPr>
            <a:xfrm>
              <a:off x="928274" y="2723985"/>
              <a:ext cx="1569660" cy="461665"/>
            </a:xfrm>
            <a:prstGeom prst="rect">
              <a:avLst/>
            </a:prstGeom>
            <a:noFill/>
          </p:spPr>
          <p:txBody>
            <a:bodyPr wrap="none" rtlCol="0">
              <a:spAutoFit/>
              <a:scene3d>
                <a:camera prst="orthographicFront"/>
                <a:lightRig rig="threePt" dir="t"/>
              </a:scene3d>
              <a:sp3d contourW="12700"/>
            </a:bodyPr>
            <a:lstStyle/>
            <a:p>
              <a:pPr algn="ctr"/>
              <a:r>
                <a:rPr lang="zh-CN" altLang="en-US" sz="2400" i="1" spc="300" dirty="0">
                  <a:latin typeface="黑体" panose="02010609060101010101" pitchFamily="49" charset="-122"/>
                  <a:ea typeface="黑体" panose="02010609060101010101" pitchFamily="49" charset="-122"/>
                </a:rPr>
                <a:t>公共外语</a:t>
              </a:r>
              <a:endParaRPr lang="zh-CN" altLang="en-US" sz="2400" i="1" spc="300" dirty="0">
                <a:latin typeface="黑体" panose="02010609060101010101" pitchFamily="49" charset="-122"/>
                <a:ea typeface="黑体" panose="02010609060101010101" pitchFamily="49" charset="-122"/>
              </a:endParaRPr>
            </a:p>
          </p:txBody>
        </p:sp>
        <p:sp>
          <p:nvSpPr>
            <p:cNvPr id="79" name="文本框 78"/>
            <p:cNvSpPr txBox="1"/>
            <p:nvPr/>
          </p:nvSpPr>
          <p:spPr>
            <a:xfrm>
              <a:off x="960768" y="3159457"/>
              <a:ext cx="2244006"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除英语外，开设</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日语、法语、阿语等</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其他公共外语</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80" name="组合 79"/>
          <p:cNvGrpSpPr/>
          <p:nvPr/>
        </p:nvGrpSpPr>
        <p:grpSpPr>
          <a:xfrm flipH="1">
            <a:off x="1259740" y="2328587"/>
            <a:ext cx="2484438" cy="1488068"/>
            <a:chOff x="928274" y="2723985"/>
            <a:chExt cx="2484438" cy="1488068"/>
          </a:xfrm>
        </p:grpSpPr>
        <p:sp>
          <p:nvSpPr>
            <p:cNvPr id="81" name="文本框 80"/>
            <p:cNvSpPr txBox="1"/>
            <p:nvPr/>
          </p:nvSpPr>
          <p:spPr>
            <a:xfrm>
              <a:off x="928274" y="2723985"/>
              <a:ext cx="1569660" cy="461665"/>
            </a:xfrm>
            <a:prstGeom prst="rect">
              <a:avLst/>
            </a:prstGeom>
            <a:noFill/>
          </p:spPr>
          <p:txBody>
            <a:bodyPr wrap="none" rtlCol="0">
              <a:spAutoFit/>
              <a:scene3d>
                <a:camera prst="orthographicFront"/>
                <a:lightRig rig="threePt" dir="t"/>
              </a:scene3d>
              <a:sp3d contourW="12700"/>
            </a:bodyPr>
            <a:lstStyle/>
            <a:p>
              <a:pPr algn="r"/>
              <a:r>
                <a:rPr lang="zh-CN" altLang="en-US" sz="2400" i="1" spc="300" dirty="0">
                  <a:latin typeface="黑体" panose="02010609060101010101" pitchFamily="49" charset="-122"/>
                  <a:ea typeface="黑体" panose="02010609060101010101" pitchFamily="49" charset="-122"/>
                </a:rPr>
                <a:t>外语能力</a:t>
              </a:r>
              <a:endParaRPr lang="zh-CN" altLang="en-US" sz="2400" i="1" spc="300" dirty="0">
                <a:latin typeface="黑体" panose="02010609060101010101" pitchFamily="49" charset="-122"/>
                <a:ea typeface="黑体" panose="02010609060101010101" pitchFamily="49" charset="-122"/>
              </a:endParaRPr>
            </a:p>
          </p:txBody>
        </p:sp>
        <p:sp>
          <p:nvSpPr>
            <p:cNvPr id="82" name="文本框 81"/>
            <p:cNvSpPr txBox="1"/>
            <p:nvPr/>
          </p:nvSpPr>
          <p:spPr>
            <a:xfrm>
              <a:off x="960768" y="3159457"/>
              <a:ext cx="2451944" cy="1052596"/>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外语专业</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采取多语种复语培养，</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非外语专业</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采取“专业</a:t>
              </a: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外语”培养模式</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83" name="组合 82"/>
          <p:cNvGrpSpPr/>
          <p:nvPr/>
        </p:nvGrpSpPr>
        <p:grpSpPr>
          <a:xfrm>
            <a:off x="8447822" y="4513018"/>
            <a:ext cx="2276500" cy="1808155"/>
            <a:chOff x="928274" y="2723985"/>
            <a:chExt cx="2276500" cy="1808155"/>
          </a:xfrm>
        </p:grpSpPr>
        <p:sp>
          <p:nvSpPr>
            <p:cNvPr id="84" name="文本框 83"/>
            <p:cNvSpPr txBox="1"/>
            <p:nvPr/>
          </p:nvSpPr>
          <p:spPr>
            <a:xfrm>
              <a:off x="928274" y="2723985"/>
              <a:ext cx="1569660" cy="461665"/>
            </a:xfrm>
            <a:prstGeom prst="rect">
              <a:avLst/>
            </a:prstGeom>
            <a:noFill/>
          </p:spPr>
          <p:txBody>
            <a:bodyPr wrap="none" rtlCol="0">
              <a:spAutoFit/>
              <a:scene3d>
                <a:camera prst="orthographicFront"/>
                <a:lightRig rig="threePt" dir="t"/>
              </a:scene3d>
              <a:sp3d contourW="12700"/>
            </a:bodyPr>
            <a:lstStyle/>
            <a:p>
              <a:pPr algn="ctr"/>
              <a:r>
                <a:rPr lang="zh-CN" altLang="en-US" sz="2400" i="1" spc="300" dirty="0">
                  <a:latin typeface="黑体" panose="02010609060101010101" pitchFamily="49" charset="-122"/>
                  <a:ea typeface="黑体" panose="02010609060101010101" pitchFamily="49" charset="-122"/>
                </a:rPr>
                <a:t>应用能力</a:t>
              </a:r>
              <a:endParaRPr lang="zh-CN" altLang="en-US" sz="2400" i="1" spc="300" dirty="0">
                <a:latin typeface="黑体" panose="02010609060101010101" pitchFamily="49" charset="-122"/>
                <a:ea typeface="黑体" panose="02010609060101010101" pitchFamily="49" charset="-122"/>
              </a:endParaRPr>
            </a:p>
          </p:txBody>
        </p:sp>
        <p:sp>
          <p:nvSpPr>
            <p:cNvPr id="85" name="文本框 84"/>
            <p:cNvSpPr txBox="1"/>
            <p:nvPr/>
          </p:nvSpPr>
          <p:spPr>
            <a:xfrm>
              <a:off x="960768" y="3159457"/>
              <a:ext cx="2244006" cy="1372683"/>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北语在校生</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雅思</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考试平均成绩位列</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全国所有考点第一名；</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英语</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专四专八</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通过率高</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86" name="组合 85"/>
          <p:cNvGrpSpPr/>
          <p:nvPr/>
        </p:nvGrpSpPr>
        <p:grpSpPr>
          <a:xfrm flipH="1">
            <a:off x="1259740" y="4513018"/>
            <a:ext cx="2484438" cy="1488068"/>
            <a:chOff x="928274" y="2723985"/>
            <a:chExt cx="2484438" cy="1488068"/>
          </a:xfrm>
        </p:grpSpPr>
        <p:sp>
          <p:nvSpPr>
            <p:cNvPr id="87" name="文本框 86"/>
            <p:cNvSpPr txBox="1"/>
            <p:nvPr/>
          </p:nvSpPr>
          <p:spPr>
            <a:xfrm>
              <a:off x="928274" y="2723985"/>
              <a:ext cx="1569660" cy="461665"/>
            </a:xfrm>
            <a:prstGeom prst="rect">
              <a:avLst/>
            </a:prstGeom>
            <a:noFill/>
          </p:spPr>
          <p:txBody>
            <a:bodyPr wrap="none" rtlCol="0">
              <a:spAutoFit/>
              <a:scene3d>
                <a:camera prst="orthographicFront"/>
                <a:lightRig rig="threePt" dir="t"/>
              </a:scene3d>
              <a:sp3d contourW="12700"/>
            </a:bodyPr>
            <a:lstStyle/>
            <a:p>
              <a:pPr algn="ctr"/>
              <a:r>
                <a:rPr lang="zh-CN" altLang="en-US" sz="2400" i="1" spc="300" dirty="0">
                  <a:latin typeface="黑体" panose="02010609060101010101" pitchFamily="49" charset="-122"/>
                  <a:ea typeface="黑体" panose="02010609060101010101" pitchFamily="49" charset="-122"/>
                </a:rPr>
                <a:t>语文能力</a:t>
              </a:r>
              <a:endParaRPr lang="zh-CN" altLang="en-US" sz="2400" i="1" spc="300" dirty="0">
                <a:latin typeface="黑体" panose="02010609060101010101" pitchFamily="49" charset="-122"/>
                <a:ea typeface="黑体" panose="02010609060101010101" pitchFamily="49" charset="-122"/>
              </a:endParaRPr>
            </a:p>
          </p:txBody>
        </p:sp>
        <p:sp>
          <p:nvSpPr>
            <p:cNvPr id="88" name="文本框 87"/>
            <p:cNvSpPr txBox="1"/>
            <p:nvPr/>
          </p:nvSpPr>
          <p:spPr>
            <a:xfrm>
              <a:off x="960768" y="3159457"/>
              <a:ext cx="2451944" cy="1052596"/>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依托中国语言文学学科优势，重视学生</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语文能力和人文素养</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的培育</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40" name="组合 39"/>
          <p:cNvGrpSpPr/>
          <p:nvPr/>
        </p:nvGrpSpPr>
        <p:grpSpPr>
          <a:xfrm>
            <a:off x="494553" y="150818"/>
            <a:ext cx="6106714" cy="1125795"/>
            <a:chOff x="494553" y="150818"/>
            <a:chExt cx="6106714" cy="1125795"/>
          </a:xfrm>
        </p:grpSpPr>
        <p:grpSp>
          <p:nvGrpSpPr>
            <p:cNvPr id="41" name="组合 40"/>
            <p:cNvGrpSpPr/>
            <p:nvPr/>
          </p:nvGrpSpPr>
          <p:grpSpPr>
            <a:xfrm>
              <a:off x="494553" y="321393"/>
              <a:ext cx="5744845" cy="955220"/>
              <a:chOff x="494553" y="321393"/>
              <a:chExt cx="5744845" cy="955220"/>
            </a:xfrm>
          </p:grpSpPr>
          <p:sp>
            <p:nvSpPr>
              <p:cNvPr id="43" name="文本框 42"/>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培养</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特色</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4" name="文本框 43"/>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2"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45BDD6"/>
                  </a:solidFill>
                  <a:latin typeface="黑体" panose="02010609060101010101" pitchFamily="49" charset="-122"/>
                  <a:ea typeface="黑体" panose="02010609060101010101" pitchFamily="49" charset="-122"/>
                </a:rPr>
                <a:t>语言</a:t>
              </a:r>
              <a:r>
                <a:rPr lang="en-US" altLang="zh-CN" sz="2400" b="1" i="1" spc="300" dirty="0">
                  <a:solidFill>
                    <a:schemeClr val="bg2">
                      <a:lumMod val="50000"/>
                    </a:schemeClr>
                  </a:solidFill>
                  <a:latin typeface="黑体" panose="02010609060101010101" pitchFamily="49" charset="-122"/>
                  <a:ea typeface="黑体" panose="02010609060101010101" pitchFamily="49" charset="-122"/>
                </a:rPr>
                <a:t>+</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p:cTn id="7" dur="1000" fill="hold"/>
                                        <p:tgtEl>
                                          <p:spTgt spid="56"/>
                                        </p:tgtEl>
                                        <p:attrNameLst>
                                          <p:attrName>ppt_w</p:attrName>
                                        </p:attrNameLst>
                                      </p:cBhvr>
                                      <p:tavLst>
                                        <p:tav tm="0">
                                          <p:val>
                                            <p:fltVal val="0"/>
                                          </p:val>
                                        </p:tav>
                                        <p:tav tm="100000">
                                          <p:val>
                                            <p:strVal val="#ppt_w"/>
                                          </p:val>
                                        </p:tav>
                                      </p:tavLst>
                                    </p:anim>
                                    <p:anim calcmode="lin" valueType="num">
                                      <p:cBhvr>
                                        <p:cTn id="8" dur="1000" fill="hold"/>
                                        <p:tgtEl>
                                          <p:spTgt spid="56"/>
                                        </p:tgtEl>
                                        <p:attrNameLst>
                                          <p:attrName>ppt_h</p:attrName>
                                        </p:attrNameLst>
                                      </p:cBhvr>
                                      <p:tavLst>
                                        <p:tav tm="0">
                                          <p:val>
                                            <p:fltVal val="0"/>
                                          </p:val>
                                        </p:tav>
                                        <p:tav tm="100000">
                                          <p:val>
                                            <p:strVal val="#ppt_h"/>
                                          </p:val>
                                        </p:tav>
                                      </p:tavLst>
                                    </p:anim>
                                    <p:anim calcmode="lin" valueType="num">
                                      <p:cBhvr>
                                        <p:cTn id="9" dur="1000" fill="hold"/>
                                        <p:tgtEl>
                                          <p:spTgt spid="56"/>
                                        </p:tgtEl>
                                        <p:attrNameLst>
                                          <p:attrName>style.rotation</p:attrName>
                                        </p:attrNameLst>
                                      </p:cBhvr>
                                      <p:tavLst>
                                        <p:tav tm="0">
                                          <p:val>
                                            <p:fltVal val="90"/>
                                          </p:val>
                                        </p:tav>
                                        <p:tav tm="100000">
                                          <p:val>
                                            <p:fltVal val="0"/>
                                          </p:val>
                                        </p:tav>
                                      </p:tavLst>
                                    </p:anim>
                                    <p:animEffect transition="in" filter="fade">
                                      <p:cBhvr>
                                        <p:cTn id="10" dur="1000"/>
                                        <p:tgtEl>
                                          <p:spTgt spid="56"/>
                                        </p:tgtEl>
                                      </p:cBhvr>
                                    </p:animEffect>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80"/>
                                        </p:tgtEl>
                                        <p:attrNameLst>
                                          <p:attrName>style.visibility</p:attrName>
                                        </p:attrNameLst>
                                      </p:cBhvr>
                                      <p:to>
                                        <p:strVal val="visible"/>
                                      </p:to>
                                    </p:set>
                                    <p:anim calcmode="lin" valueType="num">
                                      <p:cBhvr additive="base">
                                        <p:cTn id="14" dur="500" fill="hold"/>
                                        <p:tgtEl>
                                          <p:spTgt spid="80"/>
                                        </p:tgtEl>
                                        <p:attrNameLst>
                                          <p:attrName>ppt_x</p:attrName>
                                        </p:attrNameLst>
                                      </p:cBhvr>
                                      <p:tavLst>
                                        <p:tav tm="0">
                                          <p:val>
                                            <p:strVal val="0-#ppt_w/2"/>
                                          </p:val>
                                        </p:tav>
                                        <p:tav tm="100000">
                                          <p:val>
                                            <p:strVal val="#ppt_x"/>
                                          </p:val>
                                        </p:tav>
                                      </p:tavLst>
                                    </p:anim>
                                    <p:anim calcmode="lin" valueType="num">
                                      <p:cBhvr additive="base">
                                        <p:cTn id="15" dur="500" fill="hold"/>
                                        <p:tgtEl>
                                          <p:spTgt spid="80"/>
                                        </p:tgtEl>
                                        <p:attrNameLst>
                                          <p:attrName>ppt_y</p:attrName>
                                        </p:attrNameLst>
                                      </p:cBhvr>
                                      <p:tavLst>
                                        <p:tav tm="0">
                                          <p:val>
                                            <p:strVal val="#ppt_y"/>
                                          </p:val>
                                        </p:tav>
                                        <p:tav tm="100000">
                                          <p:val>
                                            <p:strVal val="#ppt_y"/>
                                          </p:val>
                                        </p:tav>
                                      </p:tavLst>
                                    </p:anim>
                                  </p:childTnLst>
                                </p:cTn>
                              </p:par>
                              <p:par>
                                <p:cTn id="16" presetID="2" presetClass="entr" presetSubtype="8" fill="hold" nodeType="withEffect">
                                  <p:stCondLst>
                                    <p:cond delay="0"/>
                                  </p:stCondLst>
                                  <p:childTnLst>
                                    <p:set>
                                      <p:cBhvr>
                                        <p:cTn id="17" dur="1" fill="hold">
                                          <p:stCondLst>
                                            <p:cond delay="0"/>
                                          </p:stCondLst>
                                        </p:cTn>
                                        <p:tgtEl>
                                          <p:spTgt spid="86"/>
                                        </p:tgtEl>
                                        <p:attrNameLst>
                                          <p:attrName>style.visibility</p:attrName>
                                        </p:attrNameLst>
                                      </p:cBhvr>
                                      <p:to>
                                        <p:strVal val="visible"/>
                                      </p:to>
                                    </p:set>
                                    <p:anim calcmode="lin" valueType="num">
                                      <p:cBhvr additive="base">
                                        <p:cTn id="18" dur="500" fill="hold"/>
                                        <p:tgtEl>
                                          <p:spTgt spid="86"/>
                                        </p:tgtEl>
                                        <p:attrNameLst>
                                          <p:attrName>ppt_x</p:attrName>
                                        </p:attrNameLst>
                                      </p:cBhvr>
                                      <p:tavLst>
                                        <p:tav tm="0">
                                          <p:val>
                                            <p:strVal val="0-#ppt_w/2"/>
                                          </p:val>
                                        </p:tav>
                                        <p:tav tm="100000">
                                          <p:val>
                                            <p:strVal val="#ppt_x"/>
                                          </p:val>
                                        </p:tav>
                                      </p:tavLst>
                                    </p:anim>
                                    <p:anim calcmode="lin" valueType="num">
                                      <p:cBhvr additive="base">
                                        <p:cTn id="19" dur="500" fill="hold"/>
                                        <p:tgtEl>
                                          <p:spTgt spid="86"/>
                                        </p:tgtEl>
                                        <p:attrNameLst>
                                          <p:attrName>ppt_y</p:attrName>
                                        </p:attrNameLst>
                                      </p:cBhvr>
                                      <p:tavLst>
                                        <p:tav tm="0">
                                          <p:val>
                                            <p:strVal val="#ppt_y"/>
                                          </p:val>
                                        </p:tav>
                                        <p:tav tm="100000">
                                          <p:val>
                                            <p:strVal val="#ppt_y"/>
                                          </p:val>
                                        </p:tav>
                                      </p:tavLst>
                                    </p:anim>
                                  </p:childTnLst>
                                </p:cTn>
                              </p:par>
                              <p:par>
                                <p:cTn id="20" presetID="2" presetClass="entr" presetSubtype="2" fill="hold" nodeType="withEffect">
                                  <p:stCondLst>
                                    <p:cond delay="0"/>
                                  </p:stCondLst>
                                  <p:childTnLst>
                                    <p:set>
                                      <p:cBhvr>
                                        <p:cTn id="21" dur="1" fill="hold">
                                          <p:stCondLst>
                                            <p:cond delay="0"/>
                                          </p:stCondLst>
                                        </p:cTn>
                                        <p:tgtEl>
                                          <p:spTgt spid="77"/>
                                        </p:tgtEl>
                                        <p:attrNameLst>
                                          <p:attrName>style.visibility</p:attrName>
                                        </p:attrNameLst>
                                      </p:cBhvr>
                                      <p:to>
                                        <p:strVal val="visible"/>
                                      </p:to>
                                    </p:set>
                                    <p:anim calcmode="lin" valueType="num">
                                      <p:cBhvr additive="base">
                                        <p:cTn id="22" dur="500" fill="hold"/>
                                        <p:tgtEl>
                                          <p:spTgt spid="77"/>
                                        </p:tgtEl>
                                        <p:attrNameLst>
                                          <p:attrName>ppt_x</p:attrName>
                                        </p:attrNameLst>
                                      </p:cBhvr>
                                      <p:tavLst>
                                        <p:tav tm="0">
                                          <p:val>
                                            <p:strVal val="1+#ppt_w/2"/>
                                          </p:val>
                                        </p:tav>
                                        <p:tav tm="100000">
                                          <p:val>
                                            <p:strVal val="#ppt_x"/>
                                          </p:val>
                                        </p:tav>
                                      </p:tavLst>
                                    </p:anim>
                                    <p:anim calcmode="lin" valueType="num">
                                      <p:cBhvr additive="base">
                                        <p:cTn id="23" dur="500" fill="hold"/>
                                        <p:tgtEl>
                                          <p:spTgt spid="77"/>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83"/>
                                        </p:tgtEl>
                                        <p:attrNameLst>
                                          <p:attrName>style.visibility</p:attrName>
                                        </p:attrNameLst>
                                      </p:cBhvr>
                                      <p:to>
                                        <p:strVal val="visible"/>
                                      </p:to>
                                    </p:set>
                                    <p:anim calcmode="lin" valueType="num">
                                      <p:cBhvr additive="base">
                                        <p:cTn id="26" dur="500" fill="hold"/>
                                        <p:tgtEl>
                                          <p:spTgt spid="83"/>
                                        </p:tgtEl>
                                        <p:attrNameLst>
                                          <p:attrName>ppt_x</p:attrName>
                                        </p:attrNameLst>
                                      </p:cBhvr>
                                      <p:tavLst>
                                        <p:tav tm="0">
                                          <p:val>
                                            <p:strVal val="1+#ppt_w/2"/>
                                          </p:val>
                                        </p:tav>
                                        <p:tav tm="100000">
                                          <p:val>
                                            <p:strVal val="#ppt_x"/>
                                          </p:val>
                                        </p:tav>
                                      </p:tavLst>
                                    </p:anim>
                                    <p:anim calcmode="lin" valueType="num">
                                      <p:cBhvr additive="base">
                                        <p:cTn id="27" dur="500" fill="hold"/>
                                        <p:tgtEl>
                                          <p:spTgt spid="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任意多边形: 形状 4"/>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5"/>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p:nvSpPr>
        <p:spPr>
          <a:xfrm>
            <a:off x="1380104" y="2219295"/>
            <a:ext cx="1460435" cy="1460434"/>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blipFill>
            <a:blip r:embed="rId1"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p:nvSpPr>
        <p:spPr>
          <a:xfrm>
            <a:off x="3553551" y="2062963"/>
            <a:ext cx="1773100" cy="1773099"/>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blipFill>
            <a:blip r:embed="rId2"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p:cNvSpPr/>
          <p:nvPr/>
        </p:nvSpPr>
        <p:spPr>
          <a:xfrm>
            <a:off x="5976163" y="1905111"/>
            <a:ext cx="2088804" cy="2088803"/>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blipFill>
            <a:blip r:embed="rId3"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p:cNvSpPr/>
          <p:nvPr/>
        </p:nvSpPr>
        <p:spPr>
          <a:xfrm>
            <a:off x="8498578" y="1784572"/>
            <a:ext cx="2329882" cy="2329881"/>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blipFill>
            <a:blip r:embed="rId4"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884349" y="3894791"/>
            <a:ext cx="2451944" cy="1488068"/>
            <a:chOff x="944521" y="2723985"/>
            <a:chExt cx="2451944" cy="1488068"/>
          </a:xfrm>
        </p:grpSpPr>
        <p:sp>
          <p:nvSpPr>
            <p:cNvPr id="10" name="文本框 9"/>
            <p:cNvSpPr txBox="1"/>
            <p:nvPr/>
          </p:nvSpPr>
          <p:spPr>
            <a:xfrm>
              <a:off x="1385663" y="2723985"/>
              <a:ext cx="1569660" cy="461665"/>
            </a:xfrm>
            <a:prstGeom prst="rect">
              <a:avLst/>
            </a:prstGeom>
            <a:noFill/>
          </p:spPr>
          <p:txBody>
            <a:bodyPr wrap="none" rtlCol="0">
              <a:spAutoFit/>
              <a:scene3d>
                <a:camera prst="orthographicFront"/>
                <a:lightRig rig="threePt" dir="t"/>
              </a:scene3d>
              <a:sp3d contourW="12700"/>
            </a:bodyPr>
            <a:lstStyle/>
            <a:p>
              <a:pPr algn="ctr"/>
              <a:r>
                <a:rPr lang="zh-CN" altLang="en-US" sz="2400" i="1" spc="300" dirty="0">
                  <a:latin typeface="黑体" panose="02010609060101010101" pitchFamily="49" charset="-122"/>
                  <a:ea typeface="黑体" panose="02010609060101010101" pitchFamily="49" charset="-122"/>
                </a:rPr>
                <a:t>贯通专业</a:t>
              </a:r>
              <a:endParaRPr lang="zh-CN" altLang="en-US" sz="2400" i="1" spc="300" dirty="0">
                <a:latin typeface="黑体" panose="02010609060101010101" pitchFamily="49" charset="-122"/>
                <a:ea typeface="黑体" panose="02010609060101010101" pitchFamily="49" charset="-122"/>
              </a:endParaRPr>
            </a:p>
          </p:txBody>
        </p:sp>
        <p:sp>
          <p:nvSpPr>
            <p:cNvPr id="11" name="文本框 10"/>
            <p:cNvSpPr txBox="1"/>
            <p:nvPr/>
          </p:nvSpPr>
          <p:spPr>
            <a:xfrm>
              <a:off x="944521" y="3159457"/>
              <a:ext cx="2451944"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着力于</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通识教育和大类基础</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教育，支持学生个性化发展路径</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12" name="组合 11"/>
          <p:cNvGrpSpPr/>
          <p:nvPr/>
        </p:nvGrpSpPr>
        <p:grpSpPr>
          <a:xfrm>
            <a:off x="3335214" y="4054835"/>
            <a:ext cx="2451944" cy="1167980"/>
            <a:chOff x="944521" y="2723985"/>
            <a:chExt cx="2451944" cy="1167980"/>
          </a:xfrm>
        </p:grpSpPr>
        <p:sp>
          <p:nvSpPr>
            <p:cNvPr id="13" name="文本框 12"/>
            <p:cNvSpPr txBox="1"/>
            <p:nvPr/>
          </p:nvSpPr>
          <p:spPr>
            <a:xfrm>
              <a:off x="1385663" y="2723985"/>
              <a:ext cx="1569660" cy="461665"/>
            </a:xfrm>
            <a:prstGeom prst="rect">
              <a:avLst/>
            </a:prstGeom>
            <a:noFill/>
          </p:spPr>
          <p:txBody>
            <a:bodyPr wrap="none" rtlCol="0">
              <a:spAutoFit/>
              <a:scene3d>
                <a:camera prst="orthographicFront"/>
                <a:lightRig rig="threePt" dir="t"/>
              </a:scene3d>
              <a:sp3d contourW="12700"/>
            </a:bodyPr>
            <a:lstStyle/>
            <a:p>
              <a:pPr algn="ctr"/>
              <a:r>
                <a:rPr lang="zh-CN" altLang="en-US" sz="2400" i="1" spc="300" dirty="0">
                  <a:latin typeface="黑体" panose="02010609060101010101" pitchFamily="49" charset="-122"/>
                  <a:ea typeface="黑体" panose="02010609060101010101" pitchFamily="49" charset="-122"/>
                </a:rPr>
                <a:t>贯通学院</a:t>
              </a:r>
              <a:endParaRPr lang="zh-CN" altLang="en-US" sz="2400" i="1" spc="300" dirty="0">
                <a:latin typeface="黑体" panose="02010609060101010101" pitchFamily="49" charset="-122"/>
                <a:ea typeface="黑体" panose="02010609060101010101" pitchFamily="49" charset="-122"/>
              </a:endParaRPr>
            </a:p>
          </p:txBody>
        </p:sp>
        <p:sp>
          <p:nvSpPr>
            <p:cNvPr id="14" name="文本框 13"/>
            <p:cNvSpPr txBox="1"/>
            <p:nvPr/>
          </p:nvSpPr>
          <p:spPr>
            <a:xfrm>
              <a:off x="944521" y="3159457"/>
              <a:ext cx="2451944"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跨学部院系的选课</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机制，学生自主掌控学习进程</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15" name="组合 14"/>
          <p:cNvGrpSpPr/>
          <p:nvPr/>
        </p:nvGrpSpPr>
        <p:grpSpPr>
          <a:xfrm>
            <a:off x="5859855" y="4203353"/>
            <a:ext cx="2451944" cy="1167980"/>
            <a:chOff x="944521" y="2723985"/>
            <a:chExt cx="2451944" cy="1167980"/>
          </a:xfrm>
        </p:grpSpPr>
        <p:sp>
          <p:nvSpPr>
            <p:cNvPr id="16" name="文本框 15"/>
            <p:cNvSpPr txBox="1"/>
            <p:nvPr/>
          </p:nvSpPr>
          <p:spPr>
            <a:xfrm>
              <a:off x="1385663" y="2723985"/>
              <a:ext cx="1569660" cy="461665"/>
            </a:xfrm>
            <a:prstGeom prst="rect">
              <a:avLst/>
            </a:prstGeom>
            <a:noFill/>
          </p:spPr>
          <p:txBody>
            <a:bodyPr wrap="none" rtlCol="0">
              <a:spAutoFit/>
              <a:scene3d>
                <a:camera prst="orthographicFront"/>
                <a:lightRig rig="threePt" dir="t"/>
              </a:scene3d>
              <a:sp3d contourW="12700"/>
            </a:bodyPr>
            <a:lstStyle/>
            <a:p>
              <a:pPr algn="ctr"/>
              <a:r>
                <a:rPr lang="zh-CN" altLang="en-US" sz="2400" i="1" spc="300" dirty="0">
                  <a:latin typeface="黑体" panose="02010609060101010101" pitchFamily="49" charset="-122"/>
                  <a:ea typeface="黑体" panose="02010609060101010101" pitchFamily="49" charset="-122"/>
                </a:rPr>
                <a:t>贯通本硕</a:t>
              </a:r>
              <a:endParaRPr lang="zh-CN" altLang="en-US" sz="2400" i="1" spc="300" dirty="0">
                <a:latin typeface="黑体" panose="02010609060101010101" pitchFamily="49" charset="-122"/>
                <a:ea typeface="黑体" panose="02010609060101010101" pitchFamily="49" charset="-122"/>
              </a:endParaRPr>
            </a:p>
          </p:txBody>
        </p:sp>
        <p:sp>
          <p:nvSpPr>
            <p:cNvPr id="17" name="文本框 16"/>
            <p:cNvSpPr txBox="1"/>
            <p:nvPr/>
          </p:nvSpPr>
          <p:spPr>
            <a:xfrm>
              <a:off x="944521" y="3159457"/>
              <a:ext cx="2451944"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试点</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本科生先修</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制度，鼓励本科生修读研究生课程</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18" name="组合 17"/>
          <p:cNvGrpSpPr/>
          <p:nvPr/>
        </p:nvGrpSpPr>
        <p:grpSpPr>
          <a:xfrm>
            <a:off x="8445042" y="4309658"/>
            <a:ext cx="2451944" cy="2128243"/>
            <a:chOff x="944521" y="2723985"/>
            <a:chExt cx="2451944" cy="2128243"/>
          </a:xfrm>
        </p:grpSpPr>
        <p:sp>
          <p:nvSpPr>
            <p:cNvPr id="19" name="文本框 18"/>
            <p:cNvSpPr txBox="1"/>
            <p:nvPr/>
          </p:nvSpPr>
          <p:spPr>
            <a:xfrm>
              <a:off x="1385662" y="2723985"/>
              <a:ext cx="1569660" cy="461665"/>
            </a:xfrm>
            <a:prstGeom prst="rect">
              <a:avLst/>
            </a:prstGeom>
            <a:noFill/>
          </p:spPr>
          <p:txBody>
            <a:bodyPr wrap="none" rtlCol="0">
              <a:spAutoFit/>
              <a:scene3d>
                <a:camera prst="orthographicFront"/>
                <a:lightRig rig="threePt" dir="t"/>
              </a:scene3d>
              <a:sp3d contourW="12700"/>
            </a:bodyPr>
            <a:lstStyle/>
            <a:p>
              <a:pPr algn="ctr"/>
              <a:r>
                <a:rPr lang="zh-CN" altLang="en-US" sz="2400" i="1" spc="300" dirty="0">
                  <a:latin typeface="黑体" panose="02010609060101010101" pitchFamily="49" charset="-122"/>
                  <a:ea typeface="黑体" panose="02010609060101010101" pitchFamily="49" charset="-122"/>
                </a:rPr>
                <a:t>贯通校际</a:t>
              </a:r>
              <a:endParaRPr lang="zh-CN" altLang="en-US" sz="2400" i="1" spc="300" dirty="0">
                <a:latin typeface="黑体" panose="02010609060101010101" pitchFamily="49" charset="-122"/>
                <a:ea typeface="黑体" panose="02010609060101010101" pitchFamily="49" charset="-122"/>
              </a:endParaRPr>
            </a:p>
          </p:txBody>
        </p:sp>
        <p:sp>
          <p:nvSpPr>
            <p:cNvPr id="20" name="文本框 19"/>
            <p:cNvSpPr txBox="1"/>
            <p:nvPr/>
          </p:nvSpPr>
          <p:spPr>
            <a:xfrm>
              <a:off x="944521" y="3159457"/>
              <a:ext cx="2451944" cy="1692771"/>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充分利用北京优质、丰富的高校资源，依托</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学院路共同体，外校专家入课堂</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等形式，享受</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北京的高校课程、师资资源</a:t>
              </a:r>
              <a:endPar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31" name="组合 30"/>
          <p:cNvGrpSpPr/>
          <p:nvPr/>
        </p:nvGrpSpPr>
        <p:grpSpPr>
          <a:xfrm>
            <a:off x="494553" y="150818"/>
            <a:ext cx="6106714" cy="1125795"/>
            <a:chOff x="494553" y="150818"/>
            <a:chExt cx="6106714" cy="1125795"/>
          </a:xfrm>
        </p:grpSpPr>
        <p:grpSp>
          <p:nvGrpSpPr>
            <p:cNvPr id="32" name="组合 31"/>
            <p:cNvGrpSpPr/>
            <p:nvPr/>
          </p:nvGrpSpPr>
          <p:grpSpPr>
            <a:xfrm>
              <a:off x="494553" y="321393"/>
              <a:ext cx="5744845" cy="955220"/>
              <a:chOff x="494553" y="321393"/>
              <a:chExt cx="5744845" cy="955220"/>
            </a:xfrm>
          </p:grpSpPr>
          <p:sp>
            <p:nvSpPr>
              <p:cNvPr id="34" name="文本框 33"/>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培养</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特色</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35" name="文本框 34"/>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3"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45BDD6"/>
                  </a:solidFill>
                  <a:latin typeface="黑体" panose="02010609060101010101" pitchFamily="49" charset="-122"/>
                  <a:ea typeface="黑体" panose="02010609060101010101" pitchFamily="49" charset="-122"/>
                </a:rPr>
                <a:t>全</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贯通</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anim calcmode="lin" valueType="num">
                                      <p:cBhvr>
                                        <p:cTn id="33" dur="1000" fill="hold"/>
                                        <p:tgtEl>
                                          <p:spTgt spid="12"/>
                                        </p:tgtEl>
                                        <p:attrNameLst>
                                          <p:attrName>ppt_x</p:attrName>
                                        </p:attrNameLst>
                                      </p:cBhvr>
                                      <p:tavLst>
                                        <p:tav tm="0">
                                          <p:val>
                                            <p:strVal val="#ppt_x"/>
                                          </p:val>
                                        </p:tav>
                                        <p:tav tm="100000">
                                          <p:val>
                                            <p:strVal val="#ppt_x"/>
                                          </p:val>
                                        </p:tav>
                                      </p:tavLst>
                                    </p:anim>
                                    <p:anim calcmode="lin" valueType="num">
                                      <p:cBhvr>
                                        <p:cTn id="34" dur="1000" fill="hold"/>
                                        <p:tgtEl>
                                          <p:spTgt spid="1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1000"/>
                                        <p:tgtEl>
                                          <p:spTgt spid="18"/>
                                        </p:tgtEl>
                                      </p:cBhvr>
                                    </p:animEffect>
                                    <p:anim calcmode="lin" valueType="num">
                                      <p:cBhvr>
                                        <p:cTn id="43" dur="1000" fill="hold"/>
                                        <p:tgtEl>
                                          <p:spTgt spid="18"/>
                                        </p:tgtEl>
                                        <p:attrNameLst>
                                          <p:attrName>ppt_x</p:attrName>
                                        </p:attrNameLst>
                                      </p:cBhvr>
                                      <p:tavLst>
                                        <p:tav tm="0">
                                          <p:val>
                                            <p:strVal val="#ppt_x"/>
                                          </p:val>
                                        </p:tav>
                                        <p:tav tm="100000">
                                          <p:val>
                                            <p:strVal val="#ppt_x"/>
                                          </p:val>
                                        </p:tav>
                                      </p:tavLst>
                                    </p:anim>
                                    <p:anim calcmode="lin" valueType="num">
                                      <p:cBhvr>
                                        <p:cTn id="4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任意多边形: 形状 4"/>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任意多边形: 形状 5"/>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1098365" y="2026648"/>
            <a:ext cx="2354918" cy="2443936"/>
            <a:chOff x="8030342" y="5594804"/>
            <a:chExt cx="2354918" cy="2443936"/>
          </a:xfrm>
        </p:grpSpPr>
        <p:sp>
          <p:nvSpPr>
            <p:cNvPr id="12" name="文本框 11"/>
            <p:cNvSpPr txBox="1"/>
            <p:nvPr/>
          </p:nvSpPr>
          <p:spPr>
            <a:xfrm>
              <a:off x="8030342" y="6007415"/>
              <a:ext cx="2340404" cy="2031325"/>
            </a:xfrm>
            <a:prstGeom prst="rect">
              <a:avLst/>
            </a:prstGeom>
            <a:noFill/>
          </p:spPr>
          <p:txBody>
            <a:bodyPr wrap="square" rtlCol="0">
              <a:spAutoFit/>
              <a:scene3d>
                <a:camera prst="orthographicFront"/>
                <a:lightRig rig="threePt" dir="t"/>
              </a:scene3d>
              <a:sp3d contourW="12700"/>
            </a:bodyPr>
            <a:lstStyle/>
            <a:p>
              <a:pPr algn="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选拔</a:t>
              </a:r>
              <a:r>
                <a:rPr lang="zh-CN" altLang="en-US"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优秀学生重点培养</a:t>
              </a: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，建立了</a:t>
              </a:r>
              <a:r>
                <a:rPr lang="zh-CN" altLang="en-US"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联合国及国际组织</a:t>
              </a: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拔尖人才培养实验班、</a:t>
              </a:r>
              <a:r>
                <a:rPr lang="zh-CN" altLang="en-US"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语言智能与技术</a:t>
              </a: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拔尖人才实验班、</a:t>
              </a:r>
              <a:r>
                <a:rPr lang="zh-CN" altLang="en-US"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金融学</a:t>
              </a: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专业拔尖人才实验班等</a:t>
              </a:r>
              <a:endParaRPr lang="en-US" altLang="zh-CN"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
          <p:nvSpPr>
            <p:cNvPr id="13" name="文本框 12"/>
            <p:cNvSpPr txBox="1"/>
            <p:nvPr/>
          </p:nvSpPr>
          <p:spPr>
            <a:xfrm>
              <a:off x="8046158" y="5594804"/>
              <a:ext cx="2339102" cy="461665"/>
            </a:xfrm>
            <a:prstGeom prst="rect">
              <a:avLst/>
            </a:prstGeom>
            <a:noFill/>
          </p:spPr>
          <p:txBody>
            <a:bodyPr wrap="none" rtlCol="0">
              <a:spAutoFit/>
              <a:scene3d>
                <a:camera prst="orthographicFront"/>
                <a:lightRig rig="threePt" dir="t"/>
              </a:scene3d>
              <a:sp3d contourW="12700"/>
            </a:bodyPr>
            <a:lstStyle/>
            <a:p>
              <a:pPr algn="r"/>
              <a:r>
                <a:rPr lang="zh-CN" altLang="en-US" sz="2400" i="1" dirty="0">
                  <a:solidFill>
                    <a:schemeClr val="tx1">
                      <a:lumMod val="85000"/>
                      <a:lumOff val="15000"/>
                    </a:schemeClr>
                  </a:solidFill>
                  <a:latin typeface="黑体" panose="02010609060101010101" pitchFamily="49" charset="-122"/>
                  <a:ea typeface="黑体" panose="02010609060101010101" pitchFamily="49" charset="-122"/>
                </a:rPr>
                <a:t>拔尖人才实验班</a:t>
              </a:r>
              <a:endParaRPr lang="zh-CN" altLang="en-US" sz="2400" i="1" dirty="0">
                <a:solidFill>
                  <a:schemeClr val="tx1">
                    <a:lumMod val="85000"/>
                    <a:lumOff val="15000"/>
                  </a:schemeClr>
                </a:solidFill>
                <a:latin typeface="黑体" panose="02010609060101010101" pitchFamily="49" charset="-122"/>
                <a:ea typeface="黑体" panose="02010609060101010101" pitchFamily="49" charset="-122"/>
              </a:endParaRPr>
            </a:p>
          </p:txBody>
        </p:sp>
      </p:grpSp>
      <p:grpSp>
        <p:nvGrpSpPr>
          <p:cNvPr id="14" name="组合 13"/>
          <p:cNvGrpSpPr/>
          <p:nvPr/>
        </p:nvGrpSpPr>
        <p:grpSpPr>
          <a:xfrm>
            <a:off x="1935809" y="4734081"/>
            <a:ext cx="2354918" cy="1058942"/>
            <a:chOff x="8030342" y="5251904"/>
            <a:chExt cx="2354918" cy="1058942"/>
          </a:xfrm>
        </p:grpSpPr>
        <p:sp>
          <p:nvSpPr>
            <p:cNvPr id="15" name="文本框 14"/>
            <p:cNvSpPr txBox="1"/>
            <p:nvPr/>
          </p:nvSpPr>
          <p:spPr>
            <a:xfrm>
              <a:off x="8030342" y="5664515"/>
              <a:ext cx="2340404" cy="646331"/>
            </a:xfrm>
            <a:prstGeom prst="rect">
              <a:avLst/>
            </a:prstGeom>
            <a:noFill/>
          </p:spPr>
          <p:txBody>
            <a:bodyPr wrap="square" rtlCol="0">
              <a:spAutoFit/>
              <a:scene3d>
                <a:camera prst="orthographicFront"/>
                <a:lightRig rig="threePt" dir="t"/>
              </a:scene3d>
              <a:sp3d contourW="12700"/>
            </a:bodyPr>
            <a:lstStyle/>
            <a:p>
              <a:pPr algn="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开设</a:t>
              </a:r>
              <a:r>
                <a:rPr lang="zh-CN" altLang="en-US"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英语、汉语国际教育、金融学</a:t>
              </a: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等专业</a:t>
              </a:r>
              <a:endParaRPr lang="en-US" altLang="zh-CN"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
          <p:nvSpPr>
            <p:cNvPr id="16" name="文本框 15"/>
            <p:cNvSpPr txBox="1"/>
            <p:nvPr/>
          </p:nvSpPr>
          <p:spPr>
            <a:xfrm>
              <a:off x="8046158" y="5251904"/>
              <a:ext cx="2339102" cy="461665"/>
            </a:xfrm>
            <a:prstGeom prst="rect">
              <a:avLst/>
            </a:prstGeom>
            <a:noFill/>
          </p:spPr>
          <p:txBody>
            <a:bodyPr wrap="none" rtlCol="0">
              <a:spAutoFit/>
              <a:scene3d>
                <a:camera prst="orthographicFront"/>
                <a:lightRig rig="threePt" dir="t"/>
              </a:scene3d>
              <a:sp3d contourW="12700"/>
            </a:bodyPr>
            <a:lstStyle/>
            <a:p>
              <a:pPr algn="r"/>
              <a:r>
                <a:rPr lang="zh-CN" altLang="en-US" sz="2400" i="1" dirty="0">
                  <a:solidFill>
                    <a:schemeClr val="tx1">
                      <a:lumMod val="85000"/>
                      <a:lumOff val="15000"/>
                    </a:schemeClr>
                  </a:solidFill>
                  <a:latin typeface="黑体" panose="02010609060101010101" pitchFamily="49" charset="-122"/>
                  <a:ea typeface="黑体" panose="02010609060101010101" pitchFamily="49" charset="-122"/>
                </a:rPr>
                <a:t>双专业、双学位</a:t>
              </a:r>
              <a:endParaRPr lang="zh-CN" altLang="en-US" sz="2400" i="1" dirty="0">
                <a:solidFill>
                  <a:schemeClr val="tx1">
                    <a:lumMod val="85000"/>
                    <a:lumOff val="15000"/>
                  </a:schemeClr>
                </a:solidFill>
                <a:latin typeface="黑体" panose="02010609060101010101" pitchFamily="49" charset="-122"/>
                <a:ea typeface="黑体" panose="02010609060101010101" pitchFamily="49" charset="-122"/>
              </a:endParaRPr>
            </a:p>
          </p:txBody>
        </p:sp>
      </p:grpSp>
      <p:grpSp>
        <p:nvGrpSpPr>
          <p:cNvPr id="17" name="组合 16"/>
          <p:cNvGrpSpPr/>
          <p:nvPr/>
        </p:nvGrpSpPr>
        <p:grpSpPr>
          <a:xfrm flipH="1">
            <a:off x="8458450" y="2026648"/>
            <a:ext cx="2354918" cy="2166937"/>
            <a:chOff x="7234789" y="5594804"/>
            <a:chExt cx="2354918" cy="2166937"/>
          </a:xfrm>
        </p:grpSpPr>
        <p:sp>
          <p:nvSpPr>
            <p:cNvPr id="18" name="文本框 17"/>
            <p:cNvSpPr txBox="1"/>
            <p:nvPr/>
          </p:nvSpPr>
          <p:spPr>
            <a:xfrm>
              <a:off x="7234789" y="6007415"/>
              <a:ext cx="2340404" cy="1754326"/>
            </a:xfrm>
            <a:prstGeom prst="rect">
              <a:avLst/>
            </a:prstGeom>
            <a:noFill/>
          </p:spPr>
          <p:txBody>
            <a:bodyPr wrap="square" rtlCol="0">
              <a:spAutoFit/>
              <a:scene3d>
                <a:camera prst="orthographicFront"/>
                <a:lightRig rig="threePt" dir="t"/>
              </a:scene3d>
              <a:sp3d contourW="12700"/>
            </a:bodyPr>
            <a:lstStyle/>
            <a:p>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筹建北语学院，计划从各院</a:t>
              </a:r>
              <a:r>
                <a:rPr lang="zh-CN" altLang="en-US"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拔尖人才中优中选优，实施导师制、本研贯通制</a:t>
              </a: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、个性化、国际化教学等精英式培养</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
          <p:nvSpPr>
            <p:cNvPr id="19" name="文本框 18"/>
            <p:cNvSpPr txBox="1"/>
            <p:nvPr/>
          </p:nvSpPr>
          <p:spPr>
            <a:xfrm>
              <a:off x="8173935" y="5594804"/>
              <a:ext cx="1415772" cy="461665"/>
            </a:xfrm>
            <a:prstGeom prst="rect">
              <a:avLst/>
            </a:prstGeom>
            <a:noFill/>
          </p:spPr>
          <p:txBody>
            <a:bodyPr wrap="none" rtlCol="0">
              <a:spAutoFit/>
              <a:scene3d>
                <a:camera prst="orthographicFront"/>
                <a:lightRig rig="threePt" dir="t"/>
              </a:scene3d>
              <a:sp3d contourW="12700"/>
            </a:bodyPr>
            <a:lstStyle/>
            <a:p>
              <a:pPr algn="r"/>
              <a:r>
                <a:rPr lang="zh-CN" altLang="en-US" sz="2400" i="1" dirty="0">
                  <a:solidFill>
                    <a:schemeClr val="tx1">
                      <a:lumMod val="85000"/>
                      <a:lumOff val="15000"/>
                    </a:schemeClr>
                  </a:solidFill>
                  <a:latin typeface="黑体" panose="02010609060101010101" pitchFamily="49" charset="-122"/>
                  <a:ea typeface="黑体" panose="02010609060101010101" pitchFamily="49" charset="-122"/>
                </a:rPr>
                <a:t>北语学院</a:t>
              </a:r>
              <a:endParaRPr lang="zh-CN" altLang="en-US" sz="2400" i="1" dirty="0">
                <a:solidFill>
                  <a:schemeClr val="tx1">
                    <a:lumMod val="85000"/>
                    <a:lumOff val="15000"/>
                  </a:schemeClr>
                </a:solidFill>
                <a:latin typeface="黑体" panose="02010609060101010101" pitchFamily="49" charset="-122"/>
                <a:ea typeface="黑体" panose="02010609060101010101" pitchFamily="49" charset="-122"/>
              </a:endParaRPr>
            </a:p>
          </p:txBody>
        </p:sp>
      </p:grpSp>
      <p:grpSp>
        <p:nvGrpSpPr>
          <p:cNvPr id="20" name="组合 19"/>
          <p:cNvGrpSpPr/>
          <p:nvPr/>
        </p:nvGrpSpPr>
        <p:grpSpPr>
          <a:xfrm flipH="1">
            <a:off x="7746323" y="4734081"/>
            <a:ext cx="2340404" cy="1058942"/>
            <a:chOff x="7249303" y="5251904"/>
            <a:chExt cx="2340404" cy="1058942"/>
          </a:xfrm>
        </p:grpSpPr>
        <p:sp>
          <p:nvSpPr>
            <p:cNvPr id="21" name="文本框 20"/>
            <p:cNvSpPr txBox="1"/>
            <p:nvPr/>
          </p:nvSpPr>
          <p:spPr>
            <a:xfrm>
              <a:off x="7249303" y="5664515"/>
              <a:ext cx="2340404" cy="646331"/>
            </a:xfrm>
            <a:prstGeom prst="rect">
              <a:avLst/>
            </a:prstGeom>
            <a:noFill/>
          </p:spPr>
          <p:txBody>
            <a:bodyPr wrap="square" rtlCol="0">
              <a:spAutoFit/>
              <a:scene3d>
                <a:camera prst="orthographicFront"/>
                <a:lightRig rig="threePt" dir="t"/>
              </a:scene3d>
              <a:sp3d contourW="12700"/>
            </a:bodyPr>
            <a:lstStyle/>
            <a:p>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可选择</a:t>
              </a:r>
              <a:r>
                <a:rPr lang="zh-CN" altLang="en-US"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小语种、计算机等</a:t>
              </a: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专业修习</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
          <p:nvSpPr>
            <p:cNvPr id="22" name="文本框 21"/>
            <p:cNvSpPr txBox="1"/>
            <p:nvPr/>
          </p:nvSpPr>
          <p:spPr>
            <a:xfrm>
              <a:off x="8173935" y="5251904"/>
              <a:ext cx="1415772" cy="461665"/>
            </a:xfrm>
            <a:prstGeom prst="rect">
              <a:avLst/>
            </a:prstGeom>
            <a:noFill/>
          </p:spPr>
          <p:txBody>
            <a:bodyPr wrap="none" rtlCol="0">
              <a:spAutoFit/>
              <a:scene3d>
                <a:camera prst="orthographicFront"/>
                <a:lightRig rig="threePt" dir="t"/>
              </a:scene3d>
              <a:sp3d contourW="12700"/>
            </a:bodyPr>
            <a:lstStyle/>
            <a:p>
              <a:pPr algn="r"/>
              <a:r>
                <a:rPr lang="zh-CN" altLang="en-US" sz="2400" i="1" dirty="0">
                  <a:solidFill>
                    <a:schemeClr val="tx1">
                      <a:lumMod val="85000"/>
                      <a:lumOff val="15000"/>
                    </a:schemeClr>
                  </a:solidFill>
                  <a:latin typeface="黑体" panose="02010609060101010101" pitchFamily="49" charset="-122"/>
                  <a:ea typeface="黑体" panose="02010609060101010101" pitchFamily="49" charset="-122"/>
                </a:rPr>
                <a:t>辅修专业</a:t>
              </a:r>
              <a:endParaRPr lang="zh-CN" altLang="en-US" sz="2400" i="1" dirty="0">
                <a:solidFill>
                  <a:schemeClr val="tx1">
                    <a:lumMod val="85000"/>
                    <a:lumOff val="15000"/>
                  </a:schemeClr>
                </a:solidFill>
                <a:latin typeface="黑体" panose="02010609060101010101" pitchFamily="49" charset="-122"/>
                <a:ea typeface="黑体" panose="02010609060101010101" pitchFamily="49" charset="-122"/>
              </a:endParaRPr>
            </a:p>
          </p:txBody>
        </p:sp>
      </p:grpSp>
      <p:grpSp>
        <p:nvGrpSpPr>
          <p:cNvPr id="24" name="组合 23"/>
          <p:cNvGrpSpPr/>
          <p:nvPr/>
        </p:nvGrpSpPr>
        <p:grpSpPr>
          <a:xfrm>
            <a:off x="4446954" y="1890340"/>
            <a:ext cx="3137016" cy="3137016"/>
            <a:chOff x="4527493" y="1860493"/>
            <a:chExt cx="3137016" cy="3137016"/>
          </a:xfrm>
        </p:grpSpPr>
        <p:sp>
          <p:nvSpPr>
            <p:cNvPr id="4" name="弧形 3"/>
            <p:cNvSpPr/>
            <p:nvPr/>
          </p:nvSpPr>
          <p:spPr>
            <a:xfrm>
              <a:off x="5468598" y="2801598"/>
              <a:ext cx="1254806" cy="1254806"/>
            </a:xfrm>
            <a:prstGeom prst="arc">
              <a:avLst>
                <a:gd name="adj1" fmla="val 14900662"/>
                <a:gd name="adj2" fmla="val 12450522"/>
              </a:avLst>
            </a:prstGeom>
            <a:ln w="215900">
              <a:solidFill>
                <a:srgbClr val="24C6DB">
                  <a:alpha val="25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弧形 4"/>
            <p:cNvSpPr/>
            <p:nvPr/>
          </p:nvSpPr>
          <p:spPr>
            <a:xfrm>
              <a:off x="4527493" y="1860493"/>
              <a:ext cx="3137016" cy="3137016"/>
            </a:xfrm>
            <a:prstGeom prst="arc">
              <a:avLst>
                <a:gd name="adj1" fmla="val 19123884"/>
                <a:gd name="adj2" fmla="val 13834276"/>
              </a:avLst>
            </a:prstGeom>
            <a:ln w="215900">
              <a:solidFill>
                <a:srgbClr val="24C6D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弧形 6"/>
            <p:cNvSpPr/>
            <p:nvPr/>
          </p:nvSpPr>
          <p:spPr>
            <a:xfrm>
              <a:off x="4841193" y="2174193"/>
              <a:ext cx="2509614" cy="2509614"/>
            </a:xfrm>
            <a:prstGeom prst="arc">
              <a:avLst>
                <a:gd name="adj1" fmla="val 19989420"/>
                <a:gd name="adj2" fmla="val 10488334"/>
              </a:avLst>
            </a:prstGeom>
            <a:ln w="215900">
              <a:solidFill>
                <a:srgbClr val="24C6DB">
                  <a:alpha val="80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p:nvSpPr>
          <p:spPr>
            <a:xfrm>
              <a:off x="5154896" y="2487896"/>
              <a:ext cx="1882210" cy="1882210"/>
            </a:xfrm>
            <a:prstGeom prst="arc">
              <a:avLst>
                <a:gd name="adj1" fmla="val 329800"/>
                <a:gd name="adj2" fmla="val 7015505"/>
              </a:avLst>
            </a:prstGeom>
            <a:ln w="215900">
              <a:solidFill>
                <a:srgbClr val="24C6DB">
                  <a:alpha val="50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7" name="组合 36"/>
          <p:cNvGrpSpPr/>
          <p:nvPr/>
        </p:nvGrpSpPr>
        <p:grpSpPr>
          <a:xfrm>
            <a:off x="494553" y="150818"/>
            <a:ext cx="6106714" cy="1125795"/>
            <a:chOff x="494553" y="150818"/>
            <a:chExt cx="6106714" cy="1125795"/>
          </a:xfrm>
        </p:grpSpPr>
        <p:grpSp>
          <p:nvGrpSpPr>
            <p:cNvPr id="38" name="组合 37"/>
            <p:cNvGrpSpPr/>
            <p:nvPr/>
          </p:nvGrpSpPr>
          <p:grpSpPr>
            <a:xfrm>
              <a:off x="494553" y="321393"/>
              <a:ext cx="5744845" cy="955220"/>
              <a:chOff x="494553" y="321393"/>
              <a:chExt cx="5744845" cy="955220"/>
            </a:xfrm>
          </p:grpSpPr>
          <p:sp>
            <p:nvSpPr>
              <p:cNvPr id="40" name="文本框 39"/>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培养</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特色</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1" name="文本框 40"/>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9"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重</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培优</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3" name="图片 2"/>
          <p:cNvPicPr>
            <a:picLocks noChangeAspect="1"/>
          </p:cNvPicPr>
          <p:nvPr/>
        </p:nvPicPr>
        <p:blipFill>
          <a:blip r:embed="rId1"/>
          <a:stretch>
            <a:fillRect/>
          </a:stretch>
        </p:blipFill>
        <p:spPr>
          <a:xfrm rot="199667">
            <a:off x="5074357" y="2022666"/>
            <a:ext cx="2241167" cy="2241167"/>
          </a:xfrm>
          <a:prstGeom prst="rect">
            <a:avLst/>
          </a:prstGeom>
        </p:spPr>
      </p:pic>
      <p:grpSp>
        <p:nvGrpSpPr>
          <p:cNvPr id="42" name="组合 41"/>
          <p:cNvGrpSpPr/>
          <p:nvPr/>
        </p:nvGrpSpPr>
        <p:grpSpPr>
          <a:xfrm>
            <a:off x="4841066" y="5497185"/>
            <a:ext cx="2340404" cy="1058942"/>
            <a:chOff x="8030342" y="5251904"/>
            <a:chExt cx="2340404" cy="1058942"/>
          </a:xfrm>
        </p:grpSpPr>
        <p:sp>
          <p:nvSpPr>
            <p:cNvPr id="43" name="文本框 42"/>
            <p:cNvSpPr txBox="1"/>
            <p:nvPr/>
          </p:nvSpPr>
          <p:spPr>
            <a:xfrm>
              <a:off x="8030342" y="5664515"/>
              <a:ext cx="2340404" cy="646331"/>
            </a:xfrm>
            <a:prstGeom prst="rect">
              <a:avLst/>
            </a:prstGeom>
            <a:noFill/>
          </p:spPr>
          <p:txBody>
            <a:bodyPr wrap="square" rtlCol="0">
              <a:spAutoFit/>
              <a:scene3d>
                <a:camera prst="orthographicFront"/>
                <a:lightRig rig="threePt" dir="t"/>
              </a:scene3d>
              <a:sp3d contourW="12700"/>
            </a:bodyPr>
            <a:lstStyle/>
            <a:p>
              <a:pPr algn="ct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逐步为学生配备</a:t>
              </a:r>
              <a:r>
                <a:rPr lang="zh-CN" altLang="en-US"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学业规划和生涯发展</a:t>
              </a:r>
              <a:r>
                <a:rPr lang="zh-CN" altLang="en-US" dirty="0">
                  <a:solidFill>
                    <a:schemeClr val="bg2">
                      <a:lumMod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导师</a:t>
              </a:r>
              <a:endParaRPr lang="zh-CN" altLang="en-US" dirty="0">
                <a:solidFill>
                  <a:schemeClr val="bg2">
                    <a:lumMod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
          <p:nvSpPr>
            <p:cNvPr id="44" name="文本框 43"/>
            <p:cNvSpPr txBox="1"/>
            <p:nvPr/>
          </p:nvSpPr>
          <p:spPr>
            <a:xfrm>
              <a:off x="8646546" y="5251904"/>
              <a:ext cx="1107996" cy="461665"/>
            </a:xfrm>
            <a:prstGeom prst="rect">
              <a:avLst/>
            </a:prstGeom>
            <a:noFill/>
          </p:spPr>
          <p:txBody>
            <a:bodyPr wrap="none" rtlCol="0">
              <a:spAutoFit/>
              <a:scene3d>
                <a:camera prst="orthographicFront"/>
                <a:lightRig rig="threePt" dir="t"/>
              </a:scene3d>
              <a:sp3d contourW="12700"/>
            </a:bodyPr>
            <a:lstStyle/>
            <a:p>
              <a:pPr algn="r"/>
              <a:r>
                <a:rPr lang="zh-CN" altLang="en-US" sz="2400" i="1" dirty="0">
                  <a:solidFill>
                    <a:schemeClr val="tx1">
                      <a:lumMod val="85000"/>
                      <a:lumOff val="15000"/>
                    </a:schemeClr>
                  </a:solidFill>
                  <a:latin typeface="黑体" panose="02010609060101010101" pitchFamily="49" charset="-122"/>
                  <a:ea typeface="黑体" panose="02010609060101010101" pitchFamily="49" charset="-122"/>
                </a:rPr>
                <a:t>导师制</a:t>
              </a:r>
              <a:endParaRPr lang="zh-CN" altLang="en-US" sz="2400" i="1" dirty="0">
                <a:solidFill>
                  <a:schemeClr val="tx1">
                    <a:lumMod val="85000"/>
                    <a:lumOff val="15000"/>
                  </a:schemeClr>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1+#ppt_w/2"/>
                                          </p:val>
                                        </p:tav>
                                        <p:tav tm="100000">
                                          <p:val>
                                            <p:strVal val="#ppt_x"/>
                                          </p:val>
                                        </p:tav>
                                      </p:tavLst>
                                    </p:anim>
                                    <p:anim calcmode="lin" valueType="num">
                                      <p:cBhvr additive="base">
                                        <p:cTn id="16" dur="500" fill="hold"/>
                                        <p:tgtEl>
                                          <p:spTgt spid="17"/>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1+#ppt_w/2"/>
                                          </p:val>
                                        </p:tav>
                                        <p:tav tm="100000">
                                          <p:val>
                                            <p:strVal val="#ppt_x"/>
                                          </p:val>
                                        </p:tav>
                                      </p:tavLst>
                                    </p:anim>
                                    <p:anim calcmode="lin" valueType="num">
                                      <p:cBhvr additive="base">
                                        <p:cTn id="20" dur="500" fill="hold"/>
                                        <p:tgtEl>
                                          <p:spTgt spid="20"/>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0-#ppt_w/2"/>
                                          </p:val>
                                        </p:tav>
                                        <p:tav tm="100000">
                                          <p:val>
                                            <p:strVal val="#ppt_x"/>
                                          </p:val>
                                        </p:tav>
                                      </p:tavLst>
                                    </p:anim>
                                    <p:anim calcmode="lin" valueType="num">
                                      <p:cBhvr additive="base">
                                        <p:cTn id="24" dur="500" fill="hold"/>
                                        <p:tgtEl>
                                          <p:spTgt spid="42"/>
                                        </p:tgtEl>
                                        <p:attrNameLst>
                                          <p:attrName>ppt_y</p:attrName>
                                        </p:attrNameLst>
                                      </p:cBhvr>
                                      <p:tavLst>
                                        <p:tav tm="0">
                                          <p:val>
                                            <p:strVal val="#ppt_y"/>
                                          </p:val>
                                        </p:tav>
                                        <p:tav tm="100000">
                                          <p:val>
                                            <p:strVal val="#ppt_y"/>
                                          </p:val>
                                        </p:tav>
                                      </p:tavLst>
                                    </p:anim>
                                  </p:childTnLst>
                                </p:cTn>
                              </p:par>
                              <p:par>
                                <p:cTn id="25" presetID="32" presetClass="emph" presetSubtype="0" fill="hold" nodeType="withEffect">
                                  <p:stCondLst>
                                    <p:cond delay="0"/>
                                  </p:stCondLst>
                                  <p:childTnLst>
                                    <p:animRot by="120000">
                                      <p:cBhvr>
                                        <p:cTn id="26" dur="100" fill="hold">
                                          <p:stCondLst>
                                            <p:cond delay="0"/>
                                          </p:stCondLst>
                                        </p:cTn>
                                        <p:tgtEl>
                                          <p:spTgt spid="3"/>
                                        </p:tgtEl>
                                        <p:attrNameLst>
                                          <p:attrName>r</p:attrName>
                                        </p:attrNameLst>
                                      </p:cBhvr>
                                    </p:animRot>
                                    <p:animRot by="-240000">
                                      <p:cBhvr>
                                        <p:cTn id="27" dur="200" fill="hold">
                                          <p:stCondLst>
                                            <p:cond delay="200"/>
                                          </p:stCondLst>
                                        </p:cTn>
                                        <p:tgtEl>
                                          <p:spTgt spid="3"/>
                                        </p:tgtEl>
                                        <p:attrNameLst>
                                          <p:attrName>r</p:attrName>
                                        </p:attrNameLst>
                                      </p:cBhvr>
                                    </p:animRot>
                                    <p:animRot by="240000">
                                      <p:cBhvr>
                                        <p:cTn id="28" dur="200" fill="hold">
                                          <p:stCondLst>
                                            <p:cond delay="400"/>
                                          </p:stCondLst>
                                        </p:cTn>
                                        <p:tgtEl>
                                          <p:spTgt spid="3"/>
                                        </p:tgtEl>
                                        <p:attrNameLst>
                                          <p:attrName>r</p:attrName>
                                        </p:attrNameLst>
                                      </p:cBhvr>
                                    </p:animRot>
                                    <p:animRot by="-240000">
                                      <p:cBhvr>
                                        <p:cTn id="29" dur="200" fill="hold">
                                          <p:stCondLst>
                                            <p:cond delay="600"/>
                                          </p:stCondLst>
                                        </p:cTn>
                                        <p:tgtEl>
                                          <p:spTgt spid="3"/>
                                        </p:tgtEl>
                                        <p:attrNameLst>
                                          <p:attrName>r</p:attrName>
                                        </p:attrNameLst>
                                      </p:cBhvr>
                                    </p:animRot>
                                    <p:animRot by="120000">
                                      <p:cBhvr>
                                        <p:cTn id="30" dur="200" fill="hold">
                                          <p:stCondLst>
                                            <p:cond delay="8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1140599"/>
            <a:ext cx="12192000" cy="9139199"/>
          </a:xfrm>
          <a:prstGeom prst="rect">
            <a:avLst/>
          </a:prstGeom>
        </p:spPr>
      </p:pic>
      <p:sp>
        <p:nvSpPr>
          <p:cNvPr id="5" name="矩形 4"/>
          <p:cNvSpPr/>
          <p:nvPr/>
        </p:nvSpPr>
        <p:spPr>
          <a:xfrm>
            <a:off x="-309637" y="2036619"/>
            <a:ext cx="12192000" cy="6858000"/>
          </a:xfrm>
          <a:prstGeom prst="rect">
            <a:avLst/>
          </a:prstGeom>
          <a:gradFill>
            <a:gsLst>
              <a:gs pos="0">
                <a:srgbClr val="15234F">
                  <a:alpha val="0"/>
                </a:srgbClr>
              </a:gs>
              <a:gs pos="100000">
                <a:srgbClr val="15234F">
                  <a:alpha val="9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2867596" y="0"/>
            <a:ext cx="6241670" cy="5016500"/>
          </a:xfrm>
          <a:custGeom>
            <a:avLst/>
            <a:gdLst>
              <a:gd name="connsiteX0" fmla="*/ 2221808 w 6241670"/>
              <a:gd name="connsiteY0" fmla="*/ 0 h 5016500"/>
              <a:gd name="connsiteX1" fmla="*/ 3679362 w 6241670"/>
              <a:gd name="connsiteY1" fmla="*/ 0 h 5016500"/>
              <a:gd name="connsiteX2" fmla="*/ 4784116 w 6241670"/>
              <a:gd name="connsiteY2" fmla="*/ 0 h 5016500"/>
              <a:gd name="connsiteX3" fmla="*/ 6241670 w 6241670"/>
              <a:gd name="connsiteY3" fmla="*/ 0 h 5016500"/>
              <a:gd name="connsiteX4" fmla="*/ 4019862 w 6241670"/>
              <a:gd name="connsiteY4" fmla="*/ 5016500 h 5016500"/>
              <a:gd name="connsiteX5" fmla="*/ 2562308 w 6241670"/>
              <a:gd name="connsiteY5" fmla="*/ 5016500 h 5016500"/>
              <a:gd name="connsiteX6" fmla="*/ 1457554 w 6241670"/>
              <a:gd name="connsiteY6" fmla="*/ 5016500 h 5016500"/>
              <a:gd name="connsiteX7" fmla="*/ 0 w 6241670"/>
              <a:gd name="connsiteY7" fmla="*/ 5016500 h 501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1670" h="5016500">
                <a:moveTo>
                  <a:pt x="2221808" y="0"/>
                </a:moveTo>
                <a:lnTo>
                  <a:pt x="3679362" y="0"/>
                </a:lnTo>
                <a:lnTo>
                  <a:pt x="4784116" y="0"/>
                </a:lnTo>
                <a:lnTo>
                  <a:pt x="6241670" y="0"/>
                </a:lnTo>
                <a:lnTo>
                  <a:pt x="4019862" y="5016500"/>
                </a:lnTo>
                <a:lnTo>
                  <a:pt x="2562308" y="5016500"/>
                </a:lnTo>
                <a:lnTo>
                  <a:pt x="1457554" y="5016500"/>
                </a:lnTo>
                <a:lnTo>
                  <a:pt x="0" y="5016500"/>
                </a:lnTo>
                <a:close/>
              </a:path>
            </a:pathLst>
          </a:custGeom>
          <a:gradFill>
            <a:gsLst>
              <a:gs pos="900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p:nvSpPr>
        <p:spPr>
          <a:xfrm>
            <a:off x="1681814" y="0"/>
            <a:ext cx="1984909" cy="245089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gradFill>
            <a:gsLst>
              <a:gs pos="25800">
                <a:srgbClr val="45BDD6">
                  <a:alpha val="57000"/>
                </a:srgbClr>
              </a:gs>
              <a:gs pos="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064933" y="3068846"/>
            <a:ext cx="6062133" cy="1107996"/>
          </a:xfrm>
          <a:prstGeom prst="rect">
            <a:avLst/>
          </a:prstGeom>
          <a:noFill/>
        </p:spPr>
        <p:txBody>
          <a:bodyPr wrap="square" rtlCol="0">
            <a:spAutoFit/>
            <a:scene3d>
              <a:camera prst="orthographicFront"/>
              <a:lightRig rig="threePt" dir="t"/>
            </a:scene3d>
            <a:sp3d contourW="12700"/>
          </a:bodyPr>
          <a:lstStyle/>
          <a:p>
            <a:pPr algn="ctr"/>
            <a:r>
              <a:rPr lang="en-US" altLang="zh-CN"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03.</a:t>
            </a:r>
            <a:r>
              <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校园生活</a:t>
            </a:r>
            <a:endPar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6" name="Oval 1"/>
          <p:cNvSpPr/>
          <p:nvPr/>
        </p:nvSpPr>
        <p:spPr>
          <a:xfrm flipH="1">
            <a:off x="342899"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Oval 13"/>
          <p:cNvSpPr/>
          <p:nvPr/>
        </p:nvSpPr>
        <p:spPr>
          <a:xfrm>
            <a:off x="825498"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任意多边形: 形状 22"/>
          <p:cNvSpPr/>
          <p:nvPr/>
        </p:nvSpPr>
        <p:spPr>
          <a:xfrm>
            <a:off x="-1365869" y="-643354"/>
            <a:ext cx="2423829" cy="2992854"/>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任意多边形: 形状 23"/>
          <p:cNvSpPr/>
          <p:nvPr/>
        </p:nvSpPr>
        <p:spPr>
          <a:xfrm>
            <a:off x="10907445" y="4626578"/>
            <a:ext cx="2569110" cy="317224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任意多边形: 形状 26"/>
          <p:cNvSpPr/>
          <p:nvPr/>
        </p:nvSpPr>
        <p:spPr>
          <a:xfrm>
            <a:off x="7905841" y="5052194"/>
            <a:ext cx="1967489" cy="1905405"/>
          </a:xfrm>
          <a:custGeom>
            <a:avLst/>
            <a:gdLst>
              <a:gd name="connsiteX0" fmla="*/ 876588 w 2043689"/>
              <a:gd name="connsiteY0" fmla="*/ 0 h 1979200"/>
              <a:gd name="connsiteX1" fmla="*/ 1317378 w 2043689"/>
              <a:gd name="connsiteY1" fmla="*/ 0 h 1979200"/>
              <a:gd name="connsiteX2" fmla="*/ 1602899 w 2043689"/>
              <a:gd name="connsiteY2" fmla="*/ 0 h 1979200"/>
              <a:gd name="connsiteX3" fmla="*/ 2043689 w 2043689"/>
              <a:gd name="connsiteY3" fmla="*/ 0 h 1979200"/>
              <a:gd name="connsiteX4" fmla="*/ 1167101 w 2043689"/>
              <a:gd name="connsiteY4" fmla="*/ 1979200 h 1979200"/>
              <a:gd name="connsiteX5" fmla="*/ 726311 w 2043689"/>
              <a:gd name="connsiteY5" fmla="*/ 1979200 h 1979200"/>
              <a:gd name="connsiteX6" fmla="*/ 440790 w 2043689"/>
              <a:gd name="connsiteY6" fmla="*/ 1979200 h 1979200"/>
              <a:gd name="connsiteX7" fmla="*/ 0 w 2043689"/>
              <a:gd name="connsiteY7" fmla="*/ 1979200 h 197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3689" h="1979200">
                <a:moveTo>
                  <a:pt x="876588" y="0"/>
                </a:moveTo>
                <a:lnTo>
                  <a:pt x="1317378" y="0"/>
                </a:lnTo>
                <a:lnTo>
                  <a:pt x="1602899" y="0"/>
                </a:lnTo>
                <a:lnTo>
                  <a:pt x="2043689" y="0"/>
                </a:lnTo>
                <a:lnTo>
                  <a:pt x="1167101" y="1979200"/>
                </a:lnTo>
                <a:lnTo>
                  <a:pt x="726311" y="1979200"/>
                </a:lnTo>
                <a:lnTo>
                  <a:pt x="440790" y="1979200"/>
                </a:lnTo>
                <a:lnTo>
                  <a:pt x="0" y="1979200"/>
                </a:lnTo>
                <a:close/>
              </a:path>
            </a:pathLst>
          </a:custGeom>
          <a:gradFill>
            <a:gsLst>
              <a:gs pos="0">
                <a:srgbClr val="45BDD6">
                  <a:alpha val="72000"/>
                </a:srgbClr>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0-#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500" fill="hold"/>
                                        <p:tgtEl>
                                          <p:spTgt spid="27"/>
                                        </p:tgtEl>
                                        <p:attrNameLst>
                                          <p:attrName>ppt_x</p:attrName>
                                        </p:attrNameLst>
                                      </p:cBhvr>
                                      <p:tavLst>
                                        <p:tav tm="0">
                                          <p:val>
                                            <p:strVal val="#ppt_x"/>
                                          </p:val>
                                        </p:tav>
                                        <p:tav tm="100000">
                                          <p:val>
                                            <p:strVal val="#ppt_x"/>
                                          </p:val>
                                        </p:tav>
                                      </p:tavLst>
                                    </p:anim>
                                    <p:anim calcmode="lin" valueType="num">
                                      <p:cBhvr additive="base">
                                        <p:cTn id="21" dur="500" fill="hold"/>
                                        <p:tgtEl>
                                          <p:spTgt spid="27"/>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up)">
                                      <p:cBhvr>
                                        <p:cTn id="25" dur="500"/>
                                        <p:tgtEl>
                                          <p:spTgt spid="22"/>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8" grpId="0" animBg="1"/>
      <p:bldP spid="13" grpId="0"/>
      <p:bldP spid="23" grpId="0" animBg="1"/>
      <p:bldP spid="24"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步入</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校门</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43" name="图片 42"/>
          <p:cNvPicPr>
            <a:picLocks noChangeAspect="1"/>
          </p:cNvPicPr>
          <p:nvPr/>
        </p:nvPicPr>
        <p:blipFill>
          <a:blip r:embed="rId1"/>
          <a:stretch>
            <a:fillRect/>
          </a:stretch>
        </p:blipFill>
        <p:spPr>
          <a:xfrm>
            <a:off x="494553" y="1922645"/>
            <a:ext cx="5198811" cy="3681664"/>
          </a:xfrm>
          <a:prstGeom prst="rect">
            <a:avLst/>
          </a:prstGeom>
          <a:ln>
            <a:noFill/>
          </a:ln>
          <a:effectLst>
            <a:outerShdw blurRad="292100" dist="139700" dir="2700000" algn="tl" rotWithShape="0">
              <a:srgbClr val="333333">
                <a:alpha val="65000"/>
              </a:srgbClr>
            </a:outerShdw>
          </a:effectLst>
        </p:spPr>
      </p:pic>
      <p:pic>
        <p:nvPicPr>
          <p:cNvPr id="44" name="图片 43"/>
          <p:cNvPicPr>
            <a:picLocks noChangeAspect="1"/>
          </p:cNvPicPr>
          <p:nvPr/>
        </p:nvPicPr>
        <p:blipFill>
          <a:blip r:embed="rId2"/>
          <a:stretch>
            <a:fillRect/>
          </a:stretch>
        </p:blipFill>
        <p:spPr>
          <a:xfrm>
            <a:off x="6165160" y="1922645"/>
            <a:ext cx="5532897" cy="3681664"/>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i="1" spc="300" dirty="0">
                  <a:solidFill>
                    <a:srgbClr val="24C6DB"/>
                  </a:solidFill>
                  <a:latin typeface="黑体" panose="02010609060101010101" pitchFamily="49" charset="-122"/>
                  <a:ea typeface="黑体" panose="02010609060101010101" pitchFamily="49" charset="-122"/>
                </a:rPr>
                <a:t>- </a:t>
              </a:r>
              <a:r>
                <a:rPr lang="zh-CN" altLang="en-US" sz="2400" i="1" spc="300" dirty="0">
                  <a:solidFill>
                    <a:srgbClr val="24C6DB"/>
                  </a:solidFill>
                  <a:latin typeface="黑体" panose="02010609060101010101" pitchFamily="49" charset="-122"/>
                  <a:ea typeface="黑体" panose="02010609060101010101" pitchFamily="49" charset="-122"/>
                </a:rPr>
                <a:t>主教学楼</a:t>
              </a:r>
              <a:r>
                <a:rPr lang="zh-CN" altLang="en-US" sz="2400" b="1" i="1" spc="300" dirty="0">
                  <a:solidFill>
                    <a:srgbClr val="24C6DB"/>
                  </a:solidFill>
                  <a:latin typeface="黑体" panose="02010609060101010101" pitchFamily="49" charset="-122"/>
                  <a:ea typeface="黑体" panose="02010609060101010101" pitchFamily="49" charset="-122"/>
                </a:rPr>
                <a:t>、</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综合楼</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2" name="图片 1"/>
          <p:cNvPicPr>
            <a:picLocks noChangeAspect="1"/>
          </p:cNvPicPr>
          <p:nvPr/>
        </p:nvPicPr>
        <p:blipFill>
          <a:blip r:embed="rId1" cstate="hqprint"/>
          <a:stretch>
            <a:fillRect/>
          </a:stretch>
        </p:blipFill>
        <p:spPr>
          <a:xfrm>
            <a:off x="5698711" y="1276613"/>
            <a:ext cx="6025432" cy="4016955"/>
          </a:xfrm>
          <a:prstGeom prst="rect">
            <a:avLst/>
          </a:prstGeom>
          <a:ln>
            <a:noFill/>
          </a:ln>
          <a:effectLst>
            <a:outerShdw blurRad="292100" dist="139700" dir="2700000" algn="tl" rotWithShape="0">
              <a:srgbClr val="333333">
                <a:alpha val="65000"/>
              </a:srgbClr>
            </a:outerShdw>
          </a:effectLst>
        </p:spPr>
      </p:pic>
      <p:pic>
        <p:nvPicPr>
          <p:cNvPr id="3" name="图片 2"/>
          <p:cNvPicPr>
            <a:picLocks noChangeAspect="1"/>
          </p:cNvPicPr>
          <p:nvPr/>
        </p:nvPicPr>
        <p:blipFill>
          <a:blip r:embed="rId2" cstate="hqprint"/>
          <a:stretch>
            <a:fillRect/>
          </a:stretch>
        </p:blipFill>
        <p:spPr>
          <a:xfrm>
            <a:off x="497664" y="2582916"/>
            <a:ext cx="5741734" cy="3827823"/>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来园、</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万国墙</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9" name="图片 6"/>
          <p:cNvPicPr>
            <a:picLocks noChangeAspect="1" noChangeArrowheads="1"/>
          </p:cNvPicPr>
          <p:nvPr/>
        </p:nvPicPr>
        <p:blipFill>
          <a:blip r:embed="rId1"/>
          <a:srcRect/>
          <a:stretch>
            <a:fillRect/>
          </a:stretch>
        </p:blipFill>
        <p:spPr bwMode="auto">
          <a:xfrm>
            <a:off x="612966" y="1922645"/>
            <a:ext cx="5442265" cy="3629353"/>
          </a:xfrm>
          <a:prstGeom prst="rect">
            <a:avLst/>
          </a:prstGeom>
          <a:ln>
            <a:noFill/>
          </a:ln>
          <a:effectLst>
            <a:outerShdw blurRad="292100" dist="139700" dir="2700000" algn="tl" rotWithShape="0">
              <a:srgbClr val="333333">
                <a:alpha val="65000"/>
              </a:srgbClr>
            </a:outerShdw>
          </a:effectLst>
        </p:spPr>
      </p:pic>
      <p:pic>
        <p:nvPicPr>
          <p:cNvPr id="10" name="图片 2"/>
          <p:cNvPicPr>
            <a:picLocks noChangeAspect="1" noChangeArrowheads="1"/>
          </p:cNvPicPr>
          <p:nvPr/>
        </p:nvPicPr>
        <p:blipFill>
          <a:blip r:embed="rId2"/>
          <a:srcRect/>
          <a:stretch>
            <a:fillRect/>
          </a:stretch>
        </p:blipFill>
        <p:spPr bwMode="auto">
          <a:xfrm>
            <a:off x="6304901" y="1922645"/>
            <a:ext cx="5256778" cy="3629353"/>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梧桐</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大道</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9" name="图片 2"/>
          <p:cNvPicPr>
            <a:picLocks noChangeAspect="1" noChangeArrowheads="1"/>
          </p:cNvPicPr>
          <p:nvPr/>
        </p:nvPicPr>
        <p:blipFill>
          <a:blip r:embed="rId1"/>
          <a:srcRect/>
          <a:stretch>
            <a:fillRect/>
          </a:stretch>
        </p:blipFill>
        <p:spPr bwMode="auto">
          <a:xfrm>
            <a:off x="268288" y="2036763"/>
            <a:ext cx="5649912" cy="37655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6"/>
          <p:cNvPicPr>
            <a:picLocks noChangeAspect="1" noChangeArrowheads="1"/>
          </p:cNvPicPr>
          <p:nvPr/>
        </p:nvPicPr>
        <p:blipFill>
          <a:blip r:embed="rId2"/>
          <a:srcRect/>
          <a:stretch>
            <a:fillRect/>
          </a:stretch>
        </p:blipFill>
        <p:spPr bwMode="auto">
          <a:xfrm>
            <a:off x="6273800" y="2028825"/>
            <a:ext cx="5649913" cy="37734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图书</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馆</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3" name="图片 2"/>
          <p:cNvPicPr>
            <a:picLocks noChangeAspect="1"/>
          </p:cNvPicPr>
          <p:nvPr/>
        </p:nvPicPr>
        <p:blipFill rotWithShape="1">
          <a:blip r:embed="rId1" cstate="hqprint">
            <a:extLst>
              <a:ext uri="{BEBA8EAE-BF5A-486C-A8C5-ECC9F3942E4B}">
                <a14:imgProps xmlns:a14="http://schemas.microsoft.com/office/drawing/2010/main">
                  <a14:imgLayer r:embed="rId2">
                    <a14:imgEffect>
                      <a14:brightnessContrast bright="20000"/>
                    </a14:imgEffect>
                  </a14:imgLayer>
                </a14:imgProps>
              </a:ext>
            </a:extLst>
          </a:blip>
          <a:srcRect/>
          <a:stretch>
            <a:fillRect/>
          </a:stretch>
        </p:blipFill>
        <p:spPr>
          <a:xfrm flipH="1">
            <a:off x="820638" y="3594783"/>
            <a:ext cx="4045199" cy="2795666"/>
          </a:xfrm>
          <a:prstGeom prst="rect">
            <a:avLst/>
          </a:prstGeom>
          <a:ln>
            <a:noFill/>
          </a:ln>
          <a:effectLst>
            <a:outerShdw blurRad="292100" dist="139700" dir="2700000" algn="tl" rotWithShape="0">
              <a:srgbClr val="333333">
                <a:alpha val="65000"/>
              </a:srgbClr>
            </a:outerShdw>
          </a:effectLst>
        </p:spPr>
      </p:pic>
      <p:pic>
        <p:nvPicPr>
          <p:cNvPr id="2" name="图片 1"/>
          <p:cNvPicPr>
            <a:picLocks noChangeAspect="1"/>
          </p:cNvPicPr>
          <p:nvPr/>
        </p:nvPicPr>
        <p:blipFill rotWithShape="1">
          <a:blip r:embed="rId3" cstate="hqprint">
            <a:extLst>
              <a:ext uri="{BEBA8EAE-BF5A-486C-A8C5-ECC9F3942E4B}">
                <a14:imgProps xmlns:a14="http://schemas.microsoft.com/office/drawing/2010/main">
                  <a14:imgLayer r:embed="rId4">
                    <a14:imgEffect>
                      <a14:brightnessContrast bright="20000"/>
                    </a14:imgEffect>
                  </a14:imgLayer>
                </a14:imgProps>
              </a:ext>
            </a:extLst>
          </a:blip>
          <a:srcRect l="-102" t="-570"/>
          <a:stretch>
            <a:fillRect/>
          </a:stretch>
        </p:blipFill>
        <p:spPr>
          <a:xfrm>
            <a:off x="4563560" y="1321049"/>
            <a:ext cx="6864406" cy="4362986"/>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图书馆</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（内景）</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4" name="图片 3"/>
          <p:cNvPicPr>
            <a:picLocks noChangeAspect="1"/>
          </p:cNvPicPr>
          <p:nvPr/>
        </p:nvPicPr>
        <p:blipFill rotWithShape="1">
          <a:blip r:embed="rId1" cstate="hqprint"/>
          <a:srcRect/>
          <a:stretch>
            <a:fillRect/>
          </a:stretch>
        </p:blipFill>
        <p:spPr>
          <a:xfrm>
            <a:off x="907334" y="1571238"/>
            <a:ext cx="5927166" cy="3786809"/>
          </a:xfrm>
          <a:prstGeom prst="rect">
            <a:avLst/>
          </a:prstGeom>
          <a:ln>
            <a:noFill/>
          </a:ln>
          <a:effectLst>
            <a:outerShdw blurRad="292100" dist="139700" dir="2700000" algn="tl" rotWithShape="0">
              <a:srgbClr val="333333">
                <a:alpha val="65000"/>
              </a:srgbClr>
            </a:outerShdw>
          </a:effectLst>
        </p:spPr>
      </p:pic>
      <p:pic>
        <p:nvPicPr>
          <p:cNvPr id="2" name="图片 1"/>
          <p:cNvPicPr>
            <a:picLocks noChangeAspect="1"/>
          </p:cNvPicPr>
          <p:nvPr/>
        </p:nvPicPr>
        <p:blipFill rotWithShape="1">
          <a:blip r:embed="rId2" cstate="hqprint"/>
          <a:srcRect/>
          <a:stretch>
            <a:fillRect/>
          </a:stretch>
        </p:blipFill>
        <p:spPr>
          <a:xfrm>
            <a:off x="6239398" y="2507238"/>
            <a:ext cx="5171607" cy="370618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清晏楼</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（咖啡厅）</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11" name="图片 2"/>
          <p:cNvPicPr>
            <a:picLocks noChangeAspect="1" noChangeArrowheads="1"/>
          </p:cNvPicPr>
          <p:nvPr/>
        </p:nvPicPr>
        <p:blipFill>
          <a:blip r:embed="rId1"/>
          <a:srcRect/>
          <a:stretch>
            <a:fillRect/>
          </a:stretch>
        </p:blipFill>
        <p:spPr bwMode="auto">
          <a:xfrm>
            <a:off x="650256" y="1705255"/>
            <a:ext cx="5839120" cy="40081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8"/>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rcRect/>
          <a:stretch>
            <a:fillRect/>
          </a:stretch>
        </p:blipFill>
        <p:spPr bwMode="auto">
          <a:xfrm>
            <a:off x="6958014" y="3440201"/>
            <a:ext cx="5233986" cy="344254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6958013" y="0"/>
            <a:ext cx="5233987" cy="3440201"/>
          </a:xfrm>
          <a:prstGeom prst="rect">
            <a:avLst/>
          </a:prstGeom>
          <a:ln>
            <a:noFill/>
          </a:ln>
          <a:effectLst>
            <a:outerShdw blurRad="190500" algn="tl" rotWithShape="0">
              <a:srgbClr val="000000">
                <a:alpha val="70000"/>
              </a:srgbClr>
            </a:outerShdw>
          </a:effectLst>
        </p:spPr>
      </p:pic>
    </p:spTree>
  </p:cSld>
  <p:clrMapOvr>
    <a:masterClrMapping/>
  </p:clrMapOvr>
  <p:transition spd="slow">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清宴楼</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（食堂）</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14" name="图片 13"/>
          <p:cNvPicPr>
            <a:picLocks noChangeAspect="1"/>
          </p:cNvPicPr>
          <p:nvPr/>
        </p:nvPicPr>
        <p:blipFill>
          <a:blip r:embed="rId1"/>
          <a:stretch>
            <a:fillRect/>
          </a:stretch>
        </p:blipFill>
        <p:spPr>
          <a:xfrm>
            <a:off x="1616736" y="1562575"/>
            <a:ext cx="3969385" cy="2532380"/>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5" name="图片 14"/>
          <p:cNvPicPr>
            <a:picLocks noChangeAspect="1"/>
          </p:cNvPicPr>
          <p:nvPr/>
        </p:nvPicPr>
        <p:blipFill>
          <a:blip r:embed="rId2"/>
          <a:stretch>
            <a:fillRect/>
          </a:stretch>
        </p:blipFill>
        <p:spPr>
          <a:xfrm>
            <a:off x="5896002" y="1476204"/>
            <a:ext cx="3941445" cy="2630170"/>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6" name="图片 15"/>
          <p:cNvPicPr>
            <a:picLocks noChangeAspect="1"/>
          </p:cNvPicPr>
          <p:nvPr/>
        </p:nvPicPr>
        <p:blipFill>
          <a:blip r:embed="rId3"/>
          <a:stretch>
            <a:fillRect/>
          </a:stretch>
        </p:blipFill>
        <p:spPr>
          <a:xfrm>
            <a:off x="1992975" y="4207338"/>
            <a:ext cx="3968750" cy="2436495"/>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7" name="图片 16"/>
          <p:cNvPicPr>
            <a:picLocks noChangeAspect="1"/>
          </p:cNvPicPr>
          <p:nvPr/>
        </p:nvPicPr>
        <p:blipFill>
          <a:blip r:embed="rId4"/>
          <a:stretch>
            <a:fillRect/>
          </a:stretch>
        </p:blipFill>
        <p:spPr>
          <a:xfrm>
            <a:off x="6268110" y="4153362"/>
            <a:ext cx="2063750" cy="2544445"/>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8" name="图片 17"/>
          <p:cNvPicPr>
            <a:picLocks noChangeAspect="1"/>
          </p:cNvPicPr>
          <p:nvPr/>
        </p:nvPicPr>
        <p:blipFill>
          <a:blip r:embed="rId5"/>
          <a:stretch>
            <a:fillRect/>
          </a:stretch>
        </p:blipFill>
        <p:spPr>
          <a:xfrm>
            <a:off x="8625224" y="4094955"/>
            <a:ext cx="1876425" cy="2544445"/>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transition spd="slow">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7456751" cy="1125795"/>
            <a:chOff x="494553" y="150818"/>
            <a:chExt cx="7456751"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2" y="150818"/>
              <a:ext cx="4953662"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篮排足网羽田</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场地</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11" name="图片 2"/>
          <p:cNvPicPr>
            <a:picLocks noChangeAspect="1" noChangeArrowheads="1"/>
          </p:cNvPicPr>
          <p:nvPr/>
        </p:nvPicPr>
        <p:blipFill>
          <a:blip r:embed="rId1"/>
          <a:srcRect/>
          <a:stretch>
            <a:fillRect/>
          </a:stretch>
        </p:blipFill>
        <p:spPr bwMode="auto">
          <a:xfrm>
            <a:off x="873963" y="1559242"/>
            <a:ext cx="4986866" cy="37401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p:cNvPicPr>
            <a:picLocks noChangeAspect="1"/>
          </p:cNvPicPr>
          <p:nvPr/>
        </p:nvPicPr>
        <p:blipFill>
          <a:blip r:embed="rId2"/>
          <a:stretch>
            <a:fillRect/>
          </a:stretch>
        </p:blipFill>
        <p:spPr>
          <a:xfrm>
            <a:off x="6071235" y="1558290"/>
            <a:ext cx="5400675" cy="3740785"/>
          </a:xfrm>
          <a:prstGeom prst="rect">
            <a:avLst/>
          </a:prstGeom>
          <a:ln>
            <a:noFill/>
          </a:ln>
          <a:effectLst>
            <a:outerShdw blurRad="292100" dist="139700" dir="2700000" algn="tl" rotWithShape="0">
              <a:srgbClr val="333333">
                <a:alpha val="65000"/>
              </a:srgbClr>
            </a:outerShdw>
          </a:effectLst>
        </p:spPr>
      </p:pic>
      <p:pic>
        <p:nvPicPr>
          <p:cNvPr id="13" name="Picture 3" descr="X:\11宣传ppt\宣传材料\ppt图片\图片21.jpg"/>
          <p:cNvPicPr>
            <a:picLocks noChangeAspect="1" noChangeArrowheads="1"/>
          </p:cNvPicPr>
          <p:nvPr/>
        </p:nvPicPr>
        <p:blipFill>
          <a:blip r:embed="rId3"/>
          <a:srcRect/>
          <a:stretch>
            <a:fillRect/>
          </a:stretch>
        </p:blipFill>
        <p:spPr bwMode="auto">
          <a:xfrm>
            <a:off x="4098321" y="4061618"/>
            <a:ext cx="3602038" cy="2474913"/>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体育馆、</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游泳馆</a:t>
              </a:r>
              <a:endParaRPr lang="en-US" altLang="zh-CN"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11" name="图片 2"/>
          <p:cNvPicPr>
            <a:picLocks noChangeAspect="1" noChangeArrowheads="1"/>
          </p:cNvPicPr>
          <p:nvPr/>
        </p:nvPicPr>
        <p:blipFill>
          <a:blip r:embed="rId1"/>
          <a:srcRect/>
          <a:stretch>
            <a:fillRect/>
          </a:stretch>
        </p:blipFill>
        <p:spPr bwMode="auto">
          <a:xfrm>
            <a:off x="494553" y="2285911"/>
            <a:ext cx="5837912" cy="3941042"/>
          </a:xfrm>
          <a:prstGeom prst="rect">
            <a:avLst/>
          </a:prstGeom>
          <a:ln>
            <a:noFill/>
          </a:ln>
          <a:effectLst>
            <a:outerShdw blurRad="292100" dist="139700" dir="2700000" algn="tl" rotWithShape="0">
              <a:srgbClr val="333333">
                <a:alpha val="65000"/>
              </a:srgbClr>
            </a:outerShdw>
          </a:effectLst>
          <a:extLst>
            <a:ext uri="{91240B29-F687-4F45-9708-019B960494DF}">
              <a14:hiddenLine xmlns:a14="http://schemas.microsoft.com/office/drawing/2010/main" w="9525">
                <a:solidFill>
                  <a:srgbClr val="000000"/>
                </a:solidFill>
                <a:miter lim="800000"/>
                <a:headEnd/>
                <a:tailEnd/>
              </a14:hiddenLine>
            </a:ext>
          </a:extLst>
        </p:spPr>
      </p:pic>
      <p:pic>
        <p:nvPicPr>
          <p:cNvPr id="12" name="图片 6"/>
          <p:cNvPicPr>
            <a:picLocks noChangeAspect="1" noChangeArrowheads="1"/>
          </p:cNvPicPr>
          <p:nvPr/>
        </p:nvPicPr>
        <p:blipFill>
          <a:blip r:embed="rId2"/>
          <a:srcRect/>
          <a:stretch>
            <a:fillRect/>
          </a:stretch>
        </p:blipFill>
        <p:spPr bwMode="auto">
          <a:xfrm>
            <a:off x="6501033" y="1039124"/>
            <a:ext cx="5158230" cy="3586234"/>
          </a:xfrm>
          <a:prstGeom prst="rect">
            <a:avLst/>
          </a:prstGeom>
          <a:ln>
            <a:noFill/>
          </a:ln>
          <a:effectLst>
            <a:outerShdw blurRad="292100" dist="139700" dir="2700000" algn="tl" rotWithShape="0">
              <a:srgbClr val="333333">
                <a:alpha val="65000"/>
              </a:srgbClr>
            </a:outerShdw>
          </a:effectLst>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校园文化</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活动</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12" name="图片 2"/>
          <p:cNvPicPr>
            <a:picLocks noChangeAspect="1" noChangeArrowheads="1"/>
          </p:cNvPicPr>
          <p:nvPr/>
        </p:nvPicPr>
        <p:blipFill>
          <a:blip r:embed="rId1"/>
          <a:srcRect/>
          <a:stretch>
            <a:fillRect/>
          </a:stretch>
        </p:blipFill>
        <p:spPr bwMode="auto">
          <a:xfrm>
            <a:off x="8030126" y="707472"/>
            <a:ext cx="4003559" cy="297973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p:cNvPicPr>
            <a:picLocks noChangeAspect="1"/>
          </p:cNvPicPr>
          <p:nvPr/>
        </p:nvPicPr>
        <p:blipFill>
          <a:blip r:embed="rId2"/>
          <a:stretch>
            <a:fillRect/>
          </a:stretch>
        </p:blipFill>
        <p:spPr>
          <a:xfrm>
            <a:off x="337825" y="1379001"/>
            <a:ext cx="4335404" cy="2890269"/>
          </a:xfrm>
          <a:prstGeom prst="rect">
            <a:avLst/>
          </a:prstGeom>
          <a:ln>
            <a:noFill/>
          </a:ln>
          <a:effectLst>
            <a:outerShdw blurRad="190500" algn="tl" rotWithShape="0">
              <a:srgbClr val="000000">
                <a:alpha val="70000"/>
              </a:srgbClr>
            </a:outerShdw>
          </a:effectLst>
        </p:spPr>
      </p:pic>
      <p:pic>
        <p:nvPicPr>
          <p:cNvPr id="14" name="图片 13"/>
          <p:cNvPicPr>
            <a:picLocks noChangeAspect="1"/>
          </p:cNvPicPr>
          <p:nvPr/>
        </p:nvPicPr>
        <p:blipFill rotWithShape="1">
          <a:blip r:embed="rId3"/>
          <a:srcRect/>
          <a:stretch>
            <a:fillRect/>
          </a:stretch>
        </p:blipFill>
        <p:spPr>
          <a:xfrm>
            <a:off x="3670303" y="2015945"/>
            <a:ext cx="4545291" cy="2967699"/>
          </a:xfrm>
          <a:prstGeom prst="rect">
            <a:avLst/>
          </a:prstGeom>
          <a:ln>
            <a:noFill/>
          </a:ln>
          <a:effectLst>
            <a:outerShdw blurRad="190500" algn="tl" rotWithShape="0">
              <a:srgbClr val="000000">
                <a:alpha val="70000"/>
              </a:srgbClr>
            </a:outerShdw>
          </a:effectLst>
        </p:spPr>
      </p:pic>
      <p:pic>
        <p:nvPicPr>
          <p:cNvPr id="5" name="图片 4"/>
          <p:cNvPicPr>
            <a:picLocks noChangeAspect="1"/>
          </p:cNvPicPr>
          <p:nvPr/>
        </p:nvPicPr>
        <p:blipFill>
          <a:blip r:embed="rId4" cstate="print"/>
          <a:stretch>
            <a:fillRect/>
          </a:stretch>
        </p:blipFill>
        <p:spPr>
          <a:xfrm>
            <a:off x="6015776" y="3822929"/>
            <a:ext cx="3482144" cy="2321429"/>
          </a:xfrm>
          <a:prstGeom prst="rect">
            <a:avLst/>
          </a:prstGeom>
          <a:ln>
            <a:noFill/>
          </a:ln>
          <a:effectLst>
            <a:outerShdw blurRad="292100" dist="139700" dir="2700000" algn="tl" rotWithShape="0">
              <a:srgbClr val="333333">
                <a:alpha val="65000"/>
              </a:srgbClr>
            </a:outerShdw>
          </a:effectLst>
        </p:spPr>
      </p:pic>
      <p:pic>
        <p:nvPicPr>
          <p:cNvPr id="10" name="图片 9"/>
          <p:cNvPicPr>
            <a:picLocks noChangeAspect="1"/>
          </p:cNvPicPr>
          <p:nvPr/>
        </p:nvPicPr>
        <p:blipFill>
          <a:blip r:embed="rId5"/>
          <a:stretch>
            <a:fillRect/>
          </a:stretch>
        </p:blipFill>
        <p:spPr>
          <a:xfrm>
            <a:off x="2035718" y="3952327"/>
            <a:ext cx="3413795" cy="2561901"/>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1"/>
          <a:stretch>
            <a:fillRect/>
          </a:stretch>
        </p:blipFill>
        <p:spPr>
          <a:xfrm>
            <a:off x="385602" y="3593337"/>
            <a:ext cx="3399216" cy="2256248"/>
          </a:xfrm>
          <a:prstGeom prst="rect">
            <a:avLst/>
          </a:prstGeom>
          <a:ln cmpd="sng">
            <a:solidFill>
              <a:schemeClr val="tx1"/>
            </a:solidFill>
          </a:ln>
          <a:effectLst>
            <a:outerShdw blurRad="50800" dist="38100" dir="2700000" algn="tl" rotWithShape="0">
              <a:prstClr val="black">
                <a:alpha val="40000"/>
              </a:prstClr>
            </a:outerShdw>
          </a:effectLst>
        </p:spPr>
      </p:pic>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志愿服务</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活动</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17" name="Picture 6" descr="多国高校孔子学院论坛开幕"/>
          <p:cNvPicPr>
            <a:picLocks noChangeAspect="1" noChangeArrowheads="1"/>
          </p:cNvPicPr>
          <p:nvPr/>
        </p:nvPicPr>
        <p:blipFill>
          <a:blip r:embed="rId2"/>
          <a:srcRect/>
          <a:stretch>
            <a:fillRect/>
          </a:stretch>
        </p:blipFill>
        <p:spPr bwMode="auto">
          <a:xfrm>
            <a:off x="2085210" y="1308224"/>
            <a:ext cx="4230326" cy="2602989"/>
          </a:xfrm>
          <a:prstGeom prst="rect">
            <a:avLst/>
          </a:prstGeom>
          <a:ln>
            <a:noFill/>
          </a:ln>
          <a:effectLst>
            <a:outerShdw blurRad="292100" dist="139700" dir="2700000" algn="tl" rotWithShape="0">
              <a:srgbClr val="333333">
                <a:alpha val="65000"/>
              </a:srgbClr>
            </a:outerShdw>
          </a:effectLst>
        </p:spPr>
      </p:pic>
      <p:pic>
        <p:nvPicPr>
          <p:cNvPr id="15" name="图片 14"/>
          <p:cNvPicPr>
            <a:picLocks noChangeAspect="1"/>
          </p:cNvPicPr>
          <p:nvPr/>
        </p:nvPicPr>
        <p:blipFill>
          <a:blip r:embed="rId3"/>
          <a:stretch>
            <a:fillRect/>
          </a:stretch>
        </p:blipFill>
        <p:spPr>
          <a:xfrm>
            <a:off x="5883119" y="410847"/>
            <a:ext cx="4980132" cy="3320088"/>
          </a:xfrm>
          <a:prstGeom prst="rect">
            <a:avLst/>
          </a:prstGeom>
          <a:ln>
            <a:noFill/>
          </a:ln>
          <a:effectLst>
            <a:outerShdw blurRad="190500" algn="tl" rotWithShape="0">
              <a:srgbClr val="000000">
                <a:alpha val="70000"/>
              </a:srgbClr>
            </a:outerShdw>
          </a:effectLst>
        </p:spPr>
      </p:pic>
      <p:pic>
        <p:nvPicPr>
          <p:cNvPr id="19" name="图片 18"/>
          <p:cNvPicPr>
            <a:picLocks noChangeAspect="1"/>
          </p:cNvPicPr>
          <p:nvPr/>
        </p:nvPicPr>
        <p:blipFill>
          <a:blip r:embed="rId4"/>
          <a:stretch>
            <a:fillRect/>
          </a:stretch>
        </p:blipFill>
        <p:spPr>
          <a:xfrm>
            <a:off x="8415007" y="3487973"/>
            <a:ext cx="3289095" cy="2466975"/>
          </a:xfrm>
          <a:prstGeom prst="rect">
            <a:avLst/>
          </a:prstGeom>
          <a:ln>
            <a:noFill/>
          </a:ln>
          <a:effectLst>
            <a:outerShdw blurRad="190500" algn="tl" rotWithShape="0">
              <a:srgbClr val="000000">
                <a:alpha val="70000"/>
              </a:srgbClr>
            </a:outerShdw>
          </a:effectLst>
        </p:spPr>
      </p:pic>
      <p:pic>
        <p:nvPicPr>
          <p:cNvPr id="16" name="图片 10" descr="4 我校赛时实习生接待国际奥委会终身名誉主席萨马兰奇先生.jpg"/>
          <p:cNvPicPr>
            <a:picLocks noChangeAspect="1" noChangeArrowheads="1"/>
          </p:cNvPicPr>
          <p:nvPr/>
        </p:nvPicPr>
        <p:blipFill>
          <a:blip r:embed="rId5"/>
          <a:stretch>
            <a:fillRect/>
          </a:stretch>
        </p:blipFill>
        <p:spPr bwMode="auto">
          <a:xfrm>
            <a:off x="3366975" y="3326049"/>
            <a:ext cx="5168338" cy="3259454"/>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学生宿舍</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（外景）</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3" name="图片 2"/>
          <p:cNvPicPr>
            <a:picLocks noChangeAspect="1"/>
          </p:cNvPicPr>
          <p:nvPr/>
        </p:nvPicPr>
        <p:blipFill>
          <a:blip r:embed="rId1"/>
          <a:stretch>
            <a:fillRect/>
          </a:stretch>
        </p:blipFill>
        <p:spPr>
          <a:xfrm>
            <a:off x="5844004" y="2871831"/>
            <a:ext cx="5414655" cy="3607904"/>
          </a:xfrm>
          <a:prstGeom prst="rect">
            <a:avLst/>
          </a:prstGeom>
          <a:ln>
            <a:noFill/>
          </a:ln>
          <a:effectLst>
            <a:outerShdw blurRad="292100" dist="139700" dir="2700000" algn="tl" rotWithShape="0">
              <a:srgbClr val="333333">
                <a:alpha val="65000"/>
              </a:srgbClr>
            </a:outerShdw>
          </a:effectLst>
        </p:spPr>
      </p:pic>
      <p:pic>
        <p:nvPicPr>
          <p:cNvPr id="2" name="图片 1"/>
          <p:cNvPicPr>
            <a:picLocks noChangeAspect="1"/>
          </p:cNvPicPr>
          <p:nvPr/>
        </p:nvPicPr>
        <p:blipFill>
          <a:blip r:embed="rId2"/>
          <a:stretch>
            <a:fillRect/>
          </a:stretch>
        </p:blipFill>
        <p:spPr>
          <a:xfrm>
            <a:off x="924339" y="1621499"/>
            <a:ext cx="5415522" cy="3651263"/>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94553" y="150818"/>
            <a:ext cx="6106714" cy="1125795"/>
            <a:chOff x="494553" y="150818"/>
            <a:chExt cx="6106714" cy="1125795"/>
          </a:xfrm>
        </p:grpSpPr>
        <p:grpSp>
          <p:nvGrpSpPr>
            <p:cNvPr id="37" name="组合 36"/>
            <p:cNvGrpSpPr/>
            <p:nvPr/>
          </p:nvGrpSpPr>
          <p:grpSpPr>
            <a:xfrm>
              <a:off x="494553" y="321393"/>
              <a:ext cx="5744845" cy="955220"/>
              <a:chOff x="494553" y="321393"/>
              <a:chExt cx="5744845" cy="955220"/>
            </a:xfrm>
          </p:grpSpPr>
          <p:sp>
            <p:nvSpPr>
              <p:cNvPr id="39" name="文本框 38"/>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校园</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生活</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0" name="文本框 39"/>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8"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学生宿舍</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（内景）</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11" name="图片 2"/>
          <p:cNvPicPr>
            <a:picLocks noChangeAspect="1" noChangeArrowheads="1"/>
          </p:cNvPicPr>
          <p:nvPr/>
        </p:nvPicPr>
        <p:blipFill>
          <a:blip r:embed="rId1"/>
          <a:srcRect/>
          <a:stretch>
            <a:fillRect/>
          </a:stretch>
        </p:blipFill>
        <p:spPr bwMode="auto">
          <a:xfrm>
            <a:off x="1524276" y="1337056"/>
            <a:ext cx="4576763"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6"/>
          <p:cNvPicPr>
            <a:picLocks noChangeAspect="1" noChangeArrowheads="1"/>
          </p:cNvPicPr>
          <p:nvPr/>
        </p:nvPicPr>
        <p:blipFill>
          <a:blip r:embed="rId2"/>
          <a:srcRect/>
          <a:stretch>
            <a:fillRect/>
          </a:stretch>
        </p:blipFill>
        <p:spPr bwMode="auto">
          <a:xfrm>
            <a:off x="6101039" y="1344994"/>
            <a:ext cx="4576762"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8"/>
          <p:cNvPicPr>
            <a:picLocks noChangeAspect="1" noChangeArrowheads="1"/>
          </p:cNvPicPr>
          <p:nvPr/>
        </p:nvPicPr>
        <p:blipFill>
          <a:blip r:embed="rId3"/>
          <a:srcRect/>
          <a:stretch>
            <a:fillRect/>
          </a:stretch>
        </p:blipFill>
        <p:spPr bwMode="auto">
          <a:xfrm>
            <a:off x="1524276" y="3843719"/>
            <a:ext cx="4576763"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0"/>
          <p:cNvPicPr>
            <a:picLocks noChangeAspect="1" noChangeArrowheads="1"/>
          </p:cNvPicPr>
          <p:nvPr/>
        </p:nvPicPr>
        <p:blipFill>
          <a:blip r:embed="rId4"/>
          <a:srcRect/>
          <a:stretch>
            <a:fillRect/>
          </a:stretch>
        </p:blipFill>
        <p:spPr bwMode="auto">
          <a:xfrm>
            <a:off x="6101039" y="3835781"/>
            <a:ext cx="4576761" cy="287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爆炸形 1 1"/>
          <p:cNvSpPr/>
          <p:nvPr/>
        </p:nvSpPr>
        <p:spPr>
          <a:xfrm>
            <a:off x="4739554" y="1728146"/>
            <a:ext cx="1361485" cy="1219448"/>
          </a:xfrm>
          <a:prstGeom prst="irregularSeal1">
            <a:avLst/>
          </a:prstGeom>
          <a:solidFill>
            <a:srgbClr val="FF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空调</a:t>
            </a:r>
            <a:endParaRPr lang="zh-CN" altLang="en-US" sz="1600" dirty="0">
              <a:latin typeface="微软雅黑" panose="020B0503020204020204" pitchFamily="34" charset="-122"/>
              <a:ea typeface="微软雅黑" panose="020B0503020204020204" pitchFamily="34" charset="-122"/>
            </a:endParaRPr>
          </a:p>
        </p:txBody>
      </p:sp>
      <p:sp>
        <p:nvSpPr>
          <p:cNvPr id="3" name="爆炸形 2 2"/>
          <p:cNvSpPr/>
          <p:nvPr/>
        </p:nvSpPr>
        <p:spPr>
          <a:xfrm>
            <a:off x="9859617" y="2663687"/>
            <a:ext cx="1600200" cy="1520576"/>
          </a:xfrm>
          <a:prstGeom prst="irregularSeal2">
            <a:avLst/>
          </a:prstGeom>
          <a:solidFill>
            <a:srgbClr val="24C6D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无线网络</a:t>
            </a:r>
            <a:endParaRPr lang="zh-CN" altLang="en-US" sz="1600" dirty="0">
              <a:latin typeface="微软雅黑" panose="020B0503020204020204" pitchFamily="34" charset="-122"/>
              <a:ea typeface="微软雅黑" panose="020B0503020204020204" pitchFamily="34" charset="-122"/>
            </a:endParaRPr>
          </a:p>
        </p:txBody>
      </p:sp>
      <p:sp>
        <p:nvSpPr>
          <p:cNvPr id="4" name="爆炸形 1 3"/>
          <p:cNvSpPr/>
          <p:nvPr/>
        </p:nvSpPr>
        <p:spPr>
          <a:xfrm>
            <a:off x="960953" y="4770783"/>
            <a:ext cx="1850346" cy="1649895"/>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独立储物</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学习空间</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fill="remove" grpId="0" nodeType="with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par>
                                <p:cTn id="10" presetID="27" presetClass="emph" presetSubtype="0" fill="remove" grpId="0" nodeType="withEffect">
                                  <p:stCondLst>
                                    <p:cond delay="0"/>
                                  </p:stCondLst>
                                  <p:childTnLst>
                                    <p:animClr clrSpc="rgb" dir="cw">
                                      <p:cBhvr override="childStyle">
                                        <p:cTn id="11" dur="250" autoRev="1" fill="remove"/>
                                        <p:tgtEl>
                                          <p:spTgt spid="3"/>
                                        </p:tgtEl>
                                        <p:attrNameLst>
                                          <p:attrName>style.color</p:attrName>
                                        </p:attrNameLst>
                                      </p:cBhvr>
                                      <p:to>
                                        <a:schemeClr val="bg1"/>
                                      </p:to>
                                    </p:animClr>
                                    <p:animClr clrSpc="rgb" dir="cw">
                                      <p:cBhvr>
                                        <p:cTn id="12" dur="250" autoRev="1" fill="remove"/>
                                        <p:tgtEl>
                                          <p:spTgt spid="3"/>
                                        </p:tgtEl>
                                        <p:attrNameLst>
                                          <p:attrName>fillcolor</p:attrName>
                                        </p:attrNameLst>
                                      </p:cBhvr>
                                      <p:to>
                                        <a:schemeClr val="bg1"/>
                                      </p:to>
                                    </p:animClr>
                                    <p:set>
                                      <p:cBhvr>
                                        <p:cTn id="13" dur="250" autoRev="1" fill="remove"/>
                                        <p:tgtEl>
                                          <p:spTgt spid="3"/>
                                        </p:tgtEl>
                                        <p:attrNameLst>
                                          <p:attrName>fill.type</p:attrName>
                                        </p:attrNameLst>
                                      </p:cBhvr>
                                      <p:to>
                                        <p:strVal val="solid"/>
                                      </p:to>
                                    </p:set>
                                    <p:set>
                                      <p:cBhvr>
                                        <p:cTn id="14" dur="250" autoRev="1" fill="remove"/>
                                        <p:tgtEl>
                                          <p:spTgt spid="3"/>
                                        </p:tgtEl>
                                        <p:attrNameLst>
                                          <p:attrName>fill.on</p:attrName>
                                        </p:attrNameLst>
                                      </p:cBhvr>
                                      <p:to>
                                        <p:strVal val="true"/>
                                      </p:to>
                                    </p:set>
                                  </p:childTnLst>
                                </p:cTn>
                              </p:par>
                              <p:par>
                                <p:cTn id="15" presetID="27" presetClass="emph" presetSubtype="0" fill="remove" grpId="0" nodeType="withEffect">
                                  <p:stCondLst>
                                    <p:cond delay="0"/>
                                  </p:stCondLst>
                                  <p:childTnLst>
                                    <p:animClr clrSpc="rgb" dir="cw">
                                      <p:cBhvr override="childStyle">
                                        <p:cTn id="16" dur="250" autoRev="1" fill="remove"/>
                                        <p:tgtEl>
                                          <p:spTgt spid="4"/>
                                        </p:tgtEl>
                                        <p:attrNameLst>
                                          <p:attrName>style.color</p:attrName>
                                        </p:attrNameLst>
                                      </p:cBhvr>
                                      <p:to>
                                        <a:schemeClr val="bg1"/>
                                      </p:to>
                                    </p:animClr>
                                    <p:animClr clrSpc="rgb" dir="cw">
                                      <p:cBhvr>
                                        <p:cTn id="17" dur="250" autoRev="1" fill="remove"/>
                                        <p:tgtEl>
                                          <p:spTgt spid="4"/>
                                        </p:tgtEl>
                                        <p:attrNameLst>
                                          <p:attrName>fillcolor</p:attrName>
                                        </p:attrNameLst>
                                      </p:cBhvr>
                                      <p:to>
                                        <a:schemeClr val="bg1"/>
                                      </p:to>
                                    </p:animClr>
                                    <p:set>
                                      <p:cBhvr>
                                        <p:cTn id="18" dur="250" autoRev="1" fill="remove"/>
                                        <p:tgtEl>
                                          <p:spTgt spid="4"/>
                                        </p:tgtEl>
                                        <p:attrNameLst>
                                          <p:attrName>fill.type</p:attrName>
                                        </p:attrNameLst>
                                      </p:cBhvr>
                                      <p:to>
                                        <p:strVal val="solid"/>
                                      </p:to>
                                    </p:set>
                                    <p:set>
                                      <p:cBhvr>
                                        <p:cTn id="19" dur="250" autoRev="1" fill="remove"/>
                                        <p:tgtEl>
                                          <p:spTgt spid="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0" y="0"/>
            <a:ext cx="12192000" cy="8242416"/>
          </a:xfrm>
          <a:prstGeom prst="rect">
            <a:avLst/>
          </a:prstGeom>
        </p:spPr>
      </p:pic>
      <p:sp>
        <p:nvSpPr>
          <p:cNvPr id="5" name="矩形 4"/>
          <p:cNvSpPr/>
          <p:nvPr/>
        </p:nvSpPr>
        <p:spPr>
          <a:xfrm>
            <a:off x="-53786" y="1465334"/>
            <a:ext cx="12299569" cy="6858000"/>
          </a:xfrm>
          <a:prstGeom prst="rect">
            <a:avLst/>
          </a:prstGeom>
          <a:gradFill>
            <a:gsLst>
              <a:gs pos="0">
                <a:srgbClr val="15234F">
                  <a:alpha val="0"/>
                </a:srgbClr>
              </a:gs>
              <a:gs pos="100000">
                <a:srgbClr val="15234F">
                  <a:alpha val="9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2867596" y="0"/>
            <a:ext cx="6241670" cy="5016500"/>
          </a:xfrm>
          <a:custGeom>
            <a:avLst/>
            <a:gdLst>
              <a:gd name="connsiteX0" fmla="*/ 2221808 w 6241670"/>
              <a:gd name="connsiteY0" fmla="*/ 0 h 5016500"/>
              <a:gd name="connsiteX1" fmla="*/ 3679362 w 6241670"/>
              <a:gd name="connsiteY1" fmla="*/ 0 h 5016500"/>
              <a:gd name="connsiteX2" fmla="*/ 4784116 w 6241670"/>
              <a:gd name="connsiteY2" fmla="*/ 0 h 5016500"/>
              <a:gd name="connsiteX3" fmla="*/ 6241670 w 6241670"/>
              <a:gd name="connsiteY3" fmla="*/ 0 h 5016500"/>
              <a:gd name="connsiteX4" fmla="*/ 4019862 w 6241670"/>
              <a:gd name="connsiteY4" fmla="*/ 5016500 h 5016500"/>
              <a:gd name="connsiteX5" fmla="*/ 2562308 w 6241670"/>
              <a:gd name="connsiteY5" fmla="*/ 5016500 h 5016500"/>
              <a:gd name="connsiteX6" fmla="*/ 1457554 w 6241670"/>
              <a:gd name="connsiteY6" fmla="*/ 5016500 h 5016500"/>
              <a:gd name="connsiteX7" fmla="*/ 0 w 6241670"/>
              <a:gd name="connsiteY7" fmla="*/ 5016500 h 501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1670" h="5016500">
                <a:moveTo>
                  <a:pt x="2221808" y="0"/>
                </a:moveTo>
                <a:lnTo>
                  <a:pt x="3679362" y="0"/>
                </a:lnTo>
                <a:lnTo>
                  <a:pt x="4784116" y="0"/>
                </a:lnTo>
                <a:lnTo>
                  <a:pt x="6241670" y="0"/>
                </a:lnTo>
                <a:lnTo>
                  <a:pt x="4019862" y="5016500"/>
                </a:lnTo>
                <a:lnTo>
                  <a:pt x="2562308" y="5016500"/>
                </a:lnTo>
                <a:lnTo>
                  <a:pt x="1457554" y="5016500"/>
                </a:lnTo>
                <a:lnTo>
                  <a:pt x="0" y="5016500"/>
                </a:lnTo>
                <a:close/>
              </a:path>
            </a:pathLst>
          </a:custGeom>
          <a:gradFill>
            <a:gsLst>
              <a:gs pos="900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p:nvSpPr>
        <p:spPr>
          <a:xfrm>
            <a:off x="1681814" y="0"/>
            <a:ext cx="1984909" cy="245089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gradFill>
            <a:gsLst>
              <a:gs pos="25800">
                <a:srgbClr val="45BDD6">
                  <a:alpha val="57000"/>
                </a:srgbClr>
              </a:gs>
              <a:gs pos="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064933" y="3068846"/>
            <a:ext cx="6062133" cy="1107996"/>
          </a:xfrm>
          <a:prstGeom prst="rect">
            <a:avLst/>
          </a:prstGeom>
          <a:noFill/>
        </p:spPr>
        <p:txBody>
          <a:bodyPr wrap="square" rtlCol="0">
            <a:spAutoFit/>
            <a:scene3d>
              <a:camera prst="orthographicFront"/>
              <a:lightRig rig="threePt" dir="t"/>
            </a:scene3d>
            <a:sp3d contourW="12700"/>
          </a:bodyPr>
          <a:lstStyle/>
          <a:p>
            <a:pPr algn="ctr"/>
            <a:r>
              <a:rPr lang="en-US" altLang="zh-CN"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04.</a:t>
            </a:r>
            <a:r>
              <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生涯发展</a:t>
            </a:r>
            <a:endPar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6" name="Oval 1"/>
          <p:cNvSpPr/>
          <p:nvPr/>
        </p:nvSpPr>
        <p:spPr>
          <a:xfrm flipH="1">
            <a:off x="342899"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Oval 13"/>
          <p:cNvSpPr/>
          <p:nvPr/>
        </p:nvSpPr>
        <p:spPr>
          <a:xfrm>
            <a:off x="825498"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任意多边形: 形状 22"/>
          <p:cNvSpPr/>
          <p:nvPr/>
        </p:nvSpPr>
        <p:spPr>
          <a:xfrm>
            <a:off x="-1365869" y="-643354"/>
            <a:ext cx="2423829" cy="2992854"/>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任意多边形: 形状 23"/>
          <p:cNvSpPr/>
          <p:nvPr/>
        </p:nvSpPr>
        <p:spPr>
          <a:xfrm>
            <a:off x="10907445" y="4626578"/>
            <a:ext cx="2569110" cy="317224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任意多边形: 形状 26"/>
          <p:cNvSpPr/>
          <p:nvPr/>
        </p:nvSpPr>
        <p:spPr>
          <a:xfrm>
            <a:off x="7905841" y="5052194"/>
            <a:ext cx="1967489" cy="1905405"/>
          </a:xfrm>
          <a:custGeom>
            <a:avLst/>
            <a:gdLst>
              <a:gd name="connsiteX0" fmla="*/ 876588 w 2043689"/>
              <a:gd name="connsiteY0" fmla="*/ 0 h 1979200"/>
              <a:gd name="connsiteX1" fmla="*/ 1317378 w 2043689"/>
              <a:gd name="connsiteY1" fmla="*/ 0 h 1979200"/>
              <a:gd name="connsiteX2" fmla="*/ 1602899 w 2043689"/>
              <a:gd name="connsiteY2" fmla="*/ 0 h 1979200"/>
              <a:gd name="connsiteX3" fmla="*/ 2043689 w 2043689"/>
              <a:gd name="connsiteY3" fmla="*/ 0 h 1979200"/>
              <a:gd name="connsiteX4" fmla="*/ 1167101 w 2043689"/>
              <a:gd name="connsiteY4" fmla="*/ 1979200 h 1979200"/>
              <a:gd name="connsiteX5" fmla="*/ 726311 w 2043689"/>
              <a:gd name="connsiteY5" fmla="*/ 1979200 h 1979200"/>
              <a:gd name="connsiteX6" fmla="*/ 440790 w 2043689"/>
              <a:gd name="connsiteY6" fmla="*/ 1979200 h 1979200"/>
              <a:gd name="connsiteX7" fmla="*/ 0 w 2043689"/>
              <a:gd name="connsiteY7" fmla="*/ 1979200 h 197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3689" h="1979200">
                <a:moveTo>
                  <a:pt x="876588" y="0"/>
                </a:moveTo>
                <a:lnTo>
                  <a:pt x="1317378" y="0"/>
                </a:lnTo>
                <a:lnTo>
                  <a:pt x="1602899" y="0"/>
                </a:lnTo>
                <a:lnTo>
                  <a:pt x="2043689" y="0"/>
                </a:lnTo>
                <a:lnTo>
                  <a:pt x="1167101" y="1979200"/>
                </a:lnTo>
                <a:lnTo>
                  <a:pt x="726311" y="1979200"/>
                </a:lnTo>
                <a:lnTo>
                  <a:pt x="440790" y="1979200"/>
                </a:lnTo>
                <a:lnTo>
                  <a:pt x="0" y="1979200"/>
                </a:lnTo>
                <a:close/>
              </a:path>
            </a:pathLst>
          </a:custGeom>
          <a:gradFill>
            <a:gsLst>
              <a:gs pos="0">
                <a:srgbClr val="45BDD6">
                  <a:alpha val="72000"/>
                </a:srgbClr>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0-#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500" fill="hold"/>
                                        <p:tgtEl>
                                          <p:spTgt spid="27"/>
                                        </p:tgtEl>
                                        <p:attrNameLst>
                                          <p:attrName>ppt_x</p:attrName>
                                        </p:attrNameLst>
                                      </p:cBhvr>
                                      <p:tavLst>
                                        <p:tav tm="0">
                                          <p:val>
                                            <p:strVal val="#ppt_x"/>
                                          </p:val>
                                        </p:tav>
                                        <p:tav tm="100000">
                                          <p:val>
                                            <p:strVal val="#ppt_x"/>
                                          </p:val>
                                        </p:tav>
                                      </p:tavLst>
                                    </p:anim>
                                    <p:anim calcmode="lin" valueType="num">
                                      <p:cBhvr additive="base">
                                        <p:cTn id="21" dur="500" fill="hold"/>
                                        <p:tgtEl>
                                          <p:spTgt spid="27"/>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up)">
                                      <p:cBhvr>
                                        <p:cTn id="25" dur="500"/>
                                        <p:tgtEl>
                                          <p:spTgt spid="22"/>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8" grpId="0" animBg="1"/>
      <p:bldP spid="13" grpId="0"/>
      <p:bldP spid="23" grpId="0" animBg="1"/>
      <p:bldP spid="24" grpId="0" animBg="1"/>
      <p:bldP spid="2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50" name="组合 49"/>
          <p:cNvGrpSpPr/>
          <p:nvPr/>
        </p:nvGrpSpPr>
        <p:grpSpPr>
          <a:xfrm>
            <a:off x="2109980" y="1705255"/>
            <a:ext cx="4601973" cy="3973561"/>
            <a:chOff x="0" y="0"/>
            <a:chExt cx="4565771" cy="3949613"/>
          </a:xfrm>
          <a:solidFill>
            <a:srgbClr val="45BDD6"/>
          </a:solidFill>
        </p:grpSpPr>
        <p:sp>
          <p:nvSpPr>
            <p:cNvPr id="51" name="Freeform 139"/>
            <p:cNvSpPr/>
            <p:nvPr/>
          </p:nvSpPr>
          <p:spPr>
            <a:xfrm>
              <a:off x="0" y="1863976"/>
              <a:ext cx="1476298" cy="1753145"/>
            </a:xfrm>
            <a:custGeom>
              <a:avLst/>
              <a:gdLst>
                <a:gd name="txL" fmla="*/ 0 w 718"/>
                <a:gd name="txT" fmla="*/ 0 h 724"/>
                <a:gd name="txR" fmla="*/ 718 w 718"/>
                <a:gd name="txB" fmla="*/ 724 h 724"/>
              </a:gdLst>
              <a:ahLst/>
              <a:cxnLst>
                <a:cxn ang="0">
                  <a:pos x="384" y="710"/>
                </a:cxn>
                <a:cxn ang="0">
                  <a:pos x="364" y="658"/>
                </a:cxn>
                <a:cxn ang="0">
                  <a:pos x="318" y="562"/>
                </a:cxn>
                <a:cxn ang="0">
                  <a:pos x="331" y="480"/>
                </a:cxn>
                <a:cxn ang="0">
                  <a:pos x="288" y="389"/>
                </a:cxn>
                <a:cxn ang="0">
                  <a:pos x="267" y="334"/>
                </a:cxn>
                <a:cxn ang="0">
                  <a:pos x="233" y="318"/>
                </a:cxn>
                <a:cxn ang="0">
                  <a:pos x="167" y="328"/>
                </a:cxn>
                <a:cxn ang="0">
                  <a:pos x="93" y="333"/>
                </a:cxn>
                <a:cxn ang="0">
                  <a:pos x="43" y="291"/>
                </a:cxn>
                <a:cxn ang="0">
                  <a:pos x="10" y="241"/>
                </a:cxn>
                <a:cxn ang="0">
                  <a:pos x="21" y="199"/>
                </a:cxn>
                <a:cxn ang="0">
                  <a:pos x="19" y="172"/>
                </a:cxn>
                <a:cxn ang="0">
                  <a:pos x="52" y="114"/>
                </a:cxn>
                <a:cxn ang="0">
                  <a:pos x="95" y="71"/>
                </a:cxn>
                <a:cxn ang="0">
                  <a:pos x="132" y="22"/>
                </a:cxn>
                <a:cxn ang="0">
                  <a:pos x="207" y="10"/>
                </a:cxn>
                <a:cxn ang="0">
                  <a:pos x="302" y="3"/>
                </a:cxn>
                <a:cxn ang="0">
                  <a:pos x="304" y="46"/>
                </a:cxn>
                <a:cxn ang="0">
                  <a:pos x="347" y="57"/>
                </a:cxn>
                <a:cxn ang="0">
                  <a:pos x="396" y="68"/>
                </a:cxn>
                <a:cxn ang="0">
                  <a:pos x="443" y="57"/>
                </a:cxn>
                <a:cxn ang="0">
                  <a:pos x="509" y="63"/>
                </a:cxn>
                <a:cxn ang="0">
                  <a:pos x="540" y="120"/>
                </a:cxn>
                <a:cxn ang="0">
                  <a:pos x="577" y="199"/>
                </a:cxn>
                <a:cxn ang="0">
                  <a:pos x="646" y="260"/>
                </a:cxn>
                <a:cxn ang="0">
                  <a:pos x="716" y="292"/>
                </a:cxn>
                <a:cxn ang="0">
                  <a:pos x="659" y="351"/>
                </a:cxn>
                <a:cxn ang="0">
                  <a:pos x="606" y="413"/>
                </a:cxn>
                <a:cxn ang="0">
                  <a:pos x="605" y="454"/>
                </a:cxn>
                <a:cxn ang="0">
                  <a:pos x="625" y="501"/>
                </a:cxn>
                <a:cxn ang="0">
                  <a:pos x="596" y="539"/>
                </a:cxn>
                <a:cxn ang="0">
                  <a:pos x="566" y="583"/>
                </a:cxn>
                <a:cxn ang="0">
                  <a:pos x="568" y="608"/>
                </a:cxn>
                <a:cxn ang="0">
                  <a:pos x="530" y="639"/>
                </a:cxn>
                <a:cxn ang="0">
                  <a:pos x="519" y="680"/>
                </a:cxn>
                <a:cxn ang="0">
                  <a:pos x="470" y="713"/>
                </a:cxn>
                <a:cxn ang="0">
                  <a:pos x="401" y="724"/>
                </a:cxn>
              </a:cxnLst>
              <a:rect l="txL" t="txT" r="txR" b="txB"/>
              <a:pathLst>
                <a:path w="718" h="724">
                  <a:moveTo>
                    <a:pt x="401" y="724"/>
                  </a:moveTo>
                  <a:cubicBezTo>
                    <a:pt x="396" y="721"/>
                    <a:pt x="388" y="712"/>
                    <a:pt x="384" y="710"/>
                  </a:cubicBezTo>
                  <a:cubicBezTo>
                    <a:pt x="380" y="708"/>
                    <a:pt x="378" y="689"/>
                    <a:pt x="378" y="683"/>
                  </a:cubicBezTo>
                  <a:cubicBezTo>
                    <a:pt x="378" y="677"/>
                    <a:pt x="371" y="664"/>
                    <a:pt x="364" y="658"/>
                  </a:cubicBezTo>
                  <a:cubicBezTo>
                    <a:pt x="358" y="651"/>
                    <a:pt x="351" y="635"/>
                    <a:pt x="346" y="618"/>
                  </a:cubicBezTo>
                  <a:cubicBezTo>
                    <a:pt x="340" y="602"/>
                    <a:pt x="329" y="571"/>
                    <a:pt x="318" y="562"/>
                  </a:cubicBezTo>
                  <a:cubicBezTo>
                    <a:pt x="307" y="554"/>
                    <a:pt x="312" y="536"/>
                    <a:pt x="312" y="520"/>
                  </a:cubicBezTo>
                  <a:cubicBezTo>
                    <a:pt x="312" y="503"/>
                    <a:pt x="339" y="494"/>
                    <a:pt x="331" y="480"/>
                  </a:cubicBezTo>
                  <a:cubicBezTo>
                    <a:pt x="323" y="467"/>
                    <a:pt x="330" y="444"/>
                    <a:pt x="321" y="435"/>
                  </a:cubicBezTo>
                  <a:cubicBezTo>
                    <a:pt x="312" y="426"/>
                    <a:pt x="289" y="399"/>
                    <a:pt x="288" y="389"/>
                  </a:cubicBezTo>
                  <a:cubicBezTo>
                    <a:pt x="286" y="380"/>
                    <a:pt x="274" y="357"/>
                    <a:pt x="280" y="348"/>
                  </a:cubicBezTo>
                  <a:cubicBezTo>
                    <a:pt x="286" y="339"/>
                    <a:pt x="270" y="334"/>
                    <a:pt x="267" y="334"/>
                  </a:cubicBezTo>
                  <a:cubicBezTo>
                    <a:pt x="265" y="334"/>
                    <a:pt x="251" y="332"/>
                    <a:pt x="248" y="332"/>
                  </a:cubicBezTo>
                  <a:cubicBezTo>
                    <a:pt x="246" y="332"/>
                    <a:pt x="245" y="321"/>
                    <a:pt x="233" y="318"/>
                  </a:cubicBezTo>
                  <a:cubicBezTo>
                    <a:pt x="221" y="316"/>
                    <a:pt x="205" y="313"/>
                    <a:pt x="194" y="318"/>
                  </a:cubicBezTo>
                  <a:cubicBezTo>
                    <a:pt x="182" y="322"/>
                    <a:pt x="189" y="328"/>
                    <a:pt x="167" y="328"/>
                  </a:cubicBezTo>
                  <a:cubicBezTo>
                    <a:pt x="146" y="328"/>
                    <a:pt x="126" y="322"/>
                    <a:pt x="115" y="330"/>
                  </a:cubicBezTo>
                  <a:cubicBezTo>
                    <a:pt x="105" y="337"/>
                    <a:pt x="103" y="342"/>
                    <a:pt x="93" y="333"/>
                  </a:cubicBezTo>
                  <a:cubicBezTo>
                    <a:pt x="84" y="324"/>
                    <a:pt x="72" y="319"/>
                    <a:pt x="57" y="309"/>
                  </a:cubicBezTo>
                  <a:cubicBezTo>
                    <a:pt x="43" y="299"/>
                    <a:pt x="46" y="301"/>
                    <a:pt x="43" y="291"/>
                  </a:cubicBezTo>
                  <a:cubicBezTo>
                    <a:pt x="41" y="282"/>
                    <a:pt x="57" y="288"/>
                    <a:pt x="28" y="269"/>
                  </a:cubicBezTo>
                  <a:cubicBezTo>
                    <a:pt x="0" y="250"/>
                    <a:pt x="6" y="248"/>
                    <a:pt x="10" y="241"/>
                  </a:cubicBezTo>
                  <a:cubicBezTo>
                    <a:pt x="14" y="233"/>
                    <a:pt x="11" y="221"/>
                    <a:pt x="19" y="214"/>
                  </a:cubicBezTo>
                  <a:cubicBezTo>
                    <a:pt x="27" y="208"/>
                    <a:pt x="29" y="200"/>
                    <a:pt x="21" y="199"/>
                  </a:cubicBezTo>
                  <a:cubicBezTo>
                    <a:pt x="14" y="197"/>
                    <a:pt x="17" y="183"/>
                    <a:pt x="20" y="181"/>
                  </a:cubicBezTo>
                  <a:cubicBezTo>
                    <a:pt x="22" y="180"/>
                    <a:pt x="27" y="179"/>
                    <a:pt x="19" y="172"/>
                  </a:cubicBezTo>
                  <a:cubicBezTo>
                    <a:pt x="12" y="166"/>
                    <a:pt x="13" y="158"/>
                    <a:pt x="21" y="152"/>
                  </a:cubicBezTo>
                  <a:cubicBezTo>
                    <a:pt x="29" y="146"/>
                    <a:pt x="48" y="121"/>
                    <a:pt x="52" y="114"/>
                  </a:cubicBezTo>
                  <a:cubicBezTo>
                    <a:pt x="55" y="108"/>
                    <a:pt x="68" y="102"/>
                    <a:pt x="75" y="97"/>
                  </a:cubicBezTo>
                  <a:cubicBezTo>
                    <a:pt x="82" y="92"/>
                    <a:pt x="94" y="87"/>
                    <a:pt x="95" y="71"/>
                  </a:cubicBezTo>
                  <a:cubicBezTo>
                    <a:pt x="95" y="56"/>
                    <a:pt x="100" y="51"/>
                    <a:pt x="107" y="44"/>
                  </a:cubicBezTo>
                  <a:cubicBezTo>
                    <a:pt x="115" y="38"/>
                    <a:pt x="133" y="34"/>
                    <a:pt x="132" y="22"/>
                  </a:cubicBezTo>
                  <a:cubicBezTo>
                    <a:pt x="131" y="10"/>
                    <a:pt x="144" y="20"/>
                    <a:pt x="161" y="20"/>
                  </a:cubicBezTo>
                  <a:cubicBezTo>
                    <a:pt x="178" y="20"/>
                    <a:pt x="197" y="17"/>
                    <a:pt x="207" y="10"/>
                  </a:cubicBezTo>
                  <a:cubicBezTo>
                    <a:pt x="217" y="4"/>
                    <a:pt x="256" y="5"/>
                    <a:pt x="265" y="3"/>
                  </a:cubicBezTo>
                  <a:cubicBezTo>
                    <a:pt x="273" y="1"/>
                    <a:pt x="304" y="0"/>
                    <a:pt x="302" y="3"/>
                  </a:cubicBezTo>
                  <a:cubicBezTo>
                    <a:pt x="301" y="6"/>
                    <a:pt x="302" y="6"/>
                    <a:pt x="302" y="18"/>
                  </a:cubicBezTo>
                  <a:cubicBezTo>
                    <a:pt x="302" y="30"/>
                    <a:pt x="297" y="45"/>
                    <a:pt x="304" y="46"/>
                  </a:cubicBezTo>
                  <a:cubicBezTo>
                    <a:pt x="310" y="47"/>
                    <a:pt x="311" y="42"/>
                    <a:pt x="328" y="47"/>
                  </a:cubicBezTo>
                  <a:cubicBezTo>
                    <a:pt x="346" y="52"/>
                    <a:pt x="338" y="52"/>
                    <a:pt x="347" y="57"/>
                  </a:cubicBezTo>
                  <a:cubicBezTo>
                    <a:pt x="355" y="62"/>
                    <a:pt x="368" y="72"/>
                    <a:pt x="374" y="71"/>
                  </a:cubicBezTo>
                  <a:cubicBezTo>
                    <a:pt x="380" y="70"/>
                    <a:pt x="397" y="76"/>
                    <a:pt x="396" y="68"/>
                  </a:cubicBezTo>
                  <a:cubicBezTo>
                    <a:pt x="396" y="60"/>
                    <a:pt x="395" y="51"/>
                    <a:pt x="405" y="50"/>
                  </a:cubicBezTo>
                  <a:cubicBezTo>
                    <a:pt x="415" y="49"/>
                    <a:pt x="425" y="47"/>
                    <a:pt x="443" y="57"/>
                  </a:cubicBezTo>
                  <a:cubicBezTo>
                    <a:pt x="462" y="67"/>
                    <a:pt x="478" y="71"/>
                    <a:pt x="487" y="70"/>
                  </a:cubicBezTo>
                  <a:cubicBezTo>
                    <a:pt x="496" y="69"/>
                    <a:pt x="502" y="65"/>
                    <a:pt x="509" y="63"/>
                  </a:cubicBezTo>
                  <a:cubicBezTo>
                    <a:pt x="517" y="61"/>
                    <a:pt x="507" y="65"/>
                    <a:pt x="524" y="87"/>
                  </a:cubicBezTo>
                  <a:cubicBezTo>
                    <a:pt x="541" y="108"/>
                    <a:pt x="528" y="100"/>
                    <a:pt x="540" y="120"/>
                  </a:cubicBezTo>
                  <a:cubicBezTo>
                    <a:pt x="552" y="140"/>
                    <a:pt x="560" y="150"/>
                    <a:pt x="563" y="163"/>
                  </a:cubicBezTo>
                  <a:cubicBezTo>
                    <a:pt x="566" y="175"/>
                    <a:pt x="563" y="188"/>
                    <a:pt x="577" y="199"/>
                  </a:cubicBezTo>
                  <a:cubicBezTo>
                    <a:pt x="592" y="210"/>
                    <a:pt x="597" y="226"/>
                    <a:pt x="615" y="235"/>
                  </a:cubicBezTo>
                  <a:cubicBezTo>
                    <a:pt x="633" y="244"/>
                    <a:pt x="603" y="255"/>
                    <a:pt x="646" y="260"/>
                  </a:cubicBezTo>
                  <a:cubicBezTo>
                    <a:pt x="689" y="266"/>
                    <a:pt x="718" y="259"/>
                    <a:pt x="718" y="259"/>
                  </a:cubicBezTo>
                  <a:cubicBezTo>
                    <a:pt x="716" y="292"/>
                    <a:pt x="716" y="292"/>
                    <a:pt x="716" y="292"/>
                  </a:cubicBezTo>
                  <a:cubicBezTo>
                    <a:pt x="716" y="292"/>
                    <a:pt x="704" y="312"/>
                    <a:pt x="694" y="322"/>
                  </a:cubicBezTo>
                  <a:cubicBezTo>
                    <a:pt x="684" y="332"/>
                    <a:pt x="673" y="341"/>
                    <a:pt x="659" y="351"/>
                  </a:cubicBezTo>
                  <a:cubicBezTo>
                    <a:pt x="645" y="361"/>
                    <a:pt x="634" y="372"/>
                    <a:pt x="628" y="385"/>
                  </a:cubicBezTo>
                  <a:cubicBezTo>
                    <a:pt x="622" y="398"/>
                    <a:pt x="608" y="406"/>
                    <a:pt x="606" y="413"/>
                  </a:cubicBezTo>
                  <a:cubicBezTo>
                    <a:pt x="604" y="420"/>
                    <a:pt x="596" y="422"/>
                    <a:pt x="596" y="430"/>
                  </a:cubicBezTo>
                  <a:cubicBezTo>
                    <a:pt x="597" y="438"/>
                    <a:pt x="601" y="451"/>
                    <a:pt x="605" y="454"/>
                  </a:cubicBezTo>
                  <a:cubicBezTo>
                    <a:pt x="610" y="457"/>
                    <a:pt x="628" y="474"/>
                    <a:pt x="622" y="474"/>
                  </a:cubicBezTo>
                  <a:cubicBezTo>
                    <a:pt x="617" y="474"/>
                    <a:pt x="625" y="501"/>
                    <a:pt x="625" y="501"/>
                  </a:cubicBezTo>
                  <a:cubicBezTo>
                    <a:pt x="625" y="501"/>
                    <a:pt x="633" y="525"/>
                    <a:pt x="625" y="527"/>
                  </a:cubicBezTo>
                  <a:cubicBezTo>
                    <a:pt x="617" y="529"/>
                    <a:pt x="607" y="537"/>
                    <a:pt x="596" y="539"/>
                  </a:cubicBezTo>
                  <a:cubicBezTo>
                    <a:pt x="585" y="541"/>
                    <a:pt x="565" y="555"/>
                    <a:pt x="565" y="561"/>
                  </a:cubicBezTo>
                  <a:cubicBezTo>
                    <a:pt x="565" y="568"/>
                    <a:pt x="566" y="583"/>
                    <a:pt x="566" y="583"/>
                  </a:cubicBezTo>
                  <a:cubicBezTo>
                    <a:pt x="566" y="583"/>
                    <a:pt x="569" y="580"/>
                    <a:pt x="569" y="587"/>
                  </a:cubicBezTo>
                  <a:cubicBezTo>
                    <a:pt x="569" y="593"/>
                    <a:pt x="571" y="602"/>
                    <a:pt x="568" y="608"/>
                  </a:cubicBezTo>
                  <a:cubicBezTo>
                    <a:pt x="565" y="614"/>
                    <a:pt x="558" y="621"/>
                    <a:pt x="550" y="623"/>
                  </a:cubicBezTo>
                  <a:cubicBezTo>
                    <a:pt x="543" y="625"/>
                    <a:pt x="528" y="635"/>
                    <a:pt x="530" y="639"/>
                  </a:cubicBezTo>
                  <a:cubicBezTo>
                    <a:pt x="533" y="643"/>
                    <a:pt x="551" y="644"/>
                    <a:pt x="541" y="650"/>
                  </a:cubicBezTo>
                  <a:cubicBezTo>
                    <a:pt x="531" y="656"/>
                    <a:pt x="523" y="671"/>
                    <a:pt x="519" y="680"/>
                  </a:cubicBezTo>
                  <a:cubicBezTo>
                    <a:pt x="514" y="689"/>
                    <a:pt x="517" y="686"/>
                    <a:pt x="500" y="698"/>
                  </a:cubicBezTo>
                  <a:cubicBezTo>
                    <a:pt x="483" y="710"/>
                    <a:pt x="497" y="711"/>
                    <a:pt x="470" y="713"/>
                  </a:cubicBezTo>
                  <a:cubicBezTo>
                    <a:pt x="442" y="716"/>
                    <a:pt x="423" y="720"/>
                    <a:pt x="419" y="721"/>
                  </a:cubicBezTo>
                  <a:cubicBezTo>
                    <a:pt x="415" y="723"/>
                    <a:pt x="401" y="724"/>
                    <a:pt x="401" y="724"/>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52" name="Freeform 140"/>
            <p:cNvSpPr/>
            <p:nvPr/>
          </p:nvSpPr>
          <p:spPr>
            <a:xfrm>
              <a:off x="1340646" y="3034178"/>
              <a:ext cx="163762" cy="346887"/>
            </a:xfrm>
            <a:custGeom>
              <a:avLst/>
              <a:gdLst>
                <a:gd name="txL" fmla="*/ 0 w 80"/>
                <a:gd name="txT" fmla="*/ 0 h 143"/>
                <a:gd name="txR" fmla="*/ 80 w 80"/>
                <a:gd name="txB" fmla="*/ 143 h 143"/>
              </a:gdLst>
              <a:ahLst/>
              <a:cxnLst>
                <a:cxn ang="0">
                  <a:pos x="63" y="2"/>
                </a:cxn>
                <a:cxn ang="0">
                  <a:pos x="62" y="13"/>
                </a:cxn>
                <a:cxn ang="0">
                  <a:pos x="52" y="22"/>
                </a:cxn>
                <a:cxn ang="0">
                  <a:pos x="35" y="38"/>
                </a:cxn>
                <a:cxn ang="0">
                  <a:pos x="13" y="55"/>
                </a:cxn>
                <a:cxn ang="0">
                  <a:pos x="9" y="75"/>
                </a:cxn>
                <a:cxn ang="0">
                  <a:pos x="9" y="97"/>
                </a:cxn>
                <a:cxn ang="0">
                  <a:pos x="12" y="119"/>
                </a:cxn>
                <a:cxn ang="0">
                  <a:pos x="25" y="143"/>
                </a:cxn>
                <a:cxn ang="0">
                  <a:pos x="56" y="118"/>
                </a:cxn>
                <a:cxn ang="0">
                  <a:pos x="64" y="63"/>
                </a:cxn>
                <a:cxn ang="0">
                  <a:pos x="78" y="35"/>
                </a:cxn>
                <a:cxn ang="0">
                  <a:pos x="63" y="2"/>
                </a:cxn>
              </a:cxnLst>
              <a:rect l="txL" t="txT" r="txR" b="txB"/>
              <a:pathLst>
                <a:path w="80" h="143">
                  <a:moveTo>
                    <a:pt x="63" y="2"/>
                  </a:moveTo>
                  <a:cubicBezTo>
                    <a:pt x="64" y="0"/>
                    <a:pt x="64" y="11"/>
                    <a:pt x="62" y="13"/>
                  </a:cubicBezTo>
                  <a:cubicBezTo>
                    <a:pt x="59" y="16"/>
                    <a:pt x="58" y="17"/>
                    <a:pt x="52" y="22"/>
                  </a:cubicBezTo>
                  <a:cubicBezTo>
                    <a:pt x="46" y="27"/>
                    <a:pt x="49" y="34"/>
                    <a:pt x="35" y="38"/>
                  </a:cubicBezTo>
                  <a:cubicBezTo>
                    <a:pt x="21" y="42"/>
                    <a:pt x="17" y="47"/>
                    <a:pt x="13" y="55"/>
                  </a:cubicBezTo>
                  <a:cubicBezTo>
                    <a:pt x="10" y="63"/>
                    <a:pt x="9" y="65"/>
                    <a:pt x="9" y="75"/>
                  </a:cubicBezTo>
                  <a:cubicBezTo>
                    <a:pt x="10" y="84"/>
                    <a:pt x="18" y="85"/>
                    <a:pt x="9" y="97"/>
                  </a:cubicBezTo>
                  <a:cubicBezTo>
                    <a:pt x="0" y="109"/>
                    <a:pt x="11" y="114"/>
                    <a:pt x="12" y="119"/>
                  </a:cubicBezTo>
                  <a:cubicBezTo>
                    <a:pt x="13" y="125"/>
                    <a:pt x="13" y="142"/>
                    <a:pt x="25" y="143"/>
                  </a:cubicBezTo>
                  <a:cubicBezTo>
                    <a:pt x="37" y="143"/>
                    <a:pt x="56" y="131"/>
                    <a:pt x="56" y="118"/>
                  </a:cubicBezTo>
                  <a:cubicBezTo>
                    <a:pt x="56" y="105"/>
                    <a:pt x="60" y="74"/>
                    <a:pt x="64" y="63"/>
                  </a:cubicBezTo>
                  <a:cubicBezTo>
                    <a:pt x="69" y="52"/>
                    <a:pt x="80" y="49"/>
                    <a:pt x="78" y="35"/>
                  </a:cubicBezTo>
                  <a:cubicBezTo>
                    <a:pt x="76" y="21"/>
                    <a:pt x="63" y="4"/>
                    <a:pt x="63" y="2"/>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53" name="Freeform 141"/>
            <p:cNvSpPr/>
            <p:nvPr/>
          </p:nvSpPr>
          <p:spPr>
            <a:xfrm>
              <a:off x="211424" y="234616"/>
              <a:ext cx="3759183" cy="2513129"/>
            </a:xfrm>
            <a:custGeom>
              <a:avLst/>
              <a:gdLst>
                <a:gd name="txL" fmla="*/ 0 w 1828"/>
                <a:gd name="txT" fmla="*/ 0 h 1038"/>
                <a:gd name="txR" fmla="*/ 1828 w 1828"/>
                <a:gd name="txB" fmla="*/ 1038 h 1038"/>
              </a:gdLst>
              <a:ahLst/>
              <a:cxnLst>
                <a:cxn ang="0">
                  <a:pos x="430" y="679"/>
                </a:cxn>
                <a:cxn ang="0">
                  <a:pos x="320" y="638"/>
                </a:cxn>
                <a:cxn ang="0">
                  <a:pos x="221" y="574"/>
                </a:cxn>
                <a:cxn ang="0">
                  <a:pos x="240" y="677"/>
                </a:cxn>
                <a:cxn ang="0">
                  <a:pos x="169" y="589"/>
                </a:cxn>
                <a:cxn ang="0">
                  <a:pos x="44" y="683"/>
                </a:cxn>
                <a:cxn ang="0">
                  <a:pos x="74" y="548"/>
                </a:cxn>
                <a:cxn ang="0">
                  <a:pos x="108" y="497"/>
                </a:cxn>
                <a:cxn ang="0">
                  <a:pos x="181" y="386"/>
                </a:cxn>
                <a:cxn ang="0">
                  <a:pos x="197" y="437"/>
                </a:cxn>
                <a:cxn ang="0">
                  <a:pos x="319" y="385"/>
                </a:cxn>
                <a:cxn ang="0">
                  <a:pos x="365" y="342"/>
                </a:cxn>
                <a:cxn ang="0">
                  <a:pos x="298" y="288"/>
                </a:cxn>
                <a:cxn ang="0">
                  <a:pos x="269" y="321"/>
                </a:cxn>
                <a:cxn ang="0">
                  <a:pos x="191" y="357"/>
                </a:cxn>
                <a:cxn ang="0">
                  <a:pos x="147" y="330"/>
                </a:cxn>
                <a:cxn ang="0">
                  <a:pos x="240" y="182"/>
                </a:cxn>
                <a:cxn ang="0">
                  <a:pos x="300" y="137"/>
                </a:cxn>
                <a:cxn ang="0">
                  <a:pos x="466" y="199"/>
                </a:cxn>
                <a:cxn ang="0">
                  <a:pos x="414" y="229"/>
                </a:cxn>
                <a:cxn ang="0">
                  <a:pos x="462" y="229"/>
                </a:cxn>
                <a:cxn ang="0">
                  <a:pos x="517" y="193"/>
                </a:cxn>
                <a:cxn ang="0">
                  <a:pos x="622" y="165"/>
                </a:cxn>
                <a:cxn ang="0">
                  <a:pos x="714" y="163"/>
                </a:cxn>
                <a:cxn ang="0">
                  <a:pos x="736" y="94"/>
                </a:cxn>
                <a:cxn ang="0">
                  <a:pos x="755" y="184"/>
                </a:cxn>
                <a:cxn ang="0">
                  <a:pos x="763" y="137"/>
                </a:cxn>
                <a:cxn ang="0">
                  <a:pos x="781" y="123"/>
                </a:cxn>
                <a:cxn ang="0">
                  <a:pos x="830" y="105"/>
                </a:cxn>
                <a:cxn ang="0">
                  <a:pos x="935" y="30"/>
                </a:cxn>
                <a:cxn ang="0">
                  <a:pos x="1062" y="20"/>
                </a:cxn>
                <a:cxn ang="0">
                  <a:pos x="1098" y="77"/>
                </a:cxn>
                <a:cxn ang="0">
                  <a:pos x="1243" y="88"/>
                </a:cxn>
                <a:cxn ang="0">
                  <a:pos x="1344" y="115"/>
                </a:cxn>
                <a:cxn ang="0">
                  <a:pos x="1466" y="128"/>
                </a:cxn>
                <a:cxn ang="0">
                  <a:pos x="1636" y="158"/>
                </a:cxn>
                <a:cxn ang="0">
                  <a:pos x="1812" y="229"/>
                </a:cxn>
                <a:cxn ang="0">
                  <a:pos x="1741" y="215"/>
                </a:cxn>
                <a:cxn ang="0">
                  <a:pos x="1753" y="285"/>
                </a:cxn>
                <a:cxn ang="0">
                  <a:pos x="1622" y="344"/>
                </a:cxn>
                <a:cxn ang="0">
                  <a:pos x="1628" y="427"/>
                </a:cxn>
                <a:cxn ang="0">
                  <a:pos x="1566" y="392"/>
                </a:cxn>
                <a:cxn ang="0">
                  <a:pos x="1604" y="303"/>
                </a:cxn>
                <a:cxn ang="0">
                  <a:pos x="1546" y="344"/>
                </a:cxn>
                <a:cxn ang="0">
                  <a:pos x="1424" y="367"/>
                </a:cxn>
                <a:cxn ang="0">
                  <a:pos x="1448" y="480"/>
                </a:cxn>
                <a:cxn ang="0">
                  <a:pos x="1371" y="624"/>
                </a:cxn>
                <a:cxn ang="0">
                  <a:pos x="1334" y="660"/>
                </a:cxn>
                <a:cxn ang="0">
                  <a:pos x="1300" y="661"/>
                </a:cxn>
                <a:cxn ang="0">
                  <a:pos x="1280" y="830"/>
                </a:cxn>
                <a:cxn ang="0">
                  <a:pos x="1192" y="965"/>
                </a:cxn>
                <a:cxn ang="0">
                  <a:pos x="1177" y="1027"/>
                </a:cxn>
                <a:cxn ang="0">
                  <a:pos x="1044" y="849"/>
                </a:cxn>
                <a:cxn ang="0">
                  <a:pos x="902" y="969"/>
                </a:cxn>
                <a:cxn ang="0">
                  <a:pos x="782" y="820"/>
                </a:cxn>
                <a:cxn ang="0">
                  <a:pos x="608" y="774"/>
                </a:cxn>
                <a:cxn ang="0">
                  <a:pos x="661" y="797"/>
                </a:cxn>
                <a:cxn ang="0">
                  <a:pos x="633" y="887"/>
                </a:cxn>
              </a:cxnLst>
              <a:rect l="txL" t="txT" r="txR" b="txB"/>
              <a:pathLst>
                <a:path w="1828" h="1038">
                  <a:moveTo>
                    <a:pt x="541" y="926"/>
                  </a:moveTo>
                  <a:cubicBezTo>
                    <a:pt x="521" y="908"/>
                    <a:pt x="526" y="906"/>
                    <a:pt x="517" y="886"/>
                  </a:cubicBezTo>
                  <a:cubicBezTo>
                    <a:pt x="509" y="866"/>
                    <a:pt x="505" y="870"/>
                    <a:pt x="499" y="853"/>
                  </a:cubicBezTo>
                  <a:cubicBezTo>
                    <a:pt x="493" y="837"/>
                    <a:pt x="481" y="821"/>
                    <a:pt x="472" y="810"/>
                  </a:cubicBezTo>
                  <a:cubicBezTo>
                    <a:pt x="462" y="799"/>
                    <a:pt x="452" y="786"/>
                    <a:pt x="452" y="786"/>
                  </a:cubicBezTo>
                  <a:cubicBezTo>
                    <a:pt x="433" y="766"/>
                    <a:pt x="433" y="766"/>
                    <a:pt x="433" y="766"/>
                  </a:cubicBezTo>
                  <a:cubicBezTo>
                    <a:pt x="433" y="766"/>
                    <a:pt x="423" y="765"/>
                    <a:pt x="423" y="755"/>
                  </a:cubicBezTo>
                  <a:cubicBezTo>
                    <a:pt x="423" y="745"/>
                    <a:pt x="426" y="730"/>
                    <a:pt x="426" y="730"/>
                  </a:cubicBezTo>
                  <a:cubicBezTo>
                    <a:pt x="426" y="730"/>
                    <a:pt x="440" y="714"/>
                    <a:pt x="446" y="708"/>
                  </a:cubicBezTo>
                  <a:cubicBezTo>
                    <a:pt x="452" y="702"/>
                    <a:pt x="456" y="693"/>
                    <a:pt x="451" y="688"/>
                  </a:cubicBezTo>
                  <a:cubicBezTo>
                    <a:pt x="446" y="683"/>
                    <a:pt x="442" y="679"/>
                    <a:pt x="442" y="679"/>
                  </a:cubicBezTo>
                  <a:cubicBezTo>
                    <a:pt x="442" y="679"/>
                    <a:pt x="435" y="679"/>
                    <a:pt x="430" y="679"/>
                  </a:cubicBezTo>
                  <a:cubicBezTo>
                    <a:pt x="425" y="679"/>
                    <a:pt x="404" y="680"/>
                    <a:pt x="404" y="680"/>
                  </a:cubicBezTo>
                  <a:cubicBezTo>
                    <a:pt x="404" y="680"/>
                    <a:pt x="395" y="672"/>
                    <a:pt x="392" y="672"/>
                  </a:cubicBezTo>
                  <a:cubicBezTo>
                    <a:pt x="388" y="672"/>
                    <a:pt x="387" y="677"/>
                    <a:pt x="382" y="677"/>
                  </a:cubicBezTo>
                  <a:cubicBezTo>
                    <a:pt x="377" y="677"/>
                    <a:pt x="378" y="676"/>
                    <a:pt x="372" y="676"/>
                  </a:cubicBezTo>
                  <a:cubicBezTo>
                    <a:pt x="366" y="676"/>
                    <a:pt x="366" y="678"/>
                    <a:pt x="362" y="675"/>
                  </a:cubicBezTo>
                  <a:cubicBezTo>
                    <a:pt x="359" y="672"/>
                    <a:pt x="349" y="662"/>
                    <a:pt x="349" y="662"/>
                  </a:cubicBezTo>
                  <a:cubicBezTo>
                    <a:pt x="350" y="651"/>
                    <a:pt x="350" y="651"/>
                    <a:pt x="350" y="651"/>
                  </a:cubicBezTo>
                  <a:cubicBezTo>
                    <a:pt x="350" y="651"/>
                    <a:pt x="348" y="644"/>
                    <a:pt x="351" y="641"/>
                  </a:cubicBezTo>
                  <a:cubicBezTo>
                    <a:pt x="353" y="638"/>
                    <a:pt x="354" y="634"/>
                    <a:pt x="354" y="634"/>
                  </a:cubicBezTo>
                  <a:cubicBezTo>
                    <a:pt x="350" y="629"/>
                    <a:pt x="349" y="625"/>
                    <a:pt x="344" y="628"/>
                  </a:cubicBezTo>
                  <a:cubicBezTo>
                    <a:pt x="339" y="631"/>
                    <a:pt x="339" y="632"/>
                    <a:pt x="334" y="632"/>
                  </a:cubicBezTo>
                  <a:cubicBezTo>
                    <a:pt x="330" y="632"/>
                    <a:pt x="316" y="632"/>
                    <a:pt x="320" y="638"/>
                  </a:cubicBezTo>
                  <a:cubicBezTo>
                    <a:pt x="324" y="644"/>
                    <a:pt x="329" y="651"/>
                    <a:pt x="329" y="651"/>
                  </a:cubicBezTo>
                  <a:cubicBezTo>
                    <a:pt x="329" y="651"/>
                    <a:pt x="341" y="658"/>
                    <a:pt x="332" y="665"/>
                  </a:cubicBezTo>
                  <a:cubicBezTo>
                    <a:pt x="323" y="671"/>
                    <a:pt x="326" y="669"/>
                    <a:pt x="323" y="675"/>
                  </a:cubicBezTo>
                  <a:cubicBezTo>
                    <a:pt x="321" y="682"/>
                    <a:pt x="311" y="677"/>
                    <a:pt x="307" y="675"/>
                  </a:cubicBezTo>
                  <a:cubicBezTo>
                    <a:pt x="304" y="674"/>
                    <a:pt x="302" y="665"/>
                    <a:pt x="301" y="661"/>
                  </a:cubicBezTo>
                  <a:cubicBezTo>
                    <a:pt x="300" y="658"/>
                    <a:pt x="295" y="661"/>
                    <a:pt x="289" y="657"/>
                  </a:cubicBezTo>
                  <a:cubicBezTo>
                    <a:pt x="283" y="652"/>
                    <a:pt x="278" y="646"/>
                    <a:pt x="284" y="643"/>
                  </a:cubicBezTo>
                  <a:cubicBezTo>
                    <a:pt x="291" y="641"/>
                    <a:pt x="296" y="637"/>
                    <a:pt x="285" y="629"/>
                  </a:cubicBezTo>
                  <a:cubicBezTo>
                    <a:pt x="274" y="621"/>
                    <a:pt x="277" y="613"/>
                    <a:pt x="278" y="610"/>
                  </a:cubicBezTo>
                  <a:cubicBezTo>
                    <a:pt x="280" y="606"/>
                    <a:pt x="283" y="610"/>
                    <a:pt x="266" y="603"/>
                  </a:cubicBezTo>
                  <a:cubicBezTo>
                    <a:pt x="250" y="596"/>
                    <a:pt x="255" y="596"/>
                    <a:pt x="248" y="589"/>
                  </a:cubicBezTo>
                  <a:cubicBezTo>
                    <a:pt x="240" y="581"/>
                    <a:pt x="225" y="574"/>
                    <a:pt x="221" y="574"/>
                  </a:cubicBezTo>
                  <a:cubicBezTo>
                    <a:pt x="217" y="574"/>
                    <a:pt x="214" y="577"/>
                    <a:pt x="218" y="585"/>
                  </a:cubicBezTo>
                  <a:cubicBezTo>
                    <a:pt x="221" y="592"/>
                    <a:pt x="217" y="592"/>
                    <a:pt x="236" y="606"/>
                  </a:cubicBezTo>
                  <a:cubicBezTo>
                    <a:pt x="255" y="619"/>
                    <a:pt x="256" y="612"/>
                    <a:pt x="257" y="616"/>
                  </a:cubicBezTo>
                  <a:cubicBezTo>
                    <a:pt x="259" y="619"/>
                    <a:pt x="268" y="622"/>
                    <a:pt x="273" y="628"/>
                  </a:cubicBezTo>
                  <a:cubicBezTo>
                    <a:pt x="277" y="635"/>
                    <a:pt x="277" y="639"/>
                    <a:pt x="277" y="639"/>
                  </a:cubicBezTo>
                  <a:cubicBezTo>
                    <a:pt x="277" y="639"/>
                    <a:pt x="268" y="639"/>
                    <a:pt x="266" y="639"/>
                  </a:cubicBezTo>
                  <a:cubicBezTo>
                    <a:pt x="264" y="638"/>
                    <a:pt x="262" y="643"/>
                    <a:pt x="262" y="643"/>
                  </a:cubicBezTo>
                  <a:cubicBezTo>
                    <a:pt x="262" y="643"/>
                    <a:pt x="267" y="649"/>
                    <a:pt x="263" y="651"/>
                  </a:cubicBezTo>
                  <a:cubicBezTo>
                    <a:pt x="258" y="653"/>
                    <a:pt x="257" y="660"/>
                    <a:pt x="252" y="660"/>
                  </a:cubicBezTo>
                  <a:cubicBezTo>
                    <a:pt x="247" y="660"/>
                    <a:pt x="253" y="664"/>
                    <a:pt x="247" y="667"/>
                  </a:cubicBezTo>
                  <a:cubicBezTo>
                    <a:pt x="240" y="670"/>
                    <a:pt x="245" y="671"/>
                    <a:pt x="243" y="673"/>
                  </a:cubicBezTo>
                  <a:cubicBezTo>
                    <a:pt x="242" y="675"/>
                    <a:pt x="242" y="678"/>
                    <a:pt x="240" y="677"/>
                  </a:cubicBezTo>
                  <a:cubicBezTo>
                    <a:pt x="238" y="677"/>
                    <a:pt x="237" y="679"/>
                    <a:pt x="225" y="671"/>
                  </a:cubicBezTo>
                  <a:cubicBezTo>
                    <a:pt x="213" y="662"/>
                    <a:pt x="213" y="662"/>
                    <a:pt x="213" y="662"/>
                  </a:cubicBezTo>
                  <a:cubicBezTo>
                    <a:pt x="213" y="662"/>
                    <a:pt x="207" y="654"/>
                    <a:pt x="219" y="657"/>
                  </a:cubicBezTo>
                  <a:cubicBezTo>
                    <a:pt x="231" y="661"/>
                    <a:pt x="236" y="663"/>
                    <a:pt x="240" y="660"/>
                  </a:cubicBezTo>
                  <a:cubicBezTo>
                    <a:pt x="244" y="657"/>
                    <a:pt x="244" y="657"/>
                    <a:pt x="244" y="653"/>
                  </a:cubicBezTo>
                  <a:cubicBezTo>
                    <a:pt x="244" y="650"/>
                    <a:pt x="246" y="650"/>
                    <a:pt x="243" y="646"/>
                  </a:cubicBezTo>
                  <a:cubicBezTo>
                    <a:pt x="240" y="641"/>
                    <a:pt x="251" y="636"/>
                    <a:pt x="241" y="632"/>
                  </a:cubicBezTo>
                  <a:cubicBezTo>
                    <a:pt x="232" y="628"/>
                    <a:pt x="228" y="627"/>
                    <a:pt x="223" y="622"/>
                  </a:cubicBezTo>
                  <a:cubicBezTo>
                    <a:pt x="218" y="617"/>
                    <a:pt x="223" y="621"/>
                    <a:pt x="211" y="611"/>
                  </a:cubicBezTo>
                  <a:cubicBezTo>
                    <a:pt x="198" y="601"/>
                    <a:pt x="198" y="602"/>
                    <a:pt x="195" y="598"/>
                  </a:cubicBezTo>
                  <a:cubicBezTo>
                    <a:pt x="192" y="594"/>
                    <a:pt x="188" y="581"/>
                    <a:pt x="186" y="581"/>
                  </a:cubicBezTo>
                  <a:cubicBezTo>
                    <a:pt x="185" y="581"/>
                    <a:pt x="178" y="585"/>
                    <a:pt x="169" y="589"/>
                  </a:cubicBezTo>
                  <a:cubicBezTo>
                    <a:pt x="160" y="593"/>
                    <a:pt x="165" y="600"/>
                    <a:pt x="158" y="599"/>
                  </a:cubicBezTo>
                  <a:cubicBezTo>
                    <a:pt x="150" y="597"/>
                    <a:pt x="153" y="598"/>
                    <a:pt x="145" y="597"/>
                  </a:cubicBezTo>
                  <a:cubicBezTo>
                    <a:pt x="138" y="596"/>
                    <a:pt x="131" y="596"/>
                    <a:pt x="130" y="597"/>
                  </a:cubicBezTo>
                  <a:cubicBezTo>
                    <a:pt x="128" y="598"/>
                    <a:pt x="128" y="606"/>
                    <a:pt x="128" y="606"/>
                  </a:cubicBezTo>
                  <a:cubicBezTo>
                    <a:pt x="128" y="606"/>
                    <a:pt x="128" y="606"/>
                    <a:pt x="123" y="613"/>
                  </a:cubicBezTo>
                  <a:cubicBezTo>
                    <a:pt x="117" y="619"/>
                    <a:pt x="112" y="617"/>
                    <a:pt x="108" y="622"/>
                  </a:cubicBezTo>
                  <a:cubicBezTo>
                    <a:pt x="103" y="628"/>
                    <a:pt x="96" y="630"/>
                    <a:pt x="96" y="637"/>
                  </a:cubicBezTo>
                  <a:cubicBezTo>
                    <a:pt x="96" y="644"/>
                    <a:pt x="98" y="641"/>
                    <a:pt x="90" y="655"/>
                  </a:cubicBezTo>
                  <a:cubicBezTo>
                    <a:pt x="82" y="670"/>
                    <a:pt x="85" y="675"/>
                    <a:pt x="79" y="675"/>
                  </a:cubicBezTo>
                  <a:cubicBezTo>
                    <a:pt x="73" y="676"/>
                    <a:pt x="68" y="677"/>
                    <a:pt x="65" y="678"/>
                  </a:cubicBezTo>
                  <a:cubicBezTo>
                    <a:pt x="61" y="679"/>
                    <a:pt x="52" y="680"/>
                    <a:pt x="52" y="680"/>
                  </a:cubicBezTo>
                  <a:cubicBezTo>
                    <a:pt x="52" y="680"/>
                    <a:pt x="47" y="687"/>
                    <a:pt x="44" y="683"/>
                  </a:cubicBezTo>
                  <a:cubicBezTo>
                    <a:pt x="41" y="679"/>
                    <a:pt x="42" y="671"/>
                    <a:pt x="40" y="675"/>
                  </a:cubicBezTo>
                  <a:cubicBezTo>
                    <a:pt x="37" y="678"/>
                    <a:pt x="41" y="695"/>
                    <a:pt x="39" y="695"/>
                  </a:cubicBezTo>
                  <a:cubicBezTo>
                    <a:pt x="37" y="695"/>
                    <a:pt x="33" y="695"/>
                    <a:pt x="31" y="694"/>
                  </a:cubicBezTo>
                  <a:cubicBezTo>
                    <a:pt x="30" y="694"/>
                    <a:pt x="30" y="679"/>
                    <a:pt x="27" y="680"/>
                  </a:cubicBezTo>
                  <a:cubicBezTo>
                    <a:pt x="25" y="681"/>
                    <a:pt x="24" y="680"/>
                    <a:pt x="14" y="676"/>
                  </a:cubicBezTo>
                  <a:cubicBezTo>
                    <a:pt x="5" y="672"/>
                    <a:pt x="5" y="671"/>
                    <a:pt x="3" y="670"/>
                  </a:cubicBezTo>
                  <a:cubicBezTo>
                    <a:pt x="0" y="669"/>
                    <a:pt x="10" y="638"/>
                    <a:pt x="7" y="618"/>
                  </a:cubicBezTo>
                  <a:cubicBezTo>
                    <a:pt x="4" y="599"/>
                    <a:pt x="5" y="601"/>
                    <a:pt x="10" y="595"/>
                  </a:cubicBezTo>
                  <a:cubicBezTo>
                    <a:pt x="14" y="588"/>
                    <a:pt x="18" y="589"/>
                    <a:pt x="46" y="593"/>
                  </a:cubicBezTo>
                  <a:cubicBezTo>
                    <a:pt x="73" y="598"/>
                    <a:pt x="82" y="590"/>
                    <a:pt x="81" y="585"/>
                  </a:cubicBezTo>
                  <a:cubicBezTo>
                    <a:pt x="80" y="581"/>
                    <a:pt x="83" y="555"/>
                    <a:pt x="83" y="555"/>
                  </a:cubicBezTo>
                  <a:cubicBezTo>
                    <a:pt x="83" y="555"/>
                    <a:pt x="75" y="551"/>
                    <a:pt x="74" y="548"/>
                  </a:cubicBezTo>
                  <a:cubicBezTo>
                    <a:pt x="73" y="545"/>
                    <a:pt x="74" y="541"/>
                    <a:pt x="70" y="541"/>
                  </a:cubicBezTo>
                  <a:cubicBezTo>
                    <a:pt x="67" y="541"/>
                    <a:pt x="57" y="538"/>
                    <a:pt x="55" y="535"/>
                  </a:cubicBezTo>
                  <a:cubicBezTo>
                    <a:pt x="54" y="533"/>
                    <a:pt x="51" y="524"/>
                    <a:pt x="51" y="524"/>
                  </a:cubicBezTo>
                  <a:cubicBezTo>
                    <a:pt x="51" y="524"/>
                    <a:pt x="56" y="524"/>
                    <a:pt x="56" y="523"/>
                  </a:cubicBezTo>
                  <a:cubicBezTo>
                    <a:pt x="57" y="521"/>
                    <a:pt x="58" y="523"/>
                    <a:pt x="65" y="522"/>
                  </a:cubicBezTo>
                  <a:cubicBezTo>
                    <a:pt x="71" y="520"/>
                    <a:pt x="80" y="521"/>
                    <a:pt x="80" y="521"/>
                  </a:cubicBezTo>
                  <a:cubicBezTo>
                    <a:pt x="76" y="513"/>
                    <a:pt x="76" y="513"/>
                    <a:pt x="76" y="513"/>
                  </a:cubicBezTo>
                  <a:cubicBezTo>
                    <a:pt x="76" y="513"/>
                    <a:pt x="74" y="505"/>
                    <a:pt x="81" y="507"/>
                  </a:cubicBezTo>
                  <a:cubicBezTo>
                    <a:pt x="88" y="508"/>
                    <a:pt x="97" y="514"/>
                    <a:pt x="98" y="513"/>
                  </a:cubicBezTo>
                  <a:cubicBezTo>
                    <a:pt x="98" y="512"/>
                    <a:pt x="98" y="505"/>
                    <a:pt x="99" y="504"/>
                  </a:cubicBezTo>
                  <a:cubicBezTo>
                    <a:pt x="100" y="502"/>
                    <a:pt x="103" y="498"/>
                    <a:pt x="103" y="498"/>
                  </a:cubicBezTo>
                  <a:cubicBezTo>
                    <a:pt x="103" y="498"/>
                    <a:pt x="104" y="496"/>
                    <a:pt x="108" y="497"/>
                  </a:cubicBezTo>
                  <a:cubicBezTo>
                    <a:pt x="113" y="498"/>
                    <a:pt x="114" y="489"/>
                    <a:pt x="114" y="489"/>
                  </a:cubicBezTo>
                  <a:cubicBezTo>
                    <a:pt x="114" y="489"/>
                    <a:pt x="121" y="482"/>
                    <a:pt x="125" y="483"/>
                  </a:cubicBezTo>
                  <a:cubicBezTo>
                    <a:pt x="129" y="484"/>
                    <a:pt x="137" y="480"/>
                    <a:pt x="136" y="476"/>
                  </a:cubicBezTo>
                  <a:cubicBezTo>
                    <a:pt x="135" y="472"/>
                    <a:pt x="145" y="458"/>
                    <a:pt x="145" y="458"/>
                  </a:cubicBezTo>
                  <a:cubicBezTo>
                    <a:pt x="145" y="458"/>
                    <a:pt x="145" y="453"/>
                    <a:pt x="148" y="452"/>
                  </a:cubicBezTo>
                  <a:cubicBezTo>
                    <a:pt x="151" y="452"/>
                    <a:pt x="158" y="454"/>
                    <a:pt x="159" y="451"/>
                  </a:cubicBezTo>
                  <a:cubicBezTo>
                    <a:pt x="161" y="449"/>
                    <a:pt x="163" y="440"/>
                    <a:pt x="163" y="443"/>
                  </a:cubicBezTo>
                  <a:cubicBezTo>
                    <a:pt x="164" y="446"/>
                    <a:pt x="176" y="443"/>
                    <a:pt x="176" y="443"/>
                  </a:cubicBezTo>
                  <a:cubicBezTo>
                    <a:pt x="176" y="443"/>
                    <a:pt x="176" y="433"/>
                    <a:pt x="176" y="432"/>
                  </a:cubicBezTo>
                  <a:cubicBezTo>
                    <a:pt x="176" y="430"/>
                    <a:pt x="176" y="409"/>
                    <a:pt x="174" y="407"/>
                  </a:cubicBezTo>
                  <a:cubicBezTo>
                    <a:pt x="172" y="405"/>
                    <a:pt x="169" y="400"/>
                    <a:pt x="171" y="398"/>
                  </a:cubicBezTo>
                  <a:cubicBezTo>
                    <a:pt x="174" y="396"/>
                    <a:pt x="180" y="389"/>
                    <a:pt x="181" y="386"/>
                  </a:cubicBezTo>
                  <a:cubicBezTo>
                    <a:pt x="181" y="384"/>
                    <a:pt x="180" y="384"/>
                    <a:pt x="183" y="382"/>
                  </a:cubicBezTo>
                  <a:cubicBezTo>
                    <a:pt x="186" y="380"/>
                    <a:pt x="201" y="382"/>
                    <a:pt x="199" y="383"/>
                  </a:cubicBezTo>
                  <a:cubicBezTo>
                    <a:pt x="197" y="385"/>
                    <a:pt x="195" y="382"/>
                    <a:pt x="195" y="388"/>
                  </a:cubicBezTo>
                  <a:cubicBezTo>
                    <a:pt x="195" y="394"/>
                    <a:pt x="198" y="394"/>
                    <a:pt x="199" y="397"/>
                  </a:cubicBezTo>
                  <a:cubicBezTo>
                    <a:pt x="200" y="399"/>
                    <a:pt x="208" y="405"/>
                    <a:pt x="207" y="407"/>
                  </a:cubicBezTo>
                  <a:cubicBezTo>
                    <a:pt x="206" y="408"/>
                    <a:pt x="206" y="411"/>
                    <a:pt x="208" y="413"/>
                  </a:cubicBezTo>
                  <a:cubicBezTo>
                    <a:pt x="210" y="415"/>
                    <a:pt x="217" y="419"/>
                    <a:pt x="216" y="421"/>
                  </a:cubicBezTo>
                  <a:cubicBezTo>
                    <a:pt x="215" y="422"/>
                    <a:pt x="214" y="422"/>
                    <a:pt x="210" y="423"/>
                  </a:cubicBezTo>
                  <a:cubicBezTo>
                    <a:pt x="206" y="423"/>
                    <a:pt x="202" y="421"/>
                    <a:pt x="197" y="421"/>
                  </a:cubicBezTo>
                  <a:cubicBezTo>
                    <a:pt x="192" y="422"/>
                    <a:pt x="190" y="427"/>
                    <a:pt x="190" y="427"/>
                  </a:cubicBezTo>
                  <a:cubicBezTo>
                    <a:pt x="194" y="435"/>
                    <a:pt x="194" y="435"/>
                    <a:pt x="194" y="435"/>
                  </a:cubicBezTo>
                  <a:cubicBezTo>
                    <a:pt x="194" y="435"/>
                    <a:pt x="192" y="434"/>
                    <a:pt x="197" y="437"/>
                  </a:cubicBezTo>
                  <a:cubicBezTo>
                    <a:pt x="202" y="439"/>
                    <a:pt x="195" y="438"/>
                    <a:pt x="205" y="437"/>
                  </a:cubicBezTo>
                  <a:cubicBezTo>
                    <a:pt x="215" y="437"/>
                    <a:pt x="216" y="429"/>
                    <a:pt x="220" y="431"/>
                  </a:cubicBezTo>
                  <a:cubicBezTo>
                    <a:pt x="224" y="433"/>
                    <a:pt x="223" y="437"/>
                    <a:pt x="223" y="437"/>
                  </a:cubicBezTo>
                  <a:cubicBezTo>
                    <a:pt x="223" y="437"/>
                    <a:pt x="244" y="438"/>
                    <a:pt x="248" y="436"/>
                  </a:cubicBezTo>
                  <a:cubicBezTo>
                    <a:pt x="252" y="434"/>
                    <a:pt x="252" y="429"/>
                    <a:pt x="259" y="428"/>
                  </a:cubicBezTo>
                  <a:cubicBezTo>
                    <a:pt x="266" y="428"/>
                    <a:pt x="273" y="423"/>
                    <a:pt x="276" y="429"/>
                  </a:cubicBezTo>
                  <a:cubicBezTo>
                    <a:pt x="279" y="434"/>
                    <a:pt x="277" y="434"/>
                    <a:pt x="282" y="433"/>
                  </a:cubicBezTo>
                  <a:cubicBezTo>
                    <a:pt x="287" y="433"/>
                    <a:pt x="294" y="415"/>
                    <a:pt x="295" y="412"/>
                  </a:cubicBezTo>
                  <a:cubicBezTo>
                    <a:pt x="295" y="410"/>
                    <a:pt x="285" y="414"/>
                    <a:pt x="293" y="403"/>
                  </a:cubicBezTo>
                  <a:cubicBezTo>
                    <a:pt x="300" y="393"/>
                    <a:pt x="302" y="387"/>
                    <a:pt x="304" y="386"/>
                  </a:cubicBezTo>
                  <a:cubicBezTo>
                    <a:pt x="305" y="384"/>
                    <a:pt x="288" y="371"/>
                    <a:pt x="299" y="375"/>
                  </a:cubicBezTo>
                  <a:cubicBezTo>
                    <a:pt x="310" y="379"/>
                    <a:pt x="316" y="385"/>
                    <a:pt x="319" y="385"/>
                  </a:cubicBezTo>
                  <a:cubicBezTo>
                    <a:pt x="322" y="386"/>
                    <a:pt x="333" y="390"/>
                    <a:pt x="331" y="388"/>
                  </a:cubicBezTo>
                  <a:cubicBezTo>
                    <a:pt x="329" y="386"/>
                    <a:pt x="321" y="382"/>
                    <a:pt x="323" y="379"/>
                  </a:cubicBezTo>
                  <a:cubicBezTo>
                    <a:pt x="325" y="376"/>
                    <a:pt x="330" y="376"/>
                    <a:pt x="323" y="373"/>
                  </a:cubicBezTo>
                  <a:cubicBezTo>
                    <a:pt x="316" y="370"/>
                    <a:pt x="315" y="367"/>
                    <a:pt x="311" y="370"/>
                  </a:cubicBezTo>
                  <a:cubicBezTo>
                    <a:pt x="308" y="373"/>
                    <a:pt x="308" y="372"/>
                    <a:pt x="306" y="368"/>
                  </a:cubicBezTo>
                  <a:cubicBezTo>
                    <a:pt x="305" y="364"/>
                    <a:pt x="306" y="364"/>
                    <a:pt x="307" y="361"/>
                  </a:cubicBezTo>
                  <a:cubicBezTo>
                    <a:pt x="308" y="358"/>
                    <a:pt x="313" y="357"/>
                    <a:pt x="316" y="357"/>
                  </a:cubicBezTo>
                  <a:cubicBezTo>
                    <a:pt x="319" y="356"/>
                    <a:pt x="321" y="355"/>
                    <a:pt x="319" y="353"/>
                  </a:cubicBezTo>
                  <a:cubicBezTo>
                    <a:pt x="317" y="350"/>
                    <a:pt x="311" y="350"/>
                    <a:pt x="316" y="346"/>
                  </a:cubicBezTo>
                  <a:cubicBezTo>
                    <a:pt x="321" y="343"/>
                    <a:pt x="319" y="342"/>
                    <a:pt x="327" y="343"/>
                  </a:cubicBezTo>
                  <a:cubicBezTo>
                    <a:pt x="335" y="344"/>
                    <a:pt x="333" y="346"/>
                    <a:pt x="343" y="345"/>
                  </a:cubicBezTo>
                  <a:cubicBezTo>
                    <a:pt x="352" y="343"/>
                    <a:pt x="364" y="343"/>
                    <a:pt x="365" y="342"/>
                  </a:cubicBezTo>
                  <a:cubicBezTo>
                    <a:pt x="366" y="341"/>
                    <a:pt x="366" y="333"/>
                    <a:pt x="366" y="333"/>
                  </a:cubicBezTo>
                  <a:cubicBezTo>
                    <a:pt x="369" y="333"/>
                    <a:pt x="369" y="333"/>
                    <a:pt x="369" y="333"/>
                  </a:cubicBezTo>
                  <a:cubicBezTo>
                    <a:pt x="369" y="333"/>
                    <a:pt x="360" y="330"/>
                    <a:pt x="356" y="330"/>
                  </a:cubicBezTo>
                  <a:cubicBezTo>
                    <a:pt x="352" y="329"/>
                    <a:pt x="353" y="325"/>
                    <a:pt x="342" y="329"/>
                  </a:cubicBezTo>
                  <a:cubicBezTo>
                    <a:pt x="331" y="334"/>
                    <a:pt x="324" y="339"/>
                    <a:pt x="321" y="339"/>
                  </a:cubicBezTo>
                  <a:cubicBezTo>
                    <a:pt x="318" y="339"/>
                    <a:pt x="306" y="337"/>
                    <a:pt x="306" y="337"/>
                  </a:cubicBezTo>
                  <a:cubicBezTo>
                    <a:pt x="301" y="329"/>
                    <a:pt x="301" y="329"/>
                    <a:pt x="301" y="329"/>
                  </a:cubicBezTo>
                  <a:cubicBezTo>
                    <a:pt x="301" y="329"/>
                    <a:pt x="298" y="325"/>
                    <a:pt x="297" y="322"/>
                  </a:cubicBezTo>
                  <a:cubicBezTo>
                    <a:pt x="296" y="320"/>
                    <a:pt x="296" y="318"/>
                    <a:pt x="295" y="313"/>
                  </a:cubicBezTo>
                  <a:cubicBezTo>
                    <a:pt x="294" y="309"/>
                    <a:pt x="294" y="303"/>
                    <a:pt x="294" y="303"/>
                  </a:cubicBezTo>
                  <a:cubicBezTo>
                    <a:pt x="294" y="303"/>
                    <a:pt x="293" y="299"/>
                    <a:pt x="293" y="296"/>
                  </a:cubicBezTo>
                  <a:cubicBezTo>
                    <a:pt x="293" y="293"/>
                    <a:pt x="297" y="290"/>
                    <a:pt x="298" y="288"/>
                  </a:cubicBezTo>
                  <a:cubicBezTo>
                    <a:pt x="298" y="286"/>
                    <a:pt x="304" y="268"/>
                    <a:pt x="308" y="264"/>
                  </a:cubicBezTo>
                  <a:cubicBezTo>
                    <a:pt x="311" y="259"/>
                    <a:pt x="328" y="246"/>
                    <a:pt x="328" y="242"/>
                  </a:cubicBezTo>
                  <a:cubicBezTo>
                    <a:pt x="329" y="239"/>
                    <a:pt x="334" y="222"/>
                    <a:pt x="334" y="222"/>
                  </a:cubicBezTo>
                  <a:cubicBezTo>
                    <a:pt x="334" y="222"/>
                    <a:pt x="328" y="217"/>
                    <a:pt x="324" y="215"/>
                  </a:cubicBezTo>
                  <a:cubicBezTo>
                    <a:pt x="320" y="212"/>
                    <a:pt x="324" y="217"/>
                    <a:pt x="315" y="219"/>
                  </a:cubicBezTo>
                  <a:cubicBezTo>
                    <a:pt x="307" y="222"/>
                    <a:pt x="302" y="224"/>
                    <a:pt x="299" y="229"/>
                  </a:cubicBezTo>
                  <a:cubicBezTo>
                    <a:pt x="296" y="235"/>
                    <a:pt x="296" y="245"/>
                    <a:pt x="293" y="249"/>
                  </a:cubicBezTo>
                  <a:cubicBezTo>
                    <a:pt x="290" y="252"/>
                    <a:pt x="291" y="258"/>
                    <a:pt x="287" y="262"/>
                  </a:cubicBezTo>
                  <a:cubicBezTo>
                    <a:pt x="282" y="267"/>
                    <a:pt x="282" y="268"/>
                    <a:pt x="276" y="274"/>
                  </a:cubicBezTo>
                  <a:cubicBezTo>
                    <a:pt x="270" y="280"/>
                    <a:pt x="265" y="291"/>
                    <a:pt x="264" y="292"/>
                  </a:cubicBezTo>
                  <a:cubicBezTo>
                    <a:pt x="264" y="294"/>
                    <a:pt x="263" y="298"/>
                    <a:pt x="263" y="306"/>
                  </a:cubicBezTo>
                  <a:cubicBezTo>
                    <a:pt x="264" y="313"/>
                    <a:pt x="265" y="316"/>
                    <a:pt x="269" y="321"/>
                  </a:cubicBezTo>
                  <a:cubicBezTo>
                    <a:pt x="272" y="325"/>
                    <a:pt x="281" y="338"/>
                    <a:pt x="273" y="347"/>
                  </a:cubicBezTo>
                  <a:cubicBezTo>
                    <a:pt x="266" y="357"/>
                    <a:pt x="258" y="350"/>
                    <a:pt x="258" y="365"/>
                  </a:cubicBezTo>
                  <a:cubicBezTo>
                    <a:pt x="259" y="381"/>
                    <a:pt x="256" y="390"/>
                    <a:pt x="254" y="394"/>
                  </a:cubicBezTo>
                  <a:cubicBezTo>
                    <a:pt x="251" y="397"/>
                    <a:pt x="237" y="408"/>
                    <a:pt x="237" y="409"/>
                  </a:cubicBezTo>
                  <a:cubicBezTo>
                    <a:pt x="237" y="410"/>
                    <a:pt x="239" y="414"/>
                    <a:pt x="232" y="414"/>
                  </a:cubicBezTo>
                  <a:cubicBezTo>
                    <a:pt x="226" y="414"/>
                    <a:pt x="224" y="414"/>
                    <a:pt x="222" y="414"/>
                  </a:cubicBezTo>
                  <a:cubicBezTo>
                    <a:pt x="221" y="413"/>
                    <a:pt x="218" y="409"/>
                    <a:pt x="217" y="404"/>
                  </a:cubicBezTo>
                  <a:cubicBezTo>
                    <a:pt x="216" y="399"/>
                    <a:pt x="215" y="397"/>
                    <a:pt x="213" y="391"/>
                  </a:cubicBezTo>
                  <a:cubicBezTo>
                    <a:pt x="211" y="386"/>
                    <a:pt x="211" y="383"/>
                    <a:pt x="209" y="378"/>
                  </a:cubicBezTo>
                  <a:cubicBezTo>
                    <a:pt x="207" y="373"/>
                    <a:pt x="209" y="365"/>
                    <a:pt x="206" y="363"/>
                  </a:cubicBezTo>
                  <a:cubicBezTo>
                    <a:pt x="204" y="361"/>
                    <a:pt x="201" y="350"/>
                    <a:pt x="201" y="350"/>
                  </a:cubicBezTo>
                  <a:cubicBezTo>
                    <a:pt x="201" y="350"/>
                    <a:pt x="195" y="355"/>
                    <a:pt x="191" y="357"/>
                  </a:cubicBezTo>
                  <a:cubicBezTo>
                    <a:pt x="188" y="358"/>
                    <a:pt x="190" y="361"/>
                    <a:pt x="187" y="362"/>
                  </a:cubicBezTo>
                  <a:cubicBezTo>
                    <a:pt x="183" y="362"/>
                    <a:pt x="183" y="363"/>
                    <a:pt x="179" y="368"/>
                  </a:cubicBezTo>
                  <a:cubicBezTo>
                    <a:pt x="175" y="372"/>
                    <a:pt x="172" y="373"/>
                    <a:pt x="169" y="374"/>
                  </a:cubicBezTo>
                  <a:cubicBezTo>
                    <a:pt x="167" y="374"/>
                    <a:pt x="166" y="378"/>
                    <a:pt x="162" y="375"/>
                  </a:cubicBezTo>
                  <a:cubicBezTo>
                    <a:pt x="159" y="372"/>
                    <a:pt x="159" y="371"/>
                    <a:pt x="157" y="369"/>
                  </a:cubicBezTo>
                  <a:cubicBezTo>
                    <a:pt x="156" y="367"/>
                    <a:pt x="149" y="363"/>
                    <a:pt x="149" y="363"/>
                  </a:cubicBezTo>
                  <a:cubicBezTo>
                    <a:pt x="149" y="363"/>
                    <a:pt x="148" y="366"/>
                    <a:pt x="149" y="359"/>
                  </a:cubicBezTo>
                  <a:cubicBezTo>
                    <a:pt x="149" y="353"/>
                    <a:pt x="150" y="350"/>
                    <a:pt x="151" y="346"/>
                  </a:cubicBezTo>
                  <a:cubicBezTo>
                    <a:pt x="153" y="343"/>
                    <a:pt x="153" y="343"/>
                    <a:pt x="153" y="343"/>
                  </a:cubicBezTo>
                  <a:cubicBezTo>
                    <a:pt x="153" y="343"/>
                    <a:pt x="152" y="343"/>
                    <a:pt x="153" y="339"/>
                  </a:cubicBezTo>
                  <a:cubicBezTo>
                    <a:pt x="155" y="335"/>
                    <a:pt x="151" y="334"/>
                    <a:pt x="149" y="332"/>
                  </a:cubicBezTo>
                  <a:cubicBezTo>
                    <a:pt x="147" y="330"/>
                    <a:pt x="146" y="335"/>
                    <a:pt x="147" y="330"/>
                  </a:cubicBezTo>
                  <a:cubicBezTo>
                    <a:pt x="148" y="326"/>
                    <a:pt x="147" y="299"/>
                    <a:pt x="147" y="299"/>
                  </a:cubicBezTo>
                  <a:cubicBezTo>
                    <a:pt x="147" y="299"/>
                    <a:pt x="154" y="296"/>
                    <a:pt x="153" y="294"/>
                  </a:cubicBezTo>
                  <a:cubicBezTo>
                    <a:pt x="153" y="292"/>
                    <a:pt x="160" y="286"/>
                    <a:pt x="160" y="286"/>
                  </a:cubicBezTo>
                  <a:cubicBezTo>
                    <a:pt x="160" y="286"/>
                    <a:pt x="166" y="285"/>
                    <a:pt x="168" y="281"/>
                  </a:cubicBezTo>
                  <a:cubicBezTo>
                    <a:pt x="171" y="277"/>
                    <a:pt x="173" y="271"/>
                    <a:pt x="179" y="268"/>
                  </a:cubicBezTo>
                  <a:cubicBezTo>
                    <a:pt x="184" y="265"/>
                    <a:pt x="186" y="263"/>
                    <a:pt x="187" y="261"/>
                  </a:cubicBezTo>
                  <a:cubicBezTo>
                    <a:pt x="188" y="260"/>
                    <a:pt x="185" y="266"/>
                    <a:pt x="189" y="257"/>
                  </a:cubicBezTo>
                  <a:cubicBezTo>
                    <a:pt x="193" y="249"/>
                    <a:pt x="208" y="239"/>
                    <a:pt x="211" y="232"/>
                  </a:cubicBezTo>
                  <a:cubicBezTo>
                    <a:pt x="215" y="225"/>
                    <a:pt x="219" y="213"/>
                    <a:pt x="219" y="213"/>
                  </a:cubicBezTo>
                  <a:cubicBezTo>
                    <a:pt x="219" y="213"/>
                    <a:pt x="215" y="208"/>
                    <a:pt x="220" y="202"/>
                  </a:cubicBezTo>
                  <a:cubicBezTo>
                    <a:pt x="224" y="196"/>
                    <a:pt x="230" y="194"/>
                    <a:pt x="233" y="191"/>
                  </a:cubicBezTo>
                  <a:cubicBezTo>
                    <a:pt x="237" y="188"/>
                    <a:pt x="241" y="183"/>
                    <a:pt x="240" y="182"/>
                  </a:cubicBezTo>
                  <a:cubicBezTo>
                    <a:pt x="238" y="182"/>
                    <a:pt x="242" y="183"/>
                    <a:pt x="242" y="181"/>
                  </a:cubicBezTo>
                  <a:cubicBezTo>
                    <a:pt x="243" y="178"/>
                    <a:pt x="246" y="174"/>
                    <a:pt x="246" y="174"/>
                  </a:cubicBezTo>
                  <a:cubicBezTo>
                    <a:pt x="239" y="173"/>
                    <a:pt x="241" y="174"/>
                    <a:pt x="237" y="176"/>
                  </a:cubicBezTo>
                  <a:cubicBezTo>
                    <a:pt x="233" y="177"/>
                    <a:pt x="235" y="175"/>
                    <a:pt x="233" y="173"/>
                  </a:cubicBezTo>
                  <a:cubicBezTo>
                    <a:pt x="231" y="171"/>
                    <a:pt x="231" y="171"/>
                    <a:pt x="232" y="170"/>
                  </a:cubicBezTo>
                  <a:cubicBezTo>
                    <a:pt x="233" y="168"/>
                    <a:pt x="236" y="166"/>
                    <a:pt x="236" y="166"/>
                  </a:cubicBezTo>
                  <a:cubicBezTo>
                    <a:pt x="236" y="166"/>
                    <a:pt x="238" y="170"/>
                    <a:pt x="243" y="165"/>
                  </a:cubicBezTo>
                  <a:cubicBezTo>
                    <a:pt x="249" y="160"/>
                    <a:pt x="258" y="155"/>
                    <a:pt x="258" y="155"/>
                  </a:cubicBezTo>
                  <a:cubicBezTo>
                    <a:pt x="272" y="144"/>
                    <a:pt x="272" y="144"/>
                    <a:pt x="272" y="144"/>
                  </a:cubicBezTo>
                  <a:cubicBezTo>
                    <a:pt x="272" y="144"/>
                    <a:pt x="284" y="140"/>
                    <a:pt x="286" y="140"/>
                  </a:cubicBezTo>
                  <a:cubicBezTo>
                    <a:pt x="288" y="141"/>
                    <a:pt x="290" y="141"/>
                    <a:pt x="291" y="141"/>
                  </a:cubicBezTo>
                  <a:cubicBezTo>
                    <a:pt x="292" y="141"/>
                    <a:pt x="296" y="141"/>
                    <a:pt x="300" y="137"/>
                  </a:cubicBezTo>
                  <a:cubicBezTo>
                    <a:pt x="303" y="134"/>
                    <a:pt x="301" y="131"/>
                    <a:pt x="306" y="130"/>
                  </a:cubicBezTo>
                  <a:cubicBezTo>
                    <a:pt x="311" y="129"/>
                    <a:pt x="315" y="130"/>
                    <a:pt x="318" y="127"/>
                  </a:cubicBezTo>
                  <a:cubicBezTo>
                    <a:pt x="321" y="123"/>
                    <a:pt x="356" y="127"/>
                    <a:pt x="356" y="127"/>
                  </a:cubicBezTo>
                  <a:cubicBezTo>
                    <a:pt x="356" y="127"/>
                    <a:pt x="371" y="131"/>
                    <a:pt x="373" y="134"/>
                  </a:cubicBezTo>
                  <a:cubicBezTo>
                    <a:pt x="375" y="137"/>
                    <a:pt x="382" y="139"/>
                    <a:pt x="379" y="143"/>
                  </a:cubicBezTo>
                  <a:cubicBezTo>
                    <a:pt x="375" y="146"/>
                    <a:pt x="379" y="151"/>
                    <a:pt x="381" y="152"/>
                  </a:cubicBezTo>
                  <a:cubicBezTo>
                    <a:pt x="383" y="153"/>
                    <a:pt x="383" y="144"/>
                    <a:pt x="387" y="145"/>
                  </a:cubicBezTo>
                  <a:cubicBezTo>
                    <a:pt x="390" y="146"/>
                    <a:pt x="392" y="151"/>
                    <a:pt x="395" y="152"/>
                  </a:cubicBezTo>
                  <a:cubicBezTo>
                    <a:pt x="398" y="153"/>
                    <a:pt x="412" y="154"/>
                    <a:pt x="414" y="155"/>
                  </a:cubicBezTo>
                  <a:cubicBezTo>
                    <a:pt x="416" y="157"/>
                    <a:pt x="419" y="159"/>
                    <a:pt x="425" y="162"/>
                  </a:cubicBezTo>
                  <a:cubicBezTo>
                    <a:pt x="430" y="165"/>
                    <a:pt x="468" y="180"/>
                    <a:pt x="469" y="182"/>
                  </a:cubicBezTo>
                  <a:cubicBezTo>
                    <a:pt x="470" y="184"/>
                    <a:pt x="466" y="199"/>
                    <a:pt x="466" y="199"/>
                  </a:cubicBezTo>
                  <a:cubicBezTo>
                    <a:pt x="466" y="199"/>
                    <a:pt x="467" y="204"/>
                    <a:pt x="462" y="205"/>
                  </a:cubicBezTo>
                  <a:cubicBezTo>
                    <a:pt x="457" y="205"/>
                    <a:pt x="462" y="204"/>
                    <a:pt x="454" y="205"/>
                  </a:cubicBezTo>
                  <a:cubicBezTo>
                    <a:pt x="446" y="206"/>
                    <a:pt x="447" y="210"/>
                    <a:pt x="441" y="208"/>
                  </a:cubicBezTo>
                  <a:cubicBezTo>
                    <a:pt x="436" y="206"/>
                    <a:pt x="437" y="206"/>
                    <a:pt x="433" y="203"/>
                  </a:cubicBezTo>
                  <a:cubicBezTo>
                    <a:pt x="429" y="201"/>
                    <a:pt x="425" y="197"/>
                    <a:pt x="421" y="199"/>
                  </a:cubicBezTo>
                  <a:cubicBezTo>
                    <a:pt x="417" y="202"/>
                    <a:pt x="419" y="206"/>
                    <a:pt x="412" y="202"/>
                  </a:cubicBezTo>
                  <a:cubicBezTo>
                    <a:pt x="405" y="197"/>
                    <a:pt x="401" y="196"/>
                    <a:pt x="401" y="196"/>
                  </a:cubicBezTo>
                  <a:cubicBezTo>
                    <a:pt x="401" y="196"/>
                    <a:pt x="398" y="198"/>
                    <a:pt x="398" y="199"/>
                  </a:cubicBezTo>
                  <a:cubicBezTo>
                    <a:pt x="399" y="201"/>
                    <a:pt x="401" y="198"/>
                    <a:pt x="406" y="204"/>
                  </a:cubicBezTo>
                  <a:cubicBezTo>
                    <a:pt x="410" y="209"/>
                    <a:pt x="417" y="213"/>
                    <a:pt x="416" y="216"/>
                  </a:cubicBezTo>
                  <a:cubicBezTo>
                    <a:pt x="416" y="219"/>
                    <a:pt x="419" y="220"/>
                    <a:pt x="416" y="223"/>
                  </a:cubicBezTo>
                  <a:cubicBezTo>
                    <a:pt x="414" y="225"/>
                    <a:pt x="414" y="229"/>
                    <a:pt x="414" y="229"/>
                  </a:cubicBezTo>
                  <a:cubicBezTo>
                    <a:pt x="414" y="229"/>
                    <a:pt x="418" y="234"/>
                    <a:pt x="417" y="236"/>
                  </a:cubicBezTo>
                  <a:cubicBezTo>
                    <a:pt x="416" y="238"/>
                    <a:pt x="416" y="243"/>
                    <a:pt x="416" y="245"/>
                  </a:cubicBezTo>
                  <a:cubicBezTo>
                    <a:pt x="416" y="246"/>
                    <a:pt x="419" y="251"/>
                    <a:pt x="419" y="251"/>
                  </a:cubicBezTo>
                  <a:cubicBezTo>
                    <a:pt x="419" y="251"/>
                    <a:pt x="423" y="248"/>
                    <a:pt x="428" y="253"/>
                  </a:cubicBezTo>
                  <a:cubicBezTo>
                    <a:pt x="433" y="257"/>
                    <a:pt x="440" y="257"/>
                    <a:pt x="440" y="257"/>
                  </a:cubicBezTo>
                  <a:cubicBezTo>
                    <a:pt x="440" y="251"/>
                    <a:pt x="440" y="251"/>
                    <a:pt x="440" y="251"/>
                  </a:cubicBezTo>
                  <a:cubicBezTo>
                    <a:pt x="440" y="251"/>
                    <a:pt x="438" y="250"/>
                    <a:pt x="436" y="246"/>
                  </a:cubicBezTo>
                  <a:cubicBezTo>
                    <a:pt x="433" y="243"/>
                    <a:pt x="430" y="238"/>
                    <a:pt x="430" y="237"/>
                  </a:cubicBezTo>
                  <a:cubicBezTo>
                    <a:pt x="429" y="235"/>
                    <a:pt x="429" y="230"/>
                    <a:pt x="430" y="230"/>
                  </a:cubicBezTo>
                  <a:cubicBezTo>
                    <a:pt x="432" y="230"/>
                    <a:pt x="435" y="231"/>
                    <a:pt x="441" y="234"/>
                  </a:cubicBezTo>
                  <a:cubicBezTo>
                    <a:pt x="447" y="236"/>
                    <a:pt x="459" y="245"/>
                    <a:pt x="462" y="240"/>
                  </a:cubicBezTo>
                  <a:cubicBezTo>
                    <a:pt x="465" y="235"/>
                    <a:pt x="464" y="234"/>
                    <a:pt x="462" y="229"/>
                  </a:cubicBezTo>
                  <a:cubicBezTo>
                    <a:pt x="460" y="224"/>
                    <a:pt x="457" y="227"/>
                    <a:pt x="459" y="221"/>
                  </a:cubicBezTo>
                  <a:cubicBezTo>
                    <a:pt x="462" y="215"/>
                    <a:pt x="456" y="220"/>
                    <a:pt x="468" y="210"/>
                  </a:cubicBezTo>
                  <a:cubicBezTo>
                    <a:pt x="480" y="200"/>
                    <a:pt x="490" y="203"/>
                    <a:pt x="492" y="203"/>
                  </a:cubicBezTo>
                  <a:cubicBezTo>
                    <a:pt x="494" y="203"/>
                    <a:pt x="502" y="198"/>
                    <a:pt x="501" y="196"/>
                  </a:cubicBezTo>
                  <a:cubicBezTo>
                    <a:pt x="500" y="195"/>
                    <a:pt x="502" y="192"/>
                    <a:pt x="500" y="187"/>
                  </a:cubicBezTo>
                  <a:cubicBezTo>
                    <a:pt x="497" y="182"/>
                    <a:pt x="492" y="172"/>
                    <a:pt x="492" y="172"/>
                  </a:cubicBezTo>
                  <a:cubicBezTo>
                    <a:pt x="492" y="172"/>
                    <a:pt x="487" y="163"/>
                    <a:pt x="490" y="163"/>
                  </a:cubicBezTo>
                  <a:cubicBezTo>
                    <a:pt x="493" y="164"/>
                    <a:pt x="496" y="166"/>
                    <a:pt x="505" y="170"/>
                  </a:cubicBezTo>
                  <a:cubicBezTo>
                    <a:pt x="515" y="174"/>
                    <a:pt x="519" y="175"/>
                    <a:pt x="521" y="176"/>
                  </a:cubicBezTo>
                  <a:cubicBezTo>
                    <a:pt x="523" y="177"/>
                    <a:pt x="525" y="181"/>
                    <a:pt x="521" y="181"/>
                  </a:cubicBezTo>
                  <a:cubicBezTo>
                    <a:pt x="516" y="181"/>
                    <a:pt x="513" y="184"/>
                    <a:pt x="512" y="186"/>
                  </a:cubicBezTo>
                  <a:cubicBezTo>
                    <a:pt x="511" y="188"/>
                    <a:pt x="517" y="193"/>
                    <a:pt x="517" y="193"/>
                  </a:cubicBezTo>
                  <a:cubicBezTo>
                    <a:pt x="517" y="193"/>
                    <a:pt x="526" y="193"/>
                    <a:pt x="528" y="193"/>
                  </a:cubicBezTo>
                  <a:cubicBezTo>
                    <a:pt x="530" y="193"/>
                    <a:pt x="530" y="186"/>
                    <a:pt x="530" y="182"/>
                  </a:cubicBezTo>
                  <a:cubicBezTo>
                    <a:pt x="530" y="179"/>
                    <a:pt x="544" y="181"/>
                    <a:pt x="546" y="180"/>
                  </a:cubicBezTo>
                  <a:cubicBezTo>
                    <a:pt x="548" y="178"/>
                    <a:pt x="553" y="172"/>
                    <a:pt x="556" y="170"/>
                  </a:cubicBezTo>
                  <a:cubicBezTo>
                    <a:pt x="560" y="168"/>
                    <a:pt x="573" y="164"/>
                    <a:pt x="571" y="166"/>
                  </a:cubicBezTo>
                  <a:cubicBezTo>
                    <a:pt x="570" y="168"/>
                    <a:pt x="573" y="174"/>
                    <a:pt x="573" y="172"/>
                  </a:cubicBezTo>
                  <a:cubicBezTo>
                    <a:pt x="573" y="170"/>
                    <a:pt x="577" y="162"/>
                    <a:pt x="579" y="162"/>
                  </a:cubicBezTo>
                  <a:cubicBezTo>
                    <a:pt x="581" y="162"/>
                    <a:pt x="587" y="164"/>
                    <a:pt x="587" y="164"/>
                  </a:cubicBezTo>
                  <a:cubicBezTo>
                    <a:pt x="587" y="164"/>
                    <a:pt x="584" y="172"/>
                    <a:pt x="588" y="172"/>
                  </a:cubicBezTo>
                  <a:cubicBezTo>
                    <a:pt x="593" y="173"/>
                    <a:pt x="599" y="177"/>
                    <a:pt x="600" y="173"/>
                  </a:cubicBezTo>
                  <a:cubicBezTo>
                    <a:pt x="602" y="170"/>
                    <a:pt x="599" y="171"/>
                    <a:pt x="609" y="168"/>
                  </a:cubicBezTo>
                  <a:cubicBezTo>
                    <a:pt x="620" y="166"/>
                    <a:pt x="615" y="166"/>
                    <a:pt x="622" y="165"/>
                  </a:cubicBezTo>
                  <a:cubicBezTo>
                    <a:pt x="629" y="165"/>
                    <a:pt x="633" y="170"/>
                    <a:pt x="636" y="170"/>
                  </a:cubicBezTo>
                  <a:cubicBezTo>
                    <a:pt x="640" y="170"/>
                    <a:pt x="642" y="162"/>
                    <a:pt x="642" y="162"/>
                  </a:cubicBezTo>
                  <a:cubicBezTo>
                    <a:pt x="643" y="156"/>
                    <a:pt x="643" y="156"/>
                    <a:pt x="643" y="156"/>
                  </a:cubicBezTo>
                  <a:cubicBezTo>
                    <a:pt x="639" y="154"/>
                    <a:pt x="639" y="154"/>
                    <a:pt x="639" y="154"/>
                  </a:cubicBezTo>
                  <a:cubicBezTo>
                    <a:pt x="639" y="154"/>
                    <a:pt x="643" y="154"/>
                    <a:pt x="641" y="152"/>
                  </a:cubicBezTo>
                  <a:cubicBezTo>
                    <a:pt x="640" y="151"/>
                    <a:pt x="645" y="150"/>
                    <a:pt x="648" y="150"/>
                  </a:cubicBezTo>
                  <a:cubicBezTo>
                    <a:pt x="651" y="149"/>
                    <a:pt x="660" y="152"/>
                    <a:pt x="664" y="153"/>
                  </a:cubicBezTo>
                  <a:cubicBezTo>
                    <a:pt x="669" y="155"/>
                    <a:pt x="686" y="154"/>
                    <a:pt x="697" y="162"/>
                  </a:cubicBezTo>
                  <a:cubicBezTo>
                    <a:pt x="707" y="170"/>
                    <a:pt x="709" y="171"/>
                    <a:pt x="711" y="171"/>
                  </a:cubicBezTo>
                  <a:cubicBezTo>
                    <a:pt x="713" y="172"/>
                    <a:pt x="721" y="169"/>
                    <a:pt x="721" y="169"/>
                  </a:cubicBezTo>
                  <a:cubicBezTo>
                    <a:pt x="721" y="169"/>
                    <a:pt x="724" y="168"/>
                    <a:pt x="721" y="166"/>
                  </a:cubicBezTo>
                  <a:cubicBezTo>
                    <a:pt x="717" y="163"/>
                    <a:pt x="714" y="164"/>
                    <a:pt x="714" y="163"/>
                  </a:cubicBezTo>
                  <a:cubicBezTo>
                    <a:pt x="714" y="161"/>
                    <a:pt x="711" y="153"/>
                    <a:pt x="710" y="153"/>
                  </a:cubicBezTo>
                  <a:cubicBezTo>
                    <a:pt x="709" y="153"/>
                    <a:pt x="707" y="152"/>
                    <a:pt x="706" y="153"/>
                  </a:cubicBezTo>
                  <a:cubicBezTo>
                    <a:pt x="705" y="154"/>
                    <a:pt x="699" y="149"/>
                    <a:pt x="699" y="148"/>
                  </a:cubicBezTo>
                  <a:cubicBezTo>
                    <a:pt x="699" y="146"/>
                    <a:pt x="699" y="141"/>
                    <a:pt x="701" y="141"/>
                  </a:cubicBezTo>
                  <a:cubicBezTo>
                    <a:pt x="702" y="140"/>
                    <a:pt x="692" y="140"/>
                    <a:pt x="698" y="134"/>
                  </a:cubicBezTo>
                  <a:cubicBezTo>
                    <a:pt x="703" y="127"/>
                    <a:pt x="713" y="119"/>
                    <a:pt x="713" y="118"/>
                  </a:cubicBezTo>
                  <a:cubicBezTo>
                    <a:pt x="712" y="116"/>
                    <a:pt x="714" y="92"/>
                    <a:pt x="714" y="92"/>
                  </a:cubicBezTo>
                  <a:cubicBezTo>
                    <a:pt x="714" y="92"/>
                    <a:pt x="720" y="95"/>
                    <a:pt x="722" y="93"/>
                  </a:cubicBezTo>
                  <a:cubicBezTo>
                    <a:pt x="724" y="90"/>
                    <a:pt x="726" y="84"/>
                    <a:pt x="726" y="84"/>
                  </a:cubicBezTo>
                  <a:cubicBezTo>
                    <a:pt x="733" y="83"/>
                    <a:pt x="733" y="83"/>
                    <a:pt x="733" y="83"/>
                  </a:cubicBezTo>
                  <a:cubicBezTo>
                    <a:pt x="733" y="83"/>
                    <a:pt x="736" y="88"/>
                    <a:pt x="736" y="89"/>
                  </a:cubicBezTo>
                  <a:cubicBezTo>
                    <a:pt x="735" y="90"/>
                    <a:pt x="732" y="94"/>
                    <a:pt x="736" y="94"/>
                  </a:cubicBezTo>
                  <a:cubicBezTo>
                    <a:pt x="739" y="94"/>
                    <a:pt x="748" y="100"/>
                    <a:pt x="748" y="100"/>
                  </a:cubicBezTo>
                  <a:cubicBezTo>
                    <a:pt x="748" y="100"/>
                    <a:pt x="751" y="112"/>
                    <a:pt x="749" y="112"/>
                  </a:cubicBezTo>
                  <a:cubicBezTo>
                    <a:pt x="747" y="112"/>
                    <a:pt x="748" y="118"/>
                    <a:pt x="748" y="118"/>
                  </a:cubicBezTo>
                  <a:cubicBezTo>
                    <a:pt x="748" y="118"/>
                    <a:pt x="746" y="114"/>
                    <a:pt x="745" y="119"/>
                  </a:cubicBezTo>
                  <a:cubicBezTo>
                    <a:pt x="743" y="124"/>
                    <a:pt x="748" y="127"/>
                    <a:pt x="748" y="127"/>
                  </a:cubicBezTo>
                  <a:cubicBezTo>
                    <a:pt x="748" y="127"/>
                    <a:pt x="753" y="125"/>
                    <a:pt x="751" y="130"/>
                  </a:cubicBezTo>
                  <a:cubicBezTo>
                    <a:pt x="750" y="135"/>
                    <a:pt x="750" y="133"/>
                    <a:pt x="751" y="137"/>
                  </a:cubicBezTo>
                  <a:cubicBezTo>
                    <a:pt x="751" y="142"/>
                    <a:pt x="755" y="148"/>
                    <a:pt x="755" y="150"/>
                  </a:cubicBezTo>
                  <a:cubicBezTo>
                    <a:pt x="755" y="152"/>
                    <a:pt x="755" y="164"/>
                    <a:pt x="755" y="164"/>
                  </a:cubicBezTo>
                  <a:cubicBezTo>
                    <a:pt x="755" y="164"/>
                    <a:pt x="758" y="170"/>
                    <a:pt x="760" y="172"/>
                  </a:cubicBezTo>
                  <a:cubicBezTo>
                    <a:pt x="762" y="174"/>
                    <a:pt x="767" y="169"/>
                    <a:pt x="762" y="174"/>
                  </a:cubicBezTo>
                  <a:cubicBezTo>
                    <a:pt x="756" y="179"/>
                    <a:pt x="759" y="179"/>
                    <a:pt x="755" y="184"/>
                  </a:cubicBezTo>
                  <a:cubicBezTo>
                    <a:pt x="751" y="189"/>
                    <a:pt x="748" y="190"/>
                    <a:pt x="746" y="192"/>
                  </a:cubicBezTo>
                  <a:cubicBezTo>
                    <a:pt x="744" y="194"/>
                    <a:pt x="738" y="196"/>
                    <a:pt x="738" y="196"/>
                  </a:cubicBezTo>
                  <a:cubicBezTo>
                    <a:pt x="738" y="196"/>
                    <a:pt x="752" y="200"/>
                    <a:pt x="754" y="200"/>
                  </a:cubicBezTo>
                  <a:cubicBezTo>
                    <a:pt x="756" y="200"/>
                    <a:pt x="772" y="198"/>
                    <a:pt x="772" y="194"/>
                  </a:cubicBezTo>
                  <a:cubicBezTo>
                    <a:pt x="772" y="190"/>
                    <a:pt x="781" y="180"/>
                    <a:pt x="776" y="177"/>
                  </a:cubicBezTo>
                  <a:cubicBezTo>
                    <a:pt x="772" y="174"/>
                    <a:pt x="771" y="175"/>
                    <a:pt x="770" y="172"/>
                  </a:cubicBezTo>
                  <a:cubicBezTo>
                    <a:pt x="770" y="169"/>
                    <a:pt x="768" y="168"/>
                    <a:pt x="770" y="166"/>
                  </a:cubicBezTo>
                  <a:cubicBezTo>
                    <a:pt x="771" y="164"/>
                    <a:pt x="774" y="160"/>
                    <a:pt x="770" y="161"/>
                  </a:cubicBezTo>
                  <a:cubicBezTo>
                    <a:pt x="766" y="161"/>
                    <a:pt x="766" y="162"/>
                    <a:pt x="764" y="159"/>
                  </a:cubicBezTo>
                  <a:cubicBezTo>
                    <a:pt x="762" y="156"/>
                    <a:pt x="763" y="160"/>
                    <a:pt x="760" y="152"/>
                  </a:cubicBezTo>
                  <a:cubicBezTo>
                    <a:pt x="757" y="144"/>
                    <a:pt x="762" y="140"/>
                    <a:pt x="762" y="140"/>
                  </a:cubicBezTo>
                  <a:cubicBezTo>
                    <a:pt x="762" y="140"/>
                    <a:pt x="766" y="144"/>
                    <a:pt x="763" y="137"/>
                  </a:cubicBezTo>
                  <a:cubicBezTo>
                    <a:pt x="760" y="130"/>
                    <a:pt x="756" y="128"/>
                    <a:pt x="756" y="126"/>
                  </a:cubicBezTo>
                  <a:cubicBezTo>
                    <a:pt x="755" y="123"/>
                    <a:pt x="757" y="121"/>
                    <a:pt x="756" y="117"/>
                  </a:cubicBezTo>
                  <a:cubicBezTo>
                    <a:pt x="756" y="113"/>
                    <a:pt x="768" y="111"/>
                    <a:pt x="768" y="111"/>
                  </a:cubicBezTo>
                  <a:cubicBezTo>
                    <a:pt x="768" y="111"/>
                    <a:pt x="769" y="105"/>
                    <a:pt x="767" y="102"/>
                  </a:cubicBezTo>
                  <a:cubicBezTo>
                    <a:pt x="764" y="100"/>
                    <a:pt x="760" y="95"/>
                    <a:pt x="760" y="95"/>
                  </a:cubicBezTo>
                  <a:cubicBezTo>
                    <a:pt x="760" y="95"/>
                    <a:pt x="761" y="92"/>
                    <a:pt x="761" y="91"/>
                  </a:cubicBezTo>
                  <a:cubicBezTo>
                    <a:pt x="762" y="89"/>
                    <a:pt x="767" y="92"/>
                    <a:pt x="769" y="94"/>
                  </a:cubicBezTo>
                  <a:cubicBezTo>
                    <a:pt x="770" y="96"/>
                    <a:pt x="776" y="100"/>
                    <a:pt x="776" y="100"/>
                  </a:cubicBezTo>
                  <a:cubicBezTo>
                    <a:pt x="776" y="100"/>
                    <a:pt x="774" y="103"/>
                    <a:pt x="775" y="106"/>
                  </a:cubicBezTo>
                  <a:cubicBezTo>
                    <a:pt x="776" y="109"/>
                    <a:pt x="777" y="116"/>
                    <a:pt x="777" y="116"/>
                  </a:cubicBezTo>
                  <a:cubicBezTo>
                    <a:pt x="777" y="116"/>
                    <a:pt x="779" y="121"/>
                    <a:pt x="780" y="122"/>
                  </a:cubicBezTo>
                  <a:cubicBezTo>
                    <a:pt x="781" y="123"/>
                    <a:pt x="778" y="124"/>
                    <a:pt x="781" y="123"/>
                  </a:cubicBezTo>
                  <a:cubicBezTo>
                    <a:pt x="784" y="123"/>
                    <a:pt x="797" y="126"/>
                    <a:pt x="797" y="126"/>
                  </a:cubicBezTo>
                  <a:cubicBezTo>
                    <a:pt x="797" y="126"/>
                    <a:pt x="798" y="117"/>
                    <a:pt x="796" y="117"/>
                  </a:cubicBezTo>
                  <a:cubicBezTo>
                    <a:pt x="793" y="118"/>
                    <a:pt x="791" y="119"/>
                    <a:pt x="789" y="118"/>
                  </a:cubicBezTo>
                  <a:cubicBezTo>
                    <a:pt x="786" y="116"/>
                    <a:pt x="785" y="112"/>
                    <a:pt x="785" y="112"/>
                  </a:cubicBezTo>
                  <a:cubicBezTo>
                    <a:pt x="785" y="112"/>
                    <a:pt x="785" y="109"/>
                    <a:pt x="786" y="107"/>
                  </a:cubicBezTo>
                  <a:cubicBezTo>
                    <a:pt x="787" y="105"/>
                    <a:pt x="794" y="101"/>
                    <a:pt x="794" y="101"/>
                  </a:cubicBezTo>
                  <a:cubicBezTo>
                    <a:pt x="794" y="101"/>
                    <a:pt x="800" y="102"/>
                    <a:pt x="804" y="102"/>
                  </a:cubicBezTo>
                  <a:cubicBezTo>
                    <a:pt x="808" y="102"/>
                    <a:pt x="824" y="113"/>
                    <a:pt x="824" y="113"/>
                  </a:cubicBezTo>
                  <a:cubicBezTo>
                    <a:pt x="827" y="116"/>
                    <a:pt x="827" y="116"/>
                    <a:pt x="827" y="116"/>
                  </a:cubicBezTo>
                  <a:cubicBezTo>
                    <a:pt x="827" y="116"/>
                    <a:pt x="828" y="109"/>
                    <a:pt x="831" y="111"/>
                  </a:cubicBezTo>
                  <a:cubicBezTo>
                    <a:pt x="833" y="112"/>
                    <a:pt x="833" y="112"/>
                    <a:pt x="833" y="112"/>
                  </a:cubicBezTo>
                  <a:cubicBezTo>
                    <a:pt x="833" y="112"/>
                    <a:pt x="834" y="107"/>
                    <a:pt x="830" y="105"/>
                  </a:cubicBezTo>
                  <a:cubicBezTo>
                    <a:pt x="825" y="104"/>
                    <a:pt x="819" y="97"/>
                    <a:pt x="819" y="97"/>
                  </a:cubicBezTo>
                  <a:cubicBezTo>
                    <a:pt x="819" y="97"/>
                    <a:pt x="814" y="89"/>
                    <a:pt x="815" y="85"/>
                  </a:cubicBezTo>
                  <a:cubicBezTo>
                    <a:pt x="816" y="81"/>
                    <a:pt x="815" y="79"/>
                    <a:pt x="817" y="79"/>
                  </a:cubicBezTo>
                  <a:cubicBezTo>
                    <a:pt x="819" y="79"/>
                    <a:pt x="831" y="78"/>
                    <a:pt x="835" y="76"/>
                  </a:cubicBezTo>
                  <a:cubicBezTo>
                    <a:pt x="839" y="75"/>
                    <a:pt x="844" y="77"/>
                    <a:pt x="850" y="75"/>
                  </a:cubicBezTo>
                  <a:cubicBezTo>
                    <a:pt x="856" y="73"/>
                    <a:pt x="857" y="72"/>
                    <a:pt x="862" y="73"/>
                  </a:cubicBezTo>
                  <a:cubicBezTo>
                    <a:pt x="868" y="75"/>
                    <a:pt x="864" y="70"/>
                    <a:pt x="863" y="67"/>
                  </a:cubicBezTo>
                  <a:cubicBezTo>
                    <a:pt x="862" y="65"/>
                    <a:pt x="861" y="54"/>
                    <a:pt x="861" y="57"/>
                  </a:cubicBezTo>
                  <a:cubicBezTo>
                    <a:pt x="861" y="59"/>
                    <a:pt x="861" y="46"/>
                    <a:pt x="873" y="44"/>
                  </a:cubicBezTo>
                  <a:cubicBezTo>
                    <a:pt x="884" y="43"/>
                    <a:pt x="894" y="41"/>
                    <a:pt x="907" y="39"/>
                  </a:cubicBezTo>
                  <a:cubicBezTo>
                    <a:pt x="921" y="36"/>
                    <a:pt x="923" y="31"/>
                    <a:pt x="923" y="31"/>
                  </a:cubicBezTo>
                  <a:cubicBezTo>
                    <a:pt x="923" y="31"/>
                    <a:pt x="933" y="30"/>
                    <a:pt x="935" y="30"/>
                  </a:cubicBezTo>
                  <a:cubicBezTo>
                    <a:pt x="936" y="30"/>
                    <a:pt x="939" y="28"/>
                    <a:pt x="943" y="29"/>
                  </a:cubicBezTo>
                  <a:cubicBezTo>
                    <a:pt x="948" y="30"/>
                    <a:pt x="950" y="32"/>
                    <a:pt x="953" y="32"/>
                  </a:cubicBezTo>
                  <a:cubicBezTo>
                    <a:pt x="956" y="32"/>
                    <a:pt x="973" y="29"/>
                    <a:pt x="973" y="29"/>
                  </a:cubicBezTo>
                  <a:cubicBezTo>
                    <a:pt x="973" y="29"/>
                    <a:pt x="973" y="26"/>
                    <a:pt x="975" y="24"/>
                  </a:cubicBezTo>
                  <a:cubicBezTo>
                    <a:pt x="976" y="22"/>
                    <a:pt x="978" y="18"/>
                    <a:pt x="980" y="18"/>
                  </a:cubicBezTo>
                  <a:cubicBezTo>
                    <a:pt x="983" y="19"/>
                    <a:pt x="986" y="20"/>
                    <a:pt x="986" y="18"/>
                  </a:cubicBezTo>
                  <a:cubicBezTo>
                    <a:pt x="987" y="15"/>
                    <a:pt x="997" y="0"/>
                    <a:pt x="1004" y="3"/>
                  </a:cubicBezTo>
                  <a:cubicBezTo>
                    <a:pt x="1011" y="5"/>
                    <a:pt x="1027" y="5"/>
                    <a:pt x="1027" y="6"/>
                  </a:cubicBezTo>
                  <a:cubicBezTo>
                    <a:pt x="1027" y="8"/>
                    <a:pt x="1030" y="12"/>
                    <a:pt x="1030" y="12"/>
                  </a:cubicBezTo>
                  <a:cubicBezTo>
                    <a:pt x="1030" y="12"/>
                    <a:pt x="1029" y="15"/>
                    <a:pt x="1034" y="16"/>
                  </a:cubicBezTo>
                  <a:cubicBezTo>
                    <a:pt x="1040" y="18"/>
                    <a:pt x="1043" y="20"/>
                    <a:pt x="1043" y="20"/>
                  </a:cubicBezTo>
                  <a:cubicBezTo>
                    <a:pt x="1043" y="20"/>
                    <a:pt x="1059" y="20"/>
                    <a:pt x="1062" y="20"/>
                  </a:cubicBezTo>
                  <a:cubicBezTo>
                    <a:pt x="1066" y="19"/>
                    <a:pt x="1094" y="25"/>
                    <a:pt x="1094" y="26"/>
                  </a:cubicBezTo>
                  <a:cubicBezTo>
                    <a:pt x="1094" y="28"/>
                    <a:pt x="1103" y="42"/>
                    <a:pt x="1098" y="44"/>
                  </a:cubicBezTo>
                  <a:cubicBezTo>
                    <a:pt x="1093" y="47"/>
                    <a:pt x="1099" y="47"/>
                    <a:pt x="1087" y="57"/>
                  </a:cubicBezTo>
                  <a:cubicBezTo>
                    <a:pt x="1075" y="66"/>
                    <a:pt x="1067" y="70"/>
                    <a:pt x="1060" y="73"/>
                  </a:cubicBezTo>
                  <a:cubicBezTo>
                    <a:pt x="1053" y="76"/>
                    <a:pt x="1050" y="85"/>
                    <a:pt x="1046" y="86"/>
                  </a:cubicBezTo>
                  <a:cubicBezTo>
                    <a:pt x="1041" y="87"/>
                    <a:pt x="1040" y="90"/>
                    <a:pt x="1040" y="90"/>
                  </a:cubicBezTo>
                  <a:cubicBezTo>
                    <a:pt x="1040" y="90"/>
                    <a:pt x="1046" y="89"/>
                    <a:pt x="1049" y="88"/>
                  </a:cubicBezTo>
                  <a:cubicBezTo>
                    <a:pt x="1051" y="87"/>
                    <a:pt x="1075" y="83"/>
                    <a:pt x="1075" y="83"/>
                  </a:cubicBezTo>
                  <a:cubicBezTo>
                    <a:pt x="1075" y="83"/>
                    <a:pt x="1063" y="78"/>
                    <a:pt x="1071" y="74"/>
                  </a:cubicBezTo>
                  <a:cubicBezTo>
                    <a:pt x="1079" y="70"/>
                    <a:pt x="1081" y="71"/>
                    <a:pt x="1081" y="71"/>
                  </a:cubicBezTo>
                  <a:cubicBezTo>
                    <a:pt x="1081" y="71"/>
                    <a:pt x="1086" y="71"/>
                    <a:pt x="1088" y="72"/>
                  </a:cubicBezTo>
                  <a:cubicBezTo>
                    <a:pt x="1091" y="72"/>
                    <a:pt x="1094" y="74"/>
                    <a:pt x="1098" y="77"/>
                  </a:cubicBezTo>
                  <a:cubicBezTo>
                    <a:pt x="1103" y="80"/>
                    <a:pt x="1101" y="80"/>
                    <a:pt x="1104" y="77"/>
                  </a:cubicBezTo>
                  <a:cubicBezTo>
                    <a:pt x="1108" y="73"/>
                    <a:pt x="1111" y="71"/>
                    <a:pt x="1115" y="72"/>
                  </a:cubicBezTo>
                  <a:cubicBezTo>
                    <a:pt x="1120" y="73"/>
                    <a:pt x="1144" y="76"/>
                    <a:pt x="1151" y="77"/>
                  </a:cubicBezTo>
                  <a:cubicBezTo>
                    <a:pt x="1157" y="77"/>
                    <a:pt x="1145" y="82"/>
                    <a:pt x="1154" y="87"/>
                  </a:cubicBezTo>
                  <a:cubicBezTo>
                    <a:pt x="1163" y="91"/>
                    <a:pt x="1173" y="96"/>
                    <a:pt x="1175" y="96"/>
                  </a:cubicBezTo>
                  <a:cubicBezTo>
                    <a:pt x="1177" y="95"/>
                    <a:pt x="1191" y="91"/>
                    <a:pt x="1191" y="91"/>
                  </a:cubicBezTo>
                  <a:cubicBezTo>
                    <a:pt x="1191" y="91"/>
                    <a:pt x="1191" y="91"/>
                    <a:pt x="1194" y="85"/>
                  </a:cubicBezTo>
                  <a:cubicBezTo>
                    <a:pt x="1196" y="79"/>
                    <a:pt x="1195" y="80"/>
                    <a:pt x="1195" y="77"/>
                  </a:cubicBezTo>
                  <a:cubicBezTo>
                    <a:pt x="1196" y="75"/>
                    <a:pt x="1198" y="73"/>
                    <a:pt x="1200" y="71"/>
                  </a:cubicBezTo>
                  <a:cubicBezTo>
                    <a:pt x="1203" y="69"/>
                    <a:pt x="1203" y="67"/>
                    <a:pt x="1210" y="71"/>
                  </a:cubicBezTo>
                  <a:cubicBezTo>
                    <a:pt x="1217" y="76"/>
                    <a:pt x="1218" y="78"/>
                    <a:pt x="1218" y="78"/>
                  </a:cubicBezTo>
                  <a:cubicBezTo>
                    <a:pt x="1218" y="78"/>
                    <a:pt x="1230" y="77"/>
                    <a:pt x="1243" y="88"/>
                  </a:cubicBezTo>
                  <a:cubicBezTo>
                    <a:pt x="1256" y="98"/>
                    <a:pt x="1253" y="101"/>
                    <a:pt x="1254" y="103"/>
                  </a:cubicBezTo>
                  <a:cubicBezTo>
                    <a:pt x="1254" y="106"/>
                    <a:pt x="1253" y="112"/>
                    <a:pt x="1254" y="114"/>
                  </a:cubicBezTo>
                  <a:cubicBezTo>
                    <a:pt x="1254" y="116"/>
                    <a:pt x="1254" y="112"/>
                    <a:pt x="1261" y="119"/>
                  </a:cubicBezTo>
                  <a:cubicBezTo>
                    <a:pt x="1268" y="127"/>
                    <a:pt x="1282" y="127"/>
                    <a:pt x="1281" y="127"/>
                  </a:cubicBezTo>
                  <a:cubicBezTo>
                    <a:pt x="1279" y="127"/>
                    <a:pt x="1282" y="121"/>
                    <a:pt x="1280" y="118"/>
                  </a:cubicBezTo>
                  <a:cubicBezTo>
                    <a:pt x="1278" y="115"/>
                    <a:pt x="1281" y="116"/>
                    <a:pt x="1284" y="113"/>
                  </a:cubicBezTo>
                  <a:cubicBezTo>
                    <a:pt x="1286" y="111"/>
                    <a:pt x="1291" y="112"/>
                    <a:pt x="1291" y="112"/>
                  </a:cubicBezTo>
                  <a:cubicBezTo>
                    <a:pt x="1291" y="112"/>
                    <a:pt x="1293" y="113"/>
                    <a:pt x="1299" y="115"/>
                  </a:cubicBezTo>
                  <a:cubicBezTo>
                    <a:pt x="1304" y="116"/>
                    <a:pt x="1296" y="116"/>
                    <a:pt x="1310" y="116"/>
                  </a:cubicBezTo>
                  <a:cubicBezTo>
                    <a:pt x="1324" y="116"/>
                    <a:pt x="1324" y="112"/>
                    <a:pt x="1329" y="112"/>
                  </a:cubicBezTo>
                  <a:cubicBezTo>
                    <a:pt x="1333" y="112"/>
                    <a:pt x="1337" y="111"/>
                    <a:pt x="1338" y="112"/>
                  </a:cubicBezTo>
                  <a:cubicBezTo>
                    <a:pt x="1339" y="114"/>
                    <a:pt x="1339" y="115"/>
                    <a:pt x="1344" y="115"/>
                  </a:cubicBezTo>
                  <a:cubicBezTo>
                    <a:pt x="1349" y="116"/>
                    <a:pt x="1350" y="118"/>
                    <a:pt x="1348" y="113"/>
                  </a:cubicBezTo>
                  <a:cubicBezTo>
                    <a:pt x="1345" y="108"/>
                    <a:pt x="1342" y="104"/>
                    <a:pt x="1342" y="104"/>
                  </a:cubicBezTo>
                  <a:cubicBezTo>
                    <a:pt x="1338" y="102"/>
                    <a:pt x="1338" y="102"/>
                    <a:pt x="1338" y="102"/>
                  </a:cubicBezTo>
                  <a:cubicBezTo>
                    <a:pt x="1338" y="102"/>
                    <a:pt x="1336" y="101"/>
                    <a:pt x="1342" y="97"/>
                  </a:cubicBezTo>
                  <a:cubicBezTo>
                    <a:pt x="1348" y="93"/>
                    <a:pt x="1347" y="99"/>
                    <a:pt x="1352" y="98"/>
                  </a:cubicBezTo>
                  <a:cubicBezTo>
                    <a:pt x="1357" y="98"/>
                    <a:pt x="1369" y="96"/>
                    <a:pt x="1369" y="96"/>
                  </a:cubicBezTo>
                  <a:cubicBezTo>
                    <a:pt x="1369" y="96"/>
                    <a:pt x="1381" y="98"/>
                    <a:pt x="1391" y="102"/>
                  </a:cubicBezTo>
                  <a:cubicBezTo>
                    <a:pt x="1402" y="106"/>
                    <a:pt x="1422" y="108"/>
                    <a:pt x="1422" y="106"/>
                  </a:cubicBezTo>
                  <a:cubicBezTo>
                    <a:pt x="1422" y="105"/>
                    <a:pt x="1427" y="106"/>
                    <a:pt x="1430" y="106"/>
                  </a:cubicBezTo>
                  <a:cubicBezTo>
                    <a:pt x="1434" y="106"/>
                    <a:pt x="1444" y="116"/>
                    <a:pt x="1444" y="116"/>
                  </a:cubicBezTo>
                  <a:cubicBezTo>
                    <a:pt x="1444" y="116"/>
                    <a:pt x="1452" y="123"/>
                    <a:pt x="1456" y="125"/>
                  </a:cubicBezTo>
                  <a:cubicBezTo>
                    <a:pt x="1460" y="127"/>
                    <a:pt x="1461" y="128"/>
                    <a:pt x="1466" y="128"/>
                  </a:cubicBezTo>
                  <a:cubicBezTo>
                    <a:pt x="1471" y="128"/>
                    <a:pt x="1484" y="134"/>
                    <a:pt x="1484" y="133"/>
                  </a:cubicBezTo>
                  <a:cubicBezTo>
                    <a:pt x="1485" y="131"/>
                    <a:pt x="1501" y="132"/>
                    <a:pt x="1501" y="129"/>
                  </a:cubicBezTo>
                  <a:cubicBezTo>
                    <a:pt x="1500" y="125"/>
                    <a:pt x="1510" y="130"/>
                    <a:pt x="1523" y="132"/>
                  </a:cubicBezTo>
                  <a:cubicBezTo>
                    <a:pt x="1536" y="134"/>
                    <a:pt x="1538" y="137"/>
                    <a:pt x="1538" y="139"/>
                  </a:cubicBezTo>
                  <a:cubicBezTo>
                    <a:pt x="1539" y="140"/>
                    <a:pt x="1542" y="147"/>
                    <a:pt x="1542" y="147"/>
                  </a:cubicBezTo>
                  <a:cubicBezTo>
                    <a:pt x="1542" y="147"/>
                    <a:pt x="1554" y="152"/>
                    <a:pt x="1559" y="152"/>
                  </a:cubicBezTo>
                  <a:cubicBezTo>
                    <a:pt x="1564" y="151"/>
                    <a:pt x="1575" y="152"/>
                    <a:pt x="1575" y="152"/>
                  </a:cubicBezTo>
                  <a:cubicBezTo>
                    <a:pt x="1575" y="152"/>
                    <a:pt x="1606" y="149"/>
                    <a:pt x="1613" y="149"/>
                  </a:cubicBezTo>
                  <a:cubicBezTo>
                    <a:pt x="1619" y="148"/>
                    <a:pt x="1619" y="137"/>
                    <a:pt x="1620" y="142"/>
                  </a:cubicBezTo>
                  <a:cubicBezTo>
                    <a:pt x="1622" y="147"/>
                    <a:pt x="1620" y="154"/>
                    <a:pt x="1620" y="154"/>
                  </a:cubicBezTo>
                  <a:cubicBezTo>
                    <a:pt x="1620" y="154"/>
                    <a:pt x="1625" y="161"/>
                    <a:pt x="1629" y="160"/>
                  </a:cubicBezTo>
                  <a:cubicBezTo>
                    <a:pt x="1632" y="159"/>
                    <a:pt x="1636" y="158"/>
                    <a:pt x="1636" y="158"/>
                  </a:cubicBezTo>
                  <a:cubicBezTo>
                    <a:pt x="1636" y="158"/>
                    <a:pt x="1638" y="157"/>
                    <a:pt x="1632" y="153"/>
                  </a:cubicBezTo>
                  <a:cubicBezTo>
                    <a:pt x="1627" y="149"/>
                    <a:pt x="1629" y="143"/>
                    <a:pt x="1631" y="141"/>
                  </a:cubicBezTo>
                  <a:cubicBezTo>
                    <a:pt x="1633" y="140"/>
                    <a:pt x="1678" y="142"/>
                    <a:pt x="1694" y="149"/>
                  </a:cubicBezTo>
                  <a:cubicBezTo>
                    <a:pt x="1710" y="155"/>
                    <a:pt x="1761" y="176"/>
                    <a:pt x="1767" y="182"/>
                  </a:cubicBezTo>
                  <a:cubicBezTo>
                    <a:pt x="1773" y="188"/>
                    <a:pt x="1777" y="192"/>
                    <a:pt x="1778" y="194"/>
                  </a:cubicBezTo>
                  <a:cubicBezTo>
                    <a:pt x="1780" y="195"/>
                    <a:pt x="1784" y="188"/>
                    <a:pt x="1784" y="188"/>
                  </a:cubicBezTo>
                  <a:cubicBezTo>
                    <a:pt x="1784" y="188"/>
                    <a:pt x="1794" y="189"/>
                    <a:pt x="1798" y="190"/>
                  </a:cubicBezTo>
                  <a:cubicBezTo>
                    <a:pt x="1801" y="190"/>
                    <a:pt x="1801" y="186"/>
                    <a:pt x="1811" y="193"/>
                  </a:cubicBezTo>
                  <a:cubicBezTo>
                    <a:pt x="1821" y="199"/>
                    <a:pt x="1822" y="206"/>
                    <a:pt x="1822" y="206"/>
                  </a:cubicBezTo>
                  <a:cubicBezTo>
                    <a:pt x="1822" y="206"/>
                    <a:pt x="1828" y="213"/>
                    <a:pt x="1821" y="214"/>
                  </a:cubicBezTo>
                  <a:cubicBezTo>
                    <a:pt x="1813" y="216"/>
                    <a:pt x="1810" y="224"/>
                    <a:pt x="1810" y="224"/>
                  </a:cubicBezTo>
                  <a:cubicBezTo>
                    <a:pt x="1810" y="224"/>
                    <a:pt x="1812" y="227"/>
                    <a:pt x="1812" y="229"/>
                  </a:cubicBezTo>
                  <a:cubicBezTo>
                    <a:pt x="1812" y="231"/>
                    <a:pt x="1810" y="234"/>
                    <a:pt x="1811" y="237"/>
                  </a:cubicBezTo>
                  <a:cubicBezTo>
                    <a:pt x="1812" y="240"/>
                    <a:pt x="1817" y="244"/>
                    <a:pt x="1815" y="246"/>
                  </a:cubicBezTo>
                  <a:cubicBezTo>
                    <a:pt x="1813" y="247"/>
                    <a:pt x="1815" y="247"/>
                    <a:pt x="1810" y="247"/>
                  </a:cubicBezTo>
                  <a:cubicBezTo>
                    <a:pt x="1806" y="246"/>
                    <a:pt x="1798" y="244"/>
                    <a:pt x="1797" y="242"/>
                  </a:cubicBezTo>
                  <a:cubicBezTo>
                    <a:pt x="1795" y="241"/>
                    <a:pt x="1795" y="239"/>
                    <a:pt x="1792" y="239"/>
                  </a:cubicBezTo>
                  <a:cubicBezTo>
                    <a:pt x="1789" y="239"/>
                    <a:pt x="1778" y="234"/>
                    <a:pt x="1778" y="234"/>
                  </a:cubicBezTo>
                  <a:cubicBezTo>
                    <a:pt x="1774" y="229"/>
                    <a:pt x="1774" y="229"/>
                    <a:pt x="1774" y="229"/>
                  </a:cubicBezTo>
                  <a:cubicBezTo>
                    <a:pt x="1770" y="223"/>
                    <a:pt x="1770" y="223"/>
                    <a:pt x="1770" y="223"/>
                  </a:cubicBezTo>
                  <a:cubicBezTo>
                    <a:pt x="1770" y="223"/>
                    <a:pt x="1752" y="222"/>
                    <a:pt x="1751" y="220"/>
                  </a:cubicBezTo>
                  <a:cubicBezTo>
                    <a:pt x="1751" y="219"/>
                    <a:pt x="1746" y="203"/>
                    <a:pt x="1745" y="203"/>
                  </a:cubicBezTo>
                  <a:cubicBezTo>
                    <a:pt x="1744" y="203"/>
                    <a:pt x="1738" y="199"/>
                    <a:pt x="1740" y="205"/>
                  </a:cubicBezTo>
                  <a:cubicBezTo>
                    <a:pt x="1741" y="210"/>
                    <a:pt x="1741" y="215"/>
                    <a:pt x="1741" y="215"/>
                  </a:cubicBezTo>
                  <a:cubicBezTo>
                    <a:pt x="1741" y="215"/>
                    <a:pt x="1751" y="223"/>
                    <a:pt x="1749" y="223"/>
                  </a:cubicBezTo>
                  <a:cubicBezTo>
                    <a:pt x="1746" y="223"/>
                    <a:pt x="1747" y="230"/>
                    <a:pt x="1745" y="230"/>
                  </a:cubicBezTo>
                  <a:cubicBezTo>
                    <a:pt x="1744" y="230"/>
                    <a:pt x="1738" y="238"/>
                    <a:pt x="1736" y="237"/>
                  </a:cubicBezTo>
                  <a:cubicBezTo>
                    <a:pt x="1734" y="236"/>
                    <a:pt x="1729" y="238"/>
                    <a:pt x="1728" y="238"/>
                  </a:cubicBezTo>
                  <a:cubicBezTo>
                    <a:pt x="1726" y="238"/>
                    <a:pt x="1726" y="237"/>
                    <a:pt x="1724" y="236"/>
                  </a:cubicBezTo>
                  <a:cubicBezTo>
                    <a:pt x="1722" y="236"/>
                    <a:pt x="1717" y="235"/>
                    <a:pt x="1717" y="237"/>
                  </a:cubicBezTo>
                  <a:cubicBezTo>
                    <a:pt x="1716" y="239"/>
                    <a:pt x="1719" y="245"/>
                    <a:pt x="1722" y="244"/>
                  </a:cubicBezTo>
                  <a:cubicBezTo>
                    <a:pt x="1725" y="243"/>
                    <a:pt x="1734" y="244"/>
                    <a:pt x="1734" y="244"/>
                  </a:cubicBezTo>
                  <a:cubicBezTo>
                    <a:pt x="1734" y="244"/>
                    <a:pt x="1746" y="262"/>
                    <a:pt x="1745" y="264"/>
                  </a:cubicBezTo>
                  <a:cubicBezTo>
                    <a:pt x="1745" y="266"/>
                    <a:pt x="1758" y="275"/>
                    <a:pt x="1756" y="276"/>
                  </a:cubicBezTo>
                  <a:cubicBezTo>
                    <a:pt x="1753" y="277"/>
                    <a:pt x="1754" y="280"/>
                    <a:pt x="1752" y="281"/>
                  </a:cubicBezTo>
                  <a:cubicBezTo>
                    <a:pt x="1751" y="281"/>
                    <a:pt x="1753" y="284"/>
                    <a:pt x="1753" y="285"/>
                  </a:cubicBezTo>
                  <a:cubicBezTo>
                    <a:pt x="1753" y="287"/>
                    <a:pt x="1742" y="284"/>
                    <a:pt x="1732" y="286"/>
                  </a:cubicBezTo>
                  <a:cubicBezTo>
                    <a:pt x="1722" y="288"/>
                    <a:pt x="1709" y="293"/>
                    <a:pt x="1705" y="300"/>
                  </a:cubicBezTo>
                  <a:cubicBezTo>
                    <a:pt x="1701" y="307"/>
                    <a:pt x="1696" y="325"/>
                    <a:pt x="1692" y="326"/>
                  </a:cubicBezTo>
                  <a:cubicBezTo>
                    <a:pt x="1689" y="328"/>
                    <a:pt x="1684" y="336"/>
                    <a:pt x="1684" y="336"/>
                  </a:cubicBezTo>
                  <a:cubicBezTo>
                    <a:pt x="1684" y="336"/>
                    <a:pt x="1675" y="329"/>
                    <a:pt x="1674" y="325"/>
                  </a:cubicBezTo>
                  <a:cubicBezTo>
                    <a:pt x="1673" y="321"/>
                    <a:pt x="1652" y="325"/>
                    <a:pt x="1651" y="325"/>
                  </a:cubicBezTo>
                  <a:cubicBezTo>
                    <a:pt x="1650" y="326"/>
                    <a:pt x="1653" y="330"/>
                    <a:pt x="1651" y="333"/>
                  </a:cubicBezTo>
                  <a:cubicBezTo>
                    <a:pt x="1650" y="336"/>
                    <a:pt x="1655" y="344"/>
                    <a:pt x="1650" y="340"/>
                  </a:cubicBezTo>
                  <a:cubicBezTo>
                    <a:pt x="1644" y="337"/>
                    <a:pt x="1642" y="330"/>
                    <a:pt x="1642" y="330"/>
                  </a:cubicBezTo>
                  <a:cubicBezTo>
                    <a:pt x="1642" y="330"/>
                    <a:pt x="1640" y="334"/>
                    <a:pt x="1638" y="335"/>
                  </a:cubicBezTo>
                  <a:cubicBezTo>
                    <a:pt x="1636" y="335"/>
                    <a:pt x="1629" y="341"/>
                    <a:pt x="1626" y="343"/>
                  </a:cubicBezTo>
                  <a:cubicBezTo>
                    <a:pt x="1622" y="344"/>
                    <a:pt x="1621" y="340"/>
                    <a:pt x="1622" y="344"/>
                  </a:cubicBezTo>
                  <a:cubicBezTo>
                    <a:pt x="1624" y="348"/>
                    <a:pt x="1623" y="356"/>
                    <a:pt x="1622" y="358"/>
                  </a:cubicBezTo>
                  <a:cubicBezTo>
                    <a:pt x="1620" y="361"/>
                    <a:pt x="1622" y="365"/>
                    <a:pt x="1623" y="368"/>
                  </a:cubicBezTo>
                  <a:cubicBezTo>
                    <a:pt x="1624" y="370"/>
                    <a:pt x="1637" y="376"/>
                    <a:pt x="1635" y="376"/>
                  </a:cubicBezTo>
                  <a:cubicBezTo>
                    <a:pt x="1634" y="376"/>
                    <a:pt x="1636" y="386"/>
                    <a:pt x="1636" y="387"/>
                  </a:cubicBezTo>
                  <a:cubicBezTo>
                    <a:pt x="1636" y="389"/>
                    <a:pt x="1642" y="393"/>
                    <a:pt x="1640" y="395"/>
                  </a:cubicBezTo>
                  <a:cubicBezTo>
                    <a:pt x="1638" y="397"/>
                    <a:pt x="1642" y="405"/>
                    <a:pt x="1639" y="404"/>
                  </a:cubicBezTo>
                  <a:cubicBezTo>
                    <a:pt x="1636" y="403"/>
                    <a:pt x="1632" y="401"/>
                    <a:pt x="1632" y="401"/>
                  </a:cubicBezTo>
                  <a:cubicBezTo>
                    <a:pt x="1632" y="401"/>
                    <a:pt x="1640" y="405"/>
                    <a:pt x="1634" y="406"/>
                  </a:cubicBezTo>
                  <a:cubicBezTo>
                    <a:pt x="1628" y="407"/>
                    <a:pt x="1628" y="412"/>
                    <a:pt x="1628" y="412"/>
                  </a:cubicBezTo>
                  <a:cubicBezTo>
                    <a:pt x="1628" y="412"/>
                    <a:pt x="1631" y="413"/>
                    <a:pt x="1631" y="416"/>
                  </a:cubicBezTo>
                  <a:cubicBezTo>
                    <a:pt x="1631" y="419"/>
                    <a:pt x="1639" y="424"/>
                    <a:pt x="1636" y="424"/>
                  </a:cubicBezTo>
                  <a:cubicBezTo>
                    <a:pt x="1634" y="424"/>
                    <a:pt x="1631" y="427"/>
                    <a:pt x="1628" y="427"/>
                  </a:cubicBezTo>
                  <a:cubicBezTo>
                    <a:pt x="1626" y="428"/>
                    <a:pt x="1623" y="436"/>
                    <a:pt x="1623" y="438"/>
                  </a:cubicBezTo>
                  <a:cubicBezTo>
                    <a:pt x="1624" y="440"/>
                    <a:pt x="1622" y="450"/>
                    <a:pt x="1623" y="451"/>
                  </a:cubicBezTo>
                  <a:cubicBezTo>
                    <a:pt x="1624" y="453"/>
                    <a:pt x="1612" y="453"/>
                    <a:pt x="1612" y="453"/>
                  </a:cubicBezTo>
                  <a:cubicBezTo>
                    <a:pt x="1612" y="453"/>
                    <a:pt x="1618" y="462"/>
                    <a:pt x="1616" y="462"/>
                  </a:cubicBezTo>
                  <a:cubicBezTo>
                    <a:pt x="1614" y="463"/>
                    <a:pt x="1613" y="463"/>
                    <a:pt x="1611" y="468"/>
                  </a:cubicBezTo>
                  <a:cubicBezTo>
                    <a:pt x="1609" y="473"/>
                    <a:pt x="1606" y="479"/>
                    <a:pt x="1604" y="480"/>
                  </a:cubicBezTo>
                  <a:cubicBezTo>
                    <a:pt x="1601" y="481"/>
                    <a:pt x="1600" y="484"/>
                    <a:pt x="1600" y="485"/>
                  </a:cubicBezTo>
                  <a:cubicBezTo>
                    <a:pt x="1600" y="487"/>
                    <a:pt x="1591" y="461"/>
                    <a:pt x="1589" y="459"/>
                  </a:cubicBezTo>
                  <a:cubicBezTo>
                    <a:pt x="1587" y="457"/>
                    <a:pt x="1584" y="447"/>
                    <a:pt x="1584" y="447"/>
                  </a:cubicBezTo>
                  <a:cubicBezTo>
                    <a:pt x="1581" y="441"/>
                    <a:pt x="1581" y="441"/>
                    <a:pt x="1581" y="441"/>
                  </a:cubicBezTo>
                  <a:cubicBezTo>
                    <a:pt x="1581" y="441"/>
                    <a:pt x="1579" y="442"/>
                    <a:pt x="1577" y="438"/>
                  </a:cubicBezTo>
                  <a:cubicBezTo>
                    <a:pt x="1574" y="433"/>
                    <a:pt x="1566" y="392"/>
                    <a:pt x="1566" y="392"/>
                  </a:cubicBezTo>
                  <a:cubicBezTo>
                    <a:pt x="1566" y="392"/>
                    <a:pt x="1572" y="390"/>
                    <a:pt x="1571" y="388"/>
                  </a:cubicBezTo>
                  <a:cubicBezTo>
                    <a:pt x="1570" y="386"/>
                    <a:pt x="1568" y="372"/>
                    <a:pt x="1568" y="372"/>
                  </a:cubicBezTo>
                  <a:cubicBezTo>
                    <a:pt x="1568" y="372"/>
                    <a:pt x="1585" y="367"/>
                    <a:pt x="1586" y="360"/>
                  </a:cubicBezTo>
                  <a:cubicBezTo>
                    <a:pt x="1586" y="353"/>
                    <a:pt x="1594" y="345"/>
                    <a:pt x="1599" y="335"/>
                  </a:cubicBezTo>
                  <a:cubicBezTo>
                    <a:pt x="1603" y="325"/>
                    <a:pt x="1607" y="318"/>
                    <a:pt x="1607" y="318"/>
                  </a:cubicBezTo>
                  <a:cubicBezTo>
                    <a:pt x="1607" y="318"/>
                    <a:pt x="1616" y="316"/>
                    <a:pt x="1619" y="316"/>
                  </a:cubicBezTo>
                  <a:cubicBezTo>
                    <a:pt x="1621" y="315"/>
                    <a:pt x="1621" y="316"/>
                    <a:pt x="1620" y="311"/>
                  </a:cubicBezTo>
                  <a:cubicBezTo>
                    <a:pt x="1619" y="307"/>
                    <a:pt x="1615" y="313"/>
                    <a:pt x="1616" y="299"/>
                  </a:cubicBezTo>
                  <a:cubicBezTo>
                    <a:pt x="1618" y="285"/>
                    <a:pt x="1619" y="282"/>
                    <a:pt x="1619" y="282"/>
                  </a:cubicBezTo>
                  <a:cubicBezTo>
                    <a:pt x="1619" y="282"/>
                    <a:pt x="1614" y="280"/>
                    <a:pt x="1612" y="282"/>
                  </a:cubicBezTo>
                  <a:cubicBezTo>
                    <a:pt x="1610" y="283"/>
                    <a:pt x="1605" y="290"/>
                    <a:pt x="1606" y="292"/>
                  </a:cubicBezTo>
                  <a:cubicBezTo>
                    <a:pt x="1607" y="295"/>
                    <a:pt x="1611" y="304"/>
                    <a:pt x="1604" y="303"/>
                  </a:cubicBezTo>
                  <a:cubicBezTo>
                    <a:pt x="1597" y="302"/>
                    <a:pt x="1589" y="309"/>
                    <a:pt x="1590" y="311"/>
                  </a:cubicBezTo>
                  <a:cubicBezTo>
                    <a:pt x="1590" y="313"/>
                    <a:pt x="1593" y="318"/>
                    <a:pt x="1593" y="318"/>
                  </a:cubicBezTo>
                  <a:cubicBezTo>
                    <a:pt x="1589" y="319"/>
                    <a:pt x="1589" y="319"/>
                    <a:pt x="1589" y="319"/>
                  </a:cubicBezTo>
                  <a:cubicBezTo>
                    <a:pt x="1589" y="319"/>
                    <a:pt x="1586" y="315"/>
                    <a:pt x="1585" y="312"/>
                  </a:cubicBezTo>
                  <a:cubicBezTo>
                    <a:pt x="1583" y="309"/>
                    <a:pt x="1585" y="308"/>
                    <a:pt x="1582" y="304"/>
                  </a:cubicBezTo>
                  <a:cubicBezTo>
                    <a:pt x="1580" y="300"/>
                    <a:pt x="1580" y="299"/>
                    <a:pt x="1578" y="298"/>
                  </a:cubicBezTo>
                  <a:cubicBezTo>
                    <a:pt x="1576" y="298"/>
                    <a:pt x="1583" y="294"/>
                    <a:pt x="1574" y="297"/>
                  </a:cubicBezTo>
                  <a:cubicBezTo>
                    <a:pt x="1565" y="301"/>
                    <a:pt x="1571" y="304"/>
                    <a:pt x="1561" y="305"/>
                  </a:cubicBezTo>
                  <a:cubicBezTo>
                    <a:pt x="1552" y="306"/>
                    <a:pt x="1552" y="314"/>
                    <a:pt x="1551" y="317"/>
                  </a:cubicBezTo>
                  <a:cubicBezTo>
                    <a:pt x="1551" y="319"/>
                    <a:pt x="1551" y="313"/>
                    <a:pt x="1546" y="322"/>
                  </a:cubicBezTo>
                  <a:cubicBezTo>
                    <a:pt x="1541" y="331"/>
                    <a:pt x="1544" y="328"/>
                    <a:pt x="1540" y="333"/>
                  </a:cubicBezTo>
                  <a:cubicBezTo>
                    <a:pt x="1537" y="339"/>
                    <a:pt x="1547" y="343"/>
                    <a:pt x="1546" y="344"/>
                  </a:cubicBezTo>
                  <a:cubicBezTo>
                    <a:pt x="1545" y="346"/>
                    <a:pt x="1542" y="350"/>
                    <a:pt x="1542" y="350"/>
                  </a:cubicBezTo>
                  <a:cubicBezTo>
                    <a:pt x="1542" y="350"/>
                    <a:pt x="1541" y="350"/>
                    <a:pt x="1534" y="350"/>
                  </a:cubicBezTo>
                  <a:cubicBezTo>
                    <a:pt x="1528" y="350"/>
                    <a:pt x="1517" y="354"/>
                    <a:pt x="1515" y="353"/>
                  </a:cubicBezTo>
                  <a:cubicBezTo>
                    <a:pt x="1513" y="352"/>
                    <a:pt x="1516" y="343"/>
                    <a:pt x="1516" y="343"/>
                  </a:cubicBezTo>
                  <a:cubicBezTo>
                    <a:pt x="1516" y="343"/>
                    <a:pt x="1499" y="341"/>
                    <a:pt x="1496" y="342"/>
                  </a:cubicBezTo>
                  <a:cubicBezTo>
                    <a:pt x="1494" y="342"/>
                    <a:pt x="1495" y="343"/>
                    <a:pt x="1493" y="345"/>
                  </a:cubicBezTo>
                  <a:cubicBezTo>
                    <a:pt x="1491" y="347"/>
                    <a:pt x="1498" y="350"/>
                    <a:pt x="1489" y="349"/>
                  </a:cubicBezTo>
                  <a:cubicBezTo>
                    <a:pt x="1480" y="348"/>
                    <a:pt x="1474" y="346"/>
                    <a:pt x="1469" y="347"/>
                  </a:cubicBezTo>
                  <a:cubicBezTo>
                    <a:pt x="1464" y="348"/>
                    <a:pt x="1460" y="352"/>
                    <a:pt x="1460" y="352"/>
                  </a:cubicBezTo>
                  <a:cubicBezTo>
                    <a:pt x="1457" y="346"/>
                    <a:pt x="1457" y="346"/>
                    <a:pt x="1457" y="346"/>
                  </a:cubicBezTo>
                  <a:cubicBezTo>
                    <a:pt x="1428" y="350"/>
                    <a:pt x="1428" y="350"/>
                    <a:pt x="1428" y="350"/>
                  </a:cubicBezTo>
                  <a:cubicBezTo>
                    <a:pt x="1428" y="350"/>
                    <a:pt x="1431" y="357"/>
                    <a:pt x="1424" y="367"/>
                  </a:cubicBezTo>
                  <a:cubicBezTo>
                    <a:pt x="1417" y="378"/>
                    <a:pt x="1403" y="408"/>
                    <a:pt x="1396" y="408"/>
                  </a:cubicBezTo>
                  <a:cubicBezTo>
                    <a:pt x="1390" y="408"/>
                    <a:pt x="1373" y="419"/>
                    <a:pt x="1378" y="422"/>
                  </a:cubicBezTo>
                  <a:cubicBezTo>
                    <a:pt x="1383" y="426"/>
                    <a:pt x="1386" y="428"/>
                    <a:pt x="1388" y="429"/>
                  </a:cubicBezTo>
                  <a:cubicBezTo>
                    <a:pt x="1391" y="429"/>
                    <a:pt x="1400" y="427"/>
                    <a:pt x="1401" y="430"/>
                  </a:cubicBezTo>
                  <a:cubicBezTo>
                    <a:pt x="1402" y="433"/>
                    <a:pt x="1409" y="443"/>
                    <a:pt x="1409" y="443"/>
                  </a:cubicBezTo>
                  <a:cubicBezTo>
                    <a:pt x="1409" y="443"/>
                    <a:pt x="1406" y="447"/>
                    <a:pt x="1415" y="444"/>
                  </a:cubicBezTo>
                  <a:cubicBezTo>
                    <a:pt x="1424" y="440"/>
                    <a:pt x="1416" y="434"/>
                    <a:pt x="1416" y="434"/>
                  </a:cubicBezTo>
                  <a:cubicBezTo>
                    <a:pt x="1416" y="434"/>
                    <a:pt x="1431" y="434"/>
                    <a:pt x="1431" y="437"/>
                  </a:cubicBezTo>
                  <a:cubicBezTo>
                    <a:pt x="1432" y="439"/>
                    <a:pt x="1441" y="450"/>
                    <a:pt x="1439" y="450"/>
                  </a:cubicBezTo>
                  <a:cubicBezTo>
                    <a:pt x="1437" y="450"/>
                    <a:pt x="1445" y="447"/>
                    <a:pt x="1446" y="454"/>
                  </a:cubicBezTo>
                  <a:cubicBezTo>
                    <a:pt x="1447" y="460"/>
                    <a:pt x="1447" y="465"/>
                    <a:pt x="1449" y="469"/>
                  </a:cubicBezTo>
                  <a:cubicBezTo>
                    <a:pt x="1450" y="472"/>
                    <a:pt x="1448" y="480"/>
                    <a:pt x="1448" y="480"/>
                  </a:cubicBezTo>
                  <a:cubicBezTo>
                    <a:pt x="1448" y="480"/>
                    <a:pt x="1453" y="489"/>
                    <a:pt x="1452" y="491"/>
                  </a:cubicBezTo>
                  <a:cubicBezTo>
                    <a:pt x="1451" y="493"/>
                    <a:pt x="1456" y="476"/>
                    <a:pt x="1453" y="501"/>
                  </a:cubicBezTo>
                  <a:cubicBezTo>
                    <a:pt x="1450" y="526"/>
                    <a:pt x="1454" y="532"/>
                    <a:pt x="1452" y="535"/>
                  </a:cubicBezTo>
                  <a:cubicBezTo>
                    <a:pt x="1451" y="539"/>
                    <a:pt x="1452" y="538"/>
                    <a:pt x="1448" y="541"/>
                  </a:cubicBezTo>
                  <a:cubicBezTo>
                    <a:pt x="1445" y="544"/>
                    <a:pt x="1445" y="546"/>
                    <a:pt x="1442" y="551"/>
                  </a:cubicBezTo>
                  <a:cubicBezTo>
                    <a:pt x="1439" y="556"/>
                    <a:pt x="1443" y="564"/>
                    <a:pt x="1441" y="566"/>
                  </a:cubicBezTo>
                  <a:cubicBezTo>
                    <a:pt x="1439" y="568"/>
                    <a:pt x="1438" y="573"/>
                    <a:pt x="1433" y="577"/>
                  </a:cubicBezTo>
                  <a:cubicBezTo>
                    <a:pt x="1428" y="580"/>
                    <a:pt x="1412" y="595"/>
                    <a:pt x="1406" y="596"/>
                  </a:cubicBezTo>
                  <a:cubicBezTo>
                    <a:pt x="1400" y="597"/>
                    <a:pt x="1385" y="593"/>
                    <a:pt x="1385" y="593"/>
                  </a:cubicBezTo>
                  <a:cubicBezTo>
                    <a:pt x="1385" y="593"/>
                    <a:pt x="1382" y="602"/>
                    <a:pt x="1379" y="604"/>
                  </a:cubicBezTo>
                  <a:cubicBezTo>
                    <a:pt x="1377" y="606"/>
                    <a:pt x="1372" y="612"/>
                    <a:pt x="1372" y="615"/>
                  </a:cubicBezTo>
                  <a:cubicBezTo>
                    <a:pt x="1372" y="618"/>
                    <a:pt x="1368" y="617"/>
                    <a:pt x="1371" y="624"/>
                  </a:cubicBezTo>
                  <a:cubicBezTo>
                    <a:pt x="1373" y="632"/>
                    <a:pt x="1366" y="637"/>
                    <a:pt x="1366" y="637"/>
                  </a:cubicBezTo>
                  <a:cubicBezTo>
                    <a:pt x="1366" y="637"/>
                    <a:pt x="1363" y="642"/>
                    <a:pt x="1363" y="644"/>
                  </a:cubicBezTo>
                  <a:cubicBezTo>
                    <a:pt x="1364" y="646"/>
                    <a:pt x="1372" y="651"/>
                    <a:pt x="1372" y="654"/>
                  </a:cubicBezTo>
                  <a:cubicBezTo>
                    <a:pt x="1372" y="657"/>
                    <a:pt x="1385" y="670"/>
                    <a:pt x="1384" y="670"/>
                  </a:cubicBezTo>
                  <a:cubicBezTo>
                    <a:pt x="1382" y="670"/>
                    <a:pt x="1386" y="680"/>
                    <a:pt x="1383" y="687"/>
                  </a:cubicBezTo>
                  <a:cubicBezTo>
                    <a:pt x="1379" y="694"/>
                    <a:pt x="1372" y="698"/>
                    <a:pt x="1372" y="698"/>
                  </a:cubicBezTo>
                  <a:cubicBezTo>
                    <a:pt x="1372" y="698"/>
                    <a:pt x="1363" y="706"/>
                    <a:pt x="1360" y="702"/>
                  </a:cubicBezTo>
                  <a:cubicBezTo>
                    <a:pt x="1356" y="698"/>
                    <a:pt x="1352" y="692"/>
                    <a:pt x="1352" y="692"/>
                  </a:cubicBezTo>
                  <a:cubicBezTo>
                    <a:pt x="1352" y="692"/>
                    <a:pt x="1351" y="686"/>
                    <a:pt x="1350" y="677"/>
                  </a:cubicBezTo>
                  <a:cubicBezTo>
                    <a:pt x="1349" y="668"/>
                    <a:pt x="1346" y="666"/>
                    <a:pt x="1348" y="663"/>
                  </a:cubicBezTo>
                  <a:cubicBezTo>
                    <a:pt x="1349" y="660"/>
                    <a:pt x="1347" y="663"/>
                    <a:pt x="1340" y="661"/>
                  </a:cubicBezTo>
                  <a:cubicBezTo>
                    <a:pt x="1334" y="660"/>
                    <a:pt x="1335" y="664"/>
                    <a:pt x="1334" y="660"/>
                  </a:cubicBezTo>
                  <a:cubicBezTo>
                    <a:pt x="1333" y="656"/>
                    <a:pt x="1334" y="650"/>
                    <a:pt x="1333" y="648"/>
                  </a:cubicBezTo>
                  <a:cubicBezTo>
                    <a:pt x="1332" y="645"/>
                    <a:pt x="1332" y="642"/>
                    <a:pt x="1327" y="640"/>
                  </a:cubicBezTo>
                  <a:cubicBezTo>
                    <a:pt x="1322" y="638"/>
                    <a:pt x="1313" y="644"/>
                    <a:pt x="1313" y="644"/>
                  </a:cubicBezTo>
                  <a:cubicBezTo>
                    <a:pt x="1313" y="644"/>
                    <a:pt x="1311" y="647"/>
                    <a:pt x="1307" y="646"/>
                  </a:cubicBezTo>
                  <a:cubicBezTo>
                    <a:pt x="1303" y="644"/>
                    <a:pt x="1291" y="642"/>
                    <a:pt x="1292" y="638"/>
                  </a:cubicBezTo>
                  <a:cubicBezTo>
                    <a:pt x="1293" y="633"/>
                    <a:pt x="1295" y="628"/>
                    <a:pt x="1293" y="628"/>
                  </a:cubicBezTo>
                  <a:cubicBezTo>
                    <a:pt x="1290" y="628"/>
                    <a:pt x="1280" y="633"/>
                    <a:pt x="1276" y="635"/>
                  </a:cubicBezTo>
                  <a:cubicBezTo>
                    <a:pt x="1273" y="638"/>
                    <a:pt x="1274" y="645"/>
                    <a:pt x="1272" y="646"/>
                  </a:cubicBezTo>
                  <a:cubicBezTo>
                    <a:pt x="1271" y="647"/>
                    <a:pt x="1264" y="647"/>
                    <a:pt x="1266" y="652"/>
                  </a:cubicBezTo>
                  <a:cubicBezTo>
                    <a:pt x="1268" y="657"/>
                    <a:pt x="1272" y="664"/>
                    <a:pt x="1275" y="664"/>
                  </a:cubicBezTo>
                  <a:cubicBezTo>
                    <a:pt x="1277" y="665"/>
                    <a:pt x="1283" y="661"/>
                    <a:pt x="1286" y="661"/>
                  </a:cubicBezTo>
                  <a:cubicBezTo>
                    <a:pt x="1289" y="661"/>
                    <a:pt x="1293" y="657"/>
                    <a:pt x="1300" y="661"/>
                  </a:cubicBezTo>
                  <a:cubicBezTo>
                    <a:pt x="1308" y="665"/>
                    <a:pt x="1313" y="667"/>
                    <a:pt x="1315" y="667"/>
                  </a:cubicBezTo>
                  <a:cubicBezTo>
                    <a:pt x="1317" y="668"/>
                    <a:pt x="1328" y="671"/>
                    <a:pt x="1324" y="672"/>
                  </a:cubicBezTo>
                  <a:cubicBezTo>
                    <a:pt x="1319" y="673"/>
                    <a:pt x="1310" y="675"/>
                    <a:pt x="1303" y="677"/>
                  </a:cubicBezTo>
                  <a:cubicBezTo>
                    <a:pt x="1297" y="679"/>
                    <a:pt x="1298" y="679"/>
                    <a:pt x="1296" y="682"/>
                  </a:cubicBezTo>
                  <a:cubicBezTo>
                    <a:pt x="1294" y="685"/>
                    <a:pt x="1290" y="690"/>
                    <a:pt x="1291" y="691"/>
                  </a:cubicBezTo>
                  <a:cubicBezTo>
                    <a:pt x="1292" y="693"/>
                    <a:pt x="1298" y="700"/>
                    <a:pt x="1298" y="700"/>
                  </a:cubicBezTo>
                  <a:cubicBezTo>
                    <a:pt x="1298" y="700"/>
                    <a:pt x="1321" y="723"/>
                    <a:pt x="1319" y="729"/>
                  </a:cubicBezTo>
                  <a:cubicBezTo>
                    <a:pt x="1318" y="735"/>
                    <a:pt x="1319" y="740"/>
                    <a:pt x="1317" y="743"/>
                  </a:cubicBezTo>
                  <a:cubicBezTo>
                    <a:pt x="1316" y="746"/>
                    <a:pt x="1317" y="745"/>
                    <a:pt x="1320" y="750"/>
                  </a:cubicBezTo>
                  <a:cubicBezTo>
                    <a:pt x="1323" y="755"/>
                    <a:pt x="1311" y="784"/>
                    <a:pt x="1311" y="784"/>
                  </a:cubicBezTo>
                  <a:cubicBezTo>
                    <a:pt x="1311" y="784"/>
                    <a:pt x="1295" y="815"/>
                    <a:pt x="1293" y="816"/>
                  </a:cubicBezTo>
                  <a:cubicBezTo>
                    <a:pt x="1291" y="818"/>
                    <a:pt x="1289" y="828"/>
                    <a:pt x="1280" y="830"/>
                  </a:cubicBezTo>
                  <a:cubicBezTo>
                    <a:pt x="1271" y="831"/>
                    <a:pt x="1267" y="832"/>
                    <a:pt x="1262" y="832"/>
                  </a:cubicBezTo>
                  <a:cubicBezTo>
                    <a:pt x="1256" y="833"/>
                    <a:pt x="1244" y="838"/>
                    <a:pt x="1234" y="841"/>
                  </a:cubicBezTo>
                  <a:cubicBezTo>
                    <a:pt x="1224" y="845"/>
                    <a:pt x="1219" y="843"/>
                    <a:pt x="1218" y="844"/>
                  </a:cubicBezTo>
                  <a:cubicBezTo>
                    <a:pt x="1216" y="846"/>
                    <a:pt x="1224" y="852"/>
                    <a:pt x="1216" y="846"/>
                  </a:cubicBezTo>
                  <a:cubicBezTo>
                    <a:pt x="1209" y="840"/>
                    <a:pt x="1217" y="837"/>
                    <a:pt x="1208" y="838"/>
                  </a:cubicBezTo>
                  <a:cubicBezTo>
                    <a:pt x="1199" y="840"/>
                    <a:pt x="1187" y="843"/>
                    <a:pt x="1186" y="848"/>
                  </a:cubicBezTo>
                  <a:cubicBezTo>
                    <a:pt x="1184" y="853"/>
                    <a:pt x="1180" y="861"/>
                    <a:pt x="1183" y="863"/>
                  </a:cubicBezTo>
                  <a:cubicBezTo>
                    <a:pt x="1186" y="866"/>
                    <a:pt x="1176" y="856"/>
                    <a:pt x="1199" y="880"/>
                  </a:cubicBezTo>
                  <a:cubicBezTo>
                    <a:pt x="1222" y="904"/>
                    <a:pt x="1232" y="914"/>
                    <a:pt x="1228" y="923"/>
                  </a:cubicBezTo>
                  <a:cubicBezTo>
                    <a:pt x="1223" y="931"/>
                    <a:pt x="1226" y="940"/>
                    <a:pt x="1216" y="946"/>
                  </a:cubicBezTo>
                  <a:cubicBezTo>
                    <a:pt x="1207" y="952"/>
                    <a:pt x="1211" y="949"/>
                    <a:pt x="1203" y="956"/>
                  </a:cubicBezTo>
                  <a:cubicBezTo>
                    <a:pt x="1195" y="963"/>
                    <a:pt x="1197" y="970"/>
                    <a:pt x="1192" y="965"/>
                  </a:cubicBezTo>
                  <a:cubicBezTo>
                    <a:pt x="1187" y="960"/>
                    <a:pt x="1186" y="960"/>
                    <a:pt x="1174" y="946"/>
                  </a:cubicBezTo>
                  <a:cubicBezTo>
                    <a:pt x="1162" y="933"/>
                    <a:pt x="1171" y="937"/>
                    <a:pt x="1158" y="931"/>
                  </a:cubicBezTo>
                  <a:cubicBezTo>
                    <a:pt x="1145" y="926"/>
                    <a:pt x="1140" y="922"/>
                    <a:pt x="1137" y="921"/>
                  </a:cubicBezTo>
                  <a:cubicBezTo>
                    <a:pt x="1134" y="920"/>
                    <a:pt x="1137" y="922"/>
                    <a:pt x="1134" y="929"/>
                  </a:cubicBezTo>
                  <a:cubicBezTo>
                    <a:pt x="1131" y="935"/>
                    <a:pt x="1126" y="945"/>
                    <a:pt x="1129" y="950"/>
                  </a:cubicBezTo>
                  <a:cubicBezTo>
                    <a:pt x="1132" y="956"/>
                    <a:pt x="1135" y="962"/>
                    <a:pt x="1137" y="965"/>
                  </a:cubicBezTo>
                  <a:cubicBezTo>
                    <a:pt x="1138" y="968"/>
                    <a:pt x="1150" y="979"/>
                    <a:pt x="1154" y="981"/>
                  </a:cubicBezTo>
                  <a:cubicBezTo>
                    <a:pt x="1158" y="984"/>
                    <a:pt x="1189" y="999"/>
                    <a:pt x="1185" y="1007"/>
                  </a:cubicBezTo>
                  <a:cubicBezTo>
                    <a:pt x="1180" y="1015"/>
                    <a:pt x="1193" y="1027"/>
                    <a:pt x="1193" y="1027"/>
                  </a:cubicBezTo>
                  <a:cubicBezTo>
                    <a:pt x="1193" y="1027"/>
                    <a:pt x="1204" y="1034"/>
                    <a:pt x="1201" y="1035"/>
                  </a:cubicBezTo>
                  <a:cubicBezTo>
                    <a:pt x="1197" y="1036"/>
                    <a:pt x="1197" y="1038"/>
                    <a:pt x="1194" y="1038"/>
                  </a:cubicBezTo>
                  <a:cubicBezTo>
                    <a:pt x="1191" y="1038"/>
                    <a:pt x="1181" y="1029"/>
                    <a:pt x="1177" y="1027"/>
                  </a:cubicBezTo>
                  <a:cubicBezTo>
                    <a:pt x="1172" y="1025"/>
                    <a:pt x="1149" y="1007"/>
                    <a:pt x="1149" y="1007"/>
                  </a:cubicBezTo>
                  <a:cubicBezTo>
                    <a:pt x="1149" y="1007"/>
                    <a:pt x="1150" y="999"/>
                    <a:pt x="1146" y="995"/>
                  </a:cubicBezTo>
                  <a:cubicBezTo>
                    <a:pt x="1142" y="991"/>
                    <a:pt x="1140" y="990"/>
                    <a:pt x="1132" y="982"/>
                  </a:cubicBezTo>
                  <a:cubicBezTo>
                    <a:pt x="1124" y="975"/>
                    <a:pt x="1116" y="972"/>
                    <a:pt x="1116" y="961"/>
                  </a:cubicBezTo>
                  <a:cubicBezTo>
                    <a:pt x="1116" y="951"/>
                    <a:pt x="1116" y="935"/>
                    <a:pt x="1113" y="929"/>
                  </a:cubicBezTo>
                  <a:cubicBezTo>
                    <a:pt x="1111" y="923"/>
                    <a:pt x="1104" y="907"/>
                    <a:pt x="1104" y="905"/>
                  </a:cubicBezTo>
                  <a:cubicBezTo>
                    <a:pt x="1105" y="902"/>
                    <a:pt x="1102" y="888"/>
                    <a:pt x="1098" y="888"/>
                  </a:cubicBezTo>
                  <a:cubicBezTo>
                    <a:pt x="1094" y="887"/>
                    <a:pt x="1089" y="885"/>
                    <a:pt x="1086" y="889"/>
                  </a:cubicBezTo>
                  <a:cubicBezTo>
                    <a:pt x="1083" y="893"/>
                    <a:pt x="1076" y="897"/>
                    <a:pt x="1073" y="895"/>
                  </a:cubicBezTo>
                  <a:cubicBezTo>
                    <a:pt x="1069" y="893"/>
                    <a:pt x="1063" y="891"/>
                    <a:pt x="1063" y="891"/>
                  </a:cubicBezTo>
                  <a:cubicBezTo>
                    <a:pt x="1063" y="891"/>
                    <a:pt x="1058" y="870"/>
                    <a:pt x="1056" y="869"/>
                  </a:cubicBezTo>
                  <a:cubicBezTo>
                    <a:pt x="1054" y="868"/>
                    <a:pt x="1051" y="854"/>
                    <a:pt x="1044" y="849"/>
                  </a:cubicBezTo>
                  <a:cubicBezTo>
                    <a:pt x="1037" y="844"/>
                    <a:pt x="1029" y="838"/>
                    <a:pt x="1025" y="833"/>
                  </a:cubicBezTo>
                  <a:cubicBezTo>
                    <a:pt x="1020" y="828"/>
                    <a:pt x="1025" y="827"/>
                    <a:pt x="1020" y="828"/>
                  </a:cubicBezTo>
                  <a:cubicBezTo>
                    <a:pt x="1015" y="829"/>
                    <a:pt x="1016" y="830"/>
                    <a:pt x="1009" y="831"/>
                  </a:cubicBezTo>
                  <a:cubicBezTo>
                    <a:pt x="1001" y="833"/>
                    <a:pt x="993" y="836"/>
                    <a:pt x="991" y="836"/>
                  </a:cubicBezTo>
                  <a:cubicBezTo>
                    <a:pt x="989" y="836"/>
                    <a:pt x="980" y="837"/>
                    <a:pt x="980" y="840"/>
                  </a:cubicBezTo>
                  <a:cubicBezTo>
                    <a:pt x="979" y="842"/>
                    <a:pt x="980" y="849"/>
                    <a:pt x="982" y="851"/>
                  </a:cubicBezTo>
                  <a:cubicBezTo>
                    <a:pt x="983" y="853"/>
                    <a:pt x="994" y="851"/>
                    <a:pt x="976" y="858"/>
                  </a:cubicBezTo>
                  <a:cubicBezTo>
                    <a:pt x="958" y="864"/>
                    <a:pt x="953" y="872"/>
                    <a:pt x="952" y="874"/>
                  </a:cubicBezTo>
                  <a:cubicBezTo>
                    <a:pt x="951" y="877"/>
                    <a:pt x="963" y="878"/>
                    <a:pt x="950" y="883"/>
                  </a:cubicBezTo>
                  <a:cubicBezTo>
                    <a:pt x="937" y="887"/>
                    <a:pt x="926" y="890"/>
                    <a:pt x="920" y="899"/>
                  </a:cubicBezTo>
                  <a:cubicBezTo>
                    <a:pt x="919" y="901"/>
                    <a:pt x="925" y="941"/>
                    <a:pt x="920" y="950"/>
                  </a:cubicBezTo>
                  <a:cubicBezTo>
                    <a:pt x="914" y="959"/>
                    <a:pt x="902" y="969"/>
                    <a:pt x="902" y="969"/>
                  </a:cubicBezTo>
                  <a:cubicBezTo>
                    <a:pt x="902" y="969"/>
                    <a:pt x="905" y="978"/>
                    <a:pt x="886" y="964"/>
                  </a:cubicBezTo>
                  <a:cubicBezTo>
                    <a:pt x="868" y="951"/>
                    <a:pt x="884" y="963"/>
                    <a:pt x="884" y="963"/>
                  </a:cubicBezTo>
                  <a:cubicBezTo>
                    <a:pt x="884" y="963"/>
                    <a:pt x="876" y="937"/>
                    <a:pt x="869" y="930"/>
                  </a:cubicBezTo>
                  <a:cubicBezTo>
                    <a:pt x="863" y="923"/>
                    <a:pt x="851" y="908"/>
                    <a:pt x="848" y="897"/>
                  </a:cubicBezTo>
                  <a:cubicBezTo>
                    <a:pt x="844" y="886"/>
                    <a:pt x="840" y="879"/>
                    <a:pt x="838" y="872"/>
                  </a:cubicBezTo>
                  <a:cubicBezTo>
                    <a:pt x="837" y="866"/>
                    <a:pt x="835" y="849"/>
                    <a:pt x="836" y="848"/>
                  </a:cubicBezTo>
                  <a:cubicBezTo>
                    <a:pt x="836" y="846"/>
                    <a:pt x="832" y="834"/>
                    <a:pt x="832" y="834"/>
                  </a:cubicBezTo>
                  <a:cubicBezTo>
                    <a:pt x="832" y="834"/>
                    <a:pt x="827" y="832"/>
                    <a:pt x="827" y="834"/>
                  </a:cubicBezTo>
                  <a:cubicBezTo>
                    <a:pt x="826" y="836"/>
                    <a:pt x="826" y="840"/>
                    <a:pt x="826" y="844"/>
                  </a:cubicBezTo>
                  <a:cubicBezTo>
                    <a:pt x="825" y="847"/>
                    <a:pt x="811" y="848"/>
                    <a:pt x="811" y="848"/>
                  </a:cubicBezTo>
                  <a:cubicBezTo>
                    <a:pt x="806" y="845"/>
                    <a:pt x="806" y="845"/>
                    <a:pt x="806" y="845"/>
                  </a:cubicBezTo>
                  <a:cubicBezTo>
                    <a:pt x="806" y="845"/>
                    <a:pt x="785" y="823"/>
                    <a:pt x="782" y="820"/>
                  </a:cubicBezTo>
                  <a:cubicBezTo>
                    <a:pt x="779" y="816"/>
                    <a:pt x="775" y="811"/>
                    <a:pt x="770" y="808"/>
                  </a:cubicBezTo>
                  <a:cubicBezTo>
                    <a:pt x="765" y="805"/>
                    <a:pt x="769" y="802"/>
                    <a:pt x="759" y="802"/>
                  </a:cubicBezTo>
                  <a:cubicBezTo>
                    <a:pt x="750" y="802"/>
                    <a:pt x="751" y="802"/>
                    <a:pt x="735" y="801"/>
                  </a:cubicBezTo>
                  <a:cubicBezTo>
                    <a:pt x="719" y="799"/>
                    <a:pt x="715" y="804"/>
                    <a:pt x="708" y="803"/>
                  </a:cubicBezTo>
                  <a:cubicBezTo>
                    <a:pt x="701" y="801"/>
                    <a:pt x="699" y="803"/>
                    <a:pt x="684" y="800"/>
                  </a:cubicBezTo>
                  <a:cubicBezTo>
                    <a:pt x="668" y="797"/>
                    <a:pt x="668" y="797"/>
                    <a:pt x="668" y="797"/>
                  </a:cubicBezTo>
                  <a:cubicBezTo>
                    <a:pt x="668" y="797"/>
                    <a:pt x="666" y="793"/>
                    <a:pt x="663" y="789"/>
                  </a:cubicBezTo>
                  <a:cubicBezTo>
                    <a:pt x="661" y="785"/>
                    <a:pt x="661" y="785"/>
                    <a:pt x="661" y="785"/>
                  </a:cubicBezTo>
                  <a:cubicBezTo>
                    <a:pt x="657" y="788"/>
                    <a:pt x="657" y="788"/>
                    <a:pt x="657" y="788"/>
                  </a:cubicBezTo>
                  <a:cubicBezTo>
                    <a:pt x="657" y="788"/>
                    <a:pt x="654" y="789"/>
                    <a:pt x="652" y="789"/>
                  </a:cubicBezTo>
                  <a:cubicBezTo>
                    <a:pt x="650" y="788"/>
                    <a:pt x="629" y="783"/>
                    <a:pt x="625" y="782"/>
                  </a:cubicBezTo>
                  <a:cubicBezTo>
                    <a:pt x="622" y="781"/>
                    <a:pt x="622" y="784"/>
                    <a:pt x="608" y="774"/>
                  </a:cubicBezTo>
                  <a:cubicBezTo>
                    <a:pt x="594" y="763"/>
                    <a:pt x="599" y="759"/>
                    <a:pt x="599" y="759"/>
                  </a:cubicBezTo>
                  <a:cubicBezTo>
                    <a:pt x="599" y="759"/>
                    <a:pt x="596" y="756"/>
                    <a:pt x="592" y="754"/>
                  </a:cubicBezTo>
                  <a:cubicBezTo>
                    <a:pt x="589" y="752"/>
                    <a:pt x="584" y="749"/>
                    <a:pt x="582" y="749"/>
                  </a:cubicBezTo>
                  <a:cubicBezTo>
                    <a:pt x="581" y="750"/>
                    <a:pt x="572" y="754"/>
                    <a:pt x="574" y="758"/>
                  </a:cubicBezTo>
                  <a:cubicBezTo>
                    <a:pt x="576" y="762"/>
                    <a:pt x="589" y="775"/>
                    <a:pt x="590" y="775"/>
                  </a:cubicBezTo>
                  <a:cubicBezTo>
                    <a:pt x="591" y="775"/>
                    <a:pt x="608" y="794"/>
                    <a:pt x="608" y="794"/>
                  </a:cubicBezTo>
                  <a:cubicBezTo>
                    <a:pt x="615" y="803"/>
                    <a:pt x="615" y="803"/>
                    <a:pt x="615" y="803"/>
                  </a:cubicBezTo>
                  <a:cubicBezTo>
                    <a:pt x="615" y="803"/>
                    <a:pt x="609" y="808"/>
                    <a:pt x="615" y="807"/>
                  </a:cubicBezTo>
                  <a:cubicBezTo>
                    <a:pt x="621" y="806"/>
                    <a:pt x="616" y="805"/>
                    <a:pt x="625" y="806"/>
                  </a:cubicBezTo>
                  <a:cubicBezTo>
                    <a:pt x="634" y="807"/>
                    <a:pt x="639" y="809"/>
                    <a:pt x="642" y="806"/>
                  </a:cubicBezTo>
                  <a:cubicBezTo>
                    <a:pt x="645" y="804"/>
                    <a:pt x="640" y="801"/>
                    <a:pt x="647" y="798"/>
                  </a:cubicBezTo>
                  <a:cubicBezTo>
                    <a:pt x="654" y="795"/>
                    <a:pt x="660" y="796"/>
                    <a:pt x="661" y="797"/>
                  </a:cubicBezTo>
                  <a:cubicBezTo>
                    <a:pt x="662" y="799"/>
                    <a:pt x="666" y="803"/>
                    <a:pt x="667" y="805"/>
                  </a:cubicBezTo>
                  <a:cubicBezTo>
                    <a:pt x="667" y="807"/>
                    <a:pt x="669" y="812"/>
                    <a:pt x="672" y="812"/>
                  </a:cubicBezTo>
                  <a:cubicBezTo>
                    <a:pt x="674" y="813"/>
                    <a:pt x="680" y="812"/>
                    <a:pt x="681" y="816"/>
                  </a:cubicBezTo>
                  <a:cubicBezTo>
                    <a:pt x="682" y="819"/>
                    <a:pt x="689" y="825"/>
                    <a:pt x="689" y="825"/>
                  </a:cubicBezTo>
                  <a:cubicBezTo>
                    <a:pt x="689" y="825"/>
                    <a:pt x="691" y="826"/>
                    <a:pt x="695" y="827"/>
                  </a:cubicBezTo>
                  <a:cubicBezTo>
                    <a:pt x="699" y="829"/>
                    <a:pt x="710" y="835"/>
                    <a:pt x="710" y="835"/>
                  </a:cubicBezTo>
                  <a:cubicBezTo>
                    <a:pt x="707" y="837"/>
                    <a:pt x="702" y="846"/>
                    <a:pt x="698" y="846"/>
                  </a:cubicBezTo>
                  <a:cubicBezTo>
                    <a:pt x="695" y="846"/>
                    <a:pt x="696" y="845"/>
                    <a:pt x="688" y="850"/>
                  </a:cubicBezTo>
                  <a:cubicBezTo>
                    <a:pt x="680" y="854"/>
                    <a:pt x="684" y="864"/>
                    <a:pt x="680" y="865"/>
                  </a:cubicBezTo>
                  <a:cubicBezTo>
                    <a:pt x="676" y="866"/>
                    <a:pt x="670" y="874"/>
                    <a:pt x="667" y="876"/>
                  </a:cubicBezTo>
                  <a:cubicBezTo>
                    <a:pt x="664" y="877"/>
                    <a:pt x="644" y="885"/>
                    <a:pt x="642" y="884"/>
                  </a:cubicBezTo>
                  <a:cubicBezTo>
                    <a:pt x="640" y="884"/>
                    <a:pt x="635" y="887"/>
                    <a:pt x="633" y="887"/>
                  </a:cubicBezTo>
                  <a:cubicBezTo>
                    <a:pt x="632" y="887"/>
                    <a:pt x="633" y="892"/>
                    <a:pt x="632" y="893"/>
                  </a:cubicBezTo>
                  <a:cubicBezTo>
                    <a:pt x="630" y="894"/>
                    <a:pt x="638" y="899"/>
                    <a:pt x="626" y="901"/>
                  </a:cubicBezTo>
                  <a:cubicBezTo>
                    <a:pt x="615" y="902"/>
                    <a:pt x="607" y="906"/>
                    <a:pt x="605" y="906"/>
                  </a:cubicBezTo>
                  <a:cubicBezTo>
                    <a:pt x="602" y="907"/>
                    <a:pt x="597" y="918"/>
                    <a:pt x="588" y="917"/>
                  </a:cubicBezTo>
                  <a:cubicBezTo>
                    <a:pt x="579" y="916"/>
                    <a:pt x="583" y="916"/>
                    <a:pt x="575" y="917"/>
                  </a:cubicBezTo>
                  <a:cubicBezTo>
                    <a:pt x="567" y="917"/>
                    <a:pt x="566" y="920"/>
                    <a:pt x="558" y="921"/>
                  </a:cubicBezTo>
                  <a:cubicBezTo>
                    <a:pt x="550" y="922"/>
                    <a:pt x="545" y="923"/>
                    <a:pt x="545" y="923"/>
                  </a:cubicBezTo>
                  <a:lnTo>
                    <a:pt x="541" y="926"/>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54" name="Freeform 142"/>
            <p:cNvSpPr/>
            <p:nvPr/>
          </p:nvSpPr>
          <p:spPr>
            <a:xfrm>
              <a:off x="608607" y="92119"/>
              <a:ext cx="318969" cy="202951"/>
            </a:xfrm>
            <a:custGeom>
              <a:avLst/>
              <a:gdLst>
                <a:gd name="txL" fmla="*/ 0 w 155"/>
                <a:gd name="txT" fmla="*/ 0 h 84"/>
                <a:gd name="txR" fmla="*/ 155 w 155"/>
                <a:gd name="txB" fmla="*/ 84 h 84"/>
              </a:gdLst>
              <a:ahLst/>
              <a:cxnLst>
                <a:cxn ang="0">
                  <a:pos x="83" y="44"/>
                </a:cxn>
                <a:cxn ang="0">
                  <a:pos x="72" y="57"/>
                </a:cxn>
                <a:cxn ang="0">
                  <a:pos x="60" y="78"/>
                </a:cxn>
                <a:cxn ang="0">
                  <a:pos x="52" y="81"/>
                </a:cxn>
                <a:cxn ang="0">
                  <a:pos x="39" y="69"/>
                </a:cxn>
                <a:cxn ang="0">
                  <a:pos x="30" y="61"/>
                </a:cxn>
                <a:cxn ang="0">
                  <a:pos x="30" y="54"/>
                </a:cxn>
                <a:cxn ang="0">
                  <a:pos x="36" y="52"/>
                </a:cxn>
                <a:cxn ang="0">
                  <a:pos x="20" y="49"/>
                </a:cxn>
                <a:cxn ang="0">
                  <a:pos x="21" y="54"/>
                </a:cxn>
                <a:cxn ang="0">
                  <a:pos x="12" y="50"/>
                </a:cxn>
                <a:cxn ang="0">
                  <a:pos x="2" y="37"/>
                </a:cxn>
                <a:cxn ang="0">
                  <a:pos x="16" y="38"/>
                </a:cxn>
                <a:cxn ang="0">
                  <a:pos x="6" y="27"/>
                </a:cxn>
                <a:cxn ang="0">
                  <a:pos x="9" y="20"/>
                </a:cxn>
                <a:cxn ang="0">
                  <a:pos x="20" y="18"/>
                </a:cxn>
                <a:cxn ang="0">
                  <a:pos x="35" y="18"/>
                </a:cxn>
                <a:cxn ang="0">
                  <a:pos x="42" y="19"/>
                </a:cxn>
                <a:cxn ang="0">
                  <a:pos x="50" y="14"/>
                </a:cxn>
                <a:cxn ang="0">
                  <a:pos x="48" y="10"/>
                </a:cxn>
                <a:cxn ang="0">
                  <a:pos x="60" y="15"/>
                </a:cxn>
                <a:cxn ang="0">
                  <a:pos x="82" y="24"/>
                </a:cxn>
                <a:cxn ang="0">
                  <a:pos x="76" y="27"/>
                </a:cxn>
                <a:cxn ang="0">
                  <a:pos x="84" y="31"/>
                </a:cxn>
                <a:cxn ang="0">
                  <a:pos x="85" y="21"/>
                </a:cxn>
                <a:cxn ang="0">
                  <a:pos x="75" y="14"/>
                </a:cxn>
                <a:cxn ang="0">
                  <a:pos x="67" y="7"/>
                </a:cxn>
                <a:cxn ang="0">
                  <a:pos x="76" y="2"/>
                </a:cxn>
                <a:cxn ang="0">
                  <a:pos x="95" y="4"/>
                </a:cxn>
                <a:cxn ang="0">
                  <a:pos x="110" y="8"/>
                </a:cxn>
                <a:cxn ang="0">
                  <a:pos x="116" y="4"/>
                </a:cxn>
                <a:cxn ang="0">
                  <a:pos x="139" y="8"/>
                </a:cxn>
                <a:cxn ang="0">
                  <a:pos x="148" y="11"/>
                </a:cxn>
                <a:cxn ang="0">
                  <a:pos x="151" y="19"/>
                </a:cxn>
                <a:cxn ang="0">
                  <a:pos x="140" y="26"/>
                </a:cxn>
                <a:cxn ang="0">
                  <a:pos x="116" y="29"/>
                </a:cxn>
                <a:cxn ang="0">
                  <a:pos x="99" y="31"/>
                </a:cxn>
                <a:cxn ang="0">
                  <a:pos x="103" y="42"/>
                </a:cxn>
                <a:cxn ang="0">
                  <a:pos x="108" y="43"/>
                </a:cxn>
                <a:cxn ang="0">
                  <a:pos x="128" y="60"/>
                </a:cxn>
                <a:cxn ang="0">
                  <a:pos x="122" y="62"/>
                </a:cxn>
                <a:cxn ang="0">
                  <a:pos x="117" y="67"/>
                </a:cxn>
                <a:cxn ang="0">
                  <a:pos x="101" y="71"/>
                </a:cxn>
                <a:cxn ang="0">
                  <a:pos x="93" y="68"/>
                </a:cxn>
                <a:cxn ang="0">
                  <a:pos x="97" y="55"/>
                </a:cxn>
                <a:cxn ang="0">
                  <a:pos x="88" y="48"/>
                </a:cxn>
                <a:cxn ang="0">
                  <a:pos x="83" y="44"/>
                </a:cxn>
              </a:cxnLst>
              <a:rect l="txL" t="txT" r="txR" b="txB"/>
              <a:pathLst>
                <a:path w="155" h="84">
                  <a:moveTo>
                    <a:pt x="83" y="44"/>
                  </a:moveTo>
                  <a:cubicBezTo>
                    <a:pt x="79" y="52"/>
                    <a:pt x="78" y="55"/>
                    <a:pt x="72" y="57"/>
                  </a:cubicBezTo>
                  <a:cubicBezTo>
                    <a:pt x="66" y="59"/>
                    <a:pt x="60" y="78"/>
                    <a:pt x="60" y="78"/>
                  </a:cubicBezTo>
                  <a:cubicBezTo>
                    <a:pt x="60" y="78"/>
                    <a:pt x="55" y="84"/>
                    <a:pt x="52" y="81"/>
                  </a:cubicBezTo>
                  <a:cubicBezTo>
                    <a:pt x="49" y="78"/>
                    <a:pt x="43" y="74"/>
                    <a:pt x="39" y="69"/>
                  </a:cubicBezTo>
                  <a:cubicBezTo>
                    <a:pt x="35" y="64"/>
                    <a:pt x="32" y="63"/>
                    <a:pt x="30" y="61"/>
                  </a:cubicBezTo>
                  <a:cubicBezTo>
                    <a:pt x="29" y="59"/>
                    <a:pt x="24" y="54"/>
                    <a:pt x="30" y="54"/>
                  </a:cubicBezTo>
                  <a:cubicBezTo>
                    <a:pt x="35" y="54"/>
                    <a:pt x="40" y="55"/>
                    <a:pt x="36" y="52"/>
                  </a:cubicBezTo>
                  <a:cubicBezTo>
                    <a:pt x="32" y="48"/>
                    <a:pt x="21" y="46"/>
                    <a:pt x="20" y="49"/>
                  </a:cubicBezTo>
                  <a:cubicBezTo>
                    <a:pt x="20" y="52"/>
                    <a:pt x="24" y="53"/>
                    <a:pt x="21" y="54"/>
                  </a:cubicBezTo>
                  <a:cubicBezTo>
                    <a:pt x="17" y="54"/>
                    <a:pt x="18" y="55"/>
                    <a:pt x="12" y="50"/>
                  </a:cubicBezTo>
                  <a:cubicBezTo>
                    <a:pt x="6" y="45"/>
                    <a:pt x="0" y="38"/>
                    <a:pt x="2" y="37"/>
                  </a:cubicBezTo>
                  <a:cubicBezTo>
                    <a:pt x="4" y="35"/>
                    <a:pt x="22" y="45"/>
                    <a:pt x="16" y="38"/>
                  </a:cubicBezTo>
                  <a:cubicBezTo>
                    <a:pt x="10" y="30"/>
                    <a:pt x="6" y="27"/>
                    <a:pt x="6" y="27"/>
                  </a:cubicBezTo>
                  <a:cubicBezTo>
                    <a:pt x="6" y="27"/>
                    <a:pt x="6" y="25"/>
                    <a:pt x="9" y="20"/>
                  </a:cubicBezTo>
                  <a:cubicBezTo>
                    <a:pt x="12" y="15"/>
                    <a:pt x="20" y="18"/>
                    <a:pt x="20" y="18"/>
                  </a:cubicBezTo>
                  <a:cubicBezTo>
                    <a:pt x="20" y="18"/>
                    <a:pt x="33" y="17"/>
                    <a:pt x="35" y="18"/>
                  </a:cubicBezTo>
                  <a:cubicBezTo>
                    <a:pt x="37" y="18"/>
                    <a:pt x="36" y="21"/>
                    <a:pt x="42" y="19"/>
                  </a:cubicBezTo>
                  <a:cubicBezTo>
                    <a:pt x="47" y="17"/>
                    <a:pt x="52" y="18"/>
                    <a:pt x="50" y="14"/>
                  </a:cubicBezTo>
                  <a:cubicBezTo>
                    <a:pt x="48" y="10"/>
                    <a:pt x="48" y="10"/>
                    <a:pt x="48" y="10"/>
                  </a:cubicBezTo>
                  <a:cubicBezTo>
                    <a:pt x="48" y="10"/>
                    <a:pt x="54" y="16"/>
                    <a:pt x="60" y="15"/>
                  </a:cubicBezTo>
                  <a:cubicBezTo>
                    <a:pt x="66" y="14"/>
                    <a:pt x="85" y="21"/>
                    <a:pt x="82" y="24"/>
                  </a:cubicBezTo>
                  <a:cubicBezTo>
                    <a:pt x="78" y="27"/>
                    <a:pt x="74" y="26"/>
                    <a:pt x="76" y="27"/>
                  </a:cubicBezTo>
                  <a:cubicBezTo>
                    <a:pt x="77" y="28"/>
                    <a:pt x="79" y="29"/>
                    <a:pt x="84" y="31"/>
                  </a:cubicBezTo>
                  <a:cubicBezTo>
                    <a:pt x="89" y="32"/>
                    <a:pt x="91" y="27"/>
                    <a:pt x="85" y="21"/>
                  </a:cubicBezTo>
                  <a:cubicBezTo>
                    <a:pt x="80" y="16"/>
                    <a:pt x="75" y="14"/>
                    <a:pt x="75" y="14"/>
                  </a:cubicBezTo>
                  <a:cubicBezTo>
                    <a:pt x="75" y="14"/>
                    <a:pt x="68" y="9"/>
                    <a:pt x="67" y="7"/>
                  </a:cubicBezTo>
                  <a:cubicBezTo>
                    <a:pt x="67" y="5"/>
                    <a:pt x="73" y="3"/>
                    <a:pt x="76" y="2"/>
                  </a:cubicBezTo>
                  <a:cubicBezTo>
                    <a:pt x="79" y="0"/>
                    <a:pt x="91" y="6"/>
                    <a:pt x="95" y="4"/>
                  </a:cubicBezTo>
                  <a:cubicBezTo>
                    <a:pt x="100" y="2"/>
                    <a:pt x="110" y="9"/>
                    <a:pt x="110" y="8"/>
                  </a:cubicBezTo>
                  <a:cubicBezTo>
                    <a:pt x="109" y="6"/>
                    <a:pt x="102" y="4"/>
                    <a:pt x="116" y="4"/>
                  </a:cubicBezTo>
                  <a:cubicBezTo>
                    <a:pt x="130" y="3"/>
                    <a:pt x="135" y="7"/>
                    <a:pt x="139" y="8"/>
                  </a:cubicBezTo>
                  <a:cubicBezTo>
                    <a:pt x="142" y="9"/>
                    <a:pt x="146" y="12"/>
                    <a:pt x="148" y="11"/>
                  </a:cubicBezTo>
                  <a:cubicBezTo>
                    <a:pt x="149" y="11"/>
                    <a:pt x="155" y="18"/>
                    <a:pt x="151" y="19"/>
                  </a:cubicBezTo>
                  <a:cubicBezTo>
                    <a:pt x="148" y="19"/>
                    <a:pt x="147" y="28"/>
                    <a:pt x="140" y="26"/>
                  </a:cubicBezTo>
                  <a:cubicBezTo>
                    <a:pt x="133" y="24"/>
                    <a:pt x="136" y="31"/>
                    <a:pt x="116" y="29"/>
                  </a:cubicBezTo>
                  <a:cubicBezTo>
                    <a:pt x="97" y="27"/>
                    <a:pt x="98" y="26"/>
                    <a:pt x="99" y="31"/>
                  </a:cubicBezTo>
                  <a:cubicBezTo>
                    <a:pt x="100" y="35"/>
                    <a:pt x="103" y="42"/>
                    <a:pt x="103" y="42"/>
                  </a:cubicBezTo>
                  <a:cubicBezTo>
                    <a:pt x="108" y="43"/>
                    <a:pt x="108" y="43"/>
                    <a:pt x="108" y="43"/>
                  </a:cubicBezTo>
                  <a:cubicBezTo>
                    <a:pt x="108" y="43"/>
                    <a:pt x="129" y="60"/>
                    <a:pt x="128" y="60"/>
                  </a:cubicBezTo>
                  <a:cubicBezTo>
                    <a:pt x="127" y="60"/>
                    <a:pt x="126" y="61"/>
                    <a:pt x="122" y="62"/>
                  </a:cubicBezTo>
                  <a:cubicBezTo>
                    <a:pt x="119" y="62"/>
                    <a:pt x="117" y="63"/>
                    <a:pt x="117" y="67"/>
                  </a:cubicBezTo>
                  <a:cubicBezTo>
                    <a:pt x="118" y="71"/>
                    <a:pt x="106" y="74"/>
                    <a:pt x="101" y="71"/>
                  </a:cubicBezTo>
                  <a:cubicBezTo>
                    <a:pt x="96" y="68"/>
                    <a:pt x="95" y="70"/>
                    <a:pt x="93" y="68"/>
                  </a:cubicBezTo>
                  <a:cubicBezTo>
                    <a:pt x="90" y="66"/>
                    <a:pt x="100" y="57"/>
                    <a:pt x="97" y="55"/>
                  </a:cubicBezTo>
                  <a:cubicBezTo>
                    <a:pt x="93" y="52"/>
                    <a:pt x="90" y="49"/>
                    <a:pt x="88" y="48"/>
                  </a:cubicBezTo>
                  <a:cubicBezTo>
                    <a:pt x="87" y="47"/>
                    <a:pt x="83" y="44"/>
                    <a:pt x="83" y="44"/>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55" name="Freeform 143"/>
            <p:cNvSpPr/>
            <p:nvPr/>
          </p:nvSpPr>
          <p:spPr>
            <a:xfrm>
              <a:off x="1332091" y="267721"/>
              <a:ext cx="328746" cy="310903"/>
            </a:xfrm>
            <a:custGeom>
              <a:avLst/>
              <a:gdLst>
                <a:gd name="txL" fmla="*/ 0 w 160"/>
                <a:gd name="txT" fmla="*/ 0 h 128"/>
                <a:gd name="txR" fmla="*/ 160 w 160"/>
                <a:gd name="txB" fmla="*/ 128 h 128"/>
              </a:gdLst>
              <a:ahLst/>
              <a:cxnLst>
                <a:cxn ang="0">
                  <a:pos x="66" y="120"/>
                </a:cxn>
                <a:cxn ang="0">
                  <a:pos x="59" y="124"/>
                </a:cxn>
                <a:cxn ang="0">
                  <a:pos x="33" y="116"/>
                </a:cxn>
                <a:cxn ang="0">
                  <a:pos x="16" y="111"/>
                </a:cxn>
                <a:cxn ang="0">
                  <a:pos x="12" y="103"/>
                </a:cxn>
                <a:cxn ang="0">
                  <a:pos x="24" y="89"/>
                </a:cxn>
                <a:cxn ang="0">
                  <a:pos x="26" y="74"/>
                </a:cxn>
                <a:cxn ang="0">
                  <a:pos x="31" y="73"/>
                </a:cxn>
                <a:cxn ang="0">
                  <a:pos x="38" y="68"/>
                </a:cxn>
                <a:cxn ang="0">
                  <a:pos x="32" y="65"/>
                </a:cxn>
                <a:cxn ang="0">
                  <a:pos x="30" y="59"/>
                </a:cxn>
                <a:cxn ang="0">
                  <a:pos x="47" y="53"/>
                </a:cxn>
                <a:cxn ang="0">
                  <a:pos x="46" y="42"/>
                </a:cxn>
                <a:cxn ang="0">
                  <a:pos x="46" y="33"/>
                </a:cxn>
                <a:cxn ang="0">
                  <a:pos x="64" y="31"/>
                </a:cxn>
                <a:cxn ang="0">
                  <a:pos x="87" y="14"/>
                </a:cxn>
                <a:cxn ang="0">
                  <a:pos x="111" y="14"/>
                </a:cxn>
                <a:cxn ang="0">
                  <a:pos x="126" y="10"/>
                </a:cxn>
                <a:cxn ang="0">
                  <a:pos x="136" y="4"/>
                </a:cxn>
                <a:cxn ang="0">
                  <a:pos x="159" y="3"/>
                </a:cxn>
                <a:cxn ang="0">
                  <a:pos x="158" y="12"/>
                </a:cxn>
                <a:cxn ang="0">
                  <a:pos x="152" y="15"/>
                </a:cxn>
                <a:cxn ang="0">
                  <a:pos x="126" y="23"/>
                </a:cxn>
                <a:cxn ang="0">
                  <a:pos x="111" y="29"/>
                </a:cxn>
                <a:cxn ang="0">
                  <a:pos x="94" y="41"/>
                </a:cxn>
                <a:cxn ang="0">
                  <a:pos x="69" y="49"/>
                </a:cxn>
                <a:cxn ang="0">
                  <a:pos x="64" y="63"/>
                </a:cxn>
                <a:cxn ang="0">
                  <a:pos x="57" y="71"/>
                </a:cxn>
                <a:cxn ang="0">
                  <a:pos x="54" y="77"/>
                </a:cxn>
                <a:cxn ang="0">
                  <a:pos x="49" y="91"/>
                </a:cxn>
                <a:cxn ang="0">
                  <a:pos x="49" y="105"/>
                </a:cxn>
                <a:cxn ang="0">
                  <a:pos x="66" y="116"/>
                </a:cxn>
                <a:cxn ang="0">
                  <a:pos x="66" y="120"/>
                </a:cxn>
              </a:cxnLst>
              <a:rect l="txL" t="txT" r="txR" b="txB"/>
              <a:pathLst>
                <a:path w="160" h="128">
                  <a:moveTo>
                    <a:pt x="66" y="120"/>
                  </a:moveTo>
                  <a:cubicBezTo>
                    <a:pt x="64" y="122"/>
                    <a:pt x="72" y="128"/>
                    <a:pt x="59" y="124"/>
                  </a:cubicBezTo>
                  <a:cubicBezTo>
                    <a:pt x="46" y="120"/>
                    <a:pt x="37" y="123"/>
                    <a:pt x="33" y="116"/>
                  </a:cubicBezTo>
                  <a:cubicBezTo>
                    <a:pt x="30" y="109"/>
                    <a:pt x="20" y="115"/>
                    <a:pt x="16" y="111"/>
                  </a:cubicBezTo>
                  <a:cubicBezTo>
                    <a:pt x="12" y="106"/>
                    <a:pt x="0" y="116"/>
                    <a:pt x="12" y="103"/>
                  </a:cubicBezTo>
                  <a:cubicBezTo>
                    <a:pt x="24" y="89"/>
                    <a:pt x="23" y="98"/>
                    <a:pt x="24" y="89"/>
                  </a:cubicBezTo>
                  <a:cubicBezTo>
                    <a:pt x="25" y="81"/>
                    <a:pt x="26" y="74"/>
                    <a:pt x="26" y="74"/>
                  </a:cubicBezTo>
                  <a:cubicBezTo>
                    <a:pt x="26" y="74"/>
                    <a:pt x="27" y="71"/>
                    <a:pt x="31" y="73"/>
                  </a:cubicBezTo>
                  <a:cubicBezTo>
                    <a:pt x="35" y="74"/>
                    <a:pt x="39" y="69"/>
                    <a:pt x="38" y="68"/>
                  </a:cubicBezTo>
                  <a:cubicBezTo>
                    <a:pt x="36" y="68"/>
                    <a:pt x="35" y="68"/>
                    <a:pt x="32" y="65"/>
                  </a:cubicBezTo>
                  <a:cubicBezTo>
                    <a:pt x="30" y="62"/>
                    <a:pt x="25" y="60"/>
                    <a:pt x="30" y="59"/>
                  </a:cubicBezTo>
                  <a:cubicBezTo>
                    <a:pt x="34" y="58"/>
                    <a:pt x="48" y="56"/>
                    <a:pt x="47" y="53"/>
                  </a:cubicBezTo>
                  <a:cubicBezTo>
                    <a:pt x="47" y="50"/>
                    <a:pt x="46" y="42"/>
                    <a:pt x="46" y="42"/>
                  </a:cubicBezTo>
                  <a:cubicBezTo>
                    <a:pt x="46" y="42"/>
                    <a:pt x="44" y="33"/>
                    <a:pt x="46" y="33"/>
                  </a:cubicBezTo>
                  <a:cubicBezTo>
                    <a:pt x="48" y="32"/>
                    <a:pt x="61" y="33"/>
                    <a:pt x="64" y="31"/>
                  </a:cubicBezTo>
                  <a:cubicBezTo>
                    <a:pt x="66" y="29"/>
                    <a:pt x="83" y="16"/>
                    <a:pt x="87" y="14"/>
                  </a:cubicBezTo>
                  <a:cubicBezTo>
                    <a:pt x="90" y="12"/>
                    <a:pt x="109" y="14"/>
                    <a:pt x="111" y="14"/>
                  </a:cubicBezTo>
                  <a:cubicBezTo>
                    <a:pt x="113" y="14"/>
                    <a:pt x="123" y="13"/>
                    <a:pt x="126" y="10"/>
                  </a:cubicBezTo>
                  <a:cubicBezTo>
                    <a:pt x="130" y="8"/>
                    <a:pt x="131" y="7"/>
                    <a:pt x="136" y="4"/>
                  </a:cubicBezTo>
                  <a:cubicBezTo>
                    <a:pt x="140" y="0"/>
                    <a:pt x="159" y="1"/>
                    <a:pt x="159" y="3"/>
                  </a:cubicBezTo>
                  <a:cubicBezTo>
                    <a:pt x="160" y="6"/>
                    <a:pt x="158" y="12"/>
                    <a:pt x="158" y="12"/>
                  </a:cubicBezTo>
                  <a:cubicBezTo>
                    <a:pt x="158" y="12"/>
                    <a:pt x="157" y="11"/>
                    <a:pt x="152" y="15"/>
                  </a:cubicBezTo>
                  <a:cubicBezTo>
                    <a:pt x="148" y="20"/>
                    <a:pt x="131" y="22"/>
                    <a:pt x="126" y="23"/>
                  </a:cubicBezTo>
                  <a:cubicBezTo>
                    <a:pt x="121" y="24"/>
                    <a:pt x="122" y="26"/>
                    <a:pt x="111" y="29"/>
                  </a:cubicBezTo>
                  <a:cubicBezTo>
                    <a:pt x="101" y="32"/>
                    <a:pt x="108" y="39"/>
                    <a:pt x="94" y="41"/>
                  </a:cubicBezTo>
                  <a:cubicBezTo>
                    <a:pt x="81" y="44"/>
                    <a:pt x="73" y="44"/>
                    <a:pt x="69" y="49"/>
                  </a:cubicBezTo>
                  <a:cubicBezTo>
                    <a:pt x="66" y="55"/>
                    <a:pt x="66" y="61"/>
                    <a:pt x="64" y="63"/>
                  </a:cubicBezTo>
                  <a:cubicBezTo>
                    <a:pt x="62" y="65"/>
                    <a:pt x="57" y="69"/>
                    <a:pt x="57" y="71"/>
                  </a:cubicBezTo>
                  <a:cubicBezTo>
                    <a:pt x="58" y="73"/>
                    <a:pt x="54" y="77"/>
                    <a:pt x="54" y="77"/>
                  </a:cubicBezTo>
                  <a:cubicBezTo>
                    <a:pt x="54" y="77"/>
                    <a:pt x="52" y="89"/>
                    <a:pt x="49" y="91"/>
                  </a:cubicBezTo>
                  <a:cubicBezTo>
                    <a:pt x="47" y="92"/>
                    <a:pt x="44" y="98"/>
                    <a:pt x="49" y="105"/>
                  </a:cubicBezTo>
                  <a:cubicBezTo>
                    <a:pt x="54" y="111"/>
                    <a:pt x="66" y="116"/>
                    <a:pt x="66" y="116"/>
                  </a:cubicBezTo>
                  <a:lnTo>
                    <a:pt x="66" y="12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56" name="Freeform 144"/>
            <p:cNvSpPr/>
            <p:nvPr/>
          </p:nvSpPr>
          <p:spPr>
            <a:xfrm>
              <a:off x="1204993" y="54695"/>
              <a:ext cx="139320" cy="76287"/>
            </a:xfrm>
            <a:custGeom>
              <a:avLst/>
              <a:gdLst>
                <a:gd name="txL" fmla="*/ 0 w 68"/>
                <a:gd name="txT" fmla="*/ 0 h 31"/>
                <a:gd name="txR" fmla="*/ 68 w 68"/>
                <a:gd name="txB" fmla="*/ 31 h 31"/>
              </a:gdLst>
              <a:ahLst/>
              <a:cxnLst>
                <a:cxn ang="0">
                  <a:pos x="60" y="29"/>
                </a:cxn>
                <a:cxn ang="0">
                  <a:pos x="41" y="26"/>
                </a:cxn>
                <a:cxn ang="0">
                  <a:pos x="22" y="21"/>
                </a:cxn>
                <a:cxn ang="0">
                  <a:pos x="3" y="15"/>
                </a:cxn>
                <a:cxn ang="0">
                  <a:pos x="4" y="9"/>
                </a:cxn>
                <a:cxn ang="0">
                  <a:pos x="11" y="8"/>
                </a:cxn>
                <a:cxn ang="0">
                  <a:pos x="17" y="9"/>
                </a:cxn>
                <a:cxn ang="0">
                  <a:pos x="37" y="5"/>
                </a:cxn>
                <a:cxn ang="0">
                  <a:pos x="41" y="8"/>
                </a:cxn>
                <a:cxn ang="0">
                  <a:pos x="48" y="4"/>
                </a:cxn>
                <a:cxn ang="0">
                  <a:pos x="64" y="13"/>
                </a:cxn>
                <a:cxn ang="0">
                  <a:pos x="61" y="24"/>
                </a:cxn>
                <a:cxn ang="0">
                  <a:pos x="60" y="29"/>
                </a:cxn>
              </a:cxnLst>
              <a:rect l="txL" t="txT" r="txR" b="txB"/>
              <a:pathLst>
                <a:path w="68" h="31">
                  <a:moveTo>
                    <a:pt x="60" y="29"/>
                  </a:moveTo>
                  <a:cubicBezTo>
                    <a:pt x="50" y="27"/>
                    <a:pt x="51" y="31"/>
                    <a:pt x="41" y="26"/>
                  </a:cubicBezTo>
                  <a:cubicBezTo>
                    <a:pt x="31" y="20"/>
                    <a:pt x="33" y="20"/>
                    <a:pt x="22" y="21"/>
                  </a:cubicBezTo>
                  <a:cubicBezTo>
                    <a:pt x="10" y="22"/>
                    <a:pt x="6" y="19"/>
                    <a:pt x="3" y="15"/>
                  </a:cubicBezTo>
                  <a:cubicBezTo>
                    <a:pt x="0" y="10"/>
                    <a:pt x="0" y="10"/>
                    <a:pt x="4" y="9"/>
                  </a:cubicBezTo>
                  <a:cubicBezTo>
                    <a:pt x="7" y="8"/>
                    <a:pt x="6" y="7"/>
                    <a:pt x="11" y="8"/>
                  </a:cubicBezTo>
                  <a:cubicBezTo>
                    <a:pt x="17" y="9"/>
                    <a:pt x="4" y="18"/>
                    <a:pt x="17" y="9"/>
                  </a:cubicBezTo>
                  <a:cubicBezTo>
                    <a:pt x="30" y="0"/>
                    <a:pt x="37" y="5"/>
                    <a:pt x="37" y="5"/>
                  </a:cubicBezTo>
                  <a:cubicBezTo>
                    <a:pt x="37" y="5"/>
                    <a:pt x="36" y="11"/>
                    <a:pt x="41" y="8"/>
                  </a:cubicBezTo>
                  <a:cubicBezTo>
                    <a:pt x="47" y="6"/>
                    <a:pt x="48" y="4"/>
                    <a:pt x="48" y="4"/>
                  </a:cubicBezTo>
                  <a:cubicBezTo>
                    <a:pt x="48" y="4"/>
                    <a:pt x="68" y="10"/>
                    <a:pt x="64" y="13"/>
                  </a:cubicBezTo>
                  <a:cubicBezTo>
                    <a:pt x="59" y="17"/>
                    <a:pt x="61" y="24"/>
                    <a:pt x="61" y="24"/>
                  </a:cubicBezTo>
                  <a:lnTo>
                    <a:pt x="60" y="29"/>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57" name="Freeform 145"/>
            <p:cNvSpPr/>
            <p:nvPr/>
          </p:nvSpPr>
          <p:spPr>
            <a:xfrm>
              <a:off x="1350422" y="84923"/>
              <a:ext cx="59883" cy="28787"/>
            </a:xfrm>
            <a:custGeom>
              <a:avLst/>
              <a:gdLst>
                <a:gd name="txL" fmla="*/ 0 w 29"/>
                <a:gd name="txT" fmla="*/ 0 h 12"/>
                <a:gd name="txR" fmla="*/ 29 w 29"/>
                <a:gd name="txB" fmla="*/ 12 h 12"/>
              </a:gdLst>
              <a:ahLst/>
              <a:cxnLst>
                <a:cxn ang="0">
                  <a:pos x="21" y="10"/>
                </a:cxn>
                <a:cxn ang="0">
                  <a:pos x="9" y="12"/>
                </a:cxn>
                <a:cxn ang="0">
                  <a:pos x="1" y="9"/>
                </a:cxn>
                <a:cxn ang="0">
                  <a:pos x="5" y="6"/>
                </a:cxn>
                <a:cxn ang="0">
                  <a:pos x="12" y="5"/>
                </a:cxn>
                <a:cxn ang="0">
                  <a:pos x="13" y="0"/>
                </a:cxn>
                <a:cxn ang="0">
                  <a:pos x="24" y="2"/>
                </a:cxn>
                <a:cxn ang="0">
                  <a:pos x="27" y="7"/>
                </a:cxn>
                <a:cxn ang="0">
                  <a:pos x="21" y="10"/>
                </a:cxn>
              </a:cxnLst>
              <a:rect l="txL" t="txT" r="txR" b="txB"/>
              <a:pathLst>
                <a:path w="29" h="12">
                  <a:moveTo>
                    <a:pt x="21" y="10"/>
                  </a:moveTo>
                  <a:cubicBezTo>
                    <a:pt x="9" y="12"/>
                    <a:pt x="9" y="12"/>
                    <a:pt x="9" y="12"/>
                  </a:cubicBezTo>
                  <a:cubicBezTo>
                    <a:pt x="9" y="12"/>
                    <a:pt x="0" y="12"/>
                    <a:pt x="1" y="9"/>
                  </a:cubicBezTo>
                  <a:cubicBezTo>
                    <a:pt x="2" y="7"/>
                    <a:pt x="2" y="9"/>
                    <a:pt x="5" y="6"/>
                  </a:cubicBezTo>
                  <a:cubicBezTo>
                    <a:pt x="8" y="4"/>
                    <a:pt x="9" y="5"/>
                    <a:pt x="12" y="5"/>
                  </a:cubicBezTo>
                  <a:cubicBezTo>
                    <a:pt x="14" y="5"/>
                    <a:pt x="13" y="0"/>
                    <a:pt x="13" y="0"/>
                  </a:cubicBezTo>
                  <a:cubicBezTo>
                    <a:pt x="13" y="0"/>
                    <a:pt x="22" y="1"/>
                    <a:pt x="24" y="2"/>
                  </a:cubicBezTo>
                  <a:cubicBezTo>
                    <a:pt x="26" y="3"/>
                    <a:pt x="29" y="7"/>
                    <a:pt x="27" y="7"/>
                  </a:cubicBezTo>
                  <a:cubicBezTo>
                    <a:pt x="25" y="7"/>
                    <a:pt x="21" y="10"/>
                    <a:pt x="21" y="1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58" name="Freeform 146"/>
            <p:cNvSpPr/>
            <p:nvPr/>
          </p:nvSpPr>
          <p:spPr>
            <a:xfrm>
              <a:off x="1374864" y="18712"/>
              <a:ext cx="92880" cy="63332"/>
            </a:xfrm>
            <a:custGeom>
              <a:avLst/>
              <a:gdLst>
                <a:gd name="txL" fmla="*/ 0 w 45"/>
                <a:gd name="txT" fmla="*/ 0 h 26"/>
                <a:gd name="txR" fmla="*/ 45 w 45"/>
                <a:gd name="txB" fmla="*/ 26 h 26"/>
              </a:gdLst>
              <a:ahLst/>
              <a:cxnLst>
                <a:cxn ang="0">
                  <a:pos x="31" y="24"/>
                </a:cxn>
                <a:cxn ang="0">
                  <a:pos x="19" y="25"/>
                </a:cxn>
                <a:cxn ang="0">
                  <a:pos x="14" y="22"/>
                </a:cxn>
                <a:cxn ang="0">
                  <a:pos x="5" y="22"/>
                </a:cxn>
                <a:cxn ang="0">
                  <a:pos x="2" y="20"/>
                </a:cxn>
                <a:cxn ang="0">
                  <a:pos x="12" y="16"/>
                </a:cxn>
                <a:cxn ang="0">
                  <a:pos x="16" y="11"/>
                </a:cxn>
                <a:cxn ang="0">
                  <a:pos x="19" y="6"/>
                </a:cxn>
                <a:cxn ang="0">
                  <a:pos x="22" y="4"/>
                </a:cxn>
                <a:cxn ang="0">
                  <a:pos x="28" y="1"/>
                </a:cxn>
                <a:cxn ang="0">
                  <a:pos x="35" y="4"/>
                </a:cxn>
                <a:cxn ang="0">
                  <a:pos x="34" y="12"/>
                </a:cxn>
                <a:cxn ang="0">
                  <a:pos x="34" y="16"/>
                </a:cxn>
                <a:cxn ang="0">
                  <a:pos x="41" y="21"/>
                </a:cxn>
                <a:cxn ang="0">
                  <a:pos x="34" y="22"/>
                </a:cxn>
                <a:cxn ang="0">
                  <a:pos x="31" y="24"/>
                </a:cxn>
              </a:cxnLst>
              <a:rect l="txL" t="txT" r="txR" b="txB"/>
              <a:pathLst>
                <a:path w="45" h="26">
                  <a:moveTo>
                    <a:pt x="31" y="24"/>
                  </a:moveTo>
                  <a:cubicBezTo>
                    <a:pt x="29" y="24"/>
                    <a:pt x="22" y="26"/>
                    <a:pt x="19" y="25"/>
                  </a:cubicBezTo>
                  <a:cubicBezTo>
                    <a:pt x="17" y="24"/>
                    <a:pt x="17" y="22"/>
                    <a:pt x="14" y="22"/>
                  </a:cubicBezTo>
                  <a:cubicBezTo>
                    <a:pt x="10" y="21"/>
                    <a:pt x="5" y="22"/>
                    <a:pt x="5" y="22"/>
                  </a:cubicBezTo>
                  <a:cubicBezTo>
                    <a:pt x="5" y="22"/>
                    <a:pt x="0" y="25"/>
                    <a:pt x="2" y="20"/>
                  </a:cubicBezTo>
                  <a:cubicBezTo>
                    <a:pt x="5" y="15"/>
                    <a:pt x="11" y="17"/>
                    <a:pt x="12" y="16"/>
                  </a:cubicBezTo>
                  <a:cubicBezTo>
                    <a:pt x="12" y="14"/>
                    <a:pt x="13" y="13"/>
                    <a:pt x="16" y="11"/>
                  </a:cubicBezTo>
                  <a:cubicBezTo>
                    <a:pt x="19" y="8"/>
                    <a:pt x="15" y="9"/>
                    <a:pt x="19" y="6"/>
                  </a:cubicBezTo>
                  <a:cubicBezTo>
                    <a:pt x="22" y="4"/>
                    <a:pt x="22" y="4"/>
                    <a:pt x="22" y="4"/>
                  </a:cubicBezTo>
                  <a:cubicBezTo>
                    <a:pt x="22" y="4"/>
                    <a:pt x="25" y="0"/>
                    <a:pt x="28" y="1"/>
                  </a:cubicBezTo>
                  <a:cubicBezTo>
                    <a:pt x="32" y="2"/>
                    <a:pt x="35" y="4"/>
                    <a:pt x="35" y="4"/>
                  </a:cubicBezTo>
                  <a:cubicBezTo>
                    <a:pt x="35" y="4"/>
                    <a:pt x="36" y="12"/>
                    <a:pt x="34" y="12"/>
                  </a:cubicBezTo>
                  <a:cubicBezTo>
                    <a:pt x="32" y="12"/>
                    <a:pt x="34" y="16"/>
                    <a:pt x="34" y="16"/>
                  </a:cubicBezTo>
                  <a:cubicBezTo>
                    <a:pt x="34" y="16"/>
                    <a:pt x="45" y="20"/>
                    <a:pt x="41" y="21"/>
                  </a:cubicBezTo>
                  <a:cubicBezTo>
                    <a:pt x="37" y="22"/>
                    <a:pt x="34" y="22"/>
                    <a:pt x="34" y="22"/>
                  </a:cubicBezTo>
                  <a:lnTo>
                    <a:pt x="31" y="24"/>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59" name="Freeform 147"/>
            <p:cNvSpPr/>
            <p:nvPr/>
          </p:nvSpPr>
          <p:spPr>
            <a:xfrm>
              <a:off x="1416416" y="89240"/>
              <a:ext cx="57439" cy="25909"/>
            </a:xfrm>
            <a:custGeom>
              <a:avLst/>
              <a:gdLst>
                <a:gd name="txL" fmla="*/ 0 w 28"/>
                <a:gd name="txT" fmla="*/ 0 h 11"/>
                <a:gd name="txR" fmla="*/ 28 w 28"/>
                <a:gd name="txB" fmla="*/ 11 h 11"/>
              </a:gdLst>
              <a:ahLst/>
              <a:cxnLst>
                <a:cxn ang="0">
                  <a:pos x="1" y="10"/>
                </a:cxn>
                <a:cxn ang="0">
                  <a:pos x="9" y="9"/>
                </a:cxn>
                <a:cxn ang="0">
                  <a:pos x="16" y="7"/>
                </a:cxn>
                <a:cxn ang="0">
                  <a:pos x="25" y="3"/>
                </a:cxn>
                <a:cxn ang="0">
                  <a:pos x="17" y="2"/>
                </a:cxn>
                <a:cxn ang="0">
                  <a:pos x="5" y="1"/>
                </a:cxn>
                <a:cxn ang="0">
                  <a:pos x="0" y="7"/>
                </a:cxn>
                <a:cxn ang="0">
                  <a:pos x="1" y="10"/>
                </a:cxn>
              </a:cxnLst>
              <a:rect l="txL" t="txT" r="txR" b="txB"/>
              <a:pathLst>
                <a:path w="28" h="11">
                  <a:moveTo>
                    <a:pt x="1" y="10"/>
                  </a:moveTo>
                  <a:cubicBezTo>
                    <a:pt x="4" y="11"/>
                    <a:pt x="6" y="11"/>
                    <a:pt x="9" y="9"/>
                  </a:cubicBezTo>
                  <a:cubicBezTo>
                    <a:pt x="12" y="7"/>
                    <a:pt x="12" y="6"/>
                    <a:pt x="16" y="7"/>
                  </a:cubicBezTo>
                  <a:cubicBezTo>
                    <a:pt x="19" y="8"/>
                    <a:pt x="28" y="3"/>
                    <a:pt x="25" y="3"/>
                  </a:cubicBezTo>
                  <a:cubicBezTo>
                    <a:pt x="23" y="3"/>
                    <a:pt x="19" y="3"/>
                    <a:pt x="17" y="2"/>
                  </a:cubicBezTo>
                  <a:cubicBezTo>
                    <a:pt x="15" y="0"/>
                    <a:pt x="9" y="1"/>
                    <a:pt x="5" y="1"/>
                  </a:cubicBezTo>
                  <a:cubicBezTo>
                    <a:pt x="1" y="2"/>
                    <a:pt x="0" y="7"/>
                    <a:pt x="0" y="7"/>
                  </a:cubicBezTo>
                  <a:lnTo>
                    <a:pt x="1" y="1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0" name="Freeform 148"/>
            <p:cNvSpPr/>
            <p:nvPr/>
          </p:nvSpPr>
          <p:spPr>
            <a:xfrm>
              <a:off x="1471411" y="54695"/>
              <a:ext cx="53772" cy="60453"/>
            </a:xfrm>
            <a:custGeom>
              <a:avLst/>
              <a:gdLst>
                <a:gd name="txL" fmla="*/ 0 w 26"/>
                <a:gd name="txT" fmla="*/ 0 h 25"/>
                <a:gd name="txR" fmla="*/ 26 w 26"/>
                <a:gd name="txB" fmla="*/ 25 h 25"/>
              </a:gdLst>
              <a:ahLst/>
              <a:cxnLst>
                <a:cxn ang="0">
                  <a:pos x="9" y="18"/>
                </a:cxn>
                <a:cxn ang="0">
                  <a:pos x="13" y="21"/>
                </a:cxn>
                <a:cxn ang="0">
                  <a:pos x="21" y="16"/>
                </a:cxn>
                <a:cxn ang="0">
                  <a:pos x="26" y="10"/>
                </a:cxn>
                <a:cxn ang="0">
                  <a:pos x="20" y="4"/>
                </a:cxn>
                <a:cxn ang="0">
                  <a:pos x="15" y="1"/>
                </a:cxn>
                <a:cxn ang="0">
                  <a:pos x="8" y="10"/>
                </a:cxn>
                <a:cxn ang="0">
                  <a:pos x="2" y="11"/>
                </a:cxn>
                <a:cxn ang="0">
                  <a:pos x="9" y="17"/>
                </a:cxn>
                <a:cxn ang="0">
                  <a:pos x="9" y="18"/>
                </a:cxn>
              </a:cxnLst>
              <a:rect l="txL" t="txT" r="txR" b="txB"/>
              <a:pathLst>
                <a:path w="26" h="25">
                  <a:moveTo>
                    <a:pt x="9" y="18"/>
                  </a:moveTo>
                  <a:cubicBezTo>
                    <a:pt x="9" y="18"/>
                    <a:pt x="7" y="25"/>
                    <a:pt x="13" y="21"/>
                  </a:cubicBezTo>
                  <a:cubicBezTo>
                    <a:pt x="19" y="17"/>
                    <a:pt x="19" y="16"/>
                    <a:pt x="21" y="16"/>
                  </a:cubicBezTo>
                  <a:cubicBezTo>
                    <a:pt x="23" y="15"/>
                    <a:pt x="26" y="10"/>
                    <a:pt x="26" y="10"/>
                  </a:cubicBezTo>
                  <a:cubicBezTo>
                    <a:pt x="26" y="10"/>
                    <a:pt x="22" y="6"/>
                    <a:pt x="20" y="4"/>
                  </a:cubicBezTo>
                  <a:cubicBezTo>
                    <a:pt x="17" y="2"/>
                    <a:pt x="20" y="0"/>
                    <a:pt x="15" y="1"/>
                  </a:cubicBezTo>
                  <a:cubicBezTo>
                    <a:pt x="9" y="1"/>
                    <a:pt x="8" y="10"/>
                    <a:pt x="8" y="10"/>
                  </a:cubicBezTo>
                  <a:cubicBezTo>
                    <a:pt x="8" y="10"/>
                    <a:pt x="0" y="7"/>
                    <a:pt x="2" y="11"/>
                  </a:cubicBezTo>
                  <a:cubicBezTo>
                    <a:pt x="4" y="15"/>
                    <a:pt x="9" y="17"/>
                    <a:pt x="9" y="17"/>
                  </a:cubicBezTo>
                  <a:lnTo>
                    <a:pt x="9" y="18"/>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1" name="Freeform 149"/>
            <p:cNvSpPr/>
            <p:nvPr/>
          </p:nvSpPr>
          <p:spPr>
            <a:xfrm>
              <a:off x="1440858" y="113710"/>
              <a:ext cx="43996" cy="17272"/>
            </a:xfrm>
            <a:custGeom>
              <a:avLst/>
              <a:gdLst>
                <a:gd name="txL" fmla="*/ 0 w 21"/>
                <a:gd name="txT" fmla="*/ 0 h 7"/>
                <a:gd name="txR" fmla="*/ 21 w 21"/>
                <a:gd name="txB" fmla="*/ 7 h 7"/>
              </a:gdLst>
              <a:ahLst/>
              <a:cxnLst>
                <a:cxn ang="0">
                  <a:pos x="9" y="0"/>
                </a:cxn>
                <a:cxn ang="0">
                  <a:pos x="4" y="5"/>
                </a:cxn>
                <a:cxn ang="0">
                  <a:pos x="15" y="7"/>
                </a:cxn>
                <a:cxn ang="0">
                  <a:pos x="20" y="5"/>
                </a:cxn>
                <a:cxn ang="0">
                  <a:pos x="15" y="0"/>
                </a:cxn>
                <a:cxn ang="0">
                  <a:pos x="9" y="0"/>
                </a:cxn>
              </a:cxnLst>
              <a:rect l="txL" t="txT" r="txR" b="txB"/>
              <a:pathLst>
                <a:path w="21" h="7">
                  <a:moveTo>
                    <a:pt x="9" y="0"/>
                  </a:moveTo>
                  <a:cubicBezTo>
                    <a:pt x="7" y="0"/>
                    <a:pt x="0" y="3"/>
                    <a:pt x="4" y="5"/>
                  </a:cubicBezTo>
                  <a:cubicBezTo>
                    <a:pt x="8" y="7"/>
                    <a:pt x="14" y="7"/>
                    <a:pt x="15" y="7"/>
                  </a:cubicBezTo>
                  <a:cubicBezTo>
                    <a:pt x="17" y="7"/>
                    <a:pt x="20" y="7"/>
                    <a:pt x="20" y="5"/>
                  </a:cubicBezTo>
                  <a:cubicBezTo>
                    <a:pt x="21" y="3"/>
                    <a:pt x="15" y="0"/>
                    <a:pt x="15" y="0"/>
                  </a:cubicBezTo>
                  <a:lnTo>
                    <a:pt x="9" y="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2" name="Freeform 150"/>
            <p:cNvSpPr/>
            <p:nvPr/>
          </p:nvSpPr>
          <p:spPr>
            <a:xfrm>
              <a:off x="1440858" y="0"/>
              <a:ext cx="26886" cy="21591"/>
            </a:xfrm>
            <a:custGeom>
              <a:avLst/>
              <a:gdLst>
                <a:gd name="txL" fmla="*/ 0 w 13"/>
                <a:gd name="txT" fmla="*/ 0 h 9"/>
                <a:gd name="txR" fmla="*/ 13 w 13"/>
                <a:gd name="txB" fmla="*/ 9 h 9"/>
              </a:gdLst>
              <a:ahLst/>
              <a:cxnLst>
                <a:cxn ang="0">
                  <a:pos x="9" y="9"/>
                </a:cxn>
                <a:cxn ang="0">
                  <a:pos x="0" y="4"/>
                </a:cxn>
                <a:cxn ang="0">
                  <a:pos x="8" y="0"/>
                </a:cxn>
                <a:cxn ang="0">
                  <a:pos x="12" y="2"/>
                </a:cxn>
                <a:cxn ang="0">
                  <a:pos x="9" y="9"/>
                </a:cxn>
              </a:cxnLst>
              <a:rect l="txL" t="txT" r="txR" b="txB"/>
              <a:pathLst>
                <a:path w="13" h="9">
                  <a:moveTo>
                    <a:pt x="9" y="9"/>
                  </a:moveTo>
                  <a:cubicBezTo>
                    <a:pt x="9" y="9"/>
                    <a:pt x="0" y="6"/>
                    <a:pt x="0" y="4"/>
                  </a:cubicBezTo>
                  <a:cubicBezTo>
                    <a:pt x="1" y="3"/>
                    <a:pt x="6" y="0"/>
                    <a:pt x="8" y="0"/>
                  </a:cubicBezTo>
                  <a:cubicBezTo>
                    <a:pt x="9" y="1"/>
                    <a:pt x="13" y="0"/>
                    <a:pt x="12" y="2"/>
                  </a:cubicBezTo>
                  <a:cubicBezTo>
                    <a:pt x="12" y="4"/>
                    <a:pt x="9" y="9"/>
                    <a:pt x="9" y="9"/>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3" name="Freeform 151"/>
            <p:cNvSpPr/>
            <p:nvPr/>
          </p:nvSpPr>
          <p:spPr>
            <a:xfrm>
              <a:off x="1519072" y="25908"/>
              <a:ext cx="59883" cy="56136"/>
            </a:xfrm>
            <a:custGeom>
              <a:avLst/>
              <a:gdLst>
                <a:gd name="txL" fmla="*/ 0 w 29"/>
                <a:gd name="txT" fmla="*/ 0 h 23"/>
                <a:gd name="txR" fmla="*/ 29 w 29"/>
                <a:gd name="txB" fmla="*/ 23 h 23"/>
              </a:gdLst>
              <a:ahLst/>
              <a:cxnLst>
                <a:cxn ang="0">
                  <a:pos x="16" y="22"/>
                </a:cxn>
                <a:cxn ang="0">
                  <a:pos x="19" y="19"/>
                </a:cxn>
                <a:cxn ang="0">
                  <a:pos x="29" y="12"/>
                </a:cxn>
                <a:cxn ang="0">
                  <a:pos x="26" y="7"/>
                </a:cxn>
                <a:cxn ang="0">
                  <a:pos x="17" y="1"/>
                </a:cxn>
                <a:cxn ang="0">
                  <a:pos x="11" y="11"/>
                </a:cxn>
                <a:cxn ang="0">
                  <a:pos x="3" y="13"/>
                </a:cxn>
                <a:cxn ang="0">
                  <a:pos x="5" y="18"/>
                </a:cxn>
                <a:cxn ang="0">
                  <a:pos x="10" y="23"/>
                </a:cxn>
                <a:cxn ang="0">
                  <a:pos x="16" y="22"/>
                </a:cxn>
              </a:cxnLst>
              <a:rect l="txL" t="txT" r="txR" b="txB"/>
              <a:pathLst>
                <a:path w="29" h="23">
                  <a:moveTo>
                    <a:pt x="16" y="22"/>
                  </a:moveTo>
                  <a:cubicBezTo>
                    <a:pt x="15" y="22"/>
                    <a:pt x="15" y="21"/>
                    <a:pt x="19" y="19"/>
                  </a:cubicBezTo>
                  <a:cubicBezTo>
                    <a:pt x="22" y="18"/>
                    <a:pt x="29" y="14"/>
                    <a:pt x="29" y="12"/>
                  </a:cubicBezTo>
                  <a:cubicBezTo>
                    <a:pt x="29" y="11"/>
                    <a:pt x="28" y="10"/>
                    <a:pt x="26" y="7"/>
                  </a:cubicBezTo>
                  <a:cubicBezTo>
                    <a:pt x="23" y="5"/>
                    <a:pt x="19" y="0"/>
                    <a:pt x="17" y="1"/>
                  </a:cubicBezTo>
                  <a:cubicBezTo>
                    <a:pt x="14" y="3"/>
                    <a:pt x="13" y="10"/>
                    <a:pt x="11" y="11"/>
                  </a:cubicBezTo>
                  <a:cubicBezTo>
                    <a:pt x="10" y="12"/>
                    <a:pt x="6" y="13"/>
                    <a:pt x="3" y="13"/>
                  </a:cubicBezTo>
                  <a:cubicBezTo>
                    <a:pt x="0" y="13"/>
                    <a:pt x="3" y="18"/>
                    <a:pt x="5" y="18"/>
                  </a:cubicBezTo>
                  <a:cubicBezTo>
                    <a:pt x="8" y="19"/>
                    <a:pt x="8" y="23"/>
                    <a:pt x="10" y="23"/>
                  </a:cubicBezTo>
                  <a:cubicBezTo>
                    <a:pt x="12" y="22"/>
                    <a:pt x="16" y="22"/>
                    <a:pt x="16" y="22"/>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4" name="Freeform 152"/>
            <p:cNvSpPr/>
            <p:nvPr/>
          </p:nvSpPr>
          <p:spPr>
            <a:xfrm>
              <a:off x="2031133" y="46059"/>
              <a:ext cx="189426" cy="152573"/>
            </a:xfrm>
            <a:custGeom>
              <a:avLst/>
              <a:gdLst>
                <a:gd name="txL" fmla="*/ 0 w 92"/>
                <a:gd name="txT" fmla="*/ 0 h 63"/>
                <a:gd name="txR" fmla="*/ 92 w 92"/>
                <a:gd name="txB" fmla="*/ 63 h 63"/>
              </a:gdLst>
              <a:ahLst/>
              <a:cxnLst>
                <a:cxn ang="0">
                  <a:pos x="23" y="42"/>
                </a:cxn>
                <a:cxn ang="0">
                  <a:pos x="22" y="49"/>
                </a:cxn>
                <a:cxn ang="0">
                  <a:pos x="8" y="40"/>
                </a:cxn>
                <a:cxn ang="0">
                  <a:pos x="2" y="45"/>
                </a:cxn>
                <a:cxn ang="0">
                  <a:pos x="3" y="35"/>
                </a:cxn>
                <a:cxn ang="0">
                  <a:pos x="7" y="31"/>
                </a:cxn>
                <a:cxn ang="0">
                  <a:pos x="8" y="21"/>
                </a:cxn>
                <a:cxn ang="0">
                  <a:pos x="13" y="17"/>
                </a:cxn>
                <a:cxn ang="0">
                  <a:pos x="29" y="8"/>
                </a:cxn>
                <a:cxn ang="0">
                  <a:pos x="34" y="2"/>
                </a:cxn>
                <a:cxn ang="0">
                  <a:pos x="44" y="6"/>
                </a:cxn>
                <a:cxn ang="0">
                  <a:pos x="51" y="16"/>
                </a:cxn>
                <a:cxn ang="0">
                  <a:pos x="61" y="27"/>
                </a:cxn>
                <a:cxn ang="0">
                  <a:pos x="70" y="36"/>
                </a:cxn>
                <a:cxn ang="0">
                  <a:pos x="90" y="42"/>
                </a:cxn>
                <a:cxn ang="0">
                  <a:pos x="85" y="47"/>
                </a:cxn>
                <a:cxn ang="0">
                  <a:pos x="86" y="51"/>
                </a:cxn>
                <a:cxn ang="0">
                  <a:pos x="87" y="58"/>
                </a:cxn>
                <a:cxn ang="0">
                  <a:pos x="72" y="58"/>
                </a:cxn>
                <a:cxn ang="0">
                  <a:pos x="66" y="62"/>
                </a:cxn>
                <a:cxn ang="0">
                  <a:pos x="55" y="57"/>
                </a:cxn>
                <a:cxn ang="0">
                  <a:pos x="44" y="52"/>
                </a:cxn>
                <a:cxn ang="0">
                  <a:pos x="36" y="51"/>
                </a:cxn>
                <a:cxn ang="0">
                  <a:pos x="28" y="41"/>
                </a:cxn>
                <a:cxn ang="0">
                  <a:pos x="23" y="42"/>
                </a:cxn>
              </a:cxnLst>
              <a:rect l="txL" t="txT" r="txR" b="txB"/>
              <a:pathLst>
                <a:path w="92" h="63">
                  <a:moveTo>
                    <a:pt x="23" y="42"/>
                  </a:moveTo>
                  <a:cubicBezTo>
                    <a:pt x="21" y="46"/>
                    <a:pt x="33" y="56"/>
                    <a:pt x="22" y="49"/>
                  </a:cubicBezTo>
                  <a:cubicBezTo>
                    <a:pt x="10" y="42"/>
                    <a:pt x="8" y="40"/>
                    <a:pt x="8" y="40"/>
                  </a:cubicBezTo>
                  <a:cubicBezTo>
                    <a:pt x="2" y="45"/>
                    <a:pt x="2" y="45"/>
                    <a:pt x="2" y="45"/>
                  </a:cubicBezTo>
                  <a:cubicBezTo>
                    <a:pt x="2" y="45"/>
                    <a:pt x="0" y="37"/>
                    <a:pt x="3" y="35"/>
                  </a:cubicBezTo>
                  <a:cubicBezTo>
                    <a:pt x="7" y="33"/>
                    <a:pt x="8" y="37"/>
                    <a:pt x="7" y="31"/>
                  </a:cubicBezTo>
                  <a:cubicBezTo>
                    <a:pt x="6" y="24"/>
                    <a:pt x="6" y="23"/>
                    <a:pt x="8" y="21"/>
                  </a:cubicBezTo>
                  <a:cubicBezTo>
                    <a:pt x="10" y="18"/>
                    <a:pt x="9" y="20"/>
                    <a:pt x="13" y="17"/>
                  </a:cubicBezTo>
                  <a:cubicBezTo>
                    <a:pt x="16" y="14"/>
                    <a:pt x="27" y="12"/>
                    <a:pt x="29" y="8"/>
                  </a:cubicBezTo>
                  <a:cubicBezTo>
                    <a:pt x="31" y="5"/>
                    <a:pt x="33" y="3"/>
                    <a:pt x="34" y="2"/>
                  </a:cubicBezTo>
                  <a:cubicBezTo>
                    <a:pt x="36" y="0"/>
                    <a:pt x="40" y="5"/>
                    <a:pt x="44" y="6"/>
                  </a:cubicBezTo>
                  <a:cubicBezTo>
                    <a:pt x="49" y="7"/>
                    <a:pt x="51" y="16"/>
                    <a:pt x="51" y="16"/>
                  </a:cubicBezTo>
                  <a:cubicBezTo>
                    <a:pt x="51" y="16"/>
                    <a:pt x="58" y="24"/>
                    <a:pt x="61" y="27"/>
                  </a:cubicBezTo>
                  <a:cubicBezTo>
                    <a:pt x="65" y="30"/>
                    <a:pt x="64" y="38"/>
                    <a:pt x="70" y="36"/>
                  </a:cubicBezTo>
                  <a:cubicBezTo>
                    <a:pt x="77" y="35"/>
                    <a:pt x="92" y="42"/>
                    <a:pt x="90" y="42"/>
                  </a:cubicBezTo>
                  <a:cubicBezTo>
                    <a:pt x="88" y="43"/>
                    <a:pt x="85" y="47"/>
                    <a:pt x="85" y="47"/>
                  </a:cubicBezTo>
                  <a:cubicBezTo>
                    <a:pt x="86" y="51"/>
                    <a:pt x="86" y="51"/>
                    <a:pt x="86" y="51"/>
                  </a:cubicBezTo>
                  <a:cubicBezTo>
                    <a:pt x="86" y="51"/>
                    <a:pt x="91" y="58"/>
                    <a:pt x="87" y="58"/>
                  </a:cubicBezTo>
                  <a:cubicBezTo>
                    <a:pt x="83" y="57"/>
                    <a:pt x="78" y="58"/>
                    <a:pt x="72" y="58"/>
                  </a:cubicBezTo>
                  <a:cubicBezTo>
                    <a:pt x="66" y="58"/>
                    <a:pt x="68" y="63"/>
                    <a:pt x="66" y="62"/>
                  </a:cubicBezTo>
                  <a:cubicBezTo>
                    <a:pt x="63" y="61"/>
                    <a:pt x="61" y="60"/>
                    <a:pt x="55" y="57"/>
                  </a:cubicBezTo>
                  <a:cubicBezTo>
                    <a:pt x="49" y="53"/>
                    <a:pt x="52" y="53"/>
                    <a:pt x="44" y="52"/>
                  </a:cubicBezTo>
                  <a:cubicBezTo>
                    <a:pt x="36" y="51"/>
                    <a:pt x="41" y="60"/>
                    <a:pt x="36" y="51"/>
                  </a:cubicBezTo>
                  <a:cubicBezTo>
                    <a:pt x="31" y="43"/>
                    <a:pt x="28" y="41"/>
                    <a:pt x="28" y="41"/>
                  </a:cubicBezTo>
                  <a:lnTo>
                    <a:pt x="23" y="42"/>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5" name="Freeform 153"/>
            <p:cNvSpPr/>
            <p:nvPr/>
          </p:nvSpPr>
          <p:spPr>
            <a:xfrm>
              <a:off x="2199783" y="149693"/>
              <a:ext cx="120988" cy="82044"/>
            </a:xfrm>
            <a:custGeom>
              <a:avLst/>
              <a:gdLst>
                <a:gd name="txL" fmla="*/ 0 w 59"/>
                <a:gd name="txT" fmla="*/ 0 h 34"/>
                <a:gd name="txR" fmla="*/ 59 w 59"/>
                <a:gd name="txB" fmla="*/ 34 h 34"/>
              </a:gdLst>
              <a:ahLst/>
              <a:cxnLst>
                <a:cxn ang="0">
                  <a:pos x="5" y="32"/>
                </a:cxn>
                <a:cxn ang="0">
                  <a:pos x="19" y="28"/>
                </a:cxn>
                <a:cxn ang="0">
                  <a:pos x="35" y="30"/>
                </a:cxn>
                <a:cxn ang="0">
                  <a:pos x="48" y="29"/>
                </a:cxn>
                <a:cxn ang="0">
                  <a:pos x="49" y="25"/>
                </a:cxn>
                <a:cxn ang="0">
                  <a:pos x="55" y="22"/>
                </a:cxn>
                <a:cxn ang="0">
                  <a:pos x="39" y="9"/>
                </a:cxn>
                <a:cxn ang="0">
                  <a:pos x="25" y="1"/>
                </a:cxn>
                <a:cxn ang="0">
                  <a:pos x="13" y="6"/>
                </a:cxn>
                <a:cxn ang="0">
                  <a:pos x="10" y="13"/>
                </a:cxn>
                <a:cxn ang="0">
                  <a:pos x="2" y="24"/>
                </a:cxn>
                <a:cxn ang="0">
                  <a:pos x="2" y="32"/>
                </a:cxn>
                <a:cxn ang="0">
                  <a:pos x="5" y="32"/>
                </a:cxn>
              </a:cxnLst>
              <a:rect l="txL" t="txT" r="txR" b="txB"/>
              <a:pathLst>
                <a:path w="59" h="34">
                  <a:moveTo>
                    <a:pt x="5" y="32"/>
                  </a:moveTo>
                  <a:cubicBezTo>
                    <a:pt x="11" y="30"/>
                    <a:pt x="14" y="28"/>
                    <a:pt x="19" y="28"/>
                  </a:cubicBezTo>
                  <a:cubicBezTo>
                    <a:pt x="25" y="28"/>
                    <a:pt x="31" y="29"/>
                    <a:pt x="35" y="30"/>
                  </a:cubicBezTo>
                  <a:cubicBezTo>
                    <a:pt x="38" y="31"/>
                    <a:pt x="47" y="31"/>
                    <a:pt x="48" y="29"/>
                  </a:cubicBezTo>
                  <a:cubicBezTo>
                    <a:pt x="48" y="27"/>
                    <a:pt x="49" y="25"/>
                    <a:pt x="49" y="25"/>
                  </a:cubicBezTo>
                  <a:cubicBezTo>
                    <a:pt x="49" y="25"/>
                    <a:pt x="59" y="26"/>
                    <a:pt x="55" y="22"/>
                  </a:cubicBezTo>
                  <a:cubicBezTo>
                    <a:pt x="51" y="18"/>
                    <a:pt x="39" y="9"/>
                    <a:pt x="39" y="9"/>
                  </a:cubicBezTo>
                  <a:cubicBezTo>
                    <a:pt x="39" y="9"/>
                    <a:pt x="28" y="2"/>
                    <a:pt x="25" y="1"/>
                  </a:cubicBezTo>
                  <a:cubicBezTo>
                    <a:pt x="22" y="0"/>
                    <a:pt x="17" y="4"/>
                    <a:pt x="13" y="6"/>
                  </a:cubicBezTo>
                  <a:cubicBezTo>
                    <a:pt x="10" y="7"/>
                    <a:pt x="10" y="10"/>
                    <a:pt x="10" y="13"/>
                  </a:cubicBezTo>
                  <a:cubicBezTo>
                    <a:pt x="10" y="15"/>
                    <a:pt x="5" y="24"/>
                    <a:pt x="2" y="24"/>
                  </a:cubicBezTo>
                  <a:cubicBezTo>
                    <a:pt x="0" y="24"/>
                    <a:pt x="1" y="30"/>
                    <a:pt x="2" y="32"/>
                  </a:cubicBezTo>
                  <a:cubicBezTo>
                    <a:pt x="3" y="34"/>
                    <a:pt x="5" y="32"/>
                    <a:pt x="5" y="32"/>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6" name="Freeform 154"/>
            <p:cNvSpPr/>
            <p:nvPr/>
          </p:nvSpPr>
          <p:spPr>
            <a:xfrm>
              <a:off x="1889369" y="313781"/>
              <a:ext cx="30553" cy="38863"/>
            </a:xfrm>
            <a:custGeom>
              <a:avLst/>
              <a:gdLst>
                <a:gd name="txL" fmla="*/ 0 w 15"/>
                <a:gd name="txT" fmla="*/ 0 h 16"/>
                <a:gd name="txR" fmla="*/ 15 w 15"/>
                <a:gd name="txB" fmla="*/ 16 h 16"/>
              </a:gdLst>
              <a:ahLst/>
              <a:cxnLst>
                <a:cxn ang="0">
                  <a:pos x="8" y="0"/>
                </a:cxn>
                <a:cxn ang="0">
                  <a:pos x="1" y="3"/>
                </a:cxn>
                <a:cxn ang="0">
                  <a:pos x="2" y="8"/>
                </a:cxn>
                <a:cxn ang="0">
                  <a:pos x="0" y="14"/>
                </a:cxn>
                <a:cxn ang="0">
                  <a:pos x="3" y="15"/>
                </a:cxn>
                <a:cxn ang="0">
                  <a:pos x="7" y="11"/>
                </a:cxn>
                <a:cxn ang="0">
                  <a:pos x="8" y="4"/>
                </a:cxn>
                <a:cxn ang="0">
                  <a:pos x="15" y="4"/>
                </a:cxn>
                <a:cxn ang="0">
                  <a:pos x="8" y="0"/>
                </a:cxn>
              </a:cxnLst>
              <a:rect l="txL" t="txT" r="txR" b="txB"/>
              <a:pathLst>
                <a:path w="15" h="16">
                  <a:moveTo>
                    <a:pt x="8" y="0"/>
                  </a:moveTo>
                  <a:cubicBezTo>
                    <a:pt x="1" y="3"/>
                    <a:pt x="1" y="3"/>
                    <a:pt x="1" y="3"/>
                  </a:cubicBezTo>
                  <a:cubicBezTo>
                    <a:pt x="1" y="3"/>
                    <a:pt x="4" y="8"/>
                    <a:pt x="2" y="8"/>
                  </a:cubicBezTo>
                  <a:cubicBezTo>
                    <a:pt x="1" y="8"/>
                    <a:pt x="0" y="14"/>
                    <a:pt x="0" y="14"/>
                  </a:cubicBezTo>
                  <a:cubicBezTo>
                    <a:pt x="0" y="14"/>
                    <a:pt x="0" y="16"/>
                    <a:pt x="3" y="15"/>
                  </a:cubicBezTo>
                  <a:cubicBezTo>
                    <a:pt x="7" y="14"/>
                    <a:pt x="7" y="11"/>
                    <a:pt x="7" y="11"/>
                  </a:cubicBezTo>
                  <a:cubicBezTo>
                    <a:pt x="7" y="11"/>
                    <a:pt x="5" y="4"/>
                    <a:pt x="8" y="4"/>
                  </a:cubicBezTo>
                  <a:cubicBezTo>
                    <a:pt x="10" y="4"/>
                    <a:pt x="15" y="4"/>
                    <a:pt x="15" y="4"/>
                  </a:cubicBezTo>
                  <a:lnTo>
                    <a:pt x="8" y="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7" name="Freeform 155"/>
            <p:cNvSpPr/>
            <p:nvPr/>
          </p:nvSpPr>
          <p:spPr>
            <a:xfrm>
              <a:off x="2015245" y="249010"/>
              <a:ext cx="25665" cy="25909"/>
            </a:xfrm>
            <a:custGeom>
              <a:avLst/>
              <a:gdLst>
                <a:gd name="txL" fmla="*/ 0 w 13"/>
                <a:gd name="txT" fmla="*/ 0 h 11"/>
                <a:gd name="txR" fmla="*/ 13 w 13"/>
                <a:gd name="txB" fmla="*/ 11 h 11"/>
              </a:gdLst>
              <a:ahLst/>
              <a:cxnLst>
                <a:cxn ang="0">
                  <a:pos x="0" y="11"/>
                </a:cxn>
                <a:cxn ang="0">
                  <a:pos x="8" y="7"/>
                </a:cxn>
                <a:cxn ang="0">
                  <a:pos x="10" y="0"/>
                </a:cxn>
                <a:cxn ang="0">
                  <a:pos x="4" y="3"/>
                </a:cxn>
                <a:cxn ang="0">
                  <a:pos x="4" y="9"/>
                </a:cxn>
                <a:cxn ang="0">
                  <a:pos x="0" y="11"/>
                </a:cxn>
              </a:cxnLst>
              <a:rect l="txL" t="txT" r="txR" b="txB"/>
              <a:pathLst>
                <a:path w="13" h="11">
                  <a:moveTo>
                    <a:pt x="0" y="11"/>
                  </a:moveTo>
                  <a:cubicBezTo>
                    <a:pt x="0" y="11"/>
                    <a:pt x="4" y="11"/>
                    <a:pt x="8" y="7"/>
                  </a:cubicBezTo>
                  <a:cubicBezTo>
                    <a:pt x="11" y="3"/>
                    <a:pt x="13" y="0"/>
                    <a:pt x="10" y="0"/>
                  </a:cubicBezTo>
                  <a:cubicBezTo>
                    <a:pt x="8" y="0"/>
                    <a:pt x="4" y="3"/>
                    <a:pt x="4" y="3"/>
                  </a:cubicBezTo>
                  <a:cubicBezTo>
                    <a:pt x="4" y="9"/>
                    <a:pt x="4" y="9"/>
                    <a:pt x="4" y="9"/>
                  </a:cubicBezTo>
                  <a:lnTo>
                    <a:pt x="0" y="11"/>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8" name="Freeform 156"/>
            <p:cNvSpPr/>
            <p:nvPr/>
          </p:nvSpPr>
          <p:spPr>
            <a:xfrm>
              <a:off x="1814821" y="67650"/>
              <a:ext cx="23220" cy="17272"/>
            </a:xfrm>
            <a:custGeom>
              <a:avLst/>
              <a:gdLst>
                <a:gd name="txL" fmla="*/ 0 w 11"/>
                <a:gd name="txT" fmla="*/ 0 h 7"/>
                <a:gd name="txR" fmla="*/ 11 w 11"/>
                <a:gd name="txB" fmla="*/ 7 h 7"/>
              </a:gdLst>
              <a:ahLst/>
              <a:cxnLst>
                <a:cxn ang="0">
                  <a:pos x="0" y="6"/>
                </a:cxn>
                <a:cxn ang="0">
                  <a:pos x="11" y="7"/>
                </a:cxn>
                <a:cxn ang="0">
                  <a:pos x="9" y="0"/>
                </a:cxn>
                <a:cxn ang="0">
                  <a:pos x="0" y="6"/>
                </a:cxn>
              </a:cxnLst>
              <a:rect l="txL" t="txT" r="txR" b="txB"/>
              <a:pathLst>
                <a:path w="11" h="7">
                  <a:moveTo>
                    <a:pt x="0" y="6"/>
                  </a:moveTo>
                  <a:cubicBezTo>
                    <a:pt x="5" y="6"/>
                    <a:pt x="11" y="7"/>
                    <a:pt x="11" y="7"/>
                  </a:cubicBezTo>
                  <a:cubicBezTo>
                    <a:pt x="11" y="7"/>
                    <a:pt x="10" y="0"/>
                    <a:pt x="9" y="0"/>
                  </a:cubicBezTo>
                  <a:cubicBezTo>
                    <a:pt x="7" y="0"/>
                    <a:pt x="0" y="6"/>
                    <a:pt x="0" y="6"/>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69" name="Freeform 157"/>
            <p:cNvSpPr/>
            <p:nvPr/>
          </p:nvSpPr>
          <p:spPr>
            <a:xfrm>
              <a:off x="2886604" y="292191"/>
              <a:ext cx="162540" cy="92119"/>
            </a:xfrm>
            <a:custGeom>
              <a:avLst/>
              <a:gdLst>
                <a:gd name="txL" fmla="*/ 0 w 79"/>
                <a:gd name="txT" fmla="*/ 0 h 38"/>
                <a:gd name="txR" fmla="*/ 79 w 79"/>
                <a:gd name="txB" fmla="*/ 38 h 38"/>
              </a:gdLst>
              <a:ahLst/>
              <a:cxnLst>
                <a:cxn ang="0">
                  <a:pos x="7" y="9"/>
                </a:cxn>
                <a:cxn ang="0">
                  <a:pos x="5" y="23"/>
                </a:cxn>
                <a:cxn ang="0">
                  <a:pos x="16" y="30"/>
                </a:cxn>
                <a:cxn ang="0">
                  <a:pos x="24" y="37"/>
                </a:cxn>
                <a:cxn ang="0">
                  <a:pos x="30" y="31"/>
                </a:cxn>
                <a:cxn ang="0">
                  <a:pos x="30" y="29"/>
                </a:cxn>
                <a:cxn ang="0">
                  <a:pos x="42" y="31"/>
                </a:cxn>
                <a:cxn ang="0">
                  <a:pos x="49" y="32"/>
                </a:cxn>
                <a:cxn ang="0">
                  <a:pos x="52" y="28"/>
                </a:cxn>
                <a:cxn ang="0">
                  <a:pos x="59" y="29"/>
                </a:cxn>
                <a:cxn ang="0">
                  <a:pos x="76" y="22"/>
                </a:cxn>
                <a:cxn ang="0">
                  <a:pos x="76" y="15"/>
                </a:cxn>
                <a:cxn ang="0">
                  <a:pos x="70" y="13"/>
                </a:cxn>
                <a:cxn ang="0">
                  <a:pos x="61" y="9"/>
                </a:cxn>
                <a:cxn ang="0">
                  <a:pos x="39" y="9"/>
                </a:cxn>
                <a:cxn ang="0">
                  <a:pos x="35" y="11"/>
                </a:cxn>
                <a:cxn ang="0">
                  <a:pos x="28" y="9"/>
                </a:cxn>
                <a:cxn ang="0">
                  <a:pos x="20" y="1"/>
                </a:cxn>
                <a:cxn ang="0">
                  <a:pos x="9" y="6"/>
                </a:cxn>
                <a:cxn ang="0">
                  <a:pos x="7" y="9"/>
                </a:cxn>
              </a:cxnLst>
              <a:rect l="txL" t="txT" r="txR" b="txB"/>
              <a:pathLst>
                <a:path w="79" h="38">
                  <a:moveTo>
                    <a:pt x="7" y="9"/>
                  </a:moveTo>
                  <a:cubicBezTo>
                    <a:pt x="4" y="3"/>
                    <a:pt x="0" y="19"/>
                    <a:pt x="5" y="23"/>
                  </a:cubicBezTo>
                  <a:cubicBezTo>
                    <a:pt x="9" y="26"/>
                    <a:pt x="16" y="30"/>
                    <a:pt x="16" y="30"/>
                  </a:cubicBezTo>
                  <a:cubicBezTo>
                    <a:pt x="16" y="30"/>
                    <a:pt x="23" y="36"/>
                    <a:pt x="24" y="37"/>
                  </a:cubicBezTo>
                  <a:cubicBezTo>
                    <a:pt x="25" y="38"/>
                    <a:pt x="30" y="31"/>
                    <a:pt x="30" y="31"/>
                  </a:cubicBezTo>
                  <a:cubicBezTo>
                    <a:pt x="30" y="31"/>
                    <a:pt x="21" y="29"/>
                    <a:pt x="30" y="29"/>
                  </a:cubicBezTo>
                  <a:cubicBezTo>
                    <a:pt x="38" y="29"/>
                    <a:pt x="42" y="31"/>
                    <a:pt x="42" y="31"/>
                  </a:cubicBezTo>
                  <a:cubicBezTo>
                    <a:pt x="42" y="31"/>
                    <a:pt x="48" y="34"/>
                    <a:pt x="49" y="32"/>
                  </a:cubicBezTo>
                  <a:cubicBezTo>
                    <a:pt x="50" y="31"/>
                    <a:pt x="48" y="28"/>
                    <a:pt x="52" y="28"/>
                  </a:cubicBezTo>
                  <a:cubicBezTo>
                    <a:pt x="55" y="28"/>
                    <a:pt x="54" y="27"/>
                    <a:pt x="59" y="29"/>
                  </a:cubicBezTo>
                  <a:cubicBezTo>
                    <a:pt x="64" y="31"/>
                    <a:pt x="76" y="22"/>
                    <a:pt x="76" y="22"/>
                  </a:cubicBezTo>
                  <a:cubicBezTo>
                    <a:pt x="76" y="22"/>
                    <a:pt x="79" y="16"/>
                    <a:pt x="76" y="15"/>
                  </a:cubicBezTo>
                  <a:cubicBezTo>
                    <a:pt x="72" y="13"/>
                    <a:pt x="72" y="14"/>
                    <a:pt x="70" y="13"/>
                  </a:cubicBezTo>
                  <a:cubicBezTo>
                    <a:pt x="68" y="13"/>
                    <a:pt x="72" y="14"/>
                    <a:pt x="61" y="9"/>
                  </a:cubicBezTo>
                  <a:cubicBezTo>
                    <a:pt x="49" y="5"/>
                    <a:pt x="42" y="9"/>
                    <a:pt x="39" y="9"/>
                  </a:cubicBezTo>
                  <a:cubicBezTo>
                    <a:pt x="35" y="9"/>
                    <a:pt x="39" y="11"/>
                    <a:pt x="35" y="11"/>
                  </a:cubicBezTo>
                  <a:cubicBezTo>
                    <a:pt x="32" y="11"/>
                    <a:pt x="36" y="18"/>
                    <a:pt x="28" y="9"/>
                  </a:cubicBezTo>
                  <a:cubicBezTo>
                    <a:pt x="20" y="1"/>
                    <a:pt x="25" y="0"/>
                    <a:pt x="20" y="1"/>
                  </a:cubicBezTo>
                  <a:cubicBezTo>
                    <a:pt x="16" y="2"/>
                    <a:pt x="9" y="6"/>
                    <a:pt x="9" y="6"/>
                  </a:cubicBezTo>
                  <a:cubicBezTo>
                    <a:pt x="9" y="6"/>
                    <a:pt x="8" y="11"/>
                    <a:pt x="7" y="9"/>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0" name="Freeform 158"/>
            <p:cNvSpPr/>
            <p:nvPr/>
          </p:nvSpPr>
          <p:spPr>
            <a:xfrm>
              <a:off x="2959930" y="384310"/>
              <a:ext cx="78214" cy="59014"/>
            </a:xfrm>
            <a:custGeom>
              <a:avLst/>
              <a:gdLst>
                <a:gd name="txL" fmla="*/ 0 w 38"/>
                <a:gd name="txT" fmla="*/ 0 h 24"/>
                <a:gd name="txR" fmla="*/ 38 w 38"/>
                <a:gd name="txB" fmla="*/ 24 h 24"/>
              </a:gdLst>
              <a:ahLst/>
              <a:cxnLst>
                <a:cxn ang="0">
                  <a:pos x="15" y="23"/>
                </a:cxn>
                <a:cxn ang="0">
                  <a:pos x="38" y="24"/>
                </a:cxn>
                <a:cxn ang="0">
                  <a:pos x="34" y="17"/>
                </a:cxn>
                <a:cxn ang="0">
                  <a:pos x="25" y="12"/>
                </a:cxn>
                <a:cxn ang="0">
                  <a:pos x="18" y="6"/>
                </a:cxn>
                <a:cxn ang="0">
                  <a:pos x="15" y="5"/>
                </a:cxn>
                <a:cxn ang="0">
                  <a:pos x="8" y="0"/>
                </a:cxn>
                <a:cxn ang="0">
                  <a:pos x="4" y="3"/>
                </a:cxn>
                <a:cxn ang="0">
                  <a:pos x="5" y="10"/>
                </a:cxn>
                <a:cxn ang="0">
                  <a:pos x="11" y="14"/>
                </a:cxn>
                <a:cxn ang="0">
                  <a:pos x="7" y="19"/>
                </a:cxn>
                <a:cxn ang="0">
                  <a:pos x="15" y="23"/>
                </a:cxn>
              </a:cxnLst>
              <a:rect l="txL" t="txT" r="txR" b="txB"/>
              <a:pathLst>
                <a:path w="38" h="24">
                  <a:moveTo>
                    <a:pt x="15" y="23"/>
                  </a:moveTo>
                  <a:cubicBezTo>
                    <a:pt x="38" y="24"/>
                    <a:pt x="38" y="24"/>
                    <a:pt x="38" y="24"/>
                  </a:cubicBezTo>
                  <a:cubicBezTo>
                    <a:pt x="34" y="17"/>
                    <a:pt x="34" y="17"/>
                    <a:pt x="34" y="17"/>
                  </a:cubicBezTo>
                  <a:cubicBezTo>
                    <a:pt x="25" y="12"/>
                    <a:pt x="25" y="12"/>
                    <a:pt x="25" y="12"/>
                  </a:cubicBezTo>
                  <a:cubicBezTo>
                    <a:pt x="25" y="12"/>
                    <a:pt x="21" y="7"/>
                    <a:pt x="18" y="6"/>
                  </a:cubicBezTo>
                  <a:cubicBezTo>
                    <a:pt x="15" y="5"/>
                    <a:pt x="18" y="7"/>
                    <a:pt x="15" y="5"/>
                  </a:cubicBezTo>
                  <a:cubicBezTo>
                    <a:pt x="12" y="3"/>
                    <a:pt x="11" y="0"/>
                    <a:pt x="8" y="0"/>
                  </a:cubicBezTo>
                  <a:cubicBezTo>
                    <a:pt x="6" y="0"/>
                    <a:pt x="8" y="0"/>
                    <a:pt x="4" y="3"/>
                  </a:cubicBezTo>
                  <a:cubicBezTo>
                    <a:pt x="0" y="7"/>
                    <a:pt x="5" y="10"/>
                    <a:pt x="5" y="10"/>
                  </a:cubicBezTo>
                  <a:cubicBezTo>
                    <a:pt x="11" y="14"/>
                    <a:pt x="11" y="14"/>
                    <a:pt x="11" y="14"/>
                  </a:cubicBezTo>
                  <a:cubicBezTo>
                    <a:pt x="11" y="14"/>
                    <a:pt x="6" y="17"/>
                    <a:pt x="7" y="19"/>
                  </a:cubicBezTo>
                  <a:cubicBezTo>
                    <a:pt x="8" y="21"/>
                    <a:pt x="15" y="23"/>
                    <a:pt x="15" y="23"/>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1" name="Freeform 159"/>
            <p:cNvSpPr/>
            <p:nvPr/>
          </p:nvSpPr>
          <p:spPr>
            <a:xfrm>
              <a:off x="2859718" y="374234"/>
              <a:ext cx="35441" cy="37423"/>
            </a:xfrm>
            <a:custGeom>
              <a:avLst/>
              <a:gdLst>
                <a:gd name="txL" fmla="*/ 0 w 17"/>
                <a:gd name="txT" fmla="*/ 0 h 15"/>
                <a:gd name="txR" fmla="*/ 17 w 17"/>
                <a:gd name="txB" fmla="*/ 15 h 15"/>
              </a:gdLst>
              <a:ahLst/>
              <a:cxnLst>
                <a:cxn ang="0">
                  <a:pos x="17" y="15"/>
                </a:cxn>
                <a:cxn ang="0">
                  <a:pos x="4" y="6"/>
                </a:cxn>
                <a:cxn ang="0">
                  <a:pos x="5" y="3"/>
                </a:cxn>
                <a:cxn ang="0">
                  <a:pos x="17" y="10"/>
                </a:cxn>
                <a:cxn ang="0">
                  <a:pos x="17" y="15"/>
                </a:cxn>
              </a:cxnLst>
              <a:rect l="txL" t="txT" r="txR" b="txB"/>
              <a:pathLst>
                <a:path w="17" h="15">
                  <a:moveTo>
                    <a:pt x="17" y="15"/>
                  </a:moveTo>
                  <a:cubicBezTo>
                    <a:pt x="4" y="6"/>
                    <a:pt x="4" y="6"/>
                    <a:pt x="4" y="6"/>
                  </a:cubicBezTo>
                  <a:cubicBezTo>
                    <a:pt x="4" y="6"/>
                    <a:pt x="0" y="0"/>
                    <a:pt x="5" y="3"/>
                  </a:cubicBezTo>
                  <a:cubicBezTo>
                    <a:pt x="10" y="6"/>
                    <a:pt x="17" y="10"/>
                    <a:pt x="17" y="10"/>
                  </a:cubicBezTo>
                  <a:lnTo>
                    <a:pt x="17" y="15"/>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2" name="Freeform 160"/>
            <p:cNvSpPr/>
            <p:nvPr/>
          </p:nvSpPr>
          <p:spPr>
            <a:xfrm>
              <a:off x="3065031" y="313781"/>
              <a:ext cx="84325" cy="60453"/>
            </a:xfrm>
            <a:custGeom>
              <a:avLst/>
              <a:gdLst>
                <a:gd name="txL" fmla="*/ 0 w 41"/>
                <a:gd name="txT" fmla="*/ 0 h 25"/>
                <a:gd name="txR" fmla="*/ 41 w 41"/>
                <a:gd name="txB" fmla="*/ 25 h 25"/>
              </a:gdLst>
              <a:ahLst/>
              <a:cxnLst>
                <a:cxn ang="0">
                  <a:pos x="2" y="3"/>
                </a:cxn>
                <a:cxn ang="0">
                  <a:pos x="8" y="14"/>
                </a:cxn>
                <a:cxn ang="0">
                  <a:pos x="13" y="16"/>
                </a:cxn>
                <a:cxn ang="0">
                  <a:pos x="22" y="22"/>
                </a:cxn>
                <a:cxn ang="0">
                  <a:pos x="27" y="24"/>
                </a:cxn>
                <a:cxn ang="0">
                  <a:pos x="33" y="23"/>
                </a:cxn>
                <a:cxn ang="0">
                  <a:pos x="38" y="20"/>
                </a:cxn>
                <a:cxn ang="0">
                  <a:pos x="40" y="16"/>
                </a:cxn>
                <a:cxn ang="0">
                  <a:pos x="37" y="14"/>
                </a:cxn>
                <a:cxn ang="0">
                  <a:pos x="25" y="11"/>
                </a:cxn>
                <a:cxn ang="0">
                  <a:pos x="13" y="5"/>
                </a:cxn>
                <a:cxn ang="0">
                  <a:pos x="9" y="3"/>
                </a:cxn>
                <a:cxn ang="0">
                  <a:pos x="2" y="3"/>
                </a:cxn>
              </a:cxnLst>
              <a:rect l="txL" t="txT" r="txR" b="txB"/>
              <a:pathLst>
                <a:path w="41" h="25">
                  <a:moveTo>
                    <a:pt x="2" y="3"/>
                  </a:moveTo>
                  <a:cubicBezTo>
                    <a:pt x="3" y="5"/>
                    <a:pt x="8" y="14"/>
                    <a:pt x="8" y="14"/>
                  </a:cubicBezTo>
                  <a:cubicBezTo>
                    <a:pt x="8" y="14"/>
                    <a:pt x="11" y="14"/>
                    <a:pt x="13" y="16"/>
                  </a:cubicBezTo>
                  <a:cubicBezTo>
                    <a:pt x="15" y="17"/>
                    <a:pt x="22" y="22"/>
                    <a:pt x="22" y="22"/>
                  </a:cubicBezTo>
                  <a:cubicBezTo>
                    <a:pt x="27" y="24"/>
                    <a:pt x="27" y="24"/>
                    <a:pt x="27" y="24"/>
                  </a:cubicBezTo>
                  <a:cubicBezTo>
                    <a:pt x="27" y="24"/>
                    <a:pt x="28" y="25"/>
                    <a:pt x="33" y="23"/>
                  </a:cubicBezTo>
                  <a:cubicBezTo>
                    <a:pt x="38" y="22"/>
                    <a:pt x="36" y="22"/>
                    <a:pt x="38" y="20"/>
                  </a:cubicBezTo>
                  <a:cubicBezTo>
                    <a:pt x="40" y="18"/>
                    <a:pt x="41" y="18"/>
                    <a:pt x="40" y="16"/>
                  </a:cubicBezTo>
                  <a:cubicBezTo>
                    <a:pt x="39" y="14"/>
                    <a:pt x="40" y="14"/>
                    <a:pt x="37" y="14"/>
                  </a:cubicBezTo>
                  <a:cubicBezTo>
                    <a:pt x="33" y="13"/>
                    <a:pt x="31" y="13"/>
                    <a:pt x="25" y="11"/>
                  </a:cubicBezTo>
                  <a:cubicBezTo>
                    <a:pt x="18" y="10"/>
                    <a:pt x="15" y="6"/>
                    <a:pt x="13" y="5"/>
                  </a:cubicBezTo>
                  <a:cubicBezTo>
                    <a:pt x="11" y="3"/>
                    <a:pt x="17" y="5"/>
                    <a:pt x="9" y="3"/>
                  </a:cubicBezTo>
                  <a:cubicBezTo>
                    <a:pt x="0" y="0"/>
                    <a:pt x="2" y="3"/>
                    <a:pt x="2" y="3"/>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3" name="Freeform 161"/>
            <p:cNvSpPr/>
            <p:nvPr/>
          </p:nvSpPr>
          <p:spPr>
            <a:xfrm>
              <a:off x="3690747" y="512413"/>
              <a:ext cx="85547" cy="41742"/>
            </a:xfrm>
            <a:custGeom>
              <a:avLst/>
              <a:gdLst>
                <a:gd name="txL" fmla="*/ 0 w 42"/>
                <a:gd name="txT" fmla="*/ 0 h 17"/>
                <a:gd name="txR" fmla="*/ 42 w 42"/>
                <a:gd name="txB" fmla="*/ 17 h 17"/>
              </a:gdLst>
              <a:ahLst/>
              <a:cxnLst>
                <a:cxn ang="0">
                  <a:pos x="7" y="4"/>
                </a:cxn>
                <a:cxn ang="0">
                  <a:pos x="3" y="8"/>
                </a:cxn>
                <a:cxn ang="0">
                  <a:pos x="13" y="12"/>
                </a:cxn>
                <a:cxn ang="0">
                  <a:pos x="24" y="16"/>
                </a:cxn>
                <a:cxn ang="0">
                  <a:pos x="33" y="12"/>
                </a:cxn>
                <a:cxn ang="0">
                  <a:pos x="41" y="13"/>
                </a:cxn>
                <a:cxn ang="0">
                  <a:pos x="39" y="7"/>
                </a:cxn>
                <a:cxn ang="0">
                  <a:pos x="30" y="2"/>
                </a:cxn>
                <a:cxn ang="0">
                  <a:pos x="25" y="2"/>
                </a:cxn>
                <a:cxn ang="0">
                  <a:pos x="9" y="0"/>
                </a:cxn>
                <a:cxn ang="0">
                  <a:pos x="7" y="4"/>
                </a:cxn>
              </a:cxnLst>
              <a:rect l="txL" t="txT" r="txR" b="txB"/>
              <a:pathLst>
                <a:path w="42" h="17">
                  <a:moveTo>
                    <a:pt x="7" y="4"/>
                  </a:moveTo>
                  <a:cubicBezTo>
                    <a:pt x="5" y="4"/>
                    <a:pt x="0" y="7"/>
                    <a:pt x="3" y="8"/>
                  </a:cubicBezTo>
                  <a:cubicBezTo>
                    <a:pt x="7" y="9"/>
                    <a:pt x="7" y="10"/>
                    <a:pt x="13" y="12"/>
                  </a:cubicBezTo>
                  <a:cubicBezTo>
                    <a:pt x="20" y="14"/>
                    <a:pt x="22" y="17"/>
                    <a:pt x="24" y="16"/>
                  </a:cubicBezTo>
                  <a:cubicBezTo>
                    <a:pt x="26" y="16"/>
                    <a:pt x="28" y="12"/>
                    <a:pt x="33" y="12"/>
                  </a:cubicBezTo>
                  <a:cubicBezTo>
                    <a:pt x="37" y="12"/>
                    <a:pt x="40" y="15"/>
                    <a:pt x="41" y="13"/>
                  </a:cubicBezTo>
                  <a:cubicBezTo>
                    <a:pt x="42" y="12"/>
                    <a:pt x="42" y="8"/>
                    <a:pt x="39" y="7"/>
                  </a:cubicBezTo>
                  <a:cubicBezTo>
                    <a:pt x="36" y="5"/>
                    <a:pt x="32" y="2"/>
                    <a:pt x="30" y="2"/>
                  </a:cubicBezTo>
                  <a:cubicBezTo>
                    <a:pt x="28" y="2"/>
                    <a:pt x="28" y="2"/>
                    <a:pt x="25" y="2"/>
                  </a:cubicBezTo>
                  <a:cubicBezTo>
                    <a:pt x="22" y="2"/>
                    <a:pt x="9" y="0"/>
                    <a:pt x="9" y="0"/>
                  </a:cubicBezTo>
                  <a:lnTo>
                    <a:pt x="7" y="4"/>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4" name="Freeform 162"/>
            <p:cNvSpPr/>
            <p:nvPr/>
          </p:nvSpPr>
          <p:spPr>
            <a:xfrm>
              <a:off x="4389788" y="1007554"/>
              <a:ext cx="46440" cy="103634"/>
            </a:xfrm>
            <a:custGeom>
              <a:avLst/>
              <a:gdLst>
                <a:gd name="txL" fmla="*/ 0 w 23"/>
                <a:gd name="txT" fmla="*/ 0 h 43"/>
                <a:gd name="txR" fmla="*/ 23 w 23"/>
                <a:gd name="txB" fmla="*/ 43 h 43"/>
              </a:gdLst>
              <a:ahLst/>
              <a:cxnLst>
                <a:cxn ang="0">
                  <a:pos x="6" y="0"/>
                </a:cxn>
                <a:cxn ang="0">
                  <a:pos x="4" y="8"/>
                </a:cxn>
                <a:cxn ang="0">
                  <a:pos x="4" y="13"/>
                </a:cxn>
                <a:cxn ang="0">
                  <a:pos x="6" y="24"/>
                </a:cxn>
                <a:cxn ang="0">
                  <a:pos x="6" y="28"/>
                </a:cxn>
                <a:cxn ang="0">
                  <a:pos x="5" y="37"/>
                </a:cxn>
                <a:cxn ang="0">
                  <a:pos x="13" y="38"/>
                </a:cxn>
                <a:cxn ang="0">
                  <a:pos x="15" y="33"/>
                </a:cxn>
                <a:cxn ang="0">
                  <a:pos x="22" y="29"/>
                </a:cxn>
                <a:cxn ang="0">
                  <a:pos x="20" y="23"/>
                </a:cxn>
                <a:cxn ang="0">
                  <a:pos x="14" y="5"/>
                </a:cxn>
                <a:cxn ang="0">
                  <a:pos x="6" y="0"/>
                </a:cxn>
              </a:cxnLst>
              <a:rect l="txL" t="txT" r="txR" b="txB"/>
              <a:pathLst>
                <a:path w="23" h="43">
                  <a:moveTo>
                    <a:pt x="6" y="0"/>
                  </a:moveTo>
                  <a:cubicBezTo>
                    <a:pt x="6" y="2"/>
                    <a:pt x="4" y="8"/>
                    <a:pt x="4" y="8"/>
                  </a:cubicBezTo>
                  <a:cubicBezTo>
                    <a:pt x="4" y="8"/>
                    <a:pt x="5" y="10"/>
                    <a:pt x="4" y="13"/>
                  </a:cubicBezTo>
                  <a:cubicBezTo>
                    <a:pt x="4" y="15"/>
                    <a:pt x="8" y="24"/>
                    <a:pt x="6" y="24"/>
                  </a:cubicBezTo>
                  <a:cubicBezTo>
                    <a:pt x="5" y="24"/>
                    <a:pt x="10" y="24"/>
                    <a:pt x="6" y="28"/>
                  </a:cubicBezTo>
                  <a:cubicBezTo>
                    <a:pt x="3" y="31"/>
                    <a:pt x="0" y="35"/>
                    <a:pt x="5" y="37"/>
                  </a:cubicBezTo>
                  <a:cubicBezTo>
                    <a:pt x="9" y="38"/>
                    <a:pt x="13" y="43"/>
                    <a:pt x="13" y="38"/>
                  </a:cubicBezTo>
                  <a:cubicBezTo>
                    <a:pt x="13" y="34"/>
                    <a:pt x="14" y="36"/>
                    <a:pt x="15" y="33"/>
                  </a:cubicBezTo>
                  <a:cubicBezTo>
                    <a:pt x="17" y="29"/>
                    <a:pt x="22" y="31"/>
                    <a:pt x="22" y="29"/>
                  </a:cubicBezTo>
                  <a:cubicBezTo>
                    <a:pt x="22" y="27"/>
                    <a:pt x="23" y="27"/>
                    <a:pt x="20" y="23"/>
                  </a:cubicBezTo>
                  <a:cubicBezTo>
                    <a:pt x="17" y="19"/>
                    <a:pt x="14" y="5"/>
                    <a:pt x="14" y="5"/>
                  </a:cubicBezTo>
                  <a:lnTo>
                    <a:pt x="6" y="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5" name="Freeform 163"/>
            <p:cNvSpPr/>
            <p:nvPr/>
          </p:nvSpPr>
          <p:spPr>
            <a:xfrm>
              <a:off x="4381233" y="1129900"/>
              <a:ext cx="32997" cy="30227"/>
            </a:xfrm>
            <a:custGeom>
              <a:avLst/>
              <a:gdLst>
                <a:gd name="txL" fmla="*/ 0 w 16"/>
                <a:gd name="txT" fmla="*/ 0 h 12"/>
                <a:gd name="txR" fmla="*/ 16 w 16"/>
                <a:gd name="txB" fmla="*/ 12 h 12"/>
              </a:gdLst>
              <a:ahLst/>
              <a:cxnLst>
                <a:cxn ang="0">
                  <a:pos x="11" y="0"/>
                </a:cxn>
                <a:cxn ang="0">
                  <a:pos x="2" y="4"/>
                </a:cxn>
                <a:cxn ang="0">
                  <a:pos x="13" y="9"/>
                </a:cxn>
                <a:cxn ang="0">
                  <a:pos x="16" y="6"/>
                </a:cxn>
                <a:cxn ang="0">
                  <a:pos x="11" y="0"/>
                </a:cxn>
              </a:cxnLst>
              <a:rect l="txL" t="txT" r="txR" b="txB"/>
              <a:pathLst>
                <a:path w="16" h="12">
                  <a:moveTo>
                    <a:pt x="11" y="0"/>
                  </a:moveTo>
                  <a:cubicBezTo>
                    <a:pt x="8" y="0"/>
                    <a:pt x="0" y="3"/>
                    <a:pt x="2" y="4"/>
                  </a:cubicBezTo>
                  <a:cubicBezTo>
                    <a:pt x="3" y="6"/>
                    <a:pt x="12" y="12"/>
                    <a:pt x="13" y="9"/>
                  </a:cubicBezTo>
                  <a:cubicBezTo>
                    <a:pt x="14" y="7"/>
                    <a:pt x="16" y="9"/>
                    <a:pt x="16" y="6"/>
                  </a:cubicBezTo>
                  <a:cubicBezTo>
                    <a:pt x="16" y="3"/>
                    <a:pt x="11" y="0"/>
                    <a:pt x="11"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6" name="Freeform 164"/>
            <p:cNvSpPr/>
            <p:nvPr/>
          </p:nvSpPr>
          <p:spPr>
            <a:xfrm>
              <a:off x="4366568" y="1164445"/>
              <a:ext cx="57439" cy="53257"/>
            </a:xfrm>
            <a:custGeom>
              <a:avLst/>
              <a:gdLst>
                <a:gd name="txL" fmla="*/ 0 w 28"/>
                <a:gd name="txT" fmla="*/ 0 h 22"/>
                <a:gd name="txR" fmla="*/ 28 w 28"/>
                <a:gd name="txB" fmla="*/ 22 h 22"/>
              </a:gdLst>
              <a:ahLst/>
              <a:cxnLst>
                <a:cxn ang="0">
                  <a:pos x="3" y="2"/>
                </a:cxn>
                <a:cxn ang="0">
                  <a:pos x="27" y="1"/>
                </a:cxn>
                <a:cxn ang="0">
                  <a:pos x="22" y="8"/>
                </a:cxn>
                <a:cxn ang="0">
                  <a:pos x="12" y="9"/>
                </a:cxn>
                <a:cxn ang="0">
                  <a:pos x="10" y="20"/>
                </a:cxn>
                <a:cxn ang="0">
                  <a:pos x="1" y="10"/>
                </a:cxn>
                <a:cxn ang="0">
                  <a:pos x="3" y="2"/>
                </a:cxn>
              </a:cxnLst>
              <a:rect l="txL" t="txT" r="txR" b="txB"/>
              <a:pathLst>
                <a:path w="28" h="22">
                  <a:moveTo>
                    <a:pt x="3" y="2"/>
                  </a:moveTo>
                  <a:cubicBezTo>
                    <a:pt x="3" y="2"/>
                    <a:pt x="28" y="0"/>
                    <a:pt x="27" y="1"/>
                  </a:cubicBezTo>
                  <a:cubicBezTo>
                    <a:pt x="25" y="1"/>
                    <a:pt x="27" y="8"/>
                    <a:pt x="22" y="8"/>
                  </a:cubicBezTo>
                  <a:cubicBezTo>
                    <a:pt x="16" y="9"/>
                    <a:pt x="14" y="5"/>
                    <a:pt x="12" y="9"/>
                  </a:cubicBezTo>
                  <a:cubicBezTo>
                    <a:pt x="10" y="13"/>
                    <a:pt x="13" y="22"/>
                    <a:pt x="10" y="20"/>
                  </a:cubicBezTo>
                  <a:cubicBezTo>
                    <a:pt x="6" y="18"/>
                    <a:pt x="1" y="12"/>
                    <a:pt x="1" y="10"/>
                  </a:cubicBezTo>
                  <a:cubicBezTo>
                    <a:pt x="0" y="8"/>
                    <a:pt x="3" y="2"/>
                    <a:pt x="3" y="2"/>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7" name="Freeform 165"/>
            <p:cNvSpPr/>
            <p:nvPr/>
          </p:nvSpPr>
          <p:spPr>
            <a:xfrm>
              <a:off x="4089152" y="1046417"/>
              <a:ext cx="35441" cy="35985"/>
            </a:xfrm>
            <a:custGeom>
              <a:avLst/>
              <a:gdLst>
                <a:gd name="txL" fmla="*/ 0 w 17"/>
                <a:gd name="txT" fmla="*/ 0 h 15"/>
                <a:gd name="txR" fmla="*/ 17 w 17"/>
                <a:gd name="txB" fmla="*/ 15 h 15"/>
              </a:gdLst>
              <a:ahLst/>
              <a:cxnLst>
                <a:cxn ang="0">
                  <a:pos x="17" y="15"/>
                </a:cxn>
                <a:cxn ang="0">
                  <a:pos x="13" y="1"/>
                </a:cxn>
                <a:cxn ang="0">
                  <a:pos x="1" y="2"/>
                </a:cxn>
                <a:cxn ang="0">
                  <a:pos x="10" y="12"/>
                </a:cxn>
                <a:cxn ang="0">
                  <a:pos x="17" y="15"/>
                </a:cxn>
              </a:cxnLst>
              <a:rect l="txL" t="txT" r="txR" b="txB"/>
              <a:pathLst>
                <a:path w="17" h="15">
                  <a:moveTo>
                    <a:pt x="17" y="15"/>
                  </a:moveTo>
                  <a:cubicBezTo>
                    <a:pt x="16" y="11"/>
                    <a:pt x="15" y="1"/>
                    <a:pt x="13" y="1"/>
                  </a:cubicBezTo>
                  <a:cubicBezTo>
                    <a:pt x="11" y="0"/>
                    <a:pt x="2" y="1"/>
                    <a:pt x="1" y="2"/>
                  </a:cubicBezTo>
                  <a:cubicBezTo>
                    <a:pt x="0" y="4"/>
                    <a:pt x="10" y="12"/>
                    <a:pt x="10" y="12"/>
                  </a:cubicBezTo>
                  <a:lnTo>
                    <a:pt x="17" y="15"/>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8" name="Freeform 166"/>
            <p:cNvSpPr/>
            <p:nvPr/>
          </p:nvSpPr>
          <p:spPr>
            <a:xfrm>
              <a:off x="3931500" y="876572"/>
              <a:ext cx="87991" cy="40302"/>
            </a:xfrm>
            <a:custGeom>
              <a:avLst/>
              <a:gdLst>
                <a:gd name="txL" fmla="*/ 0 w 43"/>
                <a:gd name="txT" fmla="*/ 0 h 17"/>
                <a:gd name="txR" fmla="*/ 43 w 43"/>
                <a:gd name="txB" fmla="*/ 17 h 17"/>
              </a:gdLst>
              <a:ahLst/>
              <a:cxnLst>
                <a:cxn ang="0">
                  <a:pos x="32" y="17"/>
                </a:cxn>
                <a:cxn ang="0">
                  <a:pos x="16" y="13"/>
                </a:cxn>
                <a:cxn ang="0">
                  <a:pos x="8" y="9"/>
                </a:cxn>
                <a:cxn ang="0">
                  <a:pos x="19" y="1"/>
                </a:cxn>
                <a:cxn ang="0">
                  <a:pos x="29" y="3"/>
                </a:cxn>
                <a:cxn ang="0">
                  <a:pos x="41" y="10"/>
                </a:cxn>
                <a:cxn ang="0">
                  <a:pos x="40" y="14"/>
                </a:cxn>
                <a:cxn ang="0">
                  <a:pos x="32" y="17"/>
                </a:cxn>
              </a:cxnLst>
              <a:rect l="txL" t="txT" r="txR" b="txB"/>
              <a:pathLst>
                <a:path w="43" h="17">
                  <a:moveTo>
                    <a:pt x="32" y="17"/>
                  </a:moveTo>
                  <a:cubicBezTo>
                    <a:pt x="26" y="14"/>
                    <a:pt x="19" y="14"/>
                    <a:pt x="16" y="13"/>
                  </a:cubicBezTo>
                  <a:cubicBezTo>
                    <a:pt x="13" y="12"/>
                    <a:pt x="17" y="17"/>
                    <a:pt x="8" y="9"/>
                  </a:cubicBezTo>
                  <a:cubicBezTo>
                    <a:pt x="0" y="1"/>
                    <a:pt x="12" y="1"/>
                    <a:pt x="19" y="1"/>
                  </a:cubicBezTo>
                  <a:cubicBezTo>
                    <a:pt x="26" y="0"/>
                    <a:pt x="20" y="0"/>
                    <a:pt x="29" y="3"/>
                  </a:cubicBezTo>
                  <a:cubicBezTo>
                    <a:pt x="37" y="6"/>
                    <a:pt x="41" y="10"/>
                    <a:pt x="41" y="10"/>
                  </a:cubicBezTo>
                  <a:cubicBezTo>
                    <a:pt x="41" y="10"/>
                    <a:pt x="43" y="14"/>
                    <a:pt x="40" y="14"/>
                  </a:cubicBezTo>
                  <a:cubicBezTo>
                    <a:pt x="36" y="15"/>
                    <a:pt x="32" y="17"/>
                    <a:pt x="32" y="17"/>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79" name="Freeform 167"/>
            <p:cNvSpPr/>
            <p:nvPr/>
          </p:nvSpPr>
          <p:spPr>
            <a:xfrm>
              <a:off x="4145368" y="1321335"/>
              <a:ext cx="45218" cy="41742"/>
            </a:xfrm>
            <a:custGeom>
              <a:avLst/>
              <a:gdLst>
                <a:gd name="txL" fmla="*/ 0 w 22"/>
                <a:gd name="txT" fmla="*/ 0 h 17"/>
                <a:gd name="txR" fmla="*/ 22 w 22"/>
                <a:gd name="txB" fmla="*/ 17 h 17"/>
              </a:gdLst>
              <a:ahLst/>
              <a:cxnLst>
                <a:cxn ang="0">
                  <a:pos x="18" y="0"/>
                </a:cxn>
                <a:cxn ang="0">
                  <a:pos x="10" y="7"/>
                </a:cxn>
                <a:cxn ang="0">
                  <a:pos x="1" y="10"/>
                </a:cxn>
                <a:cxn ang="0">
                  <a:pos x="7" y="17"/>
                </a:cxn>
                <a:cxn ang="0">
                  <a:pos x="7" y="13"/>
                </a:cxn>
                <a:cxn ang="0">
                  <a:pos x="17" y="11"/>
                </a:cxn>
                <a:cxn ang="0">
                  <a:pos x="21" y="6"/>
                </a:cxn>
                <a:cxn ang="0">
                  <a:pos x="21" y="2"/>
                </a:cxn>
                <a:cxn ang="0">
                  <a:pos x="18" y="0"/>
                </a:cxn>
              </a:cxnLst>
              <a:rect l="txL" t="txT" r="txR" b="txB"/>
              <a:pathLst>
                <a:path w="22" h="17">
                  <a:moveTo>
                    <a:pt x="18" y="0"/>
                  </a:moveTo>
                  <a:cubicBezTo>
                    <a:pt x="16" y="3"/>
                    <a:pt x="13" y="9"/>
                    <a:pt x="10" y="7"/>
                  </a:cubicBezTo>
                  <a:cubicBezTo>
                    <a:pt x="8" y="6"/>
                    <a:pt x="0" y="9"/>
                    <a:pt x="1" y="10"/>
                  </a:cubicBezTo>
                  <a:cubicBezTo>
                    <a:pt x="2" y="11"/>
                    <a:pt x="7" y="17"/>
                    <a:pt x="7" y="17"/>
                  </a:cubicBezTo>
                  <a:cubicBezTo>
                    <a:pt x="7" y="17"/>
                    <a:pt x="5" y="16"/>
                    <a:pt x="7" y="13"/>
                  </a:cubicBezTo>
                  <a:cubicBezTo>
                    <a:pt x="9" y="9"/>
                    <a:pt x="14" y="12"/>
                    <a:pt x="17" y="11"/>
                  </a:cubicBezTo>
                  <a:cubicBezTo>
                    <a:pt x="20" y="9"/>
                    <a:pt x="21" y="7"/>
                    <a:pt x="21" y="6"/>
                  </a:cubicBezTo>
                  <a:cubicBezTo>
                    <a:pt x="22" y="4"/>
                    <a:pt x="22" y="4"/>
                    <a:pt x="21" y="2"/>
                  </a:cubicBezTo>
                  <a:cubicBezTo>
                    <a:pt x="21" y="1"/>
                    <a:pt x="18" y="0"/>
                    <a:pt x="18"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0" name="Freeform 168"/>
            <p:cNvSpPr/>
            <p:nvPr/>
          </p:nvSpPr>
          <p:spPr>
            <a:xfrm>
              <a:off x="4023158" y="1363077"/>
              <a:ext cx="50107" cy="35985"/>
            </a:xfrm>
            <a:custGeom>
              <a:avLst/>
              <a:gdLst>
                <a:gd name="txL" fmla="*/ 0 w 24"/>
                <a:gd name="txT" fmla="*/ 0 h 15"/>
                <a:gd name="txR" fmla="*/ 24 w 24"/>
                <a:gd name="txB" fmla="*/ 15 h 15"/>
              </a:gdLst>
              <a:ahLst/>
              <a:cxnLst>
                <a:cxn ang="0">
                  <a:pos x="16" y="12"/>
                </a:cxn>
                <a:cxn ang="0">
                  <a:pos x="9" y="15"/>
                </a:cxn>
                <a:cxn ang="0">
                  <a:pos x="1" y="10"/>
                </a:cxn>
                <a:cxn ang="0">
                  <a:pos x="8" y="5"/>
                </a:cxn>
                <a:cxn ang="0">
                  <a:pos x="14" y="5"/>
                </a:cxn>
                <a:cxn ang="0">
                  <a:pos x="16" y="12"/>
                </a:cxn>
              </a:cxnLst>
              <a:rect l="txL" t="txT" r="txR" b="txB"/>
              <a:pathLst>
                <a:path w="24" h="15">
                  <a:moveTo>
                    <a:pt x="16" y="12"/>
                  </a:moveTo>
                  <a:cubicBezTo>
                    <a:pt x="11" y="12"/>
                    <a:pt x="11" y="15"/>
                    <a:pt x="9" y="15"/>
                  </a:cubicBezTo>
                  <a:cubicBezTo>
                    <a:pt x="6" y="15"/>
                    <a:pt x="0" y="10"/>
                    <a:pt x="1" y="10"/>
                  </a:cubicBezTo>
                  <a:cubicBezTo>
                    <a:pt x="3" y="9"/>
                    <a:pt x="6" y="5"/>
                    <a:pt x="8" y="5"/>
                  </a:cubicBezTo>
                  <a:cubicBezTo>
                    <a:pt x="9" y="4"/>
                    <a:pt x="5" y="0"/>
                    <a:pt x="14" y="5"/>
                  </a:cubicBezTo>
                  <a:cubicBezTo>
                    <a:pt x="24" y="10"/>
                    <a:pt x="16" y="12"/>
                    <a:pt x="16" y="12"/>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1" name="Freeform 169"/>
            <p:cNvSpPr/>
            <p:nvPr/>
          </p:nvSpPr>
          <p:spPr>
            <a:xfrm>
              <a:off x="3970607" y="1394743"/>
              <a:ext cx="42774" cy="18712"/>
            </a:xfrm>
            <a:custGeom>
              <a:avLst/>
              <a:gdLst>
                <a:gd name="txL" fmla="*/ 0 w 21"/>
                <a:gd name="txT" fmla="*/ 0 h 8"/>
                <a:gd name="txR" fmla="*/ 21 w 21"/>
                <a:gd name="txB" fmla="*/ 8 h 8"/>
              </a:gdLst>
              <a:ahLst/>
              <a:cxnLst>
                <a:cxn ang="0">
                  <a:pos x="21" y="6"/>
                </a:cxn>
                <a:cxn ang="0">
                  <a:pos x="8" y="6"/>
                </a:cxn>
                <a:cxn ang="0">
                  <a:pos x="3" y="1"/>
                </a:cxn>
                <a:cxn ang="0">
                  <a:pos x="12" y="1"/>
                </a:cxn>
                <a:cxn ang="0">
                  <a:pos x="20" y="2"/>
                </a:cxn>
                <a:cxn ang="0">
                  <a:pos x="21" y="6"/>
                </a:cxn>
              </a:cxnLst>
              <a:rect l="txL" t="txT" r="txR" b="txB"/>
              <a:pathLst>
                <a:path w="21" h="8">
                  <a:moveTo>
                    <a:pt x="21" y="6"/>
                  </a:moveTo>
                  <a:cubicBezTo>
                    <a:pt x="16" y="8"/>
                    <a:pt x="8" y="6"/>
                    <a:pt x="8" y="6"/>
                  </a:cubicBezTo>
                  <a:cubicBezTo>
                    <a:pt x="8" y="6"/>
                    <a:pt x="0" y="2"/>
                    <a:pt x="3" y="1"/>
                  </a:cubicBezTo>
                  <a:cubicBezTo>
                    <a:pt x="6" y="0"/>
                    <a:pt x="9" y="1"/>
                    <a:pt x="12" y="1"/>
                  </a:cubicBezTo>
                  <a:cubicBezTo>
                    <a:pt x="15" y="2"/>
                    <a:pt x="20" y="2"/>
                    <a:pt x="20" y="2"/>
                  </a:cubicBezTo>
                  <a:lnTo>
                    <a:pt x="21" y="6"/>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2" name="Freeform 170"/>
            <p:cNvSpPr/>
            <p:nvPr/>
          </p:nvSpPr>
          <p:spPr>
            <a:xfrm>
              <a:off x="3905836" y="1396182"/>
              <a:ext cx="35441" cy="24470"/>
            </a:xfrm>
            <a:custGeom>
              <a:avLst/>
              <a:gdLst>
                <a:gd name="txL" fmla="*/ 0 w 17"/>
                <a:gd name="txT" fmla="*/ 0 h 10"/>
                <a:gd name="txR" fmla="*/ 17 w 17"/>
                <a:gd name="txB" fmla="*/ 10 h 10"/>
              </a:gdLst>
              <a:ahLst/>
              <a:cxnLst>
                <a:cxn ang="0">
                  <a:pos x="10" y="10"/>
                </a:cxn>
                <a:cxn ang="0">
                  <a:pos x="3" y="1"/>
                </a:cxn>
                <a:cxn ang="0">
                  <a:pos x="15" y="5"/>
                </a:cxn>
                <a:cxn ang="0">
                  <a:pos x="10" y="10"/>
                </a:cxn>
              </a:cxnLst>
              <a:rect l="txL" t="txT" r="txR" b="txB"/>
              <a:pathLst>
                <a:path w="17" h="10">
                  <a:moveTo>
                    <a:pt x="10" y="10"/>
                  </a:moveTo>
                  <a:cubicBezTo>
                    <a:pt x="8" y="8"/>
                    <a:pt x="0" y="0"/>
                    <a:pt x="3" y="1"/>
                  </a:cubicBezTo>
                  <a:cubicBezTo>
                    <a:pt x="6" y="2"/>
                    <a:pt x="17" y="4"/>
                    <a:pt x="15" y="5"/>
                  </a:cubicBezTo>
                  <a:cubicBezTo>
                    <a:pt x="13" y="6"/>
                    <a:pt x="10" y="10"/>
                    <a:pt x="10" y="1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3" name="Freeform 171"/>
            <p:cNvSpPr/>
            <p:nvPr/>
          </p:nvSpPr>
          <p:spPr>
            <a:xfrm>
              <a:off x="3627197" y="1210505"/>
              <a:ext cx="48884" cy="56136"/>
            </a:xfrm>
            <a:custGeom>
              <a:avLst/>
              <a:gdLst>
                <a:gd name="txL" fmla="*/ 0 w 24"/>
                <a:gd name="txT" fmla="*/ 0 h 23"/>
                <a:gd name="txR" fmla="*/ 24 w 24"/>
                <a:gd name="txB" fmla="*/ 23 h 23"/>
              </a:gdLst>
              <a:ahLst/>
              <a:cxnLst>
                <a:cxn ang="0">
                  <a:pos x="20" y="23"/>
                </a:cxn>
                <a:cxn ang="0">
                  <a:pos x="5" y="16"/>
                </a:cxn>
                <a:cxn ang="0">
                  <a:pos x="5" y="5"/>
                </a:cxn>
                <a:cxn ang="0">
                  <a:pos x="14" y="17"/>
                </a:cxn>
                <a:cxn ang="0">
                  <a:pos x="24" y="23"/>
                </a:cxn>
                <a:cxn ang="0">
                  <a:pos x="20" y="23"/>
                </a:cxn>
              </a:cxnLst>
              <a:rect l="txL" t="txT" r="txR" b="txB"/>
              <a:pathLst>
                <a:path w="24" h="23">
                  <a:moveTo>
                    <a:pt x="20" y="23"/>
                  </a:moveTo>
                  <a:cubicBezTo>
                    <a:pt x="17" y="22"/>
                    <a:pt x="7" y="19"/>
                    <a:pt x="5" y="16"/>
                  </a:cubicBezTo>
                  <a:cubicBezTo>
                    <a:pt x="4" y="12"/>
                    <a:pt x="0" y="0"/>
                    <a:pt x="5" y="5"/>
                  </a:cubicBezTo>
                  <a:cubicBezTo>
                    <a:pt x="9" y="11"/>
                    <a:pt x="10" y="16"/>
                    <a:pt x="14" y="17"/>
                  </a:cubicBezTo>
                  <a:cubicBezTo>
                    <a:pt x="18" y="19"/>
                    <a:pt x="24" y="23"/>
                    <a:pt x="24" y="23"/>
                  </a:cubicBezTo>
                  <a:lnTo>
                    <a:pt x="20" y="23"/>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4" name="Freeform 172"/>
            <p:cNvSpPr/>
            <p:nvPr/>
          </p:nvSpPr>
          <p:spPr>
            <a:xfrm>
              <a:off x="3672415" y="1239292"/>
              <a:ext cx="39107" cy="35985"/>
            </a:xfrm>
            <a:custGeom>
              <a:avLst/>
              <a:gdLst>
                <a:gd name="txL" fmla="*/ 0 w 19"/>
                <a:gd name="txT" fmla="*/ 0 h 15"/>
                <a:gd name="txR" fmla="*/ 19 w 19"/>
                <a:gd name="txB" fmla="*/ 15 h 15"/>
              </a:gdLst>
              <a:ahLst/>
              <a:cxnLst>
                <a:cxn ang="0">
                  <a:pos x="12" y="15"/>
                </a:cxn>
                <a:cxn ang="0">
                  <a:pos x="15" y="10"/>
                </a:cxn>
                <a:cxn ang="0">
                  <a:pos x="7" y="6"/>
                </a:cxn>
                <a:cxn ang="0">
                  <a:pos x="2" y="2"/>
                </a:cxn>
                <a:cxn ang="0">
                  <a:pos x="7" y="11"/>
                </a:cxn>
                <a:cxn ang="0">
                  <a:pos x="12" y="15"/>
                </a:cxn>
              </a:cxnLst>
              <a:rect l="txL" t="txT" r="txR" b="txB"/>
              <a:pathLst>
                <a:path w="19" h="15">
                  <a:moveTo>
                    <a:pt x="12" y="15"/>
                  </a:moveTo>
                  <a:cubicBezTo>
                    <a:pt x="16" y="13"/>
                    <a:pt x="19" y="11"/>
                    <a:pt x="15" y="10"/>
                  </a:cubicBezTo>
                  <a:cubicBezTo>
                    <a:pt x="11" y="9"/>
                    <a:pt x="13" y="9"/>
                    <a:pt x="7" y="6"/>
                  </a:cubicBezTo>
                  <a:cubicBezTo>
                    <a:pt x="2" y="2"/>
                    <a:pt x="4" y="0"/>
                    <a:pt x="2" y="2"/>
                  </a:cubicBezTo>
                  <a:cubicBezTo>
                    <a:pt x="0" y="4"/>
                    <a:pt x="7" y="11"/>
                    <a:pt x="7" y="11"/>
                  </a:cubicBezTo>
                  <a:lnTo>
                    <a:pt x="12" y="15"/>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5" name="Freeform 173"/>
            <p:cNvSpPr/>
            <p:nvPr/>
          </p:nvSpPr>
          <p:spPr>
            <a:xfrm>
              <a:off x="3194573" y="1273837"/>
              <a:ext cx="113656" cy="299388"/>
            </a:xfrm>
            <a:custGeom>
              <a:avLst/>
              <a:gdLst>
                <a:gd name="txL" fmla="*/ 0 w 55"/>
                <a:gd name="txT" fmla="*/ 0 h 124"/>
                <a:gd name="txR" fmla="*/ 55 w 55"/>
                <a:gd name="txB" fmla="*/ 124 h 124"/>
              </a:gdLst>
              <a:ahLst/>
              <a:cxnLst>
                <a:cxn ang="0">
                  <a:pos x="28" y="123"/>
                </a:cxn>
                <a:cxn ang="0">
                  <a:pos x="23" y="109"/>
                </a:cxn>
                <a:cxn ang="0">
                  <a:pos x="17" y="80"/>
                </a:cxn>
                <a:cxn ang="0">
                  <a:pos x="13" y="65"/>
                </a:cxn>
                <a:cxn ang="0">
                  <a:pos x="7" y="47"/>
                </a:cxn>
                <a:cxn ang="0">
                  <a:pos x="2" y="18"/>
                </a:cxn>
                <a:cxn ang="0">
                  <a:pos x="1" y="0"/>
                </a:cxn>
                <a:cxn ang="0">
                  <a:pos x="12" y="9"/>
                </a:cxn>
                <a:cxn ang="0">
                  <a:pos x="21" y="41"/>
                </a:cxn>
                <a:cxn ang="0">
                  <a:pos x="26" y="55"/>
                </a:cxn>
                <a:cxn ang="0">
                  <a:pos x="31" y="58"/>
                </a:cxn>
                <a:cxn ang="0">
                  <a:pos x="35" y="67"/>
                </a:cxn>
                <a:cxn ang="0">
                  <a:pos x="33" y="71"/>
                </a:cxn>
                <a:cxn ang="0">
                  <a:pos x="45" y="79"/>
                </a:cxn>
                <a:cxn ang="0">
                  <a:pos x="50" y="88"/>
                </a:cxn>
                <a:cxn ang="0">
                  <a:pos x="39" y="86"/>
                </a:cxn>
                <a:cxn ang="0">
                  <a:pos x="32" y="80"/>
                </a:cxn>
                <a:cxn ang="0">
                  <a:pos x="29" y="81"/>
                </a:cxn>
                <a:cxn ang="0">
                  <a:pos x="29" y="90"/>
                </a:cxn>
                <a:cxn ang="0">
                  <a:pos x="30" y="104"/>
                </a:cxn>
                <a:cxn ang="0">
                  <a:pos x="35" y="113"/>
                </a:cxn>
                <a:cxn ang="0">
                  <a:pos x="40" y="118"/>
                </a:cxn>
                <a:cxn ang="0">
                  <a:pos x="43" y="123"/>
                </a:cxn>
                <a:cxn ang="0">
                  <a:pos x="33" y="122"/>
                </a:cxn>
                <a:cxn ang="0">
                  <a:pos x="28" y="123"/>
                </a:cxn>
              </a:cxnLst>
              <a:rect l="txL" t="txT" r="txR" b="txB"/>
              <a:pathLst>
                <a:path w="55" h="124">
                  <a:moveTo>
                    <a:pt x="28" y="123"/>
                  </a:moveTo>
                  <a:cubicBezTo>
                    <a:pt x="29" y="121"/>
                    <a:pt x="27" y="121"/>
                    <a:pt x="23" y="109"/>
                  </a:cubicBezTo>
                  <a:cubicBezTo>
                    <a:pt x="18" y="97"/>
                    <a:pt x="17" y="86"/>
                    <a:pt x="17" y="80"/>
                  </a:cubicBezTo>
                  <a:cubicBezTo>
                    <a:pt x="17" y="73"/>
                    <a:pt x="16" y="73"/>
                    <a:pt x="13" y="65"/>
                  </a:cubicBezTo>
                  <a:cubicBezTo>
                    <a:pt x="10" y="57"/>
                    <a:pt x="6" y="51"/>
                    <a:pt x="7" y="47"/>
                  </a:cubicBezTo>
                  <a:cubicBezTo>
                    <a:pt x="7" y="43"/>
                    <a:pt x="3" y="22"/>
                    <a:pt x="2" y="18"/>
                  </a:cubicBezTo>
                  <a:cubicBezTo>
                    <a:pt x="1" y="14"/>
                    <a:pt x="0" y="0"/>
                    <a:pt x="1" y="0"/>
                  </a:cubicBezTo>
                  <a:cubicBezTo>
                    <a:pt x="3" y="0"/>
                    <a:pt x="10" y="5"/>
                    <a:pt x="12" y="9"/>
                  </a:cubicBezTo>
                  <a:cubicBezTo>
                    <a:pt x="14" y="12"/>
                    <a:pt x="18" y="36"/>
                    <a:pt x="21" y="41"/>
                  </a:cubicBezTo>
                  <a:cubicBezTo>
                    <a:pt x="24" y="47"/>
                    <a:pt x="21" y="53"/>
                    <a:pt x="26" y="55"/>
                  </a:cubicBezTo>
                  <a:cubicBezTo>
                    <a:pt x="31" y="58"/>
                    <a:pt x="31" y="50"/>
                    <a:pt x="31" y="58"/>
                  </a:cubicBezTo>
                  <a:cubicBezTo>
                    <a:pt x="31" y="66"/>
                    <a:pt x="38" y="67"/>
                    <a:pt x="35" y="67"/>
                  </a:cubicBezTo>
                  <a:cubicBezTo>
                    <a:pt x="32" y="67"/>
                    <a:pt x="33" y="71"/>
                    <a:pt x="33" y="71"/>
                  </a:cubicBezTo>
                  <a:cubicBezTo>
                    <a:pt x="33" y="71"/>
                    <a:pt x="43" y="77"/>
                    <a:pt x="45" y="79"/>
                  </a:cubicBezTo>
                  <a:cubicBezTo>
                    <a:pt x="47" y="81"/>
                    <a:pt x="55" y="89"/>
                    <a:pt x="50" y="88"/>
                  </a:cubicBezTo>
                  <a:cubicBezTo>
                    <a:pt x="44" y="87"/>
                    <a:pt x="42" y="91"/>
                    <a:pt x="39" y="86"/>
                  </a:cubicBezTo>
                  <a:cubicBezTo>
                    <a:pt x="35" y="82"/>
                    <a:pt x="35" y="82"/>
                    <a:pt x="32" y="80"/>
                  </a:cubicBezTo>
                  <a:cubicBezTo>
                    <a:pt x="30" y="78"/>
                    <a:pt x="28" y="77"/>
                    <a:pt x="29" y="81"/>
                  </a:cubicBezTo>
                  <a:cubicBezTo>
                    <a:pt x="30" y="84"/>
                    <a:pt x="29" y="84"/>
                    <a:pt x="29" y="90"/>
                  </a:cubicBezTo>
                  <a:cubicBezTo>
                    <a:pt x="30" y="96"/>
                    <a:pt x="31" y="101"/>
                    <a:pt x="30" y="104"/>
                  </a:cubicBezTo>
                  <a:cubicBezTo>
                    <a:pt x="29" y="106"/>
                    <a:pt x="33" y="112"/>
                    <a:pt x="35" y="113"/>
                  </a:cubicBezTo>
                  <a:cubicBezTo>
                    <a:pt x="37" y="114"/>
                    <a:pt x="40" y="116"/>
                    <a:pt x="40" y="118"/>
                  </a:cubicBezTo>
                  <a:cubicBezTo>
                    <a:pt x="41" y="119"/>
                    <a:pt x="48" y="123"/>
                    <a:pt x="43" y="123"/>
                  </a:cubicBezTo>
                  <a:cubicBezTo>
                    <a:pt x="38" y="124"/>
                    <a:pt x="33" y="122"/>
                    <a:pt x="33" y="122"/>
                  </a:cubicBezTo>
                  <a:lnTo>
                    <a:pt x="28" y="123"/>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6" name="Freeform 174"/>
            <p:cNvSpPr/>
            <p:nvPr/>
          </p:nvSpPr>
          <p:spPr>
            <a:xfrm>
              <a:off x="3225126" y="1544437"/>
              <a:ext cx="212646" cy="179921"/>
            </a:xfrm>
            <a:custGeom>
              <a:avLst/>
              <a:gdLst>
                <a:gd name="txL" fmla="*/ 0 w 103"/>
                <a:gd name="txT" fmla="*/ 0 h 74"/>
                <a:gd name="txR" fmla="*/ 103 w 103"/>
                <a:gd name="txB" fmla="*/ 74 h 74"/>
              </a:gdLst>
              <a:ahLst/>
              <a:cxnLst>
                <a:cxn ang="0">
                  <a:pos x="39" y="39"/>
                </a:cxn>
                <a:cxn ang="0">
                  <a:pos x="23" y="30"/>
                </a:cxn>
                <a:cxn ang="0">
                  <a:pos x="14" y="22"/>
                </a:cxn>
                <a:cxn ang="0">
                  <a:pos x="7" y="25"/>
                </a:cxn>
                <a:cxn ang="0">
                  <a:pos x="13" y="35"/>
                </a:cxn>
                <a:cxn ang="0">
                  <a:pos x="13" y="40"/>
                </a:cxn>
                <a:cxn ang="0">
                  <a:pos x="10" y="48"/>
                </a:cxn>
                <a:cxn ang="0">
                  <a:pos x="6" y="51"/>
                </a:cxn>
                <a:cxn ang="0">
                  <a:pos x="3" y="55"/>
                </a:cxn>
                <a:cxn ang="0">
                  <a:pos x="8" y="65"/>
                </a:cxn>
                <a:cxn ang="0">
                  <a:pos x="3" y="70"/>
                </a:cxn>
                <a:cxn ang="0">
                  <a:pos x="10" y="72"/>
                </a:cxn>
                <a:cxn ang="0">
                  <a:pos x="16" y="66"/>
                </a:cxn>
                <a:cxn ang="0">
                  <a:pos x="20" y="59"/>
                </a:cxn>
                <a:cxn ang="0">
                  <a:pos x="28" y="60"/>
                </a:cxn>
                <a:cxn ang="0">
                  <a:pos x="32" y="62"/>
                </a:cxn>
                <a:cxn ang="0">
                  <a:pos x="39" y="65"/>
                </a:cxn>
                <a:cxn ang="0">
                  <a:pos x="40" y="60"/>
                </a:cxn>
                <a:cxn ang="0">
                  <a:pos x="48" y="54"/>
                </a:cxn>
                <a:cxn ang="0">
                  <a:pos x="56" y="53"/>
                </a:cxn>
                <a:cxn ang="0">
                  <a:pos x="56" y="44"/>
                </a:cxn>
                <a:cxn ang="0">
                  <a:pos x="53" y="39"/>
                </a:cxn>
                <a:cxn ang="0">
                  <a:pos x="74" y="32"/>
                </a:cxn>
                <a:cxn ang="0">
                  <a:pos x="85" y="28"/>
                </a:cxn>
                <a:cxn ang="0">
                  <a:pos x="90" y="15"/>
                </a:cxn>
                <a:cxn ang="0">
                  <a:pos x="102" y="8"/>
                </a:cxn>
                <a:cxn ang="0">
                  <a:pos x="96" y="5"/>
                </a:cxn>
                <a:cxn ang="0">
                  <a:pos x="81" y="18"/>
                </a:cxn>
                <a:cxn ang="0">
                  <a:pos x="67" y="27"/>
                </a:cxn>
                <a:cxn ang="0">
                  <a:pos x="58" y="34"/>
                </a:cxn>
                <a:cxn ang="0">
                  <a:pos x="41" y="36"/>
                </a:cxn>
                <a:cxn ang="0">
                  <a:pos x="39" y="39"/>
                </a:cxn>
              </a:cxnLst>
              <a:rect l="txL" t="txT" r="txR" b="txB"/>
              <a:pathLst>
                <a:path w="103" h="74">
                  <a:moveTo>
                    <a:pt x="39" y="39"/>
                  </a:moveTo>
                  <a:cubicBezTo>
                    <a:pt x="28" y="33"/>
                    <a:pt x="29" y="37"/>
                    <a:pt x="23" y="30"/>
                  </a:cubicBezTo>
                  <a:cubicBezTo>
                    <a:pt x="17" y="24"/>
                    <a:pt x="14" y="22"/>
                    <a:pt x="14" y="22"/>
                  </a:cubicBezTo>
                  <a:cubicBezTo>
                    <a:pt x="7" y="25"/>
                    <a:pt x="7" y="25"/>
                    <a:pt x="7" y="25"/>
                  </a:cubicBezTo>
                  <a:cubicBezTo>
                    <a:pt x="13" y="35"/>
                    <a:pt x="13" y="35"/>
                    <a:pt x="13" y="35"/>
                  </a:cubicBezTo>
                  <a:cubicBezTo>
                    <a:pt x="13" y="35"/>
                    <a:pt x="15" y="38"/>
                    <a:pt x="13" y="40"/>
                  </a:cubicBezTo>
                  <a:cubicBezTo>
                    <a:pt x="12" y="41"/>
                    <a:pt x="12" y="48"/>
                    <a:pt x="10" y="48"/>
                  </a:cubicBezTo>
                  <a:cubicBezTo>
                    <a:pt x="9" y="49"/>
                    <a:pt x="9" y="52"/>
                    <a:pt x="6" y="51"/>
                  </a:cubicBezTo>
                  <a:cubicBezTo>
                    <a:pt x="3" y="51"/>
                    <a:pt x="4" y="52"/>
                    <a:pt x="3" y="55"/>
                  </a:cubicBezTo>
                  <a:cubicBezTo>
                    <a:pt x="2" y="57"/>
                    <a:pt x="11" y="64"/>
                    <a:pt x="8" y="65"/>
                  </a:cubicBezTo>
                  <a:cubicBezTo>
                    <a:pt x="4" y="66"/>
                    <a:pt x="0" y="69"/>
                    <a:pt x="3" y="70"/>
                  </a:cubicBezTo>
                  <a:cubicBezTo>
                    <a:pt x="6" y="71"/>
                    <a:pt x="8" y="74"/>
                    <a:pt x="10" y="72"/>
                  </a:cubicBezTo>
                  <a:cubicBezTo>
                    <a:pt x="13" y="71"/>
                    <a:pt x="18" y="69"/>
                    <a:pt x="16" y="66"/>
                  </a:cubicBezTo>
                  <a:cubicBezTo>
                    <a:pt x="14" y="64"/>
                    <a:pt x="18" y="59"/>
                    <a:pt x="20" y="59"/>
                  </a:cubicBezTo>
                  <a:cubicBezTo>
                    <a:pt x="23" y="59"/>
                    <a:pt x="25" y="59"/>
                    <a:pt x="28" y="60"/>
                  </a:cubicBezTo>
                  <a:cubicBezTo>
                    <a:pt x="31" y="60"/>
                    <a:pt x="30" y="62"/>
                    <a:pt x="32" y="62"/>
                  </a:cubicBezTo>
                  <a:cubicBezTo>
                    <a:pt x="34" y="63"/>
                    <a:pt x="35" y="66"/>
                    <a:pt x="39" y="65"/>
                  </a:cubicBezTo>
                  <a:cubicBezTo>
                    <a:pt x="43" y="64"/>
                    <a:pt x="37" y="62"/>
                    <a:pt x="40" y="60"/>
                  </a:cubicBezTo>
                  <a:cubicBezTo>
                    <a:pt x="43" y="58"/>
                    <a:pt x="46" y="55"/>
                    <a:pt x="48" y="54"/>
                  </a:cubicBezTo>
                  <a:cubicBezTo>
                    <a:pt x="51" y="53"/>
                    <a:pt x="56" y="53"/>
                    <a:pt x="56" y="53"/>
                  </a:cubicBezTo>
                  <a:cubicBezTo>
                    <a:pt x="56" y="44"/>
                    <a:pt x="56" y="44"/>
                    <a:pt x="56" y="44"/>
                  </a:cubicBezTo>
                  <a:cubicBezTo>
                    <a:pt x="56" y="44"/>
                    <a:pt x="53" y="41"/>
                    <a:pt x="53" y="39"/>
                  </a:cubicBezTo>
                  <a:cubicBezTo>
                    <a:pt x="54" y="36"/>
                    <a:pt x="72" y="33"/>
                    <a:pt x="74" y="32"/>
                  </a:cubicBezTo>
                  <a:cubicBezTo>
                    <a:pt x="75" y="31"/>
                    <a:pt x="82" y="32"/>
                    <a:pt x="85" y="28"/>
                  </a:cubicBezTo>
                  <a:cubicBezTo>
                    <a:pt x="87" y="24"/>
                    <a:pt x="88" y="17"/>
                    <a:pt x="90" y="15"/>
                  </a:cubicBezTo>
                  <a:cubicBezTo>
                    <a:pt x="93" y="14"/>
                    <a:pt x="102" y="10"/>
                    <a:pt x="102" y="8"/>
                  </a:cubicBezTo>
                  <a:cubicBezTo>
                    <a:pt x="101" y="7"/>
                    <a:pt x="103" y="0"/>
                    <a:pt x="96" y="5"/>
                  </a:cubicBezTo>
                  <a:cubicBezTo>
                    <a:pt x="90" y="10"/>
                    <a:pt x="90" y="13"/>
                    <a:pt x="81" y="18"/>
                  </a:cubicBezTo>
                  <a:cubicBezTo>
                    <a:pt x="72" y="22"/>
                    <a:pt x="69" y="25"/>
                    <a:pt x="67" y="27"/>
                  </a:cubicBezTo>
                  <a:cubicBezTo>
                    <a:pt x="65" y="29"/>
                    <a:pt x="68" y="34"/>
                    <a:pt x="58" y="34"/>
                  </a:cubicBezTo>
                  <a:cubicBezTo>
                    <a:pt x="47" y="34"/>
                    <a:pt x="41" y="36"/>
                    <a:pt x="41" y="36"/>
                  </a:cubicBezTo>
                  <a:lnTo>
                    <a:pt x="39" y="39"/>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7" name="Freeform 175"/>
            <p:cNvSpPr/>
            <p:nvPr/>
          </p:nvSpPr>
          <p:spPr>
            <a:xfrm>
              <a:off x="3065031" y="1718600"/>
              <a:ext cx="246864" cy="326736"/>
            </a:xfrm>
            <a:custGeom>
              <a:avLst/>
              <a:gdLst>
                <a:gd name="txL" fmla="*/ 0 w 120"/>
                <a:gd name="txT" fmla="*/ 0 h 135"/>
                <a:gd name="txR" fmla="*/ 120 w 120"/>
                <a:gd name="txB" fmla="*/ 135 h 135"/>
              </a:gdLst>
              <a:ahLst/>
              <a:cxnLst>
                <a:cxn ang="0">
                  <a:pos x="98" y="0"/>
                </a:cxn>
                <a:cxn ang="0">
                  <a:pos x="91" y="6"/>
                </a:cxn>
                <a:cxn ang="0">
                  <a:pos x="85" y="12"/>
                </a:cxn>
                <a:cxn ang="0">
                  <a:pos x="89" y="29"/>
                </a:cxn>
                <a:cxn ang="0">
                  <a:pos x="92" y="41"/>
                </a:cxn>
                <a:cxn ang="0">
                  <a:pos x="86" y="45"/>
                </a:cxn>
                <a:cxn ang="0">
                  <a:pos x="81" y="51"/>
                </a:cxn>
                <a:cxn ang="0">
                  <a:pos x="78" y="55"/>
                </a:cxn>
                <a:cxn ang="0">
                  <a:pos x="70" y="48"/>
                </a:cxn>
                <a:cxn ang="0">
                  <a:pos x="65" y="55"/>
                </a:cxn>
                <a:cxn ang="0">
                  <a:pos x="63" y="60"/>
                </a:cxn>
                <a:cxn ang="0">
                  <a:pos x="60" y="66"/>
                </a:cxn>
                <a:cxn ang="0">
                  <a:pos x="51" y="72"/>
                </a:cxn>
                <a:cxn ang="0">
                  <a:pos x="49" y="77"/>
                </a:cxn>
                <a:cxn ang="0">
                  <a:pos x="28" y="79"/>
                </a:cxn>
                <a:cxn ang="0">
                  <a:pos x="21" y="84"/>
                </a:cxn>
                <a:cxn ang="0">
                  <a:pos x="18" y="90"/>
                </a:cxn>
                <a:cxn ang="0">
                  <a:pos x="14" y="99"/>
                </a:cxn>
                <a:cxn ang="0">
                  <a:pos x="2" y="101"/>
                </a:cxn>
                <a:cxn ang="0">
                  <a:pos x="6" y="109"/>
                </a:cxn>
                <a:cxn ang="0">
                  <a:pos x="17" y="115"/>
                </a:cxn>
                <a:cxn ang="0">
                  <a:pos x="21" y="129"/>
                </a:cxn>
                <a:cxn ang="0">
                  <a:pos x="21" y="130"/>
                </a:cxn>
                <a:cxn ang="0">
                  <a:pos x="30" y="120"/>
                </a:cxn>
                <a:cxn ang="0">
                  <a:pos x="36" y="100"/>
                </a:cxn>
                <a:cxn ang="0">
                  <a:pos x="46" y="103"/>
                </a:cxn>
                <a:cxn ang="0">
                  <a:pos x="55" y="93"/>
                </a:cxn>
                <a:cxn ang="0">
                  <a:pos x="58" y="93"/>
                </a:cxn>
                <a:cxn ang="0">
                  <a:pos x="65" y="98"/>
                </a:cxn>
                <a:cxn ang="0">
                  <a:pos x="78" y="90"/>
                </a:cxn>
                <a:cxn ang="0">
                  <a:pos x="77" y="81"/>
                </a:cxn>
                <a:cxn ang="0">
                  <a:pos x="84" y="78"/>
                </a:cxn>
                <a:cxn ang="0">
                  <a:pos x="91" y="84"/>
                </a:cxn>
                <a:cxn ang="0">
                  <a:pos x="112" y="80"/>
                </a:cxn>
                <a:cxn ang="0">
                  <a:pos x="108" y="67"/>
                </a:cxn>
                <a:cxn ang="0">
                  <a:pos x="111" y="61"/>
                </a:cxn>
                <a:cxn ang="0">
                  <a:pos x="108" y="42"/>
                </a:cxn>
                <a:cxn ang="0">
                  <a:pos x="117" y="33"/>
                </a:cxn>
                <a:cxn ang="0">
                  <a:pos x="117" y="27"/>
                </a:cxn>
                <a:cxn ang="0">
                  <a:pos x="109" y="11"/>
                </a:cxn>
                <a:cxn ang="0">
                  <a:pos x="101" y="4"/>
                </a:cxn>
                <a:cxn ang="0">
                  <a:pos x="98" y="0"/>
                </a:cxn>
              </a:cxnLst>
              <a:rect l="txL" t="txT" r="txR" b="txB"/>
              <a:pathLst>
                <a:path w="120" h="135">
                  <a:moveTo>
                    <a:pt x="98" y="0"/>
                  </a:moveTo>
                  <a:cubicBezTo>
                    <a:pt x="97" y="1"/>
                    <a:pt x="93" y="4"/>
                    <a:pt x="91" y="6"/>
                  </a:cubicBezTo>
                  <a:cubicBezTo>
                    <a:pt x="88" y="8"/>
                    <a:pt x="85" y="8"/>
                    <a:pt x="85" y="12"/>
                  </a:cubicBezTo>
                  <a:cubicBezTo>
                    <a:pt x="85" y="17"/>
                    <a:pt x="90" y="22"/>
                    <a:pt x="89" y="29"/>
                  </a:cubicBezTo>
                  <a:cubicBezTo>
                    <a:pt x="87" y="35"/>
                    <a:pt x="97" y="40"/>
                    <a:pt x="92" y="41"/>
                  </a:cubicBezTo>
                  <a:cubicBezTo>
                    <a:pt x="87" y="43"/>
                    <a:pt x="88" y="44"/>
                    <a:pt x="86" y="45"/>
                  </a:cubicBezTo>
                  <a:cubicBezTo>
                    <a:pt x="83" y="47"/>
                    <a:pt x="81" y="51"/>
                    <a:pt x="81" y="51"/>
                  </a:cubicBezTo>
                  <a:cubicBezTo>
                    <a:pt x="81" y="51"/>
                    <a:pt x="84" y="60"/>
                    <a:pt x="78" y="55"/>
                  </a:cubicBezTo>
                  <a:cubicBezTo>
                    <a:pt x="71" y="50"/>
                    <a:pt x="71" y="48"/>
                    <a:pt x="70" y="48"/>
                  </a:cubicBezTo>
                  <a:cubicBezTo>
                    <a:pt x="68" y="48"/>
                    <a:pt x="67" y="54"/>
                    <a:pt x="65" y="55"/>
                  </a:cubicBezTo>
                  <a:cubicBezTo>
                    <a:pt x="63" y="56"/>
                    <a:pt x="64" y="58"/>
                    <a:pt x="63" y="60"/>
                  </a:cubicBezTo>
                  <a:cubicBezTo>
                    <a:pt x="62" y="61"/>
                    <a:pt x="68" y="62"/>
                    <a:pt x="60" y="66"/>
                  </a:cubicBezTo>
                  <a:cubicBezTo>
                    <a:pt x="51" y="69"/>
                    <a:pt x="50" y="70"/>
                    <a:pt x="51" y="72"/>
                  </a:cubicBezTo>
                  <a:cubicBezTo>
                    <a:pt x="51" y="73"/>
                    <a:pt x="64" y="76"/>
                    <a:pt x="49" y="77"/>
                  </a:cubicBezTo>
                  <a:cubicBezTo>
                    <a:pt x="34" y="78"/>
                    <a:pt x="33" y="78"/>
                    <a:pt x="28" y="79"/>
                  </a:cubicBezTo>
                  <a:cubicBezTo>
                    <a:pt x="23" y="79"/>
                    <a:pt x="23" y="81"/>
                    <a:pt x="21" y="84"/>
                  </a:cubicBezTo>
                  <a:cubicBezTo>
                    <a:pt x="18" y="86"/>
                    <a:pt x="20" y="88"/>
                    <a:pt x="18" y="90"/>
                  </a:cubicBezTo>
                  <a:cubicBezTo>
                    <a:pt x="16" y="91"/>
                    <a:pt x="20" y="100"/>
                    <a:pt x="14" y="99"/>
                  </a:cubicBezTo>
                  <a:cubicBezTo>
                    <a:pt x="8" y="98"/>
                    <a:pt x="3" y="99"/>
                    <a:pt x="2" y="101"/>
                  </a:cubicBezTo>
                  <a:cubicBezTo>
                    <a:pt x="1" y="102"/>
                    <a:pt x="0" y="106"/>
                    <a:pt x="6" y="109"/>
                  </a:cubicBezTo>
                  <a:cubicBezTo>
                    <a:pt x="12" y="112"/>
                    <a:pt x="19" y="112"/>
                    <a:pt x="17" y="115"/>
                  </a:cubicBezTo>
                  <a:cubicBezTo>
                    <a:pt x="15" y="118"/>
                    <a:pt x="20" y="128"/>
                    <a:pt x="21" y="129"/>
                  </a:cubicBezTo>
                  <a:cubicBezTo>
                    <a:pt x="21" y="130"/>
                    <a:pt x="18" y="133"/>
                    <a:pt x="21" y="130"/>
                  </a:cubicBezTo>
                  <a:cubicBezTo>
                    <a:pt x="25" y="127"/>
                    <a:pt x="26" y="135"/>
                    <a:pt x="30" y="120"/>
                  </a:cubicBezTo>
                  <a:cubicBezTo>
                    <a:pt x="33" y="105"/>
                    <a:pt x="26" y="98"/>
                    <a:pt x="36" y="100"/>
                  </a:cubicBezTo>
                  <a:cubicBezTo>
                    <a:pt x="46" y="103"/>
                    <a:pt x="44" y="105"/>
                    <a:pt x="46" y="103"/>
                  </a:cubicBezTo>
                  <a:cubicBezTo>
                    <a:pt x="48" y="100"/>
                    <a:pt x="54" y="97"/>
                    <a:pt x="55" y="93"/>
                  </a:cubicBezTo>
                  <a:cubicBezTo>
                    <a:pt x="55" y="90"/>
                    <a:pt x="56" y="90"/>
                    <a:pt x="58" y="93"/>
                  </a:cubicBezTo>
                  <a:cubicBezTo>
                    <a:pt x="61" y="95"/>
                    <a:pt x="59" y="98"/>
                    <a:pt x="65" y="98"/>
                  </a:cubicBezTo>
                  <a:cubicBezTo>
                    <a:pt x="70" y="98"/>
                    <a:pt x="78" y="94"/>
                    <a:pt x="78" y="90"/>
                  </a:cubicBezTo>
                  <a:cubicBezTo>
                    <a:pt x="77" y="87"/>
                    <a:pt x="79" y="82"/>
                    <a:pt x="77" y="81"/>
                  </a:cubicBezTo>
                  <a:cubicBezTo>
                    <a:pt x="76" y="80"/>
                    <a:pt x="80" y="76"/>
                    <a:pt x="84" y="78"/>
                  </a:cubicBezTo>
                  <a:cubicBezTo>
                    <a:pt x="89" y="80"/>
                    <a:pt x="86" y="83"/>
                    <a:pt x="91" y="84"/>
                  </a:cubicBezTo>
                  <a:cubicBezTo>
                    <a:pt x="96" y="84"/>
                    <a:pt x="114" y="84"/>
                    <a:pt x="112" y="80"/>
                  </a:cubicBezTo>
                  <a:cubicBezTo>
                    <a:pt x="109" y="76"/>
                    <a:pt x="110" y="69"/>
                    <a:pt x="108" y="67"/>
                  </a:cubicBezTo>
                  <a:cubicBezTo>
                    <a:pt x="106" y="64"/>
                    <a:pt x="111" y="69"/>
                    <a:pt x="111" y="61"/>
                  </a:cubicBezTo>
                  <a:cubicBezTo>
                    <a:pt x="111" y="53"/>
                    <a:pt x="109" y="53"/>
                    <a:pt x="108" y="42"/>
                  </a:cubicBezTo>
                  <a:cubicBezTo>
                    <a:pt x="108" y="31"/>
                    <a:pt x="117" y="35"/>
                    <a:pt x="117" y="33"/>
                  </a:cubicBezTo>
                  <a:cubicBezTo>
                    <a:pt x="117" y="30"/>
                    <a:pt x="120" y="34"/>
                    <a:pt x="117" y="27"/>
                  </a:cubicBezTo>
                  <a:cubicBezTo>
                    <a:pt x="114" y="20"/>
                    <a:pt x="111" y="12"/>
                    <a:pt x="109" y="11"/>
                  </a:cubicBezTo>
                  <a:cubicBezTo>
                    <a:pt x="107" y="9"/>
                    <a:pt x="101" y="4"/>
                    <a:pt x="101" y="4"/>
                  </a:cubicBezTo>
                  <a:lnTo>
                    <a:pt x="98" y="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8" name="Freeform 176"/>
            <p:cNvSpPr/>
            <p:nvPr/>
          </p:nvSpPr>
          <p:spPr>
            <a:xfrm>
              <a:off x="2911046" y="2164802"/>
              <a:ext cx="47662" cy="86362"/>
            </a:xfrm>
            <a:custGeom>
              <a:avLst/>
              <a:gdLst>
                <a:gd name="txL" fmla="*/ 0 w 23"/>
                <a:gd name="txT" fmla="*/ 0 h 36"/>
                <a:gd name="txR" fmla="*/ 23 w 23"/>
                <a:gd name="txB" fmla="*/ 36 h 36"/>
              </a:gdLst>
              <a:ahLst/>
              <a:cxnLst>
                <a:cxn ang="0">
                  <a:pos x="15" y="0"/>
                </a:cxn>
                <a:cxn ang="0">
                  <a:pos x="5" y="11"/>
                </a:cxn>
                <a:cxn ang="0">
                  <a:pos x="13" y="34"/>
                </a:cxn>
                <a:cxn ang="0">
                  <a:pos x="16" y="29"/>
                </a:cxn>
                <a:cxn ang="0">
                  <a:pos x="20" y="24"/>
                </a:cxn>
                <a:cxn ang="0">
                  <a:pos x="21" y="17"/>
                </a:cxn>
                <a:cxn ang="0">
                  <a:pos x="20" y="10"/>
                </a:cxn>
                <a:cxn ang="0">
                  <a:pos x="15" y="0"/>
                </a:cxn>
              </a:cxnLst>
              <a:rect l="txL" t="txT" r="txR" b="txB"/>
              <a:pathLst>
                <a:path w="23" h="36">
                  <a:moveTo>
                    <a:pt x="15" y="0"/>
                  </a:moveTo>
                  <a:cubicBezTo>
                    <a:pt x="8" y="4"/>
                    <a:pt x="0" y="4"/>
                    <a:pt x="5" y="11"/>
                  </a:cubicBezTo>
                  <a:cubicBezTo>
                    <a:pt x="11" y="17"/>
                    <a:pt x="15" y="36"/>
                    <a:pt x="13" y="34"/>
                  </a:cubicBezTo>
                  <a:cubicBezTo>
                    <a:pt x="12" y="32"/>
                    <a:pt x="13" y="33"/>
                    <a:pt x="16" y="29"/>
                  </a:cubicBezTo>
                  <a:cubicBezTo>
                    <a:pt x="19" y="26"/>
                    <a:pt x="22" y="26"/>
                    <a:pt x="20" y="24"/>
                  </a:cubicBezTo>
                  <a:cubicBezTo>
                    <a:pt x="18" y="22"/>
                    <a:pt x="19" y="19"/>
                    <a:pt x="21" y="17"/>
                  </a:cubicBezTo>
                  <a:cubicBezTo>
                    <a:pt x="23" y="15"/>
                    <a:pt x="22" y="15"/>
                    <a:pt x="20" y="10"/>
                  </a:cubicBezTo>
                  <a:cubicBezTo>
                    <a:pt x="19" y="5"/>
                    <a:pt x="15" y="0"/>
                    <a:pt x="15"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89" name="Freeform 177"/>
            <p:cNvSpPr/>
            <p:nvPr/>
          </p:nvSpPr>
          <p:spPr>
            <a:xfrm>
              <a:off x="2997815" y="2164802"/>
              <a:ext cx="39107" cy="38863"/>
            </a:xfrm>
            <a:custGeom>
              <a:avLst/>
              <a:gdLst>
                <a:gd name="txL" fmla="*/ 0 w 19"/>
                <a:gd name="txT" fmla="*/ 0 h 16"/>
                <a:gd name="txR" fmla="*/ 19 w 19"/>
                <a:gd name="txB" fmla="*/ 16 h 16"/>
              </a:gdLst>
              <a:ahLst/>
              <a:cxnLst>
                <a:cxn ang="0">
                  <a:pos x="1" y="12"/>
                </a:cxn>
                <a:cxn ang="0">
                  <a:pos x="17" y="11"/>
                </a:cxn>
                <a:cxn ang="0">
                  <a:pos x="14" y="3"/>
                </a:cxn>
                <a:cxn ang="0">
                  <a:pos x="4" y="10"/>
                </a:cxn>
                <a:cxn ang="0">
                  <a:pos x="1" y="12"/>
                </a:cxn>
              </a:cxnLst>
              <a:rect l="txL" t="txT" r="txR" b="txB"/>
              <a:pathLst>
                <a:path w="19" h="16">
                  <a:moveTo>
                    <a:pt x="1" y="12"/>
                  </a:moveTo>
                  <a:cubicBezTo>
                    <a:pt x="0" y="13"/>
                    <a:pt x="19" y="16"/>
                    <a:pt x="17" y="11"/>
                  </a:cubicBezTo>
                  <a:cubicBezTo>
                    <a:pt x="14" y="7"/>
                    <a:pt x="19" y="6"/>
                    <a:pt x="14" y="3"/>
                  </a:cubicBezTo>
                  <a:cubicBezTo>
                    <a:pt x="10" y="0"/>
                    <a:pt x="4" y="10"/>
                    <a:pt x="4" y="10"/>
                  </a:cubicBezTo>
                  <a:lnTo>
                    <a:pt x="1" y="12"/>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0" name="Freeform 178"/>
            <p:cNvSpPr/>
            <p:nvPr/>
          </p:nvSpPr>
          <p:spPr>
            <a:xfrm>
              <a:off x="3067475" y="2121621"/>
              <a:ext cx="18332" cy="21591"/>
            </a:xfrm>
            <a:custGeom>
              <a:avLst/>
              <a:gdLst>
                <a:gd name="txL" fmla="*/ 0 w 9"/>
                <a:gd name="txT" fmla="*/ 0 h 9"/>
                <a:gd name="txR" fmla="*/ 9 w 9"/>
                <a:gd name="txB" fmla="*/ 9 h 9"/>
              </a:gdLst>
              <a:ahLst/>
              <a:cxnLst>
                <a:cxn ang="0">
                  <a:pos x="3" y="9"/>
                </a:cxn>
                <a:cxn ang="0">
                  <a:pos x="9" y="5"/>
                </a:cxn>
                <a:cxn ang="0">
                  <a:pos x="3" y="1"/>
                </a:cxn>
                <a:cxn ang="0">
                  <a:pos x="3" y="9"/>
                </a:cxn>
              </a:cxnLst>
              <a:rect l="txL" t="txT" r="txR" b="txB"/>
              <a:pathLst>
                <a:path w="9" h="9">
                  <a:moveTo>
                    <a:pt x="3" y="9"/>
                  </a:moveTo>
                  <a:cubicBezTo>
                    <a:pt x="4" y="9"/>
                    <a:pt x="9" y="8"/>
                    <a:pt x="9" y="5"/>
                  </a:cubicBezTo>
                  <a:cubicBezTo>
                    <a:pt x="9" y="3"/>
                    <a:pt x="5" y="0"/>
                    <a:pt x="3" y="1"/>
                  </a:cubicBezTo>
                  <a:cubicBezTo>
                    <a:pt x="0" y="2"/>
                    <a:pt x="3" y="9"/>
                    <a:pt x="3" y="9"/>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1" name="Freeform 179"/>
            <p:cNvSpPr/>
            <p:nvPr/>
          </p:nvSpPr>
          <p:spPr>
            <a:xfrm>
              <a:off x="3071141" y="2082759"/>
              <a:ext cx="37886" cy="31666"/>
            </a:xfrm>
            <a:custGeom>
              <a:avLst/>
              <a:gdLst>
                <a:gd name="txL" fmla="*/ 0 w 18"/>
                <a:gd name="txT" fmla="*/ 0 h 13"/>
                <a:gd name="txR" fmla="*/ 18 w 18"/>
                <a:gd name="txB" fmla="*/ 13 h 13"/>
              </a:gdLst>
              <a:ahLst/>
              <a:cxnLst>
                <a:cxn ang="0">
                  <a:pos x="16" y="13"/>
                </a:cxn>
                <a:cxn ang="0">
                  <a:pos x="4" y="9"/>
                </a:cxn>
                <a:cxn ang="0">
                  <a:pos x="6" y="2"/>
                </a:cxn>
                <a:cxn ang="0">
                  <a:pos x="16" y="5"/>
                </a:cxn>
                <a:cxn ang="0">
                  <a:pos x="16" y="13"/>
                </a:cxn>
              </a:cxnLst>
              <a:rect l="txL" t="txT" r="txR" b="txB"/>
              <a:pathLst>
                <a:path w="18" h="13">
                  <a:moveTo>
                    <a:pt x="16" y="13"/>
                  </a:moveTo>
                  <a:cubicBezTo>
                    <a:pt x="13" y="12"/>
                    <a:pt x="9" y="13"/>
                    <a:pt x="4" y="9"/>
                  </a:cubicBezTo>
                  <a:cubicBezTo>
                    <a:pt x="0" y="5"/>
                    <a:pt x="5" y="3"/>
                    <a:pt x="6" y="2"/>
                  </a:cubicBezTo>
                  <a:cubicBezTo>
                    <a:pt x="6" y="0"/>
                    <a:pt x="18" y="4"/>
                    <a:pt x="16" y="5"/>
                  </a:cubicBezTo>
                  <a:cubicBezTo>
                    <a:pt x="15" y="6"/>
                    <a:pt x="16" y="13"/>
                    <a:pt x="16" y="13"/>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2" name="Freeform 180"/>
            <p:cNvSpPr/>
            <p:nvPr/>
          </p:nvSpPr>
          <p:spPr>
            <a:xfrm>
              <a:off x="2950153" y="2328890"/>
              <a:ext cx="105101" cy="152573"/>
            </a:xfrm>
            <a:custGeom>
              <a:avLst/>
              <a:gdLst>
                <a:gd name="txL" fmla="*/ 0 w 51"/>
                <a:gd name="txT" fmla="*/ 0 h 63"/>
                <a:gd name="txR" fmla="*/ 51 w 51"/>
                <a:gd name="txB" fmla="*/ 63 h 63"/>
              </a:gdLst>
              <a:ahLst/>
              <a:cxnLst>
                <a:cxn ang="0">
                  <a:pos x="19" y="38"/>
                </a:cxn>
                <a:cxn ang="0">
                  <a:pos x="19" y="29"/>
                </a:cxn>
                <a:cxn ang="0">
                  <a:pos x="28" y="22"/>
                </a:cxn>
                <a:cxn ang="0">
                  <a:pos x="20" y="5"/>
                </a:cxn>
                <a:cxn ang="0">
                  <a:pos x="12" y="2"/>
                </a:cxn>
                <a:cxn ang="0">
                  <a:pos x="3" y="14"/>
                </a:cxn>
                <a:cxn ang="0">
                  <a:pos x="2" y="21"/>
                </a:cxn>
                <a:cxn ang="0">
                  <a:pos x="1" y="25"/>
                </a:cxn>
                <a:cxn ang="0">
                  <a:pos x="9" y="34"/>
                </a:cxn>
                <a:cxn ang="0">
                  <a:pos x="7" y="41"/>
                </a:cxn>
                <a:cxn ang="0">
                  <a:pos x="14" y="47"/>
                </a:cxn>
                <a:cxn ang="0">
                  <a:pos x="12" y="53"/>
                </a:cxn>
                <a:cxn ang="0">
                  <a:pos x="12" y="55"/>
                </a:cxn>
                <a:cxn ang="0">
                  <a:pos x="24" y="62"/>
                </a:cxn>
                <a:cxn ang="0">
                  <a:pos x="19" y="54"/>
                </a:cxn>
                <a:cxn ang="0">
                  <a:pos x="27" y="50"/>
                </a:cxn>
                <a:cxn ang="0">
                  <a:pos x="47" y="63"/>
                </a:cxn>
                <a:cxn ang="0">
                  <a:pos x="49" y="59"/>
                </a:cxn>
                <a:cxn ang="0">
                  <a:pos x="48" y="50"/>
                </a:cxn>
                <a:cxn ang="0">
                  <a:pos x="44" y="48"/>
                </a:cxn>
                <a:cxn ang="0">
                  <a:pos x="34" y="45"/>
                </a:cxn>
                <a:cxn ang="0">
                  <a:pos x="27" y="44"/>
                </a:cxn>
                <a:cxn ang="0">
                  <a:pos x="19" y="38"/>
                </a:cxn>
              </a:cxnLst>
              <a:rect l="txL" t="txT" r="txR" b="txB"/>
              <a:pathLst>
                <a:path w="51" h="63">
                  <a:moveTo>
                    <a:pt x="19" y="38"/>
                  </a:moveTo>
                  <a:cubicBezTo>
                    <a:pt x="17" y="35"/>
                    <a:pt x="15" y="32"/>
                    <a:pt x="19" y="29"/>
                  </a:cubicBezTo>
                  <a:cubicBezTo>
                    <a:pt x="24" y="26"/>
                    <a:pt x="30" y="27"/>
                    <a:pt x="28" y="22"/>
                  </a:cubicBezTo>
                  <a:cubicBezTo>
                    <a:pt x="26" y="19"/>
                    <a:pt x="20" y="7"/>
                    <a:pt x="20" y="5"/>
                  </a:cubicBezTo>
                  <a:cubicBezTo>
                    <a:pt x="20" y="4"/>
                    <a:pt x="13" y="0"/>
                    <a:pt x="12" y="2"/>
                  </a:cubicBezTo>
                  <a:cubicBezTo>
                    <a:pt x="10" y="4"/>
                    <a:pt x="3" y="14"/>
                    <a:pt x="3" y="14"/>
                  </a:cubicBezTo>
                  <a:cubicBezTo>
                    <a:pt x="2" y="21"/>
                    <a:pt x="2" y="21"/>
                    <a:pt x="2" y="21"/>
                  </a:cubicBezTo>
                  <a:cubicBezTo>
                    <a:pt x="2" y="21"/>
                    <a:pt x="2" y="24"/>
                    <a:pt x="1" y="25"/>
                  </a:cubicBezTo>
                  <a:cubicBezTo>
                    <a:pt x="0" y="27"/>
                    <a:pt x="6" y="33"/>
                    <a:pt x="9" y="34"/>
                  </a:cubicBezTo>
                  <a:cubicBezTo>
                    <a:pt x="12" y="36"/>
                    <a:pt x="6" y="38"/>
                    <a:pt x="7" y="41"/>
                  </a:cubicBezTo>
                  <a:cubicBezTo>
                    <a:pt x="8" y="43"/>
                    <a:pt x="14" y="47"/>
                    <a:pt x="14" y="47"/>
                  </a:cubicBezTo>
                  <a:cubicBezTo>
                    <a:pt x="12" y="53"/>
                    <a:pt x="12" y="53"/>
                    <a:pt x="12" y="53"/>
                  </a:cubicBezTo>
                  <a:cubicBezTo>
                    <a:pt x="12" y="53"/>
                    <a:pt x="5" y="53"/>
                    <a:pt x="12" y="55"/>
                  </a:cubicBezTo>
                  <a:cubicBezTo>
                    <a:pt x="19" y="58"/>
                    <a:pt x="24" y="63"/>
                    <a:pt x="24" y="62"/>
                  </a:cubicBezTo>
                  <a:cubicBezTo>
                    <a:pt x="23" y="61"/>
                    <a:pt x="19" y="54"/>
                    <a:pt x="19" y="54"/>
                  </a:cubicBezTo>
                  <a:cubicBezTo>
                    <a:pt x="27" y="50"/>
                    <a:pt x="27" y="50"/>
                    <a:pt x="27" y="50"/>
                  </a:cubicBezTo>
                  <a:cubicBezTo>
                    <a:pt x="47" y="63"/>
                    <a:pt x="47" y="63"/>
                    <a:pt x="47" y="63"/>
                  </a:cubicBezTo>
                  <a:cubicBezTo>
                    <a:pt x="47" y="63"/>
                    <a:pt x="47" y="60"/>
                    <a:pt x="49" y="59"/>
                  </a:cubicBezTo>
                  <a:cubicBezTo>
                    <a:pt x="51" y="57"/>
                    <a:pt x="48" y="50"/>
                    <a:pt x="48" y="50"/>
                  </a:cubicBezTo>
                  <a:cubicBezTo>
                    <a:pt x="48" y="50"/>
                    <a:pt x="51" y="49"/>
                    <a:pt x="44" y="48"/>
                  </a:cubicBezTo>
                  <a:cubicBezTo>
                    <a:pt x="37" y="46"/>
                    <a:pt x="37" y="45"/>
                    <a:pt x="34" y="45"/>
                  </a:cubicBezTo>
                  <a:cubicBezTo>
                    <a:pt x="32" y="45"/>
                    <a:pt x="31" y="47"/>
                    <a:pt x="27" y="44"/>
                  </a:cubicBezTo>
                  <a:cubicBezTo>
                    <a:pt x="24" y="42"/>
                    <a:pt x="19" y="38"/>
                    <a:pt x="19" y="38"/>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3" name="Freeform 181"/>
            <p:cNvSpPr/>
            <p:nvPr/>
          </p:nvSpPr>
          <p:spPr>
            <a:xfrm>
              <a:off x="3007592" y="2540477"/>
              <a:ext cx="129543" cy="100755"/>
            </a:xfrm>
            <a:custGeom>
              <a:avLst/>
              <a:gdLst>
                <a:gd name="txL" fmla="*/ 0 w 63"/>
                <a:gd name="txT" fmla="*/ 0 h 42"/>
                <a:gd name="txR" fmla="*/ 63 w 63"/>
                <a:gd name="txB" fmla="*/ 42 h 42"/>
              </a:gdLst>
              <a:ahLst/>
              <a:cxnLst>
                <a:cxn ang="0">
                  <a:pos x="44" y="0"/>
                </a:cxn>
                <a:cxn ang="0">
                  <a:pos x="31" y="13"/>
                </a:cxn>
                <a:cxn ang="0">
                  <a:pos x="23" y="11"/>
                </a:cxn>
                <a:cxn ang="0">
                  <a:pos x="14" y="14"/>
                </a:cxn>
                <a:cxn ang="0">
                  <a:pos x="13" y="20"/>
                </a:cxn>
                <a:cxn ang="0">
                  <a:pos x="6" y="29"/>
                </a:cxn>
                <a:cxn ang="0">
                  <a:pos x="26" y="26"/>
                </a:cxn>
                <a:cxn ang="0">
                  <a:pos x="35" y="29"/>
                </a:cxn>
                <a:cxn ang="0">
                  <a:pos x="43" y="39"/>
                </a:cxn>
                <a:cxn ang="0">
                  <a:pos x="53" y="40"/>
                </a:cxn>
                <a:cxn ang="0">
                  <a:pos x="52" y="30"/>
                </a:cxn>
                <a:cxn ang="0">
                  <a:pos x="61" y="25"/>
                </a:cxn>
                <a:cxn ang="0">
                  <a:pos x="62" y="15"/>
                </a:cxn>
                <a:cxn ang="0">
                  <a:pos x="54" y="7"/>
                </a:cxn>
                <a:cxn ang="0">
                  <a:pos x="44" y="0"/>
                </a:cxn>
              </a:cxnLst>
              <a:rect l="txL" t="txT" r="txR" b="txB"/>
              <a:pathLst>
                <a:path w="63" h="42">
                  <a:moveTo>
                    <a:pt x="44" y="0"/>
                  </a:moveTo>
                  <a:cubicBezTo>
                    <a:pt x="38" y="5"/>
                    <a:pt x="38" y="15"/>
                    <a:pt x="31" y="13"/>
                  </a:cubicBezTo>
                  <a:cubicBezTo>
                    <a:pt x="23" y="11"/>
                    <a:pt x="33" y="14"/>
                    <a:pt x="23" y="11"/>
                  </a:cubicBezTo>
                  <a:cubicBezTo>
                    <a:pt x="14" y="8"/>
                    <a:pt x="16" y="11"/>
                    <a:pt x="14" y="14"/>
                  </a:cubicBezTo>
                  <a:cubicBezTo>
                    <a:pt x="12" y="16"/>
                    <a:pt x="13" y="20"/>
                    <a:pt x="13" y="20"/>
                  </a:cubicBezTo>
                  <a:cubicBezTo>
                    <a:pt x="13" y="20"/>
                    <a:pt x="0" y="29"/>
                    <a:pt x="6" y="29"/>
                  </a:cubicBezTo>
                  <a:cubicBezTo>
                    <a:pt x="12" y="28"/>
                    <a:pt x="18" y="27"/>
                    <a:pt x="26" y="26"/>
                  </a:cubicBezTo>
                  <a:cubicBezTo>
                    <a:pt x="35" y="24"/>
                    <a:pt x="38" y="27"/>
                    <a:pt x="35" y="29"/>
                  </a:cubicBezTo>
                  <a:cubicBezTo>
                    <a:pt x="33" y="30"/>
                    <a:pt x="38" y="37"/>
                    <a:pt x="43" y="39"/>
                  </a:cubicBezTo>
                  <a:cubicBezTo>
                    <a:pt x="47" y="40"/>
                    <a:pt x="54" y="42"/>
                    <a:pt x="53" y="40"/>
                  </a:cubicBezTo>
                  <a:cubicBezTo>
                    <a:pt x="53" y="37"/>
                    <a:pt x="52" y="35"/>
                    <a:pt x="52" y="30"/>
                  </a:cubicBezTo>
                  <a:cubicBezTo>
                    <a:pt x="51" y="26"/>
                    <a:pt x="61" y="25"/>
                    <a:pt x="61" y="25"/>
                  </a:cubicBezTo>
                  <a:cubicBezTo>
                    <a:pt x="61" y="25"/>
                    <a:pt x="63" y="16"/>
                    <a:pt x="62" y="15"/>
                  </a:cubicBezTo>
                  <a:cubicBezTo>
                    <a:pt x="60" y="14"/>
                    <a:pt x="56" y="9"/>
                    <a:pt x="54" y="7"/>
                  </a:cubicBezTo>
                  <a:cubicBezTo>
                    <a:pt x="52" y="4"/>
                    <a:pt x="44" y="0"/>
                    <a:pt x="44"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4" name="Freeform 182"/>
            <p:cNvSpPr/>
            <p:nvPr/>
          </p:nvSpPr>
          <p:spPr>
            <a:xfrm>
              <a:off x="2765616" y="2598051"/>
              <a:ext cx="229755" cy="249010"/>
            </a:xfrm>
            <a:custGeom>
              <a:avLst/>
              <a:gdLst>
                <a:gd name="txL" fmla="*/ 0 w 112"/>
                <a:gd name="txT" fmla="*/ 0 h 103"/>
                <a:gd name="txR" fmla="*/ 112 w 112"/>
                <a:gd name="txB" fmla="*/ 103 h 103"/>
              </a:gdLst>
              <a:ahLst/>
              <a:cxnLst>
                <a:cxn ang="0">
                  <a:pos x="94" y="29"/>
                </a:cxn>
                <a:cxn ang="0">
                  <a:pos x="97" y="42"/>
                </a:cxn>
                <a:cxn ang="0">
                  <a:pos x="107" y="51"/>
                </a:cxn>
                <a:cxn ang="0">
                  <a:pos x="102" y="58"/>
                </a:cxn>
                <a:cxn ang="0">
                  <a:pos x="94" y="67"/>
                </a:cxn>
                <a:cxn ang="0">
                  <a:pos x="99" y="83"/>
                </a:cxn>
                <a:cxn ang="0">
                  <a:pos x="91" y="84"/>
                </a:cxn>
                <a:cxn ang="0">
                  <a:pos x="89" y="88"/>
                </a:cxn>
                <a:cxn ang="0">
                  <a:pos x="91" y="100"/>
                </a:cxn>
                <a:cxn ang="0">
                  <a:pos x="82" y="101"/>
                </a:cxn>
                <a:cxn ang="0">
                  <a:pos x="65" y="101"/>
                </a:cxn>
                <a:cxn ang="0">
                  <a:pos x="49" y="96"/>
                </a:cxn>
                <a:cxn ang="0">
                  <a:pos x="36" y="95"/>
                </a:cxn>
                <a:cxn ang="0">
                  <a:pos x="22" y="88"/>
                </a:cxn>
                <a:cxn ang="0">
                  <a:pos x="9" y="81"/>
                </a:cxn>
                <a:cxn ang="0">
                  <a:pos x="2" y="67"/>
                </a:cxn>
                <a:cxn ang="0">
                  <a:pos x="9" y="47"/>
                </a:cxn>
                <a:cxn ang="0">
                  <a:pos x="23" y="57"/>
                </a:cxn>
                <a:cxn ang="0">
                  <a:pos x="37" y="43"/>
                </a:cxn>
                <a:cxn ang="0">
                  <a:pos x="56" y="30"/>
                </a:cxn>
                <a:cxn ang="0">
                  <a:pos x="61" y="27"/>
                </a:cxn>
                <a:cxn ang="0">
                  <a:pos x="65" y="15"/>
                </a:cxn>
                <a:cxn ang="0">
                  <a:pos x="76" y="3"/>
                </a:cxn>
                <a:cxn ang="0">
                  <a:pos x="102" y="15"/>
                </a:cxn>
                <a:cxn ang="0">
                  <a:pos x="94" y="29"/>
                </a:cxn>
              </a:cxnLst>
              <a:rect l="txL" t="txT" r="txR" b="txB"/>
              <a:pathLst>
                <a:path w="112" h="103">
                  <a:moveTo>
                    <a:pt x="94" y="29"/>
                  </a:moveTo>
                  <a:cubicBezTo>
                    <a:pt x="91" y="34"/>
                    <a:pt x="96" y="40"/>
                    <a:pt x="97" y="42"/>
                  </a:cubicBezTo>
                  <a:cubicBezTo>
                    <a:pt x="98" y="44"/>
                    <a:pt x="112" y="45"/>
                    <a:pt x="107" y="51"/>
                  </a:cubicBezTo>
                  <a:cubicBezTo>
                    <a:pt x="103" y="56"/>
                    <a:pt x="100" y="56"/>
                    <a:pt x="102" y="58"/>
                  </a:cubicBezTo>
                  <a:cubicBezTo>
                    <a:pt x="105" y="60"/>
                    <a:pt x="95" y="60"/>
                    <a:pt x="94" y="67"/>
                  </a:cubicBezTo>
                  <a:cubicBezTo>
                    <a:pt x="93" y="74"/>
                    <a:pt x="100" y="83"/>
                    <a:pt x="99" y="83"/>
                  </a:cubicBezTo>
                  <a:cubicBezTo>
                    <a:pt x="97" y="83"/>
                    <a:pt x="93" y="83"/>
                    <a:pt x="91" y="84"/>
                  </a:cubicBezTo>
                  <a:cubicBezTo>
                    <a:pt x="88" y="84"/>
                    <a:pt x="89" y="83"/>
                    <a:pt x="89" y="88"/>
                  </a:cubicBezTo>
                  <a:cubicBezTo>
                    <a:pt x="90" y="93"/>
                    <a:pt x="91" y="100"/>
                    <a:pt x="91" y="100"/>
                  </a:cubicBezTo>
                  <a:cubicBezTo>
                    <a:pt x="91" y="100"/>
                    <a:pt x="85" y="103"/>
                    <a:pt x="82" y="101"/>
                  </a:cubicBezTo>
                  <a:cubicBezTo>
                    <a:pt x="79" y="99"/>
                    <a:pt x="69" y="100"/>
                    <a:pt x="65" y="101"/>
                  </a:cubicBezTo>
                  <a:cubicBezTo>
                    <a:pt x="61" y="102"/>
                    <a:pt x="53" y="96"/>
                    <a:pt x="49" y="96"/>
                  </a:cubicBezTo>
                  <a:cubicBezTo>
                    <a:pt x="45" y="96"/>
                    <a:pt x="45" y="97"/>
                    <a:pt x="36" y="95"/>
                  </a:cubicBezTo>
                  <a:cubicBezTo>
                    <a:pt x="27" y="92"/>
                    <a:pt x="29" y="90"/>
                    <a:pt x="22" y="88"/>
                  </a:cubicBezTo>
                  <a:cubicBezTo>
                    <a:pt x="16" y="86"/>
                    <a:pt x="14" y="92"/>
                    <a:pt x="9" y="81"/>
                  </a:cubicBezTo>
                  <a:cubicBezTo>
                    <a:pt x="4" y="71"/>
                    <a:pt x="3" y="71"/>
                    <a:pt x="2" y="67"/>
                  </a:cubicBezTo>
                  <a:cubicBezTo>
                    <a:pt x="0" y="64"/>
                    <a:pt x="9" y="49"/>
                    <a:pt x="9" y="47"/>
                  </a:cubicBezTo>
                  <a:cubicBezTo>
                    <a:pt x="10" y="45"/>
                    <a:pt x="23" y="56"/>
                    <a:pt x="23" y="57"/>
                  </a:cubicBezTo>
                  <a:cubicBezTo>
                    <a:pt x="24" y="58"/>
                    <a:pt x="39" y="45"/>
                    <a:pt x="37" y="43"/>
                  </a:cubicBezTo>
                  <a:cubicBezTo>
                    <a:pt x="35" y="41"/>
                    <a:pt x="56" y="34"/>
                    <a:pt x="56" y="30"/>
                  </a:cubicBezTo>
                  <a:cubicBezTo>
                    <a:pt x="57" y="27"/>
                    <a:pt x="59" y="26"/>
                    <a:pt x="61" y="27"/>
                  </a:cubicBezTo>
                  <a:cubicBezTo>
                    <a:pt x="64" y="29"/>
                    <a:pt x="65" y="19"/>
                    <a:pt x="65" y="15"/>
                  </a:cubicBezTo>
                  <a:cubicBezTo>
                    <a:pt x="65" y="10"/>
                    <a:pt x="72" y="5"/>
                    <a:pt x="76" y="3"/>
                  </a:cubicBezTo>
                  <a:cubicBezTo>
                    <a:pt x="80" y="0"/>
                    <a:pt x="103" y="17"/>
                    <a:pt x="102" y="15"/>
                  </a:cubicBezTo>
                  <a:cubicBezTo>
                    <a:pt x="101" y="12"/>
                    <a:pt x="94" y="29"/>
                    <a:pt x="94" y="29"/>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5" name="Freeform 183"/>
            <p:cNvSpPr/>
            <p:nvPr/>
          </p:nvSpPr>
          <p:spPr>
            <a:xfrm>
              <a:off x="3260567" y="2757820"/>
              <a:ext cx="496173" cy="247571"/>
            </a:xfrm>
            <a:custGeom>
              <a:avLst/>
              <a:gdLst>
                <a:gd name="txL" fmla="*/ 0 w 241"/>
                <a:gd name="txT" fmla="*/ 0 h 102"/>
                <a:gd name="txR" fmla="*/ 241 w 241"/>
                <a:gd name="txB" fmla="*/ 102 h 102"/>
              </a:gdLst>
              <a:ahLst/>
              <a:cxnLst>
                <a:cxn ang="0">
                  <a:pos x="35" y="39"/>
                </a:cxn>
                <a:cxn ang="0">
                  <a:pos x="70" y="45"/>
                </a:cxn>
                <a:cxn ang="0">
                  <a:pos x="93" y="59"/>
                </a:cxn>
                <a:cxn ang="0">
                  <a:pos x="95" y="68"/>
                </a:cxn>
                <a:cxn ang="0">
                  <a:pos x="87" y="78"/>
                </a:cxn>
                <a:cxn ang="0">
                  <a:pos x="99" y="81"/>
                </a:cxn>
                <a:cxn ang="0">
                  <a:pos x="117" y="79"/>
                </a:cxn>
                <a:cxn ang="0">
                  <a:pos x="133" y="87"/>
                </a:cxn>
                <a:cxn ang="0">
                  <a:pos x="139" y="89"/>
                </a:cxn>
                <a:cxn ang="0">
                  <a:pos x="150" y="86"/>
                </a:cxn>
                <a:cxn ang="0">
                  <a:pos x="162" y="77"/>
                </a:cxn>
                <a:cxn ang="0">
                  <a:pos x="184" y="80"/>
                </a:cxn>
                <a:cxn ang="0">
                  <a:pos x="194" y="91"/>
                </a:cxn>
                <a:cxn ang="0">
                  <a:pos x="219" y="102"/>
                </a:cxn>
                <a:cxn ang="0">
                  <a:pos x="236" y="102"/>
                </a:cxn>
                <a:cxn ang="0">
                  <a:pos x="238" y="94"/>
                </a:cxn>
                <a:cxn ang="0">
                  <a:pos x="230" y="91"/>
                </a:cxn>
                <a:cxn ang="0">
                  <a:pos x="206" y="81"/>
                </a:cxn>
                <a:cxn ang="0">
                  <a:pos x="194" y="70"/>
                </a:cxn>
                <a:cxn ang="0">
                  <a:pos x="192" y="62"/>
                </a:cxn>
                <a:cxn ang="0">
                  <a:pos x="190" y="60"/>
                </a:cxn>
                <a:cxn ang="0">
                  <a:pos x="170" y="44"/>
                </a:cxn>
                <a:cxn ang="0">
                  <a:pos x="153" y="37"/>
                </a:cxn>
                <a:cxn ang="0">
                  <a:pos x="119" y="25"/>
                </a:cxn>
                <a:cxn ang="0">
                  <a:pos x="95" y="19"/>
                </a:cxn>
                <a:cxn ang="0">
                  <a:pos x="67" y="14"/>
                </a:cxn>
                <a:cxn ang="0">
                  <a:pos x="61" y="23"/>
                </a:cxn>
                <a:cxn ang="0">
                  <a:pos x="52" y="33"/>
                </a:cxn>
                <a:cxn ang="0">
                  <a:pos x="41" y="28"/>
                </a:cxn>
                <a:cxn ang="0">
                  <a:pos x="39" y="19"/>
                </a:cxn>
                <a:cxn ang="0">
                  <a:pos x="28" y="10"/>
                </a:cxn>
                <a:cxn ang="0">
                  <a:pos x="2" y="6"/>
                </a:cxn>
                <a:cxn ang="0">
                  <a:pos x="8" y="15"/>
                </a:cxn>
                <a:cxn ang="0">
                  <a:pos x="23" y="23"/>
                </a:cxn>
                <a:cxn ang="0">
                  <a:pos x="28" y="26"/>
                </a:cxn>
                <a:cxn ang="0">
                  <a:pos x="21" y="30"/>
                </a:cxn>
                <a:cxn ang="0">
                  <a:pos x="35" y="39"/>
                </a:cxn>
              </a:cxnLst>
              <a:rect l="txL" t="txT" r="txR" b="txB"/>
              <a:pathLst>
                <a:path w="241" h="102">
                  <a:moveTo>
                    <a:pt x="35" y="39"/>
                  </a:moveTo>
                  <a:cubicBezTo>
                    <a:pt x="37" y="39"/>
                    <a:pt x="51" y="36"/>
                    <a:pt x="70" y="45"/>
                  </a:cubicBezTo>
                  <a:cubicBezTo>
                    <a:pt x="88" y="54"/>
                    <a:pt x="94" y="57"/>
                    <a:pt x="93" y="59"/>
                  </a:cubicBezTo>
                  <a:cubicBezTo>
                    <a:pt x="93" y="61"/>
                    <a:pt x="99" y="68"/>
                    <a:pt x="95" y="68"/>
                  </a:cubicBezTo>
                  <a:cubicBezTo>
                    <a:pt x="91" y="68"/>
                    <a:pt x="80" y="75"/>
                    <a:pt x="87" y="78"/>
                  </a:cubicBezTo>
                  <a:cubicBezTo>
                    <a:pt x="93" y="81"/>
                    <a:pt x="91" y="84"/>
                    <a:pt x="99" y="81"/>
                  </a:cubicBezTo>
                  <a:cubicBezTo>
                    <a:pt x="106" y="78"/>
                    <a:pt x="102" y="75"/>
                    <a:pt x="117" y="79"/>
                  </a:cubicBezTo>
                  <a:cubicBezTo>
                    <a:pt x="131" y="84"/>
                    <a:pt x="133" y="87"/>
                    <a:pt x="133" y="87"/>
                  </a:cubicBezTo>
                  <a:cubicBezTo>
                    <a:pt x="133" y="87"/>
                    <a:pt x="128" y="91"/>
                    <a:pt x="139" y="89"/>
                  </a:cubicBezTo>
                  <a:cubicBezTo>
                    <a:pt x="149" y="88"/>
                    <a:pt x="148" y="88"/>
                    <a:pt x="150" y="86"/>
                  </a:cubicBezTo>
                  <a:cubicBezTo>
                    <a:pt x="153" y="84"/>
                    <a:pt x="162" y="80"/>
                    <a:pt x="162" y="77"/>
                  </a:cubicBezTo>
                  <a:cubicBezTo>
                    <a:pt x="162" y="75"/>
                    <a:pt x="182" y="78"/>
                    <a:pt x="184" y="80"/>
                  </a:cubicBezTo>
                  <a:cubicBezTo>
                    <a:pt x="187" y="82"/>
                    <a:pt x="191" y="90"/>
                    <a:pt x="194" y="91"/>
                  </a:cubicBezTo>
                  <a:cubicBezTo>
                    <a:pt x="196" y="91"/>
                    <a:pt x="212" y="102"/>
                    <a:pt x="219" y="102"/>
                  </a:cubicBezTo>
                  <a:cubicBezTo>
                    <a:pt x="226" y="102"/>
                    <a:pt x="236" y="102"/>
                    <a:pt x="236" y="102"/>
                  </a:cubicBezTo>
                  <a:cubicBezTo>
                    <a:pt x="236" y="102"/>
                    <a:pt x="241" y="96"/>
                    <a:pt x="238" y="94"/>
                  </a:cubicBezTo>
                  <a:cubicBezTo>
                    <a:pt x="236" y="92"/>
                    <a:pt x="236" y="93"/>
                    <a:pt x="230" y="91"/>
                  </a:cubicBezTo>
                  <a:cubicBezTo>
                    <a:pt x="223" y="89"/>
                    <a:pt x="214" y="86"/>
                    <a:pt x="206" y="81"/>
                  </a:cubicBezTo>
                  <a:cubicBezTo>
                    <a:pt x="198" y="76"/>
                    <a:pt x="194" y="73"/>
                    <a:pt x="194" y="70"/>
                  </a:cubicBezTo>
                  <a:cubicBezTo>
                    <a:pt x="193" y="67"/>
                    <a:pt x="192" y="62"/>
                    <a:pt x="192" y="62"/>
                  </a:cubicBezTo>
                  <a:cubicBezTo>
                    <a:pt x="192" y="62"/>
                    <a:pt x="205" y="71"/>
                    <a:pt x="190" y="60"/>
                  </a:cubicBezTo>
                  <a:cubicBezTo>
                    <a:pt x="176" y="49"/>
                    <a:pt x="174" y="44"/>
                    <a:pt x="170" y="44"/>
                  </a:cubicBezTo>
                  <a:cubicBezTo>
                    <a:pt x="166" y="44"/>
                    <a:pt x="165" y="43"/>
                    <a:pt x="153" y="37"/>
                  </a:cubicBezTo>
                  <a:cubicBezTo>
                    <a:pt x="142" y="32"/>
                    <a:pt x="127" y="27"/>
                    <a:pt x="119" y="25"/>
                  </a:cubicBezTo>
                  <a:cubicBezTo>
                    <a:pt x="111" y="23"/>
                    <a:pt x="107" y="21"/>
                    <a:pt x="95" y="19"/>
                  </a:cubicBezTo>
                  <a:cubicBezTo>
                    <a:pt x="84" y="16"/>
                    <a:pt x="70" y="12"/>
                    <a:pt x="67" y="14"/>
                  </a:cubicBezTo>
                  <a:cubicBezTo>
                    <a:pt x="64" y="15"/>
                    <a:pt x="63" y="20"/>
                    <a:pt x="61" y="23"/>
                  </a:cubicBezTo>
                  <a:cubicBezTo>
                    <a:pt x="60" y="25"/>
                    <a:pt x="60" y="37"/>
                    <a:pt x="52" y="33"/>
                  </a:cubicBezTo>
                  <a:cubicBezTo>
                    <a:pt x="44" y="28"/>
                    <a:pt x="44" y="32"/>
                    <a:pt x="41" y="28"/>
                  </a:cubicBezTo>
                  <a:cubicBezTo>
                    <a:pt x="39" y="23"/>
                    <a:pt x="42" y="26"/>
                    <a:pt x="39" y="19"/>
                  </a:cubicBezTo>
                  <a:cubicBezTo>
                    <a:pt x="36" y="12"/>
                    <a:pt x="34" y="10"/>
                    <a:pt x="28" y="10"/>
                  </a:cubicBezTo>
                  <a:cubicBezTo>
                    <a:pt x="22" y="10"/>
                    <a:pt x="0" y="0"/>
                    <a:pt x="2" y="6"/>
                  </a:cubicBezTo>
                  <a:cubicBezTo>
                    <a:pt x="4" y="12"/>
                    <a:pt x="8" y="15"/>
                    <a:pt x="8" y="15"/>
                  </a:cubicBezTo>
                  <a:cubicBezTo>
                    <a:pt x="8" y="15"/>
                    <a:pt x="25" y="23"/>
                    <a:pt x="23" y="23"/>
                  </a:cubicBezTo>
                  <a:cubicBezTo>
                    <a:pt x="22" y="23"/>
                    <a:pt x="29" y="22"/>
                    <a:pt x="28" y="26"/>
                  </a:cubicBezTo>
                  <a:cubicBezTo>
                    <a:pt x="27" y="31"/>
                    <a:pt x="20" y="28"/>
                    <a:pt x="21" y="30"/>
                  </a:cubicBezTo>
                  <a:cubicBezTo>
                    <a:pt x="22" y="31"/>
                    <a:pt x="21" y="40"/>
                    <a:pt x="35" y="39"/>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6" name="Freeform 184"/>
            <p:cNvSpPr/>
            <p:nvPr/>
          </p:nvSpPr>
          <p:spPr>
            <a:xfrm>
              <a:off x="3342447" y="2871530"/>
              <a:ext cx="41551" cy="41742"/>
            </a:xfrm>
            <a:custGeom>
              <a:avLst/>
              <a:gdLst>
                <a:gd name="txL" fmla="*/ 0 w 20"/>
                <a:gd name="txT" fmla="*/ 0 h 17"/>
                <a:gd name="txR" fmla="*/ 20 w 20"/>
                <a:gd name="txB" fmla="*/ 17 h 17"/>
              </a:gdLst>
              <a:ahLst/>
              <a:cxnLst>
                <a:cxn ang="0">
                  <a:pos x="8" y="0"/>
                </a:cxn>
                <a:cxn ang="0">
                  <a:pos x="2" y="8"/>
                </a:cxn>
                <a:cxn ang="0">
                  <a:pos x="5" y="17"/>
                </a:cxn>
                <a:cxn ang="0">
                  <a:pos x="15" y="15"/>
                </a:cxn>
                <a:cxn ang="0">
                  <a:pos x="18" y="11"/>
                </a:cxn>
                <a:cxn ang="0">
                  <a:pos x="8" y="0"/>
                </a:cxn>
              </a:cxnLst>
              <a:rect l="txL" t="txT" r="txR" b="txB"/>
              <a:pathLst>
                <a:path w="20" h="17">
                  <a:moveTo>
                    <a:pt x="8" y="0"/>
                  </a:moveTo>
                  <a:cubicBezTo>
                    <a:pt x="6" y="0"/>
                    <a:pt x="0" y="6"/>
                    <a:pt x="2" y="8"/>
                  </a:cubicBezTo>
                  <a:cubicBezTo>
                    <a:pt x="4" y="9"/>
                    <a:pt x="5" y="17"/>
                    <a:pt x="5" y="17"/>
                  </a:cubicBezTo>
                  <a:cubicBezTo>
                    <a:pt x="5" y="17"/>
                    <a:pt x="10" y="17"/>
                    <a:pt x="15" y="15"/>
                  </a:cubicBezTo>
                  <a:cubicBezTo>
                    <a:pt x="20" y="14"/>
                    <a:pt x="20" y="13"/>
                    <a:pt x="18" y="11"/>
                  </a:cubicBezTo>
                  <a:cubicBezTo>
                    <a:pt x="16" y="9"/>
                    <a:pt x="8" y="0"/>
                    <a:pt x="8"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7" name="Freeform 185"/>
            <p:cNvSpPr/>
            <p:nvPr/>
          </p:nvSpPr>
          <p:spPr>
            <a:xfrm>
              <a:off x="3127357" y="2946377"/>
              <a:ext cx="90435" cy="59014"/>
            </a:xfrm>
            <a:custGeom>
              <a:avLst/>
              <a:gdLst>
                <a:gd name="txL" fmla="*/ 0 w 44"/>
                <a:gd name="txT" fmla="*/ 0 h 24"/>
                <a:gd name="txR" fmla="*/ 44 w 44"/>
                <a:gd name="txB" fmla="*/ 24 h 24"/>
              </a:gdLst>
              <a:ahLst/>
              <a:cxnLst>
                <a:cxn ang="0">
                  <a:pos x="10" y="21"/>
                </a:cxn>
                <a:cxn ang="0">
                  <a:pos x="33" y="7"/>
                </a:cxn>
                <a:cxn ang="0">
                  <a:pos x="37" y="1"/>
                </a:cxn>
                <a:cxn ang="0">
                  <a:pos x="16" y="1"/>
                </a:cxn>
                <a:cxn ang="0">
                  <a:pos x="5" y="10"/>
                </a:cxn>
                <a:cxn ang="0">
                  <a:pos x="1" y="13"/>
                </a:cxn>
                <a:cxn ang="0">
                  <a:pos x="10" y="21"/>
                </a:cxn>
              </a:cxnLst>
              <a:rect l="txL" t="txT" r="txR" b="txB"/>
              <a:pathLst>
                <a:path w="44" h="24">
                  <a:moveTo>
                    <a:pt x="10" y="21"/>
                  </a:moveTo>
                  <a:cubicBezTo>
                    <a:pt x="16" y="18"/>
                    <a:pt x="30" y="9"/>
                    <a:pt x="33" y="7"/>
                  </a:cubicBezTo>
                  <a:cubicBezTo>
                    <a:pt x="37" y="5"/>
                    <a:pt x="44" y="1"/>
                    <a:pt x="37" y="1"/>
                  </a:cubicBezTo>
                  <a:cubicBezTo>
                    <a:pt x="31" y="1"/>
                    <a:pt x="20" y="0"/>
                    <a:pt x="16" y="1"/>
                  </a:cubicBezTo>
                  <a:cubicBezTo>
                    <a:pt x="12" y="2"/>
                    <a:pt x="6" y="8"/>
                    <a:pt x="5" y="10"/>
                  </a:cubicBezTo>
                  <a:cubicBezTo>
                    <a:pt x="4" y="12"/>
                    <a:pt x="3" y="13"/>
                    <a:pt x="1" y="13"/>
                  </a:cubicBezTo>
                  <a:cubicBezTo>
                    <a:pt x="0" y="13"/>
                    <a:pt x="4" y="24"/>
                    <a:pt x="10" y="21"/>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8" name="Freeform 186"/>
            <p:cNvSpPr/>
            <p:nvPr/>
          </p:nvSpPr>
          <p:spPr>
            <a:xfrm>
              <a:off x="3025923" y="2967967"/>
              <a:ext cx="62328" cy="30227"/>
            </a:xfrm>
            <a:custGeom>
              <a:avLst/>
              <a:gdLst>
                <a:gd name="txL" fmla="*/ 0 w 30"/>
                <a:gd name="txT" fmla="*/ 0 h 12"/>
                <a:gd name="txR" fmla="*/ 30 w 30"/>
                <a:gd name="txB" fmla="*/ 12 h 12"/>
              </a:gdLst>
              <a:ahLst/>
              <a:cxnLst>
                <a:cxn ang="0">
                  <a:pos x="20" y="11"/>
                </a:cxn>
                <a:cxn ang="0">
                  <a:pos x="0" y="4"/>
                </a:cxn>
                <a:cxn ang="0">
                  <a:pos x="9" y="1"/>
                </a:cxn>
                <a:cxn ang="0">
                  <a:pos x="20" y="11"/>
                </a:cxn>
              </a:cxnLst>
              <a:rect l="txL" t="txT" r="txR" b="txB"/>
              <a:pathLst>
                <a:path w="30" h="12">
                  <a:moveTo>
                    <a:pt x="20" y="11"/>
                  </a:moveTo>
                  <a:cubicBezTo>
                    <a:pt x="13" y="12"/>
                    <a:pt x="0" y="4"/>
                    <a:pt x="0" y="4"/>
                  </a:cubicBezTo>
                  <a:cubicBezTo>
                    <a:pt x="0" y="4"/>
                    <a:pt x="6" y="0"/>
                    <a:pt x="9" y="1"/>
                  </a:cubicBezTo>
                  <a:cubicBezTo>
                    <a:pt x="12" y="3"/>
                    <a:pt x="30" y="10"/>
                    <a:pt x="20" y="11"/>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99" name="Freeform 187"/>
            <p:cNvSpPr/>
            <p:nvPr/>
          </p:nvSpPr>
          <p:spPr>
            <a:xfrm>
              <a:off x="2709399" y="2891681"/>
              <a:ext cx="413070" cy="74847"/>
            </a:xfrm>
            <a:custGeom>
              <a:avLst/>
              <a:gdLst>
                <a:gd name="txL" fmla="*/ 0 w 201"/>
                <a:gd name="txT" fmla="*/ 0 h 31"/>
                <a:gd name="txR" fmla="*/ 201 w 201"/>
                <a:gd name="txB" fmla="*/ 31 h 31"/>
              </a:gdLst>
              <a:ahLst/>
              <a:cxnLst>
                <a:cxn ang="0">
                  <a:pos x="18" y="1"/>
                </a:cxn>
                <a:cxn ang="0">
                  <a:pos x="5" y="13"/>
                </a:cxn>
                <a:cxn ang="0">
                  <a:pos x="27" y="20"/>
                </a:cxn>
                <a:cxn ang="0">
                  <a:pos x="55" y="23"/>
                </a:cxn>
                <a:cxn ang="0">
                  <a:pos x="80" y="25"/>
                </a:cxn>
                <a:cxn ang="0">
                  <a:pos x="92" y="28"/>
                </a:cxn>
                <a:cxn ang="0">
                  <a:pos x="117" y="28"/>
                </a:cxn>
                <a:cxn ang="0">
                  <a:pos x="130" y="30"/>
                </a:cxn>
                <a:cxn ang="0">
                  <a:pos x="143" y="29"/>
                </a:cxn>
                <a:cxn ang="0">
                  <a:pos x="177" y="28"/>
                </a:cxn>
                <a:cxn ang="0">
                  <a:pos x="189" y="29"/>
                </a:cxn>
                <a:cxn ang="0">
                  <a:pos x="200" y="25"/>
                </a:cxn>
                <a:cxn ang="0">
                  <a:pos x="172" y="27"/>
                </a:cxn>
                <a:cxn ang="0">
                  <a:pos x="153" y="24"/>
                </a:cxn>
                <a:cxn ang="0">
                  <a:pos x="130" y="24"/>
                </a:cxn>
                <a:cxn ang="0">
                  <a:pos x="122" y="24"/>
                </a:cxn>
                <a:cxn ang="0">
                  <a:pos x="98" y="17"/>
                </a:cxn>
                <a:cxn ang="0">
                  <a:pos x="91" y="11"/>
                </a:cxn>
                <a:cxn ang="0">
                  <a:pos x="77" y="12"/>
                </a:cxn>
                <a:cxn ang="0">
                  <a:pos x="67" y="10"/>
                </a:cxn>
                <a:cxn ang="0">
                  <a:pos x="43" y="7"/>
                </a:cxn>
                <a:cxn ang="0">
                  <a:pos x="27" y="3"/>
                </a:cxn>
                <a:cxn ang="0">
                  <a:pos x="18" y="1"/>
                </a:cxn>
              </a:cxnLst>
              <a:rect l="txL" t="txT" r="txR" b="txB"/>
              <a:pathLst>
                <a:path w="201" h="31">
                  <a:moveTo>
                    <a:pt x="18" y="1"/>
                  </a:moveTo>
                  <a:cubicBezTo>
                    <a:pt x="9" y="5"/>
                    <a:pt x="0" y="11"/>
                    <a:pt x="5" y="13"/>
                  </a:cubicBezTo>
                  <a:cubicBezTo>
                    <a:pt x="9" y="15"/>
                    <a:pt x="17" y="21"/>
                    <a:pt x="27" y="20"/>
                  </a:cubicBezTo>
                  <a:cubicBezTo>
                    <a:pt x="38" y="20"/>
                    <a:pt x="40" y="23"/>
                    <a:pt x="55" y="23"/>
                  </a:cubicBezTo>
                  <a:cubicBezTo>
                    <a:pt x="70" y="22"/>
                    <a:pt x="77" y="25"/>
                    <a:pt x="80" y="25"/>
                  </a:cubicBezTo>
                  <a:cubicBezTo>
                    <a:pt x="83" y="25"/>
                    <a:pt x="82" y="28"/>
                    <a:pt x="92" y="28"/>
                  </a:cubicBezTo>
                  <a:cubicBezTo>
                    <a:pt x="101" y="29"/>
                    <a:pt x="112" y="28"/>
                    <a:pt x="117" y="28"/>
                  </a:cubicBezTo>
                  <a:cubicBezTo>
                    <a:pt x="122" y="28"/>
                    <a:pt x="123" y="29"/>
                    <a:pt x="130" y="30"/>
                  </a:cubicBezTo>
                  <a:cubicBezTo>
                    <a:pt x="137" y="31"/>
                    <a:pt x="126" y="29"/>
                    <a:pt x="143" y="29"/>
                  </a:cubicBezTo>
                  <a:cubicBezTo>
                    <a:pt x="159" y="30"/>
                    <a:pt x="170" y="27"/>
                    <a:pt x="177" y="28"/>
                  </a:cubicBezTo>
                  <a:cubicBezTo>
                    <a:pt x="184" y="28"/>
                    <a:pt x="186" y="29"/>
                    <a:pt x="189" y="29"/>
                  </a:cubicBezTo>
                  <a:cubicBezTo>
                    <a:pt x="191" y="29"/>
                    <a:pt x="201" y="27"/>
                    <a:pt x="200" y="25"/>
                  </a:cubicBezTo>
                  <a:cubicBezTo>
                    <a:pt x="198" y="22"/>
                    <a:pt x="177" y="29"/>
                    <a:pt x="172" y="27"/>
                  </a:cubicBezTo>
                  <a:cubicBezTo>
                    <a:pt x="168" y="25"/>
                    <a:pt x="156" y="24"/>
                    <a:pt x="153" y="24"/>
                  </a:cubicBezTo>
                  <a:cubicBezTo>
                    <a:pt x="150" y="25"/>
                    <a:pt x="136" y="24"/>
                    <a:pt x="130" y="24"/>
                  </a:cubicBezTo>
                  <a:cubicBezTo>
                    <a:pt x="124" y="24"/>
                    <a:pt x="137" y="27"/>
                    <a:pt x="122" y="24"/>
                  </a:cubicBezTo>
                  <a:cubicBezTo>
                    <a:pt x="107" y="21"/>
                    <a:pt x="98" y="17"/>
                    <a:pt x="98" y="17"/>
                  </a:cubicBezTo>
                  <a:cubicBezTo>
                    <a:pt x="98" y="17"/>
                    <a:pt x="102" y="11"/>
                    <a:pt x="91" y="11"/>
                  </a:cubicBezTo>
                  <a:cubicBezTo>
                    <a:pt x="79" y="12"/>
                    <a:pt x="77" y="12"/>
                    <a:pt x="77" y="12"/>
                  </a:cubicBezTo>
                  <a:cubicBezTo>
                    <a:pt x="77" y="12"/>
                    <a:pt x="84" y="12"/>
                    <a:pt x="67" y="10"/>
                  </a:cubicBezTo>
                  <a:cubicBezTo>
                    <a:pt x="51" y="7"/>
                    <a:pt x="49" y="7"/>
                    <a:pt x="43" y="7"/>
                  </a:cubicBezTo>
                  <a:cubicBezTo>
                    <a:pt x="38" y="7"/>
                    <a:pt x="31" y="6"/>
                    <a:pt x="27" y="3"/>
                  </a:cubicBezTo>
                  <a:cubicBezTo>
                    <a:pt x="22" y="0"/>
                    <a:pt x="18" y="1"/>
                    <a:pt x="18" y="1"/>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00" name="Freeform 188"/>
            <p:cNvSpPr/>
            <p:nvPr/>
          </p:nvSpPr>
          <p:spPr>
            <a:xfrm>
              <a:off x="2458869" y="2636914"/>
              <a:ext cx="281083" cy="263404"/>
            </a:xfrm>
            <a:custGeom>
              <a:avLst/>
              <a:gdLst>
                <a:gd name="txL" fmla="*/ 0 w 137"/>
                <a:gd name="txT" fmla="*/ 0 h 109"/>
                <a:gd name="txR" fmla="*/ 137 w 137"/>
                <a:gd name="txB" fmla="*/ 109 h 109"/>
              </a:gdLst>
              <a:ahLst/>
              <a:cxnLst>
                <a:cxn ang="0">
                  <a:pos x="122" y="103"/>
                </a:cxn>
                <a:cxn ang="0">
                  <a:pos x="101" y="94"/>
                </a:cxn>
                <a:cxn ang="0">
                  <a:pos x="79" y="81"/>
                </a:cxn>
                <a:cxn ang="0">
                  <a:pos x="51" y="47"/>
                </a:cxn>
                <a:cxn ang="0">
                  <a:pos x="27" y="30"/>
                </a:cxn>
                <a:cxn ang="0">
                  <a:pos x="0" y="4"/>
                </a:cxn>
                <a:cxn ang="0">
                  <a:pos x="23" y="1"/>
                </a:cxn>
                <a:cxn ang="0">
                  <a:pos x="52" y="24"/>
                </a:cxn>
                <a:cxn ang="0">
                  <a:pos x="117" y="66"/>
                </a:cxn>
                <a:cxn ang="0">
                  <a:pos x="123" y="87"/>
                </a:cxn>
                <a:cxn ang="0">
                  <a:pos x="122" y="103"/>
                </a:cxn>
              </a:cxnLst>
              <a:rect l="txL" t="txT" r="txR" b="txB"/>
              <a:pathLst>
                <a:path w="137" h="109">
                  <a:moveTo>
                    <a:pt x="122" y="103"/>
                  </a:moveTo>
                  <a:cubicBezTo>
                    <a:pt x="121" y="103"/>
                    <a:pt x="112" y="100"/>
                    <a:pt x="101" y="94"/>
                  </a:cubicBezTo>
                  <a:cubicBezTo>
                    <a:pt x="90" y="87"/>
                    <a:pt x="87" y="89"/>
                    <a:pt x="79" y="81"/>
                  </a:cubicBezTo>
                  <a:cubicBezTo>
                    <a:pt x="70" y="73"/>
                    <a:pt x="59" y="55"/>
                    <a:pt x="51" y="47"/>
                  </a:cubicBezTo>
                  <a:cubicBezTo>
                    <a:pt x="43" y="40"/>
                    <a:pt x="47" y="44"/>
                    <a:pt x="27" y="30"/>
                  </a:cubicBezTo>
                  <a:cubicBezTo>
                    <a:pt x="7" y="16"/>
                    <a:pt x="0" y="4"/>
                    <a:pt x="0" y="4"/>
                  </a:cubicBezTo>
                  <a:cubicBezTo>
                    <a:pt x="0" y="4"/>
                    <a:pt x="19" y="0"/>
                    <a:pt x="23" y="1"/>
                  </a:cubicBezTo>
                  <a:cubicBezTo>
                    <a:pt x="27" y="3"/>
                    <a:pt x="31" y="11"/>
                    <a:pt x="52" y="24"/>
                  </a:cubicBezTo>
                  <a:cubicBezTo>
                    <a:pt x="72" y="37"/>
                    <a:pt x="112" y="58"/>
                    <a:pt x="117" y="66"/>
                  </a:cubicBezTo>
                  <a:cubicBezTo>
                    <a:pt x="122" y="74"/>
                    <a:pt x="119" y="82"/>
                    <a:pt x="123" y="87"/>
                  </a:cubicBezTo>
                  <a:cubicBezTo>
                    <a:pt x="127" y="92"/>
                    <a:pt x="137" y="109"/>
                    <a:pt x="122" y="103"/>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01" name="Freeform 189"/>
            <p:cNvSpPr/>
            <p:nvPr/>
          </p:nvSpPr>
          <p:spPr>
            <a:xfrm>
              <a:off x="2099571" y="2549113"/>
              <a:ext cx="85547" cy="83483"/>
            </a:xfrm>
            <a:custGeom>
              <a:avLst/>
              <a:gdLst>
                <a:gd name="txL" fmla="*/ 0 w 42"/>
                <a:gd name="txT" fmla="*/ 0 h 34"/>
                <a:gd name="txR" fmla="*/ 42 w 42"/>
                <a:gd name="txB" fmla="*/ 34 h 34"/>
              </a:gdLst>
              <a:ahLst/>
              <a:cxnLst>
                <a:cxn ang="0">
                  <a:pos x="11" y="0"/>
                </a:cxn>
                <a:cxn ang="0">
                  <a:pos x="6" y="15"/>
                </a:cxn>
                <a:cxn ang="0">
                  <a:pos x="14" y="31"/>
                </a:cxn>
                <a:cxn ang="0">
                  <a:pos x="23" y="32"/>
                </a:cxn>
                <a:cxn ang="0">
                  <a:pos x="35" y="25"/>
                </a:cxn>
                <a:cxn ang="0">
                  <a:pos x="42" y="23"/>
                </a:cxn>
                <a:cxn ang="0">
                  <a:pos x="17" y="6"/>
                </a:cxn>
                <a:cxn ang="0">
                  <a:pos x="11" y="0"/>
                </a:cxn>
              </a:cxnLst>
              <a:rect l="txL" t="txT" r="txR" b="txB"/>
              <a:pathLst>
                <a:path w="42" h="34">
                  <a:moveTo>
                    <a:pt x="11" y="0"/>
                  </a:moveTo>
                  <a:cubicBezTo>
                    <a:pt x="2" y="3"/>
                    <a:pt x="0" y="4"/>
                    <a:pt x="6" y="15"/>
                  </a:cubicBezTo>
                  <a:cubicBezTo>
                    <a:pt x="12" y="26"/>
                    <a:pt x="10" y="30"/>
                    <a:pt x="14" y="31"/>
                  </a:cubicBezTo>
                  <a:cubicBezTo>
                    <a:pt x="19" y="31"/>
                    <a:pt x="20" y="34"/>
                    <a:pt x="23" y="32"/>
                  </a:cubicBezTo>
                  <a:cubicBezTo>
                    <a:pt x="27" y="31"/>
                    <a:pt x="32" y="27"/>
                    <a:pt x="35" y="25"/>
                  </a:cubicBezTo>
                  <a:cubicBezTo>
                    <a:pt x="38" y="23"/>
                    <a:pt x="42" y="23"/>
                    <a:pt x="42" y="23"/>
                  </a:cubicBezTo>
                  <a:cubicBezTo>
                    <a:pt x="42" y="23"/>
                    <a:pt x="20" y="9"/>
                    <a:pt x="17" y="6"/>
                  </a:cubicBezTo>
                  <a:cubicBezTo>
                    <a:pt x="14" y="4"/>
                    <a:pt x="11" y="0"/>
                    <a:pt x="11"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02" name="Freeform 190"/>
            <p:cNvSpPr/>
            <p:nvPr/>
          </p:nvSpPr>
          <p:spPr>
            <a:xfrm>
              <a:off x="4323795" y="3768253"/>
              <a:ext cx="156429" cy="181360"/>
            </a:xfrm>
            <a:custGeom>
              <a:avLst/>
              <a:gdLst>
                <a:gd name="txL" fmla="*/ 0 w 76"/>
                <a:gd name="txT" fmla="*/ 0 h 75"/>
                <a:gd name="txR" fmla="*/ 76 w 76"/>
                <a:gd name="txB" fmla="*/ 75 h 75"/>
              </a:gdLst>
              <a:ahLst/>
              <a:cxnLst>
                <a:cxn ang="0">
                  <a:pos x="14" y="69"/>
                </a:cxn>
                <a:cxn ang="0">
                  <a:pos x="37" y="74"/>
                </a:cxn>
                <a:cxn ang="0">
                  <a:pos x="57" y="62"/>
                </a:cxn>
                <a:cxn ang="0">
                  <a:pos x="57" y="48"/>
                </a:cxn>
                <a:cxn ang="0">
                  <a:pos x="71" y="33"/>
                </a:cxn>
                <a:cxn ang="0">
                  <a:pos x="72" y="20"/>
                </a:cxn>
                <a:cxn ang="0">
                  <a:pos x="69" y="9"/>
                </a:cxn>
                <a:cxn ang="0">
                  <a:pos x="51" y="0"/>
                </a:cxn>
                <a:cxn ang="0">
                  <a:pos x="50" y="10"/>
                </a:cxn>
                <a:cxn ang="0">
                  <a:pos x="47" y="30"/>
                </a:cxn>
                <a:cxn ang="0">
                  <a:pos x="27" y="38"/>
                </a:cxn>
                <a:cxn ang="0">
                  <a:pos x="20" y="48"/>
                </a:cxn>
                <a:cxn ang="0">
                  <a:pos x="1" y="65"/>
                </a:cxn>
                <a:cxn ang="0">
                  <a:pos x="14" y="69"/>
                </a:cxn>
              </a:cxnLst>
              <a:rect l="txL" t="txT" r="txR" b="txB"/>
              <a:pathLst>
                <a:path w="76" h="75">
                  <a:moveTo>
                    <a:pt x="14" y="69"/>
                  </a:moveTo>
                  <a:cubicBezTo>
                    <a:pt x="22" y="70"/>
                    <a:pt x="29" y="75"/>
                    <a:pt x="37" y="74"/>
                  </a:cubicBezTo>
                  <a:cubicBezTo>
                    <a:pt x="46" y="74"/>
                    <a:pt x="61" y="64"/>
                    <a:pt x="57" y="62"/>
                  </a:cubicBezTo>
                  <a:cubicBezTo>
                    <a:pt x="54" y="60"/>
                    <a:pt x="52" y="58"/>
                    <a:pt x="57" y="48"/>
                  </a:cubicBezTo>
                  <a:cubicBezTo>
                    <a:pt x="61" y="38"/>
                    <a:pt x="72" y="38"/>
                    <a:pt x="71" y="33"/>
                  </a:cubicBezTo>
                  <a:cubicBezTo>
                    <a:pt x="70" y="28"/>
                    <a:pt x="72" y="24"/>
                    <a:pt x="72" y="20"/>
                  </a:cubicBezTo>
                  <a:cubicBezTo>
                    <a:pt x="71" y="15"/>
                    <a:pt x="76" y="13"/>
                    <a:pt x="69" y="9"/>
                  </a:cubicBezTo>
                  <a:cubicBezTo>
                    <a:pt x="63" y="5"/>
                    <a:pt x="51" y="0"/>
                    <a:pt x="51" y="0"/>
                  </a:cubicBezTo>
                  <a:cubicBezTo>
                    <a:pt x="51" y="0"/>
                    <a:pt x="48" y="0"/>
                    <a:pt x="50" y="10"/>
                  </a:cubicBezTo>
                  <a:cubicBezTo>
                    <a:pt x="52" y="20"/>
                    <a:pt x="59" y="29"/>
                    <a:pt x="47" y="30"/>
                  </a:cubicBezTo>
                  <a:cubicBezTo>
                    <a:pt x="35" y="30"/>
                    <a:pt x="34" y="35"/>
                    <a:pt x="27" y="38"/>
                  </a:cubicBezTo>
                  <a:cubicBezTo>
                    <a:pt x="20" y="40"/>
                    <a:pt x="31" y="45"/>
                    <a:pt x="20" y="48"/>
                  </a:cubicBezTo>
                  <a:cubicBezTo>
                    <a:pt x="8" y="51"/>
                    <a:pt x="0" y="61"/>
                    <a:pt x="1" y="65"/>
                  </a:cubicBezTo>
                  <a:cubicBezTo>
                    <a:pt x="2" y="68"/>
                    <a:pt x="14" y="69"/>
                    <a:pt x="14" y="69"/>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03" name="Freeform 191"/>
            <p:cNvSpPr/>
            <p:nvPr/>
          </p:nvSpPr>
          <p:spPr>
            <a:xfrm>
              <a:off x="4389788" y="3586893"/>
              <a:ext cx="175983" cy="202951"/>
            </a:xfrm>
            <a:custGeom>
              <a:avLst/>
              <a:gdLst>
                <a:gd name="txL" fmla="*/ 0 w 86"/>
                <a:gd name="txT" fmla="*/ 0 h 84"/>
                <a:gd name="txR" fmla="*/ 86 w 86"/>
                <a:gd name="txB" fmla="*/ 84 h 84"/>
              </a:gdLst>
              <a:ahLst/>
              <a:cxnLst>
                <a:cxn ang="0">
                  <a:pos x="57" y="80"/>
                </a:cxn>
                <a:cxn ang="0">
                  <a:pos x="51" y="68"/>
                </a:cxn>
                <a:cxn ang="0">
                  <a:pos x="40" y="61"/>
                </a:cxn>
                <a:cxn ang="0">
                  <a:pos x="32" y="53"/>
                </a:cxn>
                <a:cxn ang="0">
                  <a:pos x="45" y="51"/>
                </a:cxn>
                <a:cxn ang="0">
                  <a:pos x="34" y="34"/>
                </a:cxn>
                <a:cxn ang="0">
                  <a:pos x="0" y="0"/>
                </a:cxn>
                <a:cxn ang="0">
                  <a:pos x="32" y="17"/>
                </a:cxn>
                <a:cxn ang="0">
                  <a:pos x="57" y="35"/>
                </a:cxn>
                <a:cxn ang="0">
                  <a:pos x="70" y="43"/>
                </a:cxn>
                <a:cxn ang="0">
                  <a:pos x="79" y="34"/>
                </a:cxn>
                <a:cxn ang="0">
                  <a:pos x="80" y="43"/>
                </a:cxn>
                <a:cxn ang="0">
                  <a:pos x="80" y="57"/>
                </a:cxn>
                <a:cxn ang="0">
                  <a:pos x="69" y="59"/>
                </a:cxn>
                <a:cxn ang="0">
                  <a:pos x="69" y="66"/>
                </a:cxn>
                <a:cxn ang="0">
                  <a:pos x="57" y="80"/>
                </a:cxn>
              </a:cxnLst>
              <a:rect l="txL" t="txT" r="txR" b="txB"/>
              <a:pathLst>
                <a:path w="86" h="84">
                  <a:moveTo>
                    <a:pt x="57" y="80"/>
                  </a:moveTo>
                  <a:cubicBezTo>
                    <a:pt x="53" y="79"/>
                    <a:pt x="52" y="71"/>
                    <a:pt x="51" y="68"/>
                  </a:cubicBezTo>
                  <a:cubicBezTo>
                    <a:pt x="50" y="64"/>
                    <a:pt x="40" y="61"/>
                    <a:pt x="40" y="61"/>
                  </a:cubicBezTo>
                  <a:cubicBezTo>
                    <a:pt x="40" y="61"/>
                    <a:pt x="32" y="55"/>
                    <a:pt x="32" y="53"/>
                  </a:cubicBezTo>
                  <a:cubicBezTo>
                    <a:pt x="33" y="51"/>
                    <a:pt x="47" y="53"/>
                    <a:pt x="45" y="51"/>
                  </a:cubicBezTo>
                  <a:cubicBezTo>
                    <a:pt x="43" y="48"/>
                    <a:pt x="44" y="41"/>
                    <a:pt x="34" y="34"/>
                  </a:cubicBezTo>
                  <a:cubicBezTo>
                    <a:pt x="25" y="28"/>
                    <a:pt x="0" y="0"/>
                    <a:pt x="0" y="0"/>
                  </a:cubicBezTo>
                  <a:cubicBezTo>
                    <a:pt x="0" y="0"/>
                    <a:pt x="15" y="10"/>
                    <a:pt x="32" y="17"/>
                  </a:cubicBezTo>
                  <a:cubicBezTo>
                    <a:pt x="50" y="24"/>
                    <a:pt x="56" y="32"/>
                    <a:pt x="57" y="35"/>
                  </a:cubicBezTo>
                  <a:cubicBezTo>
                    <a:pt x="58" y="39"/>
                    <a:pt x="71" y="47"/>
                    <a:pt x="70" y="43"/>
                  </a:cubicBezTo>
                  <a:cubicBezTo>
                    <a:pt x="70" y="39"/>
                    <a:pt x="77" y="31"/>
                    <a:pt x="79" y="34"/>
                  </a:cubicBezTo>
                  <a:cubicBezTo>
                    <a:pt x="80" y="36"/>
                    <a:pt x="84" y="41"/>
                    <a:pt x="80" y="43"/>
                  </a:cubicBezTo>
                  <a:cubicBezTo>
                    <a:pt x="76" y="45"/>
                    <a:pt x="86" y="56"/>
                    <a:pt x="80" y="57"/>
                  </a:cubicBezTo>
                  <a:cubicBezTo>
                    <a:pt x="75" y="57"/>
                    <a:pt x="69" y="59"/>
                    <a:pt x="69" y="59"/>
                  </a:cubicBezTo>
                  <a:cubicBezTo>
                    <a:pt x="69" y="66"/>
                    <a:pt x="69" y="66"/>
                    <a:pt x="69" y="66"/>
                  </a:cubicBezTo>
                  <a:cubicBezTo>
                    <a:pt x="69" y="66"/>
                    <a:pt x="72" y="84"/>
                    <a:pt x="57" y="8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04" name="Freeform 192"/>
            <p:cNvSpPr/>
            <p:nvPr/>
          </p:nvSpPr>
          <p:spPr>
            <a:xfrm>
              <a:off x="2970929" y="3002512"/>
              <a:ext cx="955683" cy="734075"/>
            </a:xfrm>
            <a:custGeom>
              <a:avLst/>
              <a:gdLst>
                <a:gd name="txL" fmla="*/ 0 w 465"/>
                <a:gd name="txT" fmla="*/ 0 h 303"/>
                <a:gd name="txR" fmla="*/ 465 w 465"/>
                <a:gd name="txB" fmla="*/ 303 h 303"/>
              </a:gdLst>
              <a:ahLst/>
              <a:cxnLst>
                <a:cxn ang="0">
                  <a:pos x="254" y="230"/>
                </a:cxn>
                <a:cxn ang="0">
                  <a:pos x="211" y="217"/>
                </a:cxn>
                <a:cxn ang="0">
                  <a:pos x="146" y="232"/>
                </a:cxn>
                <a:cxn ang="0">
                  <a:pos x="126" y="244"/>
                </a:cxn>
                <a:cxn ang="0">
                  <a:pos x="106" y="244"/>
                </a:cxn>
                <a:cxn ang="0">
                  <a:pos x="88" y="251"/>
                </a:cxn>
                <a:cxn ang="0">
                  <a:pos x="77" y="256"/>
                </a:cxn>
                <a:cxn ang="0">
                  <a:pos x="45" y="248"/>
                </a:cxn>
                <a:cxn ang="0">
                  <a:pos x="38" y="232"/>
                </a:cxn>
                <a:cxn ang="0">
                  <a:pos x="27" y="201"/>
                </a:cxn>
                <a:cxn ang="0">
                  <a:pos x="14" y="180"/>
                </a:cxn>
                <a:cxn ang="0">
                  <a:pos x="0" y="155"/>
                </a:cxn>
                <a:cxn ang="0">
                  <a:pos x="5" y="145"/>
                </a:cxn>
                <a:cxn ang="0">
                  <a:pos x="11" y="108"/>
                </a:cxn>
                <a:cxn ang="0">
                  <a:pos x="80" y="65"/>
                </a:cxn>
                <a:cxn ang="0">
                  <a:pos x="96" y="59"/>
                </a:cxn>
                <a:cxn ang="0">
                  <a:pos x="104" y="38"/>
                </a:cxn>
                <a:cxn ang="0">
                  <a:pos x="145" y="41"/>
                </a:cxn>
                <a:cxn ang="0">
                  <a:pos x="152" y="30"/>
                </a:cxn>
                <a:cxn ang="0">
                  <a:pos x="166" y="16"/>
                </a:cxn>
                <a:cxn ang="0">
                  <a:pos x="171" y="6"/>
                </a:cxn>
                <a:cxn ang="0">
                  <a:pos x="200" y="11"/>
                </a:cxn>
                <a:cxn ang="0">
                  <a:pos x="230" y="16"/>
                </a:cxn>
                <a:cxn ang="0">
                  <a:pos x="234" y="47"/>
                </a:cxn>
                <a:cxn ang="0">
                  <a:pos x="266" y="64"/>
                </a:cxn>
                <a:cxn ang="0">
                  <a:pos x="290" y="59"/>
                </a:cxn>
                <a:cxn ang="0">
                  <a:pos x="282" y="12"/>
                </a:cxn>
                <a:cxn ang="0">
                  <a:pos x="288" y="1"/>
                </a:cxn>
                <a:cxn ang="0">
                  <a:pos x="310" y="29"/>
                </a:cxn>
                <a:cxn ang="0">
                  <a:pos x="337" y="51"/>
                </a:cxn>
                <a:cxn ang="0">
                  <a:pos x="348" y="75"/>
                </a:cxn>
                <a:cxn ang="0">
                  <a:pos x="372" y="91"/>
                </a:cxn>
                <a:cxn ang="0">
                  <a:pos x="406" y="118"/>
                </a:cxn>
                <a:cxn ang="0">
                  <a:pos x="430" y="133"/>
                </a:cxn>
                <a:cxn ang="0">
                  <a:pos x="456" y="189"/>
                </a:cxn>
                <a:cxn ang="0">
                  <a:pos x="456" y="228"/>
                </a:cxn>
                <a:cxn ang="0">
                  <a:pos x="444" y="265"/>
                </a:cxn>
                <a:cxn ang="0">
                  <a:pos x="420" y="281"/>
                </a:cxn>
                <a:cxn ang="0">
                  <a:pos x="410" y="296"/>
                </a:cxn>
                <a:cxn ang="0">
                  <a:pos x="391" y="283"/>
                </a:cxn>
                <a:cxn ang="0">
                  <a:pos x="373" y="298"/>
                </a:cxn>
                <a:cxn ang="0">
                  <a:pos x="341" y="286"/>
                </a:cxn>
                <a:cxn ang="0">
                  <a:pos x="324" y="259"/>
                </a:cxn>
                <a:cxn ang="0">
                  <a:pos x="296" y="259"/>
                </a:cxn>
                <a:cxn ang="0">
                  <a:pos x="269" y="251"/>
                </a:cxn>
              </a:cxnLst>
              <a:rect l="txL" t="txT" r="txR" b="txB"/>
              <a:pathLst>
                <a:path w="465" h="303">
                  <a:moveTo>
                    <a:pt x="269" y="251"/>
                  </a:moveTo>
                  <a:cubicBezTo>
                    <a:pt x="259" y="244"/>
                    <a:pt x="264" y="238"/>
                    <a:pt x="254" y="230"/>
                  </a:cubicBezTo>
                  <a:cubicBezTo>
                    <a:pt x="244" y="223"/>
                    <a:pt x="263" y="223"/>
                    <a:pt x="237" y="220"/>
                  </a:cubicBezTo>
                  <a:cubicBezTo>
                    <a:pt x="211" y="217"/>
                    <a:pt x="211" y="214"/>
                    <a:pt x="211" y="217"/>
                  </a:cubicBezTo>
                  <a:cubicBezTo>
                    <a:pt x="211" y="219"/>
                    <a:pt x="171" y="224"/>
                    <a:pt x="168" y="225"/>
                  </a:cubicBezTo>
                  <a:cubicBezTo>
                    <a:pt x="164" y="226"/>
                    <a:pt x="157" y="228"/>
                    <a:pt x="146" y="232"/>
                  </a:cubicBezTo>
                  <a:cubicBezTo>
                    <a:pt x="135" y="235"/>
                    <a:pt x="139" y="239"/>
                    <a:pt x="136" y="241"/>
                  </a:cubicBezTo>
                  <a:cubicBezTo>
                    <a:pt x="132" y="243"/>
                    <a:pt x="130" y="246"/>
                    <a:pt x="126" y="244"/>
                  </a:cubicBezTo>
                  <a:cubicBezTo>
                    <a:pt x="122" y="242"/>
                    <a:pt x="119" y="240"/>
                    <a:pt x="116" y="240"/>
                  </a:cubicBezTo>
                  <a:cubicBezTo>
                    <a:pt x="113" y="240"/>
                    <a:pt x="112" y="244"/>
                    <a:pt x="106" y="244"/>
                  </a:cubicBezTo>
                  <a:cubicBezTo>
                    <a:pt x="99" y="244"/>
                    <a:pt x="98" y="243"/>
                    <a:pt x="94" y="245"/>
                  </a:cubicBezTo>
                  <a:cubicBezTo>
                    <a:pt x="90" y="247"/>
                    <a:pt x="90" y="250"/>
                    <a:pt x="88" y="251"/>
                  </a:cubicBezTo>
                  <a:cubicBezTo>
                    <a:pt x="85" y="251"/>
                    <a:pt x="87" y="253"/>
                    <a:pt x="84" y="254"/>
                  </a:cubicBezTo>
                  <a:cubicBezTo>
                    <a:pt x="80" y="255"/>
                    <a:pt x="89" y="257"/>
                    <a:pt x="77" y="256"/>
                  </a:cubicBezTo>
                  <a:cubicBezTo>
                    <a:pt x="64" y="255"/>
                    <a:pt x="72" y="257"/>
                    <a:pt x="60" y="254"/>
                  </a:cubicBezTo>
                  <a:cubicBezTo>
                    <a:pt x="47" y="251"/>
                    <a:pt x="49" y="251"/>
                    <a:pt x="45" y="248"/>
                  </a:cubicBezTo>
                  <a:cubicBezTo>
                    <a:pt x="42" y="245"/>
                    <a:pt x="40" y="251"/>
                    <a:pt x="35" y="242"/>
                  </a:cubicBezTo>
                  <a:cubicBezTo>
                    <a:pt x="29" y="232"/>
                    <a:pt x="39" y="234"/>
                    <a:pt x="38" y="232"/>
                  </a:cubicBezTo>
                  <a:cubicBezTo>
                    <a:pt x="38" y="230"/>
                    <a:pt x="34" y="215"/>
                    <a:pt x="34" y="215"/>
                  </a:cubicBezTo>
                  <a:cubicBezTo>
                    <a:pt x="34" y="215"/>
                    <a:pt x="32" y="204"/>
                    <a:pt x="27" y="201"/>
                  </a:cubicBezTo>
                  <a:cubicBezTo>
                    <a:pt x="21" y="197"/>
                    <a:pt x="23" y="198"/>
                    <a:pt x="22" y="192"/>
                  </a:cubicBezTo>
                  <a:cubicBezTo>
                    <a:pt x="22" y="186"/>
                    <a:pt x="23" y="187"/>
                    <a:pt x="14" y="180"/>
                  </a:cubicBezTo>
                  <a:cubicBezTo>
                    <a:pt x="6" y="174"/>
                    <a:pt x="6" y="173"/>
                    <a:pt x="3" y="168"/>
                  </a:cubicBezTo>
                  <a:cubicBezTo>
                    <a:pt x="0" y="163"/>
                    <a:pt x="0" y="157"/>
                    <a:pt x="0" y="155"/>
                  </a:cubicBezTo>
                  <a:cubicBezTo>
                    <a:pt x="1" y="152"/>
                    <a:pt x="0" y="156"/>
                    <a:pt x="5" y="153"/>
                  </a:cubicBezTo>
                  <a:cubicBezTo>
                    <a:pt x="10" y="151"/>
                    <a:pt x="10" y="147"/>
                    <a:pt x="5" y="145"/>
                  </a:cubicBezTo>
                  <a:cubicBezTo>
                    <a:pt x="0" y="142"/>
                    <a:pt x="0" y="138"/>
                    <a:pt x="2" y="129"/>
                  </a:cubicBezTo>
                  <a:cubicBezTo>
                    <a:pt x="4" y="120"/>
                    <a:pt x="1" y="116"/>
                    <a:pt x="11" y="108"/>
                  </a:cubicBezTo>
                  <a:cubicBezTo>
                    <a:pt x="21" y="100"/>
                    <a:pt x="23" y="96"/>
                    <a:pt x="49" y="93"/>
                  </a:cubicBezTo>
                  <a:cubicBezTo>
                    <a:pt x="75" y="89"/>
                    <a:pt x="80" y="81"/>
                    <a:pt x="80" y="65"/>
                  </a:cubicBezTo>
                  <a:cubicBezTo>
                    <a:pt x="81" y="49"/>
                    <a:pt x="85" y="55"/>
                    <a:pt x="85" y="55"/>
                  </a:cubicBezTo>
                  <a:cubicBezTo>
                    <a:pt x="96" y="59"/>
                    <a:pt x="96" y="59"/>
                    <a:pt x="96" y="59"/>
                  </a:cubicBezTo>
                  <a:cubicBezTo>
                    <a:pt x="96" y="59"/>
                    <a:pt x="101" y="60"/>
                    <a:pt x="100" y="53"/>
                  </a:cubicBezTo>
                  <a:cubicBezTo>
                    <a:pt x="100" y="47"/>
                    <a:pt x="99" y="38"/>
                    <a:pt x="104" y="38"/>
                  </a:cubicBezTo>
                  <a:cubicBezTo>
                    <a:pt x="110" y="38"/>
                    <a:pt x="130" y="27"/>
                    <a:pt x="133" y="28"/>
                  </a:cubicBezTo>
                  <a:cubicBezTo>
                    <a:pt x="136" y="30"/>
                    <a:pt x="137" y="34"/>
                    <a:pt x="145" y="41"/>
                  </a:cubicBezTo>
                  <a:cubicBezTo>
                    <a:pt x="153" y="47"/>
                    <a:pt x="150" y="37"/>
                    <a:pt x="153" y="39"/>
                  </a:cubicBezTo>
                  <a:cubicBezTo>
                    <a:pt x="155" y="41"/>
                    <a:pt x="151" y="33"/>
                    <a:pt x="152" y="30"/>
                  </a:cubicBezTo>
                  <a:cubicBezTo>
                    <a:pt x="152" y="28"/>
                    <a:pt x="157" y="21"/>
                    <a:pt x="157" y="21"/>
                  </a:cubicBezTo>
                  <a:cubicBezTo>
                    <a:pt x="166" y="16"/>
                    <a:pt x="166" y="16"/>
                    <a:pt x="166" y="16"/>
                  </a:cubicBezTo>
                  <a:cubicBezTo>
                    <a:pt x="178" y="13"/>
                    <a:pt x="178" y="13"/>
                    <a:pt x="178" y="13"/>
                  </a:cubicBezTo>
                  <a:cubicBezTo>
                    <a:pt x="178" y="13"/>
                    <a:pt x="169" y="9"/>
                    <a:pt x="171" y="6"/>
                  </a:cubicBezTo>
                  <a:cubicBezTo>
                    <a:pt x="173" y="4"/>
                    <a:pt x="174" y="5"/>
                    <a:pt x="181" y="5"/>
                  </a:cubicBezTo>
                  <a:cubicBezTo>
                    <a:pt x="188" y="5"/>
                    <a:pt x="197" y="11"/>
                    <a:pt x="200" y="11"/>
                  </a:cubicBezTo>
                  <a:cubicBezTo>
                    <a:pt x="203" y="11"/>
                    <a:pt x="223" y="13"/>
                    <a:pt x="223" y="13"/>
                  </a:cubicBezTo>
                  <a:cubicBezTo>
                    <a:pt x="230" y="16"/>
                    <a:pt x="230" y="16"/>
                    <a:pt x="230" y="16"/>
                  </a:cubicBezTo>
                  <a:cubicBezTo>
                    <a:pt x="230" y="16"/>
                    <a:pt x="230" y="36"/>
                    <a:pt x="227" y="36"/>
                  </a:cubicBezTo>
                  <a:cubicBezTo>
                    <a:pt x="225" y="36"/>
                    <a:pt x="223" y="44"/>
                    <a:pt x="234" y="47"/>
                  </a:cubicBezTo>
                  <a:cubicBezTo>
                    <a:pt x="244" y="51"/>
                    <a:pt x="249" y="54"/>
                    <a:pt x="249" y="54"/>
                  </a:cubicBezTo>
                  <a:cubicBezTo>
                    <a:pt x="266" y="64"/>
                    <a:pt x="266" y="64"/>
                    <a:pt x="266" y="64"/>
                  </a:cubicBezTo>
                  <a:cubicBezTo>
                    <a:pt x="266" y="64"/>
                    <a:pt x="291" y="72"/>
                    <a:pt x="284" y="68"/>
                  </a:cubicBezTo>
                  <a:cubicBezTo>
                    <a:pt x="277" y="65"/>
                    <a:pt x="293" y="73"/>
                    <a:pt x="290" y="59"/>
                  </a:cubicBezTo>
                  <a:cubicBezTo>
                    <a:pt x="286" y="45"/>
                    <a:pt x="288" y="37"/>
                    <a:pt x="285" y="31"/>
                  </a:cubicBezTo>
                  <a:cubicBezTo>
                    <a:pt x="283" y="26"/>
                    <a:pt x="281" y="15"/>
                    <a:pt x="282" y="12"/>
                  </a:cubicBezTo>
                  <a:cubicBezTo>
                    <a:pt x="284" y="10"/>
                    <a:pt x="284" y="8"/>
                    <a:pt x="286" y="4"/>
                  </a:cubicBezTo>
                  <a:cubicBezTo>
                    <a:pt x="288" y="1"/>
                    <a:pt x="281" y="0"/>
                    <a:pt x="288" y="1"/>
                  </a:cubicBezTo>
                  <a:cubicBezTo>
                    <a:pt x="294" y="1"/>
                    <a:pt x="298" y="6"/>
                    <a:pt x="298" y="6"/>
                  </a:cubicBezTo>
                  <a:cubicBezTo>
                    <a:pt x="298" y="6"/>
                    <a:pt x="304" y="26"/>
                    <a:pt x="310" y="29"/>
                  </a:cubicBezTo>
                  <a:cubicBezTo>
                    <a:pt x="315" y="32"/>
                    <a:pt x="325" y="35"/>
                    <a:pt x="325" y="35"/>
                  </a:cubicBezTo>
                  <a:cubicBezTo>
                    <a:pt x="325" y="35"/>
                    <a:pt x="336" y="47"/>
                    <a:pt x="337" y="51"/>
                  </a:cubicBezTo>
                  <a:cubicBezTo>
                    <a:pt x="338" y="56"/>
                    <a:pt x="353" y="60"/>
                    <a:pt x="348" y="64"/>
                  </a:cubicBezTo>
                  <a:cubicBezTo>
                    <a:pt x="344" y="69"/>
                    <a:pt x="345" y="74"/>
                    <a:pt x="348" y="75"/>
                  </a:cubicBezTo>
                  <a:cubicBezTo>
                    <a:pt x="352" y="76"/>
                    <a:pt x="361" y="83"/>
                    <a:pt x="361" y="83"/>
                  </a:cubicBezTo>
                  <a:cubicBezTo>
                    <a:pt x="361" y="83"/>
                    <a:pt x="365" y="88"/>
                    <a:pt x="372" y="91"/>
                  </a:cubicBezTo>
                  <a:cubicBezTo>
                    <a:pt x="378" y="93"/>
                    <a:pt x="382" y="101"/>
                    <a:pt x="382" y="101"/>
                  </a:cubicBezTo>
                  <a:cubicBezTo>
                    <a:pt x="406" y="118"/>
                    <a:pt x="406" y="118"/>
                    <a:pt x="406" y="118"/>
                  </a:cubicBezTo>
                  <a:cubicBezTo>
                    <a:pt x="406" y="118"/>
                    <a:pt x="392" y="117"/>
                    <a:pt x="400" y="120"/>
                  </a:cubicBezTo>
                  <a:cubicBezTo>
                    <a:pt x="408" y="124"/>
                    <a:pt x="429" y="131"/>
                    <a:pt x="430" y="133"/>
                  </a:cubicBezTo>
                  <a:cubicBezTo>
                    <a:pt x="430" y="135"/>
                    <a:pt x="446" y="143"/>
                    <a:pt x="448" y="153"/>
                  </a:cubicBezTo>
                  <a:cubicBezTo>
                    <a:pt x="450" y="163"/>
                    <a:pt x="458" y="180"/>
                    <a:pt x="456" y="189"/>
                  </a:cubicBezTo>
                  <a:cubicBezTo>
                    <a:pt x="454" y="197"/>
                    <a:pt x="458" y="210"/>
                    <a:pt x="460" y="214"/>
                  </a:cubicBezTo>
                  <a:cubicBezTo>
                    <a:pt x="462" y="218"/>
                    <a:pt x="465" y="224"/>
                    <a:pt x="456" y="228"/>
                  </a:cubicBezTo>
                  <a:cubicBezTo>
                    <a:pt x="447" y="233"/>
                    <a:pt x="449" y="242"/>
                    <a:pt x="445" y="247"/>
                  </a:cubicBezTo>
                  <a:cubicBezTo>
                    <a:pt x="441" y="252"/>
                    <a:pt x="447" y="264"/>
                    <a:pt x="444" y="265"/>
                  </a:cubicBezTo>
                  <a:cubicBezTo>
                    <a:pt x="440" y="265"/>
                    <a:pt x="451" y="277"/>
                    <a:pt x="443" y="279"/>
                  </a:cubicBezTo>
                  <a:cubicBezTo>
                    <a:pt x="435" y="280"/>
                    <a:pt x="420" y="281"/>
                    <a:pt x="420" y="281"/>
                  </a:cubicBezTo>
                  <a:cubicBezTo>
                    <a:pt x="420" y="281"/>
                    <a:pt x="419" y="286"/>
                    <a:pt x="417" y="290"/>
                  </a:cubicBezTo>
                  <a:cubicBezTo>
                    <a:pt x="415" y="294"/>
                    <a:pt x="420" y="297"/>
                    <a:pt x="410" y="296"/>
                  </a:cubicBezTo>
                  <a:cubicBezTo>
                    <a:pt x="401" y="296"/>
                    <a:pt x="396" y="303"/>
                    <a:pt x="395" y="292"/>
                  </a:cubicBezTo>
                  <a:cubicBezTo>
                    <a:pt x="394" y="282"/>
                    <a:pt x="396" y="280"/>
                    <a:pt x="391" y="283"/>
                  </a:cubicBezTo>
                  <a:cubicBezTo>
                    <a:pt x="386" y="286"/>
                    <a:pt x="377" y="288"/>
                    <a:pt x="376" y="291"/>
                  </a:cubicBezTo>
                  <a:cubicBezTo>
                    <a:pt x="375" y="294"/>
                    <a:pt x="378" y="298"/>
                    <a:pt x="373" y="298"/>
                  </a:cubicBezTo>
                  <a:cubicBezTo>
                    <a:pt x="369" y="299"/>
                    <a:pt x="358" y="296"/>
                    <a:pt x="350" y="291"/>
                  </a:cubicBezTo>
                  <a:cubicBezTo>
                    <a:pt x="341" y="286"/>
                    <a:pt x="353" y="294"/>
                    <a:pt x="341" y="286"/>
                  </a:cubicBezTo>
                  <a:cubicBezTo>
                    <a:pt x="329" y="279"/>
                    <a:pt x="322" y="269"/>
                    <a:pt x="322" y="267"/>
                  </a:cubicBezTo>
                  <a:cubicBezTo>
                    <a:pt x="323" y="264"/>
                    <a:pt x="332" y="266"/>
                    <a:pt x="324" y="259"/>
                  </a:cubicBezTo>
                  <a:cubicBezTo>
                    <a:pt x="316" y="251"/>
                    <a:pt x="311" y="263"/>
                    <a:pt x="306" y="261"/>
                  </a:cubicBezTo>
                  <a:cubicBezTo>
                    <a:pt x="301" y="259"/>
                    <a:pt x="303" y="264"/>
                    <a:pt x="296" y="259"/>
                  </a:cubicBezTo>
                  <a:cubicBezTo>
                    <a:pt x="290" y="255"/>
                    <a:pt x="286" y="251"/>
                    <a:pt x="286" y="251"/>
                  </a:cubicBezTo>
                  <a:lnTo>
                    <a:pt x="269" y="251"/>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05" name="Freeform 193"/>
            <p:cNvSpPr/>
            <p:nvPr/>
          </p:nvSpPr>
          <p:spPr>
            <a:xfrm>
              <a:off x="3756740" y="3768253"/>
              <a:ext cx="127099" cy="93559"/>
            </a:xfrm>
            <a:custGeom>
              <a:avLst/>
              <a:gdLst>
                <a:gd name="txL" fmla="*/ 0 w 62"/>
                <a:gd name="txT" fmla="*/ 0 h 39"/>
                <a:gd name="txR" fmla="*/ 62 w 62"/>
                <a:gd name="txB" fmla="*/ 39 h 39"/>
              </a:gdLst>
              <a:ahLst/>
              <a:cxnLst>
                <a:cxn ang="0">
                  <a:pos x="37" y="11"/>
                </a:cxn>
                <a:cxn ang="0">
                  <a:pos x="9" y="3"/>
                </a:cxn>
                <a:cxn ang="0">
                  <a:pos x="13" y="17"/>
                </a:cxn>
                <a:cxn ang="0">
                  <a:pos x="25" y="27"/>
                </a:cxn>
                <a:cxn ang="0">
                  <a:pos x="36" y="38"/>
                </a:cxn>
                <a:cxn ang="0">
                  <a:pos x="55" y="31"/>
                </a:cxn>
                <a:cxn ang="0">
                  <a:pos x="57" y="11"/>
                </a:cxn>
                <a:cxn ang="0">
                  <a:pos x="49" y="2"/>
                </a:cxn>
                <a:cxn ang="0">
                  <a:pos x="37" y="11"/>
                </a:cxn>
              </a:cxnLst>
              <a:rect l="txL" t="txT" r="txR" b="txB"/>
              <a:pathLst>
                <a:path w="62" h="39">
                  <a:moveTo>
                    <a:pt x="37" y="11"/>
                  </a:moveTo>
                  <a:cubicBezTo>
                    <a:pt x="19" y="8"/>
                    <a:pt x="19" y="3"/>
                    <a:pt x="9" y="3"/>
                  </a:cubicBezTo>
                  <a:cubicBezTo>
                    <a:pt x="0" y="3"/>
                    <a:pt x="7" y="14"/>
                    <a:pt x="13" y="17"/>
                  </a:cubicBezTo>
                  <a:cubicBezTo>
                    <a:pt x="20" y="20"/>
                    <a:pt x="20" y="21"/>
                    <a:pt x="25" y="27"/>
                  </a:cubicBezTo>
                  <a:cubicBezTo>
                    <a:pt x="30" y="33"/>
                    <a:pt x="25" y="38"/>
                    <a:pt x="36" y="38"/>
                  </a:cubicBezTo>
                  <a:cubicBezTo>
                    <a:pt x="48" y="39"/>
                    <a:pt x="54" y="34"/>
                    <a:pt x="55" y="31"/>
                  </a:cubicBezTo>
                  <a:cubicBezTo>
                    <a:pt x="56" y="28"/>
                    <a:pt x="62" y="18"/>
                    <a:pt x="57" y="11"/>
                  </a:cubicBezTo>
                  <a:cubicBezTo>
                    <a:pt x="51" y="5"/>
                    <a:pt x="54" y="0"/>
                    <a:pt x="49" y="2"/>
                  </a:cubicBezTo>
                  <a:cubicBezTo>
                    <a:pt x="44" y="4"/>
                    <a:pt x="37" y="11"/>
                    <a:pt x="37" y="11"/>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grpSp>
      <p:grpSp>
        <p:nvGrpSpPr>
          <p:cNvPr id="106" name="组合 105"/>
          <p:cNvGrpSpPr/>
          <p:nvPr/>
        </p:nvGrpSpPr>
        <p:grpSpPr>
          <a:xfrm>
            <a:off x="7140605" y="1503828"/>
            <a:ext cx="3145386" cy="4125046"/>
            <a:chOff x="0" y="0"/>
            <a:chExt cx="3179905" cy="4417407"/>
          </a:xfrm>
          <a:solidFill>
            <a:srgbClr val="24C6DB"/>
          </a:solidFill>
        </p:grpSpPr>
        <p:sp>
          <p:nvSpPr>
            <p:cNvPr id="107" name="Freeform 110"/>
            <p:cNvSpPr/>
            <p:nvPr/>
          </p:nvSpPr>
          <p:spPr>
            <a:xfrm>
              <a:off x="90436" y="539762"/>
              <a:ext cx="2452758" cy="3877645"/>
            </a:xfrm>
            <a:custGeom>
              <a:avLst/>
              <a:gdLst>
                <a:gd name="txL" fmla="*/ 0 w 1193"/>
                <a:gd name="txT" fmla="*/ 0 h 1601"/>
                <a:gd name="txR" fmla="*/ 1193 w 1193"/>
                <a:gd name="txB" fmla="*/ 1601 h 1601"/>
              </a:gdLst>
              <a:ahLst/>
              <a:cxnLst>
                <a:cxn ang="0">
                  <a:pos x="738" y="1528"/>
                </a:cxn>
                <a:cxn ang="0">
                  <a:pos x="773" y="1460"/>
                </a:cxn>
                <a:cxn ang="0">
                  <a:pos x="834" y="1404"/>
                </a:cxn>
                <a:cxn ang="0">
                  <a:pos x="1005" y="1267"/>
                </a:cxn>
                <a:cxn ang="0">
                  <a:pos x="1137" y="1107"/>
                </a:cxn>
                <a:cxn ang="0">
                  <a:pos x="1164" y="1026"/>
                </a:cxn>
                <a:cxn ang="0">
                  <a:pos x="1041" y="983"/>
                </a:cxn>
                <a:cxn ang="0">
                  <a:pos x="959" y="919"/>
                </a:cxn>
                <a:cxn ang="0">
                  <a:pos x="878" y="882"/>
                </a:cxn>
                <a:cxn ang="0">
                  <a:pos x="810" y="866"/>
                </a:cxn>
                <a:cxn ang="0">
                  <a:pos x="704" y="886"/>
                </a:cxn>
                <a:cxn ang="0">
                  <a:pos x="675" y="790"/>
                </a:cxn>
                <a:cxn ang="0">
                  <a:pos x="580" y="742"/>
                </a:cxn>
                <a:cxn ang="0">
                  <a:pos x="729" y="692"/>
                </a:cxn>
                <a:cxn ang="0">
                  <a:pos x="818" y="623"/>
                </a:cxn>
                <a:cxn ang="0">
                  <a:pos x="882" y="554"/>
                </a:cxn>
                <a:cxn ang="0">
                  <a:pos x="970" y="513"/>
                </a:cxn>
                <a:cxn ang="0">
                  <a:pos x="956" y="481"/>
                </a:cxn>
                <a:cxn ang="0">
                  <a:pos x="961" y="439"/>
                </a:cxn>
                <a:cxn ang="0">
                  <a:pos x="1026" y="434"/>
                </a:cxn>
                <a:cxn ang="0">
                  <a:pos x="1052" y="442"/>
                </a:cxn>
                <a:cxn ang="0">
                  <a:pos x="1018" y="356"/>
                </a:cxn>
                <a:cxn ang="0">
                  <a:pos x="971" y="284"/>
                </a:cxn>
                <a:cxn ang="0">
                  <a:pos x="924" y="246"/>
                </a:cxn>
                <a:cxn ang="0">
                  <a:pos x="856" y="261"/>
                </a:cxn>
                <a:cxn ang="0">
                  <a:pos x="829" y="396"/>
                </a:cxn>
                <a:cxn ang="0">
                  <a:pos x="804" y="378"/>
                </a:cxn>
                <a:cxn ang="0">
                  <a:pos x="714" y="292"/>
                </a:cxn>
                <a:cxn ang="0">
                  <a:pos x="787" y="183"/>
                </a:cxn>
                <a:cxn ang="0">
                  <a:pos x="822" y="141"/>
                </a:cxn>
                <a:cxn ang="0">
                  <a:pos x="852" y="84"/>
                </a:cxn>
                <a:cxn ang="0">
                  <a:pos x="793" y="92"/>
                </a:cxn>
                <a:cxn ang="0">
                  <a:pos x="763" y="30"/>
                </a:cxn>
                <a:cxn ang="0">
                  <a:pos x="745" y="43"/>
                </a:cxn>
                <a:cxn ang="0">
                  <a:pos x="721" y="104"/>
                </a:cxn>
                <a:cxn ang="0">
                  <a:pos x="659" y="113"/>
                </a:cxn>
                <a:cxn ang="0">
                  <a:pos x="532" y="95"/>
                </a:cxn>
                <a:cxn ang="0">
                  <a:pos x="469" y="80"/>
                </a:cxn>
                <a:cxn ang="0">
                  <a:pos x="423" y="77"/>
                </a:cxn>
                <a:cxn ang="0">
                  <a:pos x="108" y="100"/>
                </a:cxn>
                <a:cxn ang="0">
                  <a:pos x="98" y="142"/>
                </a:cxn>
                <a:cxn ang="0">
                  <a:pos x="107" y="178"/>
                </a:cxn>
                <a:cxn ang="0">
                  <a:pos x="59" y="280"/>
                </a:cxn>
                <a:cxn ang="0">
                  <a:pos x="48" y="347"/>
                </a:cxn>
                <a:cxn ang="0">
                  <a:pos x="155" y="276"/>
                </a:cxn>
                <a:cxn ang="0">
                  <a:pos x="191" y="275"/>
                </a:cxn>
                <a:cxn ang="0">
                  <a:pos x="313" y="303"/>
                </a:cxn>
                <a:cxn ang="0">
                  <a:pos x="355" y="419"/>
                </a:cxn>
                <a:cxn ang="0">
                  <a:pos x="349" y="560"/>
                </a:cxn>
                <a:cxn ang="0">
                  <a:pos x="415" y="708"/>
                </a:cxn>
                <a:cxn ang="0">
                  <a:pos x="451" y="746"/>
                </a:cxn>
                <a:cxn ang="0">
                  <a:pos x="488" y="781"/>
                </a:cxn>
                <a:cxn ang="0">
                  <a:pos x="634" y="865"/>
                </a:cxn>
                <a:cxn ang="0">
                  <a:pos x="714" y="910"/>
                </a:cxn>
                <a:cxn ang="0">
                  <a:pos x="724" y="968"/>
                </a:cxn>
                <a:cxn ang="0">
                  <a:pos x="693" y="1048"/>
                </a:cxn>
                <a:cxn ang="0">
                  <a:pos x="766" y="1225"/>
                </a:cxn>
                <a:cxn ang="0">
                  <a:pos x="689" y="1436"/>
                </a:cxn>
                <a:cxn ang="0">
                  <a:pos x="672" y="1479"/>
                </a:cxn>
                <a:cxn ang="0">
                  <a:pos x="678" y="1566"/>
                </a:cxn>
                <a:cxn ang="0">
                  <a:pos x="790" y="1595"/>
                </a:cxn>
              </a:cxnLst>
              <a:rect l="txL" t="txT" r="txR" b="txB"/>
              <a:pathLst>
                <a:path w="1193" h="1601">
                  <a:moveTo>
                    <a:pt x="792" y="1592"/>
                  </a:moveTo>
                  <a:cubicBezTo>
                    <a:pt x="792" y="1592"/>
                    <a:pt x="800" y="1596"/>
                    <a:pt x="800" y="1592"/>
                  </a:cubicBezTo>
                  <a:cubicBezTo>
                    <a:pt x="801" y="1588"/>
                    <a:pt x="800" y="1583"/>
                    <a:pt x="796" y="1582"/>
                  </a:cubicBezTo>
                  <a:cubicBezTo>
                    <a:pt x="792" y="1581"/>
                    <a:pt x="783" y="1579"/>
                    <a:pt x="772" y="1572"/>
                  </a:cubicBezTo>
                  <a:cubicBezTo>
                    <a:pt x="761" y="1564"/>
                    <a:pt x="741" y="1563"/>
                    <a:pt x="744" y="1555"/>
                  </a:cubicBezTo>
                  <a:cubicBezTo>
                    <a:pt x="746" y="1548"/>
                    <a:pt x="736" y="1539"/>
                    <a:pt x="738" y="1528"/>
                  </a:cubicBezTo>
                  <a:cubicBezTo>
                    <a:pt x="740" y="1517"/>
                    <a:pt x="739" y="1516"/>
                    <a:pt x="748" y="1515"/>
                  </a:cubicBezTo>
                  <a:cubicBezTo>
                    <a:pt x="756" y="1514"/>
                    <a:pt x="758" y="1504"/>
                    <a:pt x="762" y="1502"/>
                  </a:cubicBezTo>
                  <a:cubicBezTo>
                    <a:pt x="766" y="1499"/>
                    <a:pt x="784" y="1490"/>
                    <a:pt x="784" y="1487"/>
                  </a:cubicBezTo>
                  <a:cubicBezTo>
                    <a:pt x="784" y="1485"/>
                    <a:pt x="784" y="1480"/>
                    <a:pt x="780" y="1479"/>
                  </a:cubicBezTo>
                  <a:cubicBezTo>
                    <a:pt x="776" y="1479"/>
                    <a:pt x="768" y="1477"/>
                    <a:pt x="767" y="1474"/>
                  </a:cubicBezTo>
                  <a:cubicBezTo>
                    <a:pt x="766" y="1472"/>
                    <a:pt x="771" y="1462"/>
                    <a:pt x="773" y="1460"/>
                  </a:cubicBezTo>
                  <a:cubicBezTo>
                    <a:pt x="776" y="1458"/>
                    <a:pt x="793" y="1458"/>
                    <a:pt x="793" y="1458"/>
                  </a:cubicBezTo>
                  <a:cubicBezTo>
                    <a:pt x="793" y="1458"/>
                    <a:pt x="793" y="1439"/>
                    <a:pt x="796" y="1438"/>
                  </a:cubicBezTo>
                  <a:cubicBezTo>
                    <a:pt x="798" y="1437"/>
                    <a:pt x="810" y="1429"/>
                    <a:pt x="813" y="1428"/>
                  </a:cubicBezTo>
                  <a:cubicBezTo>
                    <a:pt x="816" y="1428"/>
                    <a:pt x="817" y="1420"/>
                    <a:pt x="811" y="1419"/>
                  </a:cubicBezTo>
                  <a:cubicBezTo>
                    <a:pt x="806" y="1418"/>
                    <a:pt x="797" y="1412"/>
                    <a:pt x="801" y="1408"/>
                  </a:cubicBezTo>
                  <a:cubicBezTo>
                    <a:pt x="806" y="1403"/>
                    <a:pt x="831" y="1407"/>
                    <a:pt x="834" y="1404"/>
                  </a:cubicBezTo>
                  <a:cubicBezTo>
                    <a:pt x="836" y="1401"/>
                    <a:pt x="841" y="1386"/>
                    <a:pt x="854" y="1383"/>
                  </a:cubicBezTo>
                  <a:cubicBezTo>
                    <a:pt x="867" y="1380"/>
                    <a:pt x="924" y="1354"/>
                    <a:pt x="905" y="1339"/>
                  </a:cubicBezTo>
                  <a:cubicBezTo>
                    <a:pt x="886" y="1323"/>
                    <a:pt x="905" y="1329"/>
                    <a:pt x="905" y="1329"/>
                  </a:cubicBezTo>
                  <a:cubicBezTo>
                    <a:pt x="905" y="1329"/>
                    <a:pt x="924" y="1340"/>
                    <a:pt x="935" y="1333"/>
                  </a:cubicBezTo>
                  <a:cubicBezTo>
                    <a:pt x="945" y="1327"/>
                    <a:pt x="989" y="1287"/>
                    <a:pt x="991" y="1278"/>
                  </a:cubicBezTo>
                  <a:cubicBezTo>
                    <a:pt x="993" y="1269"/>
                    <a:pt x="999" y="1268"/>
                    <a:pt x="1005" y="1267"/>
                  </a:cubicBezTo>
                  <a:cubicBezTo>
                    <a:pt x="1010" y="1267"/>
                    <a:pt x="1018" y="1264"/>
                    <a:pt x="1018" y="1258"/>
                  </a:cubicBezTo>
                  <a:cubicBezTo>
                    <a:pt x="1017" y="1252"/>
                    <a:pt x="1013" y="1238"/>
                    <a:pt x="1019" y="1233"/>
                  </a:cubicBezTo>
                  <a:cubicBezTo>
                    <a:pt x="1025" y="1229"/>
                    <a:pt x="1061" y="1206"/>
                    <a:pt x="1076" y="1206"/>
                  </a:cubicBezTo>
                  <a:cubicBezTo>
                    <a:pt x="1091" y="1206"/>
                    <a:pt x="1101" y="1204"/>
                    <a:pt x="1116" y="1178"/>
                  </a:cubicBezTo>
                  <a:cubicBezTo>
                    <a:pt x="1131" y="1152"/>
                    <a:pt x="1125" y="1153"/>
                    <a:pt x="1131" y="1151"/>
                  </a:cubicBezTo>
                  <a:cubicBezTo>
                    <a:pt x="1136" y="1148"/>
                    <a:pt x="1137" y="1107"/>
                    <a:pt x="1137" y="1107"/>
                  </a:cubicBezTo>
                  <a:cubicBezTo>
                    <a:pt x="1137" y="1107"/>
                    <a:pt x="1143" y="1103"/>
                    <a:pt x="1147" y="1103"/>
                  </a:cubicBezTo>
                  <a:cubicBezTo>
                    <a:pt x="1151" y="1103"/>
                    <a:pt x="1162" y="1087"/>
                    <a:pt x="1162" y="1087"/>
                  </a:cubicBezTo>
                  <a:cubicBezTo>
                    <a:pt x="1175" y="1079"/>
                    <a:pt x="1175" y="1079"/>
                    <a:pt x="1175" y="1079"/>
                  </a:cubicBezTo>
                  <a:cubicBezTo>
                    <a:pt x="1175" y="1079"/>
                    <a:pt x="1179" y="1071"/>
                    <a:pt x="1183" y="1069"/>
                  </a:cubicBezTo>
                  <a:cubicBezTo>
                    <a:pt x="1187" y="1066"/>
                    <a:pt x="1193" y="1037"/>
                    <a:pt x="1187" y="1032"/>
                  </a:cubicBezTo>
                  <a:cubicBezTo>
                    <a:pt x="1182" y="1028"/>
                    <a:pt x="1170" y="1030"/>
                    <a:pt x="1164" y="1026"/>
                  </a:cubicBezTo>
                  <a:cubicBezTo>
                    <a:pt x="1158" y="1021"/>
                    <a:pt x="1133" y="1007"/>
                    <a:pt x="1128" y="1007"/>
                  </a:cubicBezTo>
                  <a:cubicBezTo>
                    <a:pt x="1122" y="1008"/>
                    <a:pt x="1101" y="1009"/>
                    <a:pt x="1094" y="1005"/>
                  </a:cubicBezTo>
                  <a:cubicBezTo>
                    <a:pt x="1087" y="1002"/>
                    <a:pt x="1095" y="993"/>
                    <a:pt x="1086" y="993"/>
                  </a:cubicBezTo>
                  <a:cubicBezTo>
                    <a:pt x="1078" y="992"/>
                    <a:pt x="1061" y="988"/>
                    <a:pt x="1056" y="987"/>
                  </a:cubicBezTo>
                  <a:cubicBezTo>
                    <a:pt x="1050" y="986"/>
                    <a:pt x="1041" y="993"/>
                    <a:pt x="1040" y="994"/>
                  </a:cubicBezTo>
                  <a:cubicBezTo>
                    <a:pt x="1038" y="995"/>
                    <a:pt x="1053" y="987"/>
                    <a:pt x="1041" y="983"/>
                  </a:cubicBezTo>
                  <a:cubicBezTo>
                    <a:pt x="1029" y="979"/>
                    <a:pt x="1032" y="974"/>
                    <a:pt x="1034" y="973"/>
                  </a:cubicBezTo>
                  <a:cubicBezTo>
                    <a:pt x="1036" y="972"/>
                    <a:pt x="1044" y="964"/>
                    <a:pt x="1036" y="959"/>
                  </a:cubicBezTo>
                  <a:cubicBezTo>
                    <a:pt x="1028" y="955"/>
                    <a:pt x="1020" y="950"/>
                    <a:pt x="1022" y="945"/>
                  </a:cubicBezTo>
                  <a:cubicBezTo>
                    <a:pt x="1023" y="940"/>
                    <a:pt x="1008" y="929"/>
                    <a:pt x="1005" y="929"/>
                  </a:cubicBezTo>
                  <a:cubicBezTo>
                    <a:pt x="1002" y="928"/>
                    <a:pt x="993" y="925"/>
                    <a:pt x="984" y="926"/>
                  </a:cubicBezTo>
                  <a:cubicBezTo>
                    <a:pt x="974" y="926"/>
                    <a:pt x="959" y="923"/>
                    <a:pt x="959" y="919"/>
                  </a:cubicBezTo>
                  <a:cubicBezTo>
                    <a:pt x="960" y="915"/>
                    <a:pt x="951" y="906"/>
                    <a:pt x="947" y="905"/>
                  </a:cubicBezTo>
                  <a:cubicBezTo>
                    <a:pt x="942" y="903"/>
                    <a:pt x="938" y="903"/>
                    <a:pt x="933" y="897"/>
                  </a:cubicBezTo>
                  <a:cubicBezTo>
                    <a:pt x="929" y="891"/>
                    <a:pt x="929" y="888"/>
                    <a:pt x="923" y="887"/>
                  </a:cubicBezTo>
                  <a:cubicBezTo>
                    <a:pt x="916" y="887"/>
                    <a:pt x="913" y="885"/>
                    <a:pt x="912" y="881"/>
                  </a:cubicBezTo>
                  <a:cubicBezTo>
                    <a:pt x="912" y="876"/>
                    <a:pt x="905" y="873"/>
                    <a:pt x="896" y="879"/>
                  </a:cubicBezTo>
                  <a:cubicBezTo>
                    <a:pt x="888" y="884"/>
                    <a:pt x="881" y="886"/>
                    <a:pt x="878" y="882"/>
                  </a:cubicBezTo>
                  <a:cubicBezTo>
                    <a:pt x="874" y="879"/>
                    <a:pt x="874" y="878"/>
                    <a:pt x="862" y="878"/>
                  </a:cubicBezTo>
                  <a:cubicBezTo>
                    <a:pt x="850" y="878"/>
                    <a:pt x="844" y="878"/>
                    <a:pt x="847" y="871"/>
                  </a:cubicBezTo>
                  <a:cubicBezTo>
                    <a:pt x="851" y="864"/>
                    <a:pt x="840" y="861"/>
                    <a:pt x="832" y="866"/>
                  </a:cubicBezTo>
                  <a:cubicBezTo>
                    <a:pt x="825" y="872"/>
                    <a:pt x="822" y="877"/>
                    <a:pt x="818" y="876"/>
                  </a:cubicBezTo>
                  <a:cubicBezTo>
                    <a:pt x="813" y="876"/>
                    <a:pt x="829" y="871"/>
                    <a:pt x="825" y="865"/>
                  </a:cubicBezTo>
                  <a:cubicBezTo>
                    <a:pt x="822" y="859"/>
                    <a:pt x="822" y="860"/>
                    <a:pt x="810" y="866"/>
                  </a:cubicBezTo>
                  <a:cubicBezTo>
                    <a:pt x="798" y="872"/>
                    <a:pt x="793" y="875"/>
                    <a:pt x="783" y="875"/>
                  </a:cubicBezTo>
                  <a:cubicBezTo>
                    <a:pt x="773" y="875"/>
                    <a:pt x="777" y="879"/>
                    <a:pt x="771" y="887"/>
                  </a:cubicBezTo>
                  <a:cubicBezTo>
                    <a:pt x="766" y="895"/>
                    <a:pt x="759" y="910"/>
                    <a:pt x="754" y="905"/>
                  </a:cubicBezTo>
                  <a:cubicBezTo>
                    <a:pt x="748" y="900"/>
                    <a:pt x="744" y="886"/>
                    <a:pt x="735" y="889"/>
                  </a:cubicBezTo>
                  <a:cubicBezTo>
                    <a:pt x="727" y="893"/>
                    <a:pt x="725" y="902"/>
                    <a:pt x="719" y="898"/>
                  </a:cubicBezTo>
                  <a:cubicBezTo>
                    <a:pt x="713" y="893"/>
                    <a:pt x="705" y="890"/>
                    <a:pt x="704" y="886"/>
                  </a:cubicBezTo>
                  <a:cubicBezTo>
                    <a:pt x="704" y="882"/>
                    <a:pt x="700" y="879"/>
                    <a:pt x="700" y="879"/>
                  </a:cubicBezTo>
                  <a:cubicBezTo>
                    <a:pt x="700" y="879"/>
                    <a:pt x="695" y="878"/>
                    <a:pt x="701" y="857"/>
                  </a:cubicBezTo>
                  <a:cubicBezTo>
                    <a:pt x="707" y="835"/>
                    <a:pt x="709" y="829"/>
                    <a:pt x="686" y="829"/>
                  </a:cubicBezTo>
                  <a:cubicBezTo>
                    <a:pt x="664" y="830"/>
                    <a:pt x="654" y="834"/>
                    <a:pt x="656" y="827"/>
                  </a:cubicBezTo>
                  <a:cubicBezTo>
                    <a:pt x="657" y="820"/>
                    <a:pt x="663" y="822"/>
                    <a:pt x="664" y="814"/>
                  </a:cubicBezTo>
                  <a:cubicBezTo>
                    <a:pt x="665" y="807"/>
                    <a:pt x="672" y="794"/>
                    <a:pt x="675" y="790"/>
                  </a:cubicBezTo>
                  <a:cubicBezTo>
                    <a:pt x="678" y="785"/>
                    <a:pt x="686" y="774"/>
                    <a:pt x="679" y="774"/>
                  </a:cubicBezTo>
                  <a:cubicBezTo>
                    <a:pt x="673" y="775"/>
                    <a:pt x="654" y="771"/>
                    <a:pt x="646" y="778"/>
                  </a:cubicBezTo>
                  <a:cubicBezTo>
                    <a:pt x="638" y="786"/>
                    <a:pt x="629" y="802"/>
                    <a:pt x="623" y="803"/>
                  </a:cubicBezTo>
                  <a:cubicBezTo>
                    <a:pt x="616" y="805"/>
                    <a:pt x="594" y="809"/>
                    <a:pt x="590" y="803"/>
                  </a:cubicBezTo>
                  <a:cubicBezTo>
                    <a:pt x="587" y="797"/>
                    <a:pt x="572" y="796"/>
                    <a:pt x="573" y="776"/>
                  </a:cubicBezTo>
                  <a:cubicBezTo>
                    <a:pt x="574" y="757"/>
                    <a:pt x="573" y="747"/>
                    <a:pt x="580" y="742"/>
                  </a:cubicBezTo>
                  <a:cubicBezTo>
                    <a:pt x="586" y="737"/>
                    <a:pt x="585" y="738"/>
                    <a:pt x="586" y="729"/>
                  </a:cubicBezTo>
                  <a:cubicBezTo>
                    <a:pt x="587" y="719"/>
                    <a:pt x="594" y="706"/>
                    <a:pt x="604" y="703"/>
                  </a:cubicBezTo>
                  <a:cubicBezTo>
                    <a:pt x="613" y="701"/>
                    <a:pt x="623" y="689"/>
                    <a:pt x="629" y="689"/>
                  </a:cubicBezTo>
                  <a:cubicBezTo>
                    <a:pt x="635" y="688"/>
                    <a:pt x="659" y="704"/>
                    <a:pt x="664" y="699"/>
                  </a:cubicBezTo>
                  <a:cubicBezTo>
                    <a:pt x="669" y="695"/>
                    <a:pt x="671" y="684"/>
                    <a:pt x="685" y="686"/>
                  </a:cubicBezTo>
                  <a:cubicBezTo>
                    <a:pt x="699" y="689"/>
                    <a:pt x="724" y="685"/>
                    <a:pt x="729" y="692"/>
                  </a:cubicBezTo>
                  <a:cubicBezTo>
                    <a:pt x="734" y="699"/>
                    <a:pt x="744" y="718"/>
                    <a:pt x="743" y="726"/>
                  </a:cubicBezTo>
                  <a:cubicBezTo>
                    <a:pt x="741" y="735"/>
                    <a:pt x="744" y="741"/>
                    <a:pt x="750" y="739"/>
                  </a:cubicBezTo>
                  <a:cubicBezTo>
                    <a:pt x="755" y="737"/>
                    <a:pt x="759" y="727"/>
                    <a:pt x="758" y="722"/>
                  </a:cubicBezTo>
                  <a:cubicBezTo>
                    <a:pt x="757" y="717"/>
                    <a:pt x="757" y="697"/>
                    <a:pt x="757" y="689"/>
                  </a:cubicBezTo>
                  <a:cubicBezTo>
                    <a:pt x="756" y="680"/>
                    <a:pt x="748" y="674"/>
                    <a:pt x="761" y="666"/>
                  </a:cubicBezTo>
                  <a:cubicBezTo>
                    <a:pt x="775" y="658"/>
                    <a:pt x="818" y="633"/>
                    <a:pt x="818" y="623"/>
                  </a:cubicBezTo>
                  <a:cubicBezTo>
                    <a:pt x="818" y="613"/>
                    <a:pt x="814" y="603"/>
                    <a:pt x="817" y="600"/>
                  </a:cubicBezTo>
                  <a:cubicBezTo>
                    <a:pt x="820" y="596"/>
                    <a:pt x="820" y="607"/>
                    <a:pt x="825" y="604"/>
                  </a:cubicBezTo>
                  <a:cubicBezTo>
                    <a:pt x="831" y="601"/>
                    <a:pt x="837" y="582"/>
                    <a:pt x="842" y="579"/>
                  </a:cubicBezTo>
                  <a:cubicBezTo>
                    <a:pt x="847" y="576"/>
                    <a:pt x="851" y="567"/>
                    <a:pt x="853" y="563"/>
                  </a:cubicBezTo>
                  <a:cubicBezTo>
                    <a:pt x="855" y="558"/>
                    <a:pt x="863" y="556"/>
                    <a:pt x="867" y="558"/>
                  </a:cubicBezTo>
                  <a:cubicBezTo>
                    <a:pt x="872" y="560"/>
                    <a:pt x="880" y="558"/>
                    <a:pt x="882" y="554"/>
                  </a:cubicBezTo>
                  <a:cubicBezTo>
                    <a:pt x="884" y="550"/>
                    <a:pt x="881" y="542"/>
                    <a:pt x="882" y="538"/>
                  </a:cubicBezTo>
                  <a:cubicBezTo>
                    <a:pt x="883" y="535"/>
                    <a:pt x="898" y="527"/>
                    <a:pt x="904" y="521"/>
                  </a:cubicBezTo>
                  <a:cubicBezTo>
                    <a:pt x="911" y="515"/>
                    <a:pt x="918" y="514"/>
                    <a:pt x="921" y="515"/>
                  </a:cubicBezTo>
                  <a:cubicBezTo>
                    <a:pt x="924" y="517"/>
                    <a:pt x="931" y="506"/>
                    <a:pt x="930" y="514"/>
                  </a:cubicBezTo>
                  <a:cubicBezTo>
                    <a:pt x="929" y="522"/>
                    <a:pt x="931" y="535"/>
                    <a:pt x="937" y="528"/>
                  </a:cubicBezTo>
                  <a:cubicBezTo>
                    <a:pt x="944" y="520"/>
                    <a:pt x="966" y="513"/>
                    <a:pt x="970" y="513"/>
                  </a:cubicBezTo>
                  <a:cubicBezTo>
                    <a:pt x="973" y="513"/>
                    <a:pt x="979" y="507"/>
                    <a:pt x="981" y="504"/>
                  </a:cubicBezTo>
                  <a:cubicBezTo>
                    <a:pt x="983" y="500"/>
                    <a:pt x="991" y="501"/>
                    <a:pt x="995" y="500"/>
                  </a:cubicBezTo>
                  <a:cubicBezTo>
                    <a:pt x="1000" y="499"/>
                    <a:pt x="1000" y="495"/>
                    <a:pt x="995" y="489"/>
                  </a:cubicBezTo>
                  <a:cubicBezTo>
                    <a:pt x="990" y="484"/>
                    <a:pt x="1001" y="470"/>
                    <a:pt x="992" y="475"/>
                  </a:cubicBezTo>
                  <a:cubicBezTo>
                    <a:pt x="982" y="481"/>
                    <a:pt x="984" y="489"/>
                    <a:pt x="975" y="488"/>
                  </a:cubicBezTo>
                  <a:cubicBezTo>
                    <a:pt x="966" y="486"/>
                    <a:pt x="956" y="483"/>
                    <a:pt x="956" y="481"/>
                  </a:cubicBezTo>
                  <a:cubicBezTo>
                    <a:pt x="957" y="479"/>
                    <a:pt x="956" y="469"/>
                    <a:pt x="952" y="474"/>
                  </a:cubicBezTo>
                  <a:cubicBezTo>
                    <a:pt x="948" y="479"/>
                    <a:pt x="947" y="470"/>
                    <a:pt x="954" y="466"/>
                  </a:cubicBezTo>
                  <a:cubicBezTo>
                    <a:pt x="961" y="461"/>
                    <a:pt x="961" y="455"/>
                    <a:pt x="956" y="451"/>
                  </a:cubicBezTo>
                  <a:cubicBezTo>
                    <a:pt x="951" y="447"/>
                    <a:pt x="944" y="446"/>
                    <a:pt x="939" y="446"/>
                  </a:cubicBezTo>
                  <a:cubicBezTo>
                    <a:pt x="934" y="447"/>
                    <a:pt x="929" y="436"/>
                    <a:pt x="943" y="437"/>
                  </a:cubicBezTo>
                  <a:cubicBezTo>
                    <a:pt x="956" y="438"/>
                    <a:pt x="960" y="437"/>
                    <a:pt x="961" y="439"/>
                  </a:cubicBezTo>
                  <a:cubicBezTo>
                    <a:pt x="962" y="441"/>
                    <a:pt x="971" y="459"/>
                    <a:pt x="976" y="455"/>
                  </a:cubicBezTo>
                  <a:cubicBezTo>
                    <a:pt x="980" y="450"/>
                    <a:pt x="991" y="449"/>
                    <a:pt x="984" y="445"/>
                  </a:cubicBezTo>
                  <a:cubicBezTo>
                    <a:pt x="978" y="441"/>
                    <a:pt x="970" y="438"/>
                    <a:pt x="973" y="436"/>
                  </a:cubicBezTo>
                  <a:cubicBezTo>
                    <a:pt x="976" y="434"/>
                    <a:pt x="994" y="439"/>
                    <a:pt x="999" y="437"/>
                  </a:cubicBezTo>
                  <a:cubicBezTo>
                    <a:pt x="1003" y="434"/>
                    <a:pt x="1022" y="416"/>
                    <a:pt x="1025" y="417"/>
                  </a:cubicBezTo>
                  <a:cubicBezTo>
                    <a:pt x="1028" y="418"/>
                    <a:pt x="1029" y="429"/>
                    <a:pt x="1026" y="434"/>
                  </a:cubicBezTo>
                  <a:cubicBezTo>
                    <a:pt x="1023" y="440"/>
                    <a:pt x="1000" y="457"/>
                    <a:pt x="1002" y="461"/>
                  </a:cubicBezTo>
                  <a:cubicBezTo>
                    <a:pt x="1005" y="465"/>
                    <a:pt x="1006" y="473"/>
                    <a:pt x="1006" y="473"/>
                  </a:cubicBezTo>
                  <a:cubicBezTo>
                    <a:pt x="1006" y="473"/>
                    <a:pt x="1024" y="462"/>
                    <a:pt x="1037" y="473"/>
                  </a:cubicBezTo>
                  <a:cubicBezTo>
                    <a:pt x="1050" y="485"/>
                    <a:pt x="1061" y="490"/>
                    <a:pt x="1063" y="484"/>
                  </a:cubicBezTo>
                  <a:cubicBezTo>
                    <a:pt x="1066" y="477"/>
                    <a:pt x="1072" y="473"/>
                    <a:pt x="1068" y="462"/>
                  </a:cubicBezTo>
                  <a:cubicBezTo>
                    <a:pt x="1063" y="450"/>
                    <a:pt x="1058" y="444"/>
                    <a:pt x="1052" y="442"/>
                  </a:cubicBezTo>
                  <a:cubicBezTo>
                    <a:pt x="1046" y="440"/>
                    <a:pt x="1036" y="437"/>
                    <a:pt x="1038" y="431"/>
                  </a:cubicBezTo>
                  <a:cubicBezTo>
                    <a:pt x="1040" y="425"/>
                    <a:pt x="1041" y="427"/>
                    <a:pt x="1046" y="416"/>
                  </a:cubicBezTo>
                  <a:cubicBezTo>
                    <a:pt x="1050" y="405"/>
                    <a:pt x="1052" y="377"/>
                    <a:pt x="1047" y="377"/>
                  </a:cubicBezTo>
                  <a:cubicBezTo>
                    <a:pt x="1043" y="377"/>
                    <a:pt x="1037" y="380"/>
                    <a:pt x="1037" y="375"/>
                  </a:cubicBezTo>
                  <a:cubicBezTo>
                    <a:pt x="1037" y="370"/>
                    <a:pt x="1041" y="365"/>
                    <a:pt x="1033" y="364"/>
                  </a:cubicBezTo>
                  <a:cubicBezTo>
                    <a:pt x="1025" y="362"/>
                    <a:pt x="1021" y="359"/>
                    <a:pt x="1018" y="356"/>
                  </a:cubicBezTo>
                  <a:cubicBezTo>
                    <a:pt x="1014" y="353"/>
                    <a:pt x="1012" y="343"/>
                    <a:pt x="1006" y="340"/>
                  </a:cubicBezTo>
                  <a:cubicBezTo>
                    <a:pt x="1001" y="337"/>
                    <a:pt x="994" y="340"/>
                    <a:pt x="999" y="335"/>
                  </a:cubicBezTo>
                  <a:cubicBezTo>
                    <a:pt x="1004" y="330"/>
                    <a:pt x="1003" y="317"/>
                    <a:pt x="1000" y="310"/>
                  </a:cubicBezTo>
                  <a:cubicBezTo>
                    <a:pt x="997" y="302"/>
                    <a:pt x="990" y="293"/>
                    <a:pt x="989" y="282"/>
                  </a:cubicBezTo>
                  <a:cubicBezTo>
                    <a:pt x="988" y="272"/>
                    <a:pt x="988" y="264"/>
                    <a:pt x="984" y="266"/>
                  </a:cubicBezTo>
                  <a:cubicBezTo>
                    <a:pt x="979" y="269"/>
                    <a:pt x="975" y="275"/>
                    <a:pt x="971" y="284"/>
                  </a:cubicBezTo>
                  <a:cubicBezTo>
                    <a:pt x="967" y="292"/>
                    <a:pt x="962" y="297"/>
                    <a:pt x="959" y="297"/>
                  </a:cubicBezTo>
                  <a:cubicBezTo>
                    <a:pt x="957" y="298"/>
                    <a:pt x="957" y="307"/>
                    <a:pt x="951" y="301"/>
                  </a:cubicBezTo>
                  <a:cubicBezTo>
                    <a:pt x="946" y="296"/>
                    <a:pt x="940" y="290"/>
                    <a:pt x="938" y="288"/>
                  </a:cubicBezTo>
                  <a:cubicBezTo>
                    <a:pt x="936" y="285"/>
                    <a:pt x="931" y="281"/>
                    <a:pt x="937" y="270"/>
                  </a:cubicBezTo>
                  <a:cubicBezTo>
                    <a:pt x="943" y="259"/>
                    <a:pt x="943" y="251"/>
                    <a:pt x="940" y="250"/>
                  </a:cubicBezTo>
                  <a:cubicBezTo>
                    <a:pt x="937" y="248"/>
                    <a:pt x="930" y="259"/>
                    <a:pt x="924" y="246"/>
                  </a:cubicBezTo>
                  <a:cubicBezTo>
                    <a:pt x="919" y="233"/>
                    <a:pt x="920" y="229"/>
                    <a:pt x="912" y="227"/>
                  </a:cubicBezTo>
                  <a:cubicBezTo>
                    <a:pt x="903" y="224"/>
                    <a:pt x="904" y="227"/>
                    <a:pt x="893" y="224"/>
                  </a:cubicBezTo>
                  <a:cubicBezTo>
                    <a:pt x="881" y="221"/>
                    <a:pt x="883" y="213"/>
                    <a:pt x="874" y="219"/>
                  </a:cubicBezTo>
                  <a:cubicBezTo>
                    <a:pt x="865" y="224"/>
                    <a:pt x="857" y="220"/>
                    <a:pt x="861" y="232"/>
                  </a:cubicBezTo>
                  <a:cubicBezTo>
                    <a:pt x="866" y="244"/>
                    <a:pt x="866" y="250"/>
                    <a:pt x="862" y="250"/>
                  </a:cubicBezTo>
                  <a:cubicBezTo>
                    <a:pt x="857" y="251"/>
                    <a:pt x="853" y="256"/>
                    <a:pt x="856" y="261"/>
                  </a:cubicBezTo>
                  <a:cubicBezTo>
                    <a:pt x="859" y="266"/>
                    <a:pt x="871" y="263"/>
                    <a:pt x="861" y="275"/>
                  </a:cubicBezTo>
                  <a:cubicBezTo>
                    <a:pt x="851" y="286"/>
                    <a:pt x="847" y="298"/>
                    <a:pt x="852" y="301"/>
                  </a:cubicBezTo>
                  <a:cubicBezTo>
                    <a:pt x="857" y="305"/>
                    <a:pt x="864" y="312"/>
                    <a:pt x="861" y="320"/>
                  </a:cubicBezTo>
                  <a:cubicBezTo>
                    <a:pt x="858" y="328"/>
                    <a:pt x="859" y="346"/>
                    <a:pt x="844" y="355"/>
                  </a:cubicBezTo>
                  <a:cubicBezTo>
                    <a:pt x="829" y="365"/>
                    <a:pt x="828" y="371"/>
                    <a:pt x="828" y="374"/>
                  </a:cubicBezTo>
                  <a:cubicBezTo>
                    <a:pt x="827" y="377"/>
                    <a:pt x="825" y="390"/>
                    <a:pt x="829" y="396"/>
                  </a:cubicBezTo>
                  <a:cubicBezTo>
                    <a:pt x="833" y="402"/>
                    <a:pt x="835" y="405"/>
                    <a:pt x="831" y="407"/>
                  </a:cubicBezTo>
                  <a:cubicBezTo>
                    <a:pt x="828" y="409"/>
                    <a:pt x="822" y="421"/>
                    <a:pt x="817" y="418"/>
                  </a:cubicBezTo>
                  <a:cubicBezTo>
                    <a:pt x="813" y="415"/>
                    <a:pt x="809" y="413"/>
                    <a:pt x="805" y="409"/>
                  </a:cubicBezTo>
                  <a:cubicBezTo>
                    <a:pt x="802" y="405"/>
                    <a:pt x="795" y="397"/>
                    <a:pt x="801" y="397"/>
                  </a:cubicBezTo>
                  <a:cubicBezTo>
                    <a:pt x="806" y="398"/>
                    <a:pt x="815" y="394"/>
                    <a:pt x="810" y="390"/>
                  </a:cubicBezTo>
                  <a:cubicBezTo>
                    <a:pt x="806" y="387"/>
                    <a:pt x="803" y="386"/>
                    <a:pt x="804" y="378"/>
                  </a:cubicBezTo>
                  <a:cubicBezTo>
                    <a:pt x="805" y="371"/>
                    <a:pt x="800" y="354"/>
                    <a:pt x="796" y="354"/>
                  </a:cubicBezTo>
                  <a:cubicBezTo>
                    <a:pt x="792" y="354"/>
                    <a:pt x="781" y="354"/>
                    <a:pt x="781" y="347"/>
                  </a:cubicBezTo>
                  <a:cubicBezTo>
                    <a:pt x="780" y="340"/>
                    <a:pt x="756" y="333"/>
                    <a:pt x="749" y="329"/>
                  </a:cubicBezTo>
                  <a:cubicBezTo>
                    <a:pt x="743" y="324"/>
                    <a:pt x="740" y="318"/>
                    <a:pt x="728" y="319"/>
                  </a:cubicBezTo>
                  <a:cubicBezTo>
                    <a:pt x="715" y="320"/>
                    <a:pt x="715" y="325"/>
                    <a:pt x="716" y="311"/>
                  </a:cubicBezTo>
                  <a:cubicBezTo>
                    <a:pt x="716" y="296"/>
                    <a:pt x="723" y="296"/>
                    <a:pt x="714" y="292"/>
                  </a:cubicBezTo>
                  <a:cubicBezTo>
                    <a:pt x="704" y="288"/>
                    <a:pt x="696" y="290"/>
                    <a:pt x="703" y="278"/>
                  </a:cubicBezTo>
                  <a:cubicBezTo>
                    <a:pt x="711" y="266"/>
                    <a:pt x="700" y="262"/>
                    <a:pt x="714" y="253"/>
                  </a:cubicBezTo>
                  <a:cubicBezTo>
                    <a:pt x="728" y="243"/>
                    <a:pt x="740" y="217"/>
                    <a:pt x="741" y="216"/>
                  </a:cubicBezTo>
                  <a:cubicBezTo>
                    <a:pt x="743" y="214"/>
                    <a:pt x="751" y="215"/>
                    <a:pt x="755" y="207"/>
                  </a:cubicBezTo>
                  <a:cubicBezTo>
                    <a:pt x="758" y="199"/>
                    <a:pt x="753" y="194"/>
                    <a:pt x="766" y="193"/>
                  </a:cubicBezTo>
                  <a:cubicBezTo>
                    <a:pt x="779" y="193"/>
                    <a:pt x="781" y="195"/>
                    <a:pt x="787" y="183"/>
                  </a:cubicBezTo>
                  <a:cubicBezTo>
                    <a:pt x="794" y="172"/>
                    <a:pt x="803" y="167"/>
                    <a:pt x="792" y="163"/>
                  </a:cubicBezTo>
                  <a:cubicBezTo>
                    <a:pt x="782" y="160"/>
                    <a:pt x="773" y="156"/>
                    <a:pt x="777" y="156"/>
                  </a:cubicBezTo>
                  <a:cubicBezTo>
                    <a:pt x="782" y="156"/>
                    <a:pt x="797" y="158"/>
                    <a:pt x="800" y="156"/>
                  </a:cubicBezTo>
                  <a:cubicBezTo>
                    <a:pt x="802" y="155"/>
                    <a:pt x="819" y="149"/>
                    <a:pt x="814" y="144"/>
                  </a:cubicBezTo>
                  <a:cubicBezTo>
                    <a:pt x="808" y="139"/>
                    <a:pt x="804" y="138"/>
                    <a:pt x="809" y="137"/>
                  </a:cubicBezTo>
                  <a:cubicBezTo>
                    <a:pt x="813" y="136"/>
                    <a:pt x="818" y="142"/>
                    <a:pt x="822" y="141"/>
                  </a:cubicBezTo>
                  <a:cubicBezTo>
                    <a:pt x="826" y="140"/>
                    <a:pt x="825" y="129"/>
                    <a:pt x="829" y="130"/>
                  </a:cubicBezTo>
                  <a:cubicBezTo>
                    <a:pt x="834" y="131"/>
                    <a:pt x="838" y="137"/>
                    <a:pt x="844" y="132"/>
                  </a:cubicBezTo>
                  <a:cubicBezTo>
                    <a:pt x="850" y="128"/>
                    <a:pt x="863" y="131"/>
                    <a:pt x="861" y="121"/>
                  </a:cubicBezTo>
                  <a:cubicBezTo>
                    <a:pt x="859" y="112"/>
                    <a:pt x="848" y="113"/>
                    <a:pt x="854" y="107"/>
                  </a:cubicBezTo>
                  <a:cubicBezTo>
                    <a:pt x="861" y="101"/>
                    <a:pt x="862" y="98"/>
                    <a:pt x="858" y="94"/>
                  </a:cubicBezTo>
                  <a:cubicBezTo>
                    <a:pt x="854" y="90"/>
                    <a:pt x="858" y="86"/>
                    <a:pt x="852" y="84"/>
                  </a:cubicBezTo>
                  <a:cubicBezTo>
                    <a:pt x="847" y="81"/>
                    <a:pt x="831" y="84"/>
                    <a:pt x="830" y="88"/>
                  </a:cubicBezTo>
                  <a:cubicBezTo>
                    <a:pt x="829" y="92"/>
                    <a:pt x="822" y="98"/>
                    <a:pt x="816" y="107"/>
                  </a:cubicBezTo>
                  <a:cubicBezTo>
                    <a:pt x="810" y="116"/>
                    <a:pt x="809" y="119"/>
                    <a:pt x="805" y="118"/>
                  </a:cubicBezTo>
                  <a:cubicBezTo>
                    <a:pt x="801" y="117"/>
                    <a:pt x="799" y="126"/>
                    <a:pt x="801" y="116"/>
                  </a:cubicBezTo>
                  <a:cubicBezTo>
                    <a:pt x="803" y="105"/>
                    <a:pt x="805" y="106"/>
                    <a:pt x="804" y="102"/>
                  </a:cubicBezTo>
                  <a:cubicBezTo>
                    <a:pt x="802" y="99"/>
                    <a:pt x="797" y="93"/>
                    <a:pt x="793" y="92"/>
                  </a:cubicBezTo>
                  <a:cubicBezTo>
                    <a:pt x="790" y="91"/>
                    <a:pt x="787" y="90"/>
                    <a:pt x="783" y="96"/>
                  </a:cubicBezTo>
                  <a:cubicBezTo>
                    <a:pt x="780" y="102"/>
                    <a:pt x="780" y="85"/>
                    <a:pt x="776" y="82"/>
                  </a:cubicBezTo>
                  <a:cubicBezTo>
                    <a:pt x="773" y="80"/>
                    <a:pt x="781" y="78"/>
                    <a:pt x="773" y="70"/>
                  </a:cubicBezTo>
                  <a:cubicBezTo>
                    <a:pt x="765" y="62"/>
                    <a:pt x="769" y="51"/>
                    <a:pt x="763" y="49"/>
                  </a:cubicBezTo>
                  <a:cubicBezTo>
                    <a:pt x="757" y="47"/>
                    <a:pt x="756" y="47"/>
                    <a:pt x="758" y="41"/>
                  </a:cubicBezTo>
                  <a:cubicBezTo>
                    <a:pt x="760" y="34"/>
                    <a:pt x="748" y="27"/>
                    <a:pt x="763" y="30"/>
                  </a:cubicBezTo>
                  <a:cubicBezTo>
                    <a:pt x="778" y="33"/>
                    <a:pt x="778" y="35"/>
                    <a:pt x="784" y="28"/>
                  </a:cubicBezTo>
                  <a:cubicBezTo>
                    <a:pt x="791" y="22"/>
                    <a:pt x="806" y="16"/>
                    <a:pt x="799" y="11"/>
                  </a:cubicBezTo>
                  <a:cubicBezTo>
                    <a:pt x="791" y="5"/>
                    <a:pt x="780" y="3"/>
                    <a:pt x="776" y="1"/>
                  </a:cubicBezTo>
                  <a:cubicBezTo>
                    <a:pt x="773" y="0"/>
                    <a:pt x="755" y="4"/>
                    <a:pt x="755" y="4"/>
                  </a:cubicBezTo>
                  <a:cubicBezTo>
                    <a:pt x="755" y="4"/>
                    <a:pt x="746" y="26"/>
                    <a:pt x="745" y="27"/>
                  </a:cubicBezTo>
                  <a:cubicBezTo>
                    <a:pt x="744" y="29"/>
                    <a:pt x="752" y="31"/>
                    <a:pt x="745" y="43"/>
                  </a:cubicBezTo>
                  <a:cubicBezTo>
                    <a:pt x="739" y="55"/>
                    <a:pt x="733" y="51"/>
                    <a:pt x="732" y="62"/>
                  </a:cubicBezTo>
                  <a:cubicBezTo>
                    <a:pt x="730" y="72"/>
                    <a:pt x="731" y="83"/>
                    <a:pt x="731" y="83"/>
                  </a:cubicBezTo>
                  <a:cubicBezTo>
                    <a:pt x="731" y="83"/>
                    <a:pt x="744" y="90"/>
                    <a:pt x="743" y="90"/>
                  </a:cubicBezTo>
                  <a:cubicBezTo>
                    <a:pt x="741" y="90"/>
                    <a:pt x="751" y="100"/>
                    <a:pt x="747" y="102"/>
                  </a:cubicBezTo>
                  <a:cubicBezTo>
                    <a:pt x="743" y="104"/>
                    <a:pt x="750" y="109"/>
                    <a:pt x="739" y="109"/>
                  </a:cubicBezTo>
                  <a:cubicBezTo>
                    <a:pt x="728" y="109"/>
                    <a:pt x="718" y="105"/>
                    <a:pt x="721" y="104"/>
                  </a:cubicBezTo>
                  <a:cubicBezTo>
                    <a:pt x="724" y="103"/>
                    <a:pt x="735" y="100"/>
                    <a:pt x="732" y="96"/>
                  </a:cubicBezTo>
                  <a:cubicBezTo>
                    <a:pt x="729" y="92"/>
                    <a:pt x="718" y="81"/>
                    <a:pt x="713" y="85"/>
                  </a:cubicBezTo>
                  <a:cubicBezTo>
                    <a:pt x="709" y="89"/>
                    <a:pt x="692" y="95"/>
                    <a:pt x="695" y="96"/>
                  </a:cubicBezTo>
                  <a:cubicBezTo>
                    <a:pt x="698" y="98"/>
                    <a:pt x="713" y="102"/>
                    <a:pt x="708" y="105"/>
                  </a:cubicBezTo>
                  <a:cubicBezTo>
                    <a:pt x="702" y="108"/>
                    <a:pt x="698" y="117"/>
                    <a:pt x="691" y="116"/>
                  </a:cubicBezTo>
                  <a:cubicBezTo>
                    <a:pt x="684" y="116"/>
                    <a:pt x="666" y="115"/>
                    <a:pt x="659" y="113"/>
                  </a:cubicBezTo>
                  <a:cubicBezTo>
                    <a:pt x="652" y="112"/>
                    <a:pt x="644" y="106"/>
                    <a:pt x="653" y="102"/>
                  </a:cubicBezTo>
                  <a:cubicBezTo>
                    <a:pt x="662" y="99"/>
                    <a:pt x="622" y="99"/>
                    <a:pt x="617" y="105"/>
                  </a:cubicBezTo>
                  <a:cubicBezTo>
                    <a:pt x="612" y="111"/>
                    <a:pt x="612" y="114"/>
                    <a:pt x="604" y="113"/>
                  </a:cubicBezTo>
                  <a:cubicBezTo>
                    <a:pt x="595" y="113"/>
                    <a:pt x="554" y="113"/>
                    <a:pt x="554" y="113"/>
                  </a:cubicBezTo>
                  <a:cubicBezTo>
                    <a:pt x="554" y="113"/>
                    <a:pt x="568" y="106"/>
                    <a:pt x="556" y="99"/>
                  </a:cubicBezTo>
                  <a:cubicBezTo>
                    <a:pt x="543" y="93"/>
                    <a:pt x="534" y="95"/>
                    <a:pt x="532" y="95"/>
                  </a:cubicBezTo>
                  <a:cubicBezTo>
                    <a:pt x="530" y="95"/>
                    <a:pt x="527" y="95"/>
                    <a:pt x="520" y="91"/>
                  </a:cubicBezTo>
                  <a:cubicBezTo>
                    <a:pt x="513" y="88"/>
                    <a:pt x="506" y="85"/>
                    <a:pt x="504" y="84"/>
                  </a:cubicBezTo>
                  <a:cubicBezTo>
                    <a:pt x="502" y="82"/>
                    <a:pt x="490" y="81"/>
                    <a:pt x="487" y="83"/>
                  </a:cubicBezTo>
                  <a:cubicBezTo>
                    <a:pt x="484" y="84"/>
                    <a:pt x="484" y="90"/>
                    <a:pt x="482" y="90"/>
                  </a:cubicBezTo>
                  <a:cubicBezTo>
                    <a:pt x="479" y="91"/>
                    <a:pt x="476" y="91"/>
                    <a:pt x="476" y="83"/>
                  </a:cubicBezTo>
                  <a:cubicBezTo>
                    <a:pt x="476" y="75"/>
                    <a:pt x="469" y="80"/>
                    <a:pt x="469" y="80"/>
                  </a:cubicBezTo>
                  <a:cubicBezTo>
                    <a:pt x="465" y="88"/>
                    <a:pt x="465" y="88"/>
                    <a:pt x="465" y="88"/>
                  </a:cubicBezTo>
                  <a:cubicBezTo>
                    <a:pt x="465" y="88"/>
                    <a:pt x="461" y="88"/>
                    <a:pt x="459" y="84"/>
                  </a:cubicBezTo>
                  <a:cubicBezTo>
                    <a:pt x="458" y="81"/>
                    <a:pt x="458" y="78"/>
                    <a:pt x="455" y="76"/>
                  </a:cubicBezTo>
                  <a:cubicBezTo>
                    <a:pt x="452" y="74"/>
                    <a:pt x="457" y="73"/>
                    <a:pt x="449" y="73"/>
                  </a:cubicBezTo>
                  <a:cubicBezTo>
                    <a:pt x="442" y="74"/>
                    <a:pt x="442" y="82"/>
                    <a:pt x="438" y="81"/>
                  </a:cubicBezTo>
                  <a:cubicBezTo>
                    <a:pt x="433" y="81"/>
                    <a:pt x="440" y="69"/>
                    <a:pt x="423" y="77"/>
                  </a:cubicBezTo>
                  <a:cubicBezTo>
                    <a:pt x="405" y="86"/>
                    <a:pt x="382" y="89"/>
                    <a:pt x="371" y="95"/>
                  </a:cubicBezTo>
                  <a:cubicBezTo>
                    <a:pt x="360" y="100"/>
                    <a:pt x="357" y="95"/>
                    <a:pt x="334" y="85"/>
                  </a:cubicBezTo>
                  <a:cubicBezTo>
                    <a:pt x="310" y="75"/>
                    <a:pt x="284" y="83"/>
                    <a:pt x="238" y="71"/>
                  </a:cubicBezTo>
                  <a:cubicBezTo>
                    <a:pt x="192" y="60"/>
                    <a:pt x="185" y="67"/>
                    <a:pt x="170" y="71"/>
                  </a:cubicBezTo>
                  <a:cubicBezTo>
                    <a:pt x="155" y="75"/>
                    <a:pt x="142" y="71"/>
                    <a:pt x="131" y="82"/>
                  </a:cubicBezTo>
                  <a:cubicBezTo>
                    <a:pt x="120" y="93"/>
                    <a:pt x="122" y="98"/>
                    <a:pt x="108" y="100"/>
                  </a:cubicBezTo>
                  <a:cubicBezTo>
                    <a:pt x="94" y="101"/>
                    <a:pt x="83" y="105"/>
                    <a:pt x="85" y="108"/>
                  </a:cubicBezTo>
                  <a:cubicBezTo>
                    <a:pt x="87" y="111"/>
                    <a:pt x="98" y="113"/>
                    <a:pt x="101" y="115"/>
                  </a:cubicBezTo>
                  <a:cubicBezTo>
                    <a:pt x="104" y="117"/>
                    <a:pt x="103" y="129"/>
                    <a:pt x="111" y="132"/>
                  </a:cubicBezTo>
                  <a:cubicBezTo>
                    <a:pt x="120" y="135"/>
                    <a:pt x="135" y="133"/>
                    <a:pt x="131" y="138"/>
                  </a:cubicBezTo>
                  <a:cubicBezTo>
                    <a:pt x="128" y="142"/>
                    <a:pt x="118" y="156"/>
                    <a:pt x="114" y="152"/>
                  </a:cubicBezTo>
                  <a:cubicBezTo>
                    <a:pt x="109" y="148"/>
                    <a:pt x="104" y="142"/>
                    <a:pt x="98" y="142"/>
                  </a:cubicBezTo>
                  <a:cubicBezTo>
                    <a:pt x="92" y="142"/>
                    <a:pt x="79" y="146"/>
                    <a:pt x="74" y="149"/>
                  </a:cubicBezTo>
                  <a:cubicBezTo>
                    <a:pt x="69" y="152"/>
                    <a:pt x="60" y="153"/>
                    <a:pt x="61" y="159"/>
                  </a:cubicBezTo>
                  <a:cubicBezTo>
                    <a:pt x="62" y="165"/>
                    <a:pt x="69" y="162"/>
                    <a:pt x="68" y="167"/>
                  </a:cubicBezTo>
                  <a:cubicBezTo>
                    <a:pt x="67" y="173"/>
                    <a:pt x="58" y="168"/>
                    <a:pt x="58" y="175"/>
                  </a:cubicBezTo>
                  <a:cubicBezTo>
                    <a:pt x="59" y="182"/>
                    <a:pt x="78" y="187"/>
                    <a:pt x="87" y="184"/>
                  </a:cubicBezTo>
                  <a:cubicBezTo>
                    <a:pt x="96" y="181"/>
                    <a:pt x="102" y="171"/>
                    <a:pt x="107" y="178"/>
                  </a:cubicBezTo>
                  <a:cubicBezTo>
                    <a:pt x="112" y="185"/>
                    <a:pt x="115" y="201"/>
                    <a:pt x="104" y="204"/>
                  </a:cubicBezTo>
                  <a:cubicBezTo>
                    <a:pt x="93" y="207"/>
                    <a:pt x="64" y="214"/>
                    <a:pt x="61" y="221"/>
                  </a:cubicBezTo>
                  <a:cubicBezTo>
                    <a:pt x="59" y="229"/>
                    <a:pt x="50" y="242"/>
                    <a:pt x="46" y="243"/>
                  </a:cubicBezTo>
                  <a:cubicBezTo>
                    <a:pt x="42" y="243"/>
                    <a:pt x="42" y="254"/>
                    <a:pt x="46" y="258"/>
                  </a:cubicBezTo>
                  <a:cubicBezTo>
                    <a:pt x="49" y="262"/>
                    <a:pt x="45" y="261"/>
                    <a:pt x="47" y="269"/>
                  </a:cubicBezTo>
                  <a:cubicBezTo>
                    <a:pt x="49" y="277"/>
                    <a:pt x="52" y="286"/>
                    <a:pt x="59" y="280"/>
                  </a:cubicBezTo>
                  <a:cubicBezTo>
                    <a:pt x="66" y="275"/>
                    <a:pt x="75" y="280"/>
                    <a:pt x="70" y="287"/>
                  </a:cubicBezTo>
                  <a:cubicBezTo>
                    <a:pt x="65" y="295"/>
                    <a:pt x="55" y="299"/>
                    <a:pt x="70" y="299"/>
                  </a:cubicBezTo>
                  <a:cubicBezTo>
                    <a:pt x="85" y="299"/>
                    <a:pt x="83" y="292"/>
                    <a:pt x="95" y="296"/>
                  </a:cubicBezTo>
                  <a:cubicBezTo>
                    <a:pt x="107" y="301"/>
                    <a:pt x="110" y="295"/>
                    <a:pt x="107" y="304"/>
                  </a:cubicBezTo>
                  <a:cubicBezTo>
                    <a:pt x="103" y="314"/>
                    <a:pt x="93" y="327"/>
                    <a:pt x="78" y="334"/>
                  </a:cubicBezTo>
                  <a:cubicBezTo>
                    <a:pt x="63" y="341"/>
                    <a:pt x="60" y="340"/>
                    <a:pt x="48" y="347"/>
                  </a:cubicBezTo>
                  <a:cubicBezTo>
                    <a:pt x="36" y="354"/>
                    <a:pt x="0" y="373"/>
                    <a:pt x="11" y="372"/>
                  </a:cubicBezTo>
                  <a:cubicBezTo>
                    <a:pt x="23" y="372"/>
                    <a:pt x="43" y="358"/>
                    <a:pt x="48" y="356"/>
                  </a:cubicBezTo>
                  <a:cubicBezTo>
                    <a:pt x="54" y="354"/>
                    <a:pt x="56" y="362"/>
                    <a:pt x="65" y="356"/>
                  </a:cubicBezTo>
                  <a:cubicBezTo>
                    <a:pt x="73" y="350"/>
                    <a:pt x="107" y="325"/>
                    <a:pt x="118" y="318"/>
                  </a:cubicBezTo>
                  <a:cubicBezTo>
                    <a:pt x="129" y="311"/>
                    <a:pt x="145" y="307"/>
                    <a:pt x="146" y="297"/>
                  </a:cubicBezTo>
                  <a:cubicBezTo>
                    <a:pt x="147" y="287"/>
                    <a:pt x="147" y="278"/>
                    <a:pt x="155" y="276"/>
                  </a:cubicBezTo>
                  <a:cubicBezTo>
                    <a:pt x="164" y="273"/>
                    <a:pt x="166" y="266"/>
                    <a:pt x="175" y="260"/>
                  </a:cubicBezTo>
                  <a:cubicBezTo>
                    <a:pt x="184" y="253"/>
                    <a:pt x="193" y="244"/>
                    <a:pt x="197" y="246"/>
                  </a:cubicBezTo>
                  <a:cubicBezTo>
                    <a:pt x="201" y="248"/>
                    <a:pt x="193" y="252"/>
                    <a:pt x="186" y="257"/>
                  </a:cubicBezTo>
                  <a:cubicBezTo>
                    <a:pt x="178" y="261"/>
                    <a:pt x="171" y="267"/>
                    <a:pt x="170" y="276"/>
                  </a:cubicBezTo>
                  <a:cubicBezTo>
                    <a:pt x="169" y="286"/>
                    <a:pt x="156" y="296"/>
                    <a:pt x="167" y="291"/>
                  </a:cubicBezTo>
                  <a:cubicBezTo>
                    <a:pt x="177" y="286"/>
                    <a:pt x="184" y="279"/>
                    <a:pt x="191" y="275"/>
                  </a:cubicBezTo>
                  <a:cubicBezTo>
                    <a:pt x="199" y="271"/>
                    <a:pt x="204" y="277"/>
                    <a:pt x="207" y="268"/>
                  </a:cubicBezTo>
                  <a:cubicBezTo>
                    <a:pt x="210" y="259"/>
                    <a:pt x="206" y="251"/>
                    <a:pt x="214" y="256"/>
                  </a:cubicBezTo>
                  <a:cubicBezTo>
                    <a:pt x="221" y="260"/>
                    <a:pt x="231" y="269"/>
                    <a:pt x="240" y="273"/>
                  </a:cubicBezTo>
                  <a:cubicBezTo>
                    <a:pt x="249" y="277"/>
                    <a:pt x="249" y="268"/>
                    <a:pt x="271" y="278"/>
                  </a:cubicBezTo>
                  <a:cubicBezTo>
                    <a:pt x="294" y="288"/>
                    <a:pt x="293" y="282"/>
                    <a:pt x="296" y="299"/>
                  </a:cubicBezTo>
                  <a:cubicBezTo>
                    <a:pt x="298" y="315"/>
                    <a:pt x="307" y="300"/>
                    <a:pt x="313" y="303"/>
                  </a:cubicBezTo>
                  <a:cubicBezTo>
                    <a:pt x="320" y="306"/>
                    <a:pt x="327" y="306"/>
                    <a:pt x="328" y="319"/>
                  </a:cubicBezTo>
                  <a:cubicBezTo>
                    <a:pt x="330" y="333"/>
                    <a:pt x="332" y="338"/>
                    <a:pt x="330" y="347"/>
                  </a:cubicBezTo>
                  <a:cubicBezTo>
                    <a:pt x="328" y="356"/>
                    <a:pt x="341" y="353"/>
                    <a:pt x="342" y="363"/>
                  </a:cubicBezTo>
                  <a:cubicBezTo>
                    <a:pt x="342" y="372"/>
                    <a:pt x="341" y="384"/>
                    <a:pt x="342" y="387"/>
                  </a:cubicBezTo>
                  <a:cubicBezTo>
                    <a:pt x="343" y="389"/>
                    <a:pt x="358" y="391"/>
                    <a:pt x="354" y="398"/>
                  </a:cubicBezTo>
                  <a:cubicBezTo>
                    <a:pt x="351" y="405"/>
                    <a:pt x="352" y="412"/>
                    <a:pt x="355" y="419"/>
                  </a:cubicBezTo>
                  <a:cubicBezTo>
                    <a:pt x="359" y="425"/>
                    <a:pt x="363" y="427"/>
                    <a:pt x="372" y="436"/>
                  </a:cubicBezTo>
                  <a:cubicBezTo>
                    <a:pt x="381" y="445"/>
                    <a:pt x="399" y="461"/>
                    <a:pt x="393" y="463"/>
                  </a:cubicBezTo>
                  <a:cubicBezTo>
                    <a:pt x="388" y="466"/>
                    <a:pt x="382" y="461"/>
                    <a:pt x="376" y="468"/>
                  </a:cubicBezTo>
                  <a:cubicBezTo>
                    <a:pt x="370" y="475"/>
                    <a:pt x="374" y="477"/>
                    <a:pt x="369" y="496"/>
                  </a:cubicBezTo>
                  <a:cubicBezTo>
                    <a:pt x="364" y="514"/>
                    <a:pt x="365" y="515"/>
                    <a:pt x="360" y="529"/>
                  </a:cubicBezTo>
                  <a:cubicBezTo>
                    <a:pt x="354" y="544"/>
                    <a:pt x="351" y="548"/>
                    <a:pt x="349" y="560"/>
                  </a:cubicBezTo>
                  <a:cubicBezTo>
                    <a:pt x="347" y="572"/>
                    <a:pt x="342" y="580"/>
                    <a:pt x="351" y="591"/>
                  </a:cubicBezTo>
                  <a:cubicBezTo>
                    <a:pt x="360" y="602"/>
                    <a:pt x="346" y="603"/>
                    <a:pt x="358" y="619"/>
                  </a:cubicBezTo>
                  <a:cubicBezTo>
                    <a:pt x="370" y="635"/>
                    <a:pt x="376" y="631"/>
                    <a:pt x="382" y="641"/>
                  </a:cubicBezTo>
                  <a:cubicBezTo>
                    <a:pt x="389" y="651"/>
                    <a:pt x="407" y="648"/>
                    <a:pt x="402" y="661"/>
                  </a:cubicBezTo>
                  <a:cubicBezTo>
                    <a:pt x="397" y="674"/>
                    <a:pt x="399" y="681"/>
                    <a:pt x="408" y="691"/>
                  </a:cubicBezTo>
                  <a:cubicBezTo>
                    <a:pt x="418" y="701"/>
                    <a:pt x="419" y="704"/>
                    <a:pt x="415" y="708"/>
                  </a:cubicBezTo>
                  <a:cubicBezTo>
                    <a:pt x="411" y="712"/>
                    <a:pt x="405" y="716"/>
                    <a:pt x="409" y="718"/>
                  </a:cubicBezTo>
                  <a:cubicBezTo>
                    <a:pt x="412" y="720"/>
                    <a:pt x="417" y="719"/>
                    <a:pt x="422" y="727"/>
                  </a:cubicBezTo>
                  <a:cubicBezTo>
                    <a:pt x="427" y="736"/>
                    <a:pt x="427" y="743"/>
                    <a:pt x="430" y="746"/>
                  </a:cubicBezTo>
                  <a:cubicBezTo>
                    <a:pt x="433" y="749"/>
                    <a:pt x="441" y="755"/>
                    <a:pt x="440" y="758"/>
                  </a:cubicBezTo>
                  <a:cubicBezTo>
                    <a:pt x="440" y="762"/>
                    <a:pt x="451" y="766"/>
                    <a:pt x="451" y="761"/>
                  </a:cubicBezTo>
                  <a:cubicBezTo>
                    <a:pt x="451" y="756"/>
                    <a:pt x="458" y="762"/>
                    <a:pt x="451" y="746"/>
                  </a:cubicBezTo>
                  <a:cubicBezTo>
                    <a:pt x="443" y="730"/>
                    <a:pt x="431" y="717"/>
                    <a:pt x="427" y="707"/>
                  </a:cubicBezTo>
                  <a:cubicBezTo>
                    <a:pt x="424" y="697"/>
                    <a:pt x="419" y="683"/>
                    <a:pt x="421" y="679"/>
                  </a:cubicBezTo>
                  <a:cubicBezTo>
                    <a:pt x="422" y="675"/>
                    <a:pt x="424" y="664"/>
                    <a:pt x="431" y="670"/>
                  </a:cubicBezTo>
                  <a:cubicBezTo>
                    <a:pt x="438" y="676"/>
                    <a:pt x="432" y="687"/>
                    <a:pt x="439" y="700"/>
                  </a:cubicBezTo>
                  <a:cubicBezTo>
                    <a:pt x="446" y="713"/>
                    <a:pt x="471" y="741"/>
                    <a:pt x="475" y="746"/>
                  </a:cubicBezTo>
                  <a:cubicBezTo>
                    <a:pt x="478" y="751"/>
                    <a:pt x="492" y="771"/>
                    <a:pt x="488" y="781"/>
                  </a:cubicBezTo>
                  <a:cubicBezTo>
                    <a:pt x="483" y="791"/>
                    <a:pt x="481" y="792"/>
                    <a:pt x="488" y="796"/>
                  </a:cubicBezTo>
                  <a:cubicBezTo>
                    <a:pt x="495" y="800"/>
                    <a:pt x="554" y="831"/>
                    <a:pt x="562" y="831"/>
                  </a:cubicBezTo>
                  <a:cubicBezTo>
                    <a:pt x="570" y="832"/>
                    <a:pt x="586" y="824"/>
                    <a:pt x="592" y="828"/>
                  </a:cubicBezTo>
                  <a:cubicBezTo>
                    <a:pt x="599" y="831"/>
                    <a:pt x="611" y="848"/>
                    <a:pt x="618" y="848"/>
                  </a:cubicBezTo>
                  <a:cubicBezTo>
                    <a:pt x="624" y="848"/>
                    <a:pt x="636" y="845"/>
                    <a:pt x="635" y="852"/>
                  </a:cubicBezTo>
                  <a:cubicBezTo>
                    <a:pt x="633" y="859"/>
                    <a:pt x="627" y="869"/>
                    <a:pt x="634" y="865"/>
                  </a:cubicBezTo>
                  <a:cubicBezTo>
                    <a:pt x="641" y="861"/>
                    <a:pt x="645" y="853"/>
                    <a:pt x="651" y="857"/>
                  </a:cubicBezTo>
                  <a:cubicBezTo>
                    <a:pt x="657" y="861"/>
                    <a:pt x="667" y="871"/>
                    <a:pt x="668" y="879"/>
                  </a:cubicBezTo>
                  <a:cubicBezTo>
                    <a:pt x="670" y="887"/>
                    <a:pt x="676" y="892"/>
                    <a:pt x="681" y="889"/>
                  </a:cubicBezTo>
                  <a:cubicBezTo>
                    <a:pt x="686" y="886"/>
                    <a:pt x="694" y="893"/>
                    <a:pt x="695" y="898"/>
                  </a:cubicBezTo>
                  <a:cubicBezTo>
                    <a:pt x="697" y="903"/>
                    <a:pt x="700" y="907"/>
                    <a:pt x="705" y="906"/>
                  </a:cubicBezTo>
                  <a:cubicBezTo>
                    <a:pt x="710" y="904"/>
                    <a:pt x="714" y="906"/>
                    <a:pt x="714" y="910"/>
                  </a:cubicBezTo>
                  <a:cubicBezTo>
                    <a:pt x="714" y="913"/>
                    <a:pt x="717" y="918"/>
                    <a:pt x="721" y="913"/>
                  </a:cubicBezTo>
                  <a:cubicBezTo>
                    <a:pt x="726" y="908"/>
                    <a:pt x="725" y="903"/>
                    <a:pt x="727" y="903"/>
                  </a:cubicBezTo>
                  <a:cubicBezTo>
                    <a:pt x="729" y="903"/>
                    <a:pt x="737" y="899"/>
                    <a:pt x="738" y="905"/>
                  </a:cubicBezTo>
                  <a:cubicBezTo>
                    <a:pt x="739" y="911"/>
                    <a:pt x="748" y="921"/>
                    <a:pt x="745" y="931"/>
                  </a:cubicBezTo>
                  <a:cubicBezTo>
                    <a:pt x="741" y="940"/>
                    <a:pt x="746" y="954"/>
                    <a:pt x="735" y="955"/>
                  </a:cubicBezTo>
                  <a:cubicBezTo>
                    <a:pt x="723" y="956"/>
                    <a:pt x="720" y="963"/>
                    <a:pt x="724" y="968"/>
                  </a:cubicBezTo>
                  <a:cubicBezTo>
                    <a:pt x="728" y="972"/>
                    <a:pt x="721" y="969"/>
                    <a:pt x="714" y="974"/>
                  </a:cubicBezTo>
                  <a:cubicBezTo>
                    <a:pt x="708" y="979"/>
                    <a:pt x="696" y="975"/>
                    <a:pt x="699" y="985"/>
                  </a:cubicBezTo>
                  <a:cubicBezTo>
                    <a:pt x="703" y="995"/>
                    <a:pt x="698" y="1008"/>
                    <a:pt x="698" y="1008"/>
                  </a:cubicBezTo>
                  <a:cubicBezTo>
                    <a:pt x="698" y="1008"/>
                    <a:pt x="711" y="1014"/>
                    <a:pt x="703" y="1015"/>
                  </a:cubicBezTo>
                  <a:cubicBezTo>
                    <a:pt x="694" y="1016"/>
                    <a:pt x="695" y="1018"/>
                    <a:pt x="692" y="1027"/>
                  </a:cubicBezTo>
                  <a:cubicBezTo>
                    <a:pt x="690" y="1036"/>
                    <a:pt x="690" y="1048"/>
                    <a:pt x="693" y="1048"/>
                  </a:cubicBezTo>
                  <a:cubicBezTo>
                    <a:pt x="696" y="1047"/>
                    <a:pt x="713" y="1067"/>
                    <a:pt x="715" y="1079"/>
                  </a:cubicBezTo>
                  <a:cubicBezTo>
                    <a:pt x="717" y="1091"/>
                    <a:pt x="724" y="1107"/>
                    <a:pt x="726" y="1119"/>
                  </a:cubicBezTo>
                  <a:cubicBezTo>
                    <a:pt x="727" y="1131"/>
                    <a:pt x="743" y="1135"/>
                    <a:pt x="750" y="1138"/>
                  </a:cubicBezTo>
                  <a:cubicBezTo>
                    <a:pt x="756" y="1141"/>
                    <a:pt x="771" y="1146"/>
                    <a:pt x="772" y="1153"/>
                  </a:cubicBezTo>
                  <a:cubicBezTo>
                    <a:pt x="774" y="1159"/>
                    <a:pt x="781" y="1152"/>
                    <a:pt x="779" y="1169"/>
                  </a:cubicBezTo>
                  <a:cubicBezTo>
                    <a:pt x="778" y="1186"/>
                    <a:pt x="772" y="1213"/>
                    <a:pt x="766" y="1225"/>
                  </a:cubicBezTo>
                  <a:cubicBezTo>
                    <a:pt x="760" y="1238"/>
                    <a:pt x="760" y="1241"/>
                    <a:pt x="755" y="1260"/>
                  </a:cubicBezTo>
                  <a:cubicBezTo>
                    <a:pt x="750" y="1279"/>
                    <a:pt x="752" y="1284"/>
                    <a:pt x="749" y="1291"/>
                  </a:cubicBezTo>
                  <a:cubicBezTo>
                    <a:pt x="746" y="1298"/>
                    <a:pt x="739" y="1327"/>
                    <a:pt x="730" y="1338"/>
                  </a:cubicBezTo>
                  <a:cubicBezTo>
                    <a:pt x="720" y="1349"/>
                    <a:pt x="711" y="1350"/>
                    <a:pt x="710" y="1367"/>
                  </a:cubicBezTo>
                  <a:cubicBezTo>
                    <a:pt x="708" y="1384"/>
                    <a:pt x="701" y="1393"/>
                    <a:pt x="698" y="1404"/>
                  </a:cubicBezTo>
                  <a:cubicBezTo>
                    <a:pt x="695" y="1416"/>
                    <a:pt x="688" y="1431"/>
                    <a:pt x="689" y="1436"/>
                  </a:cubicBezTo>
                  <a:cubicBezTo>
                    <a:pt x="689" y="1442"/>
                    <a:pt x="697" y="1435"/>
                    <a:pt x="697" y="1435"/>
                  </a:cubicBezTo>
                  <a:cubicBezTo>
                    <a:pt x="697" y="1435"/>
                    <a:pt x="707" y="1415"/>
                    <a:pt x="710" y="1416"/>
                  </a:cubicBezTo>
                  <a:cubicBezTo>
                    <a:pt x="713" y="1416"/>
                    <a:pt x="712" y="1412"/>
                    <a:pt x="712" y="1423"/>
                  </a:cubicBezTo>
                  <a:cubicBezTo>
                    <a:pt x="712" y="1434"/>
                    <a:pt x="703" y="1447"/>
                    <a:pt x="697" y="1451"/>
                  </a:cubicBezTo>
                  <a:cubicBezTo>
                    <a:pt x="692" y="1456"/>
                    <a:pt x="692" y="1456"/>
                    <a:pt x="682" y="1463"/>
                  </a:cubicBezTo>
                  <a:cubicBezTo>
                    <a:pt x="672" y="1470"/>
                    <a:pt x="672" y="1476"/>
                    <a:pt x="672" y="1479"/>
                  </a:cubicBezTo>
                  <a:cubicBezTo>
                    <a:pt x="672" y="1481"/>
                    <a:pt x="680" y="1484"/>
                    <a:pt x="676" y="1486"/>
                  </a:cubicBezTo>
                  <a:cubicBezTo>
                    <a:pt x="672" y="1488"/>
                    <a:pt x="674" y="1490"/>
                    <a:pt x="670" y="1493"/>
                  </a:cubicBezTo>
                  <a:cubicBezTo>
                    <a:pt x="667" y="1495"/>
                    <a:pt x="660" y="1498"/>
                    <a:pt x="663" y="1502"/>
                  </a:cubicBezTo>
                  <a:cubicBezTo>
                    <a:pt x="666" y="1507"/>
                    <a:pt x="659" y="1517"/>
                    <a:pt x="660" y="1524"/>
                  </a:cubicBezTo>
                  <a:cubicBezTo>
                    <a:pt x="660" y="1530"/>
                    <a:pt x="666" y="1541"/>
                    <a:pt x="666" y="1541"/>
                  </a:cubicBezTo>
                  <a:cubicBezTo>
                    <a:pt x="666" y="1541"/>
                    <a:pt x="674" y="1563"/>
                    <a:pt x="678" y="1566"/>
                  </a:cubicBezTo>
                  <a:cubicBezTo>
                    <a:pt x="682" y="1570"/>
                    <a:pt x="691" y="1572"/>
                    <a:pt x="690" y="1576"/>
                  </a:cubicBezTo>
                  <a:cubicBezTo>
                    <a:pt x="689" y="1581"/>
                    <a:pt x="698" y="1578"/>
                    <a:pt x="707" y="1582"/>
                  </a:cubicBezTo>
                  <a:cubicBezTo>
                    <a:pt x="716" y="1586"/>
                    <a:pt x="710" y="1601"/>
                    <a:pt x="727" y="1597"/>
                  </a:cubicBezTo>
                  <a:cubicBezTo>
                    <a:pt x="744" y="1594"/>
                    <a:pt x="759" y="1595"/>
                    <a:pt x="759" y="1595"/>
                  </a:cubicBezTo>
                  <a:cubicBezTo>
                    <a:pt x="759" y="1595"/>
                    <a:pt x="761" y="1597"/>
                    <a:pt x="767" y="1598"/>
                  </a:cubicBezTo>
                  <a:cubicBezTo>
                    <a:pt x="773" y="1599"/>
                    <a:pt x="790" y="1595"/>
                    <a:pt x="790" y="1595"/>
                  </a:cubicBezTo>
                  <a:lnTo>
                    <a:pt x="792" y="1592"/>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08" name="Freeform 111"/>
            <p:cNvSpPr/>
            <p:nvPr/>
          </p:nvSpPr>
          <p:spPr>
            <a:xfrm>
              <a:off x="2049461" y="0"/>
              <a:ext cx="1130444" cy="1203308"/>
            </a:xfrm>
            <a:custGeom>
              <a:avLst/>
              <a:gdLst>
                <a:gd name="txL" fmla="*/ 0 w 550"/>
                <a:gd name="txT" fmla="*/ 0 h 497"/>
                <a:gd name="txR" fmla="*/ 550 w 550"/>
                <a:gd name="txB" fmla="*/ 497 h 497"/>
              </a:gdLst>
              <a:ahLst/>
              <a:cxnLst>
                <a:cxn ang="0">
                  <a:pos x="62" y="110"/>
                </a:cxn>
                <a:cxn ang="0">
                  <a:pos x="81" y="123"/>
                </a:cxn>
                <a:cxn ang="0">
                  <a:pos x="27" y="143"/>
                </a:cxn>
                <a:cxn ang="0">
                  <a:pos x="11" y="164"/>
                </a:cxn>
                <a:cxn ang="0">
                  <a:pos x="32" y="178"/>
                </a:cxn>
                <a:cxn ang="0">
                  <a:pos x="55" y="187"/>
                </a:cxn>
                <a:cxn ang="0">
                  <a:pos x="119" y="204"/>
                </a:cxn>
                <a:cxn ang="0">
                  <a:pos x="147" y="271"/>
                </a:cxn>
                <a:cxn ang="0">
                  <a:pos x="164" y="270"/>
                </a:cxn>
                <a:cxn ang="0">
                  <a:pos x="173" y="313"/>
                </a:cxn>
                <a:cxn ang="0">
                  <a:pos x="153" y="334"/>
                </a:cxn>
                <a:cxn ang="0">
                  <a:pos x="150" y="364"/>
                </a:cxn>
                <a:cxn ang="0">
                  <a:pos x="157" y="401"/>
                </a:cxn>
                <a:cxn ang="0">
                  <a:pos x="177" y="395"/>
                </a:cxn>
                <a:cxn ang="0">
                  <a:pos x="160" y="421"/>
                </a:cxn>
                <a:cxn ang="0">
                  <a:pos x="179" y="454"/>
                </a:cxn>
                <a:cxn ang="0">
                  <a:pos x="206" y="478"/>
                </a:cxn>
                <a:cxn ang="0">
                  <a:pos x="227" y="492"/>
                </a:cxn>
                <a:cxn ang="0">
                  <a:pos x="250" y="446"/>
                </a:cxn>
                <a:cxn ang="0">
                  <a:pos x="267" y="408"/>
                </a:cxn>
                <a:cxn ang="0">
                  <a:pos x="296" y="376"/>
                </a:cxn>
                <a:cxn ang="0">
                  <a:pos x="345" y="345"/>
                </a:cxn>
                <a:cxn ang="0">
                  <a:pos x="443" y="298"/>
                </a:cxn>
                <a:cxn ang="0">
                  <a:pos x="401" y="290"/>
                </a:cxn>
                <a:cxn ang="0">
                  <a:pos x="427" y="287"/>
                </a:cxn>
                <a:cxn ang="0">
                  <a:pos x="451" y="281"/>
                </a:cxn>
                <a:cxn ang="0">
                  <a:pos x="411" y="255"/>
                </a:cxn>
                <a:cxn ang="0">
                  <a:pos x="431" y="236"/>
                </a:cxn>
                <a:cxn ang="0">
                  <a:pos x="453" y="238"/>
                </a:cxn>
                <a:cxn ang="0">
                  <a:pos x="453" y="225"/>
                </a:cxn>
                <a:cxn ang="0">
                  <a:pos x="478" y="198"/>
                </a:cxn>
                <a:cxn ang="0">
                  <a:pos x="462" y="180"/>
                </a:cxn>
                <a:cxn ang="0">
                  <a:pos x="484" y="162"/>
                </a:cxn>
                <a:cxn ang="0">
                  <a:pos x="460" y="149"/>
                </a:cxn>
                <a:cxn ang="0">
                  <a:pos x="476" y="124"/>
                </a:cxn>
                <a:cxn ang="0">
                  <a:pos x="498" y="104"/>
                </a:cxn>
                <a:cxn ang="0">
                  <a:pos x="543" y="73"/>
                </a:cxn>
                <a:cxn ang="0">
                  <a:pos x="486" y="61"/>
                </a:cxn>
                <a:cxn ang="0">
                  <a:pos x="442" y="79"/>
                </a:cxn>
                <a:cxn ang="0">
                  <a:pos x="439" y="60"/>
                </a:cxn>
                <a:cxn ang="0">
                  <a:pos x="416" y="53"/>
                </a:cxn>
                <a:cxn ang="0">
                  <a:pos x="458" y="30"/>
                </a:cxn>
                <a:cxn ang="0">
                  <a:pos x="414" y="6"/>
                </a:cxn>
                <a:cxn ang="0">
                  <a:pos x="321" y="11"/>
                </a:cxn>
                <a:cxn ang="0">
                  <a:pos x="288" y="21"/>
                </a:cxn>
                <a:cxn ang="0">
                  <a:pos x="245" y="35"/>
                </a:cxn>
                <a:cxn ang="0">
                  <a:pos x="221" y="40"/>
                </a:cxn>
                <a:cxn ang="0">
                  <a:pos x="192" y="47"/>
                </a:cxn>
                <a:cxn ang="0">
                  <a:pos x="153" y="51"/>
                </a:cxn>
                <a:cxn ang="0">
                  <a:pos x="141" y="68"/>
                </a:cxn>
                <a:cxn ang="0">
                  <a:pos x="89" y="88"/>
                </a:cxn>
              </a:cxnLst>
              <a:rect l="txL" t="txT" r="txR" b="txB"/>
              <a:pathLst>
                <a:path w="550" h="497">
                  <a:moveTo>
                    <a:pt x="67" y="99"/>
                  </a:moveTo>
                  <a:cubicBezTo>
                    <a:pt x="62" y="100"/>
                    <a:pt x="60" y="110"/>
                    <a:pt x="62" y="110"/>
                  </a:cubicBezTo>
                  <a:cubicBezTo>
                    <a:pt x="64" y="111"/>
                    <a:pt x="73" y="106"/>
                    <a:pt x="84" y="110"/>
                  </a:cubicBezTo>
                  <a:cubicBezTo>
                    <a:pt x="95" y="115"/>
                    <a:pt x="87" y="122"/>
                    <a:pt x="81" y="123"/>
                  </a:cubicBezTo>
                  <a:cubicBezTo>
                    <a:pt x="76" y="125"/>
                    <a:pt x="71" y="121"/>
                    <a:pt x="56" y="129"/>
                  </a:cubicBezTo>
                  <a:cubicBezTo>
                    <a:pt x="42" y="137"/>
                    <a:pt x="35" y="146"/>
                    <a:pt x="27" y="143"/>
                  </a:cubicBezTo>
                  <a:cubicBezTo>
                    <a:pt x="20" y="139"/>
                    <a:pt x="5" y="144"/>
                    <a:pt x="3" y="148"/>
                  </a:cubicBezTo>
                  <a:cubicBezTo>
                    <a:pt x="0" y="152"/>
                    <a:pt x="11" y="164"/>
                    <a:pt x="11" y="164"/>
                  </a:cubicBezTo>
                  <a:cubicBezTo>
                    <a:pt x="24" y="163"/>
                    <a:pt x="24" y="163"/>
                    <a:pt x="24" y="163"/>
                  </a:cubicBezTo>
                  <a:cubicBezTo>
                    <a:pt x="24" y="163"/>
                    <a:pt x="37" y="175"/>
                    <a:pt x="32" y="178"/>
                  </a:cubicBezTo>
                  <a:cubicBezTo>
                    <a:pt x="28" y="181"/>
                    <a:pt x="19" y="179"/>
                    <a:pt x="30" y="184"/>
                  </a:cubicBezTo>
                  <a:cubicBezTo>
                    <a:pt x="41" y="189"/>
                    <a:pt x="29" y="185"/>
                    <a:pt x="55" y="187"/>
                  </a:cubicBezTo>
                  <a:cubicBezTo>
                    <a:pt x="81" y="189"/>
                    <a:pt x="72" y="187"/>
                    <a:pt x="84" y="189"/>
                  </a:cubicBezTo>
                  <a:cubicBezTo>
                    <a:pt x="97" y="190"/>
                    <a:pt x="116" y="203"/>
                    <a:pt x="119" y="204"/>
                  </a:cubicBezTo>
                  <a:cubicBezTo>
                    <a:pt x="123" y="204"/>
                    <a:pt x="138" y="205"/>
                    <a:pt x="139" y="217"/>
                  </a:cubicBezTo>
                  <a:cubicBezTo>
                    <a:pt x="140" y="229"/>
                    <a:pt x="153" y="263"/>
                    <a:pt x="147" y="271"/>
                  </a:cubicBezTo>
                  <a:cubicBezTo>
                    <a:pt x="141" y="279"/>
                    <a:pt x="161" y="287"/>
                    <a:pt x="159" y="283"/>
                  </a:cubicBezTo>
                  <a:cubicBezTo>
                    <a:pt x="158" y="280"/>
                    <a:pt x="160" y="268"/>
                    <a:pt x="164" y="270"/>
                  </a:cubicBezTo>
                  <a:cubicBezTo>
                    <a:pt x="168" y="272"/>
                    <a:pt x="178" y="301"/>
                    <a:pt x="177" y="303"/>
                  </a:cubicBezTo>
                  <a:cubicBezTo>
                    <a:pt x="176" y="305"/>
                    <a:pt x="178" y="305"/>
                    <a:pt x="173" y="313"/>
                  </a:cubicBezTo>
                  <a:cubicBezTo>
                    <a:pt x="169" y="321"/>
                    <a:pt x="164" y="329"/>
                    <a:pt x="162" y="329"/>
                  </a:cubicBezTo>
                  <a:cubicBezTo>
                    <a:pt x="159" y="329"/>
                    <a:pt x="154" y="331"/>
                    <a:pt x="153" y="334"/>
                  </a:cubicBezTo>
                  <a:cubicBezTo>
                    <a:pt x="152" y="336"/>
                    <a:pt x="154" y="339"/>
                    <a:pt x="153" y="347"/>
                  </a:cubicBezTo>
                  <a:cubicBezTo>
                    <a:pt x="152" y="355"/>
                    <a:pt x="147" y="356"/>
                    <a:pt x="150" y="364"/>
                  </a:cubicBezTo>
                  <a:cubicBezTo>
                    <a:pt x="154" y="372"/>
                    <a:pt x="151" y="372"/>
                    <a:pt x="152" y="379"/>
                  </a:cubicBezTo>
                  <a:cubicBezTo>
                    <a:pt x="152" y="386"/>
                    <a:pt x="162" y="399"/>
                    <a:pt x="157" y="401"/>
                  </a:cubicBezTo>
                  <a:cubicBezTo>
                    <a:pt x="152" y="402"/>
                    <a:pt x="151" y="410"/>
                    <a:pt x="158" y="405"/>
                  </a:cubicBezTo>
                  <a:cubicBezTo>
                    <a:pt x="164" y="401"/>
                    <a:pt x="177" y="395"/>
                    <a:pt x="177" y="395"/>
                  </a:cubicBezTo>
                  <a:cubicBezTo>
                    <a:pt x="177" y="395"/>
                    <a:pt x="181" y="397"/>
                    <a:pt x="176" y="399"/>
                  </a:cubicBezTo>
                  <a:cubicBezTo>
                    <a:pt x="171" y="400"/>
                    <a:pt x="157" y="416"/>
                    <a:pt x="160" y="421"/>
                  </a:cubicBezTo>
                  <a:cubicBezTo>
                    <a:pt x="164" y="426"/>
                    <a:pt x="169" y="428"/>
                    <a:pt x="171" y="436"/>
                  </a:cubicBezTo>
                  <a:cubicBezTo>
                    <a:pt x="173" y="445"/>
                    <a:pt x="183" y="444"/>
                    <a:pt x="179" y="454"/>
                  </a:cubicBezTo>
                  <a:cubicBezTo>
                    <a:pt x="175" y="465"/>
                    <a:pt x="186" y="468"/>
                    <a:pt x="186" y="474"/>
                  </a:cubicBezTo>
                  <a:cubicBezTo>
                    <a:pt x="186" y="480"/>
                    <a:pt x="197" y="469"/>
                    <a:pt x="206" y="478"/>
                  </a:cubicBezTo>
                  <a:cubicBezTo>
                    <a:pt x="215" y="487"/>
                    <a:pt x="208" y="489"/>
                    <a:pt x="216" y="493"/>
                  </a:cubicBezTo>
                  <a:cubicBezTo>
                    <a:pt x="224" y="497"/>
                    <a:pt x="225" y="494"/>
                    <a:pt x="227" y="492"/>
                  </a:cubicBezTo>
                  <a:cubicBezTo>
                    <a:pt x="229" y="490"/>
                    <a:pt x="230" y="475"/>
                    <a:pt x="237" y="464"/>
                  </a:cubicBezTo>
                  <a:cubicBezTo>
                    <a:pt x="244" y="453"/>
                    <a:pt x="250" y="453"/>
                    <a:pt x="250" y="446"/>
                  </a:cubicBezTo>
                  <a:cubicBezTo>
                    <a:pt x="250" y="439"/>
                    <a:pt x="260" y="426"/>
                    <a:pt x="263" y="421"/>
                  </a:cubicBezTo>
                  <a:cubicBezTo>
                    <a:pt x="265" y="417"/>
                    <a:pt x="273" y="412"/>
                    <a:pt x="267" y="408"/>
                  </a:cubicBezTo>
                  <a:cubicBezTo>
                    <a:pt x="261" y="404"/>
                    <a:pt x="271" y="400"/>
                    <a:pt x="281" y="393"/>
                  </a:cubicBezTo>
                  <a:cubicBezTo>
                    <a:pt x="290" y="386"/>
                    <a:pt x="288" y="378"/>
                    <a:pt x="296" y="376"/>
                  </a:cubicBezTo>
                  <a:cubicBezTo>
                    <a:pt x="305" y="374"/>
                    <a:pt x="298" y="370"/>
                    <a:pt x="311" y="366"/>
                  </a:cubicBezTo>
                  <a:cubicBezTo>
                    <a:pt x="324" y="361"/>
                    <a:pt x="336" y="351"/>
                    <a:pt x="345" y="345"/>
                  </a:cubicBezTo>
                  <a:cubicBezTo>
                    <a:pt x="353" y="339"/>
                    <a:pt x="350" y="336"/>
                    <a:pt x="366" y="332"/>
                  </a:cubicBezTo>
                  <a:cubicBezTo>
                    <a:pt x="383" y="328"/>
                    <a:pt x="443" y="298"/>
                    <a:pt x="443" y="298"/>
                  </a:cubicBezTo>
                  <a:cubicBezTo>
                    <a:pt x="443" y="298"/>
                    <a:pt x="431" y="296"/>
                    <a:pt x="421" y="295"/>
                  </a:cubicBezTo>
                  <a:cubicBezTo>
                    <a:pt x="412" y="295"/>
                    <a:pt x="397" y="293"/>
                    <a:pt x="401" y="290"/>
                  </a:cubicBezTo>
                  <a:cubicBezTo>
                    <a:pt x="405" y="287"/>
                    <a:pt x="410" y="278"/>
                    <a:pt x="413" y="277"/>
                  </a:cubicBezTo>
                  <a:cubicBezTo>
                    <a:pt x="416" y="276"/>
                    <a:pt x="427" y="287"/>
                    <a:pt x="427" y="287"/>
                  </a:cubicBezTo>
                  <a:cubicBezTo>
                    <a:pt x="427" y="287"/>
                    <a:pt x="447" y="291"/>
                    <a:pt x="445" y="289"/>
                  </a:cubicBezTo>
                  <a:cubicBezTo>
                    <a:pt x="444" y="287"/>
                    <a:pt x="451" y="284"/>
                    <a:pt x="451" y="281"/>
                  </a:cubicBezTo>
                  <a:cubicBezTo>
                    <a:pt x="451" y="278"/>
                    <a:pt x="445" y="270"/>
                    <a:pt x="432" y="264"/>
                  </a:cubicBezTo>
                  <a:cubicBezTo>
                    <a:pt x="420" y="258"/>
                    <a:pt x="423" y="261"/>
                    <a:pt x="411" y="255"/>
                  </a:cubicBezTo>
                  <a:cubicBezTo>
                    <a:pt x="398" y="248"/>
                    <a:pt x="387" y="247"/>
                    <a:pt x="397" y="245"/>
                  </a:cubicBezTo>
                  <a:cubicBezTo>
                    <a:pt x="406" y="242"/>
                    <a:pt x="428" y="240"/>
                    <a:pt x="431" y="236"/>
                  </a:cubicBezTo>
                  <a:cubicBezTo>
                    <a:pt x="433" y="232"/>
                    <a:pt x="426" y="227"/>
                    <a:pt x="433" y="232"/>
                  </a:cubicBezTo>
                  <a:cubicBezTo>
                    <a:pt x="441" y="237"/>
                    <a:pt x="444" y="237"/>
                    <a:pt x="453" y="238"/>
                  </a:cubicBezTo>
                  <a:cubicBezTo>
                    <a:pt x="462" y="239"/>
                    <a:pt x="466" y="241"/>
                    <a:pt x="463" y="236"/>
                  </a:cubicBezTo>
                  <a:cubicBezTo>
                    <a:pt x="459" y="231"/>
                    <a:pt x="449" y="239"/>
                    <a:pt x="453" y="225"/>
                  </a:cubicBezTo>
                  <a:cubicBezTo>
                    <a:pt x="458" y="211"/>
                    <a:pt x="476" y="206"/>
                    <a:pt x="476" y="206"/>
                  </a:cubicBezTo>
                  <a:cubicBezTo>
                    <a:pt x="476" y="206"/>
                    <a:pt x="487" y="211"/>
                    <a:pt x="478" y="198"/>
                  </a:cubicBezTo>
                  <a:cubicBezTo>
                    <a:pt x="469" y="186"/>
                    <a:pt x="470" y="187"/>
                    <a:pt x="466" y="183"/>
                  </a:cubicBezTo>
                  <a:cubicBezTo>
                    <a:pt x="462" y="180"/>
                    <a:pt x="462" y="180"/>
                    <a:pt x="462" y="180"/>
                  </a:cubicBezTo>
                  <a:cubicBezTo>
                    <a:pt x="462" y="180"/>
                    <a:pt x="493" y="175"/>
                    <a:pt x="490" y="172"/>
                  </a:cubicBezTo>
                  <a:cubicBezTo>
                    <a:pt x="488" y="168"/>
                    <a:pt x="484" y="162"/>
                    <a:pt x="484" y="162"/>
                  </a:cubicBezTo>
                  <a:cubicBezTo>
                    <a:pt x="484" y="162"/>
                    <a:pt x="484" y="161"/>
                    <a:pt x="472" y="155"/>
                  </a:cubicBezTo>
                  <a:cubicBezTo>
                    <a:pt x="460" y="149"/>
                    <a:pt x="460" y="154"/>
                    <a:pt x="460" y="149"/>
                  </a:cubicBezTo>
                  <a:cubicBezTo>
                    <a:pt x="459" y="144"/>
                    <a:pt x="470" y="137"/>
                    <a:pt x="471" y="133"/>
                  </a:cubicBezTo>
                  <a:cubicBezTo>
                    <a:pt x="473" y="129"/>
                    <a:pt x="476" y="126"/>
                    <a:pt x="476" y="124"/>
                  </a:cubicBezTo>
                  <a:cubicBezTo>
                    <a:pt x="476" y="122"/>
                    <a:pt x="477" y="116"/>
                    <a:pt x="479" y="115"/>
                  </a:cubicBezTo>
                  <a:cubicBezTo>
                    <a:pt x="481" y="114"/>
                    <a:pt x="489" y="112"/>
                    <a:pt x="498" y="104"/>
                  </a:cubicBezTo>
                  <a:cubicBezTo>
                    <a:pt x="507" y="95"/>
                    <a:pt x="515" y="83"/>
                    <a:pt x="518" y="83"/>
                  </a:cubicBezTo>
                  <a:cubicBezTo>
                    <a:pt x="522" y="83"/>
                    <a:pt x="539" y="75"/>
                    <a:pt x="543" y="73"/>
                  </a:cubicBezTo>
                  <a:cubicBezTo>
                    <a:pt x="546" y="71"/>
                    <a:pt x="550" y="64"/>
                    <a:pt x="536" y="63"/>
                  </a:cubicBezTo>
                  <a:cubicBezTo>
                    <a:pt x="521" y="61"/>
                    <a:pt x="490" y="56"/>
                    <a:pt x="486" y="61"/>
                  </a:cubicBezTo>
                  <a:cubicBezTo>
                    <a:pt x="481" y="67"/>
                    <a:pt x="471" y="73"/>
                    <a:pt x="468" y="79"/>
                  </a:cubicBezTo>
                  <a:cubicBezTo>
                    <a:pt x="465" y="85"/>
                    <a:pt x="448" y="80"/>
                    <a:pt x="442" y="79"/>
                  </a:cubicBezTo>
                  <a:cubicBezTo>
                    <a:pt x="436" y="77"/>
                    <a:pt x="466" y="69"/>
                    <a:pt x="459" y="63"/>
                  </a:cubicBezTo>
                  <a:cubicBezTo>
                    <a:pt x="452" y="56"/>
                    <a:pt x="453" y="54"/>
                    <a:pt x="439" y="60"/>
                  </a:cubicBezTo>
                  <a:cubicBezTo>
                    <a:pt x="425" y="66"/>
                    <a:pt x="426" y="71"/>
                    <a:pt x="419" y="72"/>
                  </a:cubicBezTo>
                  <a:cubicBezTo>
                    <a:pt x="412" y="73"/>
                    <a:pt x="401" y="60"/>
                    <a:pt x="416" y="53"/>
                  </a:cubicBezTo>
                  <a:cubicBezTo>
                    <a:pt x="431" y="46"/>
                    <a:pt x="469" y="52"/>
                    <a:pt x="470" y="48"/>
                  </a:cubicBezTo>
                  <a:cubicBezTo>
                    <a:pt x="472" y="44"/>
                    <a:pt x="468" y="33"/>
                    <a:pt x="458" y="30"/>
                  </a:cubicBezTo>
                  <a:cubicBezTo>
                    <a:pt x="448" y="27"/>
                    <a:pt x="429" y="20"/>
                    <a:pt x="422" y="17"/>
                  </a:cubicBezTo>
                  <a:cubicBezTo>
                    <a:pt x="416" y="13"/>
                    <a:pt x="414" y="6"/>
                    <a:pt x="414" y="6"/>
                  </a:cubicBezTo>
                  <a:cubicBezTo>
                    <a:pt x="371" y="0"/>
                    <a:pt x="371" y="0"/>
                    <a:pt x="371" y="0"/>
                  </a:cubicBezTo>
                  <a:cubicBezTo>
                    <a:pt x="371" y="0"/>
                    <a:pt x="326" y="10"/>
                    <a:pt x="321" y="11"/>
                  </a:cubicBezTo>
                  <a:cubicBezTo>
                    <a:pt x="316" y="11"/>
                    <a:pt x="317" y="15"/>
                    <a:pt x="305" y="17"/>
                  </a:cubicBezTo>
                  <a:cubicBezTo>
                    <a:pt x="293" y="20"/>
                    <a:pt x="288" y="21"/>
                    <a:pt x="288" y="21"/>
                  </a:cubicBezTo>
                  <a:cubicBezTo>
                    <a:pt x="288" y="21"/>
                    <a:pt x="274" y="18"/>
                    <a:pt x="263" y="20"/>
                  </a:cubicBezTo>
                  <a:cubicBezTo>
                    <a:pt x="252" y="22"/>
                    <a:pt x="245" y="35"/>
                    <a:pt x="245" y="35"/>
                  </a:cubicBezTo>
                  <a:cubicBezTo>
                    <a:pt x="245" y="35"/>
                    <a:pt x="250" y="38"/>
                    <a:pt x="252" y="40"/>
                  </a:cubicBezTo>
                  <a:cubicBezTo>
                    <a:pt x="255" y="42"/>
                    <a:pt x="234" y="41"/>
                    <a:pt x="221" y="40"/>
                  </a:cubicBezTo>
                  <a:cubicBezTo>
                    <a:pt x="208" y="38"/>
                    <a:pt x="208" y="43"/>
                    <a:pt x="205" y="52"/>
                  </a:cubicBezTo>
                  <a:cubicBezTo>
                    <a:pt x="201" y="60"/>
                    <a:pt x="197" y="54"/>
                    <a:pt x="192" y="47"/>
                  </a:cubicBezTo>
                  <a:cubicBezTo>
                    <a:pt x="187" y="40"/>
                    <a:pt x="182" y="42"/>
                    <a:pt x="178" y="48"/>
                  </a:cubicBezTo>
                  <a:cubicBezTo>
                    <a:pt x="174" y="54"/>
                    <a:pt x="168" y="46"/>
                    <a:pt x="153" y="51"/>
                  </a:cubicBezTo>
                  <a:cubicBezTo>
                    <a:pt x="139" y="56"/>
                    <a:pt x="126" y="61"/>
                    <a:pt x="126" y="61"/>
                  </a:cubicBezTo>
                  <a:cubicBezTo>
                    <a:pt x="126" y="61"/>
                    <a:pt x="145" y="65"/>
                    <a:pt x="141" y="68"/>
                  </a:cubicBezTo>
                  <a:cubicBezTo>
                    <a:pt x="137" y="71"/>
                    <a:pt x="111" y="77"/>
                    <a:pt x="111" y="77"/>
                  </a:cubicBezTo>
                  <a:cubicBezTo>
                    <a:pt x="111" y="77"/>
                    <a:pt x="92" y="88"/>
                    <a:pt x="89" y="88"/>
                  </a:cubicBezTo>
                  <a:cubicBezTo>
                    <a:pt x="85" y="88"/>
                    <a:pt x="67" y="99"/>
                    <a:pt x="67" y="99"/>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09" name="Freeform 112"/>
            <p:cNvSpPr/>
            <p:nvPr/>
          </p:nvSpPr>
          <p:spPr>
            <a:xfrm>
              <a:off x="1640062" y="46060"/>
              <a:ext cx="668490" cy="489384"/>
            </a:xfrm>
            <a:custGeom>
              <a:avLst/>
              <a:gdLst>
                <a:gd name="txL" fmla="*/ 0 w 325"/>
                <a:gd name="txT" fmla="*/ 0 h 202"/>
                <a:gd name="txR" fmla="*/ 325 w 325"/>
                <a:gd name="txB" fmla="*/ 202 h 202"/>
              </a:gdLst>
              <a:ahLst/>
              <a:cxnLst>
                <a:cxn ang="0">
                  <a:pos x="297" y="44"/>
                </a:cxn>
                <a:cxn ang="0">
                  <a:pos x="285" y="53"/>
                </a:cxn>
                <a:cxn ang="0">
                  <a:pos x="277" y="64"/>
                </a:cxn>
                <a:cxn ang="0">
                  <a:pos x="232" y="88"/>
                </a:cxn>
                <a:cxn ang="0">
                  <a:pos x="211" y="104"/>
                </a:cxn>
                <a:cxn ang="0">
                  <a:pos x="197" y="106"/>
                </a:cxn>
                <a:cxn ang="0">
                  <a:pos x="192" y="124"/>
                </a:cxn>
                <a:cxn ang="0">
                  <a:pos x="169" y="138"/>
                </a:cxn>
                <a:cxn ang="0">
                  <a:pos x="160" y="148"/>
                </a:cxn>
                <a:cxn ang="0">
                  <a:pos x="162" y="164"/>
                </a:cxn>
                <a:cxn ang="0">
                  <a:pos x="143" y="169"/>
                </a:cxn>
                <a:cxn ang="0">
                  <a:pos x="127" y="168"/>
                </a:cxn>
                <a:cxn ang="0">
                  <a:pos x="105" y="168"/>
                </a:cxn>
                <a:cxn ang="0">
                  <a:pos x="80" y="168"/>
                </a:cxn>
                <a:cxn ang="0">
                  <a:pos x="74" y="168"/>
                </a:cxn>
                <a:cxn ang="0">
                  <a:pos x="60" y="170"/>
                </a:cxn>
                <a:cxn ang="0">
                  <a:pos x="62" y="177"/>
                </a:cxn>
                <a:cxn ang="0">
                  <a:pos x="83" y="177"/>
                </a:cxn>
                <a:cxn ang="0">
                  <a:pos x="118" y="182"/>
                </a:cxn>
                <a:cxn ang="0">
                  <a:pos x="142" y="182"/>
                </a:cxn>
                <a:cxn ang="0">
                  <a:pos x="144" y="195"/>
                </a:cxn>
                <a:cxn ang="0">
                  <a:pos x="129" y="201"/>
                </a:cxn>
                <a:cxn ang="0">
                  <a:pos x="109" y="200"/>
                </a:cxn>
                <a:cxn ang="0">
                  <a:pos x="67" y="199"/>
                </a:cxn>
                <a:cxn ang="0">
                  <a:pos x="37" y="193"/>
                </a:cxn>
                <a:cxn ang="0">
                  <a:pos x="29" y="181"/>
                </a:cxn>
                <a:cxn ang="0">
                  <a:pos x="24" y="170"/>
                </a:cxn>
                <a:cxn ang="0">
                  <a:pos x="3" y="160"/>
                </a:cxn>
                <a:cxn ang="0">
                  <a:pos x="3" y="153"/>
                </a:cxn>
                <a:cxn ang="0">
                  <a:pos x="21" y="152"/>
                </a:cxn>
                <a:cxn ang="0">
                  <a:pos x="35" y="158"/>
                </a:cxn>
                <a:cxn ang="0">
                  <a:pos x="63" y="156"/>
                </a:cxn>
                <a:cxn ang="0">
                  <a:pos x="81" y="151"/>
                </a:cxn>
                <a:cxn ang="0">
                  <a:pos x="77" y="137"/>
                </a:cxn>
                <a:cxn ang="0">
                  <a:pos x="94" y="137"/>
                </a:cxn>
                <a:cxn ang="0">
                  <a:pos x="98" y="137"/>
                </a:cxn>
                <a:cxn ang="0">
                  <a:pos x="94" y="131"/>
                </a:cxn>
                <a:cxn ang="0">
                  <a:pos x="81" y="127"/>
                </a:cxn>
                <a:cxn ang="0">
                  <a:pos x="103" y="109"/>
                </a:cxn>
                <a:cxn ang="0">
                  <a:pos x="116" y="100"/>
                </a:cxn>
                <a:cxn ang="0">
                  <a:pos x="100" y="87"/>
                </a:cxn>
                <a:cxn ang="0">
                  <a:pos x="87" y="79"/>
                </a:cxn>
                <a:cxn ang="0">
                  <a:pos x="74" y="59"/>
                </a:cxn>
                <a:cxn ang="0">
                  <a:pos x="61" y="52"/>
                </a:cxn>
                <a:cxn ang="0">
                  <a:pos x="74" y="41"/>
                </a:cxn>
                <a:cxn ang="0">
                  <a:pos x="98" y="33"/>
                </a:cxn>
                <a:cxn ang="0">
                  <a:pos x="114" y="37"/>
                </a:cxn>
                <a:cxn ang="0">
                  <a:pos x="113" y="25"/>
                </a:cxn>
                <a:cxn ang="0">
                  <a:pos x="134" y="31"/>
                </a:cxn>
                <a:cxn ang="0">
                  <a:pos x="143" y="22"/>
                </a:cxn>
                <a:cxn ang="0">
                  <a:pos x="156" y="11"/>
                </a:cxn>
                <a:cxn ang="0">
                  <a:pos x="194" y="8"/>
                </a:cxn>
                <a:cxn ang="0">
                  <a:pos x="212" y="3"/>
                </a:cxn>
                <a:cxn ang="0">
                  <a:pos x="223" y="15"/>
                </a:cxn>
                <a:cxn ang="0">
                  <a:pos x="226" y="4"/>
                </a:cxn>
                <a:cxn ang="0">
                  <a:pos x="284" y="12"/>
                </a:cxn>
                <a:cxn ang="0">
                  <a:pos x="324" y="22"/>
                </a:cxn>
                <a:cxn ang="0">
                  <a:pos x="318" y="38"/>
                </a:cxn>
                <a:cxn ang="0">
                  <a:pos x="297" y="44"/>
                </a:cxn>
              </a:cxnLst>
              <a:rect l="txL" t="txT" r="txR" b="txB"/>
              <a:pathLst>
                <a:path w="325" h="202">
                  <a:moveTo>
                    <a:pt x="297" y="44"/>
                  </a:moveTo>
                  <a:cubicBezTo>
                    <a:pt x="280" y="48"/>
                    <a:pt x="275" y="52"/>
                    <a:pt x="285" y="53"/>
                  </a:cubicBezTo>
                  <a:cubicBezTo>
                    <a:pt x="294" y="54"/>
                    <a:pt x="303" y="50"/>
                    <a:pt x="277" y="64"/>
                  </a:cubicBezTo>
                  <a:cubicBezTo>
                    <a:pt x="252" y="77"/>
                    <a:pt x="242" y="83"/>
                    <a:pt x="232" y="88"/>
                  </a:cubicBezTo>
                  <a:cubicBezTo>
                    <a:pt x="222" y="93"/>
                    <a:pt x="223" y="103"/>
                    <a:pt x="211" y="104"/>
                  </a:cubicBezTo>
                  <a:cubicBezTo>
                    <a:pt x="200" y="104"/>
                    <a:pt x="201" y="93"/>
                    <a:pt x="197" y="106"/>
                  </a:cubicBezTo>
                  <a:cubicBezTo>
                    <a:pt x="193" y="119"/>
                    <a:pt x="193" y="122"/>
                    <a:pt x="192" y="124"/>
                  </a:cubicBezTo>
                  <a:cubicBezTo>
                    <a:pt x="191" y="127"/>
                    <a:pt x="180" y="137"/>
                    <a:pt x="169" y="138"/>
                  </a:cubicBezTo>
                  <a:cubicBezTo>
                    <a:pt x="159" y="139"/>
                    <a:pt x="164" y="141"/>
                    <a:pt x="160" y="148"/>
                  </a:cubicBezTo>
                  <a:cubicBezTo>
                    <a:pt x="156" y="154"/>
                    <a:pt x="177" y="161"/>
                    <a:pt x="162" y="164"/>
                  </a:cubicBezTo>
                  <a:cubicBezTo>
                    <a:pt x="147" y="166"/>
                    <a:pt x="145" y="168"/>
                    <a:pt x="143" y="169"/>
                  </a:cubicBezTo>
                  <a:cubicBezTo>
                    <a:pt x="140" y="170"/>
                    <a:pt x="135" y="171"/>
                    <a:pt x="127" y="168"/>
                  </a:cubicBezTo>
                  <a:cubicBezTo>
                    <a:pt x="119" y="166"/>
                    <a:pt x="119" y="169"/>
                    <a:pt x="105" y="168"/>
                  </a:cubicBezTo>
                  <a:cubicBezTo>
                    <a:pt x="91" y="168"/>
                    <a:pt x="86" y="168"/>
                    <a:pt x="80" y="168"/>
                  </a:cubicBezTo>
                  <a:cubicBezTo>
                    <a:pt x="74" y="168"/>
                    <a:pt x="84" y="167"/>
                    <a:pt x="74" y="168"/>
                  </a:cubicBezTo>
                  <a:cubicBezTo>
                    <a:pt x="65" y="168"/>
                    <a:pt x="59" y="166"/>
                    <a:pt x="60" y="170"/>
                  </a:cubicBezTo>
                  <a:cubicBezTo>
                    <a:pt x="61" y="174"/>
                    <a:pt x="60" y="176"/>
                    <a:pt x="62" y="177"/>
                  </a:cubicBezTo>
                  <a:cubicBezTo>
                    <a:pt x="65" y="178"/>
                    <a:pt x="70" y="176"/>
                    <a:pt x="83" y="177"/>
                  </a:cubicBezTo>
                  <a:cubicBezTo>
                    <a:pt x="97" y="178"/>
                    <a:pt x="106" y="182"/>
                    <a:pt x="118" y="182"/>
                  </a:cubicBezTo>
                  <a:cubicBezTo>
                    <a:pt x="130" y="181"/>
                    <a:pt x="136" y="179"/>
                    <a:pt x="142" y="182"/>
                  </a:cubicBezTo>
                  <a:cubicBezTo>
                    <a:pt x="147" y="185"/>
                    <a:pt x="149" y="195"/>
                    <a:pt x="144" y="195"/>
                  </a:cubicBezTo>
                  <a:cubicBezTo>
                    <a:pt x="138" y="196"/>
                    <a:pt x="138" y="201"/>
                    <a:pt x="129" y="201"/>
                  </a:cubicBezTo>
                  <a:cubicBezTo>
                    <a:pt x="120" y="201"/>
                    <a:pt x="126" y="202"/>
                    <a:pt x="109" y="200"/>
                  </a:cubicBezTo>
                  <a:cubicBezTo>
                    <a:pt x="92" y="198"/>
                    <a:pt x="80" y="201"/>
                    <a:pt x="67" y="199"/>
                  </a:cubicBezTo>
                  <a:cubicBezTo>
                    <a:pt x="54" y="196"/>
                    <a:pt x="43" y="198"/>
                    <a:pt x="37" y="193"/>
                  </a:cubicBezTo>
                  <a:cubicBezTo>
                    <a:pt x="31" y="189"/>
                    <a:pt x="31" y="187"/>
                    <a:pt x="29" y="181"/>
                  </a:cubicBezTo>
                  <a:cubicBezTo>
                    <a:pt x="26" y="174"/>
                    <a:pt x="34" y="176"/>
                    <a:pt x="24" y="170"/>
                  </a:cubicBezTo>
                  <a:cubicBezTo>
                    <a:pt x="13" y="164"/>
                    <a:pt x="3" y="160"/>
                    <a:pt x="3" y="160"/>
                  </a:cubicBezTo>
                  <a:cubicBezTo>
                    <a:pt x="3" y="160"/>
                    <a:pt x="0" y="157"/>
                    <a:pt x="3" y="153"/>
                  </a:cubicBezTo>
                  <a:cubicBezTo>
                    <a:pt x="6" y="149"/>
                    <a:pt x="21" y="152"/>
                    <a:pt x="21" y="152"/>
                  </a:cubicBezTo>
                  <a:cubicBezTo>
                    <a:pt x="35" y="158"/>
                    <a:pt x="35" y="158"/>
                    <a:pt x="35" y="158"/>
                  </a:cubicBezTo>
                  <a:cubicBezTo>
                    <a:pt x="35" y="158"/>
                    <a:pt x="61" y="162"/>
                    <a:pt x="63" y="156"/>
                  </a:cubicBezTo>
                  <a:cubicBezTo>
                    <a:pt x="65" y="149"/>
                    <a:pt x="82" y="158"/>
                    <a:pt x="81" y="151"/>
                  </a:cubicBezTo>
                  <a:cubicBezTo>
                    <a:pt x="80" y="144"/>
                    <a:pt x="69" y="142"/>
                    <a:pt x="77" y="137"/>
                  </a:cubicBezTo>
                  <a:cubicBezTo>
                    <a:pt x="86" y="131"/>
                    <a:pt x="94" y="137"/>
                    <a:pt x="94" y="137"/>
                  </a:cubicBezTo>
                  <a:cubicBezTo>
                    <a:pt x="94" y="137"/>
                    <a:pt x="96" y="139"/>
                    <a:pt x="98" y="137"/>
                  </a:cubicBezTo>
                  <a:cubicBezTo>
                    <a:pt x="100" y="135"/>
                    <a:pt x="99" y="133"/>
                    <a:pt x="94" y="131"/>
                  </a:cubicBezTo>
                  <a:cubicBezTo>
                    <a:pt x="90" y="129"/>
                    <a:pt x="81" y="127"/>
                    <a:pt x="81" y="127"/>
                  </a:cubicBezTo>
                  <a:cubicBezTo>
                    <a:pt x="81" y="127"/>
                    <a:pt x="99" y="109"/>
                    <a:pt x="103" y="109"/>
                  </a:cubicBezTo>
                  <a:cubicBezTo>
                    <a:pt x="106" y="109"/>
                    <a:pt x="126" y="110"/>
                    <a:pt x="116" y="100"/>
                  </a:cubicBezTo>
                  <a:cubicBezTo>
                    <a:pt x="105" y="89"/>
                    <a:pt x="107" y="92"/>
                    <a:pt x="100" y="87"/>
                  </a:cubicBezTo>
                  <a:cubicBezTo>
                    <a:pt x="94" y="83"/>
                    <a:pt x="100" y="91"/>
                    <a:pt x="87" y="79"/>
                  </a:cubicBezTo>
                  <a:cubicBezTo>
                    <a:pt x="74" y="68"/>
                    <a:pt x="76" y="70"/>
                    <a:pt x="74" y="59"/>
                  </a:cubicBezTo>
                  <a:cubicBezTo>
                    <a:pt x="72" y="48"/>
                    <a:pt x="60" y="57"/>
                    <a:pt x="61" y="52"/>
                  </a:cubicBezTo>
                  <a:cubicBezTo>
                    <a:pt x="62" y="48"/>
                    <a:pt x="70" y="41"/>
                    <a:pt x="74" y="41"/>
                  </a:cubicBezTo>
                  <a:cubicBezTo>
                    <a:pt x="78" y="41"/>
                    <a:pt x="87" y="29"/>
                    <a:pt x="98" y="33"/>
                  </a:cubicBezTo>
                  <a:cubicBezTo>
                    <a:pt x="109" y="37"/>
                    <a:pt x="109" y="40"/>
                    <a:pt x="114" y="37"/>
                  </a:cubicBezTo>
                  <a:cubicBezTo>
                    <a:pt x="118" y="33"/>
                    <a:pt x="101" y="29"/>
                    <a:pt x="113" y="25"/>
                  </a:cubicBezTo>
                  <a:cubicBezTo>
                    <a:pt x="125" y="21"/>
                    <a:pt x="129" y="31"/>
                    <a:pt x="134" y="31"/>
                  </a:cubicBezTo>
                  <a:cubicBezTo>
                    <a:pt x="139" y="31"/>
                    <a:pt x="144" y="29"/>
                    <a:pt x="143" y="22"/>
                  </a:cubicBezTo>
                  <a:cubicBezTo>
                    <a:pt x="143" y="16"/>
                    <a:pt x="151" y="12"/>
                    <a:pt x="156" y="11"/>
                  </a:cubicBezTo>
                  <a:cubicBezTo>
                    <a:pt x="162" y="10"/>
                    <a:pt x="194" y="8"/>
                    <a:pt x="194" y="8"/>
                  </a:cubicBezTo>
                  <a:cubicBezTo>
                    <a:pt x="194" y="8"/>
                    <a:pt x="213" y="0"/>
                    <a:pt x="212" y="3"/>
                  </a:cubicBezTo>
                  <a:cubicBezTo>
                    <a:pt x="210" y="6"/>
                    <a:pt x="223" y="15"/>
                    <a:pt x="223" y="15"/>
                  </a:cubicBezTo>
                  <a:cubicBezTo>
                    <a:pt x="226" y="4"/>
                    <a:pt x="226" y="4"/>
                    <a:pt x="226" y="4"/>
                  </a:cubicBezTo>
                  <a:cubicBezTo>
                    <a:pt x="226" y="4"/>
                    <a:pt x="282" y="12"/>
                    <a:pt x="284" y="12"/>
                  </a:cubicBezTo>
                  <a:cubicBezTo>
                    <a:pt x="286" y="12"/>
                    <a:pt x="325" y="24"/>
                    <a:pt x="324" y="22"/>
                  </a:cubicBezTo>
                  <a:cubicBezTo>
                    <a:pt x="323" y="20"/>
                    <a:pt x="324" y="37"/>
                    <a:pt x="318" y="38"/>
                  </a:cubicBezTo>
                  <a:cubicBezTo>
                    <a:pt x="313" y="39"/>
                    <a:pt x="297" y="44"/>
                    <a:pt x="297" y="44"/>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0" name="Freeform 113"/>
            <p:cNvSpPr/>
            <p:nvPr/>
          </p:nvSpPr>
          <p:spPr>
            <a:xfrm>
              <a:off x="1669391" y="181360"/>
              <a:ext cx="196759" cy="197193"/>
            </a:xfrm>
            <a:custGeom>
              <a:avLst/>
              <a:gdLst>
                <a:gd name="txL" fmla="*/ 0 w 96"/>
                <a:gd name="txT" fmla="*/ 0 h 81"/>
                <a:gd name="txR" fmla="*/ 96 w 96"/>
                <a:gd name="txB" fmla="*/ 81 h 81"/>
              </a:gdLst>
              <a:ahLst/>
              <a:cxnLst>
                <a:cxn ang="0">
                  <a:pos x="57" y="73"/>
                </a:cxn>
                <a:cxn ang="0">
                  <a:pos x="41" y="75"/>
                </a:cxn>
                <a:cxn ang="0">
                  <a:pos x="17" y="66"/>
                </a:cxn>
                <a:cxn ang="0">
                  <a:pos x="26" y="52"/>
                </a:cxn>
                <a:cxn ang="0">
                  <a:pos x="19" y="50"/>
                </a:cxn>
                <a:cxn ang="0">
                  <a:pos x="3" y="29"/>
                </a:cxn>
                <a:cxn ang="0">
                  <a:pos x="16" y="17"/>
                </a:cxn>
                <a:cxn ang="0">
                  <a:pos x="38" y="0"/>
                </a:cxn>
                <a:cxn ang="0">
                  <a:pos x="55" y="8"/>
                </a:cxn>
                <a:cxn ang="0">
                  <a:pos x="66" y="23"/>
                </a:cxn>
                <a:cxn ang="0">
                  <a:pos x="94" y="41"/>
                </a:cxn>
                <a:cxn ang="0">
                  <a:pos x="75" y="56"/>
                </a:cxn>
                <a:cxn ang="0">
                  <a:pos x="57" y="73"/>
                </a:cxn>
              </a:cxnLst>
              <a:rect l="txL" t="txT" r="txR" b="txB"/>
              <a:pathLst>
                <a:path w="96" h="81">
                  <a:moveTo>
                    <a:pt x="57" y="73"/>
                  </a:moveTo>
                  <a:cubicBezTo>
                    <a:pt x="48" y="81"/>
                    <a:pt x="48" y="79"/>
                    <a:pt x="41" y="75"/>
                  </a:cubicBezTo>
                  <a:cubicBezTo>
                    <a:pt x="34" y="72"/>
                    <a:pt x="18" y="68"/>
                    <a:pt x="17" y="66"/>
                  </a:cubicBezTo>
                  <a:cubicBezTo>
                    <a:pt x="17" y="64"/>
                    <a:pt x="24" y="52"/>
                    <a:pt x="26" y="52"/>
                  </a:cubicBezTo>
                  <a:cubicBezTo>
                    <a:pt x="28" y="52"/>
                    <a:pt x="24" y="51"/>
                    <a:pt x="19" y="50"/>
                  </a:cubicBezTo>
                  <a:cubicBezTo>
                    <a:pt x="14" y="50"/>
                    <a:pt x="0" y="35"/>
                    <a:pt x="3" y="29"/>
                  </a:cubicBezTo>
                  <a:cubicBezTo>
                    <a:pt x="7" y="23"/>
                    <a:pt x="10" y="20"/>
                    <a:pt x="16" y="17"/>
                  </a:cubicBezTo>
                  <a:cubicBezTo>
                    <a:pt x="21" y="15"/>
                    <a:pt x="35" y="1"/>
                    <a:pt x="38" y="0"/>
                  </a:cubicBezTo>
                  <a:cubicBezTo>
                    <a:pt x="41" y="0"/>
                    <a:pt x="53" y="0"/>
                    <a:pt x="55" y="8"/>
                  </a:cubicBezTo>
                  <a:cubicBezTo>
                    <a:pt x="57" y="16"/>
                    <a:pt x="55" y="15"/>
                    <a:pt x="66" y="23"/>
                  </a:cubicBezTo>
                  <a:cubicBezTo>
                    <a:pt x="76" y="31"/>
                    <a:pt x="96" y="37"/>
                    <a:pt x="94" y="41"/>
                  </a:cubicBezTo>
                  <a:cubicBezTo>
                    <a:pt x="93" y="46"/>
                    <a:pt x="81" y="50"/>
                    <a:pt x="75" y="56"/>
                  </a:cubicBezTo>
                  <a:cubicBezTo>
                    <a:pt x="68" y="61"/>
                    <a:pt x="57" y="73"/>
                    <a:pt x="57" y="73"/>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1" name="Freeform 114"/>
            <p:cNvSpPr/>
            <p:nvPr/>
          </p:nvSpPr>
          <p:spPr>
            <a:xfrm>
              <a:off x="1615619" y="325296"/>
              <a:ext cx="96546" cy="61893"/>
            </a:xfrm>
            <a:custGeom>
              <a:avLst/>
              <a:gdLst>
                <a:gd name="txL" fmla="*/ 0 w 47"/>
                <a:gd name="txT" fmla="*/ 0 h 26"/>
                <a:gd name="txR" fmla="*/ 47 w 47"/>
                <a:gd name="txB" fmla="*/ 26 h 26"/>
              </a:gdLst>
              <a:ahLst/>
              <a:cxnLst>
                <a:cxn ang="0">
                  <a:pos x="29" y="22"/>
                </a:cxn>
                <a:cxn ang="0">
                  <a:pos x="12" y="22"/>
                </a:cxn>
                <a:cxn ang="0">
                  <a:pos x="5" y="3"/>
                </a:cxn>
                <a:cxn ang="0">
                  <a:pos x="28" y="8"/>
                </a:cxn>
                <a:cxn ang="0">
                  <a:pos x="29" y="22"/>
                </a:cxn>
              </a:cxnLst>
              <a:rect l="txL" t="txT" r="txR" b="txB"/>
              <a:pathLst>
                <a:path w="47" h="26">
                  <a:moveTo>
                    <a:pt x="29" y="22"/>
                  </a:moveTo>
                  <a:cubicBezTo>
                    <a:pt x="25" y="22"/>
                    <a:pt x="16" y="26"/>
                    <a:pt x="12" y="22"/>
                  </a:cubicBezTo>
                  <a:cubicBezTo>
                    <a:pt x="8" y="17"/>
                    <a:pt x="0" y="5"/>
                    <a:pt x="5" y="3"/>
                  </a:cubicBezTo>
                  <a:cubicBezTo>
                    <a:pt x="9" y="1"/>
                    <a:pt x="8" y="0"/>
                    <a:pt x="28" y="8"/>
                  </a:cubicBezTo>
                  <a:cubicBezTo>
                    <a:pt x="47" y="16"/>
                    <a:pt x="29" y="22"/>
                    <a:pt x="29" y="22"/>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2" name="Freeform 115"/>
            <p:cNvSpPr/>
            <p:nvPr/>
          </p:nvSpPr>
          <p:spPr>
            <a:xfrm>
              <a:off x="1477521" y="297949"/>
              <a:ext cx="140542" cy="89241"/>
            </a:xfrm>
            <a:custGeom>
              <a:avLst/>
              <a:gdLst>
                <a:gd name="txL" fmla="*/ 0 w 68"/>
                <a:gd name="txT" fmla="*/ 0 h 37"/>
                <a:gd name="txR" fmla="*/ 68 w 68"/>
                <a:gd name="txB" fmla="*/ 37 h 37"/>
              </a:gdLst>
              <a:ahLst/>
              <a:cxnLst>
                <a:cxn ang="0">
                  <a:pos x="39" y="34"/>
                </a:cxn>
                <a:cxn ang="0">
                  <a:pos x="21" y="25"/>
                </a:cxn>
                <a:cxn ang="0">
                  <a:pos x="8" y="25"/>
                </a:cxn>
                <a:cxn ang="0">
                  <a:pos x="16" y="18"/>
                </a:cxn>
                <a:cxn ang="0">
                  <a:pos x="11" y="10"/>
                </a:cxn>
                <a:cxn ang="0">
                  <a:pos x="15" y="0"/>
                </a:cxn>
                <a:cxn ang="0">
                  <a:pos x="46" y="14"/>
                </a:cxn>
                <a:cxn ang="0">
                  <a:pos x="64" y="30"/>
                </a:cxn>
                <a:cxn ang="0">
                  <a:pos x="39" y="34"/>
                </a:cxn>
              </a:cxnLst>
              <a:rect l="txL" t="txT" r="txR" b="txB"/>
              <a:pathLst>
                <a:path w="68" h="37">
                  <a:moveTo>
                    <a:pt x="39" y="34"/>
                  </a:moveTo>
                  <a:cubicBezTo>
                    <a:pt x="30" y="33"/>
                    <a:pt x="27" y="29"/>
                    <a:pt x="21" y="25"/>
                  </a:cubicBezTo>
                  <a:cubicBezTo>
                    <a:pt x="15" y="22"/>
                    <a:pt x="17" y="37"/>
                    <a:pt x="8" y="25"/>
                  </a:cubicBezTo>
                  <a:cubicBezTo>
                    <a:pt x="0" y="12"/>
                    <a:pt x="13" y="19"/>
                    <a:pt x="16" y="18"/>
                  </a:cubicBezTo>
                  <a:cubicBezTo>
                    <a:pt x="20" y="16"/>
                    <a:pt x="13" y="12"/>
                    <a:pt x="11" y="10"/>
                  </a:cubicBezTo>
                  <a:cubicBezTo>
                    <a:pt x="9" y="9"/>
                    <a:pt x="11" y="0"/>
                    <a:pt x="15" y="0"/>
                  </a:cubicBezTo>
                  <a:cubicBezTo>
                    <a:pt x="19" y="0"/>
                    <a:pt x="36" y="5"/>
                    <a:pt x="46" y="14"/>
                  </a:cubicBezTo>
                  <a:cubicBezTo>
                    <a:pt x="56" y="22"/>
                    <a:pt x="68" y="29"/>
                    <a:pt x="64" y="30"/>
                  </a:cubicBezTo>
                  <a:cubicBezTo>
                    <a:pt x="60" y="31"/>
                    <a:pt x="39" y="34"/>
                    <a:pt x="39" y="34"/>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3" name="Freeform 116"/>
            <p:cNvSpPr/>
            <p:nvPr/>
          </p:nvSpPr>
          <p:spPr>
            <a:xfrm>
              <a:off x="1193993" y="568549"/>
              <a:ext cx="315302" cy="240374"/>
            </a:xfrm>
            <a:custGeom>
              <a:avLst/>
              <a:gdLst>
                <a:gd name="txL" fmla="*/ 0 w 153"/>
                <a:gd name="txT" fmla="*/ 0 h 99"/>
                <a:gd name="txR" fmla="*/ 153 w 153"/>
                <a:gd name="txB" fmla="*/ 99 h 99"/>
              </a:gdLst>
              <a:ahLst/>
              <a:cxnLst>
                <a:cxn ang="0">
                  <a:pos x="153" y="68"/>
                </a:cxn>
                <a:cxn ang="0">
                  <a:pos x="136" y="54"/>
                </a:cxn>
                <a:cxn ang="0">
                  <a:pos x="123" y="43"/>
                </a:cxn>
                <a:cxn ang="0">
                  <a:pos x="128" y="23"/>
                </a:cxn>
                <a:cxn ang="0">
                  <a:pos x="133" y="0"/>
                </a:cxn>
                <a:cxn ang="0">
                  <a:pos x="115" y="0"/>
                </a:cxn>
                <a:cxn ang="0">
                  <a:pos x="106" y="9"/>
                </a:cxn>
                <a:cxn ang="0">
                  <a:pos x="99" y="20"/>
                </a:cxn>
                <a:cxn ang="0">
                  <a:pos x="93" y="35"/>
                </a:cxn>
                <a:cxn ang="0">
                  <a:pos x="89" y="22"/>
                </a:cxn>
                <a:cxn ang="0">
                  <a:pos x="85" y="18"/>
                </a:cxn>
                <a:cxn ang="0">
                  <a:pos x="74" y="21"/>
                </a:cxn>
                <a:cxn ang="0">
                  <a:pos x="68" y="18"/>
                </a:cxn>
                <a:cxn ang="0">
                  <a:pos x="66" y="16"/>
                </a:cxn>
                <a:cxn ang="0">
                  <a:pos x="57" y="15"/>
                </a:cxn>
                <a:cxn ang="0">
                  <a:pos x="45" y="19"/>
                </a:cxn>
                <a:cxn ang="0">
                  <a:pos x="43" y="6"/>
                </a:cxn>
                <a:cxn ang="0">
                  <a:pos x="35" y="12"/>
                </a:cxn>
                <a:cxn ang="0">
                  <a:pos x="19" y="19"/>
                </a:cxn>
                <a:cxn ang="0">
                  <a:pos x="0" y="37"/>
                </a:cxn>
                <a:cxn ang="0">
                  <a:pos x="7" y="45"/>
                </a:cxn>
                <a:cxn ang="0">
                  <a:pos x="3" y="56"/>
                </a:cxn>
                <a:cxn ang="0">
                  <a:pos x="14" y="60"/>
                </a:cxn>
                <a:cxn ang="0">
                  <a:pos x="3" y="72"/>
                </a:cxn>
                <a:cxn ang="0">
                  <a:pos x="19" y="83"/>
                </a:cxn>
                <a:cxn ang="0">
                  <a:pos x="35" y="86"/>
                </a:cxn>
                <a:cxn ang="0">
                  <a:pos x="54" y="93"/>
                </a:cxn>
                <a:cxn ang="0">
                  <a:pos x="73" y="84"/>
                </a:cxn>
                <a:cxn ang="0">
                  <a:pos x="95" y="84"/>
                </a:cxn>
                <a:cxn ang="0">
                  <a:pos x="113" y="83"/>
                </a:cxn>
                <a:cxn ang="0">
                  <a:pos x="132" y="88"/>
                </a:cxn>
                <a:cxn ang="0">
                  <a:pos x="139" y="80"/>
                </a:cxn>
                <a:cxn ang="0">
                  <a:pos x="128" y="75"/>
                </a:cxn>
                <a:cxn ang="0">
                  <a:pos x="153" y="68"/>
                </a:cxn>
              </a:cxnLst>
              <a:rect l="txL" t="txT" r="txR" b="txB"/>
              <a:pathLst>
                <a:path w="153" h="99">
                  <a:moveTo>
                    <a:pt x="153" y="68"/>
                  </a:moveTo>
                  <a:cubicBezTo>
                    <a:pt x="145" y="64"/>
                    <a:pt x="149" y="60"/>
                    <a:pt x="136" y="54"/>
                  </a:cubicBezTo>
                  <a:cubicBezTo>
                    <a:pt x="123" y="49"/>
                    <a:pt x="123" y="56"/>
                    <a:pt x="123" y="43"/>
                  </a:cubicBezTo>
                  <a:cubicBezTo>
                    <a:pt x="123" y="30"/>
                    <a:pt x="127" y="29"/>
                    <a:pt x="128" y="23"/>
                  </a:cubicBezTo>
                  <a:cubicBezTo>
                    <a:pt x="130" y="18"/>
                    <a:pt x="133" y="0"/>
                    <a:pt x="133" y="0"/>
                  </a:cubicBezTo>
                  <a:cubicBezTo>
                    <a:pt x="133" y="0"/>
                    <a:pt x="125" y="1"/>
                    <a:pt x="115" y="0"/>
                  </a:cubicBezTo>
                  <a:cubicBezTo>
                    <a:pt x="104" y="0"/>
                    <a:pt x="106" y="8"/>
                    <a:pt x="106" y="9"/>
                  </a:cubicBezTo>
                  <a:cubicBezTo>
                    <a:pt x="107" y="10"/>
                    <a:pt x="99" y="20"/>
                    <a:pt x="99" y="20"/>
                  </a:cubicBezTo>
                  <a:cubicBezTo>
                    <a:pt x="93" y="35"/>
                    <a:pt x="93" y="35"/>
                    <a:pt x="93" y="35"/>
                  </a:cubicBezTo>
                  <a:cubicBezTo>
                    <a:pt x="89" y="30"/>
                    <a:pt x="89" y="22"/>
                    <a:pt x="89" y="22"/>
                  </a:cubicBezTo>
                  <a:cubicBezTo>
                    <a:pt x="89" y="22"/>
                    <a:pt x="87" y="19"/>
                    <a:pt x="85" y="18"/>
                  </a:cubicBezTo>
                  <a:cubicBezTo>
                    <a:pt x="83" y="18"/>
                    <a:pt x="74" y="21"/>
                    <a:pt x="74" y="21"/>
                  </a:cubicBezTo>
                  <a:cubicBezTo>
                    <a:pt x="74" y="21"/>
                    <a:pt x="70" y="21"/>
                    <a:pt x="68" y="18"/>
                  </a:cubicBezTo>
                  <a:cubicBezTo>
                    <a:pt x="66" y="16"/>
                    <a:pt x="70" y="18"/>
                    <a:pt x="66" y="16"/>
                  </a:cubicBezTo>
                  <a:cubicBezTo>
                    <a:pt x="61" y="14"/>
                    <a:pt x="62" y="11"/>
                    <a:pt x="57" y="15"/>
                  </a:cubicBezTo>
                  <a:cubicBezTo>
                    <a:pt x="52" y="19"/>
                    <a:pt x="49" y="26"/>
                    <a:pt x="45" y="19"/>
                  </a:cubicBezTo>
                  <a:cubicBezTo>
                    <a:pt x="41" y="12"/>
                    <a:pt x="46" y="6"/>
                    <a:pt x="43" y="6"/>
                  </a:cubicBezTo>
                  <a:cubicBezTo>
                    <a:pt x="40" y="7"/>
                    <a:pt x="44" y="10"/>
                    <a:pt x="35" y="12"/>
                  </a:cubicBezTo>
                  <a:cubicBezTo>
                    <a:pt x="25" y="14"/>
                    <a:pt x="24" y="14"/>
                    <a:pt x="19" y="19"/>
                  </a:cubicBezTo>
                  <a:cubicBezTo>
                    <a:pt x="14" y="23"/>
                    <a:pt x="0" y="35"/>
                    <a:pt x="0" y="37"/>
                  </a:cubicBezTo>
                  <a:cubicBezTo>
                    <a:pt x="0" y="39"/>
                    <a:pt x="9" y="43"/>
                    <a:pt x="7" y="45"/>
                  </a:cubicBezTo>
                  <a:cubicBezTo>
                    <a:pt x="5" y="48"/>
                    <a:pt x="3" y="56"/>
                    <a:pt x="3" y="56"/>
                  </a:cubicBezTo>
                  <a:cubicBezTo>
                    <a:pt x="3" y="56"/>
                    <a:pt x="12" y="60"/>
                    <a:pt x="14" y="60"/>
                  </a:cubicBezTo>
                  <a:cubicBezTo>
                    <a:pt x="16" y="61"/>
                    <a:pt x="1" y="72"/>
                    <a:pt x="3" y="72"/>
                  </a:cubicBezTo>
                  <a:cubicBezTo>
                    <a:pt x="6" y="73"/>
                    <a:pt x="19" y="83"/>
                    <a:pt x="19" y="83"/>
                  </a:cubicBezTo>
                  <a:cubicBezTo>
                    <a:pt x="19" y="83"/>
                    <a:pt x="29" y="82"/>
                    <a:pt x="35" y="86"/>
                  </a:cubicBezTo>
                  <a:cubicBezTo>
                    <a:pt x="40" y="90"/>
                    <a:pt x="46" y="99"/>
                    <a:pt x="54" y="93"/>
                  </a:cubicBezTo>
                  <a:cubicBezTo>
                    <a:pt x="63" y="88"/>
                    <a:pt x="62" y="87"/>
                    <a:pt x="73" y="84"/>
                  </a:cubicBezTo>
                  <a:cubicBezTo>
                    <a:pt x="84" y="81"/>
                    <a:pt x="90" y="87"/>
                    <a:pt x="95" y="84"/>
                  </a:cubicBezTo>
                  <a:cubicBezTo>
                    <a:pt x="101" y="81"/>
                    <a:pt x="113" y="83"/>
                    <a:pt x="113" y="83"/>
                  </a:cubicBezTo>
                  <a:cubicBezTo>
                    <a:pt x="113" y="83"/>
                    <a:pt x="114" y="91"/>
                    <a:pt x="132" y="88"/>
                  </a:cubicBezTo>
                  <a:cubicBezTo>
                    <a:pt x="150" y="85"/>
                    <a:pt x="145" y="80"/>
                    <a:pt x="139" y="80"/>
                  </a:cubicBezTo>
                  <a:cubicBezTo>
                    <a:pt x="133" y="80"/>
                    <a:pt x="125" y="75"/>
                    <a:pt x="128" y="75"/>
                  </a:cubicBezTo>
                  <a:cubicBezTo>
                    <a:pt x="131" y="75"/>
                    <a:pt x="153" y="68"/>
                    <a:pt x="153" y="68"/>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4" name="Freeform 117"/>
            <p:cNvSpPr/>
            <p:nvPr/>
          </p:nvSpPr>
          <p:spPr>
            <a:xfrm>
              <a:off x="1062006" y="522489"/>
              <a:ext cx="204091" cy="169845"/>
            </a:xfrm>
            <a:custGeom>
              <a:avLst/>
              <a:gdLst>
                <a:gd name="txL" fmla="*/ 0 w 99"/>
                <a:gd name="txT" fmla="*/ 0 h 70"/>
                <a:gd name="txR" fmla="*/ 99 w 99"/>
                <a:gd name="txB" fmla="*/ 70 h 70"/>
              </a:gdLst>
              <a:ahLst/>
              <a:cxnLst>
                <a:cxn ang="0">
                  <a:pos x="33" y="65"/>
                </a:cxn>
                <a:cxn ang="0">
                  <a:pos x="16" y="62"/>
                </a:cxn>
                <a:cxn ang="0">
                  <a:pos x="5" y="52"/>
                </a:cxn>
                <a:cxn ang="0">
                  <a:pos x="7" y="40"/>
                </a:cxn>
                <a:cxn ang="0">
                  <a:pos x="16" y="33"/>
                </a:cxn>
                <a:cxn ang="0">
                  <a:pos x="23" y="16"/>
                </a:cxn>
                <a:cxn ang="0">
                  <a:pos x="21" y="6"/>
                </a:cxn>
                <a:cxn ang="0">
                  <a:pos x="45" y="3"/>
                </a:cxn>
                <a:cxn ang="0">
                  <a:pos x="66" y="6"/>
                </a:cxn>
                <a:cxn ang="0">
                  <a:pos x="82" y="6"/>
                </a:cxn>
                <a:cxn ang="0">
                  <a:pos x="96" y="15"/>
                </a:cxn>
                <a:cxn ang="0">
                  <a:pos x="77" y="35"/>
                </a:cxn>
                <a:cxn ang="0">
                  <a:pos x="61" y="43"/>
                </a:cxn>
                <a:cxn ang="0">
                  <a:pos x="33" y="65"/>
                </a:cxn>
              </a:cxnLst>
              <a:rect l="txL" t="txT" r="txR" b="txB"/>
              <a:pathLst>
                <a:path w="99" h="70">
                  <a:moveTo>
                    <a:pt x="33" y="65"/>
                  </a:moveTo>
                  <a:cubicBezTo>
                    <a:pt x="28" y="70"/>
                    <a:pt x="20" y="65"/>
                    <a:pt x="16" y="62"/>
                  </a:cubicBezTo>
                  <a:cubicBezTo>
                    <a:pt x="12" y="58"/>
                    <a:pt x="11" y="54"/>
                    <a:pt x="5" y="52"/>
                  </a:cubicBezTo>
                  <a:cubicBezTo>
                    <a:pt x="0" y="49"/>
                    <a:pt x="4" y="42"/>
                    <a:pt x="7" y="40"/>
                  </a:cubicBezTo>
                  <a:cubicBezTo>
                    <a:pt x="10" y="39"/>
                    <a:pt x="16" y="33"/>
                    <a:pt x="16" y="33"/>
                  </a:cubicBezTo>
                  <a:cubicBezTo>
                    <a:pt x="16" y="33"/>
                    <a:pt x="25" y="18"/>
                    <a:pt x="23" y="16"/>
                  </a:cubicBezTo>
                  <a:cubicBezTo>
                    <a:pt x="20" y="14"/>
                    <a:pt x="19" y="9"/>
                    <a:pt x="21" y="6"/>
                  </a:cubicBezTo>
                  <a:cubicBezTo>
                    <a:pt x="23" y="4"/>
                    <a:pt x="41" y="0"/>
                    <a:pt x="45" y="3"/>
                  </a:cubicBezTo>
                  <a:cubicBezTo>
                    <a:pt x="49" y="6"/>
                    <a:pt x="64" y="10"/>
                    <a:pt x="66" y="6"/>
                  </a:cubicBezTo>
                  <a:cubicBezTo>
                    <a:pt x="68" y="2"/>
                    <a:pt x="77" y="4"/>
                    <a:pt x="82" y="6"/>
                  </a:cubicBezTo>
                  <a:cubicBezTo>
                    <a:pt x="86" y="8"/>
                    <a:pt x="99" y="13"/>
                    <a:pt x="96" y="15"/>
                  </a:cubicBezTo>
                  <a:cubicBezTo>
                    <a:pt x="93" y="18"/>
                    <a:pt x="87" y="32"/>
                    <a:pt x="77" y="35"/>
                  </a:cubicBezTo>
                  <a:cubicBezTo>
                    <a:pt x="68" y="37"/>
                    <a:pt x="65" y="39"/>
                    <a:pt x="61" y="43"/>
                  </a:cubicBezTo>
                  <a:cubicBezTo>
                    <a:pt x="58" y="47"/>
                    <a:pt x="33" y="65"/>
                    <a:pt x="33" y="65"/>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5" name="Freeform 118"/>
            <p:cNvSpPr/>
            <p:nvPr/>
          </p:nvSpPr>
          <p:spPr>
            <a:xfrm>
              <a:off x="1148776" y="390068"/>
              <a:ext cx="152763" cy="87802"/>
            </a:xfrm>
            <a:custGeom>
              <a:avLst/>
              <a:gdLst>
                <a:gd name="txL" fmla="*/ 0 w 74"/>
                <a:gd name="txT" fmla="*/ 0 h 36"/>
                <a:gd name="txR" fmla="*/ 74 w 74"/>
                <a:gd name="txB" fmla="*/ 36 h 36"/>
              </a:gdLst>
              <a:ahLst/>
              <a:cxnLst>
                <a:cxn ang="0">
                  <a:pos x="3" y="30"/>
                </a:cxn>
                <a:cxn ang="0">
                  <a:pos x="27" y="31"/>
                </a:cxn>
                <a:cxn ang="0">
                  <a:pos x="44" y="23"/>
                </a:cxn>
                <a:cxn ang="0">
                  <a:pos x="64" y="20"/>
                </a:cxn>
                <a:cxn ang="0">
                  <a:pos x="71" y="4"/>
                </a:cxn>
                <a:cxn ang="0">
                  <a:pos x="55" y="5"/>
                </a:cxn>
                <a:cxn ang="0">
                  <a:pos x="31" y="7"/>
                </a:cxn>
                <a:cxn ang="0">
                  <a:pos x="20" y="16"/>
                </a:cxn>
                <a:cxn ang="0">
                  <a:pos x="3" y="30"/>
                </a:cxn>
              </a:cxnLst>
              <a:rect l="txL" t="txT" r="txR" b="txB"/>
              <a:pathLst>
                <a:path w="74" h="36">
                  <a:moveTo>
                    <a:pt x="3" y="30"/>
                  </a:moveTo>
                  <a:cubicBezTo>
                    <a:pt x="0" y="36"/>
                    <a:pt x="21" y="34"/>
                    <a:pt x="27" y="31"/>
                  </a:cubicBezTo>
                  <a:cubicBezTo>
                    <a:pt x="32" y="28"/>
                    <a:pt x="30" y="22"/>
                    <a:pt x="44" y="23"/>
                  </a:cubicBezTo>
                  <a:cubicBezTo>
                    <a:pt x="57" y="24"/>
                    <a:pt x="62" y="22"/>
                    <a:pt x="64" y="20"/>
                  </a:cubicBezTo>
                  <a:cubicBezTo>
                    <a:pt x="66" y="18"/>
                    <a:pt x="74" y="8"/>
                    <a:pt x="71" y="4"/>
                  </a:cubicBezTo>
                  <a:cubicBezTo>
                    <a:pt x="69" y="0"/>
                    <a:pt x="58" y="5"/>
                    <a:pt x="55" y="5"/>
                  </a:cubicBezTo>
                  <a:cubicBezTo>
                    <a:pt x="51" y="5"/>
                    <a:pt x="34" y="7"/>
                    <a:pt x="31" y="7"/>
                  </a:cubicBezTo>
                  <a:cubicBezTo>
                    <a:pt x="29" y="8"/>
                    <a:pt x="22" y="14"/>
                    <a:pt x="20" y="16"/>
                  </a:cubicBezTo>
                  <a:cubicBezTo>
                    <a:pt x="18" y="18"/>
                    <a:pt x="5" y="22"/>
                    <a:pt x="3" y="3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6" name="Freeform 119"/>
            <p:cNvSpPr/>
            <p:nvPr/>
          </p:nvSpPr>
          <p:spPr>
            <a:xfrm>
              <a:off x="1307649" y="358402"/>
              <a:ext cx="118544" cy="57575"/>
            </a:xfrm>
            <a:custGeom>
              <a:avLst/>
              <a:gdLst>
                <a:gd name="txL" fmla="*/ 0 w 58"/>
                <a:gd name="txT" fmla="*/ 0 h 24"/>
                <a:gd name="txR" fmla="*/ 58 w 58"/>
                <a:gd name="txB" fmla="*/ 24 h 24"/>
              </a:gdLst>
              <a:ahLst/>
              <a:cxnLst>
                <a:cxn ang="0">
                  <a:pos x="4" y="3"/>
                </a:cxn>
                <a:cxn ang="0">
                  <a:pos x="16" y="6"/>
                </a:cxn>
                <a:cxn ang="0">
                  <a:pos x="44" y="6"/>
                </a:cxn>
                <a:cxn ang="0">
                  <a:pos x="50" y="14"/>
                </a:cxn>
                <a:cxn ang="0">
                  <a:pos x="37" y="22"/>
                </a:cxn>
                <a:cxn ang="0">
                  <a:pos x="15" y="16"/>
                </a:cxn>
                <a:cxn ang="0">
                  <a:pos x="0" y="12"/>
                </a:cxn>
                <a:cxn ang="0">
                  <a:pos x="4" y="3"/>
                </a:cxn>
              </a:cxnLst>
              <a:rect l="txL" t="txT" r="txR" b="txB"/>
              <a:pathLst>
                <a:path w="58" h="24">
                  <a:moveTo>
                    <a:pt x="4" y="3"/>
                  </a:moveTo>
                  <a:cubicBezTo>
                    <a:pt x="8" y="0"/>
                    <a:pt x="11" y="2"/>
                    <a:pt x="16" y="6"/>
                  </a:cubicBezTo>
                  <a:cubicBezTo>
                    <a:pt x="21" y="11"/>
                    <a:pt x="38" y="3"/>
                    <a:pt x="44" y="6"/>
                  </a:cubicBezTo>
                  <a:cubicBezTo>
                    <a:pt x="49" y="10"/>
                    <a:pt x="58" y="8"/>
                    <a:pt x="50" y="14"/>
                  </a:cubicBezTo>
                  <a:cubicBezTo>
                    <a:pt x="41" y="21"/>
                    <a:pt x="44" y="24"/>
                    <a:pt x="37" y="22"/>
                  </a:cubicBezTo>
                  <a:cubicBezTo>
                    <a:pt x="29" y="19"/>
                    <a:pt x="23" y="19"/>
                    <a:pt x="15" y="16"/>
                  </a:cubicBezTo>
                  <a:cubicBezTo>
                    <a:pt x="7" y="12"/>
                    <a:pt x="0" y="12"/>
                    <a:pt x="0" y="12"/>
                  </a:cubicBezTo>
                  <a:lnTo>
                    <a:pt x="4" y="3"/>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7" name="Freeform 120"/>
            <p:cNvSpPr/>
            <p:nvPr/>
          </p:nvSpPr>
          <p:spPr>
            <a:xfrm>
              <a:off x="1356533" y="319539"/>
              <a:ext cx="65993" cy="53257"/>
            </a:xfrm>
            <a:custGeom>
              <a:avLst/>
              <a:gdLst>
                <a:gd name="txL" fmla="*/ 0 w 32"/>
                <a:gd name="txT" fmla="*/ 0 h 22"/>
                <a:gd name="txR" fmla="*/ 32 w 32"/>
                <a:gd name="txB" fmla="*/ 22 h 22"/>
              </a:gdLst>
              <a:ahLst/>
              <a:cxnLst>
                <a:cxn ang="0">
                  <a:pos x="2" y="18"/>
                </a:cxn>
                <a:cxn ang="0">
                  <a:pos x="27" y="16"/>
                </a:cxn>
                <a:cxn ang="0">
                  <a:pos x="13" y="3"/>
                </a:cxn>
                <a:cxn ang="0">
                  <a:pos x="0" y="9"/>
                </a:cxn>
                <a:cxn ang="0">
                  <a:pos x="2" y="18"/>
                </a:cxn>
              </a:cxnLst>
              <a:rect l="txL" t="txT" r="txR" b="txB"/>
              <a:pathLst>
                <a:path w="32" h="22">
                  <a:moveTo>
                    <a:pt x="2" y="18"/>
                  </a:moveTo>
                  <a:cubicBezTo>
                    <a:pt x="7" y="17"/>
                    <a:pt x="22" y="22"/>
                    <a:pt x="27" y="16"/>
                  </a:cubicBezTo>
                  <a:cubicBezTo>
                    <a:pt x="32" y="9"/>
                    <a:pt x="19" y="0"/>
                    <a:pt x="13" y="3"/>
                  </a:cubicBezTo>
                  <a:cubicBezTo>
                    <a:pt x="8" y="5"/>
                    <a:pt x="0" y="9"/>
                    <a:pt x="0" y="9"/>
                  </a:cubicBezTo>
                  <a:lnTo>
                    <a:pt x="2" y="18"/>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8" name="Freeform 121"/>
            <p:cNvSpPr/>
            <p:nvPr/>
          </p:nvSpPr>
          <p:spPr>
            <a:xfrm>
              <a:off x="1236767" y="428930"/>
              <a:ext cx="234643" cy="113710"/>
            </a:xfrm>
            <a:custGeom>
              <a:avLst/>
              <a:gdLst>
                <a:gd name="txL" fmla="*/ 0 w 114"/>
                <a:gd name="txT" fmla="*/ 0 h 47"/>
                <a:gd name="txR" fmla="*/ 114 w 114"/>
                <a:gd name="txB" fmla="*/ 47 h 47"/>
              </a:gdLst>
              <a:ahLst/>
              <a:cxnLst>
                <a:cxn ang="0">
                  <a:pos x="75" y="17"/>
                </a:cxn>
                <a:cxn ang="0">
                  <a:pos x="60" y="17"/>
                </a:cxn>
                <a:cxn ang="0">
                  <a:pos x="38" y="8"/>
                </a:cxn>
                <a:cxn ang="0">
                  <a:pos x="14" y="12"/>
                </a:cxn>
                <a:cxn ang="0">
                  <a:pos x="5" y="24"/>
                </a:cxn>
                <a:cxn ang="0">
                  <a:pos x="5" y="28"/>
                </a:cxn>
                <a:cxn ang="0">
                  <a:pos x="26" y="27"/>
                </a:cxn>
                <a:cxn ang="0">
                  <a:pos x="43" y="33"/>
                </a:cxn>
                <a:cxn ang="0">
                  <a:pos x="34" y="37"/>
                </a:cxn>
                <a:cxn ang="0">
                  <a:pos x="49" y="42"/>
                </a:cxn>
                <a:cxn ang="0">
                  <a:pos x="67" y="35"/>
                </a:cxn>
                <a:cxn ang="0">
                  <a:pos x="90" y="35"/>
                </a:cxn>
                <a:cxn ang="0">
                  <a:pos x="108" y="27"/>
                </a:cxn>
                <a:cxn ang="0">
                  <a:pos x="112" y="19"/>
                </a:cxn>
                <a:cxn ang="0">
                  <a:pos x="106" y="14"/>
                </a:cxn>
                <a:cxn ang="0">
                  <a:pos x="98" y="14"/>
                </a:cxn>
                <a:cxn ang="0">
                  <a:pos x="92" y="7"/>
                </a:cxn>
                <a:cxn ang="0">
                  <a:pos x="86" y="0"/>
                </a:cxn>
                <a:cxn ang="0">
                  <a:pos x="69" y="4"/>
                </a:cxn>
                <a:cxn ang="0">
                  <a:pos x="75" y="17"/>
                </a:cxn>
              </a:cxnLst>
              <a:rect l="txL" t="txT" r="txR" b="txB"/>
              <a:pathLst>
                <a:path w="114" h="47">
                  <a:moveTo>
                    <a:pt x="75" y="17"/>
                  </a:moveTo>
                  <a:cubicBezTo>
                    <a:pt x="69" y="18"/>
                    <a:pt x="65" y="26"/>
                    <a:pt x="60" y="17"/>
                  </a:cubicBezTo>
                  <a:cubicBezTo>
                    <a:pt x="55" y="8"/>
                    <a:pt x="42" y="6"/>
                    <a:pt x="38" y="8"/>
                  </a:cubicBezTo>
                  <a:cubicBezTo>
                    <a:pt x="33" y="10"/>
                    <a:pt x="13" y="8"/>
                    <a:pt x="14" y="12"/>
                  </a:cubicBezTo>
                  <a:cubicBezTo>
                    <a:pt x="14" y="17"/>
                    <a:pt x="9" y="24"/>
                    <a:pt x="5" y="24"/>
                  </a:cubicBezTo>
                  <a:cubicBezTo>
                    <a:pt x="0" y="25"/>
                    <a:pt x="3" y="27"/>
                    <a:pt x="5" y="28"/>
                  </a:cubicBezTo>
                  <a:cubicBezTo>
                    <a:pt x="8" y="29"/>
                    <a:pt x="11" y="24"/>
                    <a:pt x="26" y="27"/>
                  </a:cubicBezTo>
                  <a:cubicBezTo>
                    <a:pt x="41" y="31"/>
                    <a:pt x="45" y="31"/>
                    <a:pt x="43" y="33"/>
                  </a:cubicBezTo>
                  <a:cubicBezTo>
                    <a:pt x="41" y="36"/>
                    <a:pt x="31" y="35"/>
                    <a:pt x="34" y="37"/>
                  </a:cubicBezTo>
                  <a:cubicBezTo>
                    <a:pt x="37" y="39"/>
                    <a:pt x="41" y="47"/>
                    <a:pt x="49" y="42"/>
                  </a:cubicBezTo>
                  <a:cubicBezTo>
                    <a:pt x="58" y="37"/>
                    <a:pt x="59" y="35"/>
                    <a:pt x="67" y="35"/>
                  </a:cubicBezTo>
                  <a:cubicBezTo>
                    <a:pt x="75" y="35"/>
                    <a:pt x="73" y="40"/>
                    <a:pt x="90" y="35"/>
                  </a:cubicBezTo>
                  <a:cubicBezTo>
                    <a:pt x="107" y="31"/>
                    <a:pt x="108" y="27"/>
                    <a:pt x="108" y="27"/>
                  </a:cubicBezTo>
                  <a:cubicBezTo>
                    <a:pt x="108" y="27"/>
                    <a:pt x="114" y="22"/>
                    <a:pt x="112" y="19"/>
                  </a:cubicBezTo>
                  <a:cubicBezTo>
                    <a:pt x="110" y="16"/>
                    <a:pt x="108" y="14"/>
                    <a:pt x="106" y="14"/>
                  </a:cubicBezTo>
                  <a:cubicBezTo>
                    <a:pt x="104" y="14"/>
                    <a:pt x="103" y="17"/>
                    <a:pt x="98" y="14"/>
                  </a:cubicBezTo>
                  <a:cubicBezTo>
                    <a:pt x="93" y="10"/>
                    <a:pt x="95" y="14"/>
                    <a:pt x="92" y="7"/>
                  </a:cubicBezTo>
                  <a:cubicBezTo>
                    <a:pt x="89" y="0"/>
                    <a:pt x="91" y="0"/>
                    <a:pt x="86" y="0"/>
                  </a:cubicBezTo>
                  <a:cubicBezTo>
                    <a:pt x="80" y="0"/>
                    <a:pt x="62" y="2"/>
                    <a:pt x="69" y="4"/>
                  </a:cubicBezTo>
                  <a:cubicBezTo>
                    <a:pt x="76" y="7"/>
                    <a:pt x="75" y="17"/>
                    <a:pt x="75" y="17"/>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19" name="Freeform 122"/>
            <p:cNvSpPr/>
            <p:nvPr/>
          </p:nvSpPr>
          <p:spPr>
            <a:xfrm>
              <a:off x="1506851" y="542640"/>
              <a:ext cx="120988" cy="145376"/>
            </a:xfrm>
            <a:custGeom>
              <a:avLst/>
              <a:gdLst>
                <a:gd name="txL" fmla="*/ 0 w 59"/>
                <a:gd name="txT" fmla="*/ 0 h 60"/>
                <a:gd name="txR" fmla="*/ 59 w 59"/>
                <a:gd name="txB" fmla="*/ 60 h 60"/>
              </a:gdLst>
              <a:ahLst/>
              <a:cxnLst>
                <a:cxn ang="0">
                  <a:pos x="40" y="20"/>
                </a:cxn>
                <a:cxn ang="0">
                  <a:pos x="51" y="9"/>
                </a:cxn>
                <a:cxn ang="0">
                  <a:pos x="32" y="4"/>
                </a:cxn>
                <a:cxn ang="0">
                  <a:pos x="11" y="10"/>
                </a:cxn>
                <a:cxn ang="0">
                  <a:pos x="11" y="21"/>
                </a:cxn>
                <a:cxn ang="0">
                  <a:pos x="0" y="26"/>
                </a:cxn>
                <a:cxn ang="0">
                  <a:pos x="4" y="40"/>
                </a:cxn>
                <a:cxn ang="0">
                  <a:pos x="16" y="50"/>
                </a:cxn>
                <a:cxn ang="0">
                  <a:pos x="22" y="59"/>
                </a:cxn>
                <a:cxn ang="0">
                  <a:pos x="34" y="52"/>
                </a:cxn>
                <a:cxn ang="0">
                  <a:pos x="44" y="49"/>
                </a:cxn>
                <a:cxn ang="0">
                  <a:pos x="46" y="42"/>
                </a:cxn>
                <a:cxn ang="0">
                  <a:pos x="47" y="31"/>
                </a:cxn>
                <a:cxn ang="0">
                  <a:pos x="40" y="20"/>
                </a:cxn>
              </a:cxnLst>
              <a:rect l="txL" t="txT" r="txR" b="txB"/>
              <a:pathLst>
                <a:path w="59" h="60">
                  <a:moveTo>
                    <a:pt x="40" y="20"/>
                  </a:moveTo>
                  <a:cubicBezTo>
                    <a:pt x="32" y="19"/>
                    <a:pt x="59" y="9"/>
                    <a:pt x="51" y="9"/>
                  </a:cubicBezTo>
                  <a:cubicBezTo>
                    <a:pt x="43" y="9"/>
                    <a:pt x="37" y="0"/>
                    <a:pt x="32" y="4"/>
                  </a:cubicBezTo>
                  <a:cubicBezTo>
                    <a:pt x="27" y="8"/>
                    <a:pt x="11" y="10"/>
                    <a:pt x="11" y="10"/>
                  </a:cubicBezTo>
                  <a:cubicBezTo>
                    <a:pt x="11" y="21"/>
                    <a:pt x="11" y="21"/>
                    <a:pt x="11" y="21"/>
                  </a:cubicBezTo>
                  <a:cubicBezTo>
                    <a:pt x="0" y="26"/>
                    <a:pt x="0" y="26"/>
                    <a:pt x="0" y="26"/>
                  </a:cubicBezTo>
                  <a:cubicBezTo>
                    <a:pt x="0" y="26"/>
                    <a:pt x="0" y="36"/>
                    <a:pt x="4" y="40"/>
                  </a:cubicBezTo>
                  <a:cubicBezTo>
                    <a:pt x="9" y="43"/>
                    <a:pt x="20" y="46"/>
                    <a:pt x="16" y="50"/>
                  </a:cubicBezTo>
                  <a:cubicBezTo>
                    <a:pt x="12" y="53"/>
                    <a:pt x="25" y="59"/>
                    <a:pt x="22" y="59"/>
                  </a:cubicBezTo>
                  <a:cubicBezTo>
                    <a:pt x="19" y="60"/>
                    <a:pt x="26" y="55"/>
                    <a:pt x="34" y="52"/>
                  </a:cubicBezTo>
                  <a:cubicBezTo>
                    <a:pt x="41" y="50"/>
                    <a:pt x="45" y="48"/>
                    <a:pt x="44" y="49"/>
                  </a:cubicBezTo>
                  <a:cubicBezTo>
                    <a:pt x="44" y="50"/>
                    <a:pt x="45" y="45"/>
                    <a:pt x="46" y="42"/>
                  </a:cubicBezTo>
                  <a:cubicBezTo>
                    <a:pt x="47" y="38"/>
                    <a:pt x="47" y="31"/>
                    <a:pt x="47" y="31"/>
                  </a:cubicBezTo>
                  <a:cubicBezTo>
                    <a:pt x="47" y="31"/>
                    <a:pt x="50" y="21"/>
                    <a:pt x="40" y="2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0" name="Freeform 123"/>
            <p:cNvSpPr/>
            <p:nvPr/>
          </p:nvSpPr>
          <p:spPr>
            <a:xfrm>
              <a:off x="1488520" y="424613"/>
              <a:ext cx="195536" cy="113710"/>
            </a:xfrm>
            <a:custGeom>
              <a:avLst/>
              <a:gdLst>
                <a:gd name="txL" fmla="*/ 0 w 95"/>
                <a:gd name="txT" fmla="*/ 0 h 47"/>
                <a:gd name="txR" fmla="*/ 95 w 95"/>
                <a:gd name="txB" fmla="*/ 47 h 47"/>
              </a:gdLst>
              <a:ahLst/>
              <a:cxnLst>
                <a:cxn ang="0">
                  <a:pos x="21" y="14"/>
                </a:cxn>
                <a:cxn ang="0">
                  <a:pos x="6" y="4"/>
                </a:cxn>
                <a:cxn ang="0">
                  <a:pos x="7" y="16"/>
                </a:cxn>
                <a:cxn ang="0">
                  <a:pos x="5" y="27"/>
                </a:cxn>
                <a:cxn ang="0">
                  <a:pos x="12" y="34"/>
                </a:cxn>
                <a:cxn ang="0">
                  <a:pos x="19" y="44"/>
                </a:cxn>
                <a:cxn ang="0">
                  <a:pos x="59" y="42"/>
                </a:cxn>
                <a:cxn ang="0">
                  <a:pos x="82" y="40"/>
                </a:cxn>
                <a:cxn ang="0">
                  <a:pos x="95" y="35"/>
                </a:cxn>
                <a:cxn ang="0">
                  <a:pos x="86" y="18"/>
                </a:cxn>
                <a:cxn ang="0">
                  <a:pos x="75" y="23"/>
                </a:cxn>
                <a:cxn ang="0">
                  <a:pos x="64" y="12"/>
                </a:cxn>
                <a:cxn ang="0">
                  <a:pos x="61" y="2"/>
                </a:cxn>
                <a:cxn ang="0">
                  <a:pos x="40" y="2"/>
                </a:cxn>
                <a:cxn ang="0">
                  <a:pos x="26" y="3"/>
                </a:cxn>
                <a:cxn ang="0">
                  <a:pos x="21" y="14"/>
                </a:cxn>
              </a:cxnLst>
              <a:rect l="txL" t="txT" r="txR" b="txB"/>
              <a:pathLst>
                <a:path w="95" h="47">
                  <a:moveTo>
                    <a:pt x="21" y="14"/>
                  </a:moveTo>
                  <a:cubicBezTo>
                    <a:pt x="15" y="8"/>
                    <a:pt x="10" y="3"/>
                    <a:pt x="6" y="4"/>
                  </a:cubicBezTo>
                  <a:cubicBezTo>
                    <a:pt x="3" y="4"/>
                    <a:pt x="9" y="12"/>
                    <a:pt x="7" y="16"/>
                  </a:cubicBezTo>
                  <a:cubicBezTo>
                    <a:pt x="6" y="19"/>
                    <a:pt x="10" y="26"/>
                    <a:pt x="5" y="27"/>
                  </a:cubicBezTo>
                  <a:cubicBezTo>
                    <a:pt x="0" y="29"/>
                    <a:pt x="5" y="27"/>
                    <a:pt x="12" y="34"/>
                  </a:cubicBezTo>
                  <a:cubicBezTo>
                    <a:pt x="18" y="41"/>
                    <a:pt x="5" y="47"/>
                    <a:pt x="19" y="44"/>
                  </a:cubicBezTo>
                  <a:cubicBezTo>
                    <a:pt x="32" y="41"/>
                    <a:pt x="46" y="43"/>
                    <a:pt x="59" y="42"/>
                  </a:cubicBezTo>
                  <a:cubicBezTo>
                    <a:pt x="71" y="41"/>
                    <a:pt x="82" y="40"/>
                    <a:pt x="82" y="40"/>
                  </a:cubicBezTo>
                  <a:cubicBezTo>
                    <a:pt x="95" y="35"/>
                    <a:pt x="95" y="35"/>
                    <a:pt x="95" y="35"/>
                  </a:cubicBezTo>
                  <a:cubicBezTo>
                    <a:pt x="95" y="35"/>
                    <a:pt x="89" y="20"/>
                    <a:pt x="86" y="18"/>
                  </a:cubicBezTo>
                  <a:cubicBezTo>
                    <a:pt x="83" y="16"/>
                    <a:pt x="75" y="23"/>
                    <a:pt x="75" y="23"/>
                  </a:cubicBezTo>
                  <a:cubicBezTo>
                    <a:pt x="75" y="23"/>
                    <a:pt x="64" y="14"/>
                    <a:pt x="64" y="12"/>
                  </a:cubicBezTo>
                  <a:cubicBezTo>
                    <a:pt x="64" y="9"/>
                    <a:pt x="65" y="4"/>
                    <a:pt x="61" y="2"/>
                  </a:cubicBezTo>
                  <a:cubicBezTo>
                    <a:pt x="57" y="1"/>
                    <a:pt x="47" y="2"/>
                    <a:pt x="40" y="2"/>
                  </a:cubicBezTo>
                  <a:cubicBezTo>
                    <a:pt x="34" y="2"/>
                    <a:pt x="26" y="0"/>
                    <a:pt x="26" y="3"/>
                  </a:cubicBezTo>
                  <a:cubicBezTo>
                    <a:pt x="26" y="6"/>
                    <a:pt x="21" y="14"/>
                    <a:pt x="21" y="14"/>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1" name="Freeform 124"/>
            <p:cNvSpPr/>
            <p:nvPr/>
          </p:nvSpPr>
          <p:spPr>
            <a:xfrm>
              <a:off x="1706054" y="557034"/>
              <a:ext cx="508394" cy="557034"/>
            </a:xfrm>
            <a:custGeom>
              <a:avLst/>
              <a:gdLst>
                <a:gd name="txL" fmla="*/ 0 w 247"/>
                <a:gd name="txT" fmla="*/ 0 h 230"/>
                <a:gd name="txR" fmla="*/ 247 w 247"/>
                <a:gd name="txB" fmla="*/ 230 h 230"/>
              </a:gdLst>
              <a:ahLst/>
              <a:cxnLst>
                <a:cxn ang="0">
                  <a:pos x="57" y="3"/>
                </a:cxn>
                <a:cxn ang="0">
                  <a:pos x="35" y="6"/>
                </a:cxn>
                <a:cxn ang="0">
                  <a:pos x="14" y="26"/>
                </a:cxn>
                <a:cxn ang="0">
                  <a:pos x="20" y="56"/>
                </a:cxn>
                <a:cxn ang="0">
                  <a:pos x="22" y="76"/>
                </a:cxn>
                <a:cxn ang="0">
                  <a:pos x="73" y="71"/>
                </a:cxn>
                <a:cxn ang="0">
                  <a:pos x="113" y="69"/>
                </a:cxn>
                <a:cxn ang="0">
                  <a:pos x="121" y="94"/>
                </a:cxn>
                <a:cxn ang="0">
                  <a:pos x="121" y="107"/>
                </a:cxn>
                <a:cxn ang="0">
                  <a:pos x="149" y="107"/>
                </a:cxn>
                <a:cxn ang="0">
                  <a:pos x="143" y="121"/>
                </a:cxn>
                <a:cxn ang="0">
                  <a:pos x="130" y="147"/>
                </a:cxn>
                <a:cxn ang="0">
                  <a:pos x="120" y="156"/>
                </a:cxn>
                <a:cxn ang="0">
                  <a:pos x="94" y="150"/>
                </a:cxn>
                <a:cxn ang="0">
                  <a:pos x="84" y="176"/>
                </a:cxn>
                <a:cxn ang="0">
                  <a:pos x="88" y="187"/>
                </a:cxn>
                <a:cxn ang="0">
                  <a:pos x="121" y="173"/>
                </a:cxn>
                <a:cxn ang="0">
                  <a:pos x="128" y="188"/>
                </a:cxn>
                <a:cxn ang="0">
                  <a:pos x="142" y="201"/>
                </a:cxn>
                <a:cxn ang="0">
                  <a:pos x="159" y="226"/>
                </a:cxn>
                <a:cxn ang="0">
                  <a:pos x="165" y="227"/>
                </a:cxn>
                <a:cxn ang="0">
                  <a:pos x="182" y="227"/>
                </a:cxn>
                <a:cxn ang="0">
                  <a:pos x="192" y="227"/>
                </a:cxn>
                <a:cxn ang="0">
                  <a:pos x="184" y="212"/>
                </a:cxn>
                <a:cxn ang="0">
                  <a:pos x="172" y="187"/>
                </a:cxn>
                <a:cxn ang="0">
                  <a:pos x="191" y="207"/>
                </a:cxn>
                <a:cxn ang="0">
                  <a:pos x="194" y="209"/>
                </a:cxn>
                <a:cxn ang="0">
                  <a:pos x="210" y="194"/>
                </a:cxn>
                <a:cxn ang="0">
                  <a:pos x="206" y="181"/>
                </a:cxn>
                <a:cxn ang="0">
                  <a:pos x="189" y="151"/>
                </a:cxn>
                <a:cxn ang="0">
                  <a:pos x="194" y="132"/>
                </a:cxn>
                <a:cxn ang="0">
                  <a:pos x="212" y="137"/>
                </a:cxn>
                <a:cxn ang="0">
                  <a:pos x="213" y="154"/>
                </a:cxn>
                <a:cxn ang="0">
                  <a:pos x="225" y="158"/>
                </a:cxn>
                <a:cxn ang="0">
                  <a:pos x="237" y="148"/>
                </a:cxn>
                <a:cxn ang="0">
                  <a:pos x="244" y="136"/>
                </a:cxn>
                <a:cxn ang="0">
                  <a:pos x="247" y="125"/>
                </a:cxn>
                <a:cxn ang="0">
                  <a:pos x="218" y="117"/>
                </a:cxn>
                <a:cxn ang="0">
                  <a:pos x="194" y="111"/>
                </a:cxn>
                <a:cxn ang="0">
                  <a:pos x="190" y="98"/>
                </a:cxn>
                <a:cxn ang="0">
                  <a:pos x="195" y="88"/>
                </a:cxn>
                <a:cxn ang="0">
                  <a:pos x="204" y="82"/>
                </a:cxn>
                <a:cxn ang="0">
                  <a:pos x="183" y="59"/>
                </a:cxn>
                <a:cxn ang="0">
                  <a:pos x="174" y="60"/>
                </a:cxn>
                <a:cxn ang="0">
                  <a:pos x="171" y="45"/>
                </a:cxn>
                <a:cxn ang="0">
                  <a:pos x="153" y="49"/>
                </a:cxn>
                <a:cxn ang="0">
                  <a:pos x="145" y="36"/>
                </a:cxn>
                <a:cxn ang="0">
                  <a:pos x="138" y="28"/>
                </a:cxn>
                <a:cxn ang="0">
                  <a:pos x="140" y="17"/>
                </a:cxn>
                <a:cxn ang="0">
                  <a:pos x="123" y="9"/>
                </a:cxn>
                <a:cxn ang="0">
                  <a:pos x="110" y="3"/>
                </a:cxn>
                <a:cxn ang="0">
                  <a:pos x="97" y="4"/>
                </a:cxn>
                <a:cxn ang="0">
                  <a:pos x="88" y="14"/>
                </a:cxn>
                <a:cxn ang="0">
                  <a:pos x="87" y="35"/>
                </a:cxn>
                <a:cxn ang="0">
                  <a:pos x="73" y="24"/>
                </a:cxn>
                <a:cxn ang="0">
                  <a:pos x="68" y="8"/>
                </a:cxn>
                <a:cxn ang="0">
                  <a:pos x="64" y="7"/>
                </a:cxn>
                <a:cxn ang="0">
                  <a:pos x="57" y="3"/>
                </a:cxn>
              </a:cxnLst>
              <a:rect l="txL" t="txT" r="txR" b="txB"/>
              <a:pathLst>
                <a:path w="247" h="230">
                  <a:moveTo>
                    <a:pt x="57" y="3"/>
                  </a:moveTo>
                  <a:cubicBezTo>
                    <a:pt x="49" y="3"/>
                    <a:pt x="44" y="0"/>
                    <a:pt x="35" y="6"/>
                  </a:cubicBezTo>
                  <a:cubicBezTo>
                    <a:pt x="26" y="12"/>
                    <a:pt x="17" y="19"/>
                    <a:pt x="14" y="26"/>
                  </a:cubicBezTo>
                  <a:cubicBezTo>
                    <a:pt x="11" y="32"/>
                    <a:pt x="20" y="54"/>
                    <a:pt x="20" y="56"/>
                  </a:cubicBezTo>
                  <a:cubicBezTo>
                    <a:pt x="20" y="58"/>
                    <a:pt x="0" y="76"/>
                    <a:pt x="22" y="76"/>
                  </a:cubicBezTo>
                  <a:cubicBezTo>
                    <a:pt x="44" y="76"/>
                    <a:pt x="65" y="71"/>
                    <a:pt x="73" y="71"/>
                  </a:cubicBezTo>
                  <a:cubicBezTo>
                    <a:pt x="81" y="72"/>
                    <a:pt x="105" y="48"/>
                    <a:pt x="113" y="69"/>
                  </a:cubicBezTo>
                  <a:cubicBezTo>
                    <a:pt x="122" y="90"/>
                    <a:pt x="126" y="93"/>
                    <a:pt x="121" y="94"/>
                  </a:cubicBezTo>
                  <a:cubicBezTo>
                    <a:pt x="117" y="96"/>
                    <a:pt x="117" y="104"/>
                    <a:pt x="121" y="107"/>
                  </a:cubicBezTo>
                  <a:cubicBezTo>
                    <a:pt x="125" y="110"/>
                    <a:pt x="144" y="107"/>
                    <a:pt x="149" y="107"/>
                  </a:cubicBezTo>
                  <a:cubicBezTo>
                    <a:pt x="153" y="107"/>
                    <a:pt x="155" y="111"/>
                    <a:pt x="143" y="121"/>
                  </a:cubicBezTo>
                  <a:cubicBezTo>
                    <a:pt x="131" y="131"/>
                    <a:pt x="134" y="142"/>
                    <a:pt x="130" y="147"/>
                  </a:cubicBezTo>
                  <a:cubicBezTo>
                    <a:pt x="125" y="152"/>
                    <a:pt x="123" y="156"/>
                    <a:pt x="120" y="156"/>
                  </a:cubicBezTo>
                  <a:cubicBezTo>
                    <a:pt x="117" y="157"/>
                    <a:pt x="102" y="145"/>
                    <a:pt x="94" y="150"/>
                  </a:cubicBezTo>
                  <a:cubicBezTo>
                    <a:pt x="87" y="154"/>
                    <a:pt x="84" y="173"/>
                    <a:pt x="84" y="176"/>
                  </a:cubicBezTo>
                  <a:cubicBezTo>
                    <a:pt x="84" y="179"/>
                    <a:pt x="81" y="192"/>
                    <a:pt x="88" y="187"/>
                  </a:cubicBezTo>
                  <a:cubicBezTo>
                    <a:pt x="96" y="183"/>
                    <a:pt x="121" y="173"/>
                    <a:pt x="121" y="173"/>
                  </a:cubicBezTo>
                  <a:cubicBezTo>
                    <a:pt x="121" y="173"/>
                    <a:pt x="121" y="186"/>
                    <a:pt x="128" y="188"/>
                  </a:cubicBezTo>
                  <a:cubicBezTo>
                    <a:pt x="134" y="190"/>
                    <a:pt x="133" y="196"/>
                    <a:pt x="142" y="201"/>
                  </a:cubicBezTo>
                  <a:cubicBezTo>
                    <a:pt x="152" y="206"/>
                    <a:pt x="159" y="226"/>
                    <a:pt x="159" y="226"/>
                  </a:cubicBezTo>
                  <a:cubicBezTo>
                    <a:pt x="159" y="226"/>
                    <a:pt x="160" y="227"/>
                    <a:pt x="165" y="227"/>
                  </a:cubicBezTo>
                  <a:cubicBezTo>
                    <a:pt x="171" y="227"/>
                    <a:pt x="182" y="227"/>
                    <a:pt x="182" y="227"/>
                  </a:cubicBezTo>
                  <a:cubicBezTo>
                    <a:pt x="182" y="227"/>
                    <a:pt x="194" y="230"/>
                    <a:pt x="192" y="227"/>
                  </a:cubicBezTo>
                  <a:cubicBezTo>
                    <a:pt x="189" y="223"/>
                    <a:pt x="189" y="221"/>
                    <a:pt x="184" y="212"/>
                  </a:cubicBezTo>
                  <a:cubicBezTo>
                    <a:pt x="178" y="204"/>
                    <a:pt x="161" y="180"/>
                    <a:pt x="172" y="187"/>
                  </a:cubicBezTo>
                  <a:cubicBezTo>
                    <a:pt x="183" y="193"/>
                    <a:pt x="192" y="204"/>
                    <a:pt x="191" y="207"/>
                  </a:cubicBezTo>
                  <a:cubicBezTo>
                    <a:pt x="191" y="210"/>
                    <a:pt x="183" y="212"/>
                    <a:pt x="194" y="209"/>
                  </a:cubicBezTo>
                  <a:cubicBezTo>
                    <a:pt x="205" y="206"/>
                    <a:pt x="213" y="198"/>
                    <a:pt x="210" y="194"/>
                  </a:cubicBezTo>
                  <a:cubicBezTo>
                    <a:pt x="208" y="191"/>
                    <a:pt x="212" y="189"/>
                    <a:pt x="206" y="181"/>
                  </a:cubicBezTo>
                  <a:cubicBezTo>
                    <a:pt x="201" y="173"/>
                    <a:pt x="185" y="162"/>
                    <a:pt x="189" y="151"/>
                  </a:cubicBezTo>
                  <a:cubicBezTo>
                    <a:pt x="192" y="140"/>
                    <a:pt x="194" y="132"/>
                    <a:pt x="194" y="132"/>
                  </a:cubicBezTo>
                  <a:cubicBezTo>
                    <a:pt x="194" y="132"/>
                    <a:pt x="214" y="133"/>
                    <a:pt x="212" y="137"/>
                  </a:cubicBezTo>
                  <a:cubicBezTo>
                    <a:pt x="211" y="141"/>
                    <a:pt x="213" y="154"/>
                    <a:pt x="213" y="154"/>
                  </a:cubicBezTo>
                  <a:cubicBezTo>
                    <a:pt x="213" y="154"/>
                    <a:pt x="217" y="160"/>
                    <a:pt x="225" y="158"/>
                  </a:cubicBezTo>
                  <a:cubicBezTo>
                    <a:pt x="234" y="156"/>
                    <a:pt x="237" y="148"/>
                    <a:pt x="237" y="148"/>
                  </a:cubicBezTo>
                  <a:cubicBezTo>
                    <a:pt x="237" y="148"/>
                    <a:pt x="246" y="141"/>
                    <a:pt x="244" y="136"/>
                  </a:cubicBezTo>
                  <a:cubicBezTo>
                    <a:pt x="243" y="131"/>
                    <a:pt x="247" y="125"/>
                    <a:pt x="247" y="125"/>
                  </a:cubicBezTo>
                  <a:cubicBezTo>
                    <a:pt x="247" y="125"/>
                    <a:pt x="228" y="119"/>
                    <a:pt x="218" y="117"/>
                  </a:cubicBezTo>
                  <a:cubicBezTo>
                    <a:pt x="207" y="115"/>
                    <a:pt x="199" y="119"/>
                    <a:pt x="194" y="111"/>
                  </a:cubicBezTo>
                  <a:cubicBezTo>
                    <a:pt x="189" y="104"/>
                    <a:pt x="189" y="105"/>
                    <a:pt x="190" y="98"/>
                  </a:cubicBezTo>
                  <a:cubicBezTo>
                    <a:pt x="191" y="90"/>
                    <a:pt x="189" y="89"/>
                    <a:pt x="195" y="88"/>
                  </a:cubicBezTo>
                  <a:cubicBezTo>
                    <a:pt x="202" y="86"/>
                    <a:pt x="207" y="90"/>
                    <a:pt x="204" y="82"/>
                  </a:cubicBezTo>
                  <a:cubicBezTo>
                    <a:pt x="201" y="73"/>
                    <a:pt x="186" y="61"/>
                    <a:pt x="183" y="59"/>
                  </a:cubicBezTo>
                  <a:cubicBezTo>
                    <a:pt x="180" y="57"/>
                    <a:pt x="179" y="60"/>
                    <a:pt x="174" y="60"/>
                  </a:cubicBezTo>
                  <a:cubicBezTo>
                    <a:pt x="170" y="60"/>
                    <a:pt x="181" y="45"/>
                    <a:pt x="171" y="45"/>
                  </a:cubicBezTo>
                  <a:cubicBezTo>
                    <a:pt x="161" y="45"/>
                    <a:pt x="156" y="48"/>
                    <a:pt x="153" y="49"/>
                  </a:cubicBezTo>
                  <a:cubicBezTo>
                    <a:pt x="150" y="49"/>
                    <a:pt x="151" y="43"/>
                    <a:pt x="145" y="36"/>
                  </a:cubicBezTo>
                  <a:cubicBezTo>
                    <a:pt x="138" y="28"/>
                    <a:pt x="138" y="34"/>
                    <a:pt x="138" y="28"/>
                  </a:cubicBezTo>
                  <a:cubicBezTo>
                    <a:pt x="137" y="23"/>
                    <a:pt x="153" y="22"/>
                    <a:pt x="140" y="17"/>
                  </a:cubicBezTo>
                  <a:cubicBezTo>
                    <a:pt x="127" y="13"/>
                    <a:pt x="137" y="15"/>
                    <a:pt x="123" y="9"/>
                  </a:cubicBezTo>
                  <a:cubicBezTo>
                    <a:pt x="110" y="3"/>
                    <a:pt x="113" y="3"/>
                    <a:pt x="110" y="3"/>
                  </a:cubicBezTo>
                  <a:cubicBezTo>
                    <a:pt x="106" y="2"/>
                    <a:pt x="103" y="0"/>
                    <a:pt x="97" y="4"/>
                  </a:cubicBezTo>
                  <a:cubicBezTo>
                    <a:pt x="90" y="8"/>
                    <a:pt x="88" y="1"/>
                    <a:pt x="88" y="14"/>
                  </a:cubicBezTo>
                  <a:cubicBezTo>
                    <a:pt x="87" y="27"/>
                    <a:pt x="94" y="36"/>
                    <a:pt x="87" y="35"/>
                  </a:cubicBezTo>
                  <a:cubicBezTo>
                    <a:pt x="81" y="34"/>
                    <a:pt x="73" y="24"/>
                    <a:pt x="73" y="24"/>
                  </a:cubicBezTo>
                  <a:cubicBezTo>
                    <a:pt x="68" y="8"/>
                    <a:pt x="68" y="8"/>
                    <a:pt x="68" y="8"/>
                  </a:cubicBezTo>
                  <a:cubicBezTo>
                    <a:pt x="64" y="7"/>
                    <a:pt x="64" y="7"/>
                    <a:pt x="64" y="7"/>
                  </a:cubicBezTo>
                  <a:lnTo>
                    <a:pt x="57" y="3"/>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2" name="Freeform 125"/>
            <p:cNvSpPr/>
            <p:nvPr/>
          </p:nvSpPr>
          <p:spPr>
            <a:xfrm>
              <a:off x="1712164" y="911118"/>
              <a:ext cx="135654" cy="128104"/>
            </a:xfrm>
            <a:custGeom>
              <a:avLst/>
              <a:gdLst>
                <a:gd name="txL" fmla="*/ 0 w 66"/>
                <a:gd name="txT" fmla="*/ 0 h 53"/>
                <a:gd name="txR" fmla="*/ 66 w 66"/>
                <a:gd name="txB" fmla="*/ 53 h 53"/>
              </a:gdLst>
              <a:ahLst/>
              <a:cxnLst>
                <a:cxn ang="0">
                  <a:pos x="17" y="53"/>
                </a:cxn>
                <a:cxn ang="0">
                  <a:pos x="39" y="37"/>
                </a:cxn>
                <a:cxn ang="0">
                  <a:pos x="50" y="45"/>
                </a:cxn>
                <a:cxn ang="0">
                  <a:pos x="62" y="37"/>
                </a:cxn>
                <a:cxn ang="0">
                  <a:pos x="54" y="25"/>
                </a:cxn>
                <a:cxn ang="0">
                  <a:pos x="42" y="10"/>
                </a:cxn>
                <a:cxn ang="0">
                  <a:pos x="28" y="2"/>
                </a:cxn>
                <a:cxn ang="0">
                  <a:pos x="18" y="12"/>
                </a:cxn>
                <a:cxn ang="0">
                  <a:pos x="12" y="29"/>
                </a:cxn>
                <a:cxn ang="0">
                  <a:pos x="0" y="41"/>
                </a:cxn>
                <a:cxn ang="0">
                  <a:pos x="17" y="53"/>
                </a:cxn>
              </a:cxnLst>
              <a:rect l="txL" t="txT" r="txR" b="txB"/>
              <a:pathLst>
                <a:path w="66" h="53">
                  <a:moveTo>
                    <a:pt x="17" y="53"/>
                  </a:moveTo>
                  <a:cubicBezTo>
                    <a:pt x="24" y="45"/>
                    <a:pt x="34" y="40"/>
                    <a:pt x="39" y="37"/>
                  </a:cubicBezTo>
                  <a:cubicBezTo>
                    <a:pt x="44" y="35"/>
                    <a:pt x="37" y="48"/>
                    <a:pt x="50" y="45"/>
                  </a:cubicBezTo>
                  <a:cubicBezTo>
                    <a:pt x="63" y="42"/>
                    <a:pt x="66" y="41"/>
                    <a:pt x="62" y="37"/>
                  </a:cubicBezTo>
                  <a:cubicBezTo>
                    <a:pt x="58" y="33"/>
                    <a:pt x="61" y="38"/>
                    <a:pt x="54" y="25"/>
                  </a:cubicBezTo>
                  <a:cubicBezTo>
                    <a:pt x="46" y="13"/>
                    <a:pt x="52" y="14"/>
                    <a:pt x="42" y="10"/>
                  </a:cubicBezTo>
                  <a:cubicBezTo>
                    <a:pt x="32" y="6"/>
                    <a:pt x="31" y="4"/>
                    <a:pt x="28" y="2"/>
                  </a:cubicBezTo>
                  <a:cubicBezTo>
                    <a:pt x="25" y="0"/>
                    <a:pt x="18" y="10"/>
                    <a:pt x="18" y="12"/>
                  </a:cubicBezTo>
                  <a:cubicBezTo>
                    <a:pt x="18" y="14"/>
                    <a:pt x="21" y="27"/>
                    <a:pt x="12" y="29"/>
                  </a:cubicBezTo>
                  <a:cubicBezTo>
                    <a:pt x="2" y="32"/>
                    <a:pt x="0" y="41"/>
                    <a:pt x="0" y="41"/>
                  </a:cubicBezTo>
                  <a:lnTo>
                    <a:pt x="17" y="53"/>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3" name="Freeform 126"/>
            <p:cNvSpPr/>
            <p:nvPr/>
          </p:nvSpPr>
          <p:spPr>
            <a:xfrm>
              <a:off x="1747606" y="1049296"/>
              <a:ext cx="58661" cy="35985"/>
            </a:xfrm>
            <a:custGeom>
              <a:avLst/>
              <a:gdLst>
                <a:gd name="txL" fmla="*/ 0 w 29"/>
                <a:gd name="txT" fmla="*/ 0 h 15"/>
                <a:gd name="txR" fmla="*/ 29 w 29"/>
                <a:gd name="txB" fmla="*/ 15 h 15"/>
              </a:gdLst>
              <a:ahLst/>
              <a:cxnLst>
                <a:cxn ang="0">
                  <a:pos x="25" y="0"/>
                </a:cxn>
                <a:cxn ang="0">
                  <a:pos x="8" y="14"/>
                </a:cxn>
                <a:cxn ang="0">
                  <a:pos x="23" y="12"/>
                </a:cxn>
                <a:cxn ang="0">
                  <a:pos x="29" y="2"/>
                </a:cxn>
                <a:cxn ang="0">
                  <a:pos x="25" y="0"/>
                </a:cxn>
              </a:cxnLst>
              <a:rect l="txL" t="txT" r="txR" b="txB"/>
              <a:pathLst>
                <a:path w="29" h="15">
                  <a:moveTo>
                    <a:pt x="25" y="0"/>
                  </a:moveTo>
                  <a:cubicBezTo>
                    <a:pt x="18" y="7"/>
                    <a:pt x="0" y="14"/>
                    <a:pt x="8" y="14"/>
                  </a:cubicBezTo>
                  <a:cubicBezTo>
                    <a:pt x="15" y="15"/>
                    <a:pt x="23" y="12"/>
                    <a:pt x="23" y="12"/>
                  </a:cubicBezTo>
                  <a:cubicBezTo>
                    <a:pt x="29" y="2"/>
                    <a:pt x="29" y="2"/>
                    <a:pt x="29" y="2"/>
                  </a:cubicBezTo>
                  <a:lnTo>
                    <a:pt x="25" y="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4" name="Freeform 127"/>
            <p:cNvSpPr/>
            <p:nvPr/>
          </p:nvSpPr>
          <p:spPr>
            <a:xfrm>
              <a:off x="1808711" y="1088159"/>
              <a:ext cx="47662" cy="47499"/>
            </a:xfrm>
            <a:custGeom>
              <a:avLst/>
              <a:gdLst>
                <a:gd name="txL" fmla="*/ 0 w 23"/>
                <a:gd name="txT" fmla="*/ 0 h 20"/>
                <a:gd name="txR" fmla="*/ 23 w 23"/>
                <a:gd name="txB" fmla="*/ 20 h 20"/>
              </a:gdLst>
              <a:ahLst/>
              <a:cxnLst>
                <a:cxn ang="0">
                  <a:pos x="13" y="0"/>
                </a:cxn>
                <a:cxn ang="0">
                  <a:pos x="9" y="14"/>
                </a:cxn>
                <a:cxn ang="0">
                  <a:pos x="21" y="15"/>
                </a:cxn>
                <a:cxn ang="0">
                  <a:pos x="20" y="6"/>
                </a:cxn>
                <a:cxn ang="0">
                  <a:pos x="13" y="0"/>
                </a:cxn>
              </a:cxnLst>
              <a:rect l="txL" t="txT" r="txR" b="txB"/>
              <a:pathLst>
                <a:path w="23" h="20">
                  <a:moveTo>
                    <a:pt x="13" y="0"/>
                  </a:moveTo>
                  <a:cubicBezTo>
                    <a:pt x="12" y="7"/>
                    <a:pt x="0" y="13"/>
                    <a:pt x="9" y="14"/>
                  </a:cubicBezTo>
                  <a:cubicBezTo>
                    <a:pt x="18" y="16"/>
                    <a:pt x="19" y="20"/>
                    <a:pt x="21" y="15"/>
                  </a:cubicBezTo>
                  <a:cubicBezTo>
                    <a:pt x="23" y="10"/>
                    <a:pt x="19" y="8"/>
                    <a:pt x="20" y="6"/>
                  </a:cubicBezTo>
                  <a:cubicBezTo>
                    <a:pt x="20" y="3"/>
                    <a:pt x="13" y="0"/>
                    <a:pt x="13"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5" name="Freeform 128"/>
            <p:cNvSpPr/>
            <p:nvPr/>
          </p:nvSpPr>
          <p:spPr>
            <a:xfrm>
              <a:off x="2037243" y="1170203"/>
              <a:ext cx="20776" cy="31666"/>
            </a:xfrm>
            <a:custGeom>
              <a:avLst/>
              <a:gdLst>
                <a:gd name="txL" fmla="*/ 0 w 10"/>
                <a:gd name="txT" fmla="*/ 0 h 13"/>
                <a:gd name="txR" fmla="*/ 10 w 10"/>
                <a:gd name="txB" fmla="*/ 13 h 13"/>
              </a:gdLst>
              <a:ahLst/>
              <a:cxnLst>
                <a:cxn ang="0">
                  <a:pos x="3" y="0"/>
                </a:cxn>
                <a:cxn ang="0">
                  <a:pos x="9" y="7"/>
                </a:cxn>
                <a:cxn ang="0">
                  <a:pos x="3" y="0"/>
                </a:cxn>
              </a:cxnLst>
              <a:rect l="txL" t="txT" r="txR" b="txB"/>
              <a:pathLst>
                <a:path w="10" h="13">
                  <a:moveTo>
                    <a:pt x="3" y="0"/>
                  </a:moveTo>
                  <a:cubicBezTo>
                    <a:pt x="0" y="9"/>
                    <a:pt x="10" y="13"/>
                    <a:pt x="9" y="7"/>
                  </a:cubicBezTo>
                  <a:cubicBezTo>
                    <a:pt x="8" y="0"/>
                    <a:pt x="3" y="0"/>
                    <a:pt x="3"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6" name="Freeform 129"/>
            <p:cNvSpPr/>
            <p:nvPr/>
          </p:nvSpPr>
          <p:spPr>
            <a:xfrm>
              <a:off x="2098348" y="1116946"/>
              <a:ext cx="23220" cy="18712"/>
            </a:xfrm>
            <a:custGeom>
              <a:avLst/>
              <a:gdLst>
                <a:gd name="txL" fmla="*/ 0 w 11"/>
                <a:gd name="txT" fmla="*/ 0 h 8"/>
                <a:gd name="txR" fmla="*/ 11 w 11"/>
                <a:gd name="txB" fmla="*/ 8 h 8"/>
              </a:gdLst>
              <a:ahLst/>
              <a:cxnLst>
                <a:cxn ang="0">
                  <a:pos x="0" y="0"/>
                </a:cxn>
                <a:cxn ang="0">
                  <a:pos x="10" y="1"/>
                </a:cxn>
                <a:cxn ang="0">
                  <a:pos x="8" y="8"/>
                </a:cxn>
                <a:cxn ang="0">
                  <a:pos x="0" y="6"/>
                </a:cxn>
                <a:cxn ang="0">
                  <a:pos x="0" y="0"/>
                </a:cxn>
              </a:cxnLst>
              <a:rect l="txL" t="txT" r="txR" b="txB"/>
              <a:pathLst>
                <a:path w="11" h="8">
                  <a:moveTo>
                    <a:pt x="0" y="0"/>
                  </a:moveTo>
                  <a:cubicBezTo>
                    <a:pt x="10" y="1"/>
                    <a:pt x="10" y="1"/>
                    <a:pt x="10" y="1"/>
                  </a:cubicBezTo>
                  <a:cubicBezTo>
                    <a:pt x="10" y="1"/>
                    <a:pt x="11" y="8"/>
                    <a:pt x="8" y="8"/>
                  </a:cubicBezTo>
                  <a:cubicBezTo>
                    <a:pt x="5" y="7"/>
                    <a:pt x="0" y="6"/>
                    <a:pt x="0" y="6"/>
                  </a:cubicBezTo>
                  <a:lnTo>
                    <a:pt x="0" y="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7" name="Freeform 130"/>
            <p:cNvSpPr/>
            <p:nvPr/>
          </p:nvSpPr>
          <p:spPr>
            <a:xfrm>
              <a:off x="1781824" y="1347244"/>
              <a:ext cx="32997" cy="35985"/>
            </a:xfrm>
            <a:custGeom>
              <a:avLst/>
              <a:gdLst>
                <a:gd name="txL" fmla="*/ 0 w 16"/>
                <a:gd name="txT" fmla="*/ 0 h 15"/>
                <a:gd name="txR" fmla="*/ 16 w 16"/>
                <a:gd name="txB" fmla="*/ 15 h 15"/>
              </a:gdLst>
              <a:ahLst/>
              <a:cxnLst>
                <a:cxn ang="0">
                  <a:pos x="14" y="0"/>
                </a:cxn>
                <a:cxn ang="0">
                  <a:pos x="0" y="11"/>
                </a:cxn>
                <a:cxn ang="0">
                  <a:pos x="11" y="11"/>
                </a:cxn>
                <a:cxn ang="0">
                  <a:pos x="14" y="0"/>
                </a:cxn>
              </a:cxnLst>
              <a:rect l="txL" t="txT" r="txR" b="txB"/>
              <a:pathLst>
                <a:path w="16" h="15">
                  <a:moveTo>
                    <a:pt x="14" y="0"/>
                  </a:moveTo>
                  <a:cubicBezTo>
                    <a:pt x="0" y="11"/>
                    <a:pt x="0" y="11"/>
                    <a:pt x="0" y="11"/>
                  </a:cubicBezTo>
                  <a:cubicBezTo>
                    <a:pt x="0" y="11"/>
                    <a:pt x="8" y="15"/>
                    <a:pt x="11" y="11"/>
                  </a:cubicBezTo>
                  <a:cubicBezTo>
                    <a:pt x="14" y="6"/>
                    <a:pt x="16" y="1"/>
                    <a:pt x="14"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8" name="Freeform 131"/>
            <p:cNvSpPr/>
            <p:nvPr/>
          </p:nvSpPr>
          <p:spPr>
            <a:xfrm>
              <a:off x="725929" y="1331412"/>
              <a:ext cx="45218" cy="94998"/>
            </a:xfrm>
            <a:custGeom>
              <a:avLst/>
              <a:gdLst>
                <a:gd name="txL" fmla="*/ 0 w 22"/>
                <a:gd name="txT" fmla="*/ 0 h 39"/>
                <a:gd name="txR" fmla="*/ 22 w 22"/>
                <a:gd name="txB" fmla="*/ 39 h 39"/>
              </a:gdLst>
              <a:ahLst/>
              <a:cxnLst>
                <a:cxn ang="0">
                  <a:pos x="6" y="0"/>
                </a:cxn>
                <a:cxn ang="0">
                  <a:pos x="5" y="10"/>
                </a:cxn>
                <a:cxn ang="0">
                  <a:pos x="7" y="27"/>
                </a:cxn>
                <a:cxn ang="0">
                  <a:pos x="19" y="37"/>
                </a:cxn>
                <a:cxn ang="0">
                  <a:pos x="18" y="27"/>
                </a:cxn>
                <a:cxn ang="0">
                  <a:pos x="12" y="15"/>
                </a:cxn>
                <a:cxn ang="0">
                  <a:pos x="10" y="5"/>
                </a:cxn>
                <a:cxn ang="0">
                  <a:pos x="6" y="0"/>
                </a:cxn>
              </a:cxnLst>
              <a:rect l="txL" t="txT" r="txR" b="txB"/>
              <a:pathLst>
                <a:path w="22" h="39">
                  <a:moveTo>
                    <a:pt x="6" y="0"/>
                  </a:moveTo>
                  <a:cubicBezTo>
                    <a:pt x="0" y="4"/>
                    <a:pt x="5" y="10"/>
                    <a:pt x="5" y="10"/>
                  </a:cubicBezTo>
                  <a:cubicBezTo>
                    <a:pt x="5" y="10"/>
                    <a:pt x="9" y="21"/>
                    <a:pt x="7" y="27"/>
                  </a:cubicBezTo>
                  <a:cubicBezTo>
                    <a:pt x="6" y="34"/>
                    <a:pt x="15" y="39"/>
                    <a:pt x="19" y="37"/>
                  </a:cubicBezTo>
                  <a:cubicBezTo>
                    <a:pt x="22" y="35"/>
                    <a:pt x="20" y="29"/>
                    <a:pt x="18" y="27"/>
                  </a:cubicBezTo>
                  <a:cubicBezTo>
                    <a:pt x="15" y="25"/>
                    <a:pt x="14" y="21"/>
                    <a:pt x="12" y="15"/>
                  </a:cubicBezTo>
                  <a:cubicBezTo>
                    <a:pt x="10" y="8"/>
                    <a:pt x="11" y="8"/>
                    <a:pt x="10" y="5"/>
                  </a:cubicBezTo>
                  <a:cubicBezTo>
                    <a:pt x="9" y="2"/>
                    <a:pt x="6" y="0"/>
                    <a:pt x="6" y="0"/>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29" name="Freeform 132"/>
            <p:cNvSpPr/>
            <p:nvPr/>
          </p:nvSpPr>
          <p:spPr>
            <a:xfrm>
              <a:off x="729595" y="1448000"/>
              <a:ext cx="36663" cy="41742"/>
            </a:xfrm>
            <a:custGeom>
              <a:avLst/>
              <a:gdLst>
                <a:gd name="txL" fmla="*/ 0 w 18"/>
                <a:gd name="txT" fmla="*/ 0 h 17"/>
                <a:gd name="txR" fmla="*/ 18 w 18"/>
                <a:gd name="txB" fmla="*/ 17 h 17"/>
              </a:gdLst>
              <a:ahLst/>
              <a:cxnLst>
                <a:cxn ang="0">
                  <a:pos x="11" y="0"/>
                </a:cxn>
                <a:cxn ang="0">
                  <a:pos x="3" y="6"/>
                </a:cxn>
                <a:cxn ang="0">
                  <a:pos x="11" y="14"/>
                </a:cxn>
                <a:cxn ang="0">
                  <a:pos x="8" y="15"/>
                </a:cxn>
                <a:cxn ang="0">
                  <a:pos x="18" y="7"/>
                </a:cxn>
                <a:cxn ang="0">
                  <a:pos x="11" y="0"/>
                </a:cxn>
              </a:cxnLst>
              <a:rect l="txL" t="txT" r="txR" b="txB"/>
              <a:pathLst>
                <a:path w="18" h="17">
                  <a:moveTo>
                    <a:pt x="11" y="0"/>
                  </a:moveTo>
                  <a:cubicBezTo>
                    <a:pt x="6" y="0"/>
                    <a:pt x="0" y="2"/>
                    <a:pt x="3" y="6"/>
                  </a:cubicBezTo>
                  <a:cubicBezTo>
                    <a:pt x="7" y="10"/>
                    <a:pt x="13" y="12"/>
                    <a:pt x="11" y="14"/>
                  </a:cubicBezTo>
                  <a:cubicBezTo>
                    <a:pt x="8" y="15"/>
                    <a:pt x="3" y="17"/>
                    <a:pt x="8" y="15"/>
                  </a:cubicBezTo>
                  <a:cubicBezTo>
                    <a:pt x="14" y="14"/>
                    <a:pt x="18" y="7"/>
                    <a:pt x="18" y="7"/>
                  </a:cubicBezTo>
                  <a:lnTo>
                    <a:pt x="11" y="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30" name="Freeform 133"/>
            <p:cNvSpPr/>
            <p:nvPr/>
          </p:nvSpPr>
          <p:spPr>
            <a:xfrm>
              <a:off x="745483" y="1494059"/>
              <a:ext cx="18332" cy="14394"/>
            </a:xfrm>
            <a:custGeom>
              <a:avLst/>
              <a:gdLst>
                <a:gd name="txL" fmla="*/ 0 w 9"/>
                <a:gd name="txT" fmla="*/ 0 h 6"/>
                <a:gd name="txR" fmla="*/ 9 w 9"/>
                <a:gd name="txB" fmla="*/ 6 h 6"/>
              </a:gdLst>
              <a:ahLst/>
              <a:cxnLst>
                <a:cxn ang="0">
                  <a:pos x="0" y="1"/>
                </a:cxn>
                <a:cxn ang="0">
                  <a:pos x="7" y="0"/>
                </a:cxn>
                <a:cxn ang="0">
                  <a:pos x="0" y="1"/>
                </a:cxn>
              </a:cxnLst>
              <a:rect l="txL" t="txT" r="txR" b="txB"/>
              <a:pathLst>
                <a:path w="9" h="6">
                  <a:moveTo>
                    <a:pt x="0" y="1"/>
                  </a:moveTo>
                  <a:cubicBezTo>
                    <a:pt x="9" y="6"/>
                    <a:pt x="7" y="0"/>
                    <a:pt x="7" y="0"/>
                  </a:cubicBezTo>
                  <a:lnTo>
                    <a:pt x="0" y="1"/>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31" name="Freeform 134"/>
            <p:cNvSpPr/>
            <p:nvPr/>
          </p:nvSpPr>
          <p:spPr>
            <a:xfrm>
              <a:off x="751593" y="1499817"/>
              <a:ext cx="19554" cy="18712"/>
            </a:xfrm>
            <a:custGeom>
              <a:avLst/>
              <a:gdLst>
                <a:gd name="txL" fmla="*/ 0 w 9"/>
                <a:gd name="txT" fmla="*/ 0 h 8"/>
                <a:gd name="txR" fmla="*/ 9 w 9"/>
                <a:gd name="txB" fmla="*/ 8 h 8"/>
              </a:gdLst>
              <a:ahLst/>
              <a:cxnLst>
                <a:cxn ang="0">
                  <a:pos x="4" y="8"/>
                </a:cxn>
                <a:cxn ang="0">
                  <a:pos x="9" y="6"/>
                </a:cxn>
                <a:cxn ang="0">
                  <a:pos x="2" y="4"/>
                </a:cxn>
                <a:cxn ang="0">
                  <a:pos x="4" y="8"/>
                </a:cxn>
              </a:cxnLst>
              <a:rect l="txL" t="txT" r="txR" b="txB"/>
              <a:pathLst>
                <a:path w="9" h="8">
                  <a:moveTo>
                    <a:pt x="4" y="8"/>
                  </a:moveTo>
                  <a:cubicBezTo>
                    <a:pt x="9" y="6"/>
                    <a:pt x="9" y="6"/>
                    <a:pt x="9" y="6"/>
                  </a:cubicBezTo>
                  <a:cubicBezTo>
                    <a:pt x="9" y="6"/>
                    <a:pt x="4" y="0"/>
                    <a:pt x="2" y="4"/>
                  </a:cubicBezTo>
                  <a:cubicBezTo>
                    <a:pt x="0" y="7"/>
                    <a:pt x="4" y="8"/>
                    <a:pt x="4" y="8"/>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32" name="Freeform 135"/>
            <p:cNvSpPr/>
            <p:nvPr/>
          </p:nvSpPr>
          <p:spPr>
            <a:xfrm>
              <a:off x="0" y="1460954"/>
              <a:ext cx="79437" cy="35985"/>
            </a:xfrm>
            <a:custGeom>
              <a:avLst/>
              <a:gdLst>
                <a:gd name="txL" fmla="*/ 0 w 39"/>
                <a:gd name="txT" fmla="*/ 0 h 15"/>
                <a:gd name="txR" fmla="*/ 39 w 39"/>
                <a:gd name="txB" fmla="*/ 15 h 15"/>
              </a:gdLst>
              <a:ahLst/>
              <a:cxnLst>
                <a:cxn ang="0">
                  <a:pos x="39" y="0"/>
                </a:cxn>
                <a:cxn ang="0">
                  <a:pos x="31" y="8"/>
                </a:cxn>
                <a:cxn ang="0">
                  <a:pos x="15" y="8"/>
                </a:cxn>
                <a:cxn ang="0">
                  <a:pos x="6" y="14"/>
                </a:cxn>
                <a:cxn ang="0">
                  <a:pos x="3" y="6"/>
                </a:cxn>
                <a:cxn ang="0">
                  <a:pos x="17" y="4"/>
                </a:cxn>
                <a:cxn ang="0">
                  <a:pos x="30" y="3"/>
                </a:cxn>
                <a:cxn ang="0">
                  <a:pos x="39" y="0"/>
                </a:cxn>
              </a:cxnLst>
              <a:rect l="txL" t="txT" r="txR" b="txB"/>
              <a:pathLst>
                <a:path w="39" h="15">
                  <a:moveTo>
                    <a:pt x="39" y="0"/>
                  </a:moveTo>
                  <a:cubicBezTo>
                    <a:pt x="39" y="0"/>
                    <a:pt x="35" y="9"/>
                    <a:pt x="31" y="8"/>
                  </a:cubicBezTo>
                  <a:cubicBezTo>
                    <a:pt x="27" y="7"/>
                    <a:pt x="21" y="5"/>
                    <a:pt x="15" y="8"/>
                  </a:cubicBezTo>
                  <a:cubicBezTo>
                    <a:pt x="8" y="11"/>
                    <a:pt x="9" y="12"/>
                    <a:pt x="6" y="14"/>
                  </a:cubicBezTo>
                  <a:cubicBezTo>
                    <a:pt x="2" y="15"/>
                    <a:pt x="0" y="7"/>
                    <a:pt x="3" y="6"/>
                  </a:cubicBezTo>
                  <a:cubicBezTo>
                    <a:pt x="6" y="5"/>
                    <a:pt x="8" y="7"/>
                    <a:pt x="17" y="4"/>
                  </a:cubicBezTo>
                  <a:cubicBezTo>
                    <a:pt x="26" y="1"/>
                    <a:pt x="30" y="3"/>
                    <a:pt x="30" y="3"/>
                  </a:cubicBezTo>
                  <a:lnTo>
                    <a:pt x="39" y="0"/>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33" name="Freeform 136"/>
            <p:cNvSpPr/>
            <p:nvPr/>
          </p:nvSpPr>
          <p:spPr>
            <a:xfrm>
              <a:off x="118544" y="1177399"/>
              <a:ext cx="65993" cy="40302"/>
            </a:xfrm>
            <a:custGeom>
              <a:avLst/>
              <a:gdLst>
                <a:gd name="txL" fmla="*/ 0 w 32"/>
                <a:gd name="txT" fmla="*/ 0 h 17"/>
                <a:gd name="txR" fmla="*/ 32 w 32"/>
                <a:gd name="txB" fmla="*/ 17 h 17"/>
              </a:gdLst>
              <a:ahLst/>
              <a:cxnLst>
                <a:cxn ang="0">
                  <a:pos x="21" y="15"/>
                </a:cxn>
                <a:cxn ang="0">
                  <a:pos x="29" y="4"/>
                </a:cxn>
                <a:cxn ang="0">
                  <a:pos x="15" y="2"/>
                </a:cxn>
                <a:cxn ang="0">
                  <a:pos x="13" y="14"/>
                </a:cxn>
                <a:cxn ang="0">
                  <a:pos x="8" y="15"/>
                </a:cxn>
                <a:cxn ang="0">
                  <a:pos x="21" y="15"/>
                </a:cxn>
              </a:cxnLst>
              <a:rect l="txL" t="txT" r="txR" b="txB"/>
              <a:pathLst>
                <a:path w="32" h="17">
                  <a:moveTo>
                    <a:pt x="21" y="15"/>
                  </a:moveTo>
                  <a:cubicBezTo>
                    <a:pt x="23" y="14"/>
                    <a:pt x="32" y="6"/>
                    <a:pt x="29" y="4"/>
                  </a:cubicBezTo>
                  <a:cubicBezTo>
                    <a:pt x="26" y="2"/>
                    <a:pt x="16" y="0"/>
                    <a:pt x="15" y="2"/>
                  </a:cubicBezTo>
                  <a:cubicBezTo>
                    <a:pt x="14" y="4"/>
                    <a:pt x="18" y="14"/>
                    <a:pt x="13" y="14"/>
                  </a:cubicBezTo>
                  <a:cubicBezTo>
                    <a:pt x="8" y="15"/>
                    <a:pt x="0" y="13"/>
                    <a:pt x="8" y="15"/>
                  </a:cubicBezTo>
                  <a:cubicBezTo>
                    <a:pt x="17" y="17"/>
                    <a:pt x="21" y="15"/>
                    <a:pt x="21" y="15"/>
                  </a:cubicBez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34" name="Freeform 137"/>
            <p:cNvSpPr/>
            <p:nvPr/>
          </p:nvSpPr>
          <p:spPr>
            <a:xfrm>
              <a:off x="81881" y="813241"/>
              <a:ext cx="123433" cy="165527"/>
            </a:xfrm>
            <a:custGeom>
              <a:avLst/>
              <a:gdLst>
                <a:gd name="txL" fmla="*/ 0 w 60"/>
                <a:gd name="txT" fmla="*/ 0 h 68"/>
                <a:gd name="txR" fmla="*/ 60 w 60"/>
                <a:gd name="txB" fmla="*/ 68 h 68"/>
              </a:gdLst>
              <a:ahLst/>
              <a:cxnLst>
                <a:cxn ang="0">
                  <a:pos x="7" y="57"/>
                </a:cxn>
                <a:cxn ang="0">
                  <a:pos x="11" y="68"/>
                </a:cxn>
                <a:cxn ang="0">
                  <a:pos x="20" y="58"/>
                </a:cxn>
                <a:cxn ang="0">
                  <a:pos x="25" y="48"/>
                </a:cxn>
                <a:cxn ang="0">
                  <a:pos x="52" y="38"/>
                </a:cxn>
                <a:cxn ang="0">
                  <a:pos x="57" y="31"/>
                </a:cxn>
                <a:cxn ang="0">
                  <a:pos x="58" y="19"/>
                </a:cxn>
                <a:cxn ang="0">
                  <a:pos x="50" y="16"/>
                </a:cxn>
                <a:cxn ang="0">
                  <a:pos x="37" y="7"/>
                </a:cxn>
                <a:cxn ang="0">
                  <a:pos x="19" y="14"/>
                </a:cxn>
                <a:cxn ang="0">
                  <a:pos x="24" y="0"/>
                </a:cxn>
                <a:cxn ang="0">
                  <a:pos x="21" y="1"/>
                </a:cxn>
                <a:cxn ang="0">
                  <a:pos x="0" y="57"/>
                </a:cxn>
                <a:cxn ang="0">
                  <a:pos x="7" y="57"/>
                </a:cxn>
              </a:cxnLst>
              <a:rect l="txL" t="txT" r="txR" b="txB"/>
              <a:pathLst>
                <a:path w="60" h="68">
                  <a:moveTo>
                    <a:pt x="7" y="57"/>
                  </a:moveTo>
                  <a:cubicBezTo>
                    <a:pt x="7" y="57"/>
                    <a:pt x="8" y="68"/>
                    <a:pt x="11" y="68"/>
                  </a:cubicBezTo>
                  <a:cubicBezTo>
                    <a:pt x="14" y="68"/>
                    <a:pt x="20" y="58"/>
                    <a:pt x="20" y="58"/>
                  </a:cubicBezTo>
                  <a:cubicBezTo>
                    <a:pt x="20" y="58"/>
                    <a:pt x="17" y="54"/>
                    <a:pt x="25" y="48"/>
                  </a:cubicBezTo>
                  <a:cubicBezTo>
                    <a:pt x="33" y="43"/>
                    <a:pt x="52" y="38"/>
                    <a:pt x="52" y="38"/>
                  </a:cubicBezTo>
                  <a:cubicBezTo>
                    <a:pt x="52" y="38"/>
                    <a:pt x="55" y="35"/>
                    <a:pt x="57" y="31"/>
                  </a:cubicBezTo>
                  <a:cubicBezTo>
                    <a:pt x="58" y="27"/>
                    <a:pt x="60" y="20"/>
                    <a:pt x="58" y="19"/>
                  </a:cubicBezTo>
                  <a:cubicBezTo>
                    <a:pt x="56" y="19"/>
                    <a:pt x="50" y="16"/>
                    <a:pt x="50" y="16"/>
                  </a:cubicBezTo>
                  <a:cubicBezTo>
                    <a:pt x="50" y="16"/>
                    <a:pt x="48" y="6"/>
                    <a:pt x="37" y="7"/>
                  </a:cubicBezTo>
                  <a:cubicBezTo>
                    <a:pt x="25" y="9"/>
                    <a:pt x="19" y="14"/>
                    <a:pt x="19" y="14"/>
                  </a:cubicBezTo>
                  <a:cubicBezTo>
                    <a:pt x="24" y="0"/>
                    <a:pt x="24" y="0"/>
                    <a:pt x="24" y="0"/>
                  </a:cubicBezTo>
                  <a:cubicBezTo>
                    <a:pt x="21" y="1"/>
                    <a:pt x="21" y="1"/>
                    <a:pt x="21" y="1"/>
                  </a:cubicBezTo>
                  <a:cubicBezTo>
                    <a:pt x="0" y="57"/>
                    <a:pt x="0" y="57"/>
                    <a:pt x="0" y="57"/>
                  </a:cubicBezTo>
                  <a:lnTo>
                    <a:pt x="7" y="57"/>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sp>
          <p:nvSpPr>
            <p:cNvPr id="135" name="Freeform 138"/>
            <p:cNvSpPr/>
            <p:nvPr/>
          </p:nvSpPr>
          <p:spPr>
            <a:xfrm>
              <a:off x="2857273" y="820437"/>
              <a:ext cx="300637" cy="250449"/>
            </a:xfrm>
            <a:custGeom>
              <a:avLst/>
              <a:gdLst>
                <a:gd name="txL" fmla="*/ 0 w 146"/>
                <a:gd name="txT" fmla="*/ 0 h 103"/>
                <a:gd name="txR" fmla="*/ 146 w 146"/>
                <a:gd name="txB" fmla="*/ 103 h 103"/>
              </a:gdLst>
              <a:ahLst/>
              <a:cxnLst>
                <a:cxn ang="0">
                  <a:pos x="39" y="87"/>
                </a:cxn>
                <a:cxn ang="0">
                  <a:pos x="21" y="84"/>
                </a:cxn>
                <a:cxn ang="0">
                  <a:pos x="31" y="76"/>
                </a:cxn>
                <a:cxn ang="0">
                  <a:pos x="29" y="71"/>
                </a:cxn>
                <a:cxn ang="0">
                  <a:pos x="22" y="62"/>
                </a:cxn>
                <a:cxn ang="0">
                  <a:pos x="13" y="62"/>
                </a:cxn>
                <a:cxn ang="0">
                  <a:pos x="9" y="53"/>
                </a:cxn>
                <a:cxn ang="0">
                  <a:pos x="23" y="50"/>
                </a:cxn>
                <a:cxn ang="0">
                  <a:pos x="32" y="44"/>
                </a:cxn>
                <a:cxn ang="0">
                  <a:pos x="25" y="38"/>
                </a:cxn>
                <a:cxn ang="0">
                  <a:pos x="2" y="34"/>
                </a:cxn>
                <a:cxn ang="0">
                  <a:pos x="9" y="27"/>
                </a:cxn>
                <a:cxn ang="0">
                  <a:pos x="15" y="15"/>
                </a:cxn>
                <a:cxn ang="0">
                  <a:pos x="35" y="5"/>
                </a:cxn>
                <a:cxn ang="0">
                  <a:pos x="40" y="10"/>
                </a:cxn>
                <a:cxn ang="0">
                  <a:pos x="46" y="29"/>
                </a:cxn>
                <a:cxn ang="0">
                  <a:pos x="59" y="29"/>
                </a:cxn>
                <a:cxn ang="0">
                  <a:pos x="67" y="18"/>
                </a:cxn>
                <a:cxn ang="0">
                  <a:pos x="95" y="20"/>
                </a:cxn>
                <a:cxn ang="0">
                  <a:pos x="104" y="13"/>
                </a:cxn>
                <a:cxn ang="0">
                  <a:pos x="103" y="7"/>
                </a:cxn>
                <a:cxn ang="0">
                  <a:pos x="123" y="5"/>
                </a:cxn>
                <a:cxn ang="0">
                  <a:pos x="127" y="6"/>
                </a:cxn>
                <a:cxn ang="0">
                  <a:pos x="136" y="20"/>
                </a:cxn>
                <a:cxn ang="0">
                  <a:pos x="131" y="29"/>
                </a:cxn>
                <a:cxn ang="0">
                  <a:pos x="143" y="36"/>
                </a:cxn>
                <a:cxn ang="0">
                  <a:pos x="142" y="54"/>
                </a:cxn>
                <a:cxn ang="0">
                  <a:pos x="130" y="65"/>
                </a:cxn>
                <a:cxn ang="0">
                  <a:pos x="116" y="77"/>
                </a:cxn>
                <a:cxn ang="0">
                  <a:pos x="109" y="85"/>
                </a:cxn>
                <a:cxn ang="0">
                  <a:pos x="92" y="92"/>
                </a:cxn>
                <a:cxn ang="0">
                  <a:pos x="86" y="95"/>
                </a:cxn>
                <a:cxn ang="0">
                  <a:pos x="69" y="97"/>
                </a:cxn>
                <a:cxn ang="0">
                  <a:pos x="43" y="92"/>
                </a:cxn>
                <a:cxn ang="0">
                  <a:pos x="39" y="87"/>
                </a:cxn>
              </a:cxnLst>
              <a:rect l="txL" t="txT" r="txR" b="txB"/>
              <a:pathLst>
                <a:path w="146" h="103">
                  <a:moveTo>
                    <a:pt x="39" y="87"/>
                  </a:moveTo>
                  <a:cubicBezTo>
                    <a:pt x="24" y="89"/>
                    <a:pt x="23" y="86"/>
                    <a:pt x="21" y="84"/>
                  </a:cubicBezTo>
                  <a:cubicBezTo>
                    <a:pt x="19" y="82"/>
                    <a:pt x="31" y="76"/>
                    <a:pt x="31" y="76"/>
                  </a:cubicBezTo>
                  <a:cubicBezTo>
                    <a:pt x="31" y="76"/>
                    <a:pt x="36" y="79"/>
                    <a:pt x="29" y="71"/>
                  </a:cubicBezTo>
                  <a:cubicBezTo>
                    <a:pt x="22" y="62"/>
                    <a:pt x="26" y="63"/>
                    <a:pt x="22" y="62"/>
                  </a:cubicBezTo>
                  <a:cubicBezTo>
                    <a:pt x="18" y="62"/>
                    <a:pt x="18" y="63"/>
                    <a:pt x="13" y="62"/>
                  </a:cubicBezTo>
                  <a:cubicBezTo>
                    <a:pt x="7" y="60"/>
                    <a:pt x="6" y="54"/>
                    <a:pt x="9" y="53"/>
                  </a:cubicBezTo>
                  <a:cubicBezTo>
                    <a:pt x="11" y="52"/>
                    <a:pt x="23" y="50"/>
                    <a:pt x="23" y="50"/>
                  </a:cubicBezTo>
                  <a:cubicBezTo>
                    <a:pt x="23" y="50"/>
                    <a:pt x="34" y="47"/>
                    <a:pt x="32" y="44"/>
                  </a:cubicBezTo>
                  <a:cubicBezTo>
                    <a:pt x="29" y="40"/>
                    <a:pt x="29" y="38"/>
                    <a:pt x="25" y="38"/>
                  </a:cubicBezTo>
                  <a:cubicBezTo>
                    <a:pt x="21" y="38"/>
                    <a:pt x="0" y="36"/>
                    <a:pt x="2" y="34"/>
                  </a:cubicBezTo>
                  <a:cubicBezTo>
                    <a:pt x="3" y="32"/>
                    <a:pt x="8" y="30"/>
                    <a:pt x="9" y="27"/>
                  </a:cubicBezTo>
                  <a:cubicBezTo>
                    <a:pt x="10" y="24"/>
                    <a:pt x="15" y="18"/>
                    <a:pt x="15" y="15"/>
                  </a:cubicBezTo>
                  <a:cubicBezTo>
                    <a:pt x="16" y="11"/>
                    <a:pt x="35" y="5"/>
                    <a:pt x="35" y="5"/>
                  </a:cubicBezTo>
                  <a:cubicBezTo>
                    <a:pt x="35" y="5"/>
                    <a:pt x="31" y="5"/>
                    <a:pt x="40" y="10"/>
                  </a:cubicBezTo>
                  <a:cubicBezTo>
                    <a:pt x="49" y="15"/>
                    <a:pt x="39" y="27"/>
                    <a:pt x="46" y="29"/>
                  </a:cubicBezTo>
                  <a:cubicBezTo>
                    <a:pt x="54" y="32"/>
                    <a:pt x="61" y="31"/>
                    <a:pt x="59" y="29"/>
                  </a:cubicBezTo>
                  <a:cubicBezTo>
                    <a:pt x="58" y="27"/>
                    <a:pt x="51" y="15"/>
                    <a:pt x="67" y="18"/>
                  </a:cubicBezTo>
                  <a:cubicBezTo>
                    <a:pt x="84" y="20"/>
                    <a:pt x="93" y="19"/>
                    <a:pt x="95" y="20"/>
                  </a:cubicBezTo>
                  <a:cubicBezTo>
                    <a:pt x="97" y="20"/>
                    <a:pt x="104" y="13"/>
                    <a:pt x="104" y="13"/>
                  </a:cubicBezTo>
                  <a:cubicBezTo>
                    <a:pt x="104" y="13"/>
                    <a:pt x="98" y="12"/>
                    <a:pt x="103" y="7"/>
                  </a:cubicBezTo>
                  <a:cubicBezTo>
                    <a:pt x="109" y="3"/>
                    <a:pt x="123" y="5"/>
                    <a:pt x="123" y="5"/>
                  </a:cubicBezTo>
                  <a:cubicBezTo>
                    <a:pt x="123" y="5"/>
                    <a:pt x="125" y="0"/>
                    <a:pt x="127" y="6"/>
                  </a:cubicBezTo>
                  <a:cubicBezTo>
                    <a:pt x="129" y="12"/>
                    <a:pt x="140" y="18"/>
                    <a:pt x="136" y="20"/>
                  </a:cubicBezTo>
                  <a:cubicBezTo>
                    <a:pt x="132" y="23"/>
                    <a:pt x="124" y="23"/>
                    <a:pt x="131" y="29"/>
                  </a:cubicBezTo>
                  <a:cubicBezTo>
                    <a:pt x="139" y="34"/>
                    <a:pt x="146" y="33"/>
                    <a:pt x="143" y="36"/>
                  </a:cubicBezTo>
                  <a:cubicBezTo>
                    <a:pt x="140" y="40"/>
                    <a:pt x="145" y="51"/>
                    <a:pt x="142" y="54"/>
                  </a:cubicBezTo>
                  <a:cubicBezTo>
                    <a:pt x="138" y="58"/>
                    <a:pt x="143" y="62"/>
                    <a:pt x="130" y="65"/>
                  </a:cubicBezTo>
                  <a:cubicBezTo>
                    <a:pt x="118" y="68"/>
                    <a:pt x="120" y="75"/>
                    <a:pt x="116" y="77"/>
                  </a:cubicBezTo>
                  <a:cubicBezTo>
                    <a:pt x="112" y="80"/>
                    <a:pt x="113" y="84"/>
                    <a:pt x="109" y="85"/>
                  </a:cubicBezTo>
                  <a:cubicBezTo>
                    <a:pt x="104" y="86"/>
                    <a:pt x="92" y="92"/>
                    <a:pt x="92" y="92"/>
                  </a:cubicBezTo>
                  <a:cubicBezTo>
                    <a:pt x="92" y="92"/>
                    <a:pt x="96" y="94"/>
                    <a:pt x="86" y="95"/>
                  </a:cubicBezTo>
                  <a:cubicBezTo>
                    <a:pt x="76" y="97"/>
                    <a:pt x="88" y="103"/>
                    <a:pt x="69" y="97"/>
                  </a:cubicBezTo>
                  <a:cubicBezTo>
                    <a:pt x="50" y="92"/>
                    <a:pt x="43" y="92"/>
                    <a:pt x="43" y="92"/>
                  </a:cubicBezTo>
                  <a:lnTo>
                    <a:pt x="39" y="87"/>
                  </a:lnTo>
                  <a:close/>
                </a:path>
              </a:pathLst>
            </a:custGeom>
            <a:grpFill/>
            <a:ln w="9525">
              <a:noFill/>
            </a:ln>
          </p:spPr>
          <p:txBody>
            <a:bodyPr/>
            <a:lstStyle/>
            <a:p>
              <a:pPr>
                <a:defRPr/>
              </a:pPr>
              <a:endParaRPr sz="1015">
                <a:solidFill>
                  <a:srgbClr val="000000"/>
                </a:solidFill>
                <a:sym typeface="Calibri" panose="020F0502020204030204" pitchFamily="34" charset="0"/>
              </a:endParaRPr>
            </a:p>
          </p:txBody>
        </p:sp>
      </p:grpSp>
      <p:cxnSp>
        <p:nvCxnSpPr>
          <p:cNvPr id="136" name="直接箭头连接符 69"/>
          <p:cNvCxnSpPr>
            <a:cxnSpLocks noChangeShapeType="1"/>
            <a:stCxn id="152" idx="3"/>
            <a:endCxn id="138" idx="2"/>
          </p:cNvCxnSpPr>
          <p:nvPr/>
        </p:nvCxnSpPr>
        <p:spPr bwMode="auto">
          <a:xfrm flipV="1">
            <a:off x="5049492" y="3334345"/>
            <a:ext cx="3176588" cy="447675"/>
          </a:xfrm>
          <a:prstGeom prst="straightConnector1">
            <a:avLst/>
          </a:prstGeom>
          <a:noFill/>
          <a:ln w="19050" cap="rnd">
            <a:solidFill>
              <a:srgbClr val="FF9933"/>
            </a:solidFill>
            <a:round/>
            <a:tailEnd type="triangle" w="lg" len="lg"/>
          </a:ln>
          <a:extLst>
            <a:ext uri="{909E8E84-426E-40DD-AFC4-6F175D3DCCD1}">
              <a14:hiddenFill xmlns:a14="http://schemas.microsoft.com/office/drawing/2010/main">
                <a:noFill/>
              </a14:hiddenFill>
            </a:ext>
          </a:extLst>
        </p:spPr>
      </p:cxnSp>
      <p:cxnSp>
        <p:nvCxnSpPr>
          <p:cNvPr id="137" name="直接箭头连接符 69"/>
          <p:cNvCxnSpPr>
            <a:cxnSpLocks noChangeShapeType="1"/>
            <a:stCxn id="152" idx="3"/>
            <a:endCxn id="144" idx="3"/>
          </p:cNvCxnSpPr>
          <p:nvPr/>
        </p:nvCxnSpPr>
        <p:spPr bwMode="auto">
          <a:xfrm flipV="1">
            <a:off x="4959005" y="2618383"/>
            <a:ext cx="3198812" cy="1112837"/>
          </a:xfrm>
          <a:prstGeom prst="straightConnector1">
            <a:avLst/>
          </a:prstGeom>
          <a:noFill/>
          <a:ln w="19050" cap="rnd">
            <a:solidFill>
              <a:srgbClr val="FF9933"/>
            </a:solidFill>
            <a:round/>
            <a:tailEnd type="triangle" w="lg" len="lg"/>
          </a:ln>
          <a:extLst>
            <a:ext uri="{909E8E84-426E-40DD-AFC4-6F175D3DCCD1}">
              <a14:hiddenFill xmlns:a14="http://schemas.microsoft.com/office/drawing/2010/main">
                <a:noFill/>
              </a14:hiddenFill>
            </a:ext>
          </a:extLst>
        </p:spPr>
      </p:cxnSp>
      <p:sp>
        <p:nvSpPr>
          <p:cNvPr id="138" name="椭圆 55"/>
          <p:cNvSpPr/>
          <p:nvPr/>
        </p:nvSpPr>
        <p:spPr>
          <a:xfrm>
            <a:off x="8226080" y="3259733"/>
            <a:ext cx="138112" cy="149225"/>
          </a:xfrm>
          <a:prstGeom prst="ellipse">
            <a:avLst/>
          </a:prstGeom>
          <a:solidFill>
            <a:srgbClr val="0070C0"/>
          </a:solidFill>
          <a:ln w="12700">
            <a:solidFill>
              <a:srgbClr val="00B0F0"/>
            </a:solidFill>
          </a:ln>
        </p:spPr>
        <p:txBody>
          <a:bodyPr anchor="ctr"/>
          <a:lstStyle/>
          <a:p>
            <a:pPr algn="ctr">
              <a:defRPr/>
            </a:pPr>
            <a:endParaRPr sz="1015" dirty="0">
              <a:solidFill>
                <a:srgbClr val="FFFFFF"/>
              </a:solidFill>
              <a:latin typeface="微软雅黑 Light" panose="020B0502040204020203" pitchFamily="34" charset="-122"/>
              <a:sym typeface="宋体" panose="02010600030101010101" pitchFamily="2" charset="-122"/>
            </a:endParaRPr>
          </a:p>
        </p:txBody>
      </p:sp>
      <p:sp>
        <p:nvSpPr>
          <p:cNvPr id="139" name="椭圆 56"/>
          <p:cNvSpPr/>
          <p:nvPr/>
        </p:nvSpPr>
        <p:spPr>
          <a:xfrm>
            <a:off x="5668617" y="4907558"/>
            <a:ext cx="138113" cy="150812"/>
          </a:xfrm>
          <a:prstGeom prst="ellipse">
            <a:avLst/>
          </a:prstGeom>
          <a:solidFill>
            <a:srgbClr val="0070C0"/>
          </a:solidFill>
          <a:ln w="12700">
            <a:solidFill>
              <a:srgbClr val="00B0F0"/>
            </a:solidFill>
          </a:ln>
        </p:spPr>
        <p:txBody>
          <a:bodyPr anchor="ctr"/>
          <a:lstStyle/>
          <a:p>
            <a:pPr algn="ctr">
              <a:defRPr/>
            </a:pPr>
            <a:endParaRPr sz="1015" dirty="0">
              <a:solidFill>
                <a:srgbClr val="FFFFFF"/>
              </a:solidFill>
              <a:latin typeface="微软雅黑 Light" panose="020B0502040204020203" pitchFamily="34" charset="-122"/>
              <a:sym typeface="宋体" panose="02010600030101010101" pitchFamily="2" charset="-122"/>
            </a:endParaRPr>
          </a:p>
        </p:txBody>
      </p:sp>
      <p:sp>
        <p:nvSpPr>
          <p:cNvPr id="140" name="椭圆 57"/>
          <p:cNvSpPr/>
          <p:nvPr/>
        </p:nvSpPr>
        <p:spPr>
          <a:xfrm>
            <a:off x="8903942" y="4329708"/>
            <a:ext cx="138113" cy="150812"/>
          </a:xfrm>
          <a:prstGeom prst="ellipse">
            <a:avLst/>
          </a:prstGeom>
          <a:solidFill>
            <a:srgbClr val="0070C0"/>
          </a:solidFill>
          <a:ln w="12700">
            <a:solidFill>
              <a:srgbClr val="00B0F0"/>
            </a:solidFill>
          </a:ln>
        </p:spPr>
        <p:txBody>
          <a:bodyPr anchor="ctr"/>
          <a:lstStyle/>
          <a:p>
            <a:pPr algn="ctr">
              <a:defRPr/>
            </a:pPr>
            <a:endParaRPr sz="1015" dirty="0">
              <a:solidFill>
                <a:srgbClr val="FFFFFF"/>
              </a:solidFill>
              <a:latin typeface="微软雅黑 Light" panose="020B0502040204020203" pitchFamily="34" charset="-122"/>
              <a:sym typeface="宋体" panose="02010600030101010101" pitchFamily="2" charset="-122"/>
            </a:endParaRPr>
          </a:p>
        </p:txBody>
      </p:sp>
      <p:sp>
        <p:nvSpPr>
          <p:cNvPr id="141" name="椭圆 58"/>
          <p:cNvSpPr/>
          <p:nvPr/>
        </p:nvSpPr>
        <p:spPr>
          <a:xfrm>
            <a:off x="3028605" y="2786658"/>
            <a:ext cx="139700" cy="152400"/>
          </a:xfrm>
          <a:prstGeom prst="ellipse">
            <a:avLst/>
          </a:prstGeom>
          <a:solidFill>
            <a:srgbClr val="0070C0"/>
          </a:solidFill>
          <a:ln w="12700">
            <a:solidFill>
              <a:srgbClr val="00B0F0"/>
            </a:solidFill>
          </a:ln>
        </p:spPr>
        <p:txBody>
          <a:bodyPr anchor="ctr"/>
          <a:lstStyle/>
          <a:p>
            <a:pPr algn="ctr">
              <a:defRPr/>
            </a:pPr>
            <a:endParaRPr sz="1015" dirty="0">
              <a:solidFill>
                <a:srgbClr val="FFFFFF"/>
              </a:solidFill>
              <a:latin typeface="微软雅黑 Light" panose="020B0502040204020203" pitchFamily="34" charset="-122"/>
              <a:sym typeface="宋体" panose="02010600030101010101" pitchFamily="2" charset="-122"/>
            </a:endParaRPr>
          </a:p>
        </p:txBody>
      </p:sp>
      <p:sp>
        <p:nvSpPr>
          <p:cNvPr id="142" name="椭圆 59"/>
          <p:cNvSpPr/>
          <p:nvPr/>
        </p:nvSpPr>
        <p:spPr>
          <a:xfrm>
            <a:off x="4222405" y="2612033"/>
            <a:ext cx="138112" cy="150812"/>
          </a:xfrm>
          <a:prstGeom prst="ellipse">
            <a:avLst/>
          </a:prstGeom>
          <a:solidFill>
            <a:srgbClr val="0070C0"/>
          </a:solidFill>
          <a:ln w="12700">
            <a:solidFill>
              <a:srgbClr val="00B0F0"/>
            </a:solidFill>
          </a:ln>
        </p:spPr>
        <p:txBody>
          <a:bodyPr anchor="ctr"/>
          <a:lstStyle/>
          <a:p>
            <a:pPr algn="ctr">
              <a:defRPr/>
            </a:pPr>
            <a:endParaRPr sz="1015" dirty="0">
              <a:solidFill>
                <a:srgbClr val="FFFFFF"/>
              </a:solidFill>
              <a:latin typeface="微软雅黑 Light" panose="020B0502040204020203" pitchFamily="34" charset="-122"/>
              <a:sym typeface="宋体" panose="02010600030101010101" pitchFamily="2" charset="-122"/>
            </a:endParaRPr>
          </a:p>
        </p:txBody>
      </p:sp>
      <p:sp>
        <p:nvSpPr>
          <p:cNvPr id="143" name="椭圆 60"/>
          <p:cNvSpPr/>
          <p:nvPr/>
        </p:nvSpPr>
        <p:spPr>
          <a:xfrm>
            <a:off x="3260380" y="4209058"/>
            <a:ext cx="138112" cy="149225"/>
          </a:xfrm>
          <a:prstGeom prst="ellipse">
            <a:avLst/>
          </a:prstGeom>
          <a:solidFill>
            <a:srgbClr val="0070C0"/>
          </a:solidFill>
          <a:ln w="12700">
            <a:solidFill>
              <a:srgbClr val="00B0F0"/>
            </a:solidFill>
          </a:ln>
        </p:spPr>
        <p:txBody>
          <a:bodyPr anchor="ctr"/>
          <a:lstStyle/>
          <a:p>
            <a:pPr algn="ctr">
              <a:defRPr/>
            </a:pPr>
            <a:endParaRPr sz="1015" dirty="0">
              <a:solidFill>
                <a:srgbClr val="FFFFFF"/>
              </a:solidFill>
              <a:latin typeface="微软雅黑 Light" panose="020B0502040204020203" pitchFamily="34" charset="-122"/>
              <a:sym typeface="宋体" panose="02010600030101010101" pitchFamily="2" charset="-122"/>
            </a:endParaRPr>
          </a:p>
        </p:txBody>
      </p:sp>
      <p:sp>
        <p:nvSpPr>
          <p:cNvPr id="144" name="椭圆 61"/>
          <p:cNvSpPr/>
          <p:nvPr/>
        </p:nvSpPr>
        <p:spPr>
          <a:xfrm>
            <a:off x="8137180" y="2491383"/>
            <a:ext cx="139700" cy="149225"/>
          </a:xfrm>
          <a:prstGeom prst="ellipse">
            <a:avLst/>
          </a:prstGeom>
          <a:solidFill>
            <a:srgbClr val="0070C0"/>
          </a:solidFill>
          <a:ln w="12700">
            <a:solidFill>
              <a:srgbClr val="00B0F0"/>
            </a:solidFill>
          </a:ln>
        </p:spPr>
        <p:txBody>
          <a:bodyPr anchor="ctr"/>
          <a:lstStyle/>
          <a:p>
            <a:pPr algn="ctr">
              <a:defRPr/>
            </a:pPr>
            <a:endParaRPr sz="1015" dirty="0">
              <a:solidFill>
                <a:srgbClr val="FFFFFF"/>
              </a:solidFill>
              <a:latin typeface="微软雅黑 Light" panose="020B0502040204020203" pitchFamily="34" charset="-122"/>
              <a:sym typeface="宋体" panose="02010600030101010101" pitchFamily="2" charset="-122"/>
            </a:endParaRPr>
          </a:p>
        </p:txBody>
      </p:sp>
      <p:sp>
        <p:nvSpPr>
          <p:cNvPr id="145" name="椭圆 62"/>
          <p:cNvSpPr/>
          <p:nvPr/>
        </p:nvSpPr>
        <p:spPr>
          <a:xfrm>
            <a:off x="5236817" y="3369270"/>
            <a:ext cx="139700" cy="150813"/>
          </a:xfrm>
          <a:prstGeom prst="ellipse">
            <a:avLst/>
          </a:prstGeom>
          <a:solidFill>
            <a:srgbClr val="0070C0"/>
          </a:solidFill>
          <a:ln w="12700">
            <a:solidFill>
              <a:srgbClr val="00B0F0"/>
            </a:solidFill>
          </a:ln>
        </p:spPr>
        <p:txBody>
          <a:bodyPr anchor="ctr"/>
          <a:lstStyle/>
          <a:p>
            <a:pPr algn="ctr">
              <a:defRPr/>
            </a:pPr>
            <a:endParaRPr sz="1015" dirty="0">
              <a:solidFill>
                <a:srgbClr val="FFFFFF"/>
              </a:solidFill>
              <a:latin typeface="微软雅黑 Light" panose="020B0502040204020203" pitchFamily="34" charset="-122"/>
              <a:sym typeface="宋体" panose="02010600030101010101" pitchFamily="2" charset="-122"/>
            </a:endParaRPr>
          </a:p>
        </p:txBody>
      </p:sp>
      <p:cxnSp>
        <p:nvCxnSpPr>
          <p:cNvPr id="146" name="直接箭头连接符 64"/>
          <p:cNvCxnSpPr>
            <a:cxnSpLocks noChangeShapeType="1"/>
            <a:stCxn id="152" idx="3"/>
            <a:endCxn id="145" idx="3"/>
          </p:cNvCxnSpPr>
          <p:nvPr/>
        </p:nvCxnSpPr>
        <p:spPr bwMode="auto">
          <a:xfrm flipV="1">
            <a:off x="4897092" y="3485158"/>
            <a:ext cx="360363" cy="196850"/>
          </a:xfrm>
          <a:prstGeom prst="straightConnector1">
            <a:avLst/>
          </a:prstGeom>
          <a:noFill/>
          <a:ln w="19050" cap="rnd">
            <a:solidFill>
              <a:srgbClr val="00B0F0"/>
            </a:solidFill>
            <a:round/>
            <a:tailEnd type="triangle" w="lg" len="lg"/>
          </a:ln>
          <a:extLst>
            <a:ext uri="{909E8E84-426E-40DD-AFC4-6F175D3DCCD1}">
              <a14:hiddenFill xmlns:a14="http://schemas.microsoft.com/office/drawing/2010/main">
                <a:noFill/>
              </a14:hiddenFill>
            </a:ext>
          </a:extLst>
        </p:spPr>
      </p:cxnSp>
      <p:cxnSp>
        <p:nvCxnSpPr>
          <p:cNvPr id="147" name="直接箭头连接符 65"/>
          <p:cNvCxnSpPr>
            <a:cxnSpLocks noChangeShapeType="1"/>
            <a:stCxn id="152" idx="3"/>
            <a:endCxn id="143" idx="7"/>
          </p:cNvCxnSpPr>
          <p:nvPr/>
        </p:nvCxnSpPr>
        <p:spPr bwMode="auto">
          <a:xfrm flipH="1">
            <a:off x="3379442" y="3853458"/>
            <a:ext cx="1284288" cy="365125"/>
          </a:xfrm>
          <a:prstGeom prst="straightConnector1">
            <a:avLst/>
          </a:prstGeom>
          <a:noFill/>
          <a:ln w="19050" cap="rnd">
            <a:solidFill>
              <a:srgbClr val="FF9933"/>
            </a:solidFill>
            <a:round/>
            <a:tailEnd type="triangle" w="lg" len="lg"/>
          </a:ln>
          <a:extLst>
            <a:ext uri="{909E8E84-426E-40DD-AFC4-6F175D3DCCD1}">
              <a14:hiddenFill xmlns:a14="http://schemas.microsoft.com/office/drawing/2010/main">
                <a:noFill/>
              </a14:hiddenFill>
            </a:ext>
          </a:extLst>
        </p:spPr>
      </p:cxnSp>
      <p:cxnSp>
        <p:nvCxnSpPr>
          <p:cNvPr id="148" name="直接箭头连接符 66"/>
          <p:cNvCxnSpPr>
            <a:cxnSpLocks noChangeShapeType="1"/>
            <a:stCxn id="152" idx="3"/>
            <a:endCxn id="141" idx="5"/>
          </p:cNvCxnSpPr>
          <p:nvPr/>
        </p:nvCxnSpPr>
        <p:spPr bwMode="auto">
          <a:xfrm flipH="1" flipV="1">
            <a:off x="3147667" y="2904133"/>
            <a:ext cx="1522413" cy="777875"/>
          </a:xfrm>
          <a:prstGeom prst="straightConnector1">
            <a:avLst/>
          </a:prstGeom>
          <a:noFill/>
          <a:ln w="19050" cap="rnd">
            <a:solidFill>
              <a:srgbClr val="FF9933"/>
            </a:solidFill>
            <a:round/>
            <a:tailEnd type="triangle" w="lg" len="lg"/>
          </a:ln>
          <a:extLst>
            <a:ext uri="{909E8E84-426E-40DD-AFC4-6F175D3DCCD1}">
              <a14:hiddenFill xmlns:a14="http://schemas.microsoft.com/office/drawing/2010/main">
                <a:noFill/>
              </a14:hiddenFill>
            </a:ext>
          </a:extLst>
        </p:spPr>
      </p:cxnSp>
      <p:cxnSp>
        <p:nvCxnSpPr>
          <p:cNvPr id="149" name="直接箭头连接符 67"/>
          <p:cNvCxnSpPr>
            <a:cxnSpLocks noChangeShapeType="1"/>
            <a:stCxn id="152" idx="3"/>
            <a:endCxn id="141" idx="5"/>
          </p:cNvCxnSpPr>
          <p:nvPr/>
        </p:nvCxnSpPr>
        <p:spPr bwMode="auto">
          <a:xfrm flipH="1" flipV="1">
            <a:off x="4374805" y="2861270"/>
            <a:ext cx="361950" cy="757238"/>
          </a:xfrm>
          <a:prstGeom prst="straightConnector1">
            <a:avLst/>
          </a:prstGeom>
          <a:noFill/>
          <a:ln w="19050" cap="rnd">
            <a:solidFill>
              <a:srgbClr val="FF9933"/>
            </a:solidFill>
            <a:round/>
            <a:tailEnd type="triangle" w="lg" len="lg"/>
          </a:ln>
          <a:extLst>
            <a:ext uri="{909E8E84-426E-40DD-AFC4-6F175D3DCCD1}">
              <a14:hiddenFill xmlns:a14="http://schemas.microsoft.com/office/drawing/2010/main">
                <a:noFill/>
              </a14:hiddenFill>
            </a:ext>
          </a:extLst>
        </p:spPr>
      </p:cxnSp>
      <p:cxnSp>
        <p:nvCxnSpPr>
          <p:cNvPr id="150" name="直接箭头连接符 68"/>
          <p:cNvCxnSpPr>
            <a:cxnSpLocks noChangeShapeType="1"/>
            <a:stCxn id="152" idx="3"/>
            <a:endCxn id="139" idx="1"/>
          </p:cNvCxnSpPr>
          <p:nvPr/>
        </p:nvCxnSpPr>
        <p:spPr bwMode="auto">
          <a:xfrm>
            <a:off x="4908205" y="3853458"/>
            <a:ext cx="779462" cy="1063625"/>
          </a:xfrm>
          <a:prstGeom prst="straightConnector1">
            <a:avLst/>
          </a:prstGeom>
          <a:noFill/>
          <a:ln w="19050" cap="rnd">
            <a:solidFill>
              <a:srgbClr val="FF9933"/>
            </a:solidFill>
            <a:round/>
            <a:tailEnd type="triangle" w="lg" len="lg"/>
          </a:ln>
          <a:extLst>
            <a:ext uri="{909E8E84-426E-40DD-AFC4-6F175D3DCCD1}">
              <a14:hiddenFill xmlns:a14="http://schemas.microsoft.com/office/drawing/2010/main">
                <a:noFill/>
              </a14:hiddenFill>
            </a:ext>
          </a:extLst>
        </p:spPr>
      </p:cxnSp>
      <p:cxnSp>
        <p:nvCxnSpPr>
          <p:cNvPr id="151" name="直接箭头连接符 71"/>
          <p:cNvCxnSpPr>
            <a:cxnSpLocks noChangeShapeType="1"/>
            <a:stCxn id="152" idx="3"/>
            <a:endCxn id="140" idx="1"/>
          </p:cNvCxnSpPr>
          <p:nvPr/>
        </p:nvCxnSpPr>
        <p:spPr bwMode="auto">
          <a:xfrm>
            <a:off x="4873280" y="3818533"/>
            <a:ext cx="4049712" cy="533400"/>
          </a:xfrm>
          <a:prstGeom prst="straightConnector1">
            <a:avLst/>
          </a:prstGeom>
          <a:noFill/>
          <a:ln w="19050" cap="rnd">
            <a:solidFill>
              <a:srgbClr val="FF9933"/>
            </a:solidFill>
            <a:round/>
            <a:tailEnd type="triangle" w="lg" len="lg"/>
          </a:ln>
          <a:extLst>
            <a:ext uri="{909E8E84-426E-40DD-AFC4-6F175D3DCCD1}">
              <a14:hiddenFill xmlns:a14="http://schemas.microsoft.com/office/drawing/2010/main">
                <a:noFill/>
              </a14:hiddenFill>
            </a:ext>
          </a:extLst>
        </p:spPr>
      </p:cxnSp>
      <p:pic>
        <p:nvPicPr>
          <p:cNvPr id="152" name="图片 15"/>
          <p:cNvPicPr>
            <a:picLocks noChangeAspect="1" noChangeArrowheads="1"/>
          </p:cNvPicPr>
          <p:nvPr/>
        </p:nvPicPr>
        <p:blipFill>
          <a:blip r:embed="rId1"/>
          <a:srcRect/>
          <a:stretch>
            <a:fillRect/>
          </a:stretch>
        </p:blipFill>
        <p:spPr bwMode="auto">
          <a:xfrm>
            <a:off x="4555780" y="3534370"/>
            <a:ext cx="49371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3" name="直接箭头连接符 65"/>
          <p:cNvCxnSpPr>
            <a:cxnSpLocks noChangeShapeType="1"/>
            <a:stCxn id="152" idx="1"/>
            <a:endCxn id="140" idx="1"/>
          </p:cNvCxnSpPr>
          <p:nvPr/>
        </p:nvCxnSpPr>
        <p:spPr bwMode="auto">
          <a:xfrm flipH="1" flipV="1">
            <a:off x="3357217" y="3537545"/>
            <a:ext cx="1198563" cy="244475"/>
          </a:xfrm>
          <a:prstGeom prst="straightConnector1">
            <a:avLst/>
          </a:prstGeom>
          <a:noFill/>
          <a:ln w="19050" cap="rnd">
            <a:solidFill>
              <a:srgbClr val="FF9933"/>
            </a:solidFill>
            <a:round/>
            <a:tailEnd type="triangle" w="lg" len="lg"/>
          </a:ln>
          <a:extLst>
            <a:ext uri="{909E8E84-426E-40DD-AFC4-6F175D3DCCD1}">
              <a14:hiddenFill xmlns:a14="http://schemas.microsoft.com/office/drawing/2010/main">
                <a:noFill/>
              </a14:hiddenFill>
            </a:ext>
          </a:extLst>
        </p:spPr>
      </p:cxnSp>
      <p:sp>
        <p:nvSpPr>
          <p:cNvPr id="154" name="椭圆 60"/>
          <p:cNvSpPr/>
          <p:nvPr/>
        </p:nvSpPr>
        <p:spPr>
          <a:xfrm>
            <a:off x="3260380" y="3469283"/>
            <a:ext cx="138112" cy="149225"/>
          </a:xfrm>
          <a:prstGeom prst="ellipse">
            <a:avLst/>
          </a:prstGeom>
          <a:solidFill>
            <a:srgbClr val="0070C0"/>
          </a:solidFill>
          <a:ln w="12700">
            <a:solidFill>
              <a:srgbClr val="00B0F0"/>
            </a:solidFill>
          </a:ln>
        </p:spPr>
        <p:txBody>
          <a:bodyPr anchor="ctr"/>
          <a:lstStyle/>
          <a:p>
            <a:pPr algn="ctr">
              <a:defRPr/>
            </a:pPr>
            <a:endParaRPr sz="1015" dirty="0">
              <a:solidFill>
                <a:srgbClr val="FFFFFF"/>
              </a:solidFill>
              <a:latin typeface="微软雅黑 Light" panose="020B0502040204020203" pitchFamily="34" charset="-122"/>
              <a:sym typeface="宋体" panose="02010600030101010101" pitchFamily="2" charset="-122"/>
            </a:endParaRPr>
          </a:p>
        </p:txBody>
      </p:sp>
      <p:sp>
        <p:nvSpPr>
          <p:cNvPr id="180" name="文本框 179"/>
          <p:cNvSpPr txBox="1">
            <a:spLocks noChangeArrowheads="1"/>
          </p:cNvSpPr>
          <p:nvPr/>
        </p:nvSpPr>
        <p:spPr bwMode="auto">
          <a:xfrm>
            <a:off x="6898136" y="6024158"/>
            <a:ext cx="521745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3200" i="1" dirty="0">
                <a:solidFill>
                  <a:srgbClr val="FF9933"/>
                </a:solidFill>
                <a:latin typeface="黑体" panose="02010609060101010101" pitchFamily="49" charset="-122"/>
                <a:ea typeface="黑体" panose="02010609060101010101" pitchFamily="49" charset="-122"/>
              </a:rPr>
              <a:t>183</a:t>
            </a:r>
            <a:r>
              <a:rPr lang="zh-CN" altLang="en-US" sz="3200" i="1" dirty="0">
                <a:solidFill>
                  <a:schemeClr val="bg2">
                    <a:lumMod val="50000"/>
                  </a:schemeClr>
                </a:solidFill>
                <a:latin typeface="黑体" panose="02010609060101010101" pitchFamily="49" charset="-122"/>
                <a:ea typeface="黑体" panose="02010609060101010101" pitchFamily="49" charset="-122"/>
              </a:rPr>
              <a:t>个国家 </a:t>
            </a:r>
            <a:r>
              <a:rPr lang="en-US" altLang="zh-CN" sz="3200" i="1" dirty="0">
                <a:solidFill>
                  <a:srgbClr val="FF9933"/>
                </a:solidFill>
                <a:latin typeface="黑体" panose="02010609060101010101" pitchFamily="49" charset="-122"/>
                <a:ea typeface="黑体" panose="02010609060101010101" pitchFamily="49" charset="-122"/>
              </a:rPr>
              <a:t>20</a:t>
            </a:r>
            <a:r>
              <a:rPr lang="zh-CN" altLang="en-US" sz="3200" i="1" dirty="0">
                <a:solidFill>
                  <a:schemeClr val="bg2">
                    <a:lumMod val="50000"/>
                  </a:schemeClr>
                </a:solidFill>
                <a:latin typeface="黑体" panose="02010609060101010101" pitchFamily="49" charset="-122"/>
                <a:ea typeface="黑体" panose="02010609060101010101" pitchFamily="49" charset="-122"/>
              </a:rPr>
              <a:t>万留学生</a:t>
            </a:r>
            <a:endParaRPr lang="en-US" altLang="zh-CN" sz="3200" i="1" dirty="0">
              <a:solidFill>
                <a:schemeClr val="bg2">
                  <a:lumMod val="50000"/>
                </a:schemeClr>
              </a:solidFill>
              <a:latin typeface="黑体" panose="02010609060101010101" pitchFamily="49" charset="-122"/>
              <a:ea typeface="黑体" panose="02010609060101010101" pitchFamily="49"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52"/>
                                        </p:tgtEl>
                                        <p:attrNameLst>
                                          <p:attrName>style.visibility</p:attrName>
                                        </p:attrNameLst>
                                      </p:cBhvr>
                                      <p:to>
                                        <p:strVal val="visible"/>
                                      </p:to>
                                    </p:set>
                                    <p:anim calcmode="lin" valueType="num">
                                      <p:cBhvr>
                                        <p:cTn id="7" dur="1000" fill="hold"/>
                                        <p:tgtEl>
                                          <p:spTgt spid="152"/>
                                        </p:tgtEl>
                                        <p:attrNameLst>
                                          <p:attrName>ppt_w</p:attrName>
                                        </p:attrNameLst>
                                      </p:cBhvr>
                                      <p:tavLst>
                                        <p:tav tm="0">
                                          <p:val>
                                            <p:fltVal val="0"/>
                                          </p:val>
                                        </p:tav>
                                        <p:tav tm="100000">
                                          <p:val>
                                            <p:strVal val="#ppt_w"/>
                                          </p:val>
                                        </p:tav>
                                      </p:tavLst>
                                    </p:anim>
                                    <p:anim calcmode="lin" valueType="num">
                                      <p:cBhvr>
                                        <p:cTn id="8" dur="1000" fill="hold"/>
                                        <p:tgtEl>
                                          <p:spTgt spid="152"/>
                                        </p:tgtEl>
                                        <p:attrNameLst>
                                          <p:attrName>ppt_h</p:attrName>
                                        </p:attrNameLst>
                                      </p:cBhvr>
                                      <p:tavLst>
                                        <p:tav tm="0">
                                          <p:val>
                                            <p:fltVal val="0"/>
                                          </p:val>
                                        </p:tav>
                                        <p:tav tm="100000">
                                          <p:val>
                                            <p:strVal val="#ppt_h"/>
                                          </p:val>
                                        </p:tav>
                                      </p:tavLst>
                                    </p:anim>
                                    <p:animEffect transition="in" filter="fade">
                                      <p:cBhvr>
                                        <p:cTn id="9" dur="1000"/>
                                        <p:tgtEl>
                                          <p:spTgt spid="152"/>
                                        </p:tgtEl>
                                      </p:cBhvr>
                                    </p:animEffect>
                                  </p:childTnLst>
                                </p:cTn>
                              </p:par>
                              <p:par>
                                <p:cTn id="10" presetID="22" presetClass="entr" presetSubtype="2" fill="hold" nodeType="withEffect">
                                  <p:stCondLst>
                                    <p:cond delay="0"/>
                                  </p:stCondLst>
                                  <p:childTnLst>
                                    <p:set>
                                      <p:cBhvr>
                                        <p:cTn id="11" dur="1" fill="hold">
                                          <p:stCondLst>
                                            <p:cond delay="0"/>
                                          </p:stCondLst>
                                        </p:cTn>
                                        <p:tgtEl>
                                          <p:spTgt spid="149"/>
                                        </p:tgtEl>
                                        <p:attrNameLst>
                                          <p:attrName>style.visibility</p:attrName>
                                        </p:attrNameLst>
                                      </p:cBhvr>
                                      <p:to>
                                        <p:strVal val="visible"/>
                                      </p:to>
                                    </p:set>
                                    <p:animEffect transition="in" filter="wipe(right)">
                                      <p:cBhvr>
                                        <p:cTn id="12" dur="1000"/>
                                        <p:tgtEl>
                                          <p:spTgt spid="149"/>
                                        </p:tgtEl>
                                      </p:cBhvr>
                                    </p:animEffect>
                                  </p:childTnLst>
                                </p:cTn>
                              </p:par>
                              <p:par>
                                <p:cTn id="13" presetID="22" presetClass="entr" presetSubtype="2" fill="hold" nodeType="withEffect">
                                  <p:stCondLst>
                                    <p:cond delay="0"/>
                                  </p:stCondLst>
                                  <p:childTnLst>
                                    <p:set>
                                      <p:cBhvr>
                                        <p:cTn id="14" dur="1" fill="hold">
                                          <p:stCondLst>
                                            <p:cond delay="0"/>
                                          </p:stCondLst>
                                        </p:cTn>
                                        <p:tgtEl>
                                          <p:spTgt spid="148"/>
                                        </p:tgtEl>
                                        <p:attrNameLst>
                                          <p:attrName>style.visibility</p:attrName>
                                        </p:attrNameLst>
                                      </p:cBhvr>
                                      <p:to>
                                        <p:strVal val="visible"/>
                                      </p:to>
                                    </p:set>
                                    <p:animEffect transition="in" filter="wipe(right)">
                                      <p:cBhvr>
                                        <p:cTn id="15" dur="1000"/>
                                        <p:tgtEl>
                                          <p:spTgt spid="148"/>
                                        </p:tgtEl>
                                      </p:cBhvr>
                                    </p:animEffect>
                                  </p:childTnLst>
                                </p:cTn>
                              </p:par>
                              <p:par>
                                <p:cTn id="16" presetID="22" presetClass="entr" presetSubtype="2" fill="hold" nodeType="withEffect">
                                  <p:stCondLst>
                                    <p:cond delay="0"/>
                                  </p:stCondLst>
                                  <p:childTnLst>
                                    <p:set>
                                      <p:cBhvr>
                                        <p:cTn id="17" dur="1" fill="hold">
                                          <p:stCondLst>
                                            <p:cond delay="0"/>
                                          </p:stCondLst>
                                        </p:cTn>
                                        <p:tgtEl>
                                          <p:spTgt spid="153"/>
                                        </p:tgtEl>
                                        <p:attrNameLst>
                                          <p:attrName>style.visibility</p:attrName>
                                        </p:attrNameLst>
                                      </p:cBhvr>
                                      <p:to>
                                        <p:strVal val="visible"/>
                                      </p:to>
                                    </p:set>
                                    <p:animEffect transition="in" filter="wipe(right)">
                                      <p:cBhvr>
                                        <p:cTn id="18" dur="1000"/>
                                        <p:tgtEl>
                                          <p:spTgt spid="153"/>
                                        </p:tgtEl>
                                      </p:cBhvr>
                                    </p:animEffect>
                                  </p:childTnLst>
                                </p:cTn>
                              </p:par>
                              <p:par>
                                <p:cTn id="19" presetID="22" presetClass="entr" presetSubtype="2" fill="hold" nodeType="withEffect">
                                  <p:stCondLst>
                                    <p:cond delay="0"/>
                                  </p:stCondLst>
                                  <p:childTnLst>
                                    <p:set>
                                      <p:cBhvr>
                                        <p:cTn id="20" dur="1" fill="hold">
                                          <p:stCondLst>
                                            <p:cond delay="0"/>
                                          </p:stCondLst>
                                        </p:cTn>
                                        <p:tgtEl>
                                          <p:spTgt spid="147"/>
                                        </p:tgtEl>
                                        <p:attrNameLst>
                                          <p:attrName>style.visibility</p:attrName>
                                        </p:attrNameLst>
                                      </p:cBhvr>
                                      <p:to>
                                        <p:strVal val="visible"/>
                                      </p:to>
                                    </p:set>
                                    <p:animEffect transition="in" filter="wipe(right)">
                                      <p:cBhvr>
                                        <p:cTn id="21" dur="1000"/>
                                        <p:tgtEl>
                                          <p:spTgt spid="147"/>
                                        </p:tgtEl>
                                      </p:cBhvr>
                                    </p:animEffect>
                                  </p:childTnLst>
                                </p:cTn>
                              </p:par>
                              <p:par>
                                <p:cTn id="22" presetID="22" presetClass="entr" presetSubtype="8" fill="hold" nodeType="withEffect">
                                  <p:stCondLst>
                                    <p:cond delay="0"/>
                                  </p:stCondLst>
                                  <p:childTnLst>
                                    <p:set>
                                      <p:cBhvr>
                                        <p:cTn id="23" dur="1" fill="hold">
                                          <p:stCondLst>
                                            <p:cond delay="0"/>
                                          </p:stCondLst>
                                        </p:cTn>
                                        <p:tgtEl>
                                          <p:spTgt spid="146"/>
                                        </p:tgtEl>
                                        <p:attrNameLst>
                                          <p:attrName>style.visibility</p:attrName>
                                        </p:attrNameLst>
                                      </p:cBhvr>
                                      <p:to>
                                        <p:strVal val="visible"/>
                                      </p:to>
                                    </p:set>
                                    <p:animEffect transition="in" filter="wipe(left)">
                                      <p:cBhvr>
                                        <p:cTn id="24" dur="1000"/>
                                        <p:tgtEl>
                                          <p:spTgt spid="146"/>
                                        </p:tgtEl>
                                      </p:cBhvr>
                                    </p:animEffect>
                                  </p:childTnLst>
                                </p:cTn>
                              </p:par>
                              <p:par>
                                <p:cTn id="25" presetID="22" presetClass="entr" presetSubtype="8" fill="hold" nodeType="withEffect">
                                  <p:stCondLst>
                                    <p:cond delay="0"/>
                                  </p:stCondLst>
                                  <p:childTnLst>
                                    <p:set>
                                      <p:cBhvr>
                                        <p:cTn id="26" dur="1" fill="hold">
                                          <p:stCondLst>
                                            <p:cond delay="0"/>
                                          </p:stCondLst>
                                        </p:cTn>
                                        <p:tgtEl>
                                          <p:spTgt spid="137"/>
                                        </p:tgtEl>
                                        <p:attrNameLst>
                                          <p:attrName>style.visibility</p:attrName>
                                        </p:attrNameLst>
                                      </p:cBhvr>
                                      <p:to>
                                        <p:strVal val="visible"/>
                                      </p:to>
                                    </p:set>
                                    <p:animEffect transition="in" filter="wipe(left)">
                                      <p:cBhvr>
                                        <p:cTn id="27" dur="1000"/>
                                        <p:tgtEl>
                                          <p:spTgt spid="137"/>
                                        </p:tgtEl>
                                      </p:cBhvr>
                                    </p:animEffect>
                                  </p:childTnLst>
                                </p:cTn>
                              </p:par>
                              <p:par>
                                <p:cTn id="28" presetID="22" presetClass="entr" presetSubtype="8" fill="hold" nodeType="withEffect">
                                  <p:stCondLst>
                                    <p:cond delay="0"/>
                                  </p:stCondLst>
                                  <p:childTnLst>
                                    <p:set>
                                      <p:cBhvr>
                                        <p:cTn id="29" dur="1" fill="hold">
                                          <p:stCondLst>
                                            <p:cond delay="0"/>
                                          </p:stCondLst>
                                        </p:cTn>
                                        <p:tgtEl>
                                          <p:spTgt spid="136"/>
                                        </p:tgtEl>
                                        <p:attrNameLst>
                                          <p:attrName>style.visibility</p:attrName>
                                        </p:attrNameLst>
                                      </p:cBhvr>
                                      <p:to>
                                        <p:strVal val="visible"/>
                                      </p:to>
                                    </p:set>
                                    <p:animEffect transition="in" filter="wipe(left)">
                                      <p:cBhvr>
                                        <p:cTn id="30" dur="1000"/>
                                        <p:tgtEl>
                                          <p:spTgt spid="136"/>
                                        </p:tgtEl>
                                      </p:cBhvr>
                                    </p:animEffect>
                                  </p:childTnLst>
                                </p:cTn>
                              </p:par>
                              <p:par>
                                <p:cTn id="31" presetID="22" presetClass="entr" presetSubtype="8" fill="hold" nodeType="withEffect">
                                  <p:stCondLst>
                                    <p:cond delay="0"/>
                                  </p:stCondLst>
                                  <p:childTnLst>
                                    <p:set>
                                      <p:cBhvr>
                                        <p:cTn id="32" dur="1" fill="hold">
                                          <p:stCondLst>
                                            <p:cond delay="0"/>
                                          </p:stCondLst>
                                        </p:cTn>
                                        <p:tgtEl>
                                          <p:spTgt spid="151"/>
                                        </p:tgtEl>
                                        <p:attrNameLst>
                                          <p:attrName>style.visibility</p:attrName>
                                        </p:attrNameLst>
                                      </p:cBhvr>
                                      <p:to>
                                        <p:strVal val="visible"/>
                                      </p:to>
                                    </p:set>
                                    <p:animEffect transition="in" filter="wipe(left)">
                                      <p:cBhvr>
                                        <p:cTn id="33" dur="1000"/>
                                        <p:tgtEl>
                                          <p:spTgt spid="151"/>
                                        </p:tgtEl>
                                      </p:cBhvr>
                                    </p:animEffect>
                                  </p:childTnLst>
                                </p:cTn>
                              </p:par>
                              <p:par>
                                <p:cTn id="34" presetID="22" presetClass="entr" presetSubtype="8" fill="hold" nodeType="withEffect">
                                  <p:stCondLst>
                                    <p:cond delay="0"/>
                                  </p:stCondLst>
                                  <p:childTnLst>
                                    <p:set>
                                      <p:cBhvr>
                                        <p:cTn id="35" dur="1" fill="hold">
                                          <p:stCondLst>
                                            <p:cond delay="0"/>
                                          </p:stCondLst>
                                        </p:cTn>
                                        <p:tgtEl>
                                          <p:spTgt spid="150"/>
                                        </p:tgtEl>
                                        <p:attrNameLst>
                                          <p:attrName>style.visibility</p:attrName>
                                        </p:attrNameLst>
                                      </p:cBhvr>
                                      <p:to>
                                        <p:strVal val="visible"/>
                                      </p:to>
                                    </p:set>
                                    <p:animEffect transition="in" filter="wipe(left)">
                                      <p:cBhvr>
                                        <p:cTn id="36" dur="1000"/>
                                        <p:tgtEl>
                                          <p:spTgt spid="150"/>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42"/>
                                        </p:tgtEl>
                                        <p:attrNameLst>
                                          <p:attrName>style.visibility</p:attrName>
                                        </p:attrNameLst>
                                      </p:cBhvr>
                                      <p:to>
                                        <p:strVal val="visible"/>
                                      </p:to>
                                    </p:set>
                                    <p:anim calcmode="lin" valueType="num">
                                      <p:cBhvr>
                                        <p:cTn id="39" dur="1000" fill="hold"/>
                                        <p:tgtEl>
                                          <p:spTgt spid="142"/>
                                        </p:tgtEl>
                                        <p:attrNameLst>
                                          <p:attrName>ppt_w</p:attrName>
                                        </p:attrNameLst>
                                      </p:cBhvr>
                                      <p:tavLst>
                                        <p:tav tm="0">
                                          <p:val>
                                            <p:fltVal val="0"/>
                                          </p:val>
                                        </p:tav>
                                        <p:tav tm="100000">
                                          <p:val>
                                            <p:strVal val="#ppt_w"/>
                                          </p:val>
                                        </p:tav>
                                      </p:tavLst>
                                    </p:anim>
                                    <p:anim calcmode="lin" valueType="num">
                                      <p:cBhvr>
                                        <p:cTn id="40" dur="1000" fill="hold"/>
                                        <p:tgtEl>
                                          <p:spTgt spid="142"/>
                                        </p:tgtEl>
                                        <p:attrNameLst>
                                          <p:attrName>ppt_h</p:attrName>
                                        </p:attrNameLst>
                                      </p:cBhvr>
                                      <p:tavLst>
                                        <p:tav tm="0">
                                          <p:val>
                                            <p:fltVal val="0"/>
                                          </p:val>
                                        </p:tav>
                                        <p:tav tm="100000">
                                          <p:val>
                                            <p:strVal val="#ppt_h"/>
                                          </p:val>
                                        </p:tav>
                                      </p:tavLst>
                                    </p:anim>
                                    <p:animEffect transition="in" filter="fade">
                                      <p:cBhvr>
                                        <p:cTn id="41" dur="1000"/>
                                        <p:tgtEl>
                                          <p:spTgt spid="142"/>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41"/>
                                        </p:tgtEl>
                                        <p:attrNameLst>
                                          <p:attrName>style.visibility</p:attrName>
                                        </p:attrNameLst>
                                      </p:cBhvr>
                                      <p:to>
                                        <p:strVal val="visible"/>
                                      </p:to>
                                    </p:set>
                                    <p:anim calcmode="lin" valueType="num">
                                      <p:cBhvr>
                                        <p:cTn id="44" dur="1000" fill="hold"/>
                                        <p:tgtEl>
                                          <p:spTgt spid="141"/>
                                        </p:tgtEl>
                                        <p:attrNameLst>
                                          <p:attrName>ppt_w</p:attrName>
                                        </p:attrNameLst>
                                      </p:cBhvr>
                                      <p:tavLst>
                                        <p:tav tm="0">
                                          <p:val>
                                            <p:fltVal val="0"/>
                                          </p:val>
                                        </p:tav>
                                        <p:tav tm="100000">
                                          <p:val>
                                            <p:strVal val="#ppt_w"/>
                                          </p:val>
                                        </p:tav>
                                      </p:tavLst>
                                    </p:anim>
                                    <p:anim calcmode="lin" valueType="num">
                                      <p:cBhvr>
                                        <p:cTn id="45" dur="1000" fill="hold"/>
                                        <p:tgtEl>
                                          <p:spTgt spid="141"/>
                                        </p:tgtEl>
                                        <p:attrNameLst>
                                          <p:attrName>ppt_h</p:attrName>
                                        </p:attrNameLst>
                                      </p:cBhvr>
                                      <p:tavLst>
                                        <p:tav tm="0">
                                          <p:val>
                                            <p:fltVal val="0"/>
                                          </p:val>
                                        </p:tav>
                                        <p:tav tm="100000">
                                          <p:val>
                                            <p:strVal val="#ppt_h"/>
                                          </p:val>
                                        </p:tav>
                                      </p:tavLst>
                                    </p:anim>
                                    <p:animEffect transition="in" filter="fade">
                                      <p:cBhvr>
                                        <p:cTn id="46" dur="1000"/>
                                        <p:tgtEl>
                                          <p:spTgt spid="141"/>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54"/>
                                        </p:tgtEl>
                                        <p:attrNameLst>
                                          <p:attrName>style.visibility</p:attrName>
                                        </p:attrNameLst>
                                      </p:cBhvr>
                                      <p:to>
                                        <p:strVal val="visible"/>
                                      </p:to>
                                    </p:set>
                                    <p:anim calcmode="lin" valueType="num">
                                      <p:cBhvr>
                                        <p:cTn id="49" dur="1000" fill="hold"/>
                                        <p:tgtEl>
                                          <p:spTgt spid="154"/>
                                        </p:tgtEl>
                                        <p:attrNameLst>
                                          <p:attrName>ppt_w</p:attrName>
                                        </p:attrNameLst>
                                      </p:cBhvr>
                                      <p:tavLst>
                                        <p:tav tm="0">
                                          <p:val>
                                            <p:fltVal val="0"/>
                                          </p:val>
                                        </p:tav>
                                        <p:tav tm="100000">
                                          <p:val>
                                            <p:strVal val="#ppt_w"/>
                                          </p:val>
                                        </p:tav>
                                      </p:tavLst>
                                    </p:anim>
                                    <p:anim calcmode="lin" valueType="num">
                                      <p:cBhvr>
                                        <p:cTn id="50" dur="1000" fill="hold"/>
                                        <p:tgtEl>
                                          <p:spTgt spid="154"/>
                                        </p:tgtEl>
                                        <p:attrNameLst>
                                          <p:attrName>ppt_h</p:attrName>
                                        </p:attrNameLst>
                                      </p:cBhvr>
                                      <p:tavLst>
                                        <p:tav tm="0">
                                          <p:val>
                                            <p:fltVal val="0"/>
                                          </p:val>
                                        </p:tav>
                                        <p:tav tm="100000">
                                          <p:val>
                                            <p:strVal val="#ppt_h"/>
                                          </p:val>
                                        </p:tav>
                                      </p:tavLst>
                                    </p:anim>
                                    <p:animEffect transition="in" filter="fade">
                                      <p:cBhvr>
                                        <p:cTn id="51" dur="1000"/>
                                        <p:tgtEl>
                                          <p:spTgt spid="154"/>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43"/>
                                        </p:tgtEl>
                                        <p:attrNameLst>
                                          <p:attrName>style.visibility</p:attrName>
                                        </p:attrNameLst>
                                      </p:cBhvr>
                                      <p:to>
                                        <p:strVal val="visible"/>
                                      </p:to>
                                    </p:set>
                                    <p:anim calcmode="lin" valueType="num">
                                      <p:cBhvr>
                                        <p:cTn id="54" dur="1000" fill="hold"/>
                                        <p:tgtEl>
                                          <p:spTgt spid="143"/>
                                        </p:tgtEl>
                                        <p:attrNameLst>
                                          <p:attrName>ppt_w</p:attrName>
                                        </p:attrNameLst>
                                      </p:cBhvr>
                                      <p:tavLst>
                                        <p:tav tm="0">
                                          <p:val>
                                            <p:fltVal val="0"/>
                                          </p:val>
                                        </p:tav>
                                        <p:tav tm="100000">
                                          <p:val>
                                            <p:strVal val="#ppt_w"/>
                                          </p:val>
                                        </p:tav>
                                      </p:tavLst>
                                    </p:anim>
                                    <p:anim calcmode="lin" valueType="num">
                                      <p:cBhvr>
                                        <p:cTn id="55" dur="1000" fill="hold"/>
                                        <p:tgtEl>
                                          <p:spTgt spid="143"/>
                                        </p:tgtEl>
                                        <p:attrNameLst>
                                          <p:attrName>ppt_h</p:attrName>
                                        </p:attrNameLst>
                                      </p:cBhvr>
                                      <p:tavLst>
                                        <p:tav tm="0">
                                          <p:val>
                                            <p:fltVal val="0"/>
                                          </p:val>
                                        </p:tav>
                                        <p:tav tm="100000">
                                          <p:val>
                                            <p:strVal val="#ppt_h"/>
                                          </p:val>
                                        </p:tav>
                                      </p:tavLst>
                                    </p:anim>
                                    <p:animEffect transition="in" filter="fade">
                                      <p:cBhvr>
                                        <p:cTn id="56" dur="1000"/>
                                        <p:tgtEl>
                                          <p:spTgt spid="143"/>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40"/>
                                        </p:tgtEl>
                                        <p:attrNameLst>
                                          <p:attrName>style.visibility</p:attrName>
                                        </p:attrNameLst>
                                      </p:cBhvr>
                                      <p:to>
                                        <p:strVal val="visible"/>
                                      </p:to>
                                    </p:set>
                                    <p:anim calcmode="lin" valueType="num">
                                      <p:cBhvr>
                                        <p:cTn id="59" dur="1000" fill="hold"/>
                                        <p:tgtEl>
                                          <p:spTgt spid="140"/>
                                        </p:tgtEl>
                                        <p:attrNameLst>
                                          <p:attrName>ppt_w</p:attrName>
                                        </p:attrNameLst>
                                      </p:cBhvr>
                                      <p:tavLst>
                                        <p:tav tm="0">
                                          <p:val>
                                            <p:fltVal val="0"/>
                                          </p:val>
                                        </p:tav>
                                        <p:tav tm="100000">
                                          <p:val>
                                            <p:strVal val="#ppt_w"/>
                                          </p:val>
                                        </p:tav>
                                      </p:tavLst>
                                    </p:anim>
                                    <p:anim calcmode="lin" valueType="num">
                                      <p:cBhvr>
                                        <p:cTn id="60" dur="1000" fill="hold"/>
                                        <p:tgtEl>
                                          <p:spTgt spid="140"/>
                                        </p:tgtEl>
                                        <p:attrNameLst>
                                          <p:attrName>ppt_h</p:attrName>
                                        </p:attrNameLst>
                                      </p:cBhvr>
                                      <p:tavLst>
                                        <p:tav tm="0">
                                          <p:val>
                                            <p:fltVal val="0"/>
                                          </p:val>
                                        </p:tav>
                                        <p:tav tm="100000">
                                          <p:val>
                                            <p:strVal val="#ppt_h"/>
                                          </p:val>
                                        </p:tav>
                                      </p:tavLst>
                                    </p:anim>
                                    <p:animEffect transition="in" filter="fade">
                                      <p:cBhvr>
                                        <p:cTn id="61" dur="1000"/>
                                        <p:tgtEl>
                                          <p:spTgt spid="140"/>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38"/>
                                        </p:tgtEl>
                                        <p:attrNameLst>
                                          <p:attrName>style.visibility</p:attrName>
                                        </p:attrNameLst>
                                      </p:cBhvr>
                                      <p:to>
                                        <p:strVal val="visible"/>
                                      </p:to>
                                    </p:set>
                                    <p:anim calcmode="lin" valueType="num">
                                      <p:cBhvr>
                                        <p:cTn id="64" dur="1000" fill="hold"/>
                                        <p:tgtEl>
                                          <p:spTgt spid="138"/>
                                        </p:tgtEl>
                                        <p:attrNameLst>
                                          <p:attrName>ppt_w</p:attrName>
                                        </p:attrNameLst>
                                      </p:cBhvr>
                                      <p:tavLst>
                                        <p:tav tm="0">
                                          <p:val>
                                            <p:fltVal val="0"/>
                                          </p:val>
                                        </p:tav>
                                        <p:tav tm="100000">
                                          <p:val>
                                            <p:strVal val="#ppt_w"/>
                                          </p:val>
                                        </p:tav>
                                      </p:tavLst>
                                    </p:anim>
                                    <p:anim calcmode="lin" valueType="num">
                                      <p:cBhvr>
                                        <p:cTn id="65" dur="1000" fill="hold"/>
                                        <p:tgtEl>
                                          <p:spTgt spid="138"/>
                                        </p:tgtEl>
                                        <p:attrNameLst>
                                          <p:attrName>ppt_h</p:attrName>
                                        </p:attrNameLst>
                                      </p:cBhvr>
                                      <p:tavLst>
                                        <p:tav tm="0">
                                          <p:val>
                                            <p:fltVal val="0"/>
                                          </p:val>
                                        </p:tav>
                                        <p:tav tm="100000">
                                          <p:val>
                                            <p:strVal val="#ppt_h"/>
                                          </p:val>
                                        </p:tav>
                                      </p:tavLst>
                                    </p:anim>
                                    <p:animEffect transition="in" filter="fade">
                                      <p:cBhvr>
                                        <p:cTn id="66" dur="1000"/>
                                        <p:tgtEl>
                                          <p:spTgt spid="138"/>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44"/>
                                        </p:tgtEl>
                                        <p:attrNameLst>
                                          <p:attrName>style.visibility</p:attrName>
                                        </p:attrNameLst>
                                      </p:cBhvr>
                                      <p:to>
                                        <p:strVal val="visible"/>
                                      </p:to>
                                    </p:set>
                                    <p:anim calcmode="lin" valueType="num">
                                      <p:cBhvr>
                                        <p:cTn id="69" dur="1000" fill="hold"/>
                                        <p:tgtEl>
                                          <p:spTgt spid="144"/>
                                        </p:tgtEl>
                                        <p:attrNameLst>
                                          <p:attrName>ppt_w</p:attrName>
                                        </p:attrNameLst>
                                      </p:cBhvr>
                                      <p:tavLst>
                                        <p:tav tm="0">
                                          <p:val>
                                            <p:fltVal val="0"/>
                                          </p:val>
                                        </p:tav>
                                        <p:tav tm="100000">
                                          <p:val>
                                            <p:strVal val="#ppt_w"/>
                                          </p:val>
                                        </p:tav>
                                      </p:tavLst>
                                    </p:anim>
                                    <p:anim calcmode="lin" valueType="num">
                                      <p:cBhvr>
                                        <p:cTn id="70" dur="1000" fill="hold"/>
                                        <p:tgtEl>
                                          <p:spTgt spid="144"/>
                                        </p:tgtEl>
                                        <p:attrNameLst>
                                          <p:attrName>ppt_h</p:attrName>
                                        </p:attrNameLst>
                                      </p:cBhvr>
                                      <p:tavLst>
                                        <p:tav tm="0">
                                          <p:val>
                                            <p:fltVal val="0"/>
                                          </p:val>
                                        </p:tav>
                                        <p:tav tm="100000">
                                          <p:val>
                                            <p:strVal val="#ppt_h"/>
                                          </p:val>
                                        </p:tav>
                                      </p:tavLst>
                                    </p:anim>
                                    <p:animEffect transition="in" filter="fade">
                                      <p:cBhvr>
                                        <p:cTn id="71" dur="1000"/>
                                        <p:tgtEl>
                                          <p:spTgt spid="144"/>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45"/>
                                        </p:tgtEl>
                                        <p:attrNameLst>
                                          <p:attrName>style.visibility</p:attrName>
                                        </p:attrNameLst>
                                      </p:cBhvr>
                                      <p:to>
                                        <p:strVal val="visible"/>
                                      </p:to>
                                    </p:set>
                                    <p:anim calcmode="lin" valueType="num">
                                      <p:cBhvr>
                                        <p:cTn id="74" dur="1000" fill="hold"/>
                                        <p:tgtEl>
                                          <p:spTgt spid="145"/>
                                        </p:tgtEl>
                                        <p:attrNameLst>
                                          <p:attrName>ppt_w</p:attrName>
                                        </p:attrNameLst>
                                      </p:cBhvr>
                                      <p:tavLst>
                                        <p:tav tm="0">
                                          <p:val>
                                            <p:fltVal val="0"/>
                                          </p:val>
                                        </p:tav>
                                        <p:tav tm="100000">
                                          <p:val>
                                            <p:strVal val="#ppt_w"/>
                                          </p:val>
                                        </p:tav>
                                      </p:tavLst>
                                    </p:anim>
                                    <p:anim calcmode="lin" valueType="num">
                                      <p:cBhvr>
                                        <p:cTn id="75" dur="1000" fill="hold"/>
                                        <p:tgtEl>
                                          <p:spTgt spid="145"/>
                                        </p:tgtEl>
                                        <p:attrNameLst>
                                          <p:attrName>ppt_h</p:attrName>
                                        </p:attrNameLst>
                                      </p:cBhvr>
                                      <p:tavLst>
                                        <p:tav tm="0">
                                          <p:val>
                                            <p:fltVal val="0"/>
                                          </p:val>
                                        </p:tav>
                                        <p:tav tm="100000">
                                          <p:val>
                                            <p:strVal val="#ppt_h"/>
                                          </p:val>
                                        </p:tav>
                                      </p:tavLst>
                                    </p:anim>
                                    <p:animEffect transition="in" filter="fade">
                                      <p:cBhvr>
                                        <p:cTn id="76" dur="1000"/>
                                        <p:tgtEl>
                                          <p:spTgt spid="145"/>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39"/>
                                        </p:tgtEl>
                                        <p:attrNameLst>
                                          <p:attrName>style.visibility</p:attrName>
                                        </p:attrNameLst>
                                      </p:cBhvr>
                                      <p:to>
                                        <p:strVal val="visible"/>
                                      </p:to>
                                    </p:set>
                                    <p:anim calcmode="lin" valueType="num">
                                      <p:cBhvr>
                                        <p:cTn id="79" dur="1000" fill="hold"/>
                                        <p:tgtEl>
                                          <p:spTgt spid="139"/>
                                        </p:tgtEl>
                                        <p:attrNameLst>
                                          <p:attrName>ppt_w</p:attrName>
                                        </p:attrNameLst>
                                      </p:cBhvr>
                                      <p:tavLst>
                                        <p:tav tm="0">
                                          <p:val>
                                            <p:fltVal val="0"/>
                                          </p:val>
                                        </p:tav>
                                        <p:tav tm="100000">
                                          <p:val>
                                            <p:strVal val="#ppt_w"/>
                                          </p:val>
                                        </p:tav>
                                      </p:tavLst>
                                    </p:anim>
                                    <p:anim calcmode="lin" valueType="num">
                                      <p:cBhvr>
                                        <p:cTn id="80" dur="1000" fill="hold"/>
                                        <p:tgtEl>
                                          <p:spTgt spid="139"/>
                                        </p:tgtEl>
                                        <p:attrNameLst>
                                          <p:attrName>ppt_h</p:attrName>
                                        </p:attrNameLst>
                                      </p:cBhvr>
                                      <p:tavLst>
                                        <p:tav tm="0">
                                          <p:val>
                                            <p:fltVal val="0"/>
                                          </p:val>
                                        </p:tav>
                                        <p:tav tm="100000">
                                          <p:val>
                                            <p:strVal val="#ppt_h"/>
                                          </p:val>
                                        </p:tav>
                                      </p:tavLst>
                                    </p:anim>
                                    <p:animEffect transition="in" filter="fade">
                                      <p:cBhvr>
                                        <p:cTn id="81" dur="1000"/>
                                        <p:tgtEl>
                                          <p:spTgt spid="139"/>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80"/>
                                        </p:tgtEl>
                                        <p:attrNameLst>
                                          <p:attrName>style.visibility</p:attrName>
                                        </p:attrNameLst>
                                      </p:cBhvr>
                                      <p:to>
                                        <p:strVal val="visible"/>
                                      </p:to>
                                    </p:set>
                                    <p:anim calcmode="lin" valueType="num">
                                      <p:cBhvr>
                                        <p:cTn id="84" dur="1000" fill="hold"/>
                                        <p:tgtEl>
                                          <p:spTgt spid="180"/>
                                        </p:tgtEl>
                                        <p:attrNameLst>
                                          <p:attrName>ppt_w</p:attrName>
                                        </p:attrNameLst>
                                      </p:cBhvr>
                                      <p:tavLst>
                                        <p:tav tm="0">
                                          <p:val>
                                            <p:fltVal val="0"/>
                                          </p:val>
                                        </p:tav>
                                        <p:tav tm="100000">
                                          <p:val>
                                            <p:strVal val="#ppt_w"/>
                                          </p:val>
                                        </p:tav>
                                      </p:tavLst>
                                    </p:anim>
                                    <p:anim calcmode="lin" valueType="num">
                                      <p:cBhvr>
                                        <p:cTn id="85" dur="1000" fill="hold"/>
                                        <p:tgtEl>
                                          <p:spTgt spid="180"/>
                                        </p:tgtEl>
                                        <p:attrNameLst>
                                          <p:attrName>ppt_h</p:attrName>
                                        </p:attrNameLst>
                                      </p:cBhvr>
                                      <p:tavLst>
                                        <p:tav tm="0">
                                          <p:val>
                                            <p:fltVal val="0"/>
                                          </p:val>
                                        </p:tav>
                                        <p:tav tm="100000">
                                          <p:val>
                                            <p:strVal val="#ppt_h"/>
                                          </p:val>
                                        </p:tav>
                                      </p:tavLst>
                                    </p:anim>
                                    <p:animEffect transition="in" filter="fade">
                                      <p:cBhvr>
                                        <p:cTn id="86" dur="10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139" grpId="0" animBg="1"/>
      <p:bldP spid="140" grpId="0" animBg="1"/>
      <p:bldP spid="141" grpId="0" animBg="1"/>
      <p:bldP spid="142" grpId="0" animBg="1"/>
      <p:bldP spid="143" grpId="0" animBg="1"/>
      <p:bldP spid="144" grpId="0" animBg="1"/>
      <p:bldP spid="145" grpId="0" animBg="1"/>
      <p:bldP spid="154" grpId="0" animBg="1"/>
      <p:bldP spid="18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777095" y="1618014"/>
            <a:ext cx="3054190" cy="818334"/>
            <a:chOff x="928274" y="2723985"/>
            <a:chExt cx="3054190" cy="818334"/>
          </a:xfrm>
        </p:grpSpPr>
        <p:sp>
          <p:nvSpPr>
            <p:cNvPr id="157" name="文本框 156"/>
            <p:cNvSpPr txBox="1"/>
            <p:nvPr/>
          </p:nvSpPr>
          <p:spPr>
            <a:xfrm>
              <a:off x="928274" y="2723985"/>
              <a:ext cx="2954655"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卡瑟姆</a:t>
              </a:r>
              <a:r>
                <a:rPr lang="en-US" altLang="zh-CN" sz="2400" i="1" spc="300" dirty="0">
                  <a:latin typeface="黑体" panose="02010609060101010101" pitchFamily="49" charset="-122"/>
                  <a:ea typeface="黑体" panose="02010609060101010101" pitchFamily="49" charset="-122"/>
                </a:rPr>
                <a:t>·</a:t>
              </a:r>
              <a:r>
                <a:rPr lang="zh-CN" altLang="en-US" sz="2400" i="1" spc="300" dirty="0">
                  <a:latin typeface="黑体" panose="02010609060101010101" pitchFamily="49" charset="-122"/>
                  <a:ea typeface="黑体" panose="02010609060101010101" pitchFamily="49" charset="-122"/>
                </a:rPr>
                <a:t>托卡耶夫</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021697" cy="382862"/>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哈萨克斯坦共和国 总统</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3" name="图片 12" descr="C:\Users\Administrator\Desktop\托卡耶夫.jpg"/>
          <p:cNvPicPr/>
          <p:nvPr/>
        </p:nvPicPr>
        <p:blipFill rotWithShape="1">
          <a:blip r:embed="rId1" cstate="hqprint"/>
          <a:srcRect/>
          <a:stretch>
            <a:fillRect/>
          </a:stretch>
        </p:blipFill>
        <p:spPr bwMode="auto">
          <a:xfrm>
            <a:off x="598838" y="1618014"/>
            <a:ext cx="6677725" cy="445621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009993" y="1431659"/>
            <a:ext cx="3054190" cy="818334"/>
            <a:chOff x="928274" y="2723985"/>
            <a:chExt cx="3054190" cy="818334"/>
          </a:xfrm>
        </p:grpSpPr>
        <p:sp>
          <p:nvSpPr>
            <p:cNvPr id="157" name="文本框 156"/>
            <p:cNvSpPr txBox="1"/>
            <p:nvPr/>
          </p:nvSpPr>
          <p:spPr>
            <a:xfrm>
              <a:off x="928274" y="2723985"/>
              <a:ext cx="2608406"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穆拉图</a:t>
              </a:r>
              <a:r>
                <a:rPr lang="en-US" altLang="zh-CN" sz="2400" i="1" spc="300" dirty="0">
                  <a:latin typeface="黑体" panose="02010609060101010101" pitchFamily="49" charset="-122"/>
                  <a:ea typeface="黑体" panose="02010609060101010101" pitchFamily="49" charset="-122"/>
                </a:rPr>
                <a:t>·</a:t>
              </a:r>
              <a:r>
                <a:rPr lang="zh-CN" altLang="en-US" sz="2400" i="1" spc="300" dirty="0">
                  <a:latin typeface="黑体" panose="02010609060101010101" pitchFamily="49" charset="-122"/>
                  <a:ea typeface="黑体" panose="02010609060101010101" pitchFamily="49" charset="-122"/>
                </a:rPr>
                <a:t>特肖梅</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021697" cy="382862"/>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埃塞俄比亚 前总统</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4" name="图片 13" descr="C:\Users\Administrator\Desktop\穆拉图.jpg"/>
          <p:cNvPicPr/>
          <p:nvPr/>
        </p:nvPicPr>
        <p:blipFill rotWithShape="1">
          <a:blip r:embed="rId1" cstate="hqprint"/>
          <a:srcRect/>
          <a:stretch>
            <a:fillRect/>
          </a:stretch>
        </p:blipFill>
        <p:spPr bwMode="auto">
          <a:xfrm>
            <a:off x="2427404" y="1431659"/>
            <a:ext cx="4173863" cy="5161162"/>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744438" y="1487874"/>
            <a:ext cx="3054190" cy="1167980"/>
            <a:chOff x="928274" y="2723985"/>
            <a:chExt cx="3054190" cy="1167980"/>
          </a:xfrm>
        </p:grpSpPr>
        <p:sp>
          <p:nvSpPr>
            <p:cNvPr id="157" name="文本框 156"/>
            <p:cNvSpPr txBox="1"/>
            <p:nvPr/>
          </p:nvSpPr>
          <p:spPr>
            <a:xfrm>
              <a:off x="928274" y="2723985"/>
              <a:ext cx="156966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近藤昭一</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021697"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日中友好议员联盟 干事长</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日本立宪民主党 前副党首</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4" name="Picture 8"/>
          <p:cNvPicPr/>
          <p:nvPr/>
        </p:nvPicPr>
        <p:blipFill rotWithShape="1">
          <a:blip r:embed="rId1" cstate="hqprint"/>
          <a:srcRect/>
          <a:stretch>
            <a:fillRect/>
          </a:stretch>
        </p:blipFill>
        <p:spPr>
          <a:xfrm>
            <a:off x="817542" y="1487874"/>
            <a:ext cx="6376572" cy="473757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744438" y="1487874"/>
            <a:ext cx="3127779" cy="818334"/>
            <a:chOff x="928274" y="2723985"/>
            <a:chExt cx="3127779" cy="818334"/>
          </a:xfrm>
        </p:grpSpPr>
        <p:sp>
          <p:nvSpPr>
            <p:cNvPr id="157" name="文本框 156"/>
            <p:cNvSpPr txBox="1"/>
            <p:nvPr/>
          </p:nvSpPr>
          <p:spPr>
            <a:xfrm>
              <a:off x="928274" y="2723985"/>
              <a:ext cx="3127779"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伊戈尔</a:t>
              </a:r>
              <a:r>
                <a:rPr lang="en-US" altLang="zh-CN" sz="2400" i="1" spc="300" dirty="0">
                  <a:latin typeface="黑体" panose="02010609060101010101" pitchFamily="49" charset="-122"/>
                  <a:ea typeface="黑体" panose="02010609060101010101" pitchFamily="49" charset="-122"/>
                </a:rPr>
                <a:t>•</a:t>
              </a:r>
              <a:r>
                <a:rPr lang="zh-CN" altLang="en-US" sz="2400" i="1" spc="300" dirty="0">
                  <a:latin typeface="黑体" panose="02010609060101010101" pitchFamily="49" charset="-122"/>
                  <a:ea typeface="黑体" panose="02010609060101010101" pitchFamily="49" charset="-122"/>
                </a:rPr>
                <a:t>莫尔古洛夫</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021697" cy="382862"/>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俄罗斯外交部</a:t>
              </a:r>
              <a:r>
                <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 </a:t>
              </a:r>
              <a:r>
                <a:rPr lang="zh-CN"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副部长</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3" name="Picture 10" descr="A person wearing a suit and tie&#10;&#10;Description automatically generated"/>
          <p:cNvPicPr/>
          <p:nvPr/>
        </p:nvPicPr>
        <p:blipFill rotWithShape="1">
          <a:blip r:embed="rId1" cstate="hqprint"/>
          <a:srcRect/>
          <a:stretch>
            <a:fillRect/>
          </a:stretch>
        </p:blipFill>
        <p:spPr>
          <a:xfrm>
            <a:off x="604042" y="1487874"/>
            <a:ext cx="6803571" cy="4378343"/>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6936404" y="1487874"/>
            <a:ext cx="3054190" cy="818334"/>
            <a:chOff x="928274" y="2723985"/>
            <a:chExt cx="3054190" cy="818334"/>
          </a:xfrm>
        </p:grpSpPr>
        <p:sp>
          <p:nvSpPr>
            <p:cNvPr id="157" name="文本框 156"/>
            <p:cNvSpPr txBox="1"/>
            <p:nvPr/>
          </p:nvSpPr>
          <p:spPr>
            <a:xfrm>
              <a:off x="928274" y="2723985"/>
              <a:ext cx="2262158"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何塞</a:t>
              </a:r>
              <a:r>
                <a:rPr lang="en-US" altLang="zh-CN" sz="2400" i="1" spc="300" dirty="0">
                  <a:latin typeface="黑体" panose="02010609060101010101" pitchFamily="49" charset="-122"/>
                  <a:ea typeface="黑体" panose="02010609060101010101" pitchFamily="49" charset="-122"/>
                </a:rPr>
                <a:t>·</a:t>
              </a:r>
              <a:r>
                <a:rPr lang="zh-CN" altLang="en-US" sz="2400" i="1" spc="300" dirty="0">
                  <a:latin typeface="黑体" panose="02010609060101010101" pitchFamily="49" charset="-122"/>
                  <a:ea typeface="黑体" panose="02010609060101010101" pitchFamily="49" charset="-122"/>
                </a:rPr>
                <a:t>罗马纳</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021697" cy="382862"/>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菲律宾 驻华大使</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4" name="Picture 11" descr="A person wearing a suit and tie&#10;&#10;Description automatically generated"/>
          <p:cNvPicPr/>
          <p:nvPr/>
        </p:nvPicPr>
        <p:blipFill rotWithShape="1">
          <a:blip r:embed="rId1" cstate="hqprint"/>
          <a:srcRect/>
          <a:stretch>
            <a:fillRect/>
          </a:stretch>
        </p:blipFill>
        <p:spPr>
          <a:xfrm>
            <a:off x="2419937" y="1487874"/>
            <a:ext cx="4256316" cy="48387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pic>
        <p:nvPicPr>
          <p:cNvPr id="155" name="图片 154" descr="C:\Users\Administrator\Desktop\高桥洋.jpg"/>
          <p:cNvPicPr/>
          <p:nvPr/>
        </p:nvPicPr>
        <p:blipFill>
          <a:blip r:embed="rId1"/>
          <a:srcRect/>
          <a:stretch>
            <a:fillRect/>
          </a:stretch>
        </p:blipFill>
        <p:spPr bwMode="auto">
          <a:xfrm>
            <a:off x="570753" y="1618014"/>
            <a:ext cx="6635590" cy="4553697"/>
          </a:xfrm>
          <a:prstGeom prst="rect">
            <a:avLst/>
          </a:prstGeom>
          <a:ln>
            <a:noFill/>
          </a:ln>
          <a:effectLst>
            <a:outerShdw blurRad="292100" dist="139700" dir="2700000" algn="tl" rotWithShape="0">
              <a:srgbClr val="333333">
                <a:alpha val="65000"/>
              </a:srgbClr>
            </a:outerShdw>
          </a:effectLst>
        </p:spPr>
      </p:pic>
      <p:grpSp>
        <p:nvGrpSpPr>
          <p:cNvPr id="156" name="组合 155"/>
          <p:cNvGrpSpPr/>
          <p:nvPr/>
        </p:nvGrpSpPr>
        <p:grpSpPr>
          <a:xfrm>
            <a:off x="7777095" y="1618014"/>
            <a:ext cx="3054190" cy="818334"/>
            <a:chOff x="928274" y="2723985"/>
            <a:chExt cx="3054190" cy="818334"/>
          </a:xfrm>
        </p:grpSpPr>
        <p:sp>
          <p:nvSpPr>
            <p:cNvPr id="157" name="文本框 156"/>
            <p:cNvSpPr txBox="1"/>
            <p:nvPr/>
          </p:nvSpPr>
          <p:spPr>
            <a:xfrm>
              <a:off x="928274" y="2723985"/>
              <a:ext cx="1223412"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高桥洋</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021697" cy="382862"/>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索尼中国 董事长</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55"/>
                                        </p:tgtEl>
                                        <p:attrNameLst>
                                          <p:attrName>style.visibility</p:attrName>
                                        </p:attrNameLst>
                                      </p:cBhvr>
                                      <p:to>
                                        <p:strVal val="visible"/>
                                      </p:to>
                                    </p:set>
                                    <p:animEffect transition="in" filter="fade">
                                      <p:cBhvr>
                                        <p:cTn id="10" dur="5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国际</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6936404" y="1487874"/>
            <a:ext cx="3054190" cy="1138421"/>
            <a:chOff x="928274" y="2723985"/>
            <a:chExt cx="3054190" cy="1138421"/>
          </a:xfrm>
        </p:grpSpPr>
        <p:sp>
          <p:nvSpPr>
            <p:cNvPr id="157" name="文本框 156"/>
            <p:cNvSpPr txBox="1"/>
            <p:nvPr/>
          </p:nvSpPr>
          <p:spPr>
            <a:xfrm>
              <a:off x="928274" y="2723985"/>
              <a:ext cx="877163"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顾彬</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021697" cy="702949"/>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波恩大学 汉学系主任</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德国著名汉学家</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3" name="图片 2"/>
          <p:cNvPicPr>
            <a:picLocks noChangeAspect="1"/>
          </p:cNvPicPr>
          <p:nvPr/>
        </p:nvPicPr>
        <p:blipFill rotWithShape="1">
          <a:blip r:embed="rId1" cstate="hqprint"/>
          <a:srcRect/>
          <a:stretch>
            <a:fillRect/>
          </a:stretch>
        </p:blipFill>
        <p:spPr>
          <a:xfrm>
            <a:off x="3090136" y="1487874"/>
            <a:ext cx="3267034" cy="4904772"/>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36" name="组合      _1"/>
          <p:cNvGrpSpPr/>
          <p:nvPr/>
        </p:nvGrpSpPr>
        <p:grpSpPr bwMode="auto">
          <a:xfrm>
            <a:off x="4887478" y="1262572"/>
            <a:ext cx="6068661" cy="5104149"/>
            <a:chOff x="720" y="839"/>
            <a:chExt cx="3740" cy="3146"/>
          </a:xfrm>
          <a:solidFill>
            <a:srgbClr val="24C6DB"/>
          </a:solidFill>
        </p:grpSpPr>
        <p:sp>
          <p:nvSpPr>
            <p:cNvPr id="37" name="Freeform 67"/>
            <p:cNvSpPr/>
            <p:nvPr/>
          </p:nvSpPr>
          <p:spPr bwMode="gray">
            <a:xfrm>
              <a:off x="720" y="1296"/>
              <a:ext cx="1495" cy="1136"/>
            </a:xfrm>
            <a:custGeom>
              <a:avLst/>
              <a:gdLst>
                <a:gd name="T0" fmla="*/ 3 w 2990"/>
                <a:gd name="T1" fmla="*/ 357 h 2273"/>
                <a:gd name="T2" fmla="*/ 23 w 2990"/>
                <a:gd name="T3" fmla="*/ 365 h 2273"/>
                <a:gd name="T4" fmla="*/ 29 w 2990"/>
                <a:gd name="T5" fmla="*/ 390 h 2273"/>
                <a:gd name="T6" fmla="*/ 28 w 2990"/>
                <a:gd name="T7" fmla="*/ 419 h 2273"/>
                <a:gd name="T8" fmla="*/ 18 w 2990"/>
                <a:gd name="T9" fmla="*/ 419 h 2273"/>
                <a:gd name="T10" fmla="*/ 0 w 2990"/>
                <a:gd name="T11" fmla="*/ 429 h 2273"/>
                <a:gd name="T12" fmla="*/ 31 w 2990"/>
                <a:gd name="T13" fmla="*/ 438 h 2273"/>
                <a:gd name="T14" fmla="*/ 47 w 2990"/>
                <a:gd name="T15" fmla="*/ 456 h 2273"/>
                <a:gd name="T16" fmla="*/ 49 w 2990"/>
                <a:gd name="T17" fmla="*/ 490 h 2273"/>
                <a:gd name="T18" fmla="*/ 71 w 2990"/>
                <a:gd name="T19" fmla="*/ 507 h 2273"/>
                <a:gd name="T20" fmla="*/ 109 w 2990"/>
                <a:gd name="T21" fmla="*/ 521 h 2273"/>
                <a:gd name="T22" fmla="*/ 152 w 2990"/>
                <a:gd name="T23" fmla="*/ 516 h 2273"/>
                <a:gd name="T24" fmla="*/ 185 w 2990"/>
                <a:gd name="T25" fmla="*/ 542 h 2273"/>
                <a:gd name="T26" fmla="*/ 259 w 2990"/>
                <a:gd name="T27" fmla="*/ 549 h 2273"/>
                <a:gd name="T28" fmla="*/ 414 w 2990"/>
                <a:gd name="T29" fmla="*/ 546 h 2273"/>
                <a:gd name="T30" fmla="*/ 539 w 2990"/>
                <a:gd name="T31" fmla="*/ 549 h 2273"/>
                <a:gd name="T32" fmla="*/ 585 w 2990"/>
                <a:gd name="T33" fmla="*/ 458 h 2273"/>
                <a:gd name="T34" fmla="*/ 714 w 2990"/>
                <a:gd name="T35" fmla="*/ 339 h 2273"/>
                <a:gd name="T36" fmla="*/ 743 w 2990"/>
                <a:gd name="T37" fmla="*/ 295 h 2273"/>
                <a:gd name="T38" fmla="*/ 727 w 2990"/>
                <a:gd name="T39" fmla="*/ 263 h 2273"/>
                <a:gd name="T40" fmla="*/ 716 w 2990"/>
                <a:gd name="T41" fmla="*/ 233 h 2273"/>
                <a:gd name="T42" fmla="*/ 678 w 2990"/>
                <a:gd name="T43" fmla="*/ 213 h 2273"/>
                <a:gd name="T44" fmla="*/ 631 w 2990"/>
                <a:gd name="T45" fmla="*/ 198 h 2273"/>
                <a:gd name="T46" fmla="*/ 592 w 2990"/>
                <a:gd name="T47" fmla="*/ 185 h 2273"/>
                <a:gd name="T48" fmla="*/ 578 w 2990"/>
                <a:gd name="T49" fmla="*/ 170 h 2273"/>
                <a:gd name="T50" fmla="*/ 594 w 2990"/>
                <a:gd name="T51" fmla="*/ 148 h 2273"/>
                <a:gd name="T52" fmla="*/ 598 w 2990"/>
                <a:gd name="T53" fmla="*/ 114 h 2273"/>
                <a:gd name="T54" fmla="*/ 580 w 2990"/>
                <a:gd name="T55" fmla="*/ 75 h 2273"/>
                <a:gd name="T56" fmla="*/ 562 w 2990"/>
                <a:gd name="T57" fmla="*/ 63 h 2273"/>
                <a:gd name="T58" fmla="*/ 540 w 2990"/>
                <a:gd name="T59" fmla="*/ 55 h 2273"/>
                <a:gd name="T60" fmla="*/ 520 w 2990"/>
                <a:gd name="T61" fmla="*/ 29 h 2273"/>
                <a:gd name="T62" fmla="*/ 517 w 2990"/>
                <a:gd name="T63" fmla="*/ 8 h 2273"/>
                <a:gd name="T64" fmla="*/ 492 w 2990"/>
                <a:gd name="T65" fmla="*/ 0 h 2273"/>
                <a:gd name="T66" fmla="*/ 479 w 2990"/>
                <a:gd name="T67" fmla="*/ 21 h 2273"/>
                <a:gd name="T68" fmla="*/ 449 w 2990"/>
                <a:gd name="T69" fmla="*/ 35 h 2273"/>
                <a:gd name="T70" fmla="*/ 438 w 2990"/>
                <a:gd name="T71" fmla="*/ 79 h 2273"/>
                <a:gd name="T72" fmla="*/ 411 w 2990"/>
                <a:gd name="T73" fmla="*/ 85 h 2273"/>
                <a:gd name="T74" fmla="*/ 384 w 2990"/>
                <a:gd name="T75" fmla="*/ 75 h 2273"/>
                <a:gd name="T76" fmla="*/ 363 w 2990"/>
                <a:gd name="T77" fmla="*/ 71 h 2273"/>
                <a:gd name="T78" fmla="*/ 334 w 2990"/>
                <a:gd name="T79" fmla="*/ 122 h 2273"/>
                <a:gd name="T80" fmla="*/ 344 w 2990"/>
                <a:gd name="T81" fmla="*/ 140 h 2273"/>
                <a:gd name="T82" fmla="*/ 322 w 2990"/>
                <a:gd name="T83" fmla="*/ 144 h 2273"/>
                <a:gd name="T84" fmla="*/ 295 w 2990"/>
                <a:gd name="T85" fmla="*/ 136 h 2273"/>
                <a:gd name="T86" fmla="*/ 257 w 2990"/>
                <a:gd name="T87" fmla="*/ 138 h 2273"/>
                <a:gd name="T88" fmla="*/ 266 w 2990"/>
                <a:gd name="T89" fmla="*/ 148 h 2273"/>
                <a:gd name="T90" fmla="*/ 262 w 2990"/>
                <a:gd name="T91" fmla="*/ 173 h 2273"/>
                <a:gd name="T92" fmla="*/ 263 w 2990"/>
                <a:gd name="T93" fmla="*/ 220 h 2273"/>
                <a:gd name="T94" fmla="*/ 241 w 2990"/>
                <a:gd name="T95" fmla="*/ 242 h 2273"/>
                <a:gd name="T96" fmla="*/ 230 w 2990"/>
                <a:gd name="T97" fmla="*/ 267 h 2273"/>
                <a:gd name="T98" fmla="*/ 177 w 2990"/>
                <a:gd name="T99" fmla="*/ 281 h 2273"/>
                <a:gd name="T100" fmla="*/ 147 w 2990"/>
                <a:gd name="T101" fmla="*/ 286 h 2273"/>
                <a:gd name="T102" fmla="*/ 114 w 2990"/>
                <a:gd name="T103" fmla="*/ 294 h 2273"/>
                <a:gd name="T104" fmla="*/ 80 w 2990"/>
                <a:gd name="T105" fmla="*/ 302 h 2273"/>
                <a:gd name="T106" fmla="*/ 80 w 2990"/>
                <a:gd name="T107" fmla="*/ 289 h 2273"/>
                <a:gd name="T108" fmla="*/ 55 w 2990"/>
                <a:gd name="T109" fmla="*/ 291 h 2273"/>
                <a:gd name="T110" fmla="*/ 29 w 2990"/>
                <a:gd name="T111" fmla="*/ 297 h 2273"/>
                <a:gd name="T112" fmla="*/ 10 w 2990"/>
                <a:gd name="T113" fmla="*/ 318 h 227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990"/>
                <a:gd name="T172" fmla="*/ 0 h 2273"/>
                <a:gd name="T173" fmla="*/ 2990 w 2990"/>
                <a:gd name="T174" fmla="*/ 2273 h 227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990" h="2273">
                  <a:moveTo>
                    <a:pt x="29" y="1289"/>
                  </a:moveTo>
                  <a:lnTo>
                    <a:pt x="4" y="1329"/>
                  </a:lnTo>
                  <a:lnTo>
                    <a:pt x="12" y="1378"/>
                  </a:lnTo>
                  <a:lnTo>
                    <a:pt x="12" y="1382"/>
                  </a:lnTo>
                  <a:lnTo>
                    <a:pt x="10" y="1395"/>
                  </a:lnTo>
                  <a:lnTo>
                    <a:pt x="10" y="1411"/>
                  </a:lnTo>
                  <a:lnTo>
                    <a:pt x="10" y="1429"/>
                  </a:lnTo>
                  <a:lnTo>
                    <a:pt x="14" y="1443"/>
                  </a:lnTo>
                  <a:lnTo>
                    <a:pt x="20" y="1451"/>
                  </a:lnTo>
                  <a:lnTo>
                    <a:pt x="31" y="1453"/>
                  </a:lnTo>
                  <a:lnTo>
                    <a:pt x="43" y="1451"/>
                  </a:lnTo>
                  <a:lnTo>
                    <a:pt x="55" y="1449"/>
                  </a:lnTo>
                  <a:lnTo>
                    <a:pt x="73" y="1451"/>
                  </a:lnTo>
                  <a:lnTo>
                    <a:pt x="94" y="1462"/>
                  </a:lnTo>
                  <a:lnTo>
                    <a:pt x="116" y="1480"/>
                  </a:lnTo>
                  <a:lnTo>
                    <a:pt x="132" y="1502"/>
                  </a:lnTo>
                  <a:lnTo>
                    <a:pt x="136" y="1514"/>
                  </a:lnTo>
                  <a:lnTo>
                    <a:pt x="132" y="1525"/>
                  </a:lnTo>
                  <a:lnTo>
                    <a:pt x="126" y="1537"/>
                  </a:lnTo>
                  <a:lnTo>
                    <a:pt x="120" y="1549"/>
                  </a:lnTo>
                  <a:lnTo>
                    <a:pt x="116" y="1561"/>
                  </a:lnTo>
                  <a:lnTo>
                    <a:pt x="116" y="1577"/>
                  </a:lnTo>
                  <a:lnTo>
                    <a:pt x="114" y="1596"/>
                  </a:lnTo>
                  <a:lnTo>
                    <a:pt x="110" y="1618"/>
                  </a:lnTo>
                  <a:lnTo>
                    <a:pt x="108" y="1640"/>
                  </a:lnTo>
                  <a:lnTo>
                    <a:pt x="108" y="1657"/>
                  </a:lnTo>
                  <a:lnTo>
                    <a:pt x="112" y="1669"/>
                  </a:lnTo>
                  <a:lnTo>
                    <a:pt x="114" y="1679"/>
                  </a:lnTo>
                  <a:lnTo>
                    <a:pt x="114" y="1691"/>
                  </a:lnTo>
                  <a:lnTo>
                    <a:pt x="106" y="1699"/>
                  </a:lnTo>
                  <a:lnTo>
                    <a:pt x="96" y="1703"/>
                  </a:lnTo>
                  <a:lnTo>
                    <a:pt x="89" y="1701"/>
                  </a:lnTo>
                  <a:lnTo>
                    <a:pt x="83" y="1695"/>
                  </a:lnTo>
                  <a:lnTo>
                    <a:pt x="77" y="1687"/>
                  </a:lnTo>
                  <a:lnTo>
                    <a:pt x="69" y="1679"/>
                  </a:lnTo>
                  <a:lnTo>
                    <a:pt x="63" y="1673"/>
                  </a:lnTo>
                  <a:lnTo>
                    <a:pt x="53" y="1675"/>
                  </a:lnTo>
                  <a:lnTo>
                    <a:pt x="41" y="1685"/>
                  </a:lnTo>
                  <a:lnTo>
                    <a:pt x="26" y="1699"/>
                  </a:lnTo>
                  <a:lnTo>
                    <a:pt x="12" y="1708"/>
                  </a:lnTo>
                  <a:lnTo>
                    <a:pt x="4" y="1712"/>
                  </a:lnTo>
                  <a:lnTo>
                    <a:pt x="0" y="1716"/>
                  </a:lnTo>
                  <a:lnTo>
                    <a:pt x="6" y="1720"/>
                  </a:lnTo>
                  <a:lnTo>
                    <a:pt x="20" y="1724"/>
                  </a:lnTo>
                  <a:lnTo>
                    <a:pt x="41" y="1728"/>
                  </a:lnTo>
                  <a:lnTo>
                    <a:pt x="65" y="1734"/>
                  </a:lnTo>
                  <a:lnTo>
                    <a:pt x="89" y="1740"/>
                  </a:lnTo>
                  <a:lnTo>
                    <a:pt x="110" y="1746"/>
                  </a:lnTo>
                  <a:lnTo>
                    <a:pt x="126" y="1754"/>
                  </a:lnTo>
                  <a:lnTo>
                    <a:pt x="136" y="1764"/>
                  </a:lnTo>
                  <a:lnTo>
                    <a:pt x="140" y="1771"/>
                  </a:lnTo>
                  <a:lnTo>
                    <a:pt x="150" y="1779"/>
                  </a:lnTo>
                  <a:lnTo>
                    <a:pt x="159" y="1785"/>
                  </a:lnTo>
                  <a:lnTo>
                    <a:pt x="169" y="1795"/>
                  </a:lnTo>
                  <a:lnTo>
                    <a:pt x="177" y="1807"/>
                  </a:lnTo>
                  <a:lnTo>
                    <a:pt x="185" y="1825"/>
                  </a:lnTo>
                  <a:lnTo>
                    <a:pt x="187" y="1848"/>
                  </a:lnTo>
                  <a:lnTo>
                    <a:pt x="185" y="1870"/>
                  </a:lnTo>
                  <a:lnTo>
                    <a:pt x="179" y="1888"/>
                  </a:lnTo>
                  <a:lnTo>
                    <a:pt x="175" y="1905"/>
                  </a:lnTo>
                  <a:lnTo>
                    <a:pt x="177" y="1921"/>
                  </a:lnTo>
                  <a:lnTo>
                    <a:pt x="185" y="1941"/>
                  </a:lnTo>
                  <a:lnTo>
                    <a:pt x="195" y="1960"/>
                  </a:lnTo>
                  <a:lnTo>
                    <a:pt x="207" y="1978"/>
                  </a:lnTo>
                  <a:lnTo>
                    <a:pt x="218" y="1986"/>
                  </a:lnTo>
                  <a:lnTo>
                    <a:pt x="232" y="1990"/>
                  </a:lnTo>
                  <a:lnTo>
                    <a:pt x="246" y="1994"/>
                  </a:lnTo>
                  <a:lnTo>
                    <a:pt x="260" y="2002"/>
                  </a:lnTo>
                  <a:lnTo>
                    <a:pt x="270" y="2014"/>
                  </a:lnTo>
                  <a:lnTo>
                    <a:pt x="281" y="2029"/>
                  </a:lnTo>
                  <a:lnTo>
                    <a:pt x="299" y="2045"/>
                  </a:lnTo>
                  <a:lnTo>
                    <a:pt x="327" y="2057"/>
                  </a:lnTo>
                  <a:lnTo>
                    <a:pt x="352" y="2067"/>
                  </a:lnTo>
                  <a:lnTo>
                    <a:pt x="378" y="2076"/>
                  </a:lnTo>
                  <a:lnTo>
                    <a:pt x="402" y="2082"/>
                  </a:lnTo>
                  <a:lnTo>
                    <a:pt x="421" y="2086"/>
                  </a:lnTo>
                  <a:lnTo>
                    <a:pt x="435" y="2084"/>
                  </a:lnTo>
                  <a:lnTo>
                    <a:pt x="457" y="2078"/>
                  </a:lnTo>
                  <a:lnTo>
                    <a:pt x="484" y="2073"/>
                  </a:lnTo>
                  <a:lnTo>
                    <a:pt x="514" y="2065"/>
                  </a:lnTo>
                  <a:lnTo>
                    <a:pt x="543" y="2059"/>
                  </a:lnTo>
                  <a:lnTo>
                    <a:pt x="569" y="2057"/>
                  </a:lnTo>
                  <a:lnTo>
                    <a:pt x="589" y="2057"/>
                  </a:lnTo>
                  <a:lnTo>
                    <a:pt x="608" y="2065"/>
                  </a:lnTo>
                  <a:lnTo>
                    <a:pt x="626" y="2078"/>
                  </a:lnTo>
                  <a:lnTo>
                    <a:pt x="642" y="2096"/>
                  </a:lnTo>
                  <a:lnTo>
                    <a:pt x="661" y="2116"/>
                  </a:lnTo>
                  <a:lnTo>
                    <a:pt x="687" y="2134"/>
                  </a:lnTo>
                  <a:lnTo>
                    <a:pt x="711" y="2149"/>
                  </a:lnTo>
                  <a:lnTo>
                    <a:pt x="726" y="2161"/>
                  </a:lnTo>
                  <a:lnTo>
                    <a:pt x="738" y="2171"/>
                  </a:lnTo>
                  <a:lnTo>
                    <a:pt x="742" y="2177"/>
                  </a:lnTo>
                  <a:lnTo>
                    <a:pt x="744" y="2179"/>
                  </a:lnTo>
                  <a:lnTo>
                    <a:pt x="856" y="2218"/>
                  </a:lnTo>
                  <a:lnTo>
                    <a:pt x="892" y="2242"/>
                  </a:lnTo>
                  <a:lnTo>
                    <a:pt x="949" y="2236"/>
                  </a:lnTo>
                  <a:lnTo>
                    <a:pt x="986" y="2191"/>
                  </a:lnTo>
                  <a:lnTo>
                    <a:pt x="1035" y="2199"/>
                  </a:lnTo>
                  <a:lnTo>
                    <a:pt x="1152" y="2222"/>
                  </a:lnTo>
                  <a:lnTo>
                    <a:pt x="1201" y="2261"/>
                  </a:lnTo>
                  <a:lnTo>
                    <a:pt x="1256" y="2273"/>
                  </a:lnTo>
                  <a:lnTo>
                    <a:pt x="1392" y="2236"/>
                  </a:lnTo>
                  <a:lnTo>
                    <a:pt x="1431" y="2260"/>
                  </a:lnTo>
                  <a:lnTo>
                    <a:pt x="1539" y="2189"/>
                  </a:lnTo>
                  <a:lnTo>
                    <a:pt x="1657" y="2187"/>
                  </a:lnTo>
                  <a:lnTo>
                    <a:pt x="1726" y="2155"/>
                  </a:lnTo>
                  <a:lnTo>
                    <a:pt x="1821" y="2167"/>
                  </a:lnTo>
                  <a:lnTo>
                    <a:pt x="1935" y="2242"/>
                  </a:lnTo>
                  <a:lnTo>
                    <a:pt x="2026" y="2230"/>
                  </a:lnTo>
                  <a:lnTo>
                    <a:pt x="2088" y="2265"/>
                  </a:lnTo>
                  <a:lnTo>
                    <a:pt x="2193" y="2230"/>
                  </a:lnTo>
                  <a:lnTo>
                    <a:pt x="2155" y="2197"/>
                  </a:lnTo>
                  <a:lnTo>
                    <a:pt x="2161" y="2147"/>
                  </a:lnTo>
                  <a:lnTo>
                    <a:pt x="2214" y="2128"/>
                  </a:lnTo>
                  <a:lnTo>
                    <a:pt x="2242" y="2063"/>
                  </a:lnTo>
                  <a:lnTo>
                    <a:pt x="2124" y="1970"/>
                  </a:lnTo>
                  <a:lnTo>
                    <a:pt x="2128" y="1890"/>
                  </a:lnTo>
                  <a:lnTo>
                    <a:pt x="2199" y="1850"/>
                  </a:lnTo>
                  <a:lnTo>
                    <a:pt x="2337" y="1834"/>
                  </a:lnTo>
                  <a:lnTo>
                    <a:pt x="2484" y="1797"/>
                  </a:lnTo>
                  <a:lnTo>
                    <a:pt x="2545" y="1764"/>
                  </a:lnTo>
                  <a:lnTo>
                    <a:pt x="2624" y="1777"/>
                  </a:lnTo>
                  <a:lnTo>
                    <a:pt x="2592" y="1514"/>
                  </a:lnTo>
                  <a:lnTo>
                    <a:pt x="2673" y="1466"/>
                  </a:lnTo>
                  <a:lnTo>
                    <a:pt x="2752" y="1388"/>
                  </a:lnTo>
                  <a:lnTo>
                    <a:pt x="2856" y="1356"/>
                  </a:lnTo>
                  <a:lnTo>
                    <a:pt x="2939" y="1329"/>
                  </a:lnTo>
                  <a:lnTo>
                    <a:pt x="2966" y="1299"/>
                  </a:lnTo>
                  <a:lnTo>
                    <a:pt x="2957" y="1258"/>
                  </a:lnTo>
                  <a:lnTo>
                    <a:pt x="2990" y="1207"/>
                  </a:lnTo>
                  <a:lnTo>
                    <a:pt x="2988" y="1205"/>
                  </a:lnTo>
                  <a:lnTo>
                    <a:pt x="2982" y="1195"/>
                  </a:lnTo>
                  <a:lnTo>
                    <a:pt x="2972" y="1183"/>
                  </a:lnTo>
                  <a:lnTo>
                    <a:pt x="2961" y="1167"/>
                  </a:lnTo>
                  <a:lnTo>
                    <a:pt x="2949" y="1149"/>
                  </a:lnTo>
                  <a:lnTo>
                    <a:pt x="2937" y="1134"/>
                  </a:lnTo>
                  <a:lnTo>
                    <a:pt x="2929" y="1116"/>
                  </a:lnTo>
                  <a:lnTo>
                    <a:pt x="2923" y="1102"/>
                  </a:lnTo>
                  <a:lnTo>
                    <a:pt x="2915" y="1079"/>
                  </a:lnTo>
                  <a:lnTo>
                    <a:pt x="2905" y="1053"/>
                  </a:lnTo>
                  <a:lnTo>
                    <a:pt x="2898" y="1025"/>
                  </a:lnTo>
                  <a:lnTo>
                    <a:pt x="2888" y="1000"/>
                  </a:lnTo>
                  <a:lnTo>
                    <a:pt x="2880" y="982"/>
                  </a:lnTo>
                  <a:lnTo>
                    <a:pt x="2872" y="957"/>
                  </a:lnTo>
                  <a:lnTo>
                    <a:pt x="2870" y="941"/>
                  </a:lnTo>
                  <a:lnTo>
                    <a:pt x="2870" y="935"/>
                  </a:lnTo>
                  <a:lnTo>
                    <a:pt x="2864" y="933"/>
                  </a:lnTo>
                  <a:lnTo>
                    <a:pt x="2850" y="933"/>
                  </a:lnTo>
                  <a:lnTo>
                    <a:pt x="2829" y="929"/>
                  </a:lnTo>
                  <a:lnTo>
                    <a:pt x="2805" y="923"/>
                  </a:lnTo>
                  <a:lnTo>
                    <a:pt x="2781" y="913"/>
                  </a:lnTo>
                  <a:lnTo>
                    <a:pt x="2760" y="898"/>
                  </a:lnTo>
                  <a:lnTo>
                    <a:pt x="2734" y="874"/>
                  </a:lnTo>
                  <a:lnTo>
                    <a:pt x="2709" y="854"/>
                  </a:lnTo>
                  <a:lnTo>
                    <a:pt x="2687" y="837"/>
                  </a:lnTo>
                  <a:lnTo>
                    <a:pt x="2665" y="819"/>
                  </a:lnTo>
                  <a:lnTo>
                    <a:pt x="2648" y="809"/>
                  </a:lnTo>
                  <a:lnTo>
                    <a:pt x="2622" y="803"/>
                  </a:lnTo>
                  <a:lnTo>
                    <a:pt x="2590" y="801"/>
                  </a:lnTo>
                  <a:lnTo>
                    <a:pt x="2557" y="797"/>
                  </a:lnTo>
                  <a:lnTo>
                    <a:pt x="2524" y="795"/>
                  </a:lnTo>
                  <a:lnTo>
                    <a:pt x="2494" y="789"/>
                  </a:lnTo>
                  <a:lnTo>
                    <a:pt x="2468" y="781"/>
                  </a:lnTo>
                  <a:lnTo>
                    <a:pt x="2443" y="770"/>
                  </a:lnTo>
                  <a:lnTo>
                    <a:pt x="2417" y="760"/>
                  </a:lnTo>
                  <a:lnTo>
                    <a:pt x="2396" y="752"/>
                  </a:lnTo>
                  <a:lnTo>
                    <a:pt x="2378" y="746"/>
                  </a:lnTo>
                  <a:lnTo>
                    <a:pt x="2366" y="742"/>
                  </a:lnTo>
                  <a:lnTo>
                    <a:pt x="2360" y="740"/>
                  </a:lnTo>
                  <a:lnTo>
                    <a:pt x="2356" y="738"/>
                  </a:lnTo>
                  <a:lnTo>
                    <a:pt x="2348" y="730"/>
                  </a:lnTo>
                  <a:lnTo>
                    <a:pt x="2337" y="720"/>
                  </a:lnTo>
                  <a:lnTo>
                    <a:pt x="2325" y="709"/>
                  </a:lnTo>
                  <a:lnTo>
                    <a:pt x="2315" y="695"/>
                  </a:lnTo>
                  <a:lnTo>
                    <a:pt x="2309" y="683"/>
                  </a:lnTo>
                  <a:lnTo>
                    <a:pt x="2311" y="669"/>
                  </a:lnTo>
                  <a:lnTo>
                    <a:pt x="2321" y="655"/>
                  </a:lnTo>
                  <a:lnTo>
                    <a:pt x="2333" y="646"/>
                  </a:lnTo>
                  <a:lnTo>
                    <a:pt x="2348" y="634"/>
                  </a:lnTo>
                  <a:lnTo>
                    <a:pt x="2360" y="622"/>
                  </a:lnTo>
                  <a:lnTo>
                    <a:pt x="2372" y="610"/>
                  </a:lnTo>
                  <a:lnTo>
                    <a:pt x="2376" y="592"/>
                  </a:lnTo>
                  <a:lnTo>
                    <a:pt x="2378" y="569"/>
                  </a:lnTo>
                  <a:lnTo>
                    <a:pt x="2378" y="547"/>
                  </a:lnTo>
                  <a:lnTo>
                    <a:pt x="2380" y="528"/>
                  </a:lnTo>
                  <a:lnTo>
                    <a:pt x="2390" y="506"/>
                  </a:lnTo>
                  <a:lnTo>
                    <a:pt x="2396" y="490"/>
                  </a:lnTo>
                  <a:lnTo>
                    <a:pt x="2396" y="474"/>
                  </a:lnTo>
                  <a:lnTo>
                    <a:pt x="2390" y="459"/>
                  </a:lnTo>
                  <a:lnTo>
                    <a:pt x="2382" y="445"/>
                  </a:lnTo>
                  <a:lnTo>
                    <a:pt x="2374" y="433"/>
                  </a:lnTo>
                  <a:lnTo>
                    <a:pt x="2358" y="407"/>
                  </a:lnTo>
                  <a:lnTo>
                    <a:pt x="2342" y="378"/>
                  </a:lnTo>
                  <a:lnTo>
                    <a:pt x="2335" y="344"/>
                  </a:lnTo>
                  <a:lnTo>
                    <a:pt x="2329" y="321"/>
                  </a:lnTo>
                  <a:lnTo>
                    <a:pt x="2319" y="303"/>
                  </a:lnTo>
                  <a:lnTo>
                    <a:pt x="2307" y="287"/>
                  </a:lnTo>
                  <a:lnTo>
                    <a:pt x="2295" y="276"/>
                  </a:lnTo>
                  <a:lnTo>
                    <a:pt x="2285" y="270"/>
                  </a:lnTo>
                  <a:lnTo>
                    <a:pt x="2276" y="266"/>
                  </a:lnTo>
                  <a:lnTo>
                    <a:pt x="2264" y="266"/>
                  </a:lnTo>
                  <a:lnTo>
                    <a:pt x="2256" y="262"/>
                  </a:lnTo>
                  <a:lnTo>
                    <a:pt x="2248" y="254"/>
                  </a:lnTo>
                  <a:lnTo>
                    <a:pt x="2238" y="248"/>
                  </a:lnTo>
                  <a:lnTo>
                    <a:pt x="2224" y="246"/>
                  </a:lnTo>
                  <a:lnTo>
                    <a:pt x="2209" y="248"/>
                  </a:lnTo>
                  <a:lnTo>
                    <a:pt x="2191" y="248"/>
                  </a:lnTo>
                  <a:lnTo>
                    <a:pt x="2177" y="246"/>
                  </a:lnTo>
                  <a:lnTo>
                    <a:pt x="2169" y="238"/>
                  </a:lnTo>
                  <a:lnTo>
                    <a:pt x="2159" y="221"/>
                  </a:lnTo>
                  <a:lnTo>
                    <a:pt x="2150" y="197"/>
                  </a:lnTo>
                  <a:lnTo>
                    <a:pt x="2136" y="173"/>
                  </a:lnTo>
                  <a:lnTo>
                    <a:pt x="2120" y="156"/>
                  </a:lnTo>
                  <a:lnTo>
                    <a:pt x="2106" y="144"/>
                  </a:lnTo>
                  <a:lnTo>
                    <a:pt x="2092" y="136"/>
                  </a:lnTo>
                  <a:lnTo>
                    <a:pt x="2083" y="128"/>
                  </a:lnTo>
                  <a:lnTo>
                    <a:pt x="2077" y="118"/>
                  </a:lnTo>
                  <a:lnTo>
                    <a:pt x="2075" y="104"/>
                  </a:lnTo>
                  <a:lnTo>
                    <a:pt x="2071" y="87"/>
                  </a:lnTo>
                  <a:lnTo>
                    <a:pt x="2061" y="73"/>
                  </a:lnTo>
                  <a:lnTo>
                    <a:pt x="2053" y="63"/>
                  </a:lnTo>
                  <a:lnTo>
                    <a:pt x="2051" y="53"/>
                  </a:lnTo>
                  <a:lnTo>
                    <a:pt x="2057" y="41"/>
                  </a:lnTo>
                  <a:lnTo>
                    <a:pt x="2065" y="32"/>
                  </a:lnTo>
                  <a:lnTo>
                    <a:pt x="2071" y="20"/>
                  </a:lnTo>
                  <a:lnTo>
                    <a:pt x="2073" y="14"/>
                  </a:lnTo>
                  <a:lnTo>
                    <a:pt x="2063" y="8"/>
                  </a:lnTo>
                  <a:lnTo>
                    <a:pt x="2045" y="4"/>
                  </a:lnTo>
                  <a:lnTo>
                    <a:pt x="2020" y="2"/>
                  </a:lnTo>
                  <a:lnTo>
                    <a:pt x="1994" y="0"/>
                  </a:lnTo>
                  <a:lnTo>
                    <a:pt x="1970" y="0"/>
                  </a:lnTo>
                  <a:lnTo>
                    <a:pt x="1955" y="6"/>
                  </a:lnTo>
                  <a:lnTo>
                    <a:pt x="1945" y="14"/>
                  </a:lnTo>
                  <a:lnTo>
                    <a:pt x="1941" y="30"/>
                  </a:lnTo>
                  <a:lnTo>
                    <a:pt x="1937" y="45"/>
                  </a:lnTo>
                  <a:lnTo>
                    <a:pt x="1933" y="61"/>
                  </a:lnTo>
                  <a:lnTo>
                    <a:pt x="1927" y="75"/>
                  </a:lnTo>
                  <a:lnTo>
                    <a:pt x="1915" y="85"/>
                  </a:lnTo>
                  <a:lnTo>
                    <a:pt x="1898" y="87"/>
                  </a:lnTo>
                  <a:lnTo>
                    <a:pt x="1878" y="91"/>
                  </a:lnTo>
                  <a:lnTo>
                    <a:pt x="1858" y="93"/>
                  </a:lnTo>
                  <a:lnTo>
                    <a:pt x="1840" y="95"/>
                  </a:lnTo>
                  <a:lnTo>
                    <a:pt x="1823" y="102"/>
                  </a:lnTo>
                  <a:lnTo>
                    <a:pt x="1809" y="116"/>
                  </a:lnTo>
                  <a:lnTo>
                    <a:pt x="1797" y="140"/>
                  </a:lnTo>
                  <a:lnTo>
                    <a:pt x="1785" y="169"/>
                  </a:lnTo>
                  <a:lnTo>
                    <a:pt x="1777" y="203"/>
                  </a:lnTo>
                  <a:lnTo>
                    <a:pt x="1774" y="236"/>
                  </a:lnTo>
                  <a:lnTo>
                    <a:pt x="1770" y="262"/>
                  </a:lnTo>
                  <a:lnTo>
                    <a:pt x="1768" y="283"/>
                  </a:lnTo>
                  <a:lnTo>
                    <a:pt x="1762" y="303"/>
                  </a:lnTo>
                  <a:lnTo>
                    <a:pt x="1754" y="319"/>
                  </a:lnTo>
                  <a:lnTo>
                    <a:pt x="1740" y="329"/>
                  </a:lnTo>
                  <a:lnTo>
                    <a:pt x="1722" y="337"/>
                  </a:lnTo>
                  <a:lnTo>
                    <a:pt x="1703" y="341"/>
                  </a:lnTo>
                  <a:lnTo>
                    <a:pt x="1685" y="346"/>
                  </a:lnTo>
                  <a:lnTo>
                    <a:pt x="1669" y="350"/>
                  </a:lnTo>
                  <a:lnTo>
                    <a:pt x="1655" y="348"/>
                  </a:lnTo>
                  <a:lnTo>
                    <a:pt x="1644" y="341"/>
                  </a:lnTo>
                  <a:lnTo>
                    <a:pt x="1634" y="333"/>
                  </a:lnTo>
                  <a:lnTo>
                    <a:pt x="1618" y="331"/>
                  </a:lnTo>
                  <a:lnTo>
                    <a:pt x="1600" y="331"/>
                  </a:lnTo>
                  <a:lnTo>
                    <a:pt x="1581" y="329"/>
                  </a:lnTo>
                  <a:lnTo>
                    <a:pt x="1563" y="325"/>
                  </a:lnTo>
                  <a:lnTo>
                    <a:pt x="1549" y="315"/>
                  </a:lnTo>
                  <a:lnTo>
                    <a:pt x="1537" y="303"/>
                  </a:lnTo>
                  <a:lnTo>
                    <a:pt x="1524" y="289"/>
                  </a:lnTo>
                  <a:lnTo>
                    <a:pt x="1508" y="276"/>
                  </a:lnTo>
                  <a:lnTo>
                    <a:pt x="1494" y="266"/>
                  </a:lnTo>
                  <a:lnTo>
                    <a:pt x="1480" y="260"/>
                  </a:lnTo>
                  <a:lnTo>
                    <a:pt x="1468" y="260"/>
                  </a:lnTo>
                  <a:lnTo>
                    <a:pt x="1461" y="268"/>
                  </a:lnTo>
                  <a:lnTo>
                    <a:pt x="1449" y="287"/>
                  </a:lnTo>
                  <a:lnTo>
                    <a:pt x="1435" y="311"/>
                  </a:lnTo>
                  <a:lnTo>
                    <a:pt x="1417" y="341"/>
                  </a:lnTo>
                  <a:lnTo>
                    <a:pt x="1400" y="372"/>
                  </a:lnTo>
                  <a:lnTo>
                    <a:pt x="1382" y="407"/>
                  </a:lnTo>
                  <a:lnTo>
                    <a:pt x="1366" y="439"/>
                  </a:lnTo>
                  <a:lnTo>
                    <a:pt x="1348" y="467"/>
                  </a:lnTo>
                  <a:lnTo>
                    <a:pt x="1335" y="488"/>
                  </a:lnTo>
                  <a:lnTo>
                    <a:pt x="1327" y="506"/>
                  </a:lnTo>
                  <a:lnTo>
                    <a:pt x="1327" y="522"/>
                  </a:lnTo>
                  <a:lnTo>
                    <a:pt x="1335" y="533"/>
                  </a:lnTo>
                  <a:lnTo>
                    <a:pt x="1344" y="541"/>
                  </a:lnTo>
                  <a:lnTo>
                    <a:pt x="1358" y="549"/>
                  </a:lnTo>
                  <a:lnTo>
                    <a:pt x="1370" y="555"/>
                  </a:lnTo>
                  <a:lnTo>
                    <a:pt x="1376" y="563"/>
                  </a:lnTo>
                  <a:lnTo>
                    <a:pt x="1374" y="569"/>
                  </a:lnTo>
                  <a:lnTo>
                    <a:pt x="1362" y="575"/>
                  </a:lnTo>
                  <a:lnTo>
                    <a:pt x="1348" y="577"/>
                  </a:lnTo>
                  <a:lnTo>
                    <a:pt x="1331" y="577"/>
                  </a:lnTo>
                  <a:lnTo>
                    <a:pt x="1313" y="577"/>
                  </a:lnTo>
                  <a:lnTo>
                    <a:pt x="1297" y="577"/>
                  </a:lnTo>
                  <a:lnTo>
                    <a:pt x="1285" y="577"/>
                  </a:lnTo>
                  <a:lnTo>
                    <a:pt x="1274" y="571"/>
                  </a:lnTo>
                  <a:lnTo>
                    <a:pt x="1264" y="561"/>
                  </a:lnTo>
                  <a:lnTo>
                    <a:pt x="1252" y="551"/>
                  </a:lnTo>
                  <a:lnTo>
                    <a:pt x="1238" y="543"/>
                  </a:lnTo>
                  <a:lnTo>
                    <a:pt x="1222" y="541"/>
                  </a:lnTo>
                  <a:lnTo>
                    <a:pt x="1201" y="543"/>
                  </a:lnTo>
                  <a:lnTo>
                    <a:pt x="1177" y="547"/>
                  </a:lnTo>
                  <a:lnTo>
                    <a:pt x="1153" y="551"/>
                  </a:lnTo>
                  <a:lnTo>
                    <a:pt x="1126" y="553"/>
                  </a:lnTo>
                  <a:lnTo>
                    <a:pt x="1100" y="553"/>
                  </a:lnTo>
                  <a:lnTo>
                    <a:pt x="1079" y="551"/>
                  </a:lnTo>
                  <a:lnTo>
                    <a:pt x="1059" y="551"/>
                  </a:lnTo>
                  <a:lnTo>
                    <a:pt x="1039" y="553"/>
                  </a:lnTo>
                  <a:lnTo>
                    <a:pt x="1026" y="555"/>
                  </a:lnTo>
                  <a:lnTo>
                    <a:pt x="1014" y="561"/>
                  </a:lnTo>
                  <a:lnTo>
                    <a:pt x="1010" y="567"/>
                  </a:lnTo>
                  <a:lnTo>
                    <a:pt x="1014" y="577"/>
                  </a:lnTo>
                  <a:lnTo>
                    <a:pt x="1024" y="585"/>
                  </a:lnTo>
                  <a:lnTo>
                    <a:pt x="1035" y="589"/>
                  </a:lnTo>
                  <a:lnTo>
                    <a:pt x="1049" y="592"/>
                  </a:lnTo>
                  <a:lnTo>
                    <a:pt x="1061" y="594"/>
                  </a:lnTo>
                  <a:lnTo>
                    <a:pt x="1073" y="598"/>
                  </a:lnTo>
                  <a:lnTo>
                    <a:pt x="1081" y="604"/>
                  </a:lnTo>
                  <a:lnTo>
                    <a:pt x="1085" y="616"/>
                  </a:lnTo>
                  <a:lnTo>
                    <a:pt x="1081" y="632"/>
                  </a:lnTo>
                  <a:lnTo>
                    <a:pt x="1069" y="655"/>
                  </a:lnTo>
                  <a:lnTo>
                    <a:pt x="1057" y="677"/>
                  </a:lnTo>
                  <a:lnTo>
                    <a:pt x="1047" y="695"/>
                  </a:lnTo>
                  <a:lnTo>
                    <a:pt x="1041" y="715"/>
                  </a:lnTo>
                  <a:lnTo>
                    <a:pt x="1039" y="736"/>
                  </a:lnTo>
                  <a:lnTo>
                    <a:pt x="1045" y="762"/>
                  </a:lnTo>
                  <a:lnTo>
                    <a:pt x="1057" y="799"/>
                  </a:lnTo>
                  <a:lnTo>
                    <a:pt x="1061" y="833"/>
                  </a:lnTo>
                  <a:lnTo>
                    <a:pt x="1059" y="860"/>
                  </a:lnTo>
                  <a:lnTo>
                    <a:pt x="1051" y="882"/>
                  </a:lnTo>
                  <a:lnTo>
                    <a:pt x="1039" y="894"/>
                  </a:lnTo>
                  <a:lnTo>
                    <a:pt x="1024" y="905"/>
                  </a:lnTo>
                  <a:lnTo>
                    <a:pt x="1004" y="915"/>
                  </a:lnTo>
                  <a:lnTo>
                    <a:pt x="986" y="927"/>
                  </a:lnTo>
                  <a:lnTo>
                    <a:pt x="972" y="939"/>
                  </a:lnTo>
                  <a:lnTo>
                    <a:pt x="966" y="953"/>
                  </a:lnTo>
                  <a:lnTo>
                    <a:pt x="966" y="968"/>
                  </a:lnTo>
                  <a:lnTo>
                    <a:pt x="966" y="988"/>
                  </a:lnTo>
                  <a:lnTo>
                    <a:pt x="966" y="1010"/>
                  </a:lnTo>
                  <a:lnTo>
                    <a:pt x="965" y="1031"/>
                  </a:lnTo>
                  <a:lnTo>
                    <a:pt x="961" y="1049"/>
                  </a:lnTo>
                  <a:lnTo>
                    <a:pt x="953" y="1063"/>
                  </a:lnTo>
                  <a:lnTo>
                    <a:pt x="941" y="1069"/>
                  </a:lnTo>
                  <a:lnTo>
                    <a:pt x="921" y="1071"/>
                  </a:lnTo>
                  <a:lnTo>
                    <a:pt x="892" y="1075"/>
                  </a:lnTo>
                  <a:lnTo>
                    <a:pt x="858" y="1079"/>
                  </a:lnTo>
                  <a:lnTo>
                    <a:pt x="821" y="1085"/>
                  </a:lnTo>
                  <a:lnTo>
                    <a:pt x="783" y="1092"/>
                  </a:lnTo>
                  <a:lnTo>
                    <a:pt x="752" y="1100"/>
                  </a:lnTo>
                  <a:lnTo>
                    <a:pt x="728" y="1110"/>
                  </a:lnTo>
                  <a:lnTo>
                    <a:pt x="705" y="1124"/>
                  </a:lnTo>
                  <a:lnTo>
                    <a:pt x="685" y="1138"/>
                  </a:lnTo>
                  <a:lnTo>
                    <a:pt x="671" y="1151"/>
                  </a:lnTo>
                  <a:lnTo>
                    <a:pt x="655" y="1159"/>
                  </a:lnTo>
                  <a:lnTo>
                    <a:pt x="642" y="1163"/>
                  </a:lnTo>
                  <a:lnTo>
                    <a:pt x="628" y="1159"/>
                  </a:lnTo>
                  <a:lnTo>
                    <a:pt x="606" y="1153"/>
                  </a:lnTo>
                  <a:lnTo>
                    <a:pt x="585" y="1146"/>
                  </a:lnTo>
                  <a:lnTo>
                    <a:pt x="559" y="1138"/>
                  </a:lnTo>
                  <a:lnTo>
                    <a:pt x="535" y="1132"/>
                  </a:lnTo>
                  <a:lnTo>
                    <a:pt x="516" y="1130"/>
                  </a:lnTo>
                  <a:lnTo>
                    <a:pt x="500" y="1132"/>
                  </a:lnTo>
                  <a:lnTo>
                    <a:pt x="486" y="1142"/>
                  </a:lnTo>
                  <a:lnTo>
                    <a:pt x="470" y="1157"/>
                  </a:lnTo>
                  <a:lnTo>
                    <a:pt x="457" y="1177"/>
                  </a:lnTo>
                  <a:lnTo>
                    <a:pt x="443" y="1197"/>
                  </a:lnTo>
                  <a:lnTo>
                    <a:pt x="427" y="1212"/>
                  </a:lnTo>
                  <a:lnTo>
                    <a:pt x="413" y="1220"/>
                  </a:lnTo>
                  <a:lnTo>
                    <a:pt x="390" y="1220"/>
                  </a:lnTo>
                  <a:lnTo>
                    <a:pt x="362" y="1216"/>
                  </a:lnTo>
                  <a:lnTo>
                    <a:pt x="339" y="1212"/>
                  </a:lnTo>
                  <a:lnTo>
                    <a:pt x="319" y="1210"/>
                  </a:lnTo>
                  <a:lnTo>
                    <a:pt x="313" y="1207"/>
                  </a:lnTo>
                  <a:lnTo>
                    <a:pt x="309" y="1199"/>
                  </a:lnTo>
                  <a:lnTo>
                    <a:pt x="309" y="1189"/>
                  </a:lnTo>
                  <a:lnTo>
                    <a:pt x="313" y="1177"/>
                  </a:lnTo>
                  <a:lnTo>
                    <a:pt x="315" y="1167"/>
                  </a:lnTo>
                  <a:lnTo>
                    <a:pt x="317" y="1159"/>
                  </a:lnTo>
                  <a:lnTo>
                    <a:pt x="319" y="1157"/>
                  </a:lnTo>
                  <a:lnTo>
                    <a:pt x="315" y="1157"/>
                  </a:lnTo>
                  <a:lnTo>
                    <a:pt x="303" y="1159"/>
                  </a:lnTo>
                  <a:lnTo>
                    <a:pt x="287" y="1161"/>
                  </a:lnTo>
                  <a:lnTo>
                    <a:pt x="268" y="1163"/>
                  </a:lnTo>
                  <a:lnTo>
                    <a:pt x="250" y="1165"/>
                  </a:lnTo>
                  <a:lnTo>
                    <a:pt x="234" y="1165"/>
                  </a:lnTo>
                  <a:lnTo>
                    <a:pt x="220" y="1165"/>
                  </a:lnTo>
                  <a:lnTo>
                    <a:pt x="211" y="1171"/>
                  </a:lnTo>
                  <a:lnTo>
                    <a:pt x="201" y="1177"/>
                  </a:lnTo>
                  <a:lnTo>
                    <a:pt x="189" y="1185"/>
                  </a:lnTo>
                  <a:lnTo>
                    <a:pt x="171" y="1191"/>
                  </a:lnTo>
                  <a:lnTo>
                    <a:pt x="154" y="1193"/>
                  </a:lnTo>
                  <a:lnTo>
                    <a:pt x="136" y="1193"/>
                  </a:lnTo>
                  <a:lnTo>
                    <a:pt x="116" y="1191"/>
                  </a:lnTo>
                  <a:lnTo>
                    <a:pt x="100" y="1191"/>
                  </a:lnTo>
                  <a:lnTo>
                    <a:pt x="87" y="1197"/>
                  </a:lnTo>
                  <a:lnTo>
                    <a:pt x="77" y="1210"/>
                  </a:lnTo>
                  <a:lnTo>
                    <a:pt x="69" y="1228"/>
                  </a:lnTo>
                  <a:lnTo>
                    <a:pt x="59" y="1246"/>
                  </a:lnTo>
                  <a:lnTo>
                    <a:pt x="49" y="1262"/>
                  </a:lnTo>
                  <a:lnTo>
                    <a:pt x="39" y="1275"/>
                  </a:lnTo>
                  <a:lnTo>
                    <a:pt x="33" y="1285"/>
                  </a:lnTo>
                  <a:lnTo>
                    <a:pt x="29" y="1289"/>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38" name="Freeform 68"/>
            <p:cNvSpPr/>
            <p:nvPr/>
          </p:nvSpPr>
          <p:spPr bwMode="gray">
            <a:xfrm>
              <a:off x="720" y="1296"/>
              <a:ext cx="1495" cy="1136"/>
            </a:xfrm>
            <a:custGeom>
              <a:avLst/>
              <a:gdLst>
                <a:gd name="T0" fmla="*/ 3 w 2990"/>
                <a:gd name="T1" fmla="*/ 357 h 2273"/>
                <a:gd name="T2" fmla="*/ 23 w 2990"/>
                <a:gd name="T3" fmla="*/ 365 h 2273"/>
                <a:gd name="T4" fmla="*/ 29 w 2990"/>
                <a:gd name="T5" fmla="*/ 390 h 2273"/>
                <a:gd name="T6" fmla="*/ 28 w 2990"/>
                <a:gd name="T7" fmla="*/ 419 h 2273"/>
                <a:gd name="T8" fmla="*/ 18 w 2990"/>
                <a:gd name="T9" fmla="*/ 419 h 2273"/>
                <a:gd name="T10" fmla="*/ 0 w 2990"/>
                <a:gd name="T11" fmla="*/ 429 h 2273"/>
                <a:gd name="T12" fmla="*/ 31 w 2990"/>
                <a:gd name="T13" fmla="*/ 438 h 2273"/>
                <a:gd name="T14" fmla="*/ 47 w 2990"/>
                <a:gd name="T15" fmla="*/ 456 h 2273"/>
                <a:gd name="T16" fmla="*/ 49 w 2990"/>
                <a:gd name="T17" fmla="*/ 490 h 2273"/>
                <a:gd name="T18" fmla="*/ 71 w 2990"/>
                <a:gd name="T19" fmla="*/ 507 h 2273"/>
                <a:gd name="T20" fmla="*/ 109 w 2990"/>
                <a:gd name="T21" fmla="*/ 521 h 2273"/>
                <a:gd name="T22" fmla="*/ 152 w 2990"/>
                <a:gd name="T23" fmla="*/ 516 h 2273"/>
                <a:gd name="T24" fmla="*/ 185 w 2990"/>
                <a:gd name="T25" fmla="*/ 542 h 2273"/>
                <a:gd name="T26" fmla="*/ 259 w 2990"/>
                <a:gd name="T27" fmla="*/ 549 h 2273"/>
                <a:gd name="T28" fmla="*/ 414 w 2990"/>
                <a:gd name="T29" fmla="*/ 546 h 2273"/>
                <a:gd name="T30" fmla="*/ 539 w 2990"/>
                <a:gd name="T31" fmla="*/ 549 h 2273"/>
                <a:gd name="T32" fmla="*/ 585 w 2990"/>
                <a:gd name="T33" fmla="*/ 458 h 2273"/>
                <a:gd name="T34" fmla="*/ 714 w 2990"/>
                <a:gd name="T35" fmla="*/ 339 h 2273"/>
                <a:gd name="T36" fmla="*/ 743 w 2990"/>
                <a:gd name="T37" fmla="*/ 295 h 2273"/>
                <a:gd name="T38" fmla="*/ 727 w 2990"/>
                <a:gd name="T39" fmla="*/ 263 h 2273"/>
                <a:gd name="T40" fmla="*/ 716 w 2990"/>
                <a:gd name="T41" fmla="*/ 233 h 2273"/>
                <a:gd name="T42" fmla="*/ 678 w 2990"/>
                <a:gd name="T43" fmla="*/ 213 h 2273"/>
                <a:gd name="T44" fmla="*/ 631 w 2990"/>
                <a:gd name="T45" fmla="*/ 198 h 2273"/>
                <a:gd name="T46" fmla="*/ 592 w 2990"/>
                <a:gd name="T47" fmla="*/ 185 h 2273"/>
                <a:gd name="T48" fmla="*/ 578 w 2990"/>
                <a:gd name="T49" fmla="*/ 170 h 2273"/>
                <a:gd name="T50" fmla="*/ 594 w 2990"/>
                <a:gd name="T51" fmla="*/ 148 h 2273"/>
                <a:gd name="T52" fmla="*/ 598 w 2990"/>
                <a:gd name="T53" fmla="*/ 114 h 2273"/>
                <a:gd name="T54" fmla="*/ 580 w 2990"/>
                <a:gd name="T55" fmla="*/ 75 h 2273"/>
                <a:gd name="T56" fmla="*/ 562 w 2990"/>
                <a:gd name="T57" fmla="*/ 63 h 2273"/>
                <a:gd name="T58" fmla="*/ 540 w 2990"/>
                <a:gd name="T59" fmla="*/ 55 h 2273"/>
                <a:gd name="T60" fmla="*/ 520 w 2990"/>
                <a:gd name="T61" fmla="*/ 29 h 2273"/>
                <a:gd name="T62" fmla="*/ 517 w 2990"/>
                <a:gd name="T63" fmla="*/ 8 h 2273"/>
                <a:gd name="T64" fmla="*/ 492 w 2990"/>
                <a:gd name="T65" fmla="*/ 0 h 2273"/>
                <a:gd name="T66" fmla="*/ 479 w 2990"/>
                <a:gd name="T67" fmla="*/ 21 h 2273"/>
                <a:gd name="T68" fmla="*/ 449 w 2990"/>
                <a:gd name="T69" fmla="*/ 35 h 2273"/>
                <a:gd name="T70" fmla="*/ 438 w 2990"/>
                <a:gd name="T71" fmla="*/ 79 h 2273"/>
                <a:gd name="T72" fmla="*/ 411 w 2990"/>
                <a:gd name="T73" fmla="*/ 85 h 2273"/>
                <a:gd name="T74" fmla="*/ 384 w 2990"/>
                <a:gd name="T75" fmla="*/ 75 h 2273"/>
                <a:gd name="T76" fmla="*/ 363 w 2990"/>
                <a:gd name="T77" fmla="*/ 71 h 2273"/>
                <a:gd name="T78" fmla="*/ 334 w 2990"/>
                <a:gd name="T79" fmla="*/ 122 h 2273"/>
                <a:gd name="T80" fmla="*/ 344 w 2990"/>
                <a:gd name="T81" fmla="*/ 140 h 2273"/>
                <a:gd name="T82" fmla="*/ 322 w 2990"/>
                <a:gd name="T83" fmla="*/ 144 h 2273"/>
                <a:gd name="T84" fmla="*/ 295 w 2990"/>
                <a:gd name="T85" fmla="*/ 136 h 2273"/>
                <a:gd name="T86" fmla="*/ 257 w 2990"/>
                <a:gd name="T87" fmla="*/ 138 h 2273"/>
                <a:gd name="T88" fmla="*/ 266 w 2990"/>
                <a:gd name="T89" fmla="*/ 148 h 2273"/>
                <a:gd name="T90" fmla="*/ 262 w 2990"/>
                <a:gd name="T91" fmla="*/ 173 h 2273"/>
                <a:gd name="T92" fmla="*/ 263 w 2990"/>
                <a:gd name="T93" fmla="*/ 220 h 2273"/>
                <a:gd name="T94" fmla="*/ 241 w 2990"/>
                <a:gd name="T95" fmla="*/ 242 h 2273"/>
                <a:gd name="T96" fmla="*/ 230 w 2990"/>
                <a:gd name="T97" fmla="*/ 267 h 2273"/>
                <a:gd name="T98" fmla="*/ 177 w 2990"/>
                <a:gd name="T99" fmla="*/ 281 h 2273"/>
                <a:gd name="T100" fmla="*/ 147 w 2990"/>
                <a:gd name="T101" fmla="*/ 286 h 2273"/>
                <a:gd name="T102" fmla="*/ 114 w 2990"/>
                <a:gd name="T103" fmla="*/ 294 h 2273"/>
                <a:gd name="T104" fmla="*/ 80 w 2990"/>
                <a:gd name="T105" fmla="*/ 302 h 2273"/>
                <a:gd name="T106" fmla="*/ 80 w 2990"/>
                <a:gd name="T107" fmla="*/ 289 h 2273"/>
                <a:gd name="T108" fmla="*/ 55 w 2990"/>
                <a:gd name="T109" fmla="*/ 291 h 2273"/>
                <a:gd name="T110" fmla="*/ 29 w 2990"/>
                <a:gd name="T111" fmla="*/ 297 h 2273"/>
                <a:gd name="T112" fmla="*/ 10 w 2990"/>
                <a:gd name="T113" fmla="*/ 318 h 227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990"/>
                <a:gd name="T172" fmla="*/ 0 h 2273"/>
                <a:gd name="T173" fmla="*/ 2990 w 2990"/>
                <a:gd name="T174" fmla="*/ 2273 h 227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990" h="2273">
                  <a:moveTo>
                    <a:pt x="29" y="1289"/>
                  </a:moveTo>
                  <a:lnTo>
                    <a:pt x="4" y="1329"/>
                  </a:lnTo>
                  <a:lnTo>
                    <a:pt x="12" y="1378"/>
                  </a:lnTo>
                  <a:lnTo>
                    <a:pt x="12" y="1382"/>
                  </a:lnTo>
                  <a:lnTo>
                    <a:pt x="10" y="1395"/>
                  </a:lnTo>
                  <a:lnTo>
                    <a:pt x="10" y="1411"/>
                  </a:lnTo>
                  <a:lnTo>
                    <a:pt x="10" y="1429"/>
                  </a:lnTo>
                  <a:lnTo>
                    <a:pt x="14" y="1443"/>
                  </a:lnTo>
                  <a:lnTo>
                    <a:pt x="20" y="1451"/>
                  </a:lnTo>
                  <a:lnTo>
                    <a:pt x="31" y="1453"/>
                  </a:lnTo>
                  <a:lnTo>
                    <a:pt x="43" y="1451"/>
                  </a:lnTo>
                  <a:lnTo>
                    <a:pt x="55" y="1449"/>
                  </a:lnTo>
                  <a:lnTo>
                    <a:pt x="73" y="1451"/>
                  </a:lnTo>
                  <a:lnTo>
                    <a:pt x="94" y="1462"/>
                  </a:lnTo>
                  <a:lnTo>
                    <a:pt x="116" y="1480"/>
                  </a:lnTo>
                  <a:lnTo>
                    <a:pt x="132" y="1502"/>
                  </a:lnTo>
                  <a:lnTo>
                    <a:pt x="136" y="1514"/>
                  </a:lnTo>
                  <a:lnTo>
                    <a:pt x="132" y="1525"/>
                  </a:lnTo>
                  <a:lnTo>
                    <a:pt x="126" y="1537"/>
                  </a:lnTo>
                  <a:lnTo>
                    <a:pt x="120" y="1549"/>
                  </a:lnTo>
                  <a:lnTo>
                    <a:pt x="116" y="1561"/>
                  </a:lnTo>
                  <a:lnTo>
                    <a:pt x="116" y="1577"/>
                  </a:lnTo>
                  <a:lnTo>
                    <a:pt x="114" y="1596"/>
                  </a:lnTo>
                  <a:lnTo>
                    <a:pt x="110" y="1618"/>
                  </a:lnTo>
                  <a:lnTo>
                    <a:pt x="108" y="1640"/>
                  </a:lnTo>
                  <a:lnTo>
                    <a:pt x="108" y="1657"/>
                  </a:lnTo>
                  <a:lnTo>
                    <a:pt x="112" y="1669"/>
                  </a:lnTo>
                  <a:lnTo>
                    <a:pt x="114" y="1679"/>
                  </a:lnTo>
                  <a:lnTo>
                    <a:pt x="114" y="1691"/>
                  </a:lnTo>
                  <a:lnTo>
                    <a:pt x="106" y="1699"/>
                  </a:lnTo>
                  <a:lnTo>
                    <a:pt x="96" y="1703"/>
                  </a:lnTo>
                  <a:lnTo>
                    <a:pt x="89" y="1701"/>
                  </a:lnTo>
                  <a:lnTo>
                    <a:pt x="83" y="1695"/>
                  </a:lnTo>
                  <a:lnTo>
                    <a:pt x="77" y="1687"/>
                  </a:lnTo>
                  <a:lnTo>
                    <a:pt x="69" y="1679"/>
                  </a:lnTo>
                  <a:lnTo>
                    <a:pt x="63" y="1673"/>
                  </a:lnTo>
                  <a:lnTo>
                    <a:pt x="53" y="1675"/>
                  </a:lnTo>
                  <a:lnTo>
                    <a:pt x="41" y="1685"/>
                  </a:lnTo>
                  <a:lnTo>
                    <a:pt x="26" y="1699"/>
                  </a:lnTo>
                  <a:lnTo>
                    <a:pt x="12" y="1708"/>
                  </a:lnTo>
                  <a:lnTo>
                    <a:pt x="4" y="1712"/>
                  </a:lnTo>
                  <a:lnTo>
                    <a:pt x="0" y="1716"/>
                  </a:lnTo>
                  <a:lnTo>
                    <a:pt x="6" y="1720"/>
                  </a:lnTo>
                  <a:lnTo>
                    <a:pt x="20" y="1724"/>
                  </a:lnTo>
                  <a:lnTo>
                    <a:pt x="41" y="1728"/>
                  </a:lnTo>
                  <a:lnTo>
                    <a:pt x="65" y="1734"/>
                  </a:lnTo>
                  <a:lnTo>
                    <a:pt x="89" y="1740"/>
                  </a:lnTo>
                  <a:lnTo>
                    <a:pt x="110" y="1746"/>
                  </a:lnTo>
                  <a:lnTo>
                    <a:pt x="126" y="1754"/>
                  </a:lnTo>
                  <a:lnTo>
                    <a:pt x="136" y="1764"/>
                  </a:lnTo>
                  <a:lnTo>
                    <a:pt x="140" y="1771"/>
                  </a:lnTo>
                  <a:lnTo>
                    <a:pt x="150" y="1779"/>
                  </a:lnTo>
                  <a:lnTo>
                    <a:pt x="159" y="1785"/>
                  </a:lnTo>
                  <a:lnTo>
                    <a:pt x="169" y="1795"/>
                  </a:lnTo>
                  <a:lnTo>
                    <a:pt x="177" y="1807"/>
                  </a:lnTo>
                  <a:lnTo>
                    <a:pt x="185" y="1825"/>
                  </a:lnTo>
                  <a:lnTo>
                    <a:pt x="187" y="1848"/>
                  </a:lnTo>
                  <a:lnTo>
                    <a:pt x="185" y="1870"/>
                  </a:lnTo>
                  <a:lnTo>
                    <a:pt x="179" y="1888"/>
                  </a:lnTo>
                  <a:lnTo>
                    <a:pt x="175" y="1905"/>
                  </a:lnTo>
                  <a:lnTo>
                    <a:pt x="177" y="1921"/>
                  </a:lnTo>
                  <a:lnTo>
                    <a:pt x="185" y="1941"/>
                  </a:lnTo>
                  <a:lnTo>
                    <a:pt x="195" y="1960"/>
                  </a:lnTo>
                  <a:lnTo>
                    <a:pt x="207" y="1978"/>
                  </a:lnTo>
                  <a:lnTo>
                    <a:pt x="218" y="1986"/>
                  </a:lnTo>
                  <a:lnTo>
                    <a:pt x="232" y="1990"/>
                  </a:lnTo>
                  <a:lnTo>
                    <a:pt x="246" y="1994"/>
                  </a:lnTo>
                  <a:lnTo>
                    <a:pt x="260" y="2002"/>
                  </a:lnTo>
                  <a:lnTo>
                    <a:pt x="270" y="2014"/>
                  </a:lnTo>
                  <a:lnTo>
                    <a:pt x="281" y="2029"/>
                  </a:lnTo>
                  <a:lnTo>
                    <a:pt x="299" y="2045"/>
                  </a:lnTo>
                  <a:lnTo>
                    <a:pt x="327" y="2057"/>
                  </a:lnTo>
                  <a:lnTo>
                    <a:pt x="352" y="2067"/>
                  </a:lnTo>
                  <a:lnTo>
                    <a:pt x="378" y="2076"/>
                  </a:lnTo>
                  <a:lnTo>
                    <a:pt x="402" y="2082"/>
                  </a:lnTo>
                  <a:lnTo>
                    <a:pt x="421" y="2086"/>
                  </a:lnTo>
                  <a:lnTo>
                    <a:pt x="435" y="2084"/>
                  </a:lnTo>
                  <a:lnTo>
                    <a:pt x="457" y="2078"/>
                  </a:lnTo>
                  <a:lnTo>
                    <a:pt x="484" y="2073"/>
                  </a:lnTo>
                  <a:lnTo>
                    <a:pt x="514" y="2065"/>
                  </a:lnTo>
                  <a:lnTo>
                    <a:pt x="543" y="2059"/>
                  </a:lnTo>
                  <a:lnTo>
                    <a:pt x="569" y="2057"/>
                  </a:lnTo>
                  <a:lnTo>
                    <a:pt x="589" y="2057"/>
                  </a:lnTo>
                  <a:lnTo>
                    <a:pt x="608" y="2065"/>
                  </a:lnTo>
                  <a:lnTo>
                    <a:pt x="626" y="2078"/>
                  </a:lnTo>
                  <a:lnTo>
                    <a:pt x="642" y="2096"/>
                  </a:lnTo>
                  <a:lnTo>
                    <a:pt x="661" y="2116"/>
                  </a:lnTo>
                  <a:lnTo>
                    <a:pt x="687" y="2134"/>
                  </a:lnTo>
                  <a:lnTo>
                    <a:pt x="711" y="2149"/>
                  </a:lnTo>
                  <a:lnTo>
                    <a:pt x="726" y="2161"/>
                  </a:lnTo>
                  <a:lnTo>
                    <a:pt x="738" y="2171"/>
                  </a:lnTo>
                  <a:lnTo>
                    <a:pt x="742" y="2177"/>
                  </a:lnTo>
                  <a:lnTo>
                    <a:pt x="744" y="2179"/>
                  </a:lnTo>
                  <a:lnTo>
                    <a:pt x="856" y="2218"/>
                  </a:lnTo>
                  <a:lnTo>
                    <a:pt x="892" y="2242"/>
                  </a:lnTo>
                  <a:lnTo>
                    <a:pt x="949" y="2236"/>
                  </a:lnTo>
                  <a:lnTo>
                    <a:pt x="986" y="2191"/>
                  </a:lnTo>
                  <a:lnTo>
                    <a:pt x="1035" y="2199"/>
                  </a:lnTo>
                  <a:lnTo>
                    <a:pt x="1152" y="2222"/>
                  </a:lnTo>
                  <a:lnTo>
                    <a:pt x="1201" y="2261"/>
                  </a:lnTo>
                  <a:lnTo>
                    <a:pt x="1256" y="2273"/>
                  </a:lnTo>
                  <a:lnTo>
                    <a:pt x="1392" y="2236"/>
                  </a:lnTo>
                  <a:lnTo>
                    <a:pt x="1431" y="2260"/>
                  </a:lnTo>
                  <a:lnTo>
                    <a:pt x="1539" y="2189"/>
                  </a:lnTo>
                  <a:lnTo>
                    <a:pt x="1657" y="2187"/>
                  </a:lnTo>
                  <a:lnTo>
                    <a:pt x="1726" y="2155"/>
                  </a:lnTo>
                  <a:lnTo>
                    <a:pt x="1821" y="2167"/>
                  </a:lnTo>
                  <a:lnTo>
                    <a:pt x="1935" y="2242"/>
                  </a:lnTo>
                  <a:lnTo>
                    <a:pt x="2026" y="2230"/>
                  </a:lnTo>
                  <a:lnTo>
                    <a:pt x="2088" y="2265"/>
                  </a:lnTo>
                  <a:lnTo>
                    <a:pt x="2193" y="2230"/>
                  </a:lnTo>
                  <a:lnTo>
                    <a:pt x="2155" y="2197"/>
                  </a:lnTo>
                  <a:lnTo>
                    <a:pt x="2161" y="2147"/>
                  </a:lnTo>
                  <a:lnTo>
                    <a:pt x="2214" y="2128"/>
                  </a:lnTo>
                  <a:lnTo>
                    <a:pt x="2242" y="2063"/>
                  </a:lnTo>
                  <a:lnTo>
                    <a:pt x="2124" y="1970"/>
                  </a:lnTo>
                  <a:lnTo>
                    <a:pt x="2128" y="1890"/>
                  </a:lnTo>
                  <a:lnTo>
                    <a:pt x="2199" y="1850"/>
                  </a:lnTo>
                  <a:lnTo>
                    <a:pt x="2337" y="1834"/>
                  </a:lnTo>
                  <a:lnTo>
                    <a:pt x="2484" y="1797"/>
                  </a:lnTo>
                  <a:lnTo>
                    <a:pt x="2545" y="1764"/>
                  </a:lnTo>
                  <a:lnTo>
                    <a:pt x="2624" y="1777"/>
                  </a:lnTo>
                  <a:lnTo>
                    <a:pt x="2592" y="1514"/>
                  </a:lnTo>
                  <a:lnTo>
                    <a:pt x="2673" y="1466"/>
                  </a:lnTo>
                  <a:lnTo>
                    <a:pt x="2752" y="1388"/>
                  </a:lnTo>
                  <a:lnTo>
                    <a:pt x="2856" y="1356"/>
                  </a:lnTo>
                  <a:lnTo>
                    <a:pt x="2939" y="1329"/>
                  </a:lnTo>
                  <a:lnTo>
                    <a:pt x="2966" y="1299"/>
                  </a:lnTo>
                  <a:lnTo>
                    <a:pt x="2957" y="1258"/>
                  </a:lnTo>
                  <a:lnTo>
                    <a:pt x="2990" y="1207"/>
                  </a:lnTo>
                  <a:lnTo>
                    <a:pt x="2988" y="1205"/>
                  </a:lnTo>
                  <a:lnTo>
                    <a:pt x="2982" y="1195"/>
                  </a:lnTo>
                  <a:lnTo>
                    <a:pt x="2972" y="1183"/>
                  </a:lnTo>
                  <a:lnTo>
                    <a:pt x="2961" y="1167"/>
                  </a:lnTo>
                  <a:lnTo>
                    <a:pt x="2949" y="1149"/>
                  </a:lnTo>
                  <a:lnTo>
                    <a:pt x="2937" y="1134"/>
                  </a:lnTo>
                  <a:lnTo>
                    <a:pt x="2929" y="1116"/>
                  </a:lnTo>
                  <a:lnTo>
                    <a:pt x="2923" y="1102"/>
                  </a:lnTo>
                  <a:lnTo>
                    <a:pt x="2915" y="1079"/>
                  </a:lnTo>
                  <a:lnTo>
                    <a:pt x="2905" y="1053"/>
                  </a:lnTo>
                  <a:lnTo>
                    <a:pt x="2898" y="1025"/>
                  </a:lnTo>
                  <a:lnTo>
                    <a:pt x="2888" y="1000"/>
                  </a:lnTo>
                  <a:lnTo>
                    <a:pt x="2880" y="982"/>
                  </a:lnTo>
                  <a:lnTo>
                    <a:pt x="2872" y="957"/>
                  </a:lnTo>
                  <a:lnTo>
                    <a:pt x="2870" y="941"/>
                  </a:lnTo>
                  <a:lnTo>
                    <a:pt x="2870" y="935"/>
                  </a:lnTo>
                  <a:lnTo>
                    <a:pt x="2864" y="933"/>
                  </a:lnTo>
                  <a:lnTo>
                    <a:pt x="2850" y="933"/>
                  </a:lnTo>
                  <a:lnTo>
                    <a:pt x="2829" y="929"/>
                  </a:lnTo>
                  <a:lnTo>
                    <a:pt x="2805" y="923"/>
                  </a:lnTo>
                  <a:lnTo>
                    <a:pt x="2781" y="913"/>
                  </a:lnTo>
                  <a:lnTo>
                    <a:pt x="2760" y="898"/>
                  </a:lnTo>
                  <a:lnTo>
                    <a:pt x="2734" y="874"/>
                  </a:lnTo>
                  <a:lnTo>
                    <a:pt x="2709" y="854"/>
                  </a:lnTo>
                  <a:lnTo>
                    <a:pt x="2687" y="837"/>
                  </a:lnTo>
                  <a:lnTo>
                    <a:pt x="2665" y="819"/>
                  </a:lnTo>
                  <a:lnTo>
                    <a:pt x="2648" y="809"/>
                  </a:lnTo>
                  <a:lnTo>
                    <a:pt x="2622" y="803"/>
                  </a:lnTo>
                  <a:lnTo>
                    <a:pt x="2590" y="801"/>
                  </a:lnTo>
                  <a:lnTo>
                    <a:pt x="2557" y="797"/>
                  </a:lnTo>
                  <a:lnTo>
                    <a:pt x="2524" y="795"/>
                  </a:lnTo>
                  <a:lnTo>
                    <a:pt x="2494" y="789"/>
                  </a:lnTo>
                  <a:lnTo>
                    <a:pt x="2468" y="781"/>
                  </a:lnTo>
                  <a:lnTo>
                    <a:pt x="2443" y="770"/>
                  </a:lnTo>
                  <a:lnTo>
                    <a:pt x="2417" y="760"/>
                  </a:lnTo>
                  <a:lnTo>
                    <a:pt x="2396" y="752"/>
                  </a:lnTo>
                  <a:lnTo>
                    <a:pt x="2378" y="746"/>
                  </a:lnTo>
                  <a:lnTo>
                    <a:pt x="2366" y="742"/>
                  </a:lnTo>
                  <a:lnTo>
                    <a:pt x="2360" y="740"/>
                  </a:lnTo>
                  <a:lnTo>
                    <a:pt x="2356" y="738"/>
                  </a:lnTo>
                  <a:lnTo>
                    <a:pt x="2348" y="730"/>
                  </a:lnTo>
                  <a:lnTo>
                    <a:pt x="2337" y="720"/>
                  </a:lnTo>
                  <a:lnTo>
                    <a:pt x="2325" y="709"/>
                  </a:lnTo>
                  <a:lnTo>
                    <a:pt x="2315" y="695"/>
                  </a:lnTo>
                  <a:lnTo>
                    <a:pt x="2309" y="683"/>
                  </a:lnTo>
                  <a:lnTo>
                    <a:pt x="2311" y="669"/>
                  </a:lnTo>
                  <a:lnTo>
                    <a:pt x="2321" y="655"/>
                  </a:lnTo>
                  <a:lnTo>
                    <a:pt x="2333" y="646"/>
                  </a:lnTo>
                  <a:lnTo>
                    <a:pt x="2348" y="634"/>
                  </a:lnTo>
                  <a:lnTo>
                    <a:pt x="2360" y="622"/>
                  </a:lnTo>
                  <a:lnTo>
                    <a:pt x="2372" y="610"/>
                  </a:lnTo>
                  <a:lnTo>
                    <a:pt x="2376" y="592"/>
                  </a:lnTo>
                  <a:lnTo>
                    <a:pt x="2378" y="569"/>
                  </a:lnTo>
                  <a:lnTo>
                    <a:pt x="2378" y="547"/>
                  </a:lnTo>
                  <a:lnTo>
                    <a:pt x="2380" y="528"/>
                  </a:lnTo>
                  <a:lnTo>
                    <a:pt x="2390" y="506"/>
                  </a:lnTo>
                  <a:lnTo>
                    <a:pt x="2396" y="490"/>
                  </a:lnTo>
                  <a:lnTo>
                    <a:pt x="2396" y="474"/>
                  </a:lnTo>
                  <a:lnTo>
                    <a:pt x="2390" y="459"/>
                  </a:lnTo>
                  <a:lnTo>
                    <a:pt x="2382" y="445"/>
                  </a:lnTo>
                  <a:lnTo>
                    <a:pt x="2374" y="433"/>
                  </a:lnTo>
                  <a:lnTo>
                    <a:pt x="2358" y="407"/>
                  </a:lnTo>
                  <a:lnTo>
                    <a:pt x="2342" y="378"/>
                  </a:lnTo>
                  <a:lnTo>
                    <a:pt x="2335" y="344"/>
                  </a:lnTo>
                  <a:lnTo>
                    <a:pt x="2329" y="321"/>
                  </a:lnTo>
                  <a:lnTo>
                    <a:pt x="2319" y="303"/>
                  </a:lnTo>
                  <a:lnTo>
                    <a:pt x="2307" y="287"/>
                  </a:lnTo>
                  <a:lnTo>
                    <a:pt x="2295" y="276"/>
                  </a:lnTo>
                  <a:lnTo>
                    <a:pt x="2285" y="270"/>
                  </a:lnTo>
                  <a:lnTo>
                    <a:pt x="2276" y="266"/>
                  </a:lnTo>
                  <a:lnTo>
                    <a:pt x="2264" y="266"/>
                  </a:lnTo>
                  <a:lnTo>
                    <a:pt x="2256" y="262"/>
                  </a:lnTo>
                  <a:lnTo>
                    <a:pt x="2248" y="254"/>
                  </a:lnTo>
                  <a:lnTo>
                    <a:pt x="2238" y="248"/>
                  </a:lnTo>
                  <a:lnTo>
                    <a:pt x="2224" y="246"/>
                  </a:lnTo>
                  <a:lnTo>
                    <a:pt x="2209" y="248"/>
                  </a:lnTo>
                  <a:lnTo>
                    <a:pt x="2191" y="248"/>
                  </a:lnTo>
                  <a:lnTo>
                    <a:pt x="2177" y="246"/>
                  </a:lnTo>
                  <a:lnTo>
                    <a:pt x="2169" y="238"/>
                  </a:lnTo>
                  <a:lnTo>
                    <a:pt x="2159" y="221"/>
                  </a:lnTo>
                  <a:lnTo>
                    <a:pt x="2150" y="197"/>
                  </a:lnTo>
                  <a:lnTo>
                    <a:pt x="2136" y="173"/>
                  </a:lnTo>
                  <a:lnTo>
                    <a:pt x="2120" y="156"/>
                  </a:lnTo>
                  <a:lnTo>
                    <a:pt x="2106" y="144"/>
                  </a:lnTo>
                  <a:lnTo>
                    <a:pt x="2092" y="136"/>
                  </a:lnTo>
                  <a:lnTo>
                    <a:pt x="2083" y="128"/>
                  </a:lnTo>
                  <a:lnTo>
                    <a:pt x="2077" y="118"/>
                  </a:lnTo>
                  <a:lnTo>
                    <a:pt x="2075" y="104"/>
                  </a:lnTo>
                  <a:lnTo>
                    <a:pt x="2071" y="87"/>
                  </a:lnTo>
                  <a:lnTo>
                    <a:pt x="2061" y="73"/>
                  </a:lnTo>
                  <a:lnTo>
                    <a:pt x="2053" y="63"/>
                  </a:lnTo>
                  <a:lnTo>
                    <a:pt x="2051" y="53"/>
                  </a:lnTo>
                  <a:lnTo>
                    <a:pt x="2057" y="41"/>
                  </a:lnTo>
                  <a:lnTo>
                    <a:pt x="2065" y="32"/>
                  </a:lnTo>
                  <a:lnTo>
                    <a:pt x="2071" y="20"/>
                  </a:lnTo>
                  <a:lnTo>
                    <a:pt x="2073" y="14"/>
                  </a:lnTo>
                  <a:lnTo>
                    <a:pt x="2063" y="8"/>
                  </a:lnTo>
                  <a:lnTo>
                    <a:pt x="2045" y="4"/>
                  </a:lnTo>
                  <a:lnTo>
                    <a:pt x="2020" y="2"/>
                  </a:lnTo>
                  <a:lnTo>
                    <a:pt x="1994" y="0"/>
                  </a:lnTo>
                  <a:lnTo>
                    <a:pt x="1970" y="0"/>
                  </a:lnTo>
                  <a:lnTo>
                    <a:pt x="1955" y="6"/>
                  </a:lnTo>
                  <a:lnTo>
                    <a:pt x="1945" y="14"/>
                  </a:lnTo>
                  <a:lnTo>
                    <a:pt x="1941" y="30"/>
                  </a:lnTo>
                  <a:lnTo>
                    <a:pt x="1937" y="45"/>
                  </a:lnTo>
                  <a:lnTo>
                    <a:pt x="1933" y="61"/>
                  </a:lnTo>
                  <a:lnTo>
                    <a:pt x="1927" y="75"/>
                  </a:lnTo>
                  <a:lnTo>
                    <a:pt x="1915" y="85"/>
                  </a:lnTo>
                  <a:lnTo>
                    <a:pt x="1898" y="87"/>
                  </a:lnTo>
                  <a:lnTo>
                    <a:pt x="1878" y="91"/>
                  </a:lnTo>
                  <a:lnTo>
                    <a:pt x="1858" y="93"/>
                  </a:lnTo>
                  <a:lnTo>
                    <a:pt x="1840" y="95"/>
                  </a:lnTo>
                  <a:lnTo>
                    <a:pt x="1823" y="102"/>
                  </a:lnTo>
                  <a:lnTo>
                    <a:pt x="1809" y="116"/>
                  </a:lnTo>
                  <a:lnTo>
                    <a:pt x="1797" y="140"/>
                  </a:lnTo>
                  <a:lnTo>
                    <a:pt x="1785" y="169"/>
                  </a:lnTo>
                  <a:lnTo>
                    <a:pt x="1777" y="203"/>
                  </a:lnTo>
                  <a:lnTo>
                    <a:pt x="1774" y="236"/>
                  </a:lnTo>
                  <a:lnTo>
                    <a:pt x="1770" y="262"/>
                  </a:lnTo>
                  <a:lnTo>
                    <a:pt x="1768" y="283"/>
                  </a:lnTo>
                  <a:lnTo>
                    <a:pt x="1762" y="303"/>
                  </a:lnTo>
                  <a:lnTo>
                    <a:pt x="1754" y="319"/>
                  </a:lnTo>
                  <a:lnTo>
                    <a:pt x="1740" y="329"/>
                  </a:lnTo>
                  <a:lnTo>
                    <a:pt x="1722" y="337"/>
                  </a:lnTo>
                  <a:lnTo>
                    <a:pt x="1703" y="341"/>
                  </a:lnTo>
                  <a:lnTo>
                    <a:pt x="1685" y="346"/>
                  </a:lnTo>
                  <a:lnTo>
                    <a:pt x="1669" y="350"/>
                  </a:lnTo>
                  <a:lnTo>
                    <a:pt x="1655" y="348"/>
                  </a:lnTo>
                  <a:lnTo>
                    <a:pt x="1644" y="341"/>
                  </a:lnTo>
                  <a:lnTo>
                    <a:pt x="1634" y="333"/>
                  </a:lnTo>
                  <a:lnTo>
                    <a:pt x="1618" y="331"/>
                  </a:lnTo>
                  <a:lnTo>
                    <a:pt x="1600" y="331"/>
                  </a:lnTo>
                  <a:lnTo>
                    <a:pt x="1581" y="329"/>
                  </a:lnTo>
                  <a:lnTo>
                    <a:pt x="1563" y="325"/>
                  </a:lnTo>
                  <a:lnTo>
                    <a:pt x="1549" y="315"/>
                  </a:lnTo>
                  <a:lnTo>
                    <a:pt x="1537" y="303"/>
                  </a:lnTo>
                  <a:lnTo>
                    <a:pt x="1524" y="289"/>
                  </a:lnTo>
                  <a:lnTo>
                    <a:pt x="1508" y="276"/>
                  </a:lnTo>
                  <a:lnTo>
                    <a:pt x="1494" y="266"/>
                  </a:lnTo>
                  <a:lnTo>
                    <a:pt x="1480" y="260"/>
                  </a:lnTo>
                  <a:lnTo>
                    <a:pt x="1468" y="260"/>
                  </a:lnTo>
                  <a:lnTo>
                    <a:pt x="1461" y="268"/>
                  </a:lnTo>
                  <a:lnTo>
                    <a:pt x="1449" y="287"/>
                  </a:lnTo>
                  <a:lnTo>
                    <a:pt x="1435" y="311"/>
                  </a:lnTo>
                  <a:lnTo>
                    <a:pt x="1417" y="341"/>
                  </a:lnTo>
                  <a:lnTo>
                    <a:pt x="1400" y="372"/>
                  </a:lnTo>
                  <a:lnTo>
                    <a:pt x="1382" y="407"/>
                  </a:lnTo>
                  <a:lnTo>
                    <a:pt x="1366" y="439"/>
                  </a:lnTo>
                  <a:lnTo>
                    <a:pt x="1348" y="467"/>
                  </a:lnTo>
                  <a:lnTo>
                    <a:pt x="1335" y="488"/>
                  </a:lnTo>
                  <a:lnTo>
                    <a:pt x="1327" y="506"/>
                  </a:lnTo>
                  <a:lnTo>
                    <a:pt x="1327" y="522"/>
                  </a:lnTo>
                  <a:lnTo>
                    <a:pt x="1335" y="533"/>
                  </a:lnTo>
                  <a:lnTo>
                    <a:pt x="1344" y="541"/>
                  </a:lnTo>
                  <a:lnTo>
                    <a:pt x="1358" y="549"/>
                  </a:lnTo>
                  <a:lnTo>
                    <a:pt x="1370" y="555"/>
                  </a:lnTo>
                  <a:lnTo>
                    <a:pt x="1376" y="563"/>
                  </a:lnTo>
                  <a:lnTo>
                    <a:pt x="1374" y="569"/>
                  </a:lnTo>
                  <a:lnTo>
                    <a:pt x="1362" y="575"/>
                  </a:lnTo>
                  <a:lnTo>
                    <a:pt x="1348" y="577"/>
                  </a:lnTo>
                  <a:lnTo>
                    <a:pt x="1331" y="577"/>
                  </a:lnTo>
                  <a:lnTo>
                    <a:pt x="1313" y="577"/>
                  </a:lnTo>
                  <a:lnTo>
                    <a:pt x="1297" y="577"/>
                  </a:lnTo>
                  <a:lnTo>
                    <a:pt x="1285" y="577"/>
                  </a:lnTo>
                  <a:lnTo>
                    <a:pt x="1274" y="571"/>
                  </a:lnTo>
                  <a:lnTo>
                    <a:pt x="1264" y="561"/>
                  </a:lnTo>
                  <a:lnTo>
                    <a:pt x="1252" y="551"/>
                  </a:lnTo>
                  <a:lnTo>
                    <a:pt x="1238" y="543"/>
                  </a:lnTo>
                  <a:lnTo>
                    <a:pt x="1222" y="541"/>
                  </a:lnTo>
                  <a:lnTo>
                    <a:pt x="1201" y="543"/>
                  </a:lnTo>
                  <a:lnTo>
                    <a:pt x="1177" y="547"/>
                  </a:lnTo>
                  <a:lnTo>
                    <a:pt x="1153" y="551"/>
                  </a:lnTo>
                  <a:lnTo>
                    <a:pt x="1126" y="553"/>
                  </a:lnTo>
                  <a:lnTo>
                    <a:pt x="1100" y="553"/>
                  </a:lnTo>
                  <a:lnTo>
                    <a:pt x="1079" y="551"/>
                  </a:lnTo>
                  <a:lnTo>
                    <a:pt x="1059" y="551"/>
                  </a:lnTo>
                  <a:lnTo>
                    <a:pt x="1039" y="553"/>
                  </a:lnTo>
                  <a:lnTo>
                    <a:pt x="1026" y="555"/>
                  </a:lnTo>
                  <a:lnTo>
                    <a:pt x="1014" y="561"/>
                  </a:lnTo>
                  <a:lnTo>
                    <a:pt x="1010" y="567"/>
                  </a:lnTo>
                  <a:lnTo>
                    <a:pt x="1014" y="577"/>
                  </a:lnTo>
                  <a:lnTo>
                    <a:pt x="1024" y="585"/>
                  </a:lnTo>
                  <a:lnTo>
                    <a:pt x="1035" y="589"/>
                  </a:lnTo>
                  <a:lnTo>
                    <a:pt x="1049" y="592"/>
                  </a:lnTo>
                  <a:lnTo>
                    <a:pt x="1061" y="594"/>
                  </a:lnTo>
                  <a:lnTo>
                    <a:pt x="1073" y="598"/>
                  </a:lnTo>
                  <a:lnTo>
                    <a:pt x="1081" y="604"/>
                  </a:lnTo>
                  <a:lnTo>
                    <a:pt x="1085" y="616"/>
                  </a:lnTo>
                  <a:lnTo>
                    <a:pt x="1081" y="632"/>
                  </a:lnTo>
                  <a:lnTo>
                    <a:pt x="1069" y="655"/>
                  </a:lnTo>
                  <a:lnTo>
                    <a:pt x="1057" y="677"/>
                  </a:lnTo>
                  <a:lnTo>
                    <a:pt x="1047" y="695"/>
                  </a:lnTo>
                  <a:lnTo>
                    <a:pt x="1041" y="715"/>
                  </a:lnTo>
                  <a:lnTo>
                    <a:pt x="1039" y="736"/>
                  </a:lnTo>
                  <a:lnTo>
                    <a:pt x="1045" y="762"/>
                  </a:lnTo>
                  <a:lnTo>
                    <a:pt x="1057" y="799"/>
                  </a:lnTo>
                  <a:lnTo>
                    <a:pt x="1061" y="833"/>
                  </a:lnTo>
                  <a:lnTo>
                    <a:pt x="1059" y="860"/>
                  </a:lnTo>
                  <a:lnTo>
                    <a:pt x="1051" y="882"/>
                  </a:lnTo>
                  <a:lnTo>
                    <a:pt x="1039" y="894"/>
                  </a:lnTo>
                  <a:lnTo>
                    <a:pt x="1024" y="905"/>
                  </a:lnTo>
                  <a:lnTo>
                    <a:pt x="1004" y="915"/>
                  </a:lnTo>
                  <a:lnTo>
                    <a:pt x="986" y="927"/>
                  </a:lnTo>
                  <a:lnTo>
                    <a:pt x="972" y="939"/>
                  </a:lnTo>
                  <a:lnTo>
                    <a:pt x="966" y="953"/>
                  </a:lnTo>
                  <a:lnTo>
                    <a:pt x="966" y="968"/>
                  </a:lnTo>
                  <a:lnTo>
                    <a:pt x="966" y="988"/>
                  </a:lnTo>
                  <a:lnTo>
                    <a:pt x="966" y="1010"/>
                  </a:lnTo>
                  <a:lnTo>
                    <a:pt x="965" y="1031"/>
                  </a:lnTo>
                  <a:lnTo>
                    <a:pt x="961" y="1049"/>
                  </a:lnTo>
                  <a:lnTo>
                    <a:pt x="953" y="1063"/>
                  </a:lnTo>
                  <a:lnTo>
                    <a:pt x="941" y="1069"/>
                  </a:lnTo>
                  <a:lnTo>
                    <a:pt x="921" y="1071"/>
                  </a:lnTo>
                  <a:lnTo>
                    <a:pt x="892" y="1075"/>
                  </a:lnTo>
                  <a:lnTo>
                    <a:pt x="858" y="1079"/>
                  </a:lnTo>
                  <a:lnTo>
                    <a:pt x="821" y="1085"/>
                  </a:lnTo>
                  <a:lnTo>
                    <a:pt x="783" y="1092"/>
                  </a:lnTo>
                  <a:lnTo>
                    <a:pt x="752" y="1100"/>
                  </a:lnTo>
                  <a:lnTo>
                    <a:pt x="728" y="1110"/>
                  </a:lnTo>
                  <a:lnTo>
                    <a:pt x="705" y="1124"/>
                  </a:lnTo>
                  <a:lnTo>
                    <a:pt x="685" y="1138"/>
                  </a:lnTo>
                  <a:lnTo>
                    <a:pt x="671" y="1151"/>
                  </a:lnTo>
                  <a:lnTo>
                    <a:pt x="655" y="1159"/>
                  </a:lnTo>
                  <a:lnTo>
                    <a:pt x="642" y="1163"/>
                  </a:lnTo>
                  <a:lnTo>
                    <a:pt x="628" y="1159"/>
                  </a:lnTo>
                  <a:lnTo>
                    <a:pt x="606" y="1153"/>
                  </a:lnTo>
                  <a:lnTo>
                    <a:pt x="585" y="1146"/>
                  </a:lnTo>
                  <a:lnTo>
                    <a:pt x="559" y="1138"/>
                  </a:lnTo>
                  <a:lnTo>
                    <a:pt x="535" y="1132"/>
                  </a:lnTo>
                  <a:lnTo>
                    <a:pt x="516" y="1130"/>
                  </a:lnTo>
                  <a:lnTo>
                    <a:pt x="500" y="1132"/>
                  </a:lnTo>
                  <a:lnTo>
                    <a:pt x="486" y="1142"/>
                  </a:lnTo>
                  <a:lnTo>
                    <a:pt x="470" y="1157"/>
                  </a:lnTo>
                  <a:lnTo>
                    <a:pt x="457" y="1177"/>
                  </a:lnTo>
                  <a:lnTo>
                    <a:pt x="443" y="1197"/>
                  </a:lnTo>
                  <a:lnTo>
                    <a:pt x="427" y="1212"/>
                  </a:lnTo>
                  <a:lnTo>
                    <a:pt x="413" y="1220"/>
                  </a:lnTo>
                  <a:lnTo>
                    <a:pt x="390" y="1220"/>
                  </a:lnTo>
                  <a:lnTo>
                    <a:pt x="362" y="1216"/>
                  </a:lnTo>
                  <a:lnTo>
                    <a:pt x="339" y="1212"/>
                  </a:lnTo>
                  <a:lnTo>
                    <a:pt x="319" y="1210"/>
                  </a:lnTo>
                  <a:lnTo>
                    <a:pt x="313" y="1207"/>
                  </a:lnTo>
                  <a:lnTo>
                    <a:pt x="309" y="1199"/>
                  </a:lnTo>
                  <a:lnTo>
                    <a:pt x="309" y="1189"/>
                  </a:lnTo>
                  <a:lnTo>
                    <a:pt x="313" y="1177"/>
                  </a:lnTo>
                  <a:lnTo>
                    <a:pt x="315" y="1167"/>
                  </a:lnTo>
                  <a:lnTo>
                    <a:pt x="317" y="1159"/>
                  </a:lnTo>
                  <a:lnTo>
                    <a:pt x="319" y="1157"/>
                  </a:lnTo>
                  <a:lnTo>
                    <a:pt x="315" y="1157"/>
                  </a:lnTo>
                  <a:lnTo>
                    <a:pt x="303" y="1159"/>
                  </a:lnTo>
                  <a:lnTo>
                    <a:pt x="287" y="1161"/>
                  </a:lnTo>
                  <a:lnTo>
                    <a:pt x="268" y="1163"/>
                  </a:lnTo>
                  <a:lnTo>
                    <a:pt x="250" y="1165"/>
                  </a:lnTo>
                  <a:lnTo>
                    <a:pt x="234" y="1165"/>
                  </a:lnTo>
                  <a:lnTo>
                    <a:pt x="220" y="1165"/>
                  </a:lnTo>
                  <a:lnTo>
                    <a:pt x="211" y="1171"/>
                  </a:lnTo>
                  <a:lnTo>
                    <a:pt x="201" y="1177"/>
                  </a:lnTo>
                  <a:lnTo>
                    <a:pt x="189" y="1185"/>
                  </a:lnTo>
                  <a:lnTo>
                    <a:pt x="171" y="1191"/>
                  </a:lnTo>
                  <a:lnTo>
                    <a:pt x="154" y="1193"/>
                  </a:lnTo>
                  <a:lnTo>
                    <a:pt x="136" y="1193"/>
                  </a:lnTo>
                  <a:lnTo>
                    <a:pt x="116" y="1191"/>
                  </a:lnTo>
                  <a:lnTo>
                    <a:pt x="100" y="1191"/>
                  </a:lnTo>
                  <a:lnTo>
                    <a:pt x="87" y="1197"/>
                  </a:lnTo>
                  <a:lnTo>
                    <a:pt x="77" y="1210"/>
                  </a:lnTo>
                  <a:lnTo>
                    <a:pt x="69" y="1228"/>
                  </a:lnTo>
                  <a:lnTo>
                    <a:pt x="59" y="1246"/>
                  </a:lnTo>
                  <a:lnTo>
                    <a:pt x="49" y="1262"/>
                  </a:lnTo>
                  <a:lnTo>
                    <a:pt x="39" y="1275"/>
                  </a:lnTo>
                  <a:lnTo>
                    <a:pt x="33" y="1285"/>
                  </a:lnTo>
                  <a:lnTo>
                    <a:pt x="29" y="1289"/>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39" name="Freeform 69"/>
            <p:cNvSpPr/>
            <p:nvPr/>
          </p:nvSpPr>
          <p:spPr bwMode="gray">
            <a:xfrm>
              <a:off x="900" y="2373"/>
              <a:ext cx="1448" cy="781"/>
            </a:xfrm>
            <a:custGeom>
              <a:avLst/>
              <a:gdLst>
                <a:gd name="T0" fmla="*/ 682 w 2896"/>
                <a:gd name="T1" fmla="*/ 376 h 1563"/>
                <a:gd name="T2" fmla="*/ 665 w 2896"/>
                <a:gd name="T3" fmla="*/ 372 h 1563"/>
                <a:gd name="T4" fmla="*/ 658 w 2896"/>
                <a:gd name="T5" fmla="*/ 380 h 1563"/>
                <a:gd name="T6" fmla="*/ 653 w 2896"/>
                <a:gd name="T7" fmla="*/ 378 h 1563"/>
                <a:gd name="T8" fmla="*/ 623 w 2896"/>
                <a:gd name="T9" fmla="*/ 368 h 1563"/>
                <a:gd name="T10" fmla="*/ 626 w 2896"/>
                <a:gd name="T11" fmla="*/ 363 h 1563"/>
                <a:gd name="T12" fmla="*/ 630 w 2896"/>
                <a:gd name="T13" fmla="*/ 349 h 1563"/>
                <a:gd name="T14" fmla="*/ 616 w 2896"/>
                <a:gd name="T15" fmla="*/ 326 h 1563"/>
                <a:gd name="T16" fmla="*/ 604 w 2896"/>
                <a:gd name="T17" fmla="*/ 331 h 1563"/>
                <a:gd name="T18" fmla="*/ 589 w 2896"/>
                <a:gd name="T19" fmla="*/ 341 h 1563"/>
                <a:gd name="T20" fmla="*/ 568 w 2896"/>
                <a:gd name="T21" fmla="*/ 333 h 1563"/>
                <a:gd name="T22" fmla="*/ 557 w 2896"/>
                <a:gd name="T23" fmla="*/ 332 h 1563"/>
                <a:gd name="T24" fmla="*/ 536 w 2896"/>
                <a:gd name="T25" fmla="*/ 348 h 1563"/>
                <a:gd name="T26" fmla="*/ 511 w 2896"/>
                <a:gd name="T27" fmla="*/ 355 h 1563"/>
                <a:gd name="T28" fmla="*/ 491 w 2896"/>
                <a:gd name="T29" fmla="*/ 376 h 1563"/>
                <a:gd name="T30" fmla="*/ 459 w 2896"/>
                <a:gd name="T31" fmla="*/ 388 h 1563"/>
                <a:gd name="T32" fmla="*/ 442 w 2896"/>
                <a:gd name="T33" fmla="*/ 382 h 1563"/>
                <a:gd name="T34" fmla="*/ 431 w 2896"/>
                <a:gd name="T35" fmla="*/ 370 h 1563"/>
                <a:gd name="T36" fmla="*/ 400 w 2896"/>
                <a:gd name="T37" fmla="*/ 364 h 1563"/>
                <a:gd name="T38" fmla="*/ 389 w 2896"/>
                <a:gd name="T39" fmla="*/ 353 h 1563"/>
                <a:gd name="T40" fmla="*/ 364 w 2896"/>
                <a:gd name="T41" fmla="*/ 368 h 1563"/>
                <a:gd name="T42" fmla="*/ 348 w 2896"/>
                <a:gd name="T43" fmla="*/ 384 h 1563"/>
                <a:gd name="T44" fmla="*/ 335 w 2896"/>
                <a:gd name="T45" fmla="*/ 390 h 1563"/>
                <a:gd name="T46" fmla="*/ 339 w 2896"/>
                <a:gd name="T47" fmla="*/ 373 h 1563"/>
                <a:gd name="T48" fmla="*/ 331 w 2896"/>
                <a:gd name="T49" fmla="*/ 359 h 1563"/>
                <a:gd name="T50" fmla="*/ 302 w 2896"/>
                <a:gd name="T51" fmla="*/ 366 h 1563"/>
                <a:gd name="T52" fmla="*/ 264 w 2896"/>
                <a:gd name="T53" fmla="*/ 352 h 1563"/>
                <a:gd name="T54" fmla="*/ 246 w 2896"/>
                <a:gd name="T55" fmla="*/ 351 h 1563"/>
                <a:gd name="T56" fmla="*/ 221 w 2896"/>
                <a:gd name="T57" fmla="*/ 336 h 1563"/>
                <a:gd name="T58" fmla="*/ 200 w 2896"/>
                <a:gd name="T59" fmla="*/ 320 h 1563"/>
                <a:gd name="T60" fmla="*/ 178 w 2896"/>
                <a:gd name="T61" fmla="*/ 301 h 1563"/>
                <a:gd name="T62" fmla="*/ 171 w 2896"/>
                <a:gd name="T63" fmla="*/ 281 h 1563"/>
                <a:gd name="T64" fmla="*/ 158 w 2896"/>
                <a:gd name="T65" fmla="*/ 288 h 1563"/>
                <a:gd name="T66" fmla="*/ 142 w 2896"/>
                <a:gd name="T67" fmla="*/ 265 h 1563"/>
                <a:gd name="T68" fmla="*/ 109 w 2896"/>
                <a:gd name="T69" fmla="*/ 235 h 1563"/>
                <a:gd name="T70" fmla="*/ 89 w 2896"/>
                <a:gd name="T71" fmla="*/ 223 h 1563"/>
                <a:gd name="T72" fmla="*/ 74 w 2896"/>
                <a:gd name="T73" fmla="*/ 228 h 1563"/>
                <a:gd name="T74" fmla="*/ 46 w 2896"/>
                <a:gd name="T75" fmla="*/ 195 h 1563"/>
                <a:gd name="T76" fmla="*/ 19 w 2896"/>
                <a:gd name="T77" fmla="*/ 169 h 1563"/>
                <a:gd name="T78" fmla="*/ 10 w 2896"/>
                <a:gd name="T79" fmla="*/ 162 h 1563"/>
                <a:gd name="T80" fmla="*/ 0 w 2896"/>
                <a:gd name="T81" fmla="*/ 157 h 1563"/>
                <a:gd name="T82" fmla="*/ 3 w 2896"/>
                <a:gd name="T83" fmla="*/ 135 h 1563"/>
                <a:gd name="T84" fmla="*/ 1 w 2896"/>
                <a:gd name="T85" fmla="*/ 112 h 1563"/>
                <a:gd name="T86" fmla="*/ 11 w 2896"/>
                <a:gd name="T87" fmla="*/ 109 h 1563"/>
                <a:gd name="T88" fmla="*/ 22 w 2896"/>
                <a:gd name="T89" fmla="*/ 118 h 1563"/>
                <a:gd name="T90" fmla="*/ 38 w 2896"/>
                <a:gd name="T91" fmla="*/ 112 h 1563"/>
                <a:gd name="T92" fmla="*/ 43 w 2896"/>
                <a:gd name="T93" fmla="*/ 90 h 1563"/>
                <a:gd name="T94" fmla="*/ 25 w 2896"/>
                <a:gd name="T95" fmla="*/ 76 h 1563"/>
                <a:gd name="T96" fmla="*/ 29 w 2896"/>
                <a:gd name="T97" fmla="*/ 51 h 1563"/>
                <a:gd name="T98" fmla="*/ 39 w 2896"/>
                <a:gd name="T99" fmla="*/ 36 h 1563"/>
                <a:gd name="T100" fmla="*/ 71 w 2896"/>
                <a:gd name="T101" fmla="*/ 26 h 1563"/>
                <a:gd name="T102" fmla="*/ 148 w 2896"/>
                <a:gd name="T103" fmla="*/ 20 h 1563"/>
                <a:gd name="T104" fmla="*/ 258 w 2896"/>
                <a:gd name="T105" fmla="*/ 20 h 1563"/>
                <a:gd name="T106" fmla="*/ 365 w 2896"/>
                <a:gd name="T107" fmla="*/ 3 h 1563"/>
                <a:gd name="T108" fmla="*/ 417 w 2896"/>
                <a:gd name="T109" fmla="*/ 39 h 1563"/>
                <a:gd name="T110" fmla="*/ 399 w 2896"/>
                <a:gd name="T111" fmla="*/ 107 h 1563"/>
                <a:gd name="T112" fmla="*/ 467 w 2896"/>
                <a:gd name="T113" fmla="*/ 166 h 1563"/>
                <a:gd name="T114" fmla="*/ 552 w 2896"/>
                <a:gd name="T115" fmla="*/ 189 h 1563"/>
                <a:gd name="T116" fmla="*/ 640 w 2896"/>
                <a:gd name="T117" fmla="*/ 234 h 1563"/>
                <a:gd name="T118" fmla="*/ 685 w 2896"/>
                <a:gd name="T119" fmla="*/ 200 h 1563"/>
                <a:gd name="T120" fmla="*/ 711 w 2896"/>
                <a:gd name="T121" fmla="*/ 258 h 1563"/>
                <a:gd name="T122" fmla="*/ 713 w 2896"/>
                <a:gd name="T123" fmla="*/ 353 h 1563"/>
                <a:gd name="T124" fmla="*/ 689 w 2896"/>
                <a:gd name="T125" fmla="*/ 384 h 156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96"/>
                <a:gd name="T190" fmla="*/ 0 h 1563"/>
                <a:gd name="T191" fmla="*/ 2896 w 2896"/>
                <a:gd name="T192" fmla="*/ 1563 h 156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96" h="1563">
                  <a:moveTo>
                    <a:pt x="2754" y="1539"/>
                  </a:moveTo>
                  <a:lnTo>
                    <a:pt x="2752" y="1535"/>
                  </a:lnTo>
                  <a:lnTo>
                    <a:pt x="2746" y="1528"/>
                  </a:lnTo>
                  <a:lnTo>
                    <a:pt x="2738" y="1516"/>
                  </a:lnTo>
                  <a:lnTo>
                    <a:pt x="2728" y="1504"/>
                  </a:lnTo>
                  <a:lnTo>
                    <a:pt x="2715" y="1496"/>
                  </a:lnTo>
                  <a:lnTo>
                    <a:pt x="2699" y="1490"/>
                  </a:lnTo>
                  <a:lnTo>
                    <a:pt x="2685" y="1486"/>
                  </a:lnTo>
                  <a:lnTo>
                    <a:pt x="2671" y="1486"/>
                  </a:lnTo>
                  <a:lnTo>
                    <a:pt x="2658" y="1490"/>
                  </a:lnTo>
                  <a:lnTo>
                    <a:pt x="2650" y="1500"/>
                  </a:lnTo>
                  <a:lnTo>
                    <a:pt x="2644" y="1510"/>
                  </a:lnTo>
                  <a:lnTo>
                    <a:pt x="2640" y="1516"/>
                  </a:lnTo>
                  <a:lnTo>
                    <a:pt x="2636" y="1520"/>
                  </a:lnTo>
                  <a:lnTo>
                    <a:pt x="2632" y="1522"/>
                  </a:lnTo>
                  <a:lnTo>
                    <a:pt x="2630" y="1524"/>
                  </a:lnTo>
                  <a:lnTo>
                    <a:pt x="2628" y="1524"/>
                  </a:lnTo>
                  <a:lnTo>
                    <a:pt x="2624" y="1522"/>
                  </a:lnTo>
                  <a:lnTo>
                    <a:pt x="2612" y="1514"/>
                  </a:lnTo>
                  <a:lnTo>
                    <a:pt x="2591" y="1504"/>
                  </a:lnTo>
                  <a:lnTo>
                    <a:pt x="2559" y="1492"/>
                  </a:lnTo>
                  <a:lnTo>
                    <a:pt x="2534" y="1486"/>
                  </a:lnTo>
                  <a:lnTo>
                    <a:pt x="2510" y="1480"/>
                  </a:lnTo>
                  <a:lnTo>
                    <a:pt x="2492" y="1474"/>
                  </a:lnTo>
                  <a:lnTo>
                    <a:pt x="2480" y="1472"/>
                  </a:lnTo>
                  <a:lnTo>
                    <a:pt x="2477" y="1472"/>
                  </a:lnTo>
                  <a:lnTo>
                    <a:pt x="2480" y="1468"/>
                  </a:lnTo>
                  <a:lnTo>
                    <a:pt x="2488" y="1463"/>
                  </a:lnTo>
                  <a:lnTo>
                    <a:pt x="2502" y="1453"/>
                  </a:lnTo>
                  <a:lnTo>
                    <a:pt x="2514" y="1443"/>
                  </a:lnTo>
                  <a:lnTo>
                    <a:pt x="2524" y="1431"/>
                  </a:lnTo>
                  <a:lnTo>
                    <a:pt x="2528" y="1421"/>
                  </a:lnTo>
                  <a:lnTo>
                    <a:pt x="2526" y="1411"/>
                  </a:lnTo>
                  <a:lnTo>
                    <a:pt x="2518" y="1396"/>
                  </a:lnTo>
                  <a:lnTo>
                    <a:pt x="2506" y="1376"/>
                  </a:lnTo>
                  <a:lnTo>
                    <a:pt x="2494" y="1356"/>
                  </a:lnTo>
                  <a:lnTo>
                    <a:pt x="2482" y="1337"/>
                  </a:lnTo>
                  <a:lnTo>
                    <a:pt x="2471" y="1319"/>
                  </a:lnTo>
                  <a:lnTo>
                    <a:pt x="2463" y="1307"/>
                  </a:lnTo>
                  <a:lnTo>
                    <a:pt x="2461" y="1303"/>
                  </a:lnTo>
                  <a:lnTo>
                    <a:pt x="2457" y="1305"/>
                  </a:lnTo>
                  <a:lnTo>
                    <a:pt x="2445" y="1309"/>
                  </a:lnTo>
                  <a:lnTo>
                    <a:pt x="2429" y="1317"/>
                  </a:lnTo>
                  <a:lnTo>
                    <a:pt x="2414" y="1325"/>
                  </a:lnTo>
                  <a:lnTo>
                    <a:pt x="2398" y="1333"/>
                  </a:lnTo>
                  <a:lnTo>
                    <a:pt x="2384" y="1341"/>
                  </a:lnTo>
                  <a:lnTo>
                    <a:pt x="2376" y="1348"/>
                  </a:lnTo>
                  <a:lnTo>
                    <a:pt x="2366" y="1358"/>
                  </a:lnTo>
                  <a:lnTo>
                    <a:pt x="2354" y="1366"/>
                  </a:lnTo>
                  <a:lnTo>
                    <a:pt x="2339" y="1366"/>
                  </a:lnTo>
                  <a:lnTo>
                    <a:pt x="2321" y="1362"/>
                  </a:lnTo>
                  <a:lnTo>
                    <a:pt x="2305" y="1354"/>
                  </a:lnTo>
                  <a:lnTo>
                    <a:pt x="2290" y="1344"/>
                  </a:lnTo>
                  <a:lnTo>
                    <a:pt x="2272" y="1335"/>
                  </a:lnTo>
                  <a:lnTo>
                    <a:pt x="2256" y="1327"/>
                  </a:lnTo>
                  <a:lnTo>
                    <a:pt x="2246" y="1321"/>
                  </a:lnTo>
                  <a:lnTo>
                    <a:pt x="2242" y="1319"/>
                  </a:lnTo>
                  <a:lnTo>
                    <a:pt x="2238" y="1323"/>
                  </a:lnTo>
                  <a:lnTo>
                    <a:pt x="2228" y="1331"/>
                  </a:lnTo>
                  <a:lnTo>
                    <a:pt x="2215" y="1342"/>
                  </a:lnTo>
                  <a:lnTo>
                    <a:pt x="2197" y="1354"/>
                  </a:lnTo>
                  <a:lnTo>
                    <a:pt x="2177" y="1370"/>
                  </a:lnTo>
                  <a:lnTo>
                    <a:pt x="2160" y="1382"/>
                  </a:lnTo>
                  <a:lnTo>
                    <a:pt x="2142" y="1394"/>
                  </a:lnTo>
                  <a:lnTo>
                    <a:pt x="2126" y="1402"/>
                  </a:lnTo>
                  <a:lnTo>
                    <a:pt x="2108" y="1405"/>
                  </a:lnTo>
                  <a:lnTo>
                    <a:pt x="2087" y="1411"/>
                  </a:lnTo>
                  <a:lnTo>
                    <a:pt x="2063" y="1415"/>
                  </a:lnTo>
                  <a:lnTo>
                    <a:pt x="2043" y="1423"/>
                  </a:lnTo>
                  <a:lnTo>
                    <a:pt x="2028" y="1431"/>
                  </a:lnTo>
                  <a:lnTo>
                    <a:pt x="2016" y="1445"/>
                  </a:lnTo>
                  <a:lnTo>
                    <a:pt x="2004" y="1465"/>
                  </a:lnTo>
                  <a:lnTo>
                    <a:pt x="1986" y="1486"/>
                  </a:lnTo>
                  <a:lnTo>
                    <a:pt x="1963" y="1506"/>
                  </a:lnTo>
                  <a:lnTo>
                    <a:pt x="1937" y="1522"/>
                  </a:lnTo>
                  <a:lnTo>
                    <a:pt x="1910" y="1531"/>
                  </a:lnTo>
                  <a:lnTo>
                    <a:pt x="1884" y="1539"/>
                  </a:lnTo>
                  <a:lnTo>
                    <a:pt x="1860" y="1547"/>
                  </a:lnTo>
                  <a:lnTo>
                    <a:pt x="1837" y="1555"/>
                  </a:lnTo>
                  <a:lnTo>
                    <a:pt x="1815" y="1561"/>
                  </a:lnTo>
                  <a:lnTo>
                    <a:pt x="1795" y="1561"/>
                  </a:lnTo>
                  <a:lnTo>
                    <a:pt x="1784" y="1553"/>
                  </a:lnTo>
                  <a:lnTo>
                    <a:pt x="1776" y="1541"/>
                  </a:lnTo>
                  <a:lnTo>
                    <a:pt x="1770" y="1528"/>
                  </a:lnTo>
                  <a:lnTo>
                    <a:pt x="1768" y="1514"/>
                  </a:lnTo>
                  <a:lnTo>
                    <a:pt x="1764" y="1502"/>
                  </a:lnTo>
                  <a:lnTo>
                    <a:pt x="1756" y="1492"/>
                  </a:lnTo>
                  <a:lnTo>
                    <a:pt x="1744" y="1484"/>
                  </a:lnTo>
                  <a:lnTo>
                    <a:pt x="1723" y="1480"/>
                  </a:lnTo>
                  <a:lnTo>
                    <a:pt x="1697" y="1478"/>
                  </a:lnTo>
                  <a:lnTo>
                    <a:pt x="1669" y="1476"/>
                  </a:lnTo>
                  <a:lnTo>
                    <a:pt x="1642" y="1472"/>
                  </a:lnTo>
                  <a:lnTo>
                    <a:pt x="1614" y="1466"/>
                  </a:lnTo>
                  <a:lnTo>
                    <a:pt x="1601" y="1459"/>
                  </a:lnTo>
                  <a:lnTo>
                    <a:pt x="1591" y="1449"/>
                  </a:lnTo>
                  <a:lnTo>
                    <a:pt x="1583" y="1439"/>
                  </a:lnTo>
                  <a:lnTo>
                    <a:pt x="1575" y="1429"/>
                  </a:lnTo>
                  <a:lnTo>
                    <a:pt x="1567" y="1419"/>
                  </a:lnTo>
                  <a:lnTo>
                    <a:pt x="1557" y="1415"/>
                  </a:lnTo>
                  <a:lnTo>
                    <a:pt x="1545" y="1415"/>
                  </a:lnTo>
                  <a:lnTo>
                    <a:pt x="1528" y="1421"/>
                  </a:lnTo>
                  <a:lnTo>
                    <a:pt x="1502" y="1437"/>
                  </a:lnTo>
                  <a:lnTo>
                    <a:pt x="1479" y="1455"/>
                  </a:lnTo>
                  <a:lnTo>
                    <a:pt x="1455" y="1472"/>
                  </a:lnTo>
                  <a:lnTo>
                    <a:pt x="1435" y="1492"/>
                  </a:lnTo>
                  <a:lnTo>
                    <a:pt x="1421" y="1508"/>
                  </a:lnTo>
                  <a:lnTo>
                    <a:pt x="1410" y="1520"/>
                  </a:lnTo>
                  <a:lnTo>
                    <a:pt x="1402" y="1528"/>
                  </a:lnTo>
                  <a:lnTo>
                    <a:pt x="1390" y="1537"/>
                  </a:lnTo>
                  <a:lnTo>
                    <a:pt x="1378" y="1547"/>
                  </a:lnTo>
                  <a:lnTo>
                    <a:pt x="1364" y="1555"/>
                  </a:lnTo>
                  <a:lnTo>
                    <a:pt x="1353" y="1561"/>
                  </a:lnTo>
                  <a:lnTo>
                    <a:pt x="1345" y="1563"/>
                  </a:lnTo>
                  <a:lnTo>
                    <a:pt x="1339" y="1561"/>
                  </a:lnTo>
                  <a:lnTo>
                    <a:pt x="1339" y="1553"/>
                  </a:lnTo>
                  <a:lnTo>
                    <a:pt x="1343" y="1541"/>
                  </a:lnTo>
                  <a:lnTo>
                    <a:pt x="1347" y="1528"/>
                  </a:lnTo>
                  <a:lnTo>
                    <a:pt x="1353" y="1510"/>
                  </a:lnTo>
                  <a:lnTo>
                    <a:pt x="1356" y="1492"/>
                  </a:lnTo>
                  <a:lnTo>
                    <a:pt x="1358" y="1476"/>
                  </a:lnTo>
                  <a:lnTo>
                    <a:pt x="1358" y="1461"/>
                  </a:lnTo>
                  <a:lnTo>
                    <a:pt x="1353" y="1449"/>
                  </a:lnTo>
                  <a:lnTo>
                    <a:pt x="1343" y="1441"/>
                  </a:lnTo>
                  <a:lnTo>
                    <a:pt x="1321" y="1437"/>
                  </a:lnTo>
                  <a:lnTo>
                    <a:pt x="1301" y="1441"/>
                  </a:lnTo>
                  <a:lnTo>
                    <a:pt x="1282" y="1449"/>
                  </a:lnTo>
                  <a:lnTo>
                    <a:pt x="1260" y="1457"/>
                  </a:lnTo>
                  <a:lnTo>
                    <a:pt x="1234" y="1463"/>
                  </a:lnTo>
                  <a:lnTo>
                    <a:pt x="1205" y="1465"/>
                  </a:lnTo>
                  <a:lnTo>
                    <a:pt x="1173" y="1459"/>
                  </a:lnTo>
                  <a:lnTo>
                    <a:pt x="1140" y="1449"/>
                  </a:lnTo>
                  <a:lnTo>
                    <a:pt x="1106" y="1435"/>
                  </a:lnTo>
                  <a:lnTo>
                    <a:pt x="1077" y="1421"/>
                  </a:lnTo>
                  <a:lnTo>
                    <a:pt x="1053" y="1409"/>
                  </a:lnTo>
                  <a:lnTo>
                    <a:pt x="1038" y="1402"/>
                  </a:lnTo>
                  <a:lnTo>
                    <a:pt x="1026" y="1398"/>
                  </a:lnTo>
                  <a:lnTo>
                    <a:pt x="1012" y="1400"/>
                  </a:lnTo>
                  <a:lnTo>
                    <a:pt x="998" y="1404"/>
                  </a:lnTo>
                  <a:lnTo>
                    <a:pt x="984" y="1405"/>
                  </a:lnTo>
                  <a:lnTo>
                    <a:pt x="969" y="1404"/>
                  </a:lnTo>
                  <a:lnTo>
                    <a:pt x="951" y="1396"/>
                  </a:lnTo>
                  <a:lnTo>
                    <a:pt x="931" y="1380"/>
                  </a:lnTo>
                  <a:lnTo>
                    <a:pt x="908" y="1364"/>
                  </a:lnTo>
                  <a:lnTo>
                    <a:pt x="884" y="1346"/>
                  </a:lnTo>
                  <a:lnTo>
                    <a:pt x="860" y="1331"/>
                  </a:lnTo>
                  <a:lnTo>
                    <a:pt x="843" y="1317"/>
                  </a:lnTo>
                  <a:lnTo>
                    <a:pt x="831" y="1307"/>
                  </a:lnTo>
                  <a:lnTo>
                    <a:pt x="817" y="1297"/>
                  </a:lnTo>
                  <a:lnTo>
                    <a:pt x="799" y="1283"/>
                  </a:lnTo>
                  <a:lnTo>
                    <a:pt x="778" y="1268"/>
                  </a:lnTo>
                  <a:lnTo>
                    <a:pt x="754" y="1250"/>
                  </a:lnTo>
                  <a:lnTo>
                    <a:pt x="734" y="1234"/>
                  </a:lnTo>
                  <a:lnTo>
                    <a:pt x="717" y="1219"/>
                  </a:lnTo>
                  <a:lnTo>
                    <a:pt x="709" y="1207"/>
                  </a:lnTo>
                  <a:lnTo>
                    <a:pt x="705" y="1189"/>
                  </a:lnTo>
                  <a:lnTo>
                    <a:pt x="701" y="1169"/>
                  </a:lnTo>
                  <a:lnTo>
                    <a:pt x="697" y="1150"/>
                  </a:lnTo>
                  <a:lnTo>
                    <a:pt x="691" y="1134"/>
                  </a:lnTo>
                  <a:lnTo>
                    <a:pt x="683" y="1126"/>
                  </a:lnTo>
                  <a:lnTo>
                    <a:pt x="675" y="1126"/>
                  </a:lnTo>
                  <a:lnTo>
                    <a:pt x="666" y="1132"/>
                  </a:lnTo>
                  <a:lnTo>
                    <a:pt x="656" y="1140"/>
                  </a:lnTo>
                  <a:lnTo>
                    <a:pt x="644" y="1148"/>
                  </a:lnTo>
                  <a:lnTo>
                    <a:pt x="632" y="1154"/>
                  </a:lnTo>
                  <a:lnTo>
                    <a:pt x="620" y="1156"/>
                  </a:lnTo>
                  <a:lnTo>
                    <a:pt x="612" y="1152"/>
                  </a:lnTo>
                  <a:lnTo>
                    <a:pt x="606" y="1142"/>
                  </a:lnTo>
                  <a:lnTo>
                    <a:pt x="591" y="1100"/>
                  </a:lnTo>
                  <a:lnTo>
                    <a:pt x="565" y="1063"/>
                  </a:lnTo>
                  <a:lnTo>
                    <a:pt x="532" y="1026"/>
                  </a:lnTo>
                  <a:lnTo>
                    <a:pt x="510" y="1006"/>
                  </a:lnTo>
                  <a:lnTo>
                    <a:pt x="484" y="984"/>
                  </a:lnTo>
                  <a:lnTo>
                    <a:pt x="461" y="963"/>
                  </a:lnTo>
                  <a:lnTo>
                    <a:pt x="437" y="943"/>
                  </a:lnTo>
                  <a:lnTo>
                    <a:pt x="419" y="923"/>
                  </a:lnTo>
                  <a:lnTo>
                    <a:pt x="406" y="908"/>
                  </a:lnTo>
                  <a:lnTo>
                    <a:pt x="390" y="894"/>
                  </a:lnTo>
                  <a:lnTo>
                    <a:pt x="374" y="890"/>
                  </a:lnTo>
                  <a:lnTo>
                    <a:pt x="356" y="892"/>
                  </a:lnTo>
                  <a:lnTo>
                    <a:pt x="343" y="900"/>
                  </a:lnTo>
                  <a:lnTo>
                    <a:pt x="331" y="910"/>
                  </a:lnTo>
                  <a:lnTo>
                    <a:pt x="321" y="919"/>
                  </a:lnTo>
                  <a:lnTo>
                    <a:pt x="309" y="921"/>
                  </a:lnTo>
                  <a:lnTo>
                    <a:pt x="295" y="913"/>
                  </a:lnTo>
                  <a:lnTo>
                    <a:pt x="280" y="898"/>
                  </a:lnTo>
                  <a:lnTo>
                    <a:pt x="266" y="870"/>
                  </a:lnTo>
                  <a:lnTo>
                    <a:pt x="246" y="839"/>
                  </a:lnTo>
                  <a:lnTo>
                    <a:pt x="217" y="809"/>
                  </a:lnTo>
                  <a:lnTo>
                    <a:pt x="183" y="782"/>
                  </a:lnTo>
                  <a:lnTo>
                    <a:pt x="152" y="756"/>
                  </a:lnTo>
                  <a:lnTo>
                    <a:pt x="124" y="734"/>
                  </a:lnTo>
                  <a:lnTo>
                    <a:pt x="105" y="717"/>
                  </a:lnTo>
                  <a:lnTo>
                    <a:pt x="87" y="697"/>
                  </a:lnTo>
                  <a:lnTo>
                    <a:pt x="73" y="677"/>
                  </a:lnTo>
                  <a:lnTo>
                    <a:pt x="61" y="662"/>
                  </a:lnTo>
                  <a:lnTo>
                    <a:pt x="53" y="652"/>
                  </a:lnTo>
                  <a:lnTo>
                    <a:pt x="51" y="648"/>
                  </a:lnTo>
                  <a:lnTo>
                    <a:pt x="47" y="648"/>
                  </a:lnTo>
                  <a:lnTo>
                    <a:pt x="40" y="650"/>
                  </a:lnTo>
                  <a:lnTo>
                    <a:pt x="30" y="650"/>
                  </a:lnTo>
                  <a:lnTo>
                    <a:pt x="20" y="648"/>
                  </a:lnTo>
                  <a:lnTo>
                    <a:pt x="8" y="646"/>
                  </a:lnTo>
                  <a:lnTo>
                    <a:pt x="2" y="638"/>
                  </a:lnTo>
                  <a:lnTo>
                    <a:pt x="0" y="628"/>
                  </a:lnTo>
                  <a:lnTo>
                    <a:pt x="4" y="614"/>
                  </a:lnTo>
                  <a:lnTo>
                    <a:pt x="10" y="593"/>
                  </a:lnTo>
                  <a:lnTo>
                    <a:pt x="14" y="575"/>
                  </a:lnTo>
                  <a:lnTo>
                    <a:pt x="14" y="559"/>
                  </a:lnTo>
                  <a:lnTo>
                    <a:pt x="12" y="541"/>
                  </a:lnTo>
                  <a:lnTo>
                    <a:pt x="10" y="524"/>
                  </a:lnTo>
                  <a:lnTo>
                    <a:pt x="12" y="504"/>
                  </a:lnTo>
                  <a:lnTo>
                    <a:pt x="12" y="482"/>
                  </a:lnTo>
                  <a:lnTo>
                    <a:pt x="8" y="463"/>
                  </a:lnTo>
                  <a:lnTo>
                    <a:pt x="6" y="449"/>
                  </a:lnTo>
                  <a:lnTo>
                    <a:pt x="4" y="439"/>
                  </a:lnTo>
                  <a:lnTo>
                    <a:pt x="10" y="431"/>
                  </a:lnTo>
                  <a:lnTo>
                    <a:pt x="22" y="427"/>
                  </a:lnTo>
                  <a:lnTo>
                    <a:pt x="34" y="429"/>
                  </a:lnTo>
                  <a:lnTo>
                    <a:pt x="44" y="437"/>
                  </a:lnTo>
                  <a:lnTo>
                    <a:pt x="51" y="449"/>
                  </a:lnTo>
                  <a:lnTo>
                    <a:pt x="57" y="461"/>
                  </a:lnTo>
                  <a:lnTo>
                    <a:pt x="65" y="471"/>
                  </a:lnTo>
                  <a:lnTo>
                    <a:pt x="75" y="475"/>
                  </a:lnTo>
                  <a:lnTo>
                    <a:pt x="87" y="473"/>
                  </a:lnTo>
                  <a:lnTo>
                    <a:pt x="105" y="465"/>
                  </a:lnTo>
                  <a:lnTo>
                    <a:pt x="118" y="463"/>
                  </a:lnTo>
                  <a:lnTo>
                    <a:pt x="132" y="463"/>
                  </a:lnTo>
                  <a:lnTo>
                    <a:pt x="144" y="459"/>
                  </a:lnTo>
                  <a:lnTo>
                    <a:pt x="152" y="451"/>
                  </a:lnTo>
                  <a:lnTo>
                    <a:pt x="158" y="435"/>
                  </a:lnTo>
                  <a:lnTo>
                    <a:pt x="164" y="412"/>
                  </a:lnTo>
                  <a:lnTo>
                    <a:pt x="169" y="394"/>
                  </a:lnTo>
                  <a:lnTo>
                    <a:pt x="171" y="376"/>
                  </a:lnTo>
                  <a:lnTo>
                    <a:pt x="169" y="360"/>
                  </a:lnTo>
                  <a:lnTo>
                    <a:pt x="156" y="347"/>
                  </a:lnTo>
                  <a:lnTo>
                    <a:pt x="140" y="335"/>
                  </a:lnTo>
                  <a:lnTo>
                    <a:pt x="122" y="325"/>
                  </a:lnTo>
                  <a:lnTo>
                    <a:pt x="108" y="315"/>
                  </a:lnTo>
                  <a:lnTo>
                    <a:pt x="99" y="305"/>
                  </a:lnTo>
                  <a:lnTo>
                    <a:pt x="97" y="293"/>
                  </a:lnTo>
                  <a:lnTo>
                    <a:pt x="101" y="278"/>
                  </a:lnTo>
                  <a:lnTo>
                    <a:pt x="108" y="254"/>
                  </a:lnTo>
                  <a:lnTo>
                    <a:pt x="114" y="229"/>
                  </a:lnTo>
                  <a:lnTo>
                    <a:pt x="118" y="205"/>
                  </a:lnTo>
                  <a:lnTo>
                    <a:pt x="124" y="183"/>
                  </a:lnTo>
                  <a:lnTo>
                    <a:pt x="132" y="168"/>
                  </a:lnTo>
                  <a:lnTo>
                    <a:pt x="140" y="158"/>
                  </a:lnTo>
                  <a:lnTo>
                    <a:pt x="148" y="150"/>
                  </a:lnTo>
                  <a:lnTo>
                    <a:pt x="154" y="146"/>
                  </a:lnTo>
                  <a:lnTo>
                    <a:pt x="158" y="142"/>
                  </a:lnTo>
                  <a:lnTo>
                    <a:pt x="160" y="140"/>
                  </a:lnTo>
                  <a:lnTo>
                    <a:pt x="162" y="138"/>
                  </a:lnTo>
                  <a:lnTo>
                    <a:pt x="256" y="152"/>
                  </a:lnTo>
                  <a:lnTo>
                    <a:pt x="284" y="105"/>
                  </a:lnTo>
                  <a:lnTo>
                    <a:pt x="355" y="42"/>
                  </a:lnTo>
                  <a:lnTo>
                    <a:pt x="384" y="24"/>
                  </a:lnTo>
                  <a:lnTo>
                    <a:pt x="492" y="61"/>
                  </a:lnTo>
                  <a:lnTo>
                    <a:pt x="530" y="87"/>
                  </a:lnTo>
                  <a:lnTo>
                    <a:pt x="589" y="81"/>
                  </a:lnTo>
                  <a:lnTo>
                    <a:pt x="626" y="36"/>
                  </a:lnTo>
                  <a:lnTo>
                    <a:pt x="792" y="67"/>
                  </a:lnTo>
                  <a:lnTo>
                    <a:pt x="841" y="106"/>
                  </a:lnTo>
                  <a:lnTo>
                    <a:pt x="896" y="118"/>
                  </a:lnTo>
                  <a:lnTo>
                    <a:pt x="1032" y="81"/>
                  </a:lnTo>
                  <a:lnTo>
                    <a:pt x="1071" y="105"/>
                  </a:lnTo>
                  <a:lnTo>
                    <a:pt x="1179" y="34"/>
                  </a:lnTo>
                  <a:lnTo>
                    <a:pt x="1297" y="32"/>
                  </a:lnTo>
                  <a:lnTo>
                    <a:pt x="1366" y="0"/>
                  </a:lnTo>
                  <a:lnTo>
                    <a:pt x="1461" y="12"/>
                  </a:lnTo>
                  <a:lnTo>
                    <a:pt x="1575" y="87"/>
                  </a:lnTo>
                  <a:lnTo>
                    <a:pt x="1666" y="75"/>
                  </a:lnTo>
                  <a:lnTo>
                    <a:pt x="1669" y="110"/>
                  </a:lnTo>
                  <a:lnTo>
                    <a:pt x="1628" y="138"/>
                  </a:lnTo>
                  <a:lnTo>
                    <a:pt x="1667" y="158"/>
                  </a:lnTo>
                  <a:lnTo>
                    <a:pt x="1666" y="205"/>
                  </a:lnTo>
                  <a:lnTo>
                    <a:pt x="1632" y="295"/>
                  </a:lnTo>
                  <a:lnTo>
                    <a:pt x="1634" y="347"/>
                  </a:lnTo>
                  <a:lnTo>
                    <a:pt x="1589" y="349"/>
                  </a:lnTo>
                  <a:lnTo>
                    <a:pt x="1595" y="431"/>
                  </a:lnTo>
                  <a:lnTo>
                    <a:pt x="1650" y="520"/>
                  </a:lnTo>
                  <a:lnTo>
                    <a:pt x="1701" y="632"/>
                  </a:lnTo>
                  <a:lnTo>
                    <a:pt x="1774" y="628"/>
                  </a:lnTo>
                  <a:lnTo>
                    <a:pt x="1845" y="663"/>
                  </a:lnTo>
                  <a:lnTo>
                    <a:pt x="1870" y="665"/>
                  </a:lnTo>
                  <a:lnTo>
                    <a:pt x="1902" y="683"/>
                  </a:lnTo>
                  <a:lnTo>
                    <a:pt x="1978" y="730"/>
                  </a:lnTo>
                  <a:lnTo>
                    <a:pt x="2041" y="726"/>
                  </a:lnTo>
                  <a:lnTo>
                    <a:pt x="2110" y="758"/>
                  </a:lnTo>
                  <a:lnTo>
                    <a:pt x="2207" y="756"/>
                  </a:lnTo>
                  <a:lnTo>
                    <a:pt x="2321" y="799"/>
                  </a:lnTo>
                  <a:lnTo>
                    <a:pt x="2402" y="860"/>
                  </a:lnTo>
                  <a:lnTo>
                    <a:pt x="2410" y="913"/>
                  </a:lnTo>
                  <a:lnTo>
                    <a:pt x="2486" y="923"/>
                  </a:lnTo>
                  <a:lnTo>
                    <a:pt x="2557" y="939"/>
                  </a:lnTo>
                  <a:lnTo>
                    <a:pt x="2628" y="843"/>
                  </a:lnTo>
                  <a:lnTo>
                    <a:pt x="2644" y="793"/>
                  </a:lnTo>
                  <a:lnTo>
                    <a:pt x="2634" y="758"/>
                  </a:lnTo>
                  <a:lnTo>
                    <a:pt x="2681" y="764"/>
                  </a:lnTo>
                  <a:lnTo>
                    <a:pt x="2740" y="803"/>
                  </a:lnTo>
                  <a:lnTo>
                    <a:pt x="2786" y="829"/>
                  </a:lnTo>
                  <a:lnTo>
                    <a:pt x="2817" y="925"/>
                  </a:lnTo>
                  <a:lnTo>
                    <a:pt x="2880" y="992"/>
                  </a:lnTo>
                  <a:lnTo>
                    <a:pt x="2874" y="1020"/>
                  </a:lnTo>
                  <a:lnTo>
                    <a:pt x="2841" y="1033"/>
                  </a:lnTo>
                  <a:lnTo>
                    <a:pt x="2880" y="1106"/>
                  </a:lnTo>
                  <a:lnTo>
                    <a:pt x="2894" y="1240"/>
                  </a:lnTo>
                  <a:lnTo>
                    <a:pt x="2896" y="1358"/>
                  </a:lnTo>
                  <a:lnTo>
                    <a:pt x="2858" y="1378"/>
                  </a:lnTo>
                  <a:lnTo>
                    <a:pt x="2849" y="1413"/>
                  </a:lnTo>
                  <a:lnTo>
                    <a:pt x="2829" y="1472"/>
                  </a:lnTo>
                  <a:lnTo>
                    <a:pt x="2835" y="1528"/>
                  </a:lnTo>
                  <a:lnTo>
                    <a:pt x="2799" y="1541"/>
                  </a:lnTo>
                  <a:lnTo>
                    <a:pt x="2774" y="1520"/>
                  </a:lnTo>
                  <a:lnTo>
                    <a:pt x="2754" y="1539"/>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40" name="Freeform 70"/>
            <p:cNvSpPr/>
            <p:nvPr/>
          </p:nvSpPr>
          <p:spPr bwMode="gray">
            <a:xfrm>
              <a:off x="900" y="2373"/>
              <a:ext cx="1448" cy="781"/>
            </a:xfrm>
            <a:custGeom>
              <a:avLst/>
              <a:gdLst>
                <a:gd name="T0" fmla="*/ 682 w 2896"/>
                <a:gd name="T1" fmla="*/ 376 h 1563"/>
                <a:gd name="T2" fmla="*/ 665 w 2896"/>
                <a:gd name="T3" fmla="*/ 372 h 1563"/>
                <a:gd name="T4" fmla="*/ 658 w 2896"/>
                <a:gd name="T5" fmla="*/ 380 h 1563"/>
                <a:gd name="T6" fmla="*/ 653 w 2896"/>
                <a:gd name="T7" fmla="*/ 378 h 1563"/>
                <a:gd name="T8" fmla="*/ 623 w 2896"/>
                <a:gd name="T9" fmla="*/ 368 h 1563"/>
                <a:gd name="T10" fmla="*/ 626 w 2896"/>
                <a:gd name="T11" fmla="*/ 363 h 1563"/>
                <a:gd name="T12" fmla="*/ 630 w 2896"/>
                <a:gd name="T13" fmla="*/ 349 h 1563"/>
                <a:gd name="T14" fmla="*/ 616 w 2896"/>
                <a:gd name="T15" fmla="*/ 326 h 1563"/>
                <a:gd name="T16" fmla="*/ 604 w 2896"/>
                <a:gd name="T17" fmla="*/ 331 h 1563"/>
                <a:gd name="T18" fmla="*/ 589 w 2896"/>
                <a:gd name="T19" fmla="*/ 341 h 1563"/>
                <a:gd name="T20" fmla="*/ 568 w 2896"/>
                <a:gd name="T21" fmla="*/ 333 h 1563"/>
                <a:gd name="T22" fmla="*/ 557 w 2896"/>
                <a:gd name="T23" fmla="*/ 332 h 1563"/>
                <a:gd name="T24" fmla="*/ 536 w 2896"/>
                <a:gd name="T25" fmla="*/ 348 h 1563"/>
                <a:gd name="T26" fmla="*/ 511 w 2896"/>
                <a:gd name="T27" fmla="*/ 355 h 1563"/>
                <a:gd name="T28" fmla="*/ 491 w 2896"/>
                <a:gd name="T29" fmla="*/ 376 h 1563"/>
                <a:gd name="T30" fmla="*/ 459 w 2896"/>
                <a:gd name="T31" fmla="*/ 388 h 1563"/>
                <a:gd name="T32" fmla="*/ 442 w 2896"/>
                <a:gd name="T33" fmla="*/ 382 h 1563"/>
                <a:gd name="T34" fmla="*/ 431 w 2896"/>
                <a:gd name="T35" fmla="*/ 370 h 1563"/>
                <a:gd name="T36" fmla="*/ 400 w 2896"/>
                <a:gd name="T37" fmla="*/ 364 h 1563"/>
                <a:gd name="T38" fmla="*/ 389 w 2896"/>
                <a:gd name="T39" fmla="*/ 353 h 1563"/>
                <a:gd name="T40" fmla="*/ 364 w 2896"/>
                <a:gd name="T41" fmla="*/ 368 h 1563"/>
                <a:gd name="T42" fmla="*/ 348 w 2896"/>
                <a:gd name="T43" fmla="*/ 384 h 1563"/>
                <a:gd name="T44" fmla="*/ 335 w 2896"/>
                <a:gd name="T45" fmla="*/ 390 h 1563"/>
                <a:gd name="T46" fmla="*/ 339 w 2896"/>
                <a:gd name="T47" fmla="*/ 373 h 1563"/>
                <a:gd name="T48" fmla="*/ 331 w 2896"/>
                <a:gd name="T49" fmla="*/ 359 h 1563"/>
                <a:gd name="T50" fmla="*/ 302 w 2896"/>
                <a:gd name="T51" fmla="*/ 366 h 1563"/>
                <a:gd name="T52" fmla="*/ 264 w 2896"/>
                <a:gd name="T53" fmla="*/ 352 h 1563"/>
                <a:gd name="T54" fmla="*/ 246 w 2896"/>
                <a:gd name="T55" fmla="*/ 351 h 1563"/>
                <a:gd name="T56" fmla="*/ 221 w 2896"/>
                <a:gd name="T57" fmla="*/ 336 h 1563"/>
                <a:gd name="T58" fmla="*/ 200 w 2896"/>
                <a:gd name="T59" fmla="*/ 320 h 1563"/>
                <a:gd name="T60" fmla="*/ 178 w 2896"/>
                <a:gd name="T61" fmla="*/ 301 h 1563"/>
                <a:gd name="T62" fmla="*/ 171 w 2896"/>
                <a:gd name="T63" fmla="*/ 281 h 1563"/>
                <a:gd name="T64" fmla="*/ 158 w 2896"/>
                <a:gd name="T65" fmla="*/ 288 h 1563"/>
                <a:gd name="T66" fmla="*/ 142 w 2896"/>
                <a:gd name="T67" fmla="*/ 265 h 1563"/>
                <a:gd name="T68" fmla="*/ 109 w 2896"/>
                <a:gd name="T69" fmla="*/ 235 h 1563"/>
                <a:gd name="T70" fmla="*/ 89 w 2896"/>
                <a:gd name="T71" fmla="*/ 223 h 1563"/>
                <a:gd name="T72" fmla="*/ 74 w 2896"/>
                <a:gd name="T73" fmla="*/ 228 h 1563"/>
                <a:gd name="T74" fmla="*/ 46 w 2896"/>
                <a:gd name="T75" fmla="*/ 195 h 1563"/>
                <a:gd name="T76" fmla="*/ 19 w 2896"/>
                <a:gd name="T77" fmla="*/ 169 h 1563"/>
                <a:gd name="T78" fmla="*/ 10 w 2896"/>
                <a:gd name="T79" fmla="*/ 162 h 1563"/>
                <a:gd name="T80" fmla="*/ 0 w 2896"/>
                <a:gd name="T81" fmla="*/ 157 h 1563"/>
                <a:gd name="T82" fmla="*/ 3 w 2896"/>
                <a:gd name="T83" fmla="*/ 135 h 1563"/>
                <a:gd name="T84" fmla="*/ 1 w 2896"/>
                <a:gd name="T85" fmla="*/ 112 h 1563"/>
                <a:gd name="T86" fmla="*/ 11 w 2896"/>
                <a:gd name="T87" fmla="*/ 109 h 1563"/>
                <a:gd name="T88" fmla="*/ 22 w 2896"/>
                <a:gd name="T89" fmla="*/ 118 h 1563"/>
                <a:gd name="T90" fmla="*/ 38 w 2896"/>
                <a:gd name="T91" fmla="*/ 112 h 1563"/>
                <a:gd name="T92" fmla="*/ 43 w 2896"/>
                <a:gd name="T93" fmla="*/ 90 h 1563"/>
                <a:gd name="T94" fmla="*/ 25 w 2896"/>
                <a:gd name="T95" fmla="*/ 76 h 1563"/>
                <a:gd name="T96" fmla="*/ 29 w 2896"/>
                <a:gd name="T97" fmla="*/ 51 h 1563"/>
                <a:gd name="T98" fmla="*/ 39 w 2896"/>
                <a:gd name="T99" fmla="*/ 36 h 1563"/>
                <a:gd name="T100" fmla="*/ 71 w 2896"/>
                <a:gd name="T101" fmla="*/ 26 h 1563"/>
                <a:gd name="T102" fmla="*/ 148 w 2896"/>
                <a:gd name="T103" fmla="*/ 20 h 1563"/>
                <a:gd name="T104" fmla="*/ 258 w 2896"/>
                <a:gd name="T105" fmla="*/ 20 h 1563"/>
                <a:gd name="T106" fmla="*/ 365 w 2896"/>
                <a:gd name="T107" fmla="*/ 3 h 1563"/>
                <a:gd name="T108" fmla="*/ 417 w 2896"/>
                <a:gd name="T109" fmla="*/ 39 h 1563"/>
                <a:gd name="T110" fmla="*/ 399 w 2896"/>
                <a:gd name="T111" fmla="*/ 107 h 1563"/>
                <a:gd name="T112" fmla="*/ 467 w 2896"/>
                <a:gd name="T113" fmla="*/ 166 h 1563"/>
                <a:gd name="T114" fmla="*/ 552 w 2896"/>
                <a:gd name="T115" fmla="*/ 189 h 1563"/>
                <a:gd name="T116" fmla="*/ 640 w 2896"/>
                <a:gd name="T117" fmla="*/ 234 h 1563"/>
                <a:gd name="T118" fmla="*/ 685 w 2896"/>
                <a:gd name="T119" fmla="*/ 200 h 1563"/>
                <a:gd name="T120" fmla="*/ 711 w 2896"/>
                <a:gd name="T121" fmla="*/ 258 h 1563"/>
                <a:gd name="T122" fmla="*/ 713 w 2896"/>
                <a:gd name="T123" fmla="*/ 353 h 1563"/>
                <a:gd name="T124" fmla="*/ 689 w 2896"/>
                <a:gd name="T125" fmla="*/ 384 h 156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96"/>
                <a:gd name="T190" fmla="*/ 0 h 1563"/>
                <a:gd name="T191" fmla="*/ 2896 w 2896"/>
                <a:gd name="T192" fmla="*/ 1563 h 156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96" h="1563">
                  <a:moveTo>
                    <a:pt x="2754" y="1539"/>
                  </a:moveTo>
                  <a:lnTo>
                    <a:pt x="2752" y="1535"/>
                  </a:lnTo>
                  <a:lnTo>
                    <a:pt x="2746" y="1528"/>
                  </a:lnTo>
                  <a:lnTo>
                    <a:pt x="2738" y="1516"/>
                  </a:lnTo>
                  <a:lnTo>
                    <a:pt x="2728" y="1504"/>
                  </a:lnTo>
                  <a:lnTo>
                    <a:pt x="2715" y="1496"/>
                  </a:lnTo>
                  <a:lnTo>
                    <a:pt x="2699" y="1490"/>
                  </a:lnTo>
                  <a:lnTo>
                    <a:pt x="2685" y="1486"/>
                  </a:lnTo>
                  <a:lnTo>
                    <a:pt x="2671" y="1486"/>
                  </a:lnTo>
                  <a:lnTo>
                    <a:pt x="2658" y="1490"/>
                  </a:lnTo>
                  <a:lnTo>
                    <a:pt x="2650" y="1500"/>
                  </a:lnTo>
                  <a:lnTo>
                    <a:pt x="2644" y="1510"/>
                  </a:lnTo>
                  <a:lnTo>
                    <a:pt x="2640" y="1516"/>
                  </a:lnTo>
                  <a:lnTo>
                    <a:pt x="2636" y="1520"/>
                  </a:lnTo>
                  <a:lnTo>
                    <a:pt x="2632" y="1522"/>
                  </a:lnTo>
                  <a:lnTo>
                    <a:pt x="2630" y="1524"/>
                  </a:lnTo>
                  <a:lnTo>
                    <a:pt x="2628" y="1524"/>
                  </a:lnTo>
                  <a:lnTo>
                    <a:pt x="2624" y="1522"/>
                  </a:lnTo>
                  <a:lnTo>
                    <a:pt x="2612" y="1514"/>
                  </a:lnTo>
                  <a:lnTo>
                    <a:pt x="2591" y="1504"/>
                  </a:lnTo>
                  <a:lnTo>
                    <a:pt x="2559" y="1492"/>
                  </a:lnTo>
                  <a:lnTo>
                    <a:pt x="2534" y="1486"/>
                  </a:lnTo>
                  <a:lnTo>
                    <a:pt x="2510" y="1480"/>
                  </a:lnTo>
                  <a:lnTo>
                    <a:pt x="2492" y="1474"/>
                  </a:lnTo>
                  <a:lnTo>
                    <a:pt x="2480" y="1472"/>
                  </a:lnTo>
                  <a:lnTo>
                    <a:pt x="2477" y="1472"/>
                  </a:lnTo>
                  <a:lnTo>
                    <a:pt x="2480" y="1468"/>
                  </a:lnTo>
                  <a:lnTo>
                    <a:pt x="2488" y="1463"/>
                  </a:lnTo>
                  <a:lnTo>
                    <a:pt x="2502" y="1453"/>
                  </a:lnTo>
                  <a:lnTo>
                    <a:pt x="2514" y="1443"/>
                  </a:lnTo>
                  <a:lnTo>
                    <a:pt x="2524" y="1431"/>
                  </a:lnTo>
                  <a:lnTo>
                    <a:pt x="2528" y="1421"/>
                  </a:lnTo>
                  <a:lnTo>
                    <a:pt x="2526" y="1411"/>
                  </a:lnTo>
                  <a:lnTo>
                    <a:pt x="2518" y="1396"/>
                  </a:lnTo>
                  <a:lnTo>
                    <a:pt x="2506" y="1376"/>
                  </a:lnTo>
                  <a:lnTo>
                    <a:pt x="2494" y="1356"/>
                  </a:lnTo>
                  <a:lnTo>
                    <a:pt x="2482" y="1337"/>
                  </a:lnTo>
                  <a:lnTo>
                    <a:pt x="2471" y="1319"/>
                  </a:lnTo>
                  <a:lnTo>
                    <a:pt x="2463" y="1307"/>
                  </a:lnTo>
                  <a:lnTo>
                    <a:pt x="2461" y="1303"/>
                  </a:lnTo>
                  <a:lnTo>
                    <a:pt x="2457" y="1305"/>
                  </a:lnTo>
                  <a:lnTo>
                    <a:pt x="2445" y="1309"/>
                  </a:lnTo>
                  <a:lnTo>
                    <a:pt x="2429" y="1317"/>
                  </a:lnTo>
                  <a:lnTo>
                    <a:pt x="2414" y="1325"/>
                  </a:lnTo>
                  <a:lnTo>
                    <a:pt x="2398" y="1333"/>
                  </a:lnTo>
                  <a:lnTo>
                    <a:pt x="2384" y="1341"/>
                  </a:lnTo>
                  <a:lnTo>
                    <a:pt x="2376" y="1348"/>
                  </a:lnTo>
                  <a:lnTo>
                    <a:pt x="2366" y="1358"/>
                  </a:lnTo>
                  <a:lnTo>
                    <a:pt x="2354" y="1366"/>
                  </a:lnTo>
                  <a:lnTo>
                    <a:pt x="2339" y="1366"/>
                  </a:lnTo>
                  <a:lnTo>
                    <a:pt x="2321" y="1362"/>
                  </a:lnTo>
                  <a:lnTo>
                    <a:pt x="2305" y="1354"/>
                  </a:lnTo>
                  <a:lnTo>
                    <a:pt x="2290" y="1344"/>
                  </a:lnTo>
                  <a:lnTo>
                    <a:pt x="2272" y="1335"/>
                  </a:lnTo>
                  <a:lnTo>
                    <a:pt x="2256" y="1327"/>
                  </a:lnTo>
                  <a:lnTo>
                    <a:pt x="2246" y="1321"/>
                  </a:lnTo>
                  <a:lnTo>
                    <a:pt x="2242" y="1319"/>
                  </a:lnTo>
                  <a:lnTo>
                    <a:pt x="2238" y="1323"/>
                  </a:lnTo>
                  <a:lnTo>
                    <a:pt x="2228" y="1331"/>
                  </a:lnTo>
                  <a:lnTo>
                    <a:pt x="2215" y="1342"/>
                  </a:lnTo>
                  <a:lnTo>
                    <a:pt x="2197" y="1354"/>
                  </a:lnTo>
                  <a:lnTo>
                    <a:pt x="2177" y="1370"/>
                  </a:lnTo>
                  <a:lnTo>
                    <a:pt x="2160" y="1382"/>
                  </a:lnTo>
                  <a:lnTo>
                    <a:pt x="2142" y="1394"/>
                  </a:lnTo>
                  <a:lnTo>
                    <a:pt x="2126" y="1402"/>
                  </a:lnTo>
                  <a:lnTo>
                    <a:pt x="2108" y="1405"/>
                  </a:lnTo>
                  <a:lnTo>
                    <a:pt x="2087" y="1411"/>
                  </a:lnTo>
                  <a:lnTo>
                    <a:pt x="2063" y="1415"/>
                  </a:lnTo>
                  <a:lnTo>
                    <a:pt x="2043" y="1423"/>
                  </a:lnTo>
                  <a:lnTo>
                    <a:pt x="2028" y="1431"/>
                  </a:lnTo>
                  <a:lnTo>
                    <a:pt x="2016" y="1445"/>
                  </a:lnTo>
                  <a:lnTo>
                    <a:pt x="2004" y="1465"/>
                  </a:lnTo>
                  <a:lnTo>
                    <a:pt x="1986" y="1486"/>
                  </a:lnTo>
                  <a:lnTo>
                    <a:pt x="1963" y="1506"/>
                  </a:lnTo>
                  <a:lnTo>
                    <a:pt x="1937" y="1522"/>
                  </a:lnTo>
                  <a:lnTo>
                    <a:pt x="1910" y="1531"/>
                  </a:lnTo>
                  <a:lnTo>
                    <a:pt x="1884" y="1539"/>
                  </a:lnTo>
                  <a:lnTo>
                    <a:pt x="1860" y="1547"/>
                  </a:lnTo>
                  <a:lnTo>
                    <a:pt x="1837" y="1555"/>
                  </a:lnTo>
                  <a:lnTo>
                    <a:pt x="1815" y="1561"/>
                  </a:lnTo>
                  <a:lnTo>
                    <a:pt x="1795" y="1561"/>
                  </a:lnTo>
                  <a:lnTo>
                    <a:pt x="1784" y="1553"/>
                  </a:lnTo>
                  <a:lnTo>
                    <a:pt x="1776" y="1541"/>
                  </a:lnTo>
                  <a:lnTo>
                    <a:pt x="1770" y="1528"/>
                  </a:lnTo>
                  <a:lnTo>
                    <a:pt x="1768" y="1514"/>
                  </a:lnTo>
                  <a:lnTo>
                    <a:pt x="1764" y="1502"/>
                  </a:lnTo>
                  <a:lnTo>
                    <a:pt x="1756" y="1492"/>
                  </a:lnTo>
                  <a:lnTo>
                    <a:pt x="1744" y="1484"/>
                  </a:lnTo>
                  <a:lnTo>
                    <a:pt x="1723" y="1480"/>
                  </a:lnTo>
                  <a:lnTo>
                    <a:pt x="1697" y="1478"/>
                  </a:lnTo>
                  <a:lnTo>
                    <a:pt x="1669" y="1476"/>
                  </a:lnTo>
                  <a:lnTo>
                    <a:pt x="1642" y="1472"/>
                  </a:lnTo>
                  <a:lnTo>
                    <a:pt x="1614" y="1466"/>
                  </a:lnTo>
                  <a:lnTo>
                    <a:pt x="1601" y="1459"/>
                  </a:lnTo>
                  <a:lnTo>
                    <a:pt x="1591" y="1449"/>
                  </a:lnTo>
                  <a:lnTo>
                    <a:pt x="1583" y="1439"/>
                  </a:lnTo>
                  <a:lnTo>
                    <a:pt x="1575" y="1429"/>
                  </a:lnTo>
                  <a:lnTo>
                    <a:pt x="1567" y="1419"/>
                  </a:lnTo>
                  <a:lnTo>
                    <a:pt x="1557" y="1415"/>
                  </a:lnTo>
                  <a:lnTo>
                    <a:pt x="1545" y="1415"/>
                  </a:lnTo>
                  <a:lnTo>
                    <a:pt x="1528" y="1421"/>
                  </a:lnTo>
                  <a:lnTo>
                    <a:pt x="1502" y="1437"/>
                  </a:lnTo>
                  <a:lnTo>
                    <a:pt x="1479" y="1455"/>
                  </a:lnTo>
                  <a:lnTo>
                    <a:pt x="1455" y="1472"/>
                  </a:lnTo>
                  <a:lnTo>
                    <a:pt x="1435" y="1492"/>
                  </a:lnTo>
                  <a:lnTo>
                    <a:pt x="1421" y="1508"/>
                  </a:lnTo>
                  <a:lnTo>
                    <a:pt x="1410" y="1520"/>
                  </a:lnTo>
                  <a:lnTo>
                    <a:pt x="1402" y="1528"/>
                  </a:lnTo>
                  <a:lnTo>
                    <a:pt x="1390" y="1537"/>
                  </a:lnTo>
                  <a:lnTo>
                    <a:pt x="1378" y="1547"/>
                  </a:lnTo>
                  <a:lnTo>
                    <a:pt x="1364" y="1555"/>
                  </a:lnTo>
                  <a:lnTo>
                    <a:pt x="1353" y="1561"/>
                  </a:lnTo>
                  <a:lnTo>
                    <a:pt x="1345" y="1563"/>
                  </a:lnTo>
                  <a:lnTo>
                    <a:pt x="1339" y="1561"/>
                  </a:lnTo>
                  <a:lnTo>
                    <a:pt x="1339" y="1553"/>
                  </a:lnTo>
                  <a:lnTo>
                    <a:pt x="1343" y="1541"/>
                  </a:lnTo>
                  <a:lnTo>
                    <a:pt x="1347" y="1528"/>
                  </a:lnTo>
                  <a:lnTo>
                    <a:pt x="1353" y="1510"/>
                  </a:lnTo>
                  <a:lnTo>
                    <a:pt x="1356" y="1492"/>
                  </a:lnTo>
                  <a:lnTo>
                    <a:pt x="1358" y="1476"/>
                  </a:lnTo>
                  <a:lnTo>
                    <a:pt x="1358" y="1461"/>
                  </a:lnTo>
                  <a:lnTo>
                    <a:pt x="1353" y="1449"/>
                  </a:lnTo>
                  <a:lnTo>
                    <a:pt x="1343" y="1441"/>
                  </a:lnTo>
                  <a:lnTo>
                    <a:pt x="1321" y="1437"/>
                  </a:lnTo>
                  <a:lnTo>
                    <a:pt x="1301" y="1441"/>
                  </a:lnTo>
                  <a:lnTo>
                    <a:pt x="1282" y="1449"/>
                  </a:lnTo>
                  <a:lnTo>
                    <a:pt x="1260" y="1457"/>
                  </a:lnTo>
                  <a:lnTo>
                    <a:pt x="1234" y="1463"/>
                  </a:lnTo>
                  <a:lnTo>
                    <a:pt x="1205" y="1465"/>
                  </a:lnTo>
                  <a:lnTo>
                    <a:pt x="1173" y="1459"/>
                  </a:lnTo>
                  <a:lnTo>
                    <a:pt x="1140" y="1449"/>
                  </a:lnTo>
                  <a:lnTo>
                    <a:pt x="1106" y="1435"/>
                  </a:lnTo>
                  <a:lnTo>
                    <a:pt x="1077" y="1421"/>
                  </a:lnTo>
                  <a:lnTo>
                    <a:pt x="1053" y="1409"/>
                  </a:lnTo>
                  <a:lnTo>
                    <a:pt x="1038" y="1402"/>
                  </a:lnTo>
                  <a:lnTo>
                    <a:pt x="1026" y="1398"/>
                  </a:lnTo>
                  <a:lnTo>
                    <a:pt x="1012" y="1400"/>
                  </a:lnTo>
                  <a:lnTo>
                    <a:pt x="998" y="1404"/>
                  </a:lnTo>
                  <a:lnTo>
                    <a:pt x="984" y="1405"/>
                  </a:lnTo>
                  <a:lnTo>
                    <a:pt x="969" y="1404"/>
                  </a:lnTo>
                  <a:lnTo>
                    <a:pt x="951" y="1396"/>
                  </a:lnTo>
                  <a:lnTo>
                    <a:pt x="931" y="1380"/>
                  </a:lnTo>
                  <a:lnTo>
                    <a:pt x="908" y="1364"/>
                  </a:lnTo>
                  <a:lnTo>
                    <a:pt x="884" y="1346"/>
                  </a:lnTo>
                  <a:lnTo>
                    <a:pt x="860" y="1331"/>
                  </a:lnTo>
                  <a:lnTo>
                    <a:pt x="843" y="1317"/>
                  </a:lnTo>
                  <a:lnTo>
                    <a:pt x="831" y="1307"/>
                  </a:lnTo>
                  <a:lnTo>
                    <a:pt x="817" y="1297"/>
                  </a:lnTo>
                  <a:lnTo>
                    <a:pt x="799" y="1283"/>
                  </a:lnTo>
                  <a:lnTo>
                    <a:pt x="778" y="1268"/>
                  </a:lnTo>
                  <a:lnTo>
                    <a:pt x="754" y="1250"/>
                  </a:lnTo>
                  <a:lnTo>
                    <a:pt x="734" y="1234"/>
                  </a:lnTo>
                  <a:lnTo>
                    <a:pt x="717" y="1219"/>
                  </a:lnTo>
                  <a:lnTo>
                    <a:pt x="709" y="1207"/>
                  </a:lnTo>
                  <a:lnTo>
                    <a:pt x="705" y="1189"/>
                  </a:lnTo>
                  <a:lnTo>
                    <a:pt x="701" y="1169"/>
                  </a:lnTo>
                  <a:lnTo>
                    <a:pt x="697" y="1150"/>
                  </a:lnTo>
                  <a:lnTo>
                    <a:pt x="691" y="1134"/>
                  </a:lnTo>
                  <a:lnTo>
                    <a:pt x="683" y="1126"/>
                  </a:lnTo>
                  <a:lnTo>
                    <a:pt x="675" y="1126"/>
                  </a:lnTo>
                  <a:lnTo>
                    <a:pt x="666" y="1132"/>
                  </a:lnTo>
                  <a:lnTo>
                    <a:pt x="656" y="1140"/>
                  </a:lnTo>
                  <a:lnTo>
                    <a:pt x="644" y="1148"/>
                  </a:lnTo>
                  <a:lnTo>
                    <a:pt x="632" y="1154"/>
                  </a:lnTo>
                  <a:lnTo>
                    <a:pt x="620" y="1156"/>
                  </a:lnTo>
                  <a:lnTo>
                    <a:pt x="612" y="1152"/>
                  </a:lnTo>
                  <a:lnTo>
                    <a:pt x="606" y="1142"/>
                  </a:lnTo>
                  <a:lnTo>
                    <a:pt x="591" y="1100"/>
                  </a:lnTo>
                  <a:lnTo>
                    <a:pt x="565" y="1063"/>
                  </a:lnTo>
                  <a:lnTo>
                    <a:pt x="532" y="1026"/>
                  </a:lnTo>
                  <a:lnTo>
                    <a:pt x="510" y="1006"/>
                  </a:lnTo>
                  <a:lnTo>
                    <a:pt x="484" y="984"/>
                  </a:lnTo>
                  <a:lnTo>
                    <a:pt x="461" y="963"/>
                  </a:lnTo>
                  <a:lnTo>
                    <a:pt x="437" y="943"/>
                  </a:lnTo>
                  <a:lnTo>
                    <a:pt x="419" y="923"/>
                  </a:lnTo>
                  <a:lnTo>
                    <a:pt x="406" y="908"/>
                  </a:lnTo>
                  <a:lnTo>
                    <a:pt x="390" y="894"/>
                  </a:lnTo>
                  <a:lnTo>
                    <a:pt x="374" y="890"/>
                  </a:lnTo>
                  <a:lnTo>
                    <a:pt x="356" y="892"/>
                  </a:lnTo>
                  <a:lnTo>
                    <a:pt x="343" y="900"/>
                  </a:lnTo>
                  <a:lnTo>
                    <a:pt x="331" y="910"/>
                  </a:lnTo>
                  <a:lnTo>
                    <a:pt x="321" y="919"/>
                  </a:lnTo>
                  <a:lnTo>
                    <a:pt x="309" y="921"/>
                  </a:lnTo>
                  <a:lnTo>
                    <a:pt x="295" y="913"/>
                  </a:lnTo>
                  <a:lnTo>
                    <a:pt x="280" y="898"/>
                  </a:lnTo>
                  <a:lnTo>
                    <a:pt x="266" y="870"/>
                  </a:lnTo>
                  <a:lnTo>
                    <a:pt x="246" y="839"/>
                  </a:lnTo>
                  <a:lnTo>
                    <a:pt x="217" y="809"/>
                  </a:lnTo>
                  <a:lnTo>
                    <a:pt x="183" y="782"/>
                  </a:lnTo>
                  <a:lnTo>
                    <a:pt x="152" y="756"/>
                  </a:lnTo>
                  <a:lnTo>
                    <a:pt x="124" y="734"/>
                  </a:lnTo>
                  <a:lnTo>
                    <a:pt x="105" y="717"/>
                  </a:lnTo>
                  <a:lnTo>
                    <a:pt x="87" y="697"/>
                  </a:lnTo>
                  <a:lnTo>
                    <a:pt x="73" y="677"/>
                  </a:lnTo>
                  <a:lnTo>
                    <a:pt x="61" y="662"/>
                  </a:lnTo>
                  <a:lnTo>
                    <a:pt x="53" y="652"/>
                  </a:lnTo>
                  <a:lnTo>
                    <a:pt x="51" y="648"/>
                  </a:lnTo>
                  <a:lnTo>
                    <a:pt x="47" y="648"/>
                  </a:lnTo>
                  <a:lnTo>
                    <a:pt x="40" y="650"/>
                  </a:lnTo>
                  <a:lnTo>
                    <a:pt x="30" y="650"/>
                  </a:lnTo>
                  <a:lnTo>
                    <a:pt x="20" y="648"/>
                  </a:lnTo>
                  <a:lnTo>
                    <a:pt x="8" y="646"/>
                  </a:lnTo>
                  <a:lnTo>
                    <a:pt x="2" y="638"/>
                  </a:lnTo>
                  <a:lnTo>
                    <a:pt x="0" y="628"/>
                  </a:lnTo>
                  <a:lnTo>
                    <a:pt x="4" y="614"/>
                  </a:lnTo>
                  <a:lnTo>
                    <a:pt x="10" y="593"/>
                  </a:lnTo>
                  <a:lnTo>
                    <a:pt x="14" y="575"/>
                  </a:lnTo>
                  <a:lnTo>
                    <a:pt x="14" y="559"/>
                  </a:lnTo>
                  <a:lnTo>
                    <a:pt x="12" y="541"/>
                  </a:lnTo>
                  <a:lnTo>
                    <a:pt x="10" y="524"/>
                  </a:lnTo>
                  <a:lnTo>
                    <a:pt x="12" y="504"/>
                  </a:lnTo>
                  <a:lnTo>
                    <a:pt x="12" y="482"/>
                  </a:lnTo>
                  <a:lnTo>
                    <a:pt x="8" y="463"/>
                  </a:lnTo>
                  <a:lnTo>
                    <a:pt x="6" y="449"/>
                  </a:lnTo>
                  <a:lnTo>
                    <a:pt x="4" y="439"/>
                  </a:lnTo>
                  <a:lnTo>
                    <a:pt x="10" y="431"/>
                  </a:lnTo>
                  <a:lnTo>
                    <a:pt x="22" y="427"/>
                  </a:lnTo>
                  <a:lnTo>
                    <a:pt x="34" y="429"/>
                  </a:lnTo>
                  <a:lnTo>
                    <a:pt x="44" y="437"/>
                  </a:lnTo>
                  <a:lnTo>
                    <a:pt x="51" y="449"/>
                  </a:lnTo>
                  <a:lnTo>
                    <a:pt x="57" y="461"/>
                  </a:lnTo>
                  <a:lnTo>
                    <a:pt x="65" y="471"/>
                  </a:lnTo>
                  <a:lnTo>
                    <a:pt x="75" y="475"/>
                  </a:lnTo>
                  <a:lnTo>
                    <a:pt x="87" y="473"/>
                  </a:lnTo>
                  <a:lnTo>
                    <a:pt x="105" y="465"/>
                  </a:lnTo>
                  <a:lnTo>
                    <a:pt x="118" y="463"/>
                  </a:lnTo>
                  <a:lnTo>
                    <a:pt x="132" y="463"/>
                  </a:lnTo>
                  <a:lnTo>
                    <a:pt x="144" y="459"/>
                  </a:lnTo>
                  <a:lnTo>
                    <a:pt x="152" y="451"/>
                  </a:lnTo>
                  <a:lnTo>
                    <a:pt x="158" y="435"/>
                  </a:lnTo>
                  <a:lnTo>
                    <a:pt x="164" y="412"/>
                  </a:lnTo>
                  <a:lnTo>
                    <a:pt x="169" y="394"/>
                  </a:lnTo>
                  <a:lnTo>
                    <a:pt x="171" y="376"/>
                  </a:lnTo>
                  <a:lnTo>
                    <a:pt x="169" y="360"/>
                  </a:lnTo>
                  <a:lnTo>
                    <a:pt x="156" y="347"/>
                  </a:lnTo>
                  <a:lnTo>
                    <a:pt x="140" y="335"/>
                  </a:lnTo>
                  <a:lnTo>
                    <a:pt x="122" y="325"/>
                  </a:lnTo>
                  <a:lnTo>
                    <a:pt x="108" y="315"/>
                  </a:lnTo>
                  <a:lnTo>
                    <a:pt x="99" y="305"/>
                  </a:lnTo>
                  <a:lnTo>
                    <a:pt x="97" y="293"/>
                  </a:lnTo>
                  <a:lnTo>
                    <a:pt x="101" y="278"/>
                  </a:lnTo>
                  <a:lnTo>
                    <a:pt x="108" y="254"/>
                  </a:lnTo>
                  <a:lnTo>
                    <a:pt x="114" y="229"/>
                  </a:lnTo>
                  <a:lnTo>
                    <a:pt x="118" y="205"/>
                  </a:lnTo>
                  <a:lnTo>
                    <a:pt x="124" y="183"/>
                  </a:lnTo>
                  <a:lnTo>
                    <a:pt x="132" y="168"/>
                  </a:lnTo>
                  <a:lnTo>
                    <a:pt x="140" y="158"/>
                  </a:lnTo>
                  <a:lnTo>
                    <a:pt x="148" y="150"/>
                  </a:lnTo>
                  <a:lnTo>
                    <a:pt x="154" y="146"/>
                  </a:lnTo>
                  <a:lnTo>
                    <a:pt x="158" y="142"/>
                  </a:lnTo>
                  <a:lnTo>
                    <a:pt x="160" y="140"/>
                  </a:lnTo>
                  <a:lnTo>
                    <a:pt x="162" y="138"/>
                  </a:lnTo>
                  <a:lnTo>
                    <a:pt x="256" y="152"/>
                  </a:lnTo>
                  <a:lnTo>
                    <a:pt x="284" y="105"/>
                  </a:lnTo>
                  <a:lnTo>
                    <a:pt x="355" y="42"/>
                  </a:lnTo>
                  <a:lnTo>
                    <a:pt x="384" y="24"/>
                  </a:lnTo>
                  <a:lnTo>
                    <a:pt x="492" y="61"/>
                  </a:lnTo>
                  <a:lnTo>
                    <a:pt x="530" y="87"/>
                  </a:lnTo>
                  <a:lnTo>
                    <a:pt x="589" y="81"/>
                  </a:lnTo>
                  <a:lnTo>
                    <a:pt x="626" y="36"/>
                  </a:lnTo>
                  <a:lnTo>
                    <a:pt x="792" y="67"/>
                  </a:lnTo>
                  <a:lnTo>
                    <a:pt x="841" y="106"/>
                  </a:lnTo>
                  <a:lnTo>
                    <a:pt x="896" y="118"/>
                  </a:lnTo>
                  <a:lnTo>
                    <a:pt x="1032" y="81"/>
                  </a:lnTo>
                  <a:lnTo>
                    <a:pt x="1071" y="105"/>
                  </a:lnTo>
                  <a:lnTo>
                    <a:pt x="1179" y="34"/>
                  </a:lnTo>
                  <a:lnTo>
                    <a:pt x="1297" y="32"/>
                  </a:lnTo>
                  <a:lnTo>
                    <a:pt x="1366" y="0"/>
                  </a:lnTo>
                  <a:lnTo>
                    <a:pt x="1461" y="12"/>
                  </a:lnTo>
                  <a:lnTo>
                    <a:pt x="1575" y="87"/>
                  </a:lnTo>
                  <a:lnTo>
                    <a:pt x="1666" y="75"/>
                  </a:lnTo>
                  <a:lnTo>
                    <a:pt x="1669" y="110"/>
                  </a:lnTo>
                  <a:lnTo>
                    <a:pt x="1628" y="138"/>
                  </a:lnTo>
                  <a:lnTo>
                    <a:pt x="1667" y="158"/>
                  </a:lnTo>
                  <a:lnTo>
                    <a:pt x="1666" y="205"/>
                  </a:lnTo>
                  <a:lnTo>
                    <a:pt x="1632" y="295"/>
                  </a:lnTo>
                  <a:lnTo>
                    <a:pt x="1634" y="347"/>
                  </a:lnTo>
                  <a:lnTo>
                    <a:pt x="1589" y="349"/>
                  </a:lnTo>
                  <a:lnTo>
                    <a:pt x="1595" y="431"/>
                  </a:lnTo>
                  <a:lnTo>
                    <a:pt x="1650" y="520"/>
                  </a:lnTo>
                  <a:lnTo>
                    <a:pt x="1701" y="632"/>
                  </a:lnTo>
                  <a:lnTo>
                    <a:pt x="1774" y="628"/>
                  </a:lnTo>
                  <a:lnTo>
                    <a:pt x="1845" y="663"/>
                  </a:lnTo>
                  <a:lnTo>
                    <a:pt x="1870" y="665"/>
                  </a:lnTo>
                  <a:lnTo>
                    <a:pt x="1902" y="683"/>
                  </a:lnTo>
                  <a:lnTo>
                    <a:pt x="1978" y="730"/>
                  </a:lnTo>
                  <a:lnTo>
                    <a:pt x="2041" y="726"/>
                  </a:lnTo>
                  <a:lnTo>
                    <a:pt x="2110" y="758"/>
                  </a:lnTo>
                  <a:lnTo>
                    <a:pt x="2207" y="756"/>
                  </a:lnTo>
                  <a:lnTo>
                    <a:pt x="2321" y="799"/>
                  </a:lnTo>
                  <a:lnTo>
                    <a:pt x="2402" y="860"/>
                  </a:lnTo>
                  <a:lnTo>
                    <a:pt x="2410" y="913"/>
                  </a:lnTo>
                  <a:lnTo>
                    <a:pt x="2486" y="923"/>
                  </a:lnTo>
                  <a:lnTo>
                    <a:pt x="2557" y="939"/>
                  </a:lnTo>
                  <a:lnTo>
                    <a:pt x="2628" y="843"/>
                  </a:lnTo>
                  <a:lnTo>
                    <a:pt x="2644" y="793"/>
                  </a:lnTo>
                  <a:lnTo>
                    <a:pt x="2634" y="758"/>
                  </a:lnTo>
                  <a:lnTo>
                    <a:pt x="2681" y="764"/>
                  </a:lnTo>
                  <a:lnTo>
                    <a:pt x="2740" y="803"/>
                  </a:lnTo>
                  <a:lnTo>
                    <a:pt x="2786" y="829"/>
                  </a:lnTo>
                  <a:lnTo>
                    <a:pt x="2817" y="925"/>
                  </a:lnTo>
                  <a:lnTo>
                    <a:pt x="2880" y="992"/>
                  </a:lnTo>
                  <a:lnTo>
                    <a:pt x="2874" y="1020"/>
                  </a:lnTo>
                  <a:lnTo>
                    <a:pt x="2841" y="1033"/>
                  </a:lnTo>
                  <a:lnTo>
                    <a:pt x="2880" y="1106"/>
                  </a:lnTo>
                  <a:lnTo>
                    <a:pt x="2894" y="1240"/>
                  </a:lnTo>
                  <a:lnTo>
                    <a:pt x="2896" y="1358"/>
                  </a:lnTo>
                  <a:lnTo>
                    <a:pt x="2858" y="1378"/>
                  </a:lnTo>
                  <a:lnTo>
                    <a:pt x="2849" y="1413"/>
                  </a:lnTo>
                  <a:lnTo>
                    <a:pt x="2829" y="1472"/>
                  </a:lnTo>
                  <a:lnTo>
                    <a:pt x="2835" y="1528"/>
                  </a:lnTo>
                  <a:lnTo>
                    <a:pt x="2799" y="1541"/>
                  </a:lnTo>
                  <a:lnTo>
                    <a:pt x="2774" y="1520"/>
                  </a:lnTo>
                  <a:lnTo>
                    <a:pt x="2754" y="1539"/>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41" name="Freeform 71"/>
            <p:cNvSpPr/>
            <p:nvPr/>
          </p:nvSpPr>
          <p:spPr bwMode="gray">
            <a:xfrm>
              <a:off x="2215" y="3052"/>
              <a:ext cx="676" cy="694"/>
            </a:xfrm>
            <a:custGeom>
              <a:avLst/>
              <a:gdLst>
                <a:gd name="T0" fmla="*/ 297 w 1352"/>
                <a:gd name="T1" fmla="*/ 258 h 1388"/>
                <a:gd name="T2" fmla="*/ 288 w 1352"/>
                <a:gd name="T3" fmla="*/ 267 h 1388"/>
                <a:gd name="T4" fmla="*/ 280 w 1352"/>
                <a:gd name="T5" fmla="*/ 277 h 1388"/>
                <a:gd name="T6" fmla="*/ 265 w 1352"/>
                <a:gd name="T7" fmla="*/ 279 h 1388"/>
                <a:gd name="T8" fmla="*/ 258 w 1352"/>
                <a:gd name="T9" fmla="*/ 281 h 1388"/>
                <a:gd name="T10" fmla="*/ 248 w 1352"/>
                <a:gd name="T11" fmla="*/ 285 h 1388"/>
                <a:gd name="T12" fmla="*/ 240 w 1352"/>
                <a:gd name="T13" fmla="*/ 279 h 1388"/>
                <a:gd name="T14" fmla="*/ 237 w 1352"/>
                <a:gd name="T15" fmla="*/ 285 h 1388"/>
                <a:gd name="T16" fmla="*/ 231 w 1352"/>
                <a:gd name="T17" fmla="*/ 284 h 1388"/>
                <a:gd name="T18" fmla="*/ 228 w 1352"/>
                <a:gd name="T19" fmla="*/ 281 h 1388"/>
                <a:gd name="T20" fmla="*/ 218 w 1352"/>
                <a:gd name="T21" fmla="*/ 290 h 1388"/>
                <a:gd name="T22" fmla="*/ 202 w 1352"/>
                <a:gd name="T23" fmla="*/ 282 h 1388"/>
                <a:gd name="T24" fmla="*/ 188 w 1352"/>
                <a:gd name="T25" fmla="*/ 290 h 1388"/>
                <a:gd name="T26" fmla="*/ 174 w 1352"/>
                <a:gd name="T27" fmla="*/ 293 h 1388"/>
                <a:gd name="T28" fmla="*/ 162 w 1352"/>
                <a:gd name="T29" fmla="*/ 303 h 1388"/>
                <a:gd name="T30" fmla="*/ 169 w 1352"/>
                <a:gd name="T31" fmla="*/ 330 h 1388"/>
                <a:gd name="T32" fmla="*/ 165 w 1352"/>
                <a:gd name="T33" fmla="*/ 346 h 1388"/>
                <a:gd name="T34" fmla="*/ 146 w 1352"/>
                <a:gd name="T35" fmla="*/ 341 h 1388"/>
                <a:gd name="T36" fmla="*/ 142 w 1352"/>
                <a:gd name="T37" fmla="*/ 322 h 1388"/>
                <a:gd name="T38" fmla="*/ 130 w 1352"/>
                <a:gd name="T39" fmla="*/ 330 h 1388"/>
                <a:gd name="T40" fmla="*/ 113 w 1352"/>
                <a:gd name="T41" fmla="*/ 336 h 1388"/>
                <a:gd name="T42" fmla="*/ 98 w 1352"/>
                <a:gd name="T43" fmla="*/ 327 h 1388"/>
                <a:gd name="T44" fmla="*/ 94 w 1352"/>
                <a:gd name="T45" fmla="*/ 310 h 1388"/>
                <a:gd name="T46" fmla="*/ 76 w 1352"/>
                <a:gd name="T47" fmla="*/ 308 h 1388"/>
                <a:gd name="T48" fmla="*/ 67 w 1352"/>
                <a:gd name="T49" fmla="*/ 301 h 1388"/>
                <a:gd name="T50" fmla="*/ 72 w 1352"/>
                <a:gd name="T51" fmla="*/ 280 h 1388"/>
                <a:gd name="T52" fmla="*/ 79 w 1352"/>
                <a:gd name="T53" fmla="*/ 267 h 1388"/>
                <a:gd name="T54" fmla="*/ 63 w 1352"/>
                <a:gd name="T55" fmla="*/ 263 h 1388"/>
                <a:gd name="T56" fmla="*/ 53 w 1352"/>
                <a:gd name="T57" fmla="*/ 245 h 1388"/>
                <a:gd name="T58" fmla="*/ 47 w 1352"/>
                <a:gd name="T59" fmla="*/ 227 h 1388"/>
                <a:gd name="T60" fmla="*/ 51 w 1352"/>
                <a:gd name="T61" fmla="*/ 218 h 1388"/>
                <a:gd name="T62" fmla="*/ 48 w 1352"/>
                <a:gd name="T63" fmla="*/ 217 h 1388"/>
                <a:gd name="T64" fmla="*/ 24 w 1352"/>
                <a:gd name="T65" fmla="*/ 220 h 1388"/>
                <a:gd name="T66" fmla="*/ 9 w 1352"/>
                <a:gd name="T67" fmla="*/ 229 h 1388"/>
                <a:gd name="T68" fmla="*/ 3 w 1352"/>
                <a:gd name="T69" fmla="*/ 224 h 1388"/>
                <a:gd name="T70" fmla="*/ 8 w 1352"/>
                <a:gd name="T71" fmla="*/ 215 h 1388"/>
                <a:gd name="T72" fmla="*/ 3 w 1352"/>
                <a:gd name="T73" fmla="*/ 206 h 1388"/>
                <a:gd name="T74" fmla="*/ 5 w 1352"/>
                <a:gd name="T75" fmla="*/ 189 h 1388"/>
                <a:gd name="T76" fmla="*/ 15 w 1352"/>
                <a:gd name="T77" fmla="*/ 172 h 1388"/>
                <a:gd name="T78" fmla="*/ 28 w 1352"/>
                <a:gd name="T79" fmla="*/ 162 h 1388"/>
                <a:gd name="T80" fmla="*/ 38 w 1352"/>
                <a:gd name="T81" fmla="*/ 150 h 1388"/>
                <a:gd name="T82" fmla="*/ 49 w 1352"/>
                <a:gd name="T83" fmla="*/ 131 h 1388"/>
                <a:gd name="T84" fmla="*/ 53 w 1352"/>
                <a:gd name="T85" fmla="*/ 89 h 1388"/>
                <a:gd name="T86" fmla="*/ 47 w 1352"/>
                <a:gd name="T87" fmla="*/ 72 h 1388"/>
                <a:gd name="T88" fmla="*/ 31 w 1352"/>
                <a:gd name="T89" fmla="*/ 60 h 1388"/>
                <a:gd name="T90" fmla="*/ 51 w 1352"/>
                <a:gd name="T91" fmla="*/ 42 h 1388"/>
                <a:gd name="T92" fmla="*/ 78 w 1352"/>
                <a:gd name="T93" fmla="*/ 44 h 1388"/>
                <a:gd name="T94" fmla="*/ 112 w 1352"/>
                <a:gd name="T95" fmla="*/ 60 h 1388"/>
                <a:gd name="T96" fmla="*/ 170 w 1352"/>
                <a:gd name="T97" fmla="*/ 138 h 1388"/>
                <a:gd name="T98" fmla="*/ 214 w 1352"/>
                <a:gd name="T99" fmla="*/ 109 h 1388"/>
                <a:gd name="T100" fmla="*/ 229 w 1352"/>
                <a:gd name="T101" fmla="*/ 50 h 1388"/>
                <a:gd name="T102" fmla="*/ 248 w 1352"/>
                <a:gd name="T103" fmla="*/ 26 h 1388"/>
                <a:gd name="T104" fmla="*/ 289 w 1352"/>
                <a:gd name="T105" fmla="*/ 47 h 1388"/>
                <a:gd name="T106" fmla="*/ 266 w 1352"/>
                <a:gd name="T107" fmla="*/ 82 h 1388"/>
                <a:gd name="T108" fmla="*/ 240 w 1352"/>
                <a:gd name="T109" fmla="*/ 101 h 1388"/>
                <a:gd name="T110" fmla="*/ 276 w 1352"/>
                <a:gd name="T111" fmla="*/ 122 h 1388"/>
                <a:gd name="T112" fmla="*/ 280 w 1352"/>
                <a:gd name="T113" fmla="*/ 183 h 1388"/>
                <a:gd name="T114" fmla="*/ 300 w 1352"/>
                <a:gd name="T115" fmla="*/ 216 h 1388"/>
                <a:gd name="T116" fmla="*/ 338 w 1352"/>
                <a:gd name="T117" fmla="*/ 225 h 13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2"/>
                <a:gd name="T178" fmla="*/ 0 h 1388"/>
                <a:gd name="T179" fmla="*/ 1352 w 1352"/>
                <a:gd name="T180" fmla="*/ 1388 h 13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2" h="1388">
                  <a:moveTo>
                    <a:pt x="1262" y="1026"/>
                  </a:moveTo>
                  <a:lnTo>
                    <a:pt x="1230" y="998"/>
                  </a:lnTo>
                  <a:lnTo>
                    <a:pt x="1203" y="1026"/>
                  </a:lnTo>
                  <a:lnTo>
                    <a:pt x="1197" y="1028"/>
                  </a:lnTo>
                  <a:lnTo>
                    <a:pt x="1185" y="1032"/>
                  </a:lnTo>
                  <a:lnTo>
                    <a:pt x="1171" y="1039"/>
                  </a:lnTo>
                  <a:lnTo>
                    <a:pt x="1159" y="1045"/>
                  </a:lnTo>
                  <a:lnTo>
                    <a:pt x="1154" y="1049"/>
                  </a:lnTo>
                  <a:lnTo>
                    <a:pt x="1152" y="1055"/>
                  </a:lnTo>
                  <a:lnTo>
                    <a:pt x="1150" y="1067"/>
                  </a:lnTo>
                  <a:lnTo>
                    <a:pt x="1148" y="1081"/>
                  </a:lnTo>
                  <a:lnTo>
                    <a:pt x="1144" y="1093"/>
                  </a:lnTo>
                  <a:lnTo>
                    <a:pt x="1138" y="1098"/>
                  </a:lnTo>
                  <a:lnTo>
                    <a:pt x="1130" y="1102"/>
                  </a:lnTo>
                  <a:lnTo>
                    <a:pt x="1118" y="1106"/>
                  </a:lnTo>
                  <a:lnTo>
                    <a:pt x="1104" y="1114"/>
                  </a:lnTo>
                  <a:lnTo>
                    <a:pt x="1091" y="1118"/>
                  </a:lnTo>
                  <a:lnTo>
                    <a:pt x="1079" y="1122"/>
                  </a:lnTo>
                  <a:lnTo>
                    <a:pt x="1069" y="1120"/>
                  </a:lnTo>
                  <a:lnTo>
                    <a:pt x="1059" y="1114"/>
                  </a:lnTo>
                  <a:lnTo>
                    <a:pt x="1047" y="1112"/>
                  </a:lnTo>
                  <a:lnTo>
                    <a:pt x="1035" y="1112"/>
                  </a:lnTo>
                  <a:lnTo>
                    <a:pt x="1032" y="1112"/>
                  </a:lnTo>
                  <a:lnTo>
                    <a:pt x="1032" y="1116"/>
                  </a:lnTo>
                  <a:lnTo>
                    <a:pt x="1030" y="1124"/>
                  </a:lnTo>
                  <a:lnTo>
                    <a:pt x="1026" y="1136"/>
                  </a:lnTo>
                  <a:lnTo>
                    <a:pt x="1020" y="1144"/>
                  </a:lnTo>
                  <a:lnTo>
                    <a:pt x="1012" y="1148"/>
                  </a:lnTo>
                  <a:lnTo>
                    <a:pt x="1004" y="1146"/>
                  </a:lnTo>
                  <a:lnTo>
                    <a:pt x="992" y="1140"/>
                  </a:lnTo>
                  <a:lnTo>
                    <a:pt x="980" y="1130"/>
                  </a:lnTo>
                  <a:lnTo>
                    <a:pt x="969" y="1122"/>
                  </a:lnTo>
                  <a:lnTo>
                    <a:pt x="963" y="1116"/>
                  </a:lnTo>
                  <a:lnTo>
                    <a:pt x="959" y="1114"/>
                  </a:lnTo>
                  <a:lnTo>
                    <a:pt x="959" y="1116"/>
                  </a:lnTo>
                  <a:lnTo>
                    <a:pt x="959" y="1118"/>
                  </a:lnTo>
                  <a:lnTo>
                    <a:pt x="957" y="1124"/>
                  </a:lnTo>
                  <a:lnTo>
                    <a:pt x="955" y="1130"/>
                  </a:lnTo>
                  <a:lnTo>
                    <a:pt x="951" y="1134"/>
                  </a:lnTo>
                  <a:lnTo>
                    <a:pt x="949" y="1140"/>
                  </a:lnTo>
                  <a:lnTo>
                    <a:pt x="945" y="1142"/>
                  </a:lnTo>
                  <a:lnTo>
                    <a:pt x="939" y="1144"/>
                  </a:lnTo>
                  <a:lnTo>
                    <a:pt x="935" y="1142"/>
                  </a:lnTo>
                  <a:lnTo>
                    <a:pt x="931" y="1140"/>
                  </a:lnTo>
                  <a:lnTo>
                    <a:pt x="925" y="1136"/>
                  </a:lnTo>
                  <a:lnTo>
                    <a:pt x="921" y="1132"/>
                  </a:lnTo>
                  <a:lnTo>
                    <a:pt x="919" y="1128"/>
                  </a:lnTo>
                  <a:lnTo>
                    <a:pt x="917" y="1126"/>
                  </a:lnTo>
                  <a:lnTo>
                    <a:pt x="915" y="1122"/>
                  </a:lnTo>
                  <a:lnTo>
                    <a:pt x="913" y="1122"/>
                  </a:lnTo>
                  <a:lnTo>
                    <a:pt x="911" y="1126"/>
                  </a:lnTo>
                  <a:lnTo>
                    <a:pt x="906" y="1132"/>
                  </a:lnTo>
                  <a:lnTo>
                    <a:pt x="896" y="1144"/>
                  </a:lnTo>
                  <a:lnTo>
                    <a:pt x="886" y="1154"/>
                  </a:lnTo>
                  <a:lnTo>
                    <a:pt x="874" y="1159"/>
                  </a:lnTo>
                  <a:lnTo>
                    <a:pt x="864" y="1163"/>
                  </a:lnTo>
                  <a:lnTo>
                    <a:pt x="852" y="1159"/>
                  </a:lnTo>
                  <a:lnTo>
                    <a:pt x="839" y="1150"/>
                  </a:lnTo>
                  <a:lnTo>
                    <a:pt x="825" y="1138"/>
                  </a:lnTo>
                  <a:lnTo>
                    <a:pt x="809" y="1128"/>
                  </a:lnTo>
                  <a:lnTo>
                    <a:pt x="797" y="1122"/>
                  </a:lnTo>
                  <a:lnTo>
                    <a:pt x="787" y="1120"/>
                  </a:lnTo>
                  <a:lnTo>
                    <a:pt x="778" y="1130"/>
                  </a:lnTo>
                  <a:lnTo>
                    <a:pt x="766" y="1144"/>
                  </a:lnTo>
                  <a:lnTo>
                    <a:pt x="754" y="1159"/>
                  </a:lnTo>
                  <a:lnTo>
                    <a:pt x="742" y="1171"/>
                  </a:lnTo>
                  <a:lnTo>
                    <a:pt x="734" y="1179"/>
                  </a:lnTo>
                  <a:lnTo>
                    <a:pt x="724" y="1177"/>
                  </a:lnTo>
                  <a:lnTo>
                    <a:pt x="711" y="1175"/>
                  </a:lnTo>
                  <a:lnTo>
                    <a:pt x="695" y="1169"/>
                  </a:lnTo>
                  <a:lnTo>
                    <a:pt x="679" y="1165"/>
                  </a:lnTo>
                  <a:lnTo>
                    <a:pt x="667" y="1165"/>
                  </a:lnTo>
                  <a:lnTo>
                    <a:pt x="659" y="1167"/>
                  </a:lnTo>
                  <a:lnTo>
                    <a:pt x="650" y="1183"/>
                  </a:lnTo>
                  <a:lnTo>
                    <a:pt x="646" y="1209"/>
                  </a:lnTo>
                  <a:lnTo>
                    <a:pt x="648" y="1234"/>
                  </a:lnTo>
                  <a:lnTo>
                    <a:pt x="656" y="1254"/>
                  </a:lnTo>
                  <a:lnTo>
                    <a:pt x="665" y="1278"/>
                  </a:lnTo>
                  <a:lnTo>
                    <a:pt x="673" y="1299"/>
                  </a:lnTo>
                  <a:lnTo>
                    <a:pt x="675" y="1317"/>
                  </a:lnTo>
                  <a:lnTo>
                    <a:pt x="673" y="1331"/>
                  </a:lnTo>
                  <a:lnTo>
                    <a:pt x="673" y="1346"/>
                  </a:lnTo>
                  <a:lnTo>
                    <a:pt x="673" y="1362"/>
                  </a:lnTo>
                  <a:lnTo>
                    <a:pt x="667" y="1374"/>
                  </a:lnTo>
                  <a:lnTo>
                    <a:pt x="658" y="1382"/>
                  </a:lnTo>
                  <a:lnTo>
                    <a:pt x="638" y="1386"/>
                  </a:lnTo>
                  <a:lnTo>
                    <a:pt x="620" y="1388"/>
                  </a:lnTo>
                  <a:lnTo>
                    <a:pt x="604" y="1386"/>
                  </a:lnTo>
                  <a:lnTo>
                    <a:pt x="591" y="1380"/>
                  </a:lnTo>
                  <a:lnTo>
                    <a:pt x="581" y="1362"/>
                  </a:lnTo>
                  <a:lnTo>
                    <a:pt x="573" y="1343"/>
                  </a:lnTo>
                  <a:lnTo>
                    <a:pt x="571" y="1321"/>
                  </a:lnTo>
                  <a:lnTo>
                    <a:pt x="569" y="1309"/>
                  </a:lnTo>
                  <a:lnTo>
                    <a:pt x="567" y="1297"/>
                  </a:lnTo>
                  <a:lnTo>
                    <a:pt x="565" y="1287"/>
                  </a:lnTo>
                  <a:lnTo>
                    <a:pt x="559" y="1282"/>
                  </a:lnTo>
                  <a:lnTo>
                    <a:pt x="553" y="1283"/>
                  </a:lnTo>
                  <a:lnTo>
                    <a:pt x="545" y="1291"/>
                  </a:lnTo>
                  <a:lnTo>
                    <a:pt x="534" y="1303"/>
                  </a:lnTo>
                  <a:lnTo>
                    <a:pt x="518" y="1317"/>
                  </a:lnTo>
                  <a:lnTo>
                    <a:pt x="504" y="1331"/>
                  </a:lnTo>
                  <a:lnTo>
                    <a:pt x="488" y="1341"/>
                  </a:lnTo>
                  <a:lnTo>
                    <a:pt x="476" y="1343"/>
                  </a:lnTo>
                  <a:lnTo>
                    <a:pt x="465" y="1343"/>
                  </a:lnTo>
                  <a:lnTo>
                    <a:pt x="451" y="1343"/>
                  </a:lnTo>
                  <a:lnTo>
                    <a:pt x="437" y="1345"/>
                  </a:lnTo>
                  <a:lnTo>
                    <a:pt x="425" y="1343"/>
                  </a:lnTo>
                  <a:lnTo>
                    <a:pt x="415" y="1337"/>
                  </a:lnTo>
                  <a:lnTo>
                    <a:pt x="404" y="1323"/>
                  </a:lnTo>
                  <a:lnTo>
                    <a:pt x="394" y="1307"/>
                  </a:lnTo>
                  <a:lnTo>
                    <a:pt x="388" y="1287"/>
                  </a:lnTo>
                  <a:lnTo>
                    <a:pt x="386" y="1272"/>
                  </a:lnTo>
                  <a:lnTo>
                    <a:pt x="382" y="1256"/>
                  </a:lnTo>
                  <a:lnTo>
                    <a:pt x="378" y="1244"/>
                  </a:lnTo>
                  <a:lnTo>
                    <a:pt x="378" y="1240"/>
                  </a:lnTo>
                  <a:lnTo>
                    <a:pt x="372" y="1240"/>
                  </a:lnTo>
                  <a:lnTo>
                    <a:pt x="358" y="1240"/>
                  </a:lnTo>
                  <a:lnTo>
                    <a:pt x="341" y="1238"/>
                  </a:lnTo>
                  <a:lnTo>
                    <a:pt x="321" y="1236"/>
                  </a:lnTo>
                  <a:lnTo>
                    <a:pt x="303" y="1232"/>
                  </a:lnTo>
                  <a:lnTo>
                    <a:pt x="291" y="1224"/>
                  </a:lnTo>
                  <a:lnTo>
                    <a:pt x="282" y="1219"/>
                  </a:lnTo>
                  <a:lnTo>
                    <a:pt x="276" y="1213"/>
                  </a:lnTo>
                  <a:lnTo>
                    <a:pt x="270" y="1209"/>
                  </a:lnTo>
                  <a:lnTo>
                    <a:pt x="268" y="1201"/>
                  </a:lnTo>
                  <a:lnTo>
                    <a:pt x="268" y="1189"/>
                  </a:lnTo>
                  <a:lnTo>
                    <a:pt x="274" y="1171"/>
                  </a:lnTo>
                  <a:lnTo>
                    <a:pt x="280" y="1150"/>
                  </a:lnTo>
                  <a:lnTo>
                    <a:pt x="284" y="1134"/>
                  </a:lnTo>
                  <a:lnTo>
                    <a:pt x="285" y="1120"/>
                  </a:lnTo>
                  <a:lnTo>
                    <a:pt x="287" y="1110"/>
                  </a:lnTo>
                  <a:lnTo>
                    <a:pt x="291" y="1100"/>
                  </a:lnTo>
                  <a:lnTo>
                    <a:pt x="299" y="1087"/>
                  </a:lnTo>
                  <a:lnTo>
                    <a:pt x="309" y="1075"/>
                  </a:lnTo>
                  <a:lnTo>
                    <a:pt x="315" y="1065"/>
                  </a:lnTo>
                  <a:lnTo>
                    <a:pt x="311" y="1057"/>
                  </a:lnTo>
                  <a:lnTo>
                    <a:pt x="303" y="1053"/>
                  </a:lnTo>
                  <a:lnTo>
                    <a:pt x="289" y="1053"/>
                  </a:lnTo>
                  <a:lnTo>
                    <a:pt x="272" y="1053"/>
                  </a:lnTo>
                  <a:lnTo>
                    <a:pt x="254" y="1051"/>
                  </a:lnTo>
                  <a:lnTo>
                    <a:pt x="240" y="1047"/>
                  </a:lnTo>
                  <a:lnTo>
                    <a:pt x="230" y="1039"/>
                  </a:lnTo>
                  <a:lnTo>
                    <a:pt x="221" y="1020"/>
                  </a:lnTo>
                  <a:lnTo>
                    <a:pt x="217" y="1000"/>
                  </a:lnTo>
                  <a:lnTo>
                    <a:pt x="211" y="980"/>
                  </a:lnTo>
                  <a:lnTo>
                    <a:pt x="207" y="959"/>
                  </a:lnTo>
                  <a:lnTo>
                    <a:pt x="205" y="943"/>
                  </a:lnTo>
                  <a:lnTo>
                    <a:pt x="199" y="931"/>
                  </a:lnTo>
                  <a:lnTo>
                    <a:pt x="191" y="919"/>
                  </a:lnTo>
                  <a:lnTo>
                    <a:pt x="187" y="908"/>
                  </a:lnTo>
                  <a:lnTo>
                    <a:pt x="189" y="894"/>
                  </a:lnTo>
                  <a:lnTo>
                    <a:pt x="191" y="888"/>
                  </a:lnTo>
                  <a:lnTo>
                    <a:pt x="197" y="884"/>
                  </a:lnTo>
                  <a:lnTo>
                    <a:pt x="201" y="878"/>
                  </a:lnTo>
                  <a:lnTo>
                    <a:pt x="205" y="874"/>
                  </a:lnTo>
                  <a:lnTo>
                    <a:pt x="209" y="870"/>
                  </a:lnTo>
                  <a:lnTo>
                    <a:pt x="211" y="868"/>
                  </a:lnTo>
                  <a:lnTo>
                    <a:pt x="213" y="868"/>
                  </a:lnTo>
                  <a:lnTo>
                    <a:pt x="207" y="868"/>
                  </a:lnTo>
                  <a:lnTo>
                    <a:pt x="193" y="868"/>
                  </a:lnTo>
                  <a:lnTo>
                    <a:pt x="173" y="870"/>
                  </a:lnTo>
                  <a:lnTo>
                    <a:pt x="152" y="870"/>
                  </a:lnTo>
                  <a:lnTo>
                    <a:pt x="130" y="872"/>
                  </a:lnTo>
                  <a:lnTo>
                    <a:pt x="112" y="876"/>
                  </a:lnTo>
                  <a:lnTo>
                    <a:pt x="97" y="882"/>
                  </a:lnTo>
                  <a:lnTo>
                    <a:pt x="81" y="892"/>
                  </a:lnTo>
                  <a:lnTo>
                    <a:pt x="67" y="902"/>
                  </a:lnTo>
                  <a:lnTo>
                    <a:pt x="53" y="912"/>
                  </a:lnTo>
                  <a:lnTo>
                    <a:pt x="43" y="915"/>
                  </a:lnTo>
                  <a:lnTo>
                    <a:pt x="34" y="915"/>
                  </a:lnTo>
                  <a:lnTo>
                    <a:pt x="28" y="912"/>
                  </a:lnTo>
                  <a:lnTo>
                    <a:pt x="22" y="908"/>
                  </a:lnTo>
                  <a:lnTo>
                    <a:pt x="18" y="906"/>
                  </a:lnTo>
                  <a:lnTo>
                    <a:pt x="14" y="902"/>
                  </a:lnTo>
                  <a:lnTo>
                    <a:pt x="10" y="896"/>
                  </a:lnTo>
                  <a:lnTo>
                    <a:pt x="10" y="892"/>
                  </a:lnTo>
                  <a:lnTo>
                    <a:pt x="10" y="884"/>
                  </a:lnTo>
                  <a:lnTo>
                    <a:pt x="16" y="876"/>
                  </a:lnTo>
                  <a:lnTo>
                    <a:pt x="24" y="868"/>
                  </a:lnTo>
                  <a:lnTo>
                    <a:pt x="32" y="862"/>
                  </a:lnTo>
                  <a:lnTo>
                    <a:pt x="37" y="854"/>
                  </a:lnTo>
                  <a:lnTo>
                    <a:pt x="37" y="843"/>
                  </a:lnTo>
                  <a:lnTo>
                    <a:pt x="34" y="835"/>
                  </a:lnTo>
                  <a:lnTo>
                    <a:pt x="24" y="829"/>
                  </a:lnTo>
                  <a:lnTo>
                    <a:pt x="14" y="823"/>
                  </a:lnTo>
                  <a:lnTo>
                    <a:pt x="6" y="817"/>
                  </a:lnTo>
                  <a:lnTo>
                    <a:pt x="0" y="811"/>
                  </a:lnTo>
                  <a:lnTo>
                    <a:pt x="2" y="799"/>
                  </a:lnTo>
                  <a:lnTo>
                    <a:pt x="12" y="776"/>
                  </a:lnTo>
                  <a:lnTo>
                    <a:pt x="22" y="758"/>
                  </a:lnTo>
                  <a:lnTo>
                    <a:pt x="34" y="744"/>
                  </a:lnTo>
                  <a:lnTo>
                    <a:pt x="41" y="734"/>
                  </a:lnTo>
                  <a:lnTo>
                    <a:pt x="47" y="719"/>
                  </a:lnTo>
                  <a:lnTo>
                    <a:pt x="55" y="701"/>
                  </a:lnTo>
                  <a:lnTo>
                    <a:pt x="61" y="685"/>
                  </a:lnTo>
                  <a:lnTo>
                    <a:pt x="67" y="675"/>
                  </a:lnTo>
                  <a:lnTo>
                    <a:pt x="75" y="669"/>
                  </a:lnTo>
                  <a:lnTo>
                    <a:pt x="89" y="665"/>
                  </a:lnTo>
                  <a:lnTo>
                    <a:pt x="102" y="660"/>
                  </a:lnTo>
                  <a:lnTo>
                    <a:pt x="114" y="646"/>
                  </a:lnTo>
                  <a:lnTo>
                    <a:pt x="122" y="632"/>
                  </a:lnTo>
                  <a:lnTo>
                    <a:pt x="126" y="620"/>
                  </a:lnTo>
                  <a:lnTo>
                    <a:pt x="130" y="614"/>
                  </a:lnTo>
                  <a:lnTo>
                    <a:pt x="142" y="604"/>
                  </a:lnTo>
                  <a:lnTo>
                    <a:pt x="152" y="599"/>
                  </a:lnTo>
                  <a:lnTo>
                    <a:pt x="161" y="595"/>
                  </a:lnTo>
                  <a:lnTo>
                    <a:pt x="167" y="591"/>
                  </a:lnTo>
                  <a:lnTo>
                    <a:pt x="175" y="581"/>
                  </a:lnTo>
                  <a:lnTo>
                    <a:pt x="187" y="553"/>
                  </a:lnTo>
                  <a:lnTo>
                    <a:pt x="197" y="522"/>
                  </a:lnTo>
                  <a:lnTo>
                    <a:pt x="205" y="488"/>
                  </a:lnTo>
                  <a:lnTo>
                    <a:pt x="213" y="445"/>
                  </a:lnTo>
                  <a:lnTo>
                    <a:pt x="215" y="404"/>
                  </a:lnTo>
                  <a:lnTo>
                    <a:pt x="213" y="384"/>
                  </a:lnTo>
                  <a:lnTo>
                    <a:pt x="213" y="358"/>
                  </a:lnTo>
                  <a:lnTo>
                    <a:pt x="213" y="333"/>
                  </a:lnTo>
                  <a:lnTo>
                    <a:pt x="211" y="309"/>
                  </a:lnTo>
                  <a:lnTo>
                    <a:pt x="209" y="295"/>
                  </a:lnTo>
                  <a:lnTo>
                    <a:pt x="201" y="288"/>
                  </a:lnTo>
                  <a:lnTo>
                    <a:pt x="189" y="286"/>
                  </a:lnTo>
                  <a:lnTo>
                    <a:pt x="173" y="284"/>
                  </a:lnTo>
                  <a:lnTo>
                    <a:pt x="159" y="280"/>
                  </a:lnTo>
                  <a:lnTo>
                    <a:pt x="146" y="274"/>
                  </a:lnTo>
                  <a:lnTo>
                    <a:pt x="134" y="260"/>
                  </a:lnTo>
                  <a:lnTo>
                    <a:pt x="126" y="242"/>
                  </a:lnTo>
                  <a:lnTo>
                    <a:pt x="122" y="225"/>
                  </a:lnTo>
                  <a:lnTo>
                    <a:pt x="124" y="181"/>
                  </a:lnTo>
                  <a:lnTo>
                    <a:pt x="144" y="162"/>
                  </a:lnTo>
                  <a:lnTo>
                    <a:pt x="169" y="183"/>
                  </a:lnTo>
                  <a:lnTo>
                    <a:pt x="203" y="168"/>
                  </a:lnTo>
                  <a:lnTo>
                    <a:pt x="199" y="114"/>
                  </a:lnTo>
                  <a:lnTo>
                    <a:pt x="228" y="20"/>
                  </a:lnTo>
                  <a:lnTo>
                    <a:pt x="266" y="0"/>
                  </a:lnTo>
                  <a:lnTo>
                    <a:pt x="278" y="116"/>
                  </a:lnTo>
                  <a:lnTo>
                    <a:pt x="311" y="177"/>
                  </a:lnTo>
                  <a:lnTo>
                    <a:pt x="354" y="170"/>
                  </a:lnTo>
                  <a:lnTo>
                    <a:pt x="400" y="118"/>
                  </a:lnTo>
                  <a:lnTo>
                    <a:pt x="429" y="156"/>
                  </a:lnTo>
                  <a:lnTo>
                    <a:pt x="411" y="191"/>
                  </a:lnTo>
                  <a:lnTo>
                    <a:pt x="447" y="242"/>
                  </a:lnTo>
                  <a:lnTo>
                    <a:pt x="496" y="244"/>
                  </a:lnTo>
                  <a:lnTo>
                    <a:pt x="551" y="329"/>
                  </a:lnTo>
                  <a:lnTo>
                    <a:pt x="614" y="439"/>
                  </a:lnTo>
                  <a:lnTo>
                    <a:pt x="646" y="516"/>
                  </a:lnTo>
                  <a:lnTo>
                    <a:pt x="681" y="551"/>
                  </a:lnTo>
                  <a:lnTo>
                    <a:pt x="721" y="543"/>
                  </a:lnTo>
                  <a:lnTo>
                    <a:pt x="793" y="494"/>
                  </a:lnTo>
                  <a:lnTo>
                    <a:pt x="803" y="518"/>
                  </a:lnTo>
                  <a:lnTo>
                    <a:pt x="852" y="492"/>
                  </a:lnTo>
                  <a:lnTo>
                    <a:pt x="856" y="435"/>
                  </a:lnTo>
                  <a:lnTo>
                    <a:pt x="831" y="402"/>
                  </a:lnTo>
                  <a:lnTo>
                    <a:pt x="831" y="335"/>
                  </a:lnTo>
                  <a:lnTo>
                    <a:pt x="868" y="315"/>
                  </a:lnTo>
                  <a:lnTo>
                    <a:pt x="925" y="244"/>
                  </a:lnTo>
                  <a:lnTo>
                    <a:pt x="917" y="199"/>
                  </a:lnTo>
                  <a:lnTo>
                    <a:pt x="941" y="171"/>
                  </a:lnTo>
                  <a:lnTo>
                    <a:pt x="976" y="171"/>
                  </a:lnTo>
                  <a:lnTo>
                    <a:pt x="980" y="148"/>
                  </a:lnTo>
                  <a:lnTo>
                    <a:pt x="967" y="120"/>
                  </a:lnTo>
                  <a:lnTo>
                    <a:pt x="994" y="103"/>
                  </a:lnTo>
                  <a:lnTo>
                    <a:pt x="1043" y="108"/>
                  </a:lnTo>
                  <a:lnTo>
                    <a:pt x="1043" y="162"/>
                  </a:lnTo>
                  <a:lnTo>
                    <a:pt x="1065" y="232"/>
                  </a:lnTo>
                  <a:lnTo>
                    <a:pt x="1128" y="227"/>
                  </a:lnTo>
                  <a:lnTo>
                    <a:pt x="1154" y="189"/>
                  </a:lnTo>
                  <a:lnTo>
                    <a:pt x="1187" y="211"/>
                  </a:lnTo>
                  <a:lnTo>
                    <a:pt x="1193" y="252"/>
                  </a:lnTo>
                  <a:lnTo>
                    <a:pt x="1177" y="315"/>
                  </a:lnTo>
                  <a:lnTo>
                    <a:pt x="1126" y="329"/>
                  </a:lnTo>
                  <a:lnTo>
                    <a:pt x="1061" y="327"/>
                  </a:lnTo>
                  <a:lnTo>
                    <a:pt x="1047" y="311"/>
                  </a:lnTo>
                  <a:lnTo>
                    <a:pt x="1024" y="337"/>
                  </a:lnTo>
                  <a:lnTo>
                    <a:pt x="994" y="315"/>
                  </a:lnTo>
                  <a:lnTo>
                    <a:pt x="939" y="376"/>
                  </a:lnTo>
                  <a:lnTo>
                    <a:pt x="961" y="404"/>
                  </a:lnTo>
                  <a:lnTo>
                    <a:pt x="965" y="459"/>
                  </a:lnTo>
                  <a:lnTo>
                    <a:pt x="1006" y="471"/>
                  </a:lnTo>
                  <a:lnTo>
                    <a:pt x="1051" y="449"/>
                  </a:lnTo>
                  <a:lnTo>
                    <a:pt x="1069" y="445"/>
                  </a:lnTo>
                  <a:lnTo>
                    <a:pt x="1104" y="490"/>
                  </a:lnTo>
                  <a:lnTo>
                    <a:pt x="1075" y="561"/>
                  </a:lnTo>
                  <a:lnTo>
                    <a:pt x="1053" y="614"/>
                  </a:lnTo>
                  <a:lnTo>
                    <a:pt x="1075" y="658"/>
                  </a:lnTo>
                  <a:lnTo>
                    <a:pt x="1116" y="677"/>
                  </a:lnTo>
                  <a:lnTo>
                    <a:pt x="1118" y="732"/>
                  </a:lnTo>
                  <a:lnTo>
                    <a:pt x="1081" y="782"/>
                  </a:lnTo>
                  <a:lnTo>
                    <a:pt x="1112" y="837"/>
                  </a:lnTo>
                  <a:lnTo>
                    <a:pt x="1138" y="819"/>
                  </a:lnTo>
                  <a:lnTo>
                    <a:pt x="1187" y="823"/>
                  </a:lnTo>
                  <a:lnTo>
                    <a:pt x="1197" y="864"/>
                  </a:lnTo>
                  <a:lnTo>
                    <a:pt x="1228" y="884"/>
                  </a:lnTo>
                  <a:lnTo>
                    <a:pt x="1262" y="864"/>
                  </a:lnTo>
                  <a:lnTo>
                    <a:pt x="1293" y="888"/>
                  </a:lnTo>
                  <a:lnTo>
                    <a:pt x="1329" y="872"/>
                  </a:lnTo>
                  <a:lnTo>
                    <a:pt x="1352" y="900"/>
                  </a:lnTo>
                  <a:lnTo>
                    <a:pt x="1343" y="973"/>
                  </a:lnTo>
                  <a:lnTo>
                    <a:pt x="1291" y="986"/>
                  </a:lnTo>
                  <a:lnTo>
                    <a:pt x="1262" y="1026"/>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42" name="Freeform 72"/>
            <p:cNvSpPr/>
            <p:nvPr/>
          </p:nvSpPr>
          <p:spPr bwMode="gray">
            <a:xfrm>
              <a:off x="2215" y="3052"/>
              <a:ext cx="676" cy="694"/>
            </a:xfrm>
            <a:custGeom>
              <a:avLst/>
              <a:gdLst>
                <a:gd name="T0" fmla="*/ 297 w 1352"/>
                <a:gd name="T1" fmla="*/ 258 h 1388"/>
                <a:gd name="T2" fmla="*/ 288 w 1352"/>
                <a:gd name="T3" fmla="*/ 267 h 1388"/>
                <a:gd name="T4" fmla="*/ 280 w 1352"/>
                <a:gd name="T5" fmla="*/ 277 h 1388"/>
                <a:gd name="T6" fmla="*/ 265 w 1352"/>
                <a:gd name="T7" fmla="*/ 279 h 1388"/>
                <a:gd name="T8" fmla="*/ 258 w 1352"/>
                <a:gd name="T9" fmla="*/ 281 h 1388"/>
                <a:gd name="T10" fmla="*/ 248 w 1352"/>
                <a:gd name="T11" fmla="*/ 285 h 1388"/>
                <a:gd name="T12" fmla="*/ 240 w 1352"/>
                <a:gd name="T13" fmla="*/ 279 h 1388"/>
                <a:gd name="T14" fmla="*/ 237 w 1352"/>
                <a:gd name="T15" fmla="*/ 285 h 1388"/>
                <a:gd name="T16" fmla="*/ 231 w 1352"/>
                <a:gd name="T17" fmla="*/ 284 h 1388"/>
                <a:gd name="T18" fmla="*/ 228 w 1352"/>
                <a:gd name="T19" fmla="*/ 281 h 1388"/>
                <a:gd name="T20" fmla="*/ 218 w 1352"/>
                <a:gd name="T21" fmla="*/ 290 h 1388"/>
                <a:gd name="T22" fmla="*/ 202 w 1352"/>
                <a:gd name="T23" fmla="*/ 282 h 1388"/>
                <a:gd name="T24" fmla="*/ 188 w 1352"/>
                <a:gd name="T25" fmla="*/ 290 h 1388"/>
                <a:gd name="T26" fmla="*/ 174 w 1352"/>
                <a:gd name="T27" fmla="*/ 293 h 1388"/>
                <a:gd name="T28" fmla="*/ 162 w 1352"/>
                <a:gd name="T29" fmla="*/ 303 h 1388"/>
                <a:gd name="T30" fmla="*/ 169 w 1352"/>
                <a:gd name="T31" fmla="*/ 330 h 1388"/>
                <a:gd name="T32" fmla="*/ 165 w 1352"/>
                <a:gd name="T33" fmla="*/ 346 h 1388"/>
                <a:gd name="T34" fmla="*/ 146 w 1352"/>
                <a:gd name="T35" fmla="*/ 341 h 1388"/>
                <a:gd name="T36" fmla="*/ 142 w 1352"/>
                <a:gd name="T37" fmla="*/ 322 h 1388"/>
                <a:gd name="T38" fmla="*/ 130 w 1352"/>
                <a:gd name="T39" fmla="*/ 330 h 1388"/>
                <a:gd name="T40" fmla="*/ 113 w 1352"/>
                <a:gd name="T41" fmla="*/ 336 h 1388"/>
                <a:gd name="T42" fmla="*/ 98 w 1352"/>
                <a:gd name="T43" fmla="*/ 327 h 1388"/>
                <a:gd name="T44" fmla="*/ 94 w 1352"/>
                <a:gd name="T45" fmla="*/ 310 h 1388"/>
                <a:gd name="T46" fmla="*/ 76 w 1352"/>
                <a:gd name="T47" fmla="*/ 308 h 1388"/>
                <a:gd name="T48" fmla="*/ 67 w 1352"/>
                <a:gd name="T49" fmla="*/ 301 h 1388"/>
                <a:gd name="T50" fmla="*/ 72 w 1352"/>
                <a:gd name="T51" fmla="*/ 280 h 1388"/>
                <a:gd name="T52" fmla="*/ 79 w 1352"/>
                <a:gd name="T53" fmla="*/ 267 h 1388"/>
                <a:gd name="T54" fmla="*/ 63 w 1352"/>
                <a:gd name="T55" fmla="*/ 263 h 1388"/>
                <a:gd name="T56" fmla="*/ 53 w 1352"/>
                <a:gd name="T57" fmla="*/ 245 h 1388"/>
                <a:gd name="T58" fmla="*/ 47 w 1352"/>
                <a:gd name="T59" fmla="*/ 227 h 1388"/>
                <a:gd name="T60" fmla="*/ 51 w 1352"/>
                <a:gd name="T61" fmla="*/ 218 h 1388"/>
                <a:gd name="T62" fmla="*/ 48 w 1352"/>
                <a:gd name="T63" fmla="*/ 217 h 1388"/>
                <a:gd name="T64" fmla="*/ 24 w 1352"/>
                <a:gd name="T65" fmla="*/ 220 h 1388"/>
                <a:gd name="T66" fmla="*/ 9 w 1352"/>
                <a:gd name="T67" fmla="*/ 229 h 1388"/>
                <a:gd name="T68" fmla="*/ 3 w 1352"/>
                <a:gd name="T69" fmla="*/ 224 h 1388"/>
                <a:gd name="T70" fmla="*/ 8 w 1352"/>
                <a:gd name="T71" fmla="*/ 215 h 1388"/>
                <a:gd name="T72" fmla="*/ 3 w 1352"/>
                <a:gd name="T73" fmla="*/ 206 h 1388"/>
                <a:gd name="T74" fmla="*/ 5 w 1352"/>
                <a:gd name="T75" fmla="*/ 189 h 1388"/>
                <a:gd name="T76" fmla="*/ 15 w 1352"/>
                <a:gd name="T77" fmla="*/ 172 h 1388"/>
                <a:gd name="T78" fmla="*/ 28 w 1352"/>
                <a:gd name="T79" fmla="*/ 162 h 1388"/>
                <a:gd name="T80" fmla="*/ 38 w 1352"/>
                <a:gd name="T81" fmla="*/ 150 h 1388"/>
                <a:gd name="T82" fmla="*/ 49 w 1352"/>
                <a:gd name="T83" fmla="*/ 131 h 1388"/>
                <a:gd name="T84" fmla="*/ 53 w 1352"/>
                <a:gd name="T85" fmla="*/ 89 h 1388"/>
                <a:gd name="T86" fmla="*/ 47 w 1352"/>
                <a:gd name="T87" fmla="*/ 72 h 1388"/>
                <a:gd name="T88" fmla="*/ 31 w 1352"/>
                <a:gd name="T89" fmla="*/ 60 h 1388"/>
                <a:gd name="T90" fmla="*/ 51 w 1352"/>
                <a:gd name="T91" fmla="*/ 42 h 1388"/>
                <a:gd name="T92" fmla="*/ 78 w 1352"/>
                <a:gd name="T93" fmla="*/ 44 h 1388"/>
                <a:gd name="T94" fmla="*/ 112 w 1352"/>
                <a:gd name="T95" fmla="*/ 60 h 1388"/>
                <a:gd name="T96" fmla="*/ 170 w 1352"/>
                <a:gd name="T97" fmla="*/ 138 h 1388"/>
                <a:gd name="T98" fmla="*/ 214 w 1352"/>
                <a:gd name="T99" fmla="*/ 109 h 1388"/>
                <a:gd name="T100" fmla="*/ 229 w 1352"/>
                <a:gd name="T101" fmla="*/ 50 h 1388"/>
                <a:gd name="T102" fmla="*/ 248 w 1352"/>
                <a:gd name="T103" fmla="*/ 26 h 1388"/>
                <a:gd name="T104" fmla="*/ 289 w 1352"/>
                <a:gd name="T105" fmla="*/ 47 h 1388"/>
                <a:gd name="T106" fmla="*/ 266 w 1352"/>
                <a:gd name="T107" fmla="*/ 82 h 1388"/>
                <a:gd name="T108" fmla="*/ 240 w 1352"/>
                <a:gd name="T109" fmla="*/ 101 h 1388"/>
                <a:gd name="T110" fmla="*/ 276 w 1352"/>
                <a:gd name="T111" fmla="*/ 122 h 1388"/>
                <a:gd name="T112" fmla="*/ 280 w 1352"/>
                <a:gd name="T113" fmla="*/ 183 h 1388"/>
                <a:gd name="T114" fmla="*/ 300 w 1352"/>
                <a:gd name="T115" fmla="*/ 216 h 1388"/>
                <a:gd name="T116" fmla="*/ 338 w 1352"/>
                <a:gd name="T117" fmla="*/ 225 h 13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2"/>
                <a:gd name="T178" fmla="*/ 0 h 1388"/>
                <a:gd name="T179" fmla="*/ 1352 w 1352"/>
                <a:gd name="T180" fmla="*/ 1388 h 13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2" h="1388">
                  <a:moveTo>
                    <a:pt x="1262" y="1026"/>
                  </a:moveTo>
                  <a:lnTo>
                    <a:pt x="1230" y="998"/>
                  </a:lnTo>
                  <a:lnTo>
                    <a:pt x="1203" y="1026"/>
                  </a:lnTo>
                  <a:lnTo>
                    <a:pt x="1197" y="1028"/>
                  </a:lnTo>
                  <a:lnTo>
                    <a:pt x="1185" y="1032"/>
                  </a:lnTo>
                  <a:lnTo>
                    <a:pt x="1171" y="1039"/>
                  </a:lnTo>
                  <a:lnTo>
                    <a:pt x="1159" y="1045"/>
                  </a:lnTo>
                  <a:lnTo>
                    <a:pt x="1154" y="1049"/>
                  </a:lnTo>
                  <a:lnTo>
                    <a:pt x="1152" y="1055"/>
                  </a:lnTo>
                  <a:lnTo>
                    <a:pt x="1150" y="1067"/>
                  </a:lnTo>
                  <a:lnTo>
                    <a:pt x="1148" y="1081"/>
                  </a:lnTo>
                  <a:lnTo>
                    <a:pt x="1144" y="1093"/>
                  </a:lnTo>
                  <a:lnTo>
                    <a:pt x="1138" y="1098"/>
                  </a:lnTo>
                  <a:lnTo>
                    <a:pt x="1130" y="1102"/>
                  </a:lnTo>
                  <a:lnTo>
                    <a:pt x="1118" y="1106"/>
                  </a:lnTo>
                  <a:lnTo>
                    <a:pt x="1104" y="1114"/>
                  </a:lnTo>
                  <a:lnTo>
                    <a:pt x="1091" y="1118"/>
                  </a:lnTo>
                  <a:lnTo>
                    <a:pt x="1079" y="1122"/>
                  </a:lnTo>
                  <a:lnTo>
                    <a:pt x="1069" y="1120"/>
                  </a:lnTo>
                  <a:lnTo>
                    <a:pt x="1059" y="1114"/>
                  </a:lnTo>
                  <a:lnTo>
                    <a:pt x="1047" y="1112"/>
                  </a:lnTo>
                  <a:lnTo>
                    <a:pt x="1035" y="1112"/>
                  </a:lnTo>
                  <a:lnTo>
                    <a:pt x="1032" y="1112"/>
                  </a:lnTo>
                  <a:lnTo>
                    <a:pt x="1032" y="1116"/>
                  </a:lnTo>
                  <a:lnTo>
                    <a:pt x="1030" y="1124"/>
                  </a:lnTo>
                  <a:lnTo>
                    <a:pt x="1026" y="1136"/>
                  </a:lnTo>
                  <a:lnTo>
                    <a:pt x="1020" y="1144"/>
                  </a:lnTo>
                  <a:lnTo>
                    <a:pt x="1012" y="1148"/>
                  </a:lnTo>
                  <a:lnTo>
                    <a:pt x="1004" y="1146"/>
                  </a:lnTo>
                  <a:lnTo>
                    <a:pt x="992" y="1140"/>
                  </a:lnTo>
                  <a:lnTo>
                    <a:pt x="980" y="1130"/>
                  </a:lnTo>
                  <a:lnTo>
                    <a:pt x="969" y="1122"/>
                  </a:lnTo>
                  <a:lnTo>
                    <a:pt x="963" y="1116"/>
                  </a:lnTo>
                  <a:lnTo>
                    <a:pt x="959" y="1114"/>
                  </a:lnTo>
                  <a:lnTo>
                    <a:pt x="959" y="1116"/>
                  </a:lnTo>
                  <a:lnTo>
                    <a:pt x="959" y="1118"/>
                  </a:lnTo>
                  <a:lnTo>
                    <a:pt x="957" y="1124"/>
                  </a:lnTo>
                  <a:lnTo>
                    <a:pt x="955" y="1130"/>
                  </a:lnTo>
                  <a:lnTo>
                    <a:pt x="951" y="1134"/>
                  </a:lnTo>
                  <a:lnTo>
                    <a:pt x="949" y="1140"/>
                  </a:lnTo>
                  <a:lnTo>
                    <a:pt x="945" y="1142"/>
                  </a:lnTo>
                  <a:lnTo>
                    <a:pt x="939" y="1144"/>
                  </a:lnTo>
                  <a:lnTo>
                    <a:pt x="935" y="1142"/>
                  </a:lnTo>
                  <a:lnTo>
                    <a:pt x="931" y="1140"/>
                  </a:lnTo>
                  <a:lnTo>
                    <a:pt x="925" y="1136"/>
                  </a:lnTo>
                  <a:lnTo>
                    <a:pt x="921" y="1132"/>
                  </a:lnTo>
                  <a:lnTo>
                    <a:pt x="919" y="1128"/>
                  </a:lnTo>
                  <a:lnTo>
                    <a:pt x="917" y="1126"/>
                  </a:lnTo>
                  <a:lnTo>
                    <a:pt x="915" y="1122"/>
                  </a:lnTo>
                  <a:lnTo>
                    <a:pt x="913" y="1122"/>
                  </a:lnTo>
                  <a:lnTo>
                    <a:pt x="911" y="1126"/>
                  </a:lnTo>
                  <a:lnTo>
                    <a:pt x="906" y="1132"/>
                  </a:lnTo>
                  <a:lnTo>
                    <a:pt x="896" y="1144"/>
                  </a:lnTo>
                  <a:lnTo>
                    <a:pt x="886" y="1154"/>
                  </a:lnTo>
                  <a:lnTo>
                    <a:pt x="874" y="1159"/>
                  </a:lnTo>
                  <a:lnTo>
                    <a:pt x="864" y="1163"/>
                  </a:lnTo>
                  <a:lnTo>
                    <a:pt x="852" y="1159"/>
                  </a:lnTo>
                  <a:lnTo>
                    <a:pt x="839" y="1150"/>
                  </a:lnTo>
                  <a:lnTo>
                    <a:pt x="825" y="1138"/>
                  </a:lnTo>
                  <a:lnTo>
                    <a:pt x="809" y="1128"/>
                  </a:lnTo>
                  <a:lnTo>
                    <a:pt x="797" y="1122"/>
                  </a:lnTo>
                  <a:lnTo>
                    <a:pt x="787" y="1120"/>
                  </a:lnTo>
                  <a:lnTo>
                    <a:pt x="778" y="1130"/>
                  </a:lnTo>
                  <a:lnTo>
                    <a:pt x="766" y="1144"/>
                  </a:lnTo>
                  <a:lnTo>
                    <a:pt x="754" y="1159"/>
                  </a:lnTo>
                  <a:lnTo>
                    <a:pt x="742" y="1171"/>
                  </a:lnTo>
                  <a:lnTo>
                    <a:pt x="734" y="1179"/>
                  </a:lnTo>
                  <a:lnTo>
                    <a:pt x="724" y="1177"/>
                  </a:lnTo>
                  <a:lnTo>
                    <a:pt x="711" y="1175"/>
                  </a:lnTo>
                  <a:lnTo>
                    <a:pt x="695" y="1169"/>
                  </a:lnTo>
                  <a:lnTo>
                    <a:pt x="679" y="1165"/>
                  </a:lnTo>
                  <a:lnTo>
                    <a:pt x="667" y="1165"/>
                  </a:lnTo>
                  <a:lnTo>
                    <a:pt x="659" y="1167"/>
                  </a:lnTo>
                  <a:lnTo>
                    <a:pt x="650" y="1183"/>
                  </a:lnTo>
                  <a:lnTo>
                    <a:pt x="646" y="1209"/>
                  </a:lnTo>
                  <a:lnTo>
                    <a:pt x="648" y="1234"/>
                  </a:lnTo>
                  <a:lnTo>
                    <a:pt x="656" y="1254"/>
                  </a:lnTo>
                  <a:lnTo>
                    <a:pt x="665" y="1278"/>
                  </a:lnTo>
                  <a:lnTo>
                    <a:pt x="673" y="1299"/>
                  </a:lnTo>
                  <a:lnTo>
                    <a:pt x="675" y="1317"/>
                  </a:lnTo>
                  <a:lnTo>
                    <a:pt x="673" y="1331"/>
                  </a:lnTo>
                  <a:lnTo>
                    <a:pt x="673" y="1346"/>
                  </a:lnTo>
                  <a:lnTo>
                    <a:pt x="673" y="1362"/>
                  </a:lnTo>
                  <a:lnTo>
                    <a:pt x="667" y="1374"/>
                  </a:lnTo>
                  <a:lnTo>
                    <a:pt x="658" y="1382"/>
                  </a:lnTo>
                  <a:lnTo>
                    <a:pt x="638" y="1386"/>
                  </a:lnTo>
                  <a:lnTo>
                    <a:pt x="620" y="1388"/>
                  </a:lnTo>
                  <a:lnTo>
                    <a:pt x="604" y="1386"/>
                  </a:lnTo>
                  <a:lnTo>
                    <a:pt x="591" y="1380"/>
                  </a:lnTo>
                  <a:lnTo>
                    <a:pt x="581" y="1362"/>
                  </a:lnTo>
                  <a:lnTo>
                    <a:pt x="573" y="1343"/>
                  </a:lnTo>
                  <a:lnTo>
                    <a:pt x="571" y="1321"/>
                  </a:lnTo>
                  <a:lnTo>
                    <a:pt x="569" y="1309"/>
                  </a:lnTo>
                  <a:lnTo>
                    <a:pt x="567" y="1297"/>
                  </a:lnTo>
                  <a:lnTo>
                    <a:pt x="565" y="1287"/>
                  </a:lnTo>
                  <a:lnTo>
                    <a:pt x="559" y="1282"/>
                  </a:lnTo>
                  <a:lnTo>
                    <a:pt x="553" y="1283"/>
                  </a:lnTo>
                  <a:lnTo>
                    <a:pt x="545" y="1291"/>
                  </a:lnTo>
                  <a:lnTo>
                    <a:pt x="534" y="1303"/>
                  </a:lnTo>
                  <a:lnTo>
                    <a:pt x="518" y="1317"/>
                  </a:lnTo>
                  <a:lnTo>
                    <a:pt x="504" y="1331"/>
                  </a:lnTo>
                  <a:lnTo>
                    <a:pt x="488" y="1341"/>
                  </a:lnTo>
                  <a:lnTo>
                    <a:pt x="476" y="1343"/>
                  </a:lnTo>
                  <a:lnTo>
                    <a:pt x="465" y="1343"/>
                  </a:lnTo>
                  <a:lnTo>
                    <a:pt x="451" y="1343"/>
                  </a:lnTo>
                  <a:lnTo>
                    <a:pt x="437" y="1345"/>
                  </a:lnTo>
                  <a:lnTo>
                    <a:pt x="425" y="1343"/>
                  </a:lnTo>
                  <a:lnTo>
                    <a:pt x="415" y="1337"/>
                  </a:lnTo>
                  <a:lnTo>
                    <a:pt x="404" y="1323"/>
                  </a:lnTo>
                  <a:lnTo>
                    <a:pt x="394" y="1307"/>
                  </a:lnTo>
                  <a:lnTo>
                    <a:pt x="388" y="1287"/>
                  </a:lnTo>
                  <a:lnTo>
                    <a:pt x="386" y="1272"/>
                  </a:lnTo>
                  <a:lnTo>
                    <a:pt x="382" y="1256"/>
                  </a:lnTo>
                  <a:lnTo>
                    <a:pt x="378" y="1244"/>
                  </a:lnTo>
                  <a:lnTo>
                    <a:pt x="378" y="1240"/>
                  </a:lnTo>
                  <a:lnTo>
                    <a:pt x="372" y="1240"/>
                  </a:lnTo>
                  <a:lnTo>
                    <a:pt x="358" y="1240"/>
                  </a:lnTo>
                  <a:lnTo>
                    <a:pt x="341" y="1238"/>
                  </a:lnTo>
                  <a:lnTo>
                    <a:pt x="321" y="1236"/>
                  </a:lnTo>
                  <a:lnTo>
                    <a:pt x="303" y="1232"/>
                  </a:lnTo>
                  <a:lnTo>
                    <a:pt x="291" y="1224"/>
                  </a:lnTo>
                  <a:lnTo>
                    <a:pt x="282" y="1219"/>
                  </a:lnTo>
                  <a:lnTo>
                    <a:pt x="276" y="1213"/>
                  </a:lnTo>
                  <a:lnTo>
                    <a:pt x="270" y="1209"/>
                  </a:lnTo>
                  <a:lnTo>
                    <a:pt x="268" y="1201"/>
                  </a:lnTo>
                  <a:lnTo>
                    <a:pt x="268" y="1189"/>
                  </a:lnTo>
                  <a:lnTo>
                    <a:pt x="274" y="1171"/>
                  </a:lnTo>
                  <a:lnTo>
                    <a:pt x="280" y="1150"/>
                  </a:lnTo>
                  <a:lnTo>
                    <a:pt x="284" y="1134"/>
                  </a:lnTo>
                  <a:lnTo>
                    <a:pt x="285" y="1120"/>
                  </a:lnTo>
                  <a:lnTo>
                    <a:pt x="287" y="1110"/>
                  </a:lnTo>
                  <a:lnTo>
                    <a:pt x="291" y="1100"/>
                  </a:lnTo>
                  <a:lnTo>
                    <a:pt x="299" y="1087"/>
                  </a:lnTo>
                  <a:lnTo>
                    <a:pt x="309" y="1075"/>
                  </a:lnTo>
                  <a:lnTo>
                    <a:pt x="315" y="1065"/>
                  </a:lnTo>
                  <a:lnTo>
                    <a:pt x="311" y="1057"/>
                  </a:lnTo>
                  <a:lnTo>
                    <a:pt x="303" y="1053"/>
                  </a:lnTo>
                  <a:lnTo>
                    <a:pt x="289" y="1053"/>
                  </a:lnTo>
                  <a:lnTo>
                    <a:pt x="272" y="1053"/>
                  </a:lnTo>
                  <a:lnTo>
                    <a:pt x="254" y="1051"/>
                  </a:lnTo>
                  <a:lnTo>
                    <a:pt x="240" y="1047"/>
                  </a:lnTo>
                  <a:lnTo>
                    <a:pt x="230" y="1039"/>
                  </a:lnTo>
                  <a:lnTo>
                    <a:pt x="221" y="1020"/>
                  </a:lnTo>
                  <a:lnTo>
                    <a:pt x="217" y="1000"/>
                  </a:lnTo>
                  <a:lnTo>
                    <a:pt x="211" y="980"/>
                  </a:lnTo>
                  <a:lnTo>
                    <a:pt x="207" y="959"/>
                  </a:lnTo>
                  <a:lnTo>
                    <a:pt x="205" y="943"/>
                  </a:lnTo>
                  <a:lnTo>
                    <a:pt x="199" y="931"/>
                  </a:lnTo>
                  <a:lnTo>
                    <a:pt x="191" y="919"/>
                  </a:lnTo>
                  <a:lnTo>
                    <a:pt x="187" y="908"/>
                  </a:lnTo>
                  <a:lnTo>
                    <a:pt x="189" y="894"/>
                  </a:lnTo>
                  <a:lnTo>
                    <a:pt x="191" y="888"/>
                  </a:lnTo>
                  <a:lnTo>
                    <a:pt x="197" y="884"/>
                  </a:lnTo>
                  <a:lnTo>
                    <a:pt x="201" y="878"/>
                  </a:lnTo>
                  <a:lnTo>
                    <a:pt x="205" y="874"/>
                  </a:lnTo>
                  <a:lnTo>
                    <a:pt x="209" y="870"/>
                  </a:lnTo>
                  <a:lnTo>
                    <a:pt x="211" y="868"/>
                  </a:lnTo>
                  <a:lnTo>
                    <a:pt x="213" y="868"/>
                  </a:lnTo>
                  <a:lnTo>
                    <a:pt x="207" y="868"/>
                  </a:lnTo>
                  <a:lnTo>
                    <a:pt x="193" y="868"/>
                  </a:lnTo>
                  <a:lnTo>
                    <a:pt x="173" y="870"/>
                  </a:lnTo>
                  <a:lnTo>
                    <a:pt x="152" y="870"/>
                  </a:lnTo>
                  <a:lnTo>
                    <a:pt x="130" y="872"/>
                  </a:lnTo>
                  <a:lnTo>
                    <a:pt x="112" y="876"/>
                  </a:lnTo>
                  <a:lnTo>
                    <a:pt x="97" y="882"/>
                  </a:lnTo>
                  <a:lnTo>
                    <a:pt x="81" y="892"/>
                  </a:lnTo>
                  <a:lnTo>
                    <a:pt x="67" y="902"/>
                  </a:lnTo>
                  <a:lnTo>
                    <a:pt x="53" y="912"/>
                  </a:lnTo>
                  <a:lnTo>
                    <a:pt x="43" y="915"/>
                  </a:lnTo>
                  <a:lnTo>
                    <a:pt x="34" y="915"/>
                  </a:lnTo>
                  <a:lnTo>
                    <a:pt x="28" y="912"/>
                  </a:lnTo>
                  <a:lnTo>
                    <a:pt x="22" y="908"/>
                  </a:lnTo>
                  <a:lnTo>
                    <a:pt x="18" y="906"/>
                  </a:lnTo>
                  <a:lnTo>
                    <a:pt x="14" y="902"/>
                  </a:lnTo>
                  <a:lnTo>
                    <a:pt x="10" y="896"/>
                  </a:lnTo>
                  <a:lnTo>
                    <a:pt x="10" y="892"/>
                  </a:lnTo>
                  <a:lnTo>
                    <a:pt x="10" y="884"/>
                  </a:lnTo>
                  <a:lnTo>
                    <a:pt x="16" y="876"/>
                  </a:lnTo>
                  <a:lnTo>
                    <a:pt x="24" y="868"/>
                  </a:lnTo>
                  <a:lnTo>
                    <a:pt x="32" y="862"/>
                  </a:lnTo>
                  <a:lnTo>
                    <a:pt x="37" y="854"/>
                  </a:lnTo>
                  <a:lnTo>
                    <a:pt x="37" y="843"/>
                  </a:lnTo>
                  <a:lnTo>
                    <a:pt x="34" y="835"/>
                  </a:lnTo>
                  <a:lnTo>
                    <a:pt x="24" y="829"/>
                  </a:lnTo>
                  <a:lnTo>
                    <a:pt x="14" y="823"/>
                  </a:lnTo>
                  <a:lnTo>
                    <a:pt x="6" y="817"/>
                  </a:lnTo>
                  <a:lnTo>
                    <a:pt x="0" y="811"/>
                  </a:lnTo>
                  <a:lnTo>
                    <a:pt x="2" y="799"/>
                  </a:lnTo>
                  <a:lnTo>
                    <a:pt x="12" y="776"/>
                  </a:lnTo>
                  <a:lnTo>
                    <a:pt x="22" y="758"/>
                  </a:lnTo>
                  <a:lnTo>
                    <a:pt x="34" y="744"/>
                  </a:lnTo>
                  <a:lnTo>
                    <a:pt x="41" y="734"/>
                  </a:lnTo>
                  <a:lnTo>
                    <a:pt x="47" y="719"/>
                  </a:lnTo>
                  <a:lnTo>
                    <a:pt x="55" y="701"/>
                  </a:lnTo>
                  <a:lnTo>
                    <a:pt x="61" y="685"/>
                  </a:lnTo>
                  <a:lnTo>
                    <a:pt x="67" y="675"/>
                  </a:lnTo>
                  <a:lnTo>
                    <a:pt x="75" y="669"/>
                  </a:lnTo>
                  <a:lnTo>
                    <a:pt x="89" y="665"/>
                  </a:lnTo>
                  <a:lnTo>
                    <a:pt x="102" y="660"/>
                  </a:lnTo>
                  <a:lnTo>
                    <a:pt x="114" y="646"/>
                  </a:lnTo>
                  <a:lnTo>
                    <a:pt x="122" y="632"/>
                  </a:lnTo>
                  <a:lnTo>
                    <a:pt x="126" y="620"/>
                  </a:lnTo>
                  <a:lnTo>
                    <a:pt x="130" y="614"/>
                  </a:lnTo>
                  <a:lnTo>
                    <a:pt x="142" y="604"/>
                  </a:lnTo>
                  <a:lnTo>
                    <a:pt x="152" y="599"/>
                  </a:lnTo>
                  <a:lnTo>
                    <a:pt x="161" y="595"/>
                  </a:lnTo>
                  <a:lnTo>
                    <a:pt x="167" y="591"/>
                  </a:lnTo>
                  <a:lnTo>
                    <a:pt x="175" y="581"/>
                  </a:lnTo>
                  <a:lnTo>
                    <a:pt x="187" y="553"/>
                  </a:lnTo>
                  <a:lnTo>
                    <a:pt x="197" y="522"/>
                  </a:lnTo>
                  <a:lnTo>
                    <a:pt x="205" y="488"/>
                  </a:lnTo>
                  <a:lnTo>
                    <a:pt x="213" y="445"/>
                  </a:lnTo>
                  <a:lnTo>
                    <a:pt x="215" y="404"/>
                  </a:lnTo>
                  <a:lnTo>
                    <a:pt x="213" y="384"/>
                  </a:lnTo>
                  <a:lnTo>
                    <a:pt x="213" y="358"/>
                  </a:lnTo>
                  <a:lnTo>
                    <a:pt x="213" y="333"/>
                  </a:lnTo>
                  <a:lnTo>
                    <a:pt x="211" y="309"/>
                  </a:lnTo>
                  <a:lnTo>
                    <a:pt x="209" y="295"/>
                  </a:lnTo>
                  <a:lnTo>
                    <a:pt x="201" y="288"/>
                  </a:lnTo>
                  <a:lnTo>
                    <a:pt x="189" y="286"/>
                  </a:lnTo>
                  <a:lnTo>
                    <a:pt x="173" y="284"/>
                  </a:lnTo>
                  <a:lnTo>
                    <a:pt x="159" y="280"/>
                  </a:lnTo>
                  <a:lnTo>
                    <a:pt x="146" y="274"/>
                  </a:lnTo>
                  <a:lnTo>
                    <a:pt x="134" y="260"/>
                  </a:lnTo>
                  <a:lnTo>
                    <a:pt x="126" y="242"/>
                  </a:lnTo>
                  <a:lnTo>
                    <a:pt x="122" y="225"/>
                  </a:lnTo>
                  <a:lnTo>
                    <a:pt x="124" y="181"/>
                  </a:lnTo>
                  <a:lnTo>
                    <a:pt x="144" y="162"/>
                  </a:lnTo>
                  <a:lnTo>
                    <a:pt x="169" y="183"/>
                  </a:lnTo>
                  <a:lnTo>
                    <a:pt x="203" y="168"/>
                  </a:lnTo>
                  <a:lnTo>
                    <a:pt x="199" y="114"/>
                  </a:lnTo>
                  <a:lnTo>
                    <a:pt x="228" y="20"/>
                  </a:lnTo>
                  <a:lnTo>
                    <a:pt x="266" y="0"/>
                  </a:lnTo>
                  <a:lnTo>
                    <a:pt x="278" y="116"/>
                  </a:lnTo>
                  <a:lnTo>
                    <a:pt x="311" y="177"/>
                  </a:lnTo>
                  <a:lnTo>
                    <a:pt x="354" y="170"/>
                  </a:lnTo>
                  <a:lnTo>
                    <a:pt x="400" y="118"/>
                  </a:lnTo>
                  <a:lnTo>
                    <a:pt x="429" y="156"/>
                  </a:lnTo>
                  <a:lnTo>
                    <a:pt x="411" y="191"/>
                  </a:lnTo>
                  <a:lnTo>
                    <a:pt x="447" y="242"/>
                  </a:lnTo>
                  <a:lnTo>
                    <a:pt x="496" y="244"/>
                  </a:lnTo>
                  <a:lnTo>
                    <a:pt x="551" y="329"/>
                  </a:lnTo>
                  <a:lnTo>
                    <a:pt x="614" y="439"/>
                  </a:lnTo>
                  <a:lnTo>
                    <a:pt x="646" y="516"/>
                  </a:lnTo>
                  <a:lnTo>
                    <a:pt x="681" y="551"/>
                  </a:lnTo>
                  <a:lnTo>
                    <a:pt x="721" y="543"/>
                  </a:lnTo>
                  <a:lnTo>
                    <a:pt x="793" y="494"/>
                  </a:lnTo>
                  <a:lnTo>
                    <a:pt x="803" y="518"/>
                  </a:lnTo>
                  <a:lnTo>
                    <a:pt x="852" y="492"/>
                  </a:lnTo>
                  <a:lnTo>
                    <a:pt x="856" y="435"/>
                  </a:lnTo>
                  <a:lnTo>
                    <a:pt x="831" y="402"/>
                  </a:lnTo>
                  <a:lnTo>
                    <a:pt x="831" y="335"/>
                  </a:lnTo>
                  <a:lnTo>
                    <a:pt x="868" y="315"/>
                  </a:lnTo>
                  <a:lnTo>
                    <a:pt x="925" y="244"/>
                  </a:lnTo>
                  <a:lnTo>
                    <a:pt x="917" y="199"/>
                  </a:lnTo>
                  <a:lnTo>
                    <a:pt x="941" y="171"/>
                  </a:lnTo>
                  <a:lnTo>
                    <a:pt x="976" y="171"/>
                  </a:lnTo>
                  <a:lnTo>
                    <a:pt x="980" y="148"/>
                  </a:lnTo>
                  <a:lnTo>
                    <a:pt x="967" y="120"/>
                  </a:lnTo>
                  <a:lnTo>
                    <a:pt x="994" y="103"/>
                  </a:lnTo>
                  <a:lnTo>
                    <a:pt x="1043" y="108"/>
                  </a:lnTo>
                  <a:lnTo>
                    <a:pt x="1043" y="162"/>
                  </a:lnTo>
                  <a:lnTo>
                    <a:pt x="1065" y="232"/>
                  </a:lnTo>
                  <a:lnTo>
                    <a:pt x="1128" y="227"/>
                  </a:lnTo>
                  <a:lnTo>
                    <a:pt x="1154" y="189"/>
                  </a:lnTo>
                  <a:lnTo>
                    <a:pt x="1187" y="211"/>
                  </a:lnTo>
                  <a:lnTo>
                    <a:pt x="1193" y="252"/>
                  </a:lnTo>
                  <a:lnTo>
                    <a:pt x="1177" y="315"/>
                  </a:lnTo>
                  <a:lnTo>
                    <a:pt x="1126" y="329"/>
                  </a:lnTo>
                  <a:lnTo>
                    <a:pt x="1061" y="327"/>
                  </a:lnTo>
                  <a:lnTo>
                    <a:pt x="1047" y="311"/>
                  </a:lnTo>
                  <a:lnTo>
                    <a:pt x="1024" y="337"/>
                  </a:lnTo>
                  <a:lnTo>
                    <a:pt x="994" y="315"/>
                  </a:lnTo>
                  <a:lnTo>
                    <a:pt x="939" y="376"/>
                  </a:lnTo>
                  <a:lnTo>
                    <a:pt x="961" y="404"/>
                  </a:lnTo>
                  <a:lnTo>
                    <a:pt x="965" y="459"/>
                  </a:lnTo>
                  <a:lnTo>
                    <a:pt x="1006" y="471"/>
                  </a:lnTo>
                  <a:lnTo>
                    <a:pt x="1051" y="449"/>
                  </a:lnTo>
                  <a:lnTo>
                    <a:pt x="1069" y="445"/>
                  </a:lnTo>
                  <a:lnTo>
                    <a:pt x="1104" y="490"/>
                  </a:lnTo>
                  <a:lnTo>
                    <a:pt x="1075" y="561"/>
                  </a:lnTo>
                  <a:lnTo>
                    <a:pt x="1053" y="614"/>
                  </a:lnTo>
                  <a:lnTo>
                    <a:pt x="1075" y="658"/>
                  </a:lnTo>
                  <a:lnTo>
                    <a:pt x="1116" y="677"/>
                  </a:lnTo>
                  <a:lnTo>
                    <a:pt x="1118" y="732"/>
                  </a:lnTo>
                  <a:lnTo>
                    <a:pt x="1081" y="782"/>
                  </a:lnTo>
                  <a:lnTo>
                    <a:pt x="1112" y="837"/>
                  </a:lnTo>
                  <a:lnTo>
                    <a:pt x="1138" y="819"/>
                  </a:lnTo>
                  <a:lnTo>
                    <a:pt x="1187" y="823"/>
                  </a:lnTo>
                  <a:lnTo>
                    <a:pt x="1197" y="864"/>
                  </a:lnTo>
                  <a:lnTo>
                    <a:pt x="1228" y="884"/>
                  </a:lnTo>
                  <a:lnTo>
                    <a:pt x="1262" y="864"/>
                  </a:lnTo>
                  <a:lnTo>
                    <a:pt x="1293" y="888"/>
                  </a:lnTo>
                  <a:lnTo>
                    <a:pt x="1329" y="872"/>
                  </a:lnTo>
                  <a:lnTo>
                    <a:pt x="1352" y="900"/>
                  </a:lnTo>
                  <a:lnTo>
                    <a:pt x="1343" y="973"/>
                  </a:lnTo>
                  <a:lnTo>
                    <a:pt x="1291" y="986"/>
                  </a:lnTo>
                  <a:lnTo>
                    <a:pt x="1262" y="1026"/>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43" name="Freeform 73"/>
            <p:cNvSpPr/>
            <p:nvPr/>
          </p:nvSpPr>
          <p:spPr bwMode="gray">
            <a:xfrm>
              <a:off x="2755" y="3269"/>
              <a:ext cx="596" cy="432"/>
            </a:xfrm>
            <a:custGeom>
              <a:avLst/>
              <a:gdLst>
                <a:gd name="T0" fmla="*/ 209 w 1191"/>
                <a:gd name="T1" fmla="*/ 213 h 864"/>
                <a:gd name="T2" fmla="*/ 202 w 1191"/>
                <a:gd name="T3" fmla="*/ 215 h 864"/>
                <a:gd name="T4" fmla="*/ 195 w 1191"/>
                <a:gd name="T5" fmla="*/ 214 h 864"/>
                <a:gd name="T6" fmla="*/ 186 w 1191"/>
                <a:gd name="T7" fmla="*/ 210 h 864"/>
                <a:gd name="T8" fmla="*/ 180 w 1191"/>
                <a:gd name="T9" fmla="*/ 210 h 864"/>
                <a:gd name="T10" fmla="*/ 174 w 1191"/>
                <a:gd name="T11" fmla="*/ 203 h 864"/>
                <a:gd name="T12" fmla="*/ 169 w 1191"/>
                <a:gd name="T13" fmla="*/ 200 h 864"/>
                <a:gd name="T14" fmla="*/ 163 w 1191"/>
                <a:gd name="T15" fmla="*/ 210 h 864"/>
                <a:gd name="T16" fmla="*/ 155 w 1191"/>
                <a:gd name="T17" fmla="*/ 214 h 864"/>
                <a:gd name="T18" fmla="*/ 146 w 1191"/>
                <a:gd name="T19" fmla="*/ 216 h 864"/>
                <a:gd name="T20" fmla="*/ 140 w 1191"/>
                <a:gd name="T21" fmla="*/ 211 h 864"/>
                <a:gd name="T22" fmla="*/ 133 w 1191"/>
                <a:gd name="T23" fmla="*/ 213 h 864"/>
                <a:gd name="T24" fmla="*/ 123 w 1191"/>
                <a:gd name="T25" fmla="*/ 213 h 864"/>
                <a:gd name="T26" fmla="*/ 112 w 1191"/>
                <a:gd name="T27" fmla="*/ 206 h 864"/>
                <a:gd name="T28" fmla="*/ 101 w 1191"/>
                <a:gd name="T29" fmla="*/ 198 h 864"/>
                <a:gd name="T30" fmla="*/ 93 w 1191"/>
                <a:gd name="T31" fmla="*/ 189 h 864"/>
                <a:gd name="T32" fmla="*/ 88 w 1191"/>
                <a:gd name="T33" fmla="*/ 176 h 864"/>
                <a:gd name="T34" fmla="*/ 91 w 1191"/>
                <a:gd name="T35" fmla="*/ 171 h 864"/>
                <a:gd name="T36" fmla="*/ 94 w 1191"/>
                <a:gd name="T37" fmla="*/ 170 h 864"/>
                <a:gd name="T38" fmla="*/ 96 w 1191"/>
                <a:gd name="T39" fmla="*/ 167 h 864"/>
                <a:gd name="T40" fmla="*/ 87 w 1191"/>
                <a:gd name="T41" fmla="*/ 160 h 864"/>
                <a:gd name="T42" fmla="*/ 79 w 1191"/>
                <a:gd name="T43" fmla="*/ 161 h 864"/>
                <a:gd name="T44" fmla="*/ 74 w 1191"/>
                <a:gd name="T45" fmla="*/ 163 h 864"/>
                <a:gd name="T46" fmla="*/ 66 w 1191"/>
                <a:gd name="T47" fmla="*/ 158 h 864"/>
                <a:gd name="T48" fmla="*/ 60 w 1191"/>
                <a:gd name="T49" fmla="*/ 161 h 864"/>
                <a:gd name="T50" fmla="*/ 52 w 1191"/>
                <a:gd name="T51" fmla="*/ 156 h 864"/>
                <a:gd name="T52" fmla="*/ 46 w 1191"/>
                <a:gd name="T53" fmla="*/ 152 h 864"/>
                <a:gd name="T54" fmla="*/ 66 w 1191"/>
                <a:gd name="T55" fmla="*/ 135 h 864"/>
                <a:gd name="T56" fmla="*/ 53 w 1191"/>
                <a:gd name="T57" fmla="*/ 114 h 864"/>
                <a:gd name="T58" fmla="*/ 29 w 1191"/>
                <a:gd name="T59" fmla="*/ 108 h 864"/>
                <a:gd name="T60" fmla="*/ 8 w 1191"/>
                <a:gd name="T61" fmla="*/ 101 h 864"/>
                <a:gd name="T62" fmla="*/ 26 w 1191"/>
                <a:gd name="T63" fmla="*/ 74 h 864"/>
                <a:gd name="T64" fmla="*/ 63 w 1191"/>
                <a:gd name="T65" fmla="*/ 84 h 864"/>
                <a:gd name="T66" fmla="*/ 77 w 1191"/>
                <a:gd name="T67" fmla="*/ 70 h 864"/>
                <a:gd name="T68" fmla="*/ 100 w 1191"/>
                <a:gd name="T69" fmla="*/ 52 h 864"/>
                <a:gd name="T70" fmla="*/ 124 w 1191"/>
                <a:gd name="T71" fmla="*/ 56 h 864"/>
                <a:gd name="T72" fmla="*/ 144 w 1191"/>
                <a:gd name="T73" fmla="*/ 48 h 864"/>
                <a:gd name="T74" fmla="*/ 165 w 1191"/>
                <a:gd name="T75" fmla="*/ 40 h 864"/>
                <a:gd name="T76" fmla="*/ 182 w 1191"/>
                <a:gd name="T77" fmla="*/ 27 h 864"/>
                <a:gd name="T78" fmla="*/ 200 w 1191"/>
                <a:gd name="T79" fmla="*/ 19 h 864"/>
                <a:gd name="T80" fmla="*/ 217 w 1191"/>
                <a:gd name="T81" fmla="*/ 9 h 864"/>
                <a:gd name="T82" fmla="*/ 244 w 1191"/>
                <a:gd name="T83" fmla="*/ 5 h 864"/>
                <a:gd name="T84" fmla="*/ 260 w 1191"/>
                <a:gd name="T85" fmla="*/ 18 h 864"/>
                <a:gd name="T86" fmla="*/ 252 w 1191"/>
                <a:gd name="T87" fmla="*/ 54 h 864"/>
                <a:gd name="T88" fmla="*/ 274 w 1191"/>
                <a:gd name="T89" fmla="*/ 71 h 864"/>
                <a:gd name="T90" fmla="*/ 298 w 1191"/>
                <a:gd name="T91" fmla="*/ 81 h 864"/>
                <a:gd name="T92" fmla="*/ 282 w 1191"/>
                <a:gd name="T93" fmla="*/ 108 h 864"/>
                <a:gd name="T94" fmla="*/ 260 w 1191"/>
                <a:gd name="T95" fmla="*/ 161 h 864"/>
                <a:gd name="T96" fmla="*/ 248 w 1191"/>
                <a:gd name="T97" fmla="*/ 182 h 864"/>
                <a:gd name="T98" fmla="*/ 225 w 1191"/>
                <a:gd name="T99" fmla="*/ 197 h 86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91"/>
                <a:gd name="T151" fmla="*/ 0 h 864"/>
                <a:gd name="T152" fmla="*/ 1191 w 1191"/>
                <a:gd name="T153" fmla="*/ 864 h 86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91" h="864">
                  <a:moveTo>
                    <a:pt x="866" y="835"/>
                  </a:moveTo>
                  <a:lnTo>
                    <a:pt x="834" y="815"/>
                  </a:lnTo>
                  <a:lnTo>
                    <a:pt x="836" y="852"/>
                  </a:lnTo>
                  <a:lnTo>
                    <a:pt x="832" y="852"/>
                  </a:lnTo>
                  <a:lnTo>
                    <a:pt x="821" y="856"/>
                  </a:lnTo>
                  <a:lnTo>
                    <a:pt x="807" y="860"/>
                  </a:lnTo>
                  <a:lnTo>
                    <a:pt x="793" y="864"/>
                  </a:lnTo>
                  <a:lnTo>
                    <a:pt x="783" y="862"/>
                  </a:lnTo>
                  <a:lnTo>
                    <a:pt x="777" y="856"/>
                  </a:lnTo>
                  <a:lnTo>
                    <a:pt x="767" y="849"/>
                  </a:lnTo>
                  <a:lnTo>
                    <a:pt x="758" y="841"/>
                  </a:lnTo>
                  <a:lnTo>
                    <a:pt x="744" y="837"/>
                  </a:lnTo>
                  <a:lnTo>
                    <a:pt x="734" y="837"/>
                  </a:lnTo>
                  <a:lnTo>
                    <a:pt x="726" y="837"/>
                  </a:lnTo>
                  <a:lnTo>
                    <a:pt x="718" y="837"/>
                  </a:lnTo>
                  <a:lnTo>
                    <a:pt x="708" y="831"/>
                  </a:lnTo>
                  <a:lnTo>
                    <a:pt x="701" y="821"/>
                  </a:lnTo>
                  <a:lnTo>
                    <a:pt x="693" y="811"/>
                  </a:lnTo>
                  <a:lnTo>
                    <a:pt x="687" y="801"/>
                  </a:lnTo>
                  <a:lnTo>
                    <a:pt x="681" y="797"/>
                  </a:lnTo>
                  <a:lnTo>
                    <a:pt x="673" y="799"/>
                  </a:lnTo>
                  <a:lnTo>
                    <a:pt x="665" y="811"/>
                  </a:lnTo>
                  <a:lnTo>
                    <a:pt x="657" y="825"/>
                  </a:lnTo>
                  <a:lnTo>
                    <a:pt x="651" y="839"/>
                  </a:lnTo>
                  <a:lnTo>
                    <a:pt x="641" y="847"/>
                  </a:lnTo>
                  <a:lnTo>
                    <a:pt x="632" y="850"/>
                  </a:lnTo>
                  <a:lnTo>
                    <a:pt x="620" y="856"/>
                  </a:lnTo>
                  <a:lnTo>
                    <a:pt x="606" y="860"/>
                  </a:lnTo>
                  <a:lnTo>
                    <a:pt x="592" y="862"/>
                  </a:lnTo>
                  <a:lnTo>
                    <a:pt x="582" y="862"/>
                  </a:lnTo>
                  <a:lnTo>
                    <a:pt x="575" y="854"/>
                  </a:lnTo>
                  <a:lnTo>
                    <a:pt x="569" y="849"/>
                  </a:lnTo>
                  <a:lnTo>
                    <a:pt x="559" y="843"/>
                  </a:lnTo>
                  <a:lnTo>
                    <a:pt x="549" y="843"/>
                  </a:lnTo>
                  <a:lnTo>
                    <a:pt x="539" y="845"/>
                  </a:lnTo>
                  <a:lnTo>
                    <a:pt x="529" y="850"/>
                  </a:lnTo>
                  <a:lnTo>
                    <a:pt x="519" y="854"/>
                  </a:lnTo>
                  <a:lnTo>
                    <a:pt x="508" y="854"/>
                  </a:lnTo>
                  <a:lnTo>
                    <a:pt x="492" y="849"/>
                  </a:lnTo>
                  <a:lnTo>
                    <a:pt x="474" y="837"/>
                  </a:lnTo>
                  <a:lnTo>
                    <a:pt x="458" y="829"/>
                  </a:lnTo>
                  <a:lnTo>
                    <a:pt x="445" y="821"/>
                  </a:lnTo>
                  <a:lnTo>
                    <a:pt x="431" y="811"/>
                  </a:lnTo>
                  <a:lnTo>
                    <a:pt x="417" y="799"/>
                  </a:lnTo>
                  <a:lnTo>
                    <a:pt x="403" y="791"/>
                  </a:lnTo>
                  <a:lnTo>
                    <a:pt x="389" y="784"/>
                  </a:lnTo>
                  <a:lnTo>
                    <a:pt x="382" y="776"/>
                  </a:lnTo>
                  <a:lnTo>
                    <a:pt x="370" y="754"/>
                  </a:lnTo>
                  <a:lnTo>
                    <a:pt x="358" y="732"/>
                  </a:lnTo>
                  <a:lnTo>
                    <a:pt x="352" y="717"/>
                  </a:lnTo>
                  <a:lnTo>
                    <a:pt x="350" y="703"/>
                  </a:lnTo>
                  <a:lnTo>
                    <a:pt x="354" y="691"/>
                  </a:lnTo>
                  <a:lnTo>
                    <a:pt x="358" y="685"/>
                  </a:lnTo>
                  <a:lnTo>
                    <a:pt x="364" y="683"/>
                  </a:lnTo>
                  <a:lnTo>
                    <a:pt x="368" y="681"/>
                  </a:lnTo>
                  <a:lnTo>
                    <a:pt x="372" y="679"/>
                  </a:lnTo>
                  <a:lnTo>
                    <a:pt x="376" y="677"/>
                  </a:lnTo>
                  <a:lnTo>
                    <a:pt x="380" y="673"/>
                  </a:lnTo>
                  <a:lnTo>
                    <a:pt x="382" y="671"/>
                  </a:lnTo>
                  <a:lnTo>
                    <a:pt x="382" y="665"/>
                  </a:lnTo>
                  <a:lnTo>
                    <a:pt x="376" y="654"/>
                  </a:lnTo>
                  <a:lnTo>
                    <a:pt x="364" y="646"/>
                  </a:lnTo>
                  <a:lnTo>
                    <a:pt x="348" y="638"/>
                  </a:lnTo>
                  <a:lnTo>
                    <a:pt x="332" y="636"/>
                  </a:lnTo>
                  <a:lnTo>
                    <a:pt x="323" y="638"/>
                  </a:lnTo>
                  <a:lnTo>
                    <a:pt x="315" y="644"/>
                  </a:lnTo>
                  <a:lnTo>
                    <a:pt x="307" y="650"/>
                  </a:lnTo>
                  <a:lnTo>
                    <a:pt x="301" y="652"/>
                  </a:lnTo>
                  <a:lnTo>
                    <a:pt x="295" y="650"/>
                  </a:lnTo>
                  <a:lnTo>
                    <a:pt x="283" y="636"/>
                  </a:lnTo>
                  <a:lnTo>
                    <a:pt x="273" y="630"/>
                  </a:lnTo>
                  <a:lnTo>
                    <a:pt x="262" y="630"/>
                  </a:lnTo>
                  <a:lnTo>
                    <a:pt x="254" y="636"/>
                  </a:lnTo>
                  <a:lnTo>
                    <a:pt x="246" y="642"/>
                  </a:lnTo>
                  <a:lnTo>
                    <a:pt x="238" y="644"/>
                  </a:lnTo>
                  <a:lnTo>
                    <a:pt x="230" y="640"/>
                  </a:lnTo>
                  <a:lnTo>
                    <a:pt x="220" y="632"/>
                  </a:lnTo>
                  <a:lnTo>
                    <a:pt x="208" y="624"/>
                  </a:lnTo>
                  <a:lnTo>
                    <a:pt x="195" y="614"/>
                  </a:lnTo>
                  <a:lnTo>
                    <a:pt x="185" y="608"/>
                  </a:lnTo>
                  <a:lnTo>
                    <a:pt x="181" y="606"/>
                  </a:lnTo>
                  <a:lnTo>
                    <a:pt x="181" y="593"/>
                  </a:lnTo>
                  <a:lnTo>
                    <a:pt x="210" y="553"/>
                  </a:lnTo>
                  <a:lnTo>
                    <a:pt x="262" y="540"/>
                  </a:lnTo>
                  <a:lnTo>
                    <a:pt x="271" y="467"/>
                  </a:lnTo>
                  <a:lnTo>
                    <a:pt x="248" y="439"/>
                  </a:lnTo>
                  <a:lnTo>
                    <a:pt x="212" y="455"/>
                  </a:lnTo>
                  <a:lnTo>
                    <a:pt x="179" y="435"/>
                  </a:lnTo>
                  <a:lnTo>
                    <a:pt x="147" y="451"/>
                  </a:lnTo>
                  <a:lnTo>
                    <a:pt x="116" y="431"/>
                  </a:lnTo>
                  <a:lnTo>
                    <a:pt x="106" y="390"/>
                  </a:lnTo>
                  <a:lnTo>
                    <a:pt x="57" y="386"/>
                  </a:lnTo>
                  <a:lnTo>
                    <a:pt x="31" y="404"/>
                  </a:lnTo>
                  <a:lnTo>
                    <a:pt x="0" y="349"/>
                  </a:lnTo>
                  <a:lnTo>
                    <a:pt x="51" y="347"/>
                  </a:lnTo>
                  <a:lnTo>
                    <a:pt x="104" y="295"/>
                  </a:lnTo>
                  <a:lnTo>
                    <a:pt x="139" y="292"/>
                  </a:lnTo>
                  <a:lnTo>
                    <a:pt x="195" y="327"/>
                  </a:lnTo>
                  <a:lnTo>
                    <a:pt x="250" y="335"/>
                  </a:lnTo>
                  <a:lnTo>
                    <a:pt x="275" y="309"/>
                  </a:lnTo>
                  <a:lnTo>
                    <a:pt x="279" y="288"/>
                  </a:lnTo>
                  <a:lnTo>
                    <a:pt x="307" y="278"/>
                  </a:lnTo>
                  <a:lnTo>
                    <a:pt x="338" y="248"/>
                  </a:lnTo>
                  <a:lnTo>
                    <a:pt x="386" y="238"/>
                  </a:lnTo>
                  <a:lnTo>
                    <a:pt x="397" y="207"/>
                  </a:lnTo>
                  <a:lnTo>
                    <a:pt x="437" y="181"/>
                  </a:lnTo>
                  <a:lnTo>
                    <a:pt x="458" y="223"/>
                  </a:lnTo>
                  <a:lnTo>
                    <a:pt x="496" y="225"/>
                  </a:lnTo>
                  <a:lnTo>
                    <a:pt x="521" y="248"/>
                  </a:lnTo>
                  <a:lnTo>
                    <a:pt x="567" y="227"/>
                  </a:lnTo>
                  <a:lnTo>
                    <a:pt x="575" y="189"/>
                  </a:lnTo>
                  <a:lnTo>
                    <a:pt x="604" y="173"/>
                  </a:lnTo>
                  <a:lnTo>
                    <a:pt x="641" y="193"/>
                  </a:lnTo>
                  <a:lnTo>
                    <a:pt x="659" y="160"/>
                  </a:lnTo>
                  <a:lnTo>
                    <a:pt x="695" y="160"/>
                  </a:lnTo>
                  <a:lnTo>
                    <a:pt x="693" y="120"/>
                  </a:lnTo>
                  <a:lnTo>
                    <a:pt x="728" y="108"/>
                  </a:lnTo>
                  <a:lnTo>
                    <a:pt x="740" y="122"/>
                  </a:lnTo>
                  <a:lnTo>
                    <a:pt x="765" y="71"/>
                  </a:lnTo>
                  <a:lnTo>
                    <a:pt x="797" y="73"/>
                  </a:lnTo>
                  <a:lnTo>
                    <a:pt x="825" y="77"/>
                  </a:lnTo>
                  <a:lnTo>
                    <a:pt x="840" y="30"/>
                  </a:lnTo>
                  <a:lnTo>
                    <a:pt x="868" y="36"/>
                  </a:lnTo>
                  <a:lnTo>
                    <a:pt x="891" y="63"/>
                  </a:lnTo>
                  <a:lnTo>
                    <a:pt x="933" y="6"/>
                  </a:lnTo>
                  <a:lnTo>
                    <a:pt x="974" y="18"/>
                  </a:lnTo>
                  <a:lnTo>
                    <a:pt x="1006" y="0"/>
                  </a:lnTo>
                  <a:lnTo>
                    <a:pt x="1039" y="10"/>
                  </a:lnTo>
                  <a:lnTo>
                    <a:pt x="1039" y="69"/>
                  </a:lnTo>
                  <a:lnTo>
                    <a:pt x="1065" y="89"/>
                  </a:lnTo>
                  <a:lnTo>
                    <a:pt x="1059" y="154"/>
                  </a:lnTo>
                  <a:lnTo>
                    <a:pt x="1006" y="215"/>
                  </a:lnTo>
                  <a:lnTo>
                    <a:pt x="1080" y="209"/>
                  </a:lnTo>
                  <a:lnTo>
                    <a:pt x="1096" y="234"/>
                  </a:lnTo>
                  <a:lnTo>
                    <a:pt x="1096" y="284"/>
                  </a:lnTo>
                  <a:lnTo>
                    <a:pt x="1134" y="258"/>
                  </a:lnTo>
                  <a:lnTo>
                    <a:pt x="1169" y="258"/>
                  </a:lnTo>
                  <a:lnTo>
                    <a:pt x="1191" y="321"/>
                  </a:lnTo>
                  <a:lnTo>
                    <a:pt x="1163" y="351"/>
                  </a:lnTo>
                  <a:lnTo>
                    <a:pt x="1167" y="408"/>
                  </a:lnTo>
                  <a:lnTo>
                    <a:pt x="1128" y="431"/>
                  </a:lnTo>
                  <a:lnTo>
                    <a:pt x="1104" y="504"/>
                  </a:lnTo>
                  <a:lnTo>
                    <a:pt x="1110" y="579"/>
                  </a:lnTo>
                  <a:lnTo>
                    <a:pt x="1039" y="642"/>
                  </a:lnTo>
                  <a:lnTo>
                    <a:pt x="1013" y="654"/>
                  </a:lnTo>
                  <a:lnTo>
                    <a:pt x="1013" y="713"/>
                  </a:lnTo>
                  <a:lnTo>
                    <a:pt x="990" y="728"/>
                  </a:lnTo>
                  <a:lnTo>
                    <a:pt x="943" y="738"/>
                  </a:lnTo>
                  <a:lnTo>
                    <a:pt x="937" y="776"/>
                  </a:lnTo>
                  <a:lnTo>
                    <a:pt x="899" y="788"/>
                  </a:lnTo>
                  <a:lnTo>
                    <a:pt x="866" y="835"/>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0" name="Freeform 74"/>
            <p:cNvSpPr/>
            <p:nvPr/>
          </p:nvSpPr>
          <p:spPr bwMode="gray">
            <a:xfrm>
              <a:off x="2755" y="3269"/>
              <a:ext cx="596" cy="432"/>
            </a:xfrm>
            <a:custGeom>
              <a:avLst/>
              <a:gdLst>
                <a:gd name="T0" fmla="*/ 209 w 1191"/>
                <a:gd name="T1" fmla="*/ 213 h 864"/>
                <a:gd name="T2" fmla="*/ 202 w 1191"/>
                <a:gd name="T3" fmla="*/ 215 h 864"/>
                <a:gd name="T4" fmla="*/ 195 w 1191"/>
                <a:gd name="T5" fmla="*/ 214 h 864"/>
                <a:gd name="T6" fmla="*/ 186 w 1191"/>
                <a:gd name="T7" fmla="*/ 210 h 864"/>
                <a:gd name="T8" fmla="*/ 180 w 1191"/>
                <a:gd name="T9" fmla="*/ 210 h 864"/>
                <a:gd name="T10" fmla="*/ 174 w 1191"/>
                <a:gd name="T11" fmla="*/ 203 h 864"/>
                <a:gd name="T12" fmla="*/ 169 w 1191"/>
                <a:gd name="T13" fmla="*/ 200 h 864"/>
                <a:gd name="T14" fmla="*/ 163 w 1191"/>
                <a:gd name="T15" fmla="*/ 210 h 864"/>
                <a:gd name="T16" fmla="*/ 155 w 1191"/>
                <a:gd name="T17" fmla="*/ 214 h 864"/>
                <a:gd name="T18" fmla="*/ 146 w 1191"/>
                <a:gd name="T19" fmla="*/ 216 h 864"/>
                <a:gd name="T20" fmla="*/ 140 w 1191"/>
                <a:gd name="T21" fmla="*/ 211 h 864"/>
                <a:gd name="T22" fmla="*/ 133 w 1191"/>
                <a:gd name="T23" fmla="*/ 213 h 864"/>
                <a:gd name="T24" fmla="*/ 123 w 1191"/>
                <a:gd name="T25" fmla="*/ 213 h 864"/>
                <a:gd name="T26" fmla="*/ 112 w 1191"/>
                <a:gd name="T27" fmla="*/ 206 h 864"/>
                <a:gd name="T28" fmla="*/ 101 w 1191"/>
                <a:gd name="T29" fmla="*/ 198 h 864"/>
                <a:gd name="T30" fmla="*/ 93 w 1191"/>
                <a:gd name="T31" fmla="*/ 189 h 864"/>
                <a:gd name="T32" fmla="*/ 88 w 1191"/>
                <a:gd name="T33" fmla="*/ 176 h 864"/>
                <a:gd name="T34" fmla="*/ 91 w 1191"/>
                <a:gd name="T35" fmla="*/ 171 h 864"/>
                <a:gd name="T36" fmla="*/ 94 w 1191"/>
                <a:gd name="T37" fmla="*/ 170 h 864"/>
                <a:gd name="T38" fmla="*/ 96 w 1191"/>
                <a:gd name="T39" fmla="*/ 167 h 864"/>
                <a:gd name="T40" fmla="*/ 87 w 1191"/>
                <a:gd name="T41" fmla="*/ 160 h 864"/>
                <a:gd name="T42" fmla="*/ 79 w 1191"/>
                <a:gd name="T43" fmla="*/ 161 h 864"/>
                <a:gd name="T44" fmla="*/ 74 w 1191"/>
                <a:gd name="T45" fmla="*/ 163 h 864"/>
                <a:gd name="T46" fmla="*/ 66 w 1191"/>
                <a:gd name="T47" fmla="*/ 158 h 864"/>
                <a:gd name="T48" fmla="*/ 60 w 1191"/>
                <a:gd name="T49" fmla="*/ 161 h 864"/>
                <a:gd name="T50" fmla="*/ 52 w 1191"/>
                <a:gd name="T51" fmla="*/ 156 h 864"/>
                <a:gd name="T52" fmla="*/ 46 w 1191"/>
                <a:gd name="T53" fmla="*/ 152 h 864"/>
                <a:gd name="T54" fmla="*/ 66 w 1191"/>
                <a:gd name="T55" fmla="*/ 135 h 864"/>
                <a:gd name="T56" fmla="*/ 53 w 1191"/>
                <a:gd name="T57" fmla="*/ 114 h 864"/>
                <a:gd name="T58" fmla="*/ 29 w 1191"/>
                <a:gd name="T59" fmla="*/ 108 h 864"/>
                <a:gd name="T60" fmla="*/ 8 w 1191"/>
                <a:gd name="T61" fmla="*/ 101 h 864"/>
                <a:gd name="T62" fmla="*/ 26 w 1191"/>
                <a:gd name="T63" fmla="*/ 74 h 864"/>
                <a:gd name="T64" fmla="*/ 63 w 1191"/>
                <a:gd name="T65" fmla="*/ 84 h 864"/>
                <a:gd name="T66" fmla="*/ 77 w 1191"/>
                <a:gd name="T67" fmla="*/ 70 h 864"/>
                <a:gd name="T68" fmla="*/ 100 w 1191"/>
                <a:gd name="T69" fmla="*/ 52 h 864"/>
                <a:gd name="T70" fmla="*/ 124 w 1191"/>
                <a:gd name="T71" fmla="*/ 56 h 864"/>
                <a:gd name="T72" fmla="*/ 144 w 1191"/>
                <a:gd name="T73" fmla="*/ 48 h 864"/>
                <a:gd name="T74" fmla="*/ 165 w 1191"/>
                <a:gd name="T75" fmla="*/ 40 h 864"/>
                <a:gd name="T76" fmla="*/ 182 w 1191"/>
                <a:gd name="T77" fmla="*/ 27 h 864"/>
                <a:gd name="T78" fmla="*/ 200 w 1191"/>
                <a:gd name="T79" fmla="*/ 19 h 864"/>
                <a:gd name="T80" fmla="*/ 217 w 1191"/>
                <a:gd name="T81" fmla="*/ 9 h 864"/>
                <a:gd name="T82" fmla="*/ 244 w 1191"/>
                <a:gd name="T83" fmla="*/ 5 h 864"/>
                <a:gd name="T84" fmla="*/ 260 w 1191"/>
                <a:gd name="T85" fmla="*/ 18 h 864"/>
                <a:gd name="T86" fmla="*/ 252 w 1191"/>
                <a:gd name="T87" fmla="*/ 54 h 864"/>
                <a:gd name="T88" fmla="*/ 274 w 1191"/>
                <a:gd name="T89" fmla="*/ 71 h 864"/>
                <a:gd name="T90" fmla="*/ 298 w 1191"/>
                <a:gd name="T91" fmla="*/ 81 h 864"/>
                <a:gd name="T92" fmla="*/ 282 w 1191"/>
                <a:gd name="T93" fmla="*/ 108 h 864"/>
                <a:gd name="T94" fmla="*/ 260 w 1191"/>
                <a:gd name="T95" fmla="*/ 161 h 864"/>
                <a:gd name="T96" fmla="*/ 248 w 1191"/>
                <a:gd name="T97" fmla="*/ 182 h 864"/>
                <a:gd name="T98" fmla="*/ 225 w 1191"/>
                <a:gd name="T99" fmla="*/ 197 h 86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91"/>
                <a:gd name="T151" fmla="*/ 0 h 864"/>
                <a:gd name="T152" fmla="*/ 1191 w 1191"/>
                <a:gd name="T153" fmla="*/ 864 h 86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91" h="864">
                  <a:moveTo>
                    <a:pt x="866" y="835"/>
                  </a:moveTo>
                  <a:lnTo>
                    <a:pt x="834" y="815"/>
                  </a:lnTo>
                  <a:lnTo>
                    <a:pt x="836" y="852"/>
                  </a:lnTo>
                  <a:lnTo>
                    <a:pt x="832" y="852"/>
                  </a:lnTo>
                  <a:lnTo>
                    <a:pt x="821" y="856"/>
                  </a:lnTo>
                  <a:lnTo>
                    <a:pt x="807" y="860"/>
                  </a:lnTo>
                  <a:lnTo>
                    <a:pt x="793" y="864"/>
                  </a:lnTo>
                  <a:lnTo>
                    <a:pt x="783" y="862"/>
                  </a:lnTo>
                  <a:lnTo>
                    <a:pt x="777" y="856"/>
                  </a:lnTo>
                  <a:lnTo>
                    <a:pt x="767" y="849"/>
                  </a:lnTo>
                  <a:lnTo>
                    <a:pt x="758" y="841"/>
                  </a:lnTo>
                  <a:lnTo>
                    <a:pt x="744" y="837"/>
                  </a:lnTo>
                  <a:lnTo>
                    <a:pt x="734" y="837"/>
                  </a:lnTo>
                  <a:lnTo>
                    <a:pt x="726" y="837"/>
                  </a:lnTo>
                  <a:lnTo>
                    <a:pt x="718" y="837"/>
                  </a:lnTo>
                  <a:lnTo>
                    <a:pt x="708" y="831"/>
                  </a:lnTo>
                  <a:lnTo>
                    <a:pt x="701" y="821"/>
                  </a:lnTo>
                  <a:lnTo>
                    <a:pt x="693" y="811"/>
                  </a:lnTo>
                  <a:lnTo>
                    <a:pt x="687" y="801"/>
                  </a:lnTo>
                  <a:lnTo>
                    <a:pt x="681" y="797"/>
                  </a:lnTo>
                  <a:lnTo>
                    <a:pt x="673" y="799"/>
                  </a:lnTo>
                  <a:lnTo>
                    <a:pt x="665" y="811"/>
                  </a:lnTo>
                  <a:lnTo>
                    <a:pt x="657" y="825"/>
                  </a:lnTo>
                  <a:lnTo>
                    <a:pt x="651" y="839"/>
                  </a:lnTo>
                  <a:lnTo>
                    <a:pt x="641" y="847"/>
                  </a:lnTo>
                  <a:lnTo>
                    <a:pt x="632" y="850"/>
                  </a:lnTo>
                  <a:lnTo>
                    <a:pt x="620" y="856"/>
                  </a:lnTo>
                  <a:lnTo>
                    <a:pt x="606" y="860"/>
                  </a:lnTo>
                  <a:lnTo>
                    <a:pt x="592" y="862"/>
                  </a:lnTo>
                  <a:lnTo>
                    <a:pt x="582" y="862"/>
                  </a:lnTo>
                  <a:lnTo>
                    <a:pt x="575" y="854"/>
                  </a:lnTo>
                  <a:lnTo>
                    <a:pt x="569" y="849"/>
                  </a:lnTo>
                  <a:lnTo>
                    <a:pt x="559" y="843"/>
                  </a:lnTo>
                  <a:lnTo>
                    <a:pt x="549" y="843"/>
                  </a:lnTo>
                  <a:lnTo>
                    <a:pt x="539" y="845"/>
                  </a:lnTo>
                  <a:lnTo>
                    <a:pt x="529" y="850"/>
                  </a:lnTo>
                  <a:lnTo>
                    <a:pt x="519" y="854"/>
                  </a:lnTo>
                  <a:lnTo>
                    <a:pt x="508" y="854"/>
                  </a:lnTo>
                  <a:lnTo>
                    <a:pt x="492" y="849"/>
                  </a:lnTo>
                  <a:lnTo>
                    <a:pt x="474" y="837"/>
                  </a:lnTo>
                  <a:lnTo>
                    <a:pt x="458" y="829"/>
                  </a:lnTo>
                  <a:lnTo>
                    <a:pt x="445" y="821"/>
                  </a:lnTo>
                  <a:lnTo>
                    <a:pt x="431" y="811"/>
                  </a:lnTo>
                  <a:lnTo>
                    <a:pt x="417" y="799"/>
                  </a:lnTo>
                  <a:lnTo>
                    <a:pt x="403" y="791"/>
                  </a:lnTo>
                  <a:lnTo>
                    <a:pt x="389" y="784"/>
                  </a:lnTo>
                  <a:lnTo>
                    <a:pt x="382" y="776"/>
                  </a:lnTo>
                  <a:lnTo>
                    <a:pt x="370" y="754"/>
                  </a:lnTo>
                  <a:lnTo>
                    <a:pt x="358" y="732"/>
                  </a:lnTo>
                  <a:lnTo>
                    <a:pt x="352" y="717"/>
                  </a:lnTo>
                  <a:lnTo>
                    <a:pt x="350" y="703"/>
                  </a:lnTo>
                  <a:lnTo>
                    <a:pt x="354" y="691"/>
                  </a:lnTo>
                  <a:lnTo>
                    <a:pt x="358" y="685"/>
                  </a:lnTo>
                  <a:lnTo>
                    <a:pt x="364" y="683"/>
                  </a:lnTo>
                  <a:lnTo>
                    <a:pt x="368" y="681"/>
                  </a:lnTo>
                  <a:lnTo>
                    <a:pt x="372" y="679"/>
                  </a:lnTo>
                  <a:lnTo>
                    <a:pt x="376" y="677"/>
                  </a:lnTo>
                  <a:lnTo>
                    <a:pt x="380" y="673"/>
                  </a:lnTo>
                  <a:lnTo>
                    <a:pt x="382" y="671"/>
                  </a:lnTo>
                  <a:lnTo>
                    <a:pt x="382" y="665"/>
                  </a:lnTo>
                  <a:lnTo>
                    <a:pt x="376" y="654"/>
                  </a:lnTo>
                  <a:lnTo>
                    <a:pt x="364" y="646"/>
                  </a:lnTo>
                  <a:lnTo>
                    <a:pt x="348" y="638"/>
                  </a:lnTo>
                  <a:lnTo>
                    <a:pt x="332" y="636"/>
                  </a:lnTo>
                  <a:lnTo>
                    <a:pt x="323" y="638"/>
                  </a:lnTo>
                  <a:lnTo>
                    <a:pt x="315" y="644"/>
                  </a:lnTo>
                  <a:lnTo>
                    <a:pt x="307" y="650"/>
                  </a:lnTo>
                  <a:lnTo>
                    <a:pt x="301" y="652"/>
                  </a:lnTo>
                  <a:lnTo>
                    <a:pt x="295" y="650"/>
                  </a:lnTo>
                  <a:lnTo>
                    <a:pt x="283" y="636"/>
                  </a:lnTo>
                  <a:lnTo>
                    <a:pt x="273" y="630"/>
                  </a:lnTo>
                  <a:lnTo>
                    <a:pt x="262" y="630"/>
                  </a:lnTo>
                  <a:lnTo>
                    <a:pt x="254" y="636"/>
                  </a:lnTo>
                  <a:lnTo>
                    <a:pt x="246" y="642"/>
                  </a:lnTo>
                  <a:lnTo>
                    <a:pt x="238" y="644"/>
                  </a:lnTo>
                  <a:lnTo>
                    <a:pt x="230" y="640"/>
                  </a:lnTo>
                  <a:lnTo>
                    <a:pt x="220" y="632"/>
                  </a:lnTo>
                  <a:lnTo>
                    <a:pt x="208" y="624"/>
                  </a:lnTo>
                  <a:lnTo>
                    <a:pt x="195" y="614"/>
                  </a:lnTo>
                  <a:lnTo>
                    <a:pt x="185" y="608"/>
                  </a:lnTo>
                  <a:lnTo>
                    <a:pt x="181" y="606"/>
                  </a:lnTo>
                  <a:lnTo>
                    <a:pt x="181" y="593"/>
                  </a:lnTo>
                  <a:lnTo>
                    <a:pt x="210" y="553"/>
                  </a:lnTo>
                  <a:lnTo>
                    <a:pt x="262" y="540"/>
                  </a:lnTo>
                  <a:lnTo>
                    <a:pt x="271" y="467"/>
                  </a:lnTo>
                  <a:lnTo>
                    <a:pt x="248" y="439"/>
                  </a:lnTo>
                  <a:lnTo>
                    <a:pt x="212" y="455"/>
                  </a:lnTo>
                  <a:lnTo>
                    <a:pt x="179" y="435"/>
                  </a:lnTo>
                  <a:lnTo>
                    <a:pt x="147" y="451"/>
                  </a:lnTo>
                  <a:lnTo>
                    <a:pt x="116" y="431"/>
                  </a:lnTo>
                  <a:lnTo>
                    <a:pt x="106" y="390"/>
                  </a:lnTo>
                  <a:lnTo>
                    <a:pt x="57" y="386"/>
                  </a:lnTo>
                  <a:lnTo>
                    <a:pt x="31" y="404"/>
                  </a:lnTo>
                  <a:lnTo>
                    <a:pt x="0" y="349"/>
                  </a:lnTo>
                  <a:lnTo>
                    <a:pt x="51" y="347"/>
                  </a:lnTo>
                  <a:lnTo>
                    <a:pt x="104" y="295"/>
                  </a:lnTo>
                  <a:lnTo>
                    <a:pt x="139" y="292"/>
                  </a:lnTo>
                  <a:lnTo>
                    <a:pt x="195" y="327"/>
                  </a:lnTo>
                  <a:lnTo>
                    <a:pt x="250" y="335"/>
                  </a:lnTo>
                  <a:lnTo>
                    <a:pt x="275" y="309"/>
                  </a:lnTo>
                  <a:lnTo>
                    <a:pt x="279" y="288"/>
                  </a:lnTo>
                  <a:lnTo>
                    <a:pt x="307" y="278"/>
                  </a:lnTo>
                  <a:lnTo>
                    <a:pt x="338" y="248"/>
                  </a:lnTo>
                  <a:lnTo>
                    <a:pt x="386" y="238"/>
                  </a:lnTo>
                  <a:lnTo>
                    <a:pt x="397" y="207"/>
                  </a:lnTo>
                  <a:lnTo>
                    <a:pt x="437" y="181"/>
                  </a:lnTo>
                  <a:lnTo>
                    <a:pt x="458" y="223"/>
                  </a:lnTo>
                  <a:lnTo>
                    <a:pt x="496" y="225"/>
                  </a:lnTo>
                  <a:lnTo>
                    <a:pt x="521" y="248"/>
                  </a:lnTo>
                  <a:lnTo>
                    <a:pt x="567" y="227"/>
                  </a:lnTo>
                  <a:lnTo>
                    <a:pt x="575" y="189"/>
                  </a:lnTo>
                  <a:lnTo>
                    <a:pt x="604" y="173"/>
                  </a:lnTo>
                  <a:lnTo>
                    <a:pt x="641" y="193"/>
                  </a:lnTo>
                  <a:lnTo>
                    <a:pt x="659" y="160"/>
                  </a:lnTo>
                  <a:lnTo>
                    <a:pt x="695" y="160"/>
                  </a:lnTo>
                  <a:lnTo>
                    <a:pt x="693" y="120"/>
                  </a:lnTo>
                  <a:lnTo>
                    <a:pt x="728" y="108"/>
                  </a:lnTo>
                  <a:lnTo>
                    <a:pt x="740" y="122"/>
                  </a:lnTo>
                  <a:lnTo>
                    <a:pt x="765" y="71"/>
                  </a:lnTo>
                  <a:lnTo>
                    <a:pt x="797" y="73"/>
                  </a:lnTo>
                  <a:lnTo>
                    <a:pt x="825" y="77"/>
                  </a:lnTo>
                  <a:lnTo>
                    <a:pt x="840" y="30"/>
                  </a:lnTo>
                  <a:lnTo>
                    <a:pt x="868" y="36"/>
                  </a:lnTo>
                  <a:lnTo>
                    <a:pt x="891" y="63"/>
                  </a:lnTo>
                  <a:lnTo>
                    <a:pt x="933" y="6"/>
                  </a:lnTo>
                  <a:lnTo>
                    <a:pt x="974" y="18"/>
                  </a:lnTo>
                  <a:lnTo>
                    <a:pt x="1006" y="0"/>
                  </a:lnTo>
                  <a:lnTo>
                    <a:pt x="1039" y="10"/>
                  </a:lnTo>
                  <a:lnTo>
                    <a:pt x="1039" y="69"/>
                  </a:lnTo>
                  <a:lnTo>
                    <a:pt x="1065" y="89"/>
                  </a:lnTo>
                  <a:lnTo>
                    <a:pt x="1059" y="154"/>
                  </a:lnTo>
                  <a:lnTo>
                    <a:pt x="1006" y="215"/>
                  </a:lnTo>
                  <a:lnTo>
                    <a:pt x="1080" y="209"/>
                  </a:lnTo>
                  <a:lnTo>
                    <a:pt x="1096" y="234"/>
                  </a:lnTo>
                  <a:lnTo>
                    <a:pt x="1096" y="284"/>
                  </a:lnTo>
                  <a:lnTo>
                    <a:pt x="1134" y="258"/>
                  </a:lnTo>
                  <a:lnTo>
                    <a:pt x="1169" y="258"/>
                  </a:lnTo>
                  <a:lnTo>
                    <a:pt x="1191" y="321"/>
                  </a:lnTo>
                  <a:lnTo>
                    <a:pt x="1163" y="351"/>
                  </a:lnTo>
                  <a:lnTo>
                    <a:pt x="1167" y="408"/>
                  </a:lnTo>
                  <a:lnTo>
                    <a:pt x="1128" y="431"/>
                  </a:lnTo>
                  <a:lnTo>
                    <a:pt x="1104" y="504"/>
                  </a:lnTo>
                  <a:lnTo>
                    <a:pt x="1110" y="579"/>
                  </a:lnTo>
                  <a:lnTo>
                    <a:pt x="1039" y="642"/>
                  </a:lnTo>
                  <a:lnTo>
                    <a:pt x="1013" y="654"/>
                  </a:lnTo>
                  <a:lnTo>
                    <a:pt x="1013" y="713"/>
                  </a:lnTo>
                  <a:lnTo>
                    <a:pt x="990" y="728"/>
                  </a:lnTo>
                  <a:lnTo>
                    <a:pt x="943" y="738"/>
                  </a:lnTo>
                  <a:lnTo>
                    <a:pt x="937" y="776"/>
                  </a:lnTo>
                  <a:lnTo>
                    <a:pt x="899" y="788"/>
                  </a:lnTo>
                  <a:lnTo>
                    <a:pt x="866" y="835"/>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1" name="Freeform 75"/>
            <p:cNvSpPr/>
            <p:nvPr/>
          </p:nvSpPr>
          <p:spPr bwMode="gray">
            <a:xfrm>
              <a:off x="3116" y="3813"/>
              <a:ext cx="195" cy="172"/>
            </a:xfrm>
            <a:custGeom>
              <a:avLst/>
              <a:gdLst>
                <a:gd name="T0" fmla="*/ 20 w 392"/>
                <a:gd name="T1" fmla="*/ 19 h 344"/>
                <a:gd name="T2" fmla="*/ 17 w 392"/>
                <a:gd name="T3" fmla="*/ 21 h 344"/>
                <a:gd name="T4" fmla="*/ 11 w 392"/>
                <a:gd name="T5" fmla="*/ 27 h 344"/>
                <a:gd name="T6" fmla="*/ 5 w 392"/>
                <a:gd name="T7" fmla="*/ 35 h 344"/>
                <a:gd name="T8" fmla="*/ 1 w 392"/>
                <a:gd name="T9" fmla="*/ 40 h 344"/>
                <a:gd name="T10" fmla="*/ 0 w 392"/>
                <a:gd name="T11" fmla="*/ 50 h 344"/>
                <a:gd name="T12" fmla="*/ 1 w 392"/>
                <a:gd name="T13" fmla="*/ 63 h 344"/>
                <a:gd name="T14" fmla="*/ 5 w 392"/>
                <a:gd name="T15" fmla="*/ 72 h 344"/>
                <a:gd name="T16" fmla="*/ 12 w 392"/>
                <a:gd name="T17" fmla="*/ 78 h 344"/>
                <a:gd name="T18" fmla="*/ 22 w 392"/>
                <a:gd name="T19" fmla="*/ 80 h 344"/>
                <a:gd name="T20" fmla="*/ 28 w 392"/>
                <a:gd name="T21" fmla="*/ 80 h 344"/>
                <a:gd name="T22" fmla="*/ 33 w 392"/>
                <a:gd name="T23" fmla="*/ 81 h 344"/>
                <a:gd name="T24" fmla="*/ 41 w 392"/>
                <a:gd name="T25" fmla="*/ 86 h 344"/>
                <a:gd name="T26" fmla="*/ 46 w 392"/>
                <a:gd name="T27" fmla="*/ 85 h 344"/>
                <a:gd name="T28" fmla="*/ 49 w 392"/>
                <a:gd name="T29" fmla="*/ 80 h 344"/>
                <a:gd name="T30" fmla="*/ 53 w 392"/>
                <a:gd name="T31" fmla="*/ 74 h 344"/>
                <a:gd name="T32" fmla="*/ 59 w 392"/>
                <a:gd name="T33" fmla="*/ 73 h 344"/>
                <a:gd name="T34" fmla="*/ 64 w 392"/>
                <a:gd name="T35" fmla="*/ 69 h 344"/>
                <a:gd name="T36" fmla="*/ 69 w 392"/>
                <a:gd name="T37" fmla="*/ 63 h 344"/>
                <a:gd name="T38" fmla="*/ 76 w 392"/>
                <a:gd name="T39" fmla="*/ 59 h 344"/>
                <a:gd name="T40" fmla="*/ 79 w 392"/>
                <a:gd name="T41" fmla="*/ 52 h 344"/>
                <a:gd name="T42" fmla="*/ 80 w 392"/>
                <a:gd name="T43" fmla="*/ 43 h 344"/>
                <a:gd name="T44" fmla="*/ 85 w 392"/>
                <a:gd name="T45" fmla="*/ 28 h 344"/>
                <a:gd name="T46" fmla="*/ 90 w 392"/>
                <a:gd name="T47" fmla="*/ 21 h 344"/>
                <a:gd name="T48" fmla="*/ 94 w 392"/>
                <a:gd name="T49" fmla="*/ 19 h 344"/>
                <a:gd name="T50" fmla="*/ 97 w 392"/>
                <a:gd name="T51" fmla="*/ 15 h 344"/>
                <a:gd name="T52" fmla="*/ 97 w 392"/>
                <a:gd name="T53" fmla="*/ 9 h 344"/>
                <a:gd name="T54" fmla="*/ 95 w 392"/>
                <a:gd name="T55" fmla="*/ 3 h 344"/>
                <a:gd name="T56" fmla="*/ 88 w 392"/>
                <a:gd name="T57" fmla="*/ 1 h 344"/>
                <a:gd name="T58" fmla="*/ 75 w 392"/>
                <a:gd name="T59" fmla="*/ 1 h 344"/>
                <a:gd name="T60" fmla="*/ 64 w 392"/>
                <a:gd name="T61" fmla="*/ 3 h 344"/>
                <a:gd name="T62" fmla="*/ 55 w 392"/>
                <a:gd name="T63" fmla="*/ 5 h 344"/>
                <a:gd name="T64" fmla="*/ 45 w 392"/>
                <a:gd name="T65" fmla="*/ 7 h 344"/>
                <a:gd name="T66" fmla="*/ 38 w 392"/>
                <a:gd name="T67" fmla="*/ 8 h 344"/>
                <a:gd name="T68" fmla="*/ 33 w 392"/>
                <a:gd name="T69" fmla="*/ 11 h 344"/>
                <a:gd name="T70" fmla="*/ 28 w 392"/>
                <a:gd name="T71" fmla="*/ 12 h 344"/>
                <a:gd name="T72" fmla="*/ 23 w 392"/>
                <a:gd name="T73" fmla="*/ 12 h 3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92"/>
                <a:gd name="T112" fmla="*/ 0 h 344"/>
                <a:gd name="T113" fmla="*/ 392 w 392"/>
                <a:gd name="T114" fmla="*/ 344 h 3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92" h="344">
                  <a:moveTo>
                    <a:pt x="87" y="51"/>
                  </a:moveTo>
                  <a:lnTo>
                    <a:pt x="83" y="74"/>
                  </a:lnTo>
                  <a:lnTo>
                    <a:pt x="79" y="76"/>
                  </a:lnTo>
                  <a:lnTo>
                    <a:pt x="71" y="84"/>
                  </a:lnTo>
                  <a:lnTo>
                    <a:pt x="59" y="96"/>
                  </a:lnTo>
                  <a:lnTo>
                    <a:pt x="45" y="108"/>
                  </a:lnTo>
                  <a:lnTo>
                    <a:pt x="32" y="124"/>
                  </a:lnTo>
                  <a:lnTo>
                    <a:pt x="20" y="137"/>
                  </a:lnTo>
                  <a:lnTo>
                    <a:pt x="10" y="149"/>
                  </a:lnTo>
                  <a:lnTo>
                    <a:pt x="4" y="159"/>
                  </a:lnTo>
                  <a:lnTo>
                    <a:pt x="0" y="175"/>
                  </a:lnTo>
                  <a:lnTo>
                    <a:pt x="0" y="200"/>
                  </a:lnTo>
                  <a:lnTo>
                    <a:pt x="2" y="228"/>
                  </a:lnTo>
                  <a:lnTo>
                    <a:pt x="6" y="254"/>
                  </a:lnTo>
                  <a:lnTo>
                    <a:pt x="12" y="271"/>
                  </a:lnTo>
                  <a:lnTo>
                    <a:pt x="22" y="287"/>
                  </a:lnTo>
                  <a:lnTo>
                    <a:pt x="36" y="299"/>
                  </a:lnTo>
                  <a:lnTo>
                    <a:pt x="51" y="309"/>
                  </a:lnTo>
                  <a:lnTo>
                    <a:pt x="73" y="317"/>
                  </a:lnTo>
                  <a:lnTo>
                    <a:pt x="91" y="318"/>
                  </a:lnTo>
                  <a:lnTo>
                    <a:pt x="103" y="318"/>
                  </a:lnTo>
                  <a:lnTo>
                    <a:pt x="112" y="318"/>
                  </a:lnTo>
                  <a:lnTo>
                    <a:pt x="122" y="318"/>
                  </a:lnTo>
                  <a:lnTo>
                    <a:pt x="134" y="324"/>
                  </a:lnTo>
                  <a:lnTo>
                    <a:pt x="152" y="334"/>
                  </a:lnTo>
                  <a:lnTo>
                    <a:pt x="164" y="342"/>
                  </a:lnTo>
                  <a:lnTo>
                    <a:pt x="175" y="344"/>
                  </a:lnTo>
                  <a:lnTo>
                    <a:pt x="185" y="338"/>
                  </a:lnTo>
                  <a:lnTo>
                    <a:pt x="193" y="328"/>
                  </a:lnTo>
                  <a:lnTo>
                    <a:pt x="199" y="317"/>
                  </a:lnTo>
                  <a:lnTo>
                    <a:pt x="205" y="305"/>
                  </a:lnTo>
                  <a:lnTo>
                    <a:pt x="213" y="295"/>
                  </a:lnTo>
                  <a:lnTo>
                    <a:pt x="225" y="293"/>
                  </a:lnTo>
                  <a:lnTo>
                    <a:pt x="240" y="289"/>
                  </a:lnTo>
                  <a:lnTo>
                    <a:pt x="252" y="283"/>
                  </a:lnTo>
                  <a:lnTo>
                    <a:pt x="260" y="275"/>
                  </a:lnTo>
                  <a:lnTo>
                    <a:pt x="268" y="263"/>
                  </a:lnTo>
                  <a:lnTo>
                    <a:pt x="280" y="252"/>
                  </a:lnTo>
                  <a:lnTo>
                    <a:pt x="292" y="246"/>
                  </a:lnTo>
                  <a:lnTo>
                    <a:pt x="305" y="238"/>
                  </a:lnTo>
                  <a:lnTo>
                    <a:pt x="315" y="224"/>
                  </a:lnTo>
                  <a:lnTo>
                    <a:pt x="319" y="208"/>
                  </a:lnTo>
                  <a:lnTo>
                    <a:pt x="321" y="189"/>
                  </a:lnTo>
                  <a:lnTo>
                    <a:pt x="323" y="169"/>
                  </a:lnTo>
                  <a:lnTo>
                    <a:pt x="331" y="139"/>
                  </a:lnTo>
                  <a:lnTo>
                    <a:pt x="343" y="112"/>
                  </a:lnTo>
                  <a:lnTo>
                    <a:pt x="355" y="92"/>
                  </a:lnTo>
                  <a:lnTo>
                    <a:pt x="362" y="84"/>
                  </a:lnTo>
                  <a:lnTo>
                    <a:pt x="372" y="80"/>
                  </a:lnTo>
                  <a:lnTo>
                    <a:pt x="380" y="76"/>
                  </a:lnTo>
                  <a:lnTo>
                    <a:pt x="388" y="70"/>
                  </a:lnTo>
                  <a:lnTo>
                    <a:pt x="392" y="61"/>
                  </a:lnTo>
                  <a:lnTo>
                    <a:pt x="392" y="51"/>
                  </a:lnTo>
                  <a:lnTo>
                    <a:pt x="390" y="35"/>
                  </a:lnTo>
                  <a:lnTo>
                    <a:pt x="390" y="23"/>
                  </a:lnTo>
                  <a:lnTo>
                    <a:pt x="384" y="13"/>
                  </a:lnTo>
                  <a:lnTo>
                    <a:pt x="374" y="8"/>
                  </a:lnTo>
                  <a:lnTo>
                    <a:pt x="356" y="2"/>
                  </a:lnTo>
                  <a:lnTo>
                    <a:pt x="327" y="0"/>
                  </a:lnTo>
                  <a:lnTo>
                    <a:pt x="301" y="4"/>
                  </a:lnTo>
                  <a:lnTo>
                    <a:pt x="280" y="9"/>
                  </a:lnTo>
                  <a:lnTo>
                    <a:pt x="260" y="13"/>
                  </a:lnTo>
                  <a:lnTo>
                    <a:pt x="240" y="15"/>
                  </a:lnTo>
                  <a:lnTo>
                    <a:pt x="221" y="21"/>
                  </a:lnTo>
                  <a:lnTo>
                    <a:pt x="201" y="27"/>
                  </a:lnTo>
                  <a:lnTo>
                    <a:pt x="181" y="27"/>
                  </a:lnTo>
                  <a:lnTo>
                    <a:pt x="166" y="27"/>
                  </a:lnTo>
                  <a:lnTo>
                    <a:pt x="154" y="31"/>
                  </a:lnTo>
                  <a:lnTo>
                    <a:pt x="142" y="39"/>
                  </a:lnTo>
                  <a:lnTo>
                    <a:pt x="134" y="45"/>
                  </a:lnTo>
                  <a:lnTo>
                    <a:pt x="126" y="49"/>
                  </a:lnTo>
                  <a:lnTo>
                    <a:pt x="114" y="49"/>
                  </a:lnTo>
                  <a:lnTo>
                    <a:pt x="103" y="49"/>
                  </a:lnTo>
                  <a:lnTo>
                    <a:pt x="93" y="49"/>
                  </a:lnTo>
                  <a:lnTo>
                    <a:pt x="87" y="51"/>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2" name="Freeform 76"/>
            <p:cNvSpPr/>
            <p:nvPr/>
          </p:nvSpPr>
          <p:spPr bwMode="gray">
            <a:xfrm>
              <a:off x="3116" y="3813"/>
              <a:ext cx="195" cy="172"/>
            </a:xfrm>
            <a:custGeom>
              <a:avLst/>
              <a:gdLst>
                <a:gd name="T0" fmla="*/ 20 w 392"/>
                <a:gd name="T1" fmla="*/ 19 h 344"/>
                <a:gd name="T2" fmla="*/ 17 w 392"/>
                <a:gd name="T3" fmla="*/ 21 h 344"/>
                <a:gd name="T4" fmla="*/ 11 w 392"/>
                <a:gd name="T5" fmla="*/ 27 h 344"/>
                <a:gd name="T6" fmla="*/ 5 w 392"/>
                <a:gd name="T7" fmla="*/ 35 h 344"/>
                <a:gd name="T8" fmla="*/ 1 w 392"/>
                <a:gd name="T9" fmla="*/ 40 h 344"/>
                <a:gd name="T10" fmla="*/ 0 w 392"/>
                <a:gd name="T11" fmla="*/ 50 h 344"/>
                <a:gd name="T12" fmla="*/ 1 w 392"/>
                <a:gd name="T13" fmla="*/ 63 h 344"/>
                <a:gd name="T14" fmla="*/ 5 w 392"/>
                <a:gd name="T15" fmla="*/ 72 h 344"/>
                <a:gd name="T16" fmla="*/ 12 w 392"/>
                <a:gd name="T17" fmla="*/ 78 h 344"/>
                <a:gd name="T18" fmla="*/ 22 w 392"/>
                <a:gd name="T19" fmla="*/ 80 h 344"/>
                <a:gd name="T20" fmla="*/ 28 w 392"/>
                <a:gd name="T21" fmla="*/ 80 h 344"/>
                <a:gd name="T22" fmla="*/ 33 w 392"/>
                <a:gd name="T23" fmla="*/ 81 h 344"/>
                <a:gd name="T24" fmla="*/ 41 w 392"/>
                <a:gd name="T25" fmla="*/ 86 h 344"/>
                <a:gd name="T26" fmla="*/ 46 w 392"/>
                <a:gd name="T27" fmla="*/ 85 h 344"/>
                <a:gd name="T28" fmla="*/ 49 w 392"/>
                <a:gd name="T29" fmla="*/ 80 h 344"/>
                <a:gd name="T30" fmla="*/ 53 w 392"/>
                <a:gd name="T31" fmla="*/ 74 h 344"/>
                <a:gd name="T32" fmla="*/ 59 w 392"/>
                <a:gd name="T33" fmla="*/ 73 h 344"/>
                <a:gd name="T34" fmla="*/ 64 w 392"/>
                <a:gd name="T35" fmla="*/ 69 h 344"/>
                <a:gd name="T36" fmla="*/ 69 w 392"/>
                <a:gd name="T37" fmla="*/ 63 h 344"/>
                <a:gd name="T38" fmla="*/ 76 w 392"/>
                <a:gd name="T39" fmla="*/ 59 h 344"/>
                <a:gd name="T40" fmla="*/ 79 w 392"/>
                <a:gd name="T41" fmla="*/ 52 h 344"/>
                <a:gd name="T42" fmla="*/ 80 w 392"/>
                <a:gd name="T43" fmla="*/ 43 h 344"/>
                <a:gd name="T44" fmla="*/ 85 w 392"/>
                <a:gd name="T45" fmla="*/ 28 h 344"/>
                <a:gd name="T46" fmla="*/ 90 w 392"/>
                <a:gd name="T47" fmla="*/ 21 h 344"/>
                <a:gd name="T48" fmla="*/ 94 w 392"/>
                <a:gd name="T49" fmla="*/ 19 h 344"/>
                <a:gd name="T50" fmla="*/ 97 w 392"/>
                <a:gd name="T51" fmla="*/ 15 h 344"/>
                <a:gd name="T52" fmla="*/ 97 w 392"/>
                <a:gd name="T53" fmla="*/ 9 h 344"/>
                <a:gd name="T54" fmla="*/ 95 w 392"/>
                <a:gd name="T55" fmla="*/ 3 h 344"/>
                <a:gd name="T56" fmla="*/ 88 w 392"/>
                <a:gd name="T57" fmla="*/ 1 h 344"/>
                <a:gd name="T58" fmla="*/ 75 w 392"/>
                <a:gd name="T59" fmla="*/ 1 h 344"/>
                <a:gd name="T60" fmla="*/ 64 w 392"/>
                <a:gd name="T61" fmla="*/ 3 h 344"/>
                <a:gd name="T62" fmla="*/ 55 w 392"/>
                <a:gd name="T63" fmla="*/ 5 h 344"/>
                <a:gd name="T64" fmla="*/ 45 w 392"/>
                <a:gd name="T65" fmla="*/ 7 h 344"/>
                <a:gd name="T66" fmla="*/ 38 w 392"/>
                <a:gd name="T67" fmla="*/ 8 h 344"/>
                <a:gd name="T68" fmla="*/ 33 w 392"/>
                <a:gd name="T69" fmla="*/ 11 h 344"/>
                <a:gd name="T70" fmla="*/ 28 w 392"/>
                <a:gd name="T71" fmla="*/ 12 h 344"/>
                <a:gd name="T72" fmla="*/ 23 w 392"/>
                <a:gd name="T73" fmla="*/ 12 h 3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92"/>
                <a:gd name="T112" fmla="*/ 0 h 344"/>
                <a:gd name="T113" fmla="*/ 392 w 392"/>
                <a:gd name="T114" fmla="*/ 344 h 3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92" h="344">
                  <a:moveTo>
                    <a:pt x="87" y="51"/>
                  </a:moveTo>
                  <a:lnTo>
                    <a:pt x="83" y="74"/>
                  </a:lnTo>
                  <a:lnTo>
                    <a:pt x="79" y="76"/>
                  </a:lnTo>
                  <a:lnTo>
                    <a:pt x="71" y="84"/>
                  </a:lnTo>
                  <a:lnTo>
                    <a:pt x="59" y="96"/>
                  </a:lnTo>
                  <a:lnTo>
                    <a:pt x="45" y="108"/>
                  </a:lnTo>
                  <a:lnTo>
                    <a:pt x="32" y="124"/>
                  </a:lnTo>
                  <a:lnTo>
                    <a:pt x="20" y="137"/>
                  </a:lnTo>
                  <a:lnTo>
                    <a:pt x="10" y="149"/>
                  </a:lnTo>
                  <a:lnTo>
                    <a:pt x="4" y="159"/>
                  </a:lnTo>
                  <a:lnTo>
                    <a:pt x="0" y="175"/>
                  </a:lnTo>
                  <a:lnTo>
                    <a:pt x="0" y="200"/>
                  </a:lnTo>
                  <a:lnTo>
                    <a:pt x="2" y="228"/>
                  </a:lnTo>
                  <a:lnTo>
                    <a:pt x="6" y="254"/>
                  </a:lnTo>
                  <a:lnTo>
                    <a:pt x="12" y="271"/>
                  </a:lnTo>
                  <a:lnTo>
                    <a:pt x="22" y="287"/>
                  </a:lnTo>
                  <a:lnTo>
                    <a:pt x="36" y="299"/>
                  </a:lnTo>
                  <a:lnTo>
                    <a:pt x="51" y="309"/>
                  </a:lnTo>
                  <a:lnTo>
                    <a:pt x="73" y="317"/>
                  </a:lnTo>
                  <a:lnTo>
                    <a:pt x="91" y="318"/>
                  </a:lnTo>
                  <a:lnTo>
                    <a:pt x="103" y="318"/>
                  </a:lnTo>
                  <a:lnTo>
                    <a:pt x="112" y="318"/>
                  </a:lnTo>
                  <a:lnTo>
                    <a:pt x="122" y="318"/>
                  </a:lnTo>
                  <a:lnTo>
                    <a:pt x="134" y="324"/>
                  </a:lnTo>
                  <a:lnTo>
                    <a:pt x="152" y="334"/>
                  </a:lnTo>
                  <a:lnTo>
                    <a:pt x="164" y="342"/>
                  </a:lnTo>
                  <a:lnTo>
                    <a:pt x="175" y="344"/>
                  </a:lnTo>
                  <a:lnTo>
                    <a:pt x="185" y="338"/>
                  </a:lnTo>
                  <a:lnTo>
                    <a:pt x="193" y="328"/>
                  </a:lnTo>
                  <a:lnTo>
                    <a:pt x="199" y="317"/>
                  </a:lnTo>
                  <a:lnTo>
                    <a:pt x="205" y="305"/>
                  </a:lnTo>
                  <a:lnTo>
                    <a:pt x="213" y="295"/>
                  </a:lnTo>
                  <a:lnTo>
                    <a:pt x="225" y="293"/>
                  </a:lnTo>
                  <a:lnTo>
                    <a:pt x="240" y="289"/>
                  </a:lnTo>
                  <a:lnTo>
                    <a:pt x="252" y="283"/>
                  </a:lnTo>
                  <a:lnTo>
                    <a:pt x="260" y="275"/>
                  </a:lnTo>
                  <a:lnTo>
                    <a:pt x="268" y="263"/>
                  </a:lnTo>
                  <a:lnTo>
                    <a:pt x="280" y="252"/>
                  </a:lnTo>
                  <a:lnTo>
                    <a:pt x="292" y="246"/>
                  </a:lnTo>
                  <a:lnTo>
                    <a:pt x="305" y="238"/>
                  </a:lnTo>
                  <a:lnTo>
                    <a:pt x="315" y="224"/>
                  </a:lnTo>
                  <a:lnTo>
                    <a:pt x="319" y="208"/>
                  </a:lnTo>
                  <a:lnTo>
                    <a:pt x="321" y="189"/>
                  </a:lnTo>
                  <a:lnTo>
                    <a:pt x="323" y="169"/>
                  </a:lnTo>
                  <a:lnTo>
                    <a:pt x="331" y="139"/>
                  </a:lnTo>
                  <a:lnTo>
                    <a:pt x="343" y="112"/>
                  </a:lnTo>
                  <a:lnTo>
                    <a:pt x="355" y="92"/>
                  </a:lnTo>
                  <a:lnTo>
                    <a:pt x="362" y="84"/>
                  </a:lnTo>
                  <a:lnTo>
                    <a:pt x="372" y="80"/>
                  </a:lnTo>
                  <a:lnTo>
                    <a:pt x="380" y="76"/>
                  </a:lnTo>
                  <a:lnTo>
                    <a:pt x="388" y="70"/>
                  </a:lnTo>
                  <a:lnTo>
                    <a:pt x="392" y="61"/>
                  </a:lnTo>
                  <a:lnTo>
                    <a:pt x="392" y="51"/>
                  </a:lnTo>
                  <a:lnTo>
                    <a:pt x="390" y="35"/>
                  </a:lnTo>
                  <a:lnTo>
                    <a:pt x="390" y="23"/>
                  </a:lnTo>
                  <a:lnTo>
                    <a:pt x="384" y="13"/>
                  </a:lnTo>
                  <a:lnTo>
                    <a:pt x="374" y="8"/>
                  </a:lnTo>
                  <a:lnTo>
                    <a:pt x="356" y="2"/>
                  </a:lnTo>
                  <a:lnTo>
                    <a:pt x="327" y="0"/>
                  </a:lnTo>
                  <a:lnTo>
                    <a:pt x="301" y="4"/>
                  </a:lnTo>
                  <a:lnTo>
                    <a:pt x="280" y="9"/>
                  </a:lnTo>
                  <a:lnTo>
                    <a:pt x="260" y="13"/>
                  </a:lnTo>
                  <a:lnTo>
                    <a:pt x="240" y="15"/>
                  </a:lnTo>
                  <a:lnTo>
                    <a:pt x="221" y="21"/>
                  </a:lnTo>
                  <a:lnTo>
                    <a:pt x="201" y="27"/>
                  </a:lnTo>
                  <a:lnTo>
                    <a:pt x="181" y="27"/>
                  </a:lnTo>
                  <a:lnTo>
                    <a:pt x="166" y="27"/>
                  </a:lnTo>
                  <a:lnTo>
                    <a:pt x="154" y="31"/>
                  </a:lnTo>
                  <a:lnTo>
                    <a:pt x="142" y="39"/>
                  </a:lnTo>
                  <a:lnTo>
                    <a:pt x="134" y="45"/>
                  </a:lnTo>
                  <a:lnTo>
                    <a:pt x="126" y="49"/>
                  </a:lnTo>
                  <a:lnTo>
                    <a:pt x="114" y="49"/>
                  </a:lnTo>
                  <a:lnTo>
                    <a:pt x="103" y="49"/>
                  </a:lnTo>
                  <a:lnTo>
                    <a:pt x="93" y="49"/>
                  </a:lnTo>
                  <a:lnTo>
                    <a:pt x="87" y="51"/>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3" name="Freeform 77"/>
            <p:cNvSpPr/>
            <p:nvPr/>
          </p:nvSpPr>
          <p:spPr bwMode="gray">
            <a:xfrm>
              <a:off x="3188" y="3319"/>
              <a:ext cx="564" cy="480"/>
            </a:xfrm>
            <a:custGeom>
              <a:avLst/>
              <a:gdLst>
                <a:gd name="T0" fmla="*/ 279 w 1128"/>
                <a:gd name="T1" fmla="*/ 62 h 960"/>
                <a:gd name="T2" fmla="*/ 272 w 1128"/>
                <a:gd name="T3" fmla="*/ 67 h 960"/>
                <a:gd name="T4" fmla="*/ 266 w 1128"/>
                <a:gd name="T5" fmla="*/ 77 h 960"/>
                <a:gd name="T6" fmla="*/ 261 w 1128"/>
                <a:gd name="T7" fmla="*/ 87 h 960"/>
                <a:gd name="T8" fmla="*/ 254 w 1128"/>
                <a:gd name="T9" fmla="*/ 97 h 960"/>
                <a:gd name="T10" fmla="*/ 241 w 1128"/>
                <a:gd name="T11" fmla="*/ 103 h 960"/>
                <a:gd name="T12" fmla="*/ 230 w 1128"/>
                <a:gd name="T13" fmla="*/ 104 h 960"/>
                <a:gd name="T14" fmla="*/ 216 w 1128"/>
                <a:gd name="T15" fmla="*/ 103 h 960"/>
                <a:gd name="T16" fmla="*/ 203 w 1128"/>
                <a:gd name="T17" fmla="*/ 110 h 960"/>
                <a:gd name="T18" fmla="*/ 199 w 1128"/>
                <a:gd name="T19" fmla="*/ 115 h 960"/>
                <a:gd name="T20" fmla="*/ 198 w 1128"/>
                <a:gd name="T21" fmla="*/ 118 h 960"/>
                <a:gd name="T22" fmla="*/ 196 w 1128"/>
                <a:gd name="T23" fmla="*/ 119 h 960"/>
                <a:gd name="T24" fmla="*/ 190 w 1128"/>
                <a:gd name="T25" fmla="*/ 114 h 960"/>
                <a:gd name="T26" fmla="*/ 183 w 1128"/>
                <a:gd name="T27" fmla="*/ 118 h 960"/>
                <a:gd name="T28" fmla="*/ 177 w 1128"/>
                <a:gd name="T29" fmla="*/ 127 h 960"/>
                <a:gd name="T30" fmla="*/ 164 w 1128"/>
                <a:gd name="T31" fmla="*/ 127 h 960"/>
                <a:gd name="T32" fmla="*/ 155 w 1128"/>
                <a:gd name="T33" fmla="*/ 120 h 960"/>
                <a:gd name="T34" fmla="*/ 148 w 1128"/>
                <a:gd name="T35" fmla="*/ 111 h 960"/>
                <a:gd name="T36" fmla="*/ 143 w 1128"/>
                <a:gd name="T37" fmla="*/ 113 h 960"/>
                <a:gd name="T38" fmla="*/ 147 w 1128"/>
                <a:gd name="T39" fmla="*/ 122 h 960"/>
                <a:gd name="T40" fmla="*/ 154 w 1128"/>
                <a:gd name="T41" fmla="*/ 130 h 960"/>
                <a:gd name="T42" fmla="*/ 153 w 1128"/>
                <a:gd name="T43" fmla="*/ 140 h 960"/>
                <a:gd name="T44" fmla="*/ 140 w 1128"/>
                <a:gd name="T45" fmla="*/ 149 h 960"/>
                <a:gd name="T46" fmla="*/ 134 w 1128"/>
                <a:gd name="T47" fmla="*/ 149 h 960"/>
                <a:gd name="T48" fmla="*/ 132 w 1128"/>
                <a:gd name="T49" fmla="*/ 148 h 960"/>
                <a:gd name="T50" fmla="*/ 130 w 1128"/>
                <a:gd name="T51" fmla="*/ 148 h 960"/>
                <a:gd name="T52" fmla="*/ 126 w 1128"/>
                <a:gd name="T53" fmla="*/ 154 h 960"/>
                <a:gd name="T54" fmla="*/ 116 w 1128"/>
                <a:gd name="T55" fmla="*/ 163 h 960"/>
                <a:gd name="T56" fmla="*/ 110 w 1128"/>
                <a:gd name="T57" fmla="*/ 167 h 960"/>
                <a:gd name="T58" fmla="*/ 97 w 1128"/>
                <a:gd name="T59" fmla="*/ 168 h 960"/>
                <a:gd name="T60" fmla="*/ 87 w 1128"/>
                <a:gd name="T61" fmla="*/ 171 h 960"/>
                <a:gd name="T62" fmla="*/ 75 w 1128"/>
                <a:gd name="T63" fmla="*/ 179 h 960"/>
                <a:gd name="T64" fmla="*/ 56 w 1128"/>
                <a:gd name="T65" fmla="*/ 185 h 960"/>
                <a:gd name="T66" fmla="*/ 46 w 1128"/>
                <a:gd name="T67" fmla="*/ 186 h 960"/>
                <a:gd name="T68" fmla="*/ 38 w 1128"/>
                <a:gd name="T69" fmla="*/ 194 h 960"/>
                <a:gd name="T70" fmla="*/ 29 w 1128"/>
                <a:gd name="T71" fmla="*/ 199 h 960"/>
                <a:gd name="T72" fmla="*/ 23 w 1128"/>
                <a:gd name="T73" fmla="*/ 207 h 960"/>
                <a:gd name="T74" fmla="*/ 26 w 1128"/>
                <a:gd name="T75" fmla="*/ 214 h 960"/>
                <a:gd name="T76" fmla="*/ 35 w 1128"/>
                <a:gd name="T77" fmla="*/ 227 h 960"/>
                <a:gd name="T78" fmla="*/ 35 w 1128"/>
                <a:gd name="T79" fmla="*/ 235 h 960"/>
                <a:gd name="T80" fmla="*/ 24 w 1128"/>
                <a:gd name="T81" fmla="*/ 240 h 960"/>
                <a:gd name="T82" fmla="*/ 13 w 1128"/>
                <a:gd name="T83" fmla="*/ 235 h 960"/>
                <a:gd name="T84" fmla="*/ 4 w 1128"/>
                <a:gd name="T85" fmla="*/ 222 h 960"/>
                <a:gd name="T86" fmla="*/ 1 w 1128"/>
                <a:gd name="T87" fmla="*/ 210 h 960"/>
                <a:gd name="T88" fmla="*/ 1 w 1128"/>
                <a:gd name="T89" fmla="*/ 200 h 960"/>
                <a:gd name="T90" fmla="*/ 8 w 1128"/>
                <a:gd name="T91" fmla="*/ 189 h 960"/>
                <a:gd name="T92" fmla="*/ 0 w 1128"/>
                <a:gd name="T93" fmla="*/ 184 h 960"/>
                <a:gd name="T94" fmla="*/ 19 w 1128"/>
                <a:gd name="T95" fmla="*/ 160 h 960"/>
                <a:gd name="T96" fmla="*/ 37 w 1128"/>
                <a:gd name="T97" fmla="*/ 139 h 960"/>
                <a:gd name="T98" fmla="*/ 59 w 1128"/>
                <a:gd name="T99" fmla="*/ 101 h 960"/>
                <a:gd name="T100" fmla="*/ 74 w 1128"/>
                <a:gd name="T101" fmla="*/ 62 h 960"/>
                <a:gd name="T102" fmla="*/ 82 w 1128"/>
                <a:gd name="T103" fmla="*/ 36 h 960"/>
                <a:gd name="T104" fmla="*/ 121 w 1128"/>
                <a:gd name="T105" fmla="*/ 3 h 960"/>
                <a:gd name="T106" fmla="*/ 156 w 1128"/>
                <a:gd name="T107" fmla="*/ 8 h 960"/>
                <a:gd name="T108" fmla="*/ 170 w 1128"/>
                <a:gd name="T109" fmla="*/ 24 h 960"/>
                <a:gd name="T110" fmla="*/ 185 w 1128"/>
                <a:gd name="T111" fmla="*/ 32 h 960"/>
                <a:gd name="T112" fmla="*/ 224 w 1128"/>
                <a:gd name="T113" fmla="*/ 15 h 960"/>
                <a:gd name="T114" fmla="*/ 272 w 1128"/>
                <a:gd name="T115" fmla="*/ 41 h 9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8"/>
                <a:gd name="T175" fmla="*/ 0 h 960"/>
                <a:gd name="T176" fmla="*/ 1128 w 1128"/>
                <a:gd name="T177" fmla="*/ 960 h 9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8" h="960">
                  <a:moveTo>
                    <a:pt x="1128" y="246"/>
                  </a:moveTo>
                  <a:lnTo>
                    <a:pt x="1124" y="248"/>
                  </a:lnTo>
                  <a:lnTo>
                    <a:pt x="1116" y="250"/>
                  </a:lnTo>
                  <a:lnTo>
                    <a:pt x="1104" y="254"/>
                  </a:lnTo>
                  <a:lnTo>
                    <a:pt x="1094" y="259"/>
                  </a:lnTo>
                  <a:lnTo>
                    <a:pt x="1088" y="265"/>
                  </a:lnTo>
                  <a:lnTo>
                    <a:pt x="1083" y="275"/>
                  </a:lnTo>
                  <a:lnTo>
                    <a:pt x="1075" y="289"/>
                  </a:lnTo>
                  <a:lnTo>
                    <a:pt x="1063" y="305"/>
                  </a:lnTo>
                  <a:lnTo>
                    <a:pt x="1055" y="318"/>
                  </a:lnTo>
                  <a:lnTo>
                    <a:pt x="1047" y="332"/>
                  </a:lnTo>
                  <a:lnTo>
                    <a:pt x="1043" y="348"/>
                  </a:lnTo>
                  <a:lnTo>
                    <a:pt x="1037" y="362"/>
                  </a:lnTo>
                  <a:lnTo>
                    <a:pt x="1029" y="376"/>
                  </a:lnTo>
                  <a:lnTo>
                    <a:pt x="1016" y="387"/>
                  </a:lnTo>
                  <a:lnTo>
                    <a:pt x="1002" y="395"/>
                  </a:lnTo>
                  <a:lnTo>
                    <a:pt x="984" y="403"/>
                  </a:lnTo>
                  <a:lnTo>
                    <a:pt x="966" y="411"/>
                  </a:lnTo>
                  <a:lnTo>
                    <a:pt x="949" y="417"/>
                  </a:lnTo>
                  <a:lnTo>
                    <a:pt x="937" y="419"/>
                  </a:lnTo>
                  <a:lnTo>
                    <a:pt x="921" y="415"/>
                  </a:lnTo>
                  <a:lnTo>
                    <a:pt x="903" y="411"/>
                  </a:lnTo>
                  <a:lnTo>
                    <a:pt x="884" y="409"/>
                  </a:lnTo>
                  <a:lnTo>
                    <a:pt x="864" y="411"/>
                  </a:lnTo>
                  <a:lnTo>
                    <a:pt x="846" y="419"/>
                  </a:lnTo>
                  <a:lnTo>
                    <a:pt x="829" y="431"/>
                  </a:lnTo>
                  <a:lnTo>
                    <a:pt x="813" y="440"/>
                  </a:lnTo>
                  <a:lnTo>
                    <a:pt x="801" y="450"/>
                  </a:lnTo>
                  <a:lnTo>
                    <a:pt x="799" y="454"/>
                  </a:lnTo>
                  <a:lnTo>
                    <a:pt x="797" y="458"/>
                  </a:lnTo>
                  <a:lnTo>
                    <a:pt x="795" y="464"/>
                  </a:lnTo>
                  <a:lnTo>
                    <a:pt x="793" y="468"/>
                  </a:lnTo>
                  <a:lnTo>
                    <a:pt x="791" y="472"/>
                  </a:lnTo>
                  <a:lnTo>
                    <a:pt x="789" y="474"/>
                  </a:lnTo>
                  <a:lnTo>
                    <a:pt x="787" y="474"/>
                  </a:lnTo>
                  <a:lnTo>
                    <a:pt x="783" y="474"/>
                  </a:lnTo>
                  <a:lnTo>
                    <a:pt x="777" y="470"/>
                  </a:lnTo>
                  <a:lnTo>
                    <a:pt x="770" y="462"/>
                  </a:lnTo>
                  <a:lnTo>
                    <a:pt x="760" y="456"/>
                  </a:lnTo>
                  <a:lnTo>
                    <a:pt x="752" y="456"/>
                  </a:lnTo>
                  <a:lnTo>
                    <a:pt x="742" y="462"/>
                  </a:lnTo>
                  <a:lnTo>
                    <a:pt x="734" y="472"/>
                  </a:lnTo>
                  <a:lnTo>
                    <a:pt x="726" y="484"/>
                  </a:lnTo>
                  <a:lnTo>
                    <a:pt x="718" y="496"/>
                  </a:lnTo>
                  <a:lnTo>
                    <a:pt x="708" y="507"/>
                  </a:lnTo>
                  <a:lnTo>
                    <a:pt x="695" y="513"/>
                  </a:lnTo>
                  <a:lnTo>
                    <a:pt x="679" y="513"/>
                  </a:lnTo>
                  <a:lnTo>
                    <a:pt x="657" y="509"/>
                  </a:lnTo>
                  <a:lnTo>
                    <a:pt x="644" y="503"/>
                  </a:lnTo>
                  <a:lnTo>
                    <a:pt x="634" y="494"/>
                  </a:lnTo>
                  <a:lnTo>
                    <a:pt x="622" y="482"/>
                  </a:lnTo>
                  <a:lnTo>
                    <a:pt x="612" y="468"/>
                  </a:lnTo>
                  <a:lnTo>
                    <a:pt x="602" y="454"/>
                  </a:lnTo>
                  <a:lnTo>
                    <a:pt x="592" y="442"/>
                  </a:lnTo>
                  <a:lnTo>
                    <a:pt x="583" y="437"/>
                  </a:lnTo>
                  <a:lnTo>
                    <a:pt x="575" y="440"/>
                  </a:lnTo>
                  <a:lnTo>
                    <a:pt x="571" y="452"/>
                  </a:lnTo>
                  <a:lnTo>
                    <a:pt x="575" y="464"/>
                  </a:lnTo>
                  <a:lnTo>
                    <a:pt x="581" y="478"/>
                  </a:lnTo>
                  <a:lnTo>
                    <a:pt x="588" y="490"/>
                  </a:lnTo>
                  <a:lnTo>
                    <a:pt x="596" y="498"/>
                  </a:lnTo>
                  <a:lnTo>
                    <a:pt x="608" y="509"/>
                  </a:lnTo>
                  <a:lnTo>
                    <a:pt x="618" y="519"/>
                  </a:lnTo>
                  <a:lnTo>
                    <a:pt x="624" y="531"/>
                  </a:lnTo>
                  <a:lnTo>
                    <a:pt x="624" y="541"/>
                  </a:lnTo>
                  <a:lnTo>
                    <a:pt x="612" y="557"/>
                  </a:lnTo>
                  <a:lnTo>
                    <a:pt x="596" y="574"/>
                  </a:lnTo>
                  <a:lnTo>
                    <a:pt x="577" y="588"/>
                  </a:lnTo>
                  <a:lnTo>
                    <a:pt x="557" y="596"/>
                  </a:lnTo>
                  <a:lnTo>
                    <a:pt x="545" y="600"/>
                  </a:lnTo>
                  <a:lnTo>
                    <a:pt x="535" y="598"/>
                  </a:lnTo>
                  <a:lnTo>
                    <a:pt x="533" y="596"/>
                  </a:lnTo>
                  <a:lnTo>
                    <a:pt x="531" y="594"/>
                  </a:lnTo>
                  <a:lnTo>
                    <a:pt x="527" y="592"/>
                  </a:lnTo>
                  <a:lnTo>
                    <a:pt x="525" y="590"/>
                  </a:lnTo>
                  <a:lnTo>
                    <a:pt x="523" y="590"/>
                  </a:lnTo>
                  <a:lnTo>
                    <a:pt x="521" y="590"/>
                  </a:lnTo>
                  <a:lnTo>
                    <a:pt x="520" y="592"/>
                  </a:lnTo>
                  <a:lnTo>
                    <a:pt x="518" y="598"/>
                  </a:lnTo>
                  <a:lnTo>
                    <a:pt x="514" y="608"/>
                  </a:lnTo>
                  <a:lnTo>
                    <a:pt x="504" y="614"/>
                  </a:lnTo>
                  <a:lnTo>
                    <a:pt x="492" y="624"/>
                  </a:lnTo>
                  <a:lnTo>
                    <a:pt x="478" y="637"/>
                  </a:lnTo>
                  <a:lnTo>
                    <a:pt x="466" y="651"/>
                  </a:lnTo>
                  <a:lnTo>
                    <a:pt x="459" y="661"/>
                  </a:lnTo>
                  <a:lnTo>
                    <a:pt x="451" y="667"/>
                  </a:lnTo>
                  <a:lnTo>
                    <a:pt x="441" y="667"/>
                  </a:lnTo>
                  <a:lnTo>
                    <a:pt x="427" y="665"/>
                  </a:lnTo>
                  <a:lnTo>
                    <a:pt x="411" y="667"/>
                  </a:lnTo>
                  <a:lnTo>
                    <a:pt x="390" y="669"/>
                  </a:lnTo>
                  <a:lnTo>
                    <a:pt x="374" y="669"/>
                  </a:lnTo>
                  <a:lnTo>
                    <a:pt x="360" y="675"/>
                  </a:lnTo>
                  <a:lnTo>
                    <a:pt x="348" y="683"/>
                  </a:lnTo>
                  <a:lnTo>
                    <a:pt x="336" y="694"/>
                  </a:lnTo>
                  <a:lnTo>
                    <a:pt x="323" y="704"/>
                  </a:lnTo>
                  <a:lnTo>
                    <a:pt x="299" y="714"/>
                  </a:lnTo>
                  <a:lnTo>
                    <a:pt x="271" y="726"/>
                  </a:lnTo>
                  <a:lnTo>
                    <a:pt x="246" y="734"/>
                  </a:lnTo>
                  <a:lnTo>
                    <a:pt x="226" y="740"/>
                  </a:lnTo>
                  <a:lnTo>
                    <a:pt x="212" y="740"/>
                  </a:lnTo>
                  <a:lnTo>
                    <a:pt x="199" y="740"/>
                  </a:lnTo>
                  <a:lnTo>
                    <a:pt x="185" y="742"/>
                  </a:lnTo>
                  <a:lnTo>
                    <a:pt x="173" y="748"/>
                  </a:lnTo>
                  <a:lnTo>
                    <a:pt x="163" y="759"/>
                  </a:lnTo>
                  <a:lnTo>
                    <a:pt x="153" y="773"/>
                  </a:lnTo>
                  <a:lnTo>
                    <a:pt x="142" y="781"/>
                  </a:lnTo>
                  <a:lnTo>
                    <a:pt x="128" y="787"/>
                  </a:lnTo>
                  <a:lnTo>
                    <a:pt x="116" y="793"/>
                  </a:lnTo>
                  <a:lnTo>
                    <a:pt x="108" y="803"/>
                  </a:lnTo>
                  <a:lnTo>
                    <a:pt x="100" y="816"/>
                  </a:lnTo>
                  <a:lnTo>
                    <a:pt x="92" y="826"/>
                  </a:lnTo>
                  <a:lnTo>
                    <a:pt x="86" y="834"/>
                  </a:lnTo>
                  <a:lnTo>
                    <a:pt x="90" y="844"/>
                  </a:lnTo>
                  <a:lnTo>
                    <a:pt x="104" y="856"/>
                  </a:lnTo>
                  <a:lnTo>
                    <a:pt x="118" y="872"/>
                  </a:lnTo>
                  <a:lnTo>
                    <a:pt x="130" y="891"/>
                  </a:lnTo>
                  <a:lnTo>
                    <a:pt x="138" y="905"/>
                  </a:lnTo>
                  <a:lnTo>
                    <a:pt x="144" y="919"/>
                  </a:lnTo>
                  <a:lnTo>
                    <a:pt x="146" y="931"/>
                  </a:lnTo>
                  <a:lnTo>
                    <a:pt x="140" y="940"/>
                  </a:lnTo>
                  <a:lnTo>
                    <a:pt x="128" y="946"/>
                  </a:lnTo>
                  <a:lnTo>
                    <a:pt x="114" y="954"/>
                  </a:lnTo>
                  <a:lnTo>
                    <a:pt x="96" y="960"/>
                  </a:lnTo>
                  <a:lnTo>
                    <a:pt x="79" y="960"/>
                  </a:lnTo>
                  <a:lnTo>
                    <a:pt x="67" y="956"/>
                  </a:lnTo>
                  <a:lnTo>
                    <a:pt x="51" y="938"/>
                  </a:lnTo>
                  <a:lnTo>
                    <a:pt x="37" y="919"/>
                  </a:lnTo>
                  <a:lnTo>
                    <a:pt x="25" y="901"/>
                  </a:lnTo>
                  <a:lnTo>
                    <a:pt x="18" y="887"/>
                  </a:lnTo>
                  <a:lnTo>
                    <a:pt x="10" y="872"/>
                  </a:lnTo>
                  <a:lnTo>
                    <a:pt x="4" y="854"/>
                  </a:lnTo>
                  <a:lnTo>
                    <a:pt x="2" y="840"/>
                  </a:lnTo>
                  <a:lnTo>
                    <a:pt x="2" y="826"/>
                  </a:lnTo>
                  <a:lnTo>
                    <a:pt x="2" y="812"/>
                  </a:lnTo>
                  <a:lnTo>
                    <a:pt x="4" y="797"/>
                  </a:lnTo>
                  <a:lnTo>
                    <a:pt x="12" y="783"/>
                  </a:lnTo>
                  <a:lnTo>
                    <a:pt x="25" y="765"/>
                  </a:lnTo>
                  <a:lnTo>
                    <a:pt x="31" y="753"/>
                  </a:lnTo>
                  <a:lnTo>
                    <a:pt x="33" y="749"/>
                  </a:lnTo>
                  <a:lnTo>
                    <a:pt x="4" y="746"/>
                  </a:lnTo>
                  <a:lnTo>
                    <a:pt x="0" y="734"/>
                  </a:lnTo>
                  <a:lnTo>
                    <a:pt x="33" y="687"/>
                  </a:lnTo>
                  <a:lnTo>
                    <a:pt x="71" y="675"/>
                  </a:lnTo>
                  <a:lnTo>
                    <a:pt x="77" y="637"/>
                  </a:lnTo>
                  <a:lnTo>
                    <a:pt x="128" y="627"/>
                  </a:lnTo>
                  <a:lnTo>
                    <a:pt x="147" y="612"/>
                  </a:lnTo>
                  <a:lnTo>
                    <a:pt x="147" y="553"/>
                  </a:lnTo>
                  <a:lnTo>
                    <a:pt x="175" y="539"/>
                  </a:lnTo>
                  <a:lnTo>
                    <a:pt x="244" y="478"/>
                  </a:lnTo>
                  <a:lnTo>
                    <a:pt x="238" y="403"/>
                  </a:lnTo>
                  <a:lnTo>
                    <a:pt x="264" y="332"/>
                  </a:lnTo>
                  <a:lnTo>
                    <a:pt x="301" y="307"/>
                  </a:lnTo>
                  <a:lnTo>
                    <a:pt x="297" y="250"/>
                  </a:lnTo>
                  <a:lnTo>
                    <a:pt x="325" y="220"/>
                  </a:lnTo>
                  <a:lnTo>
                    <a:pt x="303" y="157"/>
                  </a:lnTo>
                  <a:lnTo>
                    <a:pt x="329" y="143"/>
                  </a:lnTo>
                  <a:lnTo>
                    <a:pt x="329" y="86"/>
                  </a:lnTo>
                  <a:lnTo>
                    <a:pt x="384" y="78"/>
                  </a:lnTo>
                  <a:lnTo>
                    <a:pt x="484" y="9"/>
                  </a:lnTo>
                  <a:lnTo>
                    <a:pt x="535" y="39"/>
                  </a:lnTo>
                  <a:lnTo>
                    <a:pt x="592" y="9"/>
                  </a:lnTo>
                  <a:lnTo>
                    <a:pt x="624" y="29"/>
                  </a:lnTo>
                  <a:lnTo>
                    <a:pt x="693" y="0"/>
                  </a:lnTo>
                  <a:lnTo>
                    <a:pt x="720" y="27"/>
                  </a:lnTo>
                  <a:lnTo>
                    <a:pt x="681" y="94"/>
                  </a:lnTo>
                  <a:lnTo>
                    <a:pt x="651" y="130"/>
                  </a:lnTo>
                  <a:lnTo>
                    <a:pt x="679" y="151"/>
                  </a:lnTo>
                  <a:lnTo>
                    <a:pt x="740" y="128"/>
                  </a:lnTo>
                  <a:lnTo>
                    <a:pt x="823" y="92"/>
                  </a:lnTo>
                  <a:lnTo>
                    <a:pt x="878" y="120"/>
                  </a:lnTo>
                  <a:lnTo>
                    <a:pt x="895" y="59"/>
                  </a:lnTo>
                  <a:lnTo>
                    <a:pt x="984" y="61"/>
                  </a:lnTo>
                  <a:lnTo>
                    <a:pt x="1053" y="96"/>
                  </a:lnTo>
                  <a:lnTo>
                    <a:pt x="1086" y="161"/>
                  </a:lnTo>
                  <a:lnTo>
                    <a:pt x="1110" y="216"/>
                  </a:lnTo>
                  <a:lnTo>
                    <a:pt x="1128" y="246"/>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4" name="Freeform 78"/>
            <p:cNvSpPr/>
            <p:nvPr/>
          </p:nvSpPr>
          <p:spPr bwMode="gray">
            <a:xfrm>
              <a:off x="3188" y="3319"/>
              <a:ext cx="564" cy="480"/>
            </a:xfrm>
            <a:custGeom>
              <a:avLst/>
              <a:gdLst>
                <a:gd name="T0" fmla="*/ 279 w 1128"/>
                <a:gd name="T1" fmla="*/ 62 h 960"/>
                <a:gd name="T2" fmla="*/ 272 w 1128"/>
                <a:gd name="T3" fmla="*/ 67 h 960"/>
                <a:gd name="T4" fmla="*/ 266 w 1128"/>
                <a:gd name="T5" fmla="*/ 77 h 960"/>
                <a:gd name="T6" fmla="*/ 261 w 1128"/>
                <a:gd name="T7" fmla="*/ 87 h 960"/>
                <a:gd name="T8" fmla="*/ 254 w 1128"/>
                <a:gd name="T9" fmla="*/ 97 h 960"/>
                <a:gd name="T10" fmla="*/ 241 w 1128"/>
                <a:gd name="T11" fmla="*/ 103 h 960"/>
                <a:gd name="T12" fmla="*/ 230 w 1128"/>
                <a:gd name="T13" fmla="*/ 104 h 960"/>
                <a:gd name="T14" fmla="*/ 216 w 1128"/>
                <a:gd name="T15" fmla="*/ 103 h 960"/>
                <a:gd name="T16" fmla="*/ 203 w 1128"/>
                <a:gd name="T17" fmla="*/ 110 h 960"/>
                <a:gd name="T18" fmla="*/ 199 w 1128"/>
                <a:gd name="T19" fmla="*/ 115 h 960"/>
                <a:gd name="T20" fmla="*/ 198 w 1128"/>
                <a:gd name="T21" fmla="*/ 118 h 960"/>
                <a:gd name="T22" fmla="*/ 196 w 1128"/>
                <a:gd name="T23" fmla="*/ 119 h 960"/>
                <a:gd name="T24" fmla="*/ 190 w 1128"/>
                <a:gd name="T25" fmla="*/ 114 h 960"/>
                <a:gd name="T26" fmla="*/ 183 w 1128"/>
                <a:gd name="T27" fmla="*/ 118 h 960"/>
                <a:gd name="T28" fmla="*/ 177 w 1128"/>
                <a:gd name="T29" fmla="*/ 127 h 960"/>
                <a:gd name="T30" fmla="*/ 164 w 1128"/>
                <a:gd name="T31" fmla="*/ 127 h 960"/>
                <a:gd name="T32" fmla="*/ 155 w 1128"/>
                <a:gd name="T33" fmla="*/ 120 h 960"/>
                <a:gd name="T34" fmla="*/ 148 w 1128"/>
                <a:gd name="T35" fmla="*/ 111 h 960"/>
                <a:gd name="T36" fmla="*/ 143 w 1128"/>
                <a:gd name="T37" fmla="*/ 113 h 960"/>
                <a:gd name="T38" fmla="*/ 147 w 1128"/>
                <a:gd name="T39" fmla="*/ 122 h 960"/>
                <a:gd name="T40" fmla="*/ 154 w 1128"/>
                <a:gd name="T41" fmla="*/ 130 h 960"/>
                <a:gd name="T42" fmla="*/ 153 w 1128"/>
                <a:gd name="T43" fmla="*/ 140 h 960"/>
                <a:gd name="T44" fmla="*/ 140 w 1128"/>
                <a:gd name="T45" fmla="*/ 149 h 960"/>
                <a:gd name="T46" fmla="*/ 134 w 1128"/>
                <a:gd name="T47" fmla="*/ 149 h 960"/>
                <a:gd name="T48" fmla="*/ 132 w 1128"/>
                <a:gd name="T49" fmla="*/ 148 h 960"/>
                <a:gd name="T50" fmla="*/ 130 w 1128"/>
                <a:gd name="T51" fmla="*/ 148 h 960"/>
                <a:gd name="T52" fmla="*/ 126 w 1128"/>
                <a:gd name="T53" fmla="*/ 154 h 960"/>
                <a:gd name="T54" fmla="*/ 116 w 1128"/>
                <a:gd name="T55" fmla="*/ 163 h 960"/>
                <a:gd name="T56" fmla="*/ 110 w 1128"/>
                <a:gd name="T57" fmla="*/ 167 h 960"/>
                <a:gd name="T58" fmla="*/ 97 w 1128"/>
                <a:gd name="T59" fmla="*/ 168 h 960"/>
                <a:gd name="T60" fmla="*/ 87 w 1128"/>
                <a:gd name="T61" fmla="*/ 171 h 960"/>
                <a:gd name="T62" fmla="*/ 75 w 1128"/>
                <a:gd name="T63" fmla="*/ 179 h 960"/>
                <a:gd name="T64" fmla="*/ 56 w 1128"/>
                <a:gd name="T65" fmla="*/ 185 h 960"/>
                <a:gd name="T66" fmla="*/ 46 w 1128"/>
                <a:gd name="T67" fmla="*/ 186 h 960"/>
                <a:gd name="T68" fmla="*/ 38 w 1128"/>
                <a:gd name="T69" fmla="*/ 194 h 960"/>
                <a:gd name="T70" fmla="*/ 29 w 1128"/>
                <a:gd name="T71" fmla="*/ 199 h 960"/>
                <a:gd name="T72" fmla="*/ 23 w 1128"/>
                <a:gd name="T73" fmla="*/ 207 h 960"/>
                <a:gd name="T74" fmla="*/ 26 w 1128"/>
                <a:gd name="T75" fmla="*/ 214 h 960"/>
                <a:gd name="T76" fmla="*/ 35 w 1128"/>
                <a:gd name="T77" fmla="*/ 227 h 960"/>
                <a:gd name="T78" fmla="*/ 35 w 1128"/>
                <a:gd name="T79" fmla="*/ 235 h 960"/>
                <a:gd name="T80" fmla="*/ 24 w 1128"/>
                <a:gd name="T81" fmla="*/ 240 h 960"/>
                <a:gd name="T82" fmla="*/ 13 w 1128"/>
                <a:gd name="T83" fmla="*/ 235 h 960"/>
                <a:gd name="T84" fmla="*/ 4 w 1128"/>
                <a:gd name="T85" fmla="*/ 222 h 960"/>
                <a:gd name="T86" fmla="*/ 1 w 1128"/>
                <a:gd name="T87" fmla="*/ 210 h 960"/>
                <a:gd name="T88" fmla="*/ 1 w 1128"/>
                <a:gd name="T89" fmla="*/ 200 h 960"/>
                <a:gd name="T90" fmla="*/ 8 w 1128"/>
                <a:gd name="T91" fmla="*/ 189 h 960"/>
                <a:gd name="T92" fmla="*/ 0 w 1128"/>
                <a:gd name="T93" fmla="*/ 184 h 960"/>
                <a:gd name="T94" fmla="*/ 19 w 1128"/>
                <a:gd name="T95" fmla="*/ 160 h 960"/>
                <a:gd name="T96" fmla="*/ 37 w 1128"/>
                <a:gd name="T97" fmla="*/ 139 h 960"/>
                <a:gd name="T98" fmla="*/ 59 w 1128"/>
                <a:gd name="T99" fmla="*/ 101 h 960"/>
                <a:gd name="T100" fmla="*/ 74 w 1128"/>
                <a:gd name="T101" fmla="*/ 62 h 960"/>
                <a:gd name="T102" fmla="*/ 82 w 1128"/>
                <a:gd name="T103" fmla="*/ 36 h 960"/>
                <a:gd name="T104" fmla="*/ 121 w 1128"/>
                <a:gd name="T105" fmla="*/ 3 h 960"/>
                <a:gd name="T106" fmla="*/ 156 w 1128"/>
                <a:gd name="T107" fmla="*/ 8 h 960"/>
                <a:gd name="T108" fmla="*/ 170 w 1128"/>
                <a:gd name="T109" fmla="*/ 24 h 960"/>
                <a:gd name="T110" fmla="*/ 185 w 1128"/>
                <a:gd name="T111" fmla="*/ 32 h 960"/>
                <a:gd name="T112" fmla="*/ 224 w 1128"/>
                <a:gd name="T113" fmla="*/ 15 h 960"/>
                <a:gd name="T114" fmla="*/ 272 w 1128"/>
                <a:gd name="T115" fmla="*/ 41 h 9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8"/>
                <a:gd name="T175" fmla="*/ 0 h 960"/>
                <a:gd name="T176" fmla="*/ 1128 w 1128"/>
                <a:gd name="T177" fmla="*/ 960 h 9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8" h="960">
                  <a:moveTo>
                    <a:pt x="1128" y="246"/>
                  </a:moveTo>
                  <a:lnTo>
                    <a:pt x="1124" y="248"/>
                  </a:lnTo>
                  <a:lnTo>
                    <a:pt x="1116" y="250"/>
                  </a:lnTo>
                  <a:lnTo>
                    <a:pt x="1104" y="254"/>
                  </a:lnTo>
                  <a:lnTo>
                    <a:pt x="1094" y="259"/>
                  </a:lnTo>
                  <a:lnTo>
                    <a:pt x="1088" y="265"/>
                  </a:lnTo>
                  <a:lnTo>
                    <a:pt x="1083" y="275"/>
                  </a:lnTo>
                  <a:lnTo>
                    <a:pt x="1075" y="289"/>
                  </a:lnTo>
                  <a:lnTo>
                    <a:pt x="1063" y="305"/>
                  </a:lnTo>
                  <a:lnTo>
                    <a:pt x="1055" y="318"/>
                  </a:lnTo>
                  <a:lnTo>
                    <a:pt x="1047" y="332"/>
                  </a:lnTo>
                  <a:lnTo>
                    <a:pt x="1043" y="348"/>
                  </a:lnTo>
                  <a:lnTo>
                    <a:pt x="1037" y="362"/>
                  </a:lnTo>
                  <a:lnTo>
                    <a:pt x="1029" y="376"/>
                  </a:lnTo>
                  <a:lnTo>
                    <a:pt x="1016" y="387"/>
                  </a:lnTo>
                  <a:lnTo>
                    <a:pt x="1002" y="395"/>
                  </a:lnTo>
                  <a:lnTo>
                    <a:pt x="984" y="403"/>
                  </a:lnTo>
                  <a:lnTo>
                    <a:pt x="966" y="411"/>
                  </a:lnTo>
                  <a:lnTo>
                    <a:pt x="949" y="417"/>
                  </a:lnTo>
                  <a:lnTo>
                    <a:pt x="937" y="419"/>
                  </a:lnTo>
                  <a:lnTo>
                    <a:pt x="921" y="415"/>
                  </a:lnTo>
                  <a:lnTo>
                    <a:pt x="903" y="411"/>
                  </a:lnTo>
                  <a:lnTo>
                    <a:pt x="884" y="409"/>
                  </a:lnTo>
                  <a:lnTo>
                    <a:pt x="864" y="411"/>
                  </a:lnTo>
                  <a:lnTo>
                    <a:pt x="846" y="419"/>
                  </a:lnTo>
                  <a:lnTo>
                    <a:pt x="829" y="431"/>
                  </a:lnTo>
                  <a:lnTo>
                    <a:pt x="813" y="440"/>
                  </a:lnTo>
                  <a:lnTo>
                    <a:pt x="801" y="450"/>
                  </a:lnTo>
                  <a:lnTo>
                    <a:pt x="799" y="454"/>
                  </a:lnTo>
                  <a:lnTo>
                    <a:pt x="797" y="458"/>
                  </a:lnTo>
                  <a:lnTo>
                    <a:pt x="795" y="464"/>
                  </a:lnTo>
                  <a:lnTo>
                    <a:pt x="793" y="468"/>
                  </a:lnTo>
                  <a:lnTo>
                    <a:pt x="791" y="472"/>
                  </a:lnTo>
                  <a:lnTo>
                    <a:pt x="789" y="474"/>
                  </a:lnTo>
                  <a:lnTo>
                    <a:pt x="787" y="474"/>
                  </a:lnTo>
                  <a:lnTo>
                    <a:pt x="783" y="474"/>
                  </a:lnTo>
                  <a:lnTo>
                    <a:pt x="777" y="470"/>
                  </a:lnTo>
                  <a:lnTo>
                    <a:pt x="770" y="462"/>
                  </a:lnTo>
                  <a:lnTo>
                    <a:pt x="760" y="456"/>
                  </a:lnTo>
                  <a:lnTo>
                    <a:pt x="752" y="456"/>
                  </a:lnTo>
                  <a:lnTo>
                    <a:pt x="742" y="462"/>
                  </a:lnTo>
                  <a:lnTo>
                    <a:pt x="734" y="472"/>
                  </a:lnTo>
                  <a:lnTo>
                    <a:pt x="726" y="484"/>
                  </a:lnTo>
                  <a:lnTo>
                    <a:pt x="718" y="496"/>
                  </a:lnTo>
                  <a:lnTo>
                    <a:pt x="708" y="507"/>
                  </a:lnTo>
                  <a:lnTo>
                    <a:pt x="695" y="513"/>
                  </a:lnTo>
                  <a:lnTo>
                    <a:pt x="679" y="513"/>
                  </a:lnTo>
                  <a:lnTo>
                    <a:pt x="657" y="509"/>
                  </a:lnTo>
                  <a:lnTo>
                    <a:pt x="644" y="503"/>
                  </a:lnTo>
                  <a:lnTo>
                    <a:pt x="634" y="494"/>
                  </a:lnTo>
                  <a:lnTo>
                    <a:pt x="622" y="482"/>
                  </a:lnTo>
                  <a:lnTo>
                    <a:pt x="612" y="468"/>
                  </a:lnTo>
                  <a:lnTo>
                    <a:pt x="602" y="454"/>
                  </a:lnTo>
                  <a:lnTo>
                    <a:pt x="592" y="442"/>
                  </a:lnTo>
                  <a:lnTo>
                    <a:pt x="583" y="437"/>
                  </a:lnTo>
                  <a:lnTo>
                    <a:pt x="575" y="440"/>
                  </a:lnTo>
                  <a:lnTo>
                    <a:pt x="571" y="452"/>
                  </a:lnTo>
                  <a:lnTo>
                    <a:pt x="575" y="464"/>
                  </a:lnTo>
                  <a:lnTo>
                    <a:pt x="581" y="478"/>
                  </a:lnTo>
                  <a:lnTo>
                    <a:pt x="588" y="490"/>
                  </a:lnTo>
                  <a:lnTo>
                    <a:pt x="596" y="498"/>
                  </a:lnTo>
                  <a:lnTo>
                    <a:pt x="608" y="509"/>
                  </a:lnTo>
                  <a:lnTo>
                    <a:pt x="618" y="519"/>
                  </a:lnTo>
                  <a:lnTo>
                    <a:pt x="624" y="531"/>
                  </a:lnTo>
                  <a:lnTo>
                    <a:pt x="624" y="541"/>
                  </a:lnTo>
                  <a:lnTo>
                    <a:pt x="612" y="557"/>
                  </a:lnTo>
                  <a:lnTo>
                    <a:pt x="596" y="574"/>
                  </a:lnTo>
                  <a:lnTo>
                    <a:pt x="577" y="588"/>
                  </a:lnTo>
                  <a:lnTo>
                    <a:pt x="557" y="596"/>
                  </a:lnTo>
                  <a:lnTo>
                    <a:pt x="545" y="600"/>
                  </a:lnTo>
                  <a:lnTo>
                    <a:pt x="535" y="598"/>
                  </a:lnTo>
                  <a:lnTo>
                    <a:pt x="533" y="596"/>
                  </a:lnTo>
                  <a:lnTo>
                    <a:pt x="531" y="594"/>
                  </a:lnTo>
                  <a:lnTo>
                    <a:pt x="527" y="592"/>
                  </a:lnTo>
                  <a:lnTo>
                    <a:pt x="525" y="590"/>
                  </a:lnTo>
                  <a:lnTo>
                    <a:pt x="523" y="590"/>
                  </a:lnTo>
                  <a:lnTo>
                    <a:pt x="521" y="590"/>
                  </a:lnTo>
                  <a:lnTo>
                    <a:pt x="520" y="592"/>
                  </a:lnTo>
                  <a:lnTo>
                    <a:pt x="518" y="598"/>
                  </a:lnTo>
                  <a:lnTo>
                    <a:pt x="514" y="608"/>
                  </a:lnTo>
                  <a:lnTo>
                    <a:pt x="504" y="614"/>
                  </a:lnTo>
                  <a:lnTo>
                    <a:pt x="492" y="624"/>
                  </a:lnTo>
                  <a:lnTo>
                    <a:pt x="478" y="637"/>
                  </a:lnTo>
                  <a:lnTo>
                    <a:pt x="466" y="651"/>
                  </a:lnTo>
                  <a:lnTo>
                    <a:pt x="459" y="661"/>
                  </a:lnTo>
                  <a:lnTo>
                    <a:pt x="451" y="667"/>
                  </a:lnTo>
                  <a:lnTo>
                    <a:pt x="441" y="667"/>
                  </a:lnTo>
                  <a:lnTo>
                    <a:pt x="427" y="665"/>
                  </a:lnTo>
                  <a:lnTo>
                    <a:pt x="411" y="667"/>
                  </a:lnTo>
                  <a:lnTo>
                    <a:pt x="390" y="669"/>
                  </a:lnTo>
                  <a:lnTo>
                    <a:pt x="374" y="669"/>
                  </a:lnTo>
                  <a:lnTo>
                    <a:pt x="360" y="675"/>
                  </a:lnTo>
                  <a:lnTo>
                    <a:pt x="348" y="683"/>
                  </a:lnTo>
                  <a:lnTo>
                    <a:pt x="336" y="694"/>
                  </a:lnTo>
                  <a:lnTo>
                    <a:pt x="323" y="704"/>
                  </a:lnTo>
                  <a:lnTo>
                    <a:pt x="299" y="714"/>
                  </a:lnTo>
                  <a:lnTo>
                    <a:pt x="271" y="726"/>
                  </a:lnTo>
                  <a:lnTo>
                    <a:pt x="246" y="734"/>
                  </a:lnTo>
                  <a:lnTo>
                    <a:pt x="226" y="740"/>
                  </a:lnTo>
                  <a:lnTo>
                    <a:pt x="212" y="740"/>
                  </a:lnTo>
                  <a:lnTo>
                    <a:pt x="199" y="740"/>
                  </a:lnTo>
                  <a:lnTo>
                    <a:pt x="185" y="742"/>
                  </a:lnTo>
                  <a:lnTo>
                    <a:pt x="173" y="748"/>
                  </a:lnTo>
                  <a:lnTo>
                    <a:pt x="163" y="759"/>
                  </a:lnTo>
                  <a:lnTo>
                    <a:pt x="153" y="773"/>
                  </a:lnTo>
                  <a:lnTo>
                    <a:pt x="142" y="781"/>
                  </a:lnTo>
                  <a:lnTo>
                    <a:pt x="128" y="787"/>
                  </a:lnTo>
                  <a:lnTo>
                    <a:pt x="116" y="793"/>
                  </a:lnTo>
                  <a:lnTo>
                    <a:pt x="108" y="803"/>
                  </a:lnTo>
                  <a:lnTo>
                    <a:pt x="100" y="816"/>
                  </a:lnTo>
                  <a:lnTo>
                    <a:pt x="92" y="826"/>
                  </a:lnTo>
                  <a:lnTo>
                    <a:pt x="86" y="834"/>
                  </a:lnTo>
                  <a:lnTo>
                    <a:pt x="90" y="844"/>
                  </a:lnTo>
                  <a:lnTo>
                    <a:pt x="104" y="856"/>
                  </a:lnTo>
                  <a:lnTo>
                    <a:pt x="118" y="872"/>
                  </a:lnTo>
                  <a:lnTo>
                    <a:pt x="130" y="891"/>
                  </a:lnTo>
                  <a:lnTo>
                    <a:pt x="138" y="905"/>
                  </a:lnTo>
                  <a:lnTo>
                    <a:pt x="144" y="919"/>
                  </a:lnTo>
                  <a:lnTo>
                    <a:pt x="146" y="931"/>
                  </a:lnTo>
                  <a:lnTo>
                    <a:pt x="140" y="940"/>
                  </a:lnTo>
                  <a:lnTo>
                    <a:pt x="128" y="946"/>
                  </a:lnTo>
                  <a:lnTo>
                    <a:pt x="114" y="954"/>
                  </a:lnTo>
                  <a:lnTo>
                    <a:pt x="96" y="960"/>
                  </a:lnTo>
                  <a:lnTo>
                    <a:pt x="79" y="960"/>
                  </a:lnTo>
                  <a:lnTo>
                    <a:pt x="67" y="956"/>
                  </a:lnTo>
                  <a:lnTo>
                    <a:pt x="51" y="938"/>
                  </a:lnTo>
                  <a:lnTo>
                    <a:pt x="37" y="919"/>
                  </a:lnTo>
                  <a:lnTo>
                    <a:pt x="25" y="901"/>
                  </a:lnTo>
                  <a:lnTo>
                    <a:pt x="18" y="887"/>
                  </a:lnTo>
                  <a:lnTo>
                    <a:pt x="10" y="872"/>
                  </a:lnTo>
                  <a:lnTo>
                    <a:pt x="4" y="854"/>
                  </a:lnTo>
                  <a:lnTo>
                    <a:pt x="2" y="840"/>
                  </a:lnTo>
                  <a:lnTo>
                    <a:pt x="2" y="826"/>
                  </a:lnTo>
                  <a:lnTo>
                    <a:pt x="2" y="812"/>
                  </a:lnTo>
                  <a:lnTo>
                    <a:pt x="4" y="797"/>
                  </a:lnTo>
                  <a:lnTo>
                    <a:pt x="12" y="783"/>
                  </a:lnTo>
                  <a:lnTo>
                    <a:pt x="25" y="765"/>
                  </a:lnTo>
                  <a:lnTo>
                    <a:pt x="31" y="753"/>
                  </a:lnTo>
                  <a:lnTo>
                    <a:pt x="33" y="749"/>
                  </a:lnTo>
                  <a:lnTo>
                    <a:pt x="4" y="746"/>
                  </a:lnTo>
                  <a:lnTo>
                    <a:pt x="0" y="734"/>
                  </a:lnTo>
                  <a:lnTo>
                    <a:pt x="33" y="687"/>
                  </a:lnTo>
                  <a:lnTo>
                    <a:pt x="71" y="675"/>
                  </a:lnTo>
                  <a:lnTo>
                    <a:pt x="77" y="637"/>
                  </a:lnTo>
                  <a:lnTo>
                    <a:pt x="128" y="627"/>
                  </a:lnTo>
                  <a:lnTo>
                    <a:pt x="147" y="612"/>
                  </a:lnTo>
                  <a:lnTo>
                    <a:pt x="147" y="553"/>
                  </a:lnTo>
                  <a:lnTo>
                    <a:pt x="175" y="539"/>
                  </a:lnTo>
                  <a:lnTo>
                    <a:pt x="244" y="478"/>
                  </a:lnTo>
                  <a:lnTo>
                    <a:pt x="238" y="403"/>
                  </a:lnTo>
                  <a:lnTo>
                    <a:pt x="264" y="332"/>
                  </a:lnTo>
                  <a:lnTo>
                    <a:pt x="301" y="307"/>
                  </a:lnTo>
                  <a:lnTo>
                    <a:pt x="297" y="250"/>
                  </a:lnTo>
                  <a:lnTo>
                    <a:pt x="325" y="220"/>
                  </a:lnTo>
                  <a:lnTo>
                    <a:pt x="303" y="157"/>
                  </a:lnTo>
                  <a:lnTo>
                    <a:pt x="329" y="143"/>
                  </a:lnTo>
                  <a:lnTo>
                    <a:pt x="329" y="86"/>
                  </a:lnTo>
                  <a:lnTo>
                    <a:pt x="384" y="78"/>
                  </a:lnTo>
                  <a:lnTo>
                    <a:pt x="484" y="9"/>
                  </a:lnTo>
                  <a:lnTo>
                    <a:pt x="535" y="39"/>
                  </a:lnTo>
                  <a:lnTo>
                    <a:pt x="592" y="9"/>
                  </a:lnTo>
                  <a:lnTo>
                    <a:pt x="624" y="29"/>
                  </a:lnTo>
                  <a:lnTo>
                    <a:pt x="693" y="0"/>
                  </a:lnTo>
                  <a:lnTo>
                    <a:pt x="720" y="27"/>
                  </a:lnTo>
                  <a:lnTo>
                    <a:pt x="681" y="94"/>
                  </a:lnTo>
                  <a:lnTo>
                    <a:pt x="651" y="130"/>
                  </a:lnTo>
                  <a:lnTo>
                    <a:pt x="679" y="151"/>
                  </a:lnTo>
                  <a:lnTo>
                    <a:pt x="740" y="128"/>
                  </a:lnTo>
                  <a:lnTo>
                    <a:pt x="823" y="92"/>
                  </a:lnTo>
                  <a:lnTo>
                    <a:pt x="878" y="120"/>
                  </a:lnTo>
                  <a:lnTo>
                    <a:pt x="895" y="59"/>
                  </a:lnTo>
                  <a:lnTo>
                    <a:pt x="984" y="61"/>
                  </a:lnTo>
                  <a:lnTo>
                    <a:pt x="1053" y="96"/>
                  </a:lnTo>
                  <a:lnTo>
                    <a:pt x="1086" y="161"/>
                  </a:lnTo>
                  <a:lnTo>
                    <a:pt x="1110" y="216"/>
                  </a:lnTo>
                  <a:lnTo>
                    <a:pt x="1128" y="246"/>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5" name="Freeform 79"/>
            <p:cNvSpPr/>
            <p:nvPr/>
          </p:nvSpPr>
          <p:spPr bwMode="gray">
            <a:xfrm>
              <a:off x="3636" y="3029"/>
              <a:ext cx="313" cy="413"/>
            </a:xfrm>
            <a:custGeom>
              <a:avLst/>
              <a:gdLst>
                <a:gd name="T0" fmla="*/ 156 w 626"/>
                <a:gd name="T1" fmla="*/ 31 h 825"/>
                <a:gd name="T2" fmla="*/ 154 w 626"/>
                <a:gd name="T3" fmla="*/ 37 h 825"/>
                <a:gd name="T4" fmla="*/ 152 w 626"/>
                <a:gd name="T5" fmla="*/ 44 h 825"/>
                <a:gd name="T6" fmla="*/ 146 w 626"/>
                <a:gd name="T7" fmla="*/ 52 h 825"/>
                <a:gd name="T8" fmla="*/ 138 w 626"/>
                <a:gd name="T9" fmla="*/ 57 h 825"/>
                <a:gd name="T10" fmla="*/ 131 w 626"/>
                <a:gd name="T11" fmla="*/ 61 h 825"/>
                <a:gd name="T12" fmla="*/ 130 w 626"/>
                <a:gd name="T13" fmla="*/ 62 h 825"/>
                <a:gd name="T14" fmla="*/ 132 w 626"/>
                <a:gd name="T15" fmla="*/ 68 h 825"/>
                <a:gd name="T16" fmla="*/ 135 w 626"/>
                <a:gd name="T17" fmla="*/ 75 h 825"/>
                <a:gd name="T18" fmla="*/ 136 w 626"/>
                <a:gd name="T19" fmla="*/ 81 h 825"/>
                <a:gd name="T20" fmla="*/ 136 w 626"/>
                <a:gd name="T21" fmla="*/ 89 h 825"/>
                <a:gd name="T22" fmla="*/ 137 w 626"/>
                <a:gd name="T23" fmla="*/ 95 h 825"/>
                <a:gd name="T24" fmla="*/ 138 w 626"/>
                <a:gd name="T25" fmla="*/ 104 h 825"/>
                <a:gd name="T26" fmla="*/ 131 w 626"/>
                <a:gd name="T27" fmla="*/ 112 h 825"/>
                <a:gd name="T28" fmla="*/ 122 w 626"/>
                <a:gd name="T29" fmla="*/ 120 h 825"/>
                <a:gd name="T30" fmla="*/ 117 w 626"/>
                <a:gd name="T31" fmla="*/ 131 h 825"/>
                <a:gd name="T32" fmla="*/ 115 w 626"/>
                <a:gd name="T33" fmla="*/ 142 h 825"/>
                <a:gd name="T34" fmla="*/ 110 w 626"/>
                <a:gd name="T35" fmla="*/ 151 h 825"/>
                <a:gd name="T36" fmla="*/ 103 w 626"/>
                <a:gd name="T37" fmla="*/ 156 h 825"/>
                <a:gd name="T38" fmla="*/ 94 w 626"/>
                <a:gd name="T39" fmla="*/ 158 h 825"/>
                <a:gd name="T40" fmla="*/ 86 w 626"/>
                <a:gd name="T41" fmla="*/ 161 h 825"/>
                <a:gd name="T42" fmla="*/ 85 w 626"/>
                <a:gd name="T43" fmla="*/ 165 h 825"/>
                <a:gd name="T44" fmla="*/ 89 w 626"/>
                <a:gd name="T45" fmla="*/ 171 h 825"/>
                <a:gd name="T46" fmla="*/ 90 w 626"/>
                <a:gd name="T47" fmla="*/ 176 h 825"/>
                <a:gd name="T48" fmla="*/ 86 w 626"/>
                <a:gd name="T49" fmla="*/ 182 h 825"/>
                <a:gd name="T50" fmla="*/ 80 w 626"/>
                <a:gd name="T51" fmla="*/ 189 h 825"/>
                <a:gd name="T52" fmla="*/ 76 w 626"/>
                <a:gd name="T53" fmla="*/ 193 h 825"/>
                <a:gd name="T54" fmla="*/ 69 w 626"/>
                <a:gd name="T55" fmla="*/ 199 h 825"/>
                <a:gd name="T56" fmla="*/ 61 w 626"/>
                <a:gd name="T57" fmla="*/ 204 h 825"/>
                <a:gd name="T58" fmla="*/ 58 w 626"/>
                <a:gd name="T59" fmla="*/ 207 h 825"/>
                <a:gd name="T60" fmla="*/ 48 w 626"/>
                <a:gd name="T61" fmla="*/ 185 h 825"/>
                <a:gd name="T62" fmla="*/ 22 w 626"/>
                <a:gd name="T63" fmla="*/ 161 h 825"/>
                <a:gd name="T64" fmla="*/ 0 w 626"/>
                <a:gd name="T65" fmla="*/ 146 h 825"/>
                <a:gd name="T66" fmla="*/ 15 w 626"/>
                <a:gd name="T67" fmla="*/ 107 h 825"/>
                <a:gd name="T68" fmla="*/ 20 w 626"/>
                <a:gd name="T69" fmla="*/ 88 h 825"/>
                <a:gd name="T70" fmla="*/ 18 w 626"/>
                <a:gd name="T71" fmla="*/ 67 h 825"/>
                <a:gd name="T72" fmla="*/ 34 w 626"/>
                <a:gd name="T73" fmla="*/ 43 h 825"/>
                <a:gd name="T74" fmla="*/ 42 w 626"/>
                <a:gd name="T75" fmla="*/ 24 h 825"/>
                <a:gd name="T76" fmla="*/ 63 w 626"/>
                <a:gd name="T77" fmla="*/ 17 h 825"/>
                <a:gd name="T78" fmla="*/ 75 w 626"/>
                <a:gd name="T79" fmla="*/ 1 h 825"/>
                <a:gd name="T80" fmla="*/ 92 w 626"/>
                <a:gd name="T81" fmla="*/ 14 h 825"/>
                <a:gd name="T82" fmla="*/ 114 w 626"/>
                <a:gd name="T83" fmla="*/ 32 h 825"/>
                <a:gd name="T84" fmla="*/ 135 w 626"/>
                <a:gd name="T85" fmla="*/ 32 h 825"/>
                <a:gd name="T86" fmla="*/ 151 w 626"/>
                <a:gd name="T87" fmla="*/ 25 h 82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26"/>
                <a:gd name="T133" fmla="*/ 0 h 825"/>
                <a:gd name="T134" fmla="*/ 626 w 626"/>
                <a:gd name="T135" fmla="*/ 825 h 82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26" h="825">
                  <a:moveTo>
                    <a:pt x="626" y="122"/>
                  </a:moveTo>
                  <a:lnTo>
                    <a:pt x="624" y="124"/>
                  </a:lnTo>
                  <a:lnTo>
                    <a:pt x="621" y="134"/>
                  </a:lnTo>
                  <a:lnTo>
                    <a:pt x="615" y="146"/>
                  </a:lnTo>
                  <a:lnTo>
                    <a:pt x="613" y="159"/>
                  </a:lnTo>
                  <a:lnTo>
                    <a:pt x="607" y="173"/>
                  </a:lnTo>
                  <a:lnTo>
                    <a:pt x="597" y="189"/>
                  </a:lnTo>
                  <a:lnTo>
                    <a:pt x="581" y="205"/>
                  </a:lnTo>
                  <a:lnTo>
                    <a:pt x="565" y="216"/>
                  </a:lnTo>
                  <a:lnTo>
                    <a:pt x="550" y="228"/>
                  </a:lnTo>
                  <a:lnTo>
                    <a:pt x="534" y="236"/>
                  </a:lnTo>
                  <a:lnTo>
                    <a:pt x="524" y="242"/>
                  </a:lnTo>
                  <a:lnTo>
                    <a:pt x="520" y="244"/>
                  </a:lnTo>
                  <a:lnTo>
                    <a:pt x="520" y="248"/>
                  </a:lnTo>
                  <a:lnTo>
                    <a:pt x="524" y="258"/>
                  </a:lnTo>
                  <a:lnTo>
                    <a:pt x="528" y="272"/>
                  </a:lnTo>
                  <a:lnTo>
                    <a:pt x="532" y="285"/>
                  </a:lnTo>
                  <a:lnTo>
                    <a:pt x="538" y="299"/>
                  </a:lnTo>
                  <a:lnTo>
                    <a:pt x="542" y="309"/>
                  </a:lnTo>
                  <a:lnTo>
                    <a:pt x="544" y="321"/>
                  </a:lnTo>
                  <a:lnTo>
                    <a:pt x="546" y="339"/>
                  </a:lnTo>
                  <a:lnTo>
                    <a:pt x="544" y="354"/>
                  </a:lnTo>
                  <a:lnTo>
                    <a:pt x="544" y="368"/>
                  </a:lnTo>
                  <a:lnTo>
                    <a:pt x="548" y="380"/>
                  </a:lnTo>
                  <a:lnTo>
                    <a:pt x="550" y="396"/>
                  </a:lnTo>
                  <a:lnTo>
                    <a:pt x="550" y="413"/>
                  </a:lnTo>
                  <a:lnTo>
                    <a:pt x="540" y="429"/>
                  </a:lnTo>
                  <a:lnTo>
                    <a:pt x="522" y="447"/>
                  </a:lnTo>
                  <a:lnTo>
                    <a:pt x="504" y="462"/>
                  </a:lnTo>
                  <a:lnTo>
                    <a:pt x="489" y="480"/>
                  </a:lnTo>
                  <a:lnTo>
                    <a:pt x="479" y="494"/>
                  </a:lnTo>
                  <a:lnTo>
                    <a:pt x="469" y="522"/>
                  </a:lnTo>
                  <a:lnTo>
                    <a:pt x="463" y="549"/>
                  </a:lnTo>
                  <a:lnTo>
                    <a:pt x="459" y="565"/>
                  </a:lnTo>
                  <a:lnTo>
                    <a:pt x="451" y="585"/>
                  </a:lnTo>
                  <a:lnTo>
                    <a:pt x="441" y="602"/>
                  </a:lnTo>
                  <a:lnTo>
                    <a:pt x="428" y="618"/>
                  </a:lnTo>
                  <a:lnTo>
                    <a:pt x="414" y="624"/>
                  </a:lnTo>
                  <a:lnTo>
                    <a:pt x="396" y="630"/>
                  </a:lnTo>
                  <a:lnTo>
                    <a:pt x="376" y="632"/>
                  </a:lnTo>
                  <a:lnTo>
                    <a:pt x="359" y="636"/>
                  </a:lnTo>
                  <a:lnTo>
                    <a:pt x="345" y="642"/>
                  </a:lnTo>
                  <a:lnTo>
                    <a:pt x="337" y="648"/>
                  </a:lnTo>
                  <a:lnTo>
                    <a:pt x="339" y="659"/>
                  </a:lnTo>
                  <a:lnTo>
                    <a:pt x="347" y="669"/>
                  </a:lnTo>
                  <a:lnTo>
                    <a:pt x="357" y="681"/>
                  </a:lnTo>
                  <a:lnTo>
                    <a:pt x="363" y="691"/>
                  </a:lnTo>
                  <a:lnTo>
                    <a:pt x="361" y="701"/>
                  </a:lnTo>
                  <a:lnTo>
                    <a:pt x="353" y="710"/>
                  </a:lnTo>
                  <a:lnTo>
                    <a:pt x="343" y="726"/>
                  </a:lnTo>
                  <a:lnTo>
                    <a:pt x="331" y="742"/>
                  </a:lnTo>
                  <a:lnTo>
                    <a:pt x="319" y="756"/>
                  </a:lnTo>
                  <a:lnTo>
                    <a:pt x="312" y="766"/>
                  </a:lnTo>
                  <a:lnTo>
                    <a:pt x="302" y="771"/>
                  </a:lnTo>
                  <a:lnTo>
                    <a:pt x="290" y="781"/>
                  </a:lnTo>
                  <a:lnTo>
                    <a:pt x="274" y="793"/>
                  </a:lnTo>
                  <a:lnTo>
                    <a:pt x="258" y="805"/>
                  </a:lnTo>
                  <a:lnTo>
                    <a:pt x="245" y="815"/>
                  </a:lnTo>
                  <a:lnTo>
                    <a:pt x="235" y="821"/>
                  </a:lnTo>
                  <a:lnTo>
                    <a:pt x="231" y="825"/>
                  </a:lnTo>
                  <a:lnTo>
                    <a:pt x="215" y="795"/>
                  </a:lnTo>
                  <a:lnTo>
                    <a:pt x="191" y="740"/>
                  </a:lnTo>
                  <a:lnTo>
                    <a:pt x="158" y="675"/>
                  </a:lnTo>
                  <a:lnTo>
                    <a:pt x="89" y="642"/>
                  </a:lnTo>
                  <a:lnTo>
                    <a:pt x="2" y="640"/>
                  </a:lnTo>
                  <a:lnTo>
                    <a:pt x="0" y="581"/>
                  </a:lnTo>
                  <a:lnTo>
                    <a:pt x="28" y="476"/>
                  </a:lnTo>
                  <a:lnTo>
                    <a:pt x="60" y="425"/>
                  </a:lnTo>
                  <a:lnTo>
                    <a:pt x="58" y="376"/>
                  </a:lnTo>
                  <a:lnTo>
                    <a:pt x="77" y="352"/>
                  </a:lnTo>
                  <a:lnTo>
                    <a:pt x="63" y="317"/>
                  </a:lnTo>
                  <a:lnTo>
                    <a:pt x="69" y="266"/>
                  </a:lnTo>
                  <a:lnTo>
                    <a:pt x="126" y="244"/>
                  </a:lnTo>
                  <a:lnTo>
                    <a:pt x="136" y="171"/>
                  </a:lnTo>
                  <a:lnTo>
                    <a:pt x="140" y="116"/>
                  </a:lnTo>
                  <a:lnTo>
                    <a:pt x="170" y="94"/>
                  </a:lnTo>
                  <a:lnTo>
                    <a:pt x="203" y="94"/>
                  </a:lnTo>
                  <a:lnTo>
                    <a:pt x="254" y="65"/>
                  </a:lnTo>
                  <a:lnTo>
                    <a:pt x="298" y="45"/>
                  </a:lnTo>
                  <a:lnTo>
                    <a:pt x="298" y="4"/>
                  </a:lnTo>
                  <a:lnTo>
                    <a:pt x="363" y="0"/>
                  </a:lnTo>
                  <a:lnTo>
                    <a:pt x="367" y="53"/>
                  </a:lnTo>
                  <a:lnTo>
                    <a:pt x="406" y="110"/>
                  </a:lnTo>
                  <a:lnTo>
                    <a:pt x="455" y="126"/>
                  </a:lnTo>
                  <a:lnTo>
                    <a:pt x="495" y="83"/>
                  </a:lnTo>
                  <a:lnTo>
                    <a:pt x="538" y="126"/>
                  </a:lnTo>
                  <a:lnTo>
                    <a:pt x="571" y="122"/>
                  </a:lnTo>
                  <a:lnTo>
                    <a:pt x="603" y="98"/>
                  </a:lnTo>
                  <a:lnTo>
                    <a:pt x="626" y="122"/>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6" name="Freeform 80"/>
            <p:cNvSpPr/>
            <p:nvPr/>
          </p:nvSpPr>
          <p:spPr bwMode="gray">
            <a:xfrm>
              <a:off x="3636" y="3029"/>
              <a:ext cx="313" cy="413"/>
            </a:xfrm>
            <a:custGeom>
              <a:avLst/>
              <a:gdLst>
                <a:gd name="T0" fmla="*/ 156 w 626"/>
                <a:gd name="T1" fmla="*/ 31 h 825"/>
                <a:gd name="T2" fmla="*/ 154 w 626"/>
                <a:gd name="T3" fmla="*/ 37 h 825"/>
                <a:gd name="T4" fmla="*/ 152 w 626"/>
                <a:gd name="T5" fmla="*/ 44 h 825"/>
                <a:gd name="T6" fmla="*/ 146 w 626"/>
                <a:gd name="T7" fmla="*/ 52 h 825"/>
                <a:gd name="T8" fmla="*/ 138 w 626"/>
                <a:gd name="T9" fmla="*/ 57 h 825"/>
                <a:gd name="T10" fmla="*/ 131 w 626"/>
                <a:gd name="T11" fmla="*/ 61 h 825"/>
                <a:gd name="T12" fmla="*/ 130 w 626"/>
                <a:gd name="T13" fmla="*/ 62 h 825"/>
                <a:gd name="T14" fmla="*/ 132 w 626"/>
                <a:gd name="T15" fmla="*/ 68 h 825"/>
                <a:gd name="T16" fmla="*/ 135 w 626"/>
                <a:gd name="T17" fmla="*/ 75 h 825"/>
                <a:gd name="T18" fmla="*/ 136 w 626"/>
                <a:gd name="T19" fmla="*/ 81 h 825"/>
                <a:gd name="T20" fmla="*/ 136 w 626"/>
                <a:gd name="T21" fmla="*/ 89 h 825"/>
                <a:gd name="T22" fmla="*/ 137 w 626"/>
                <a:gd name="T23" fmla="*/ 95 h 825"/>
                <a:gd name="T24" fmla="*/ 138 w 626"/>
                <a:gd name="T25" fmla="*/ 104 h 825"/>
                <a:gd name="T26" fmla="*/ 131 w 626"/>
                <a:gd name="T27" fmla="*/ 112 h 825"/>
                <a:gd name="T28" fmla="*/ 122 w 626"/>
                <a:gd name="T29" fmla="*/ 120 h 825"/>
                <a:gd name="T30" fmla="*/ 117 w 626"/>
                <a:gd name="T31" fmla="*/ 131 h 825"/>
                <a:gd name="T32" fmla="*/ 115 w 626"/>
                <a:gd name="T33" fmla="*/ 142 h 825"/>
                <a:gd name="T34" fmla="*/ 110 w 626"/>
                <a:gd name="T35" fmla="*/ 151 h 825"/>
                <a:gd name="T36" fmla="*/ 103 w 626"/>
                <a:gd name="T37" fmla="*/ 156 h 825"/>
                <a:gd name="T38" fmla="*/ 94 w 626"/>
                <a:gd name="T39" fmla="*/ 158 h 825"/>
                <a:gd name="T40" fmla="*/ 86 w 626"/>
                <a:gd name="T41" fmla="*/ 161 h 825"/>
                <a:gd name="T42" fmla="*/ 85 w 626"/>
                <a:gd name="T43" fmla="*/ 165 h 825"/>
                <a:gd name="T44" fmla="*/ 89 w 626"/>
                <a:gd name="T45" fmla="*/ 171 h 825"/>
                <a:gd name="T46" fmla="*/ 90 w 626"/>
                <a:gd name="T47" fmla="*/ 176 h 825"/>
                <a:gd name="T48" fmla="*/ 86 w 626"/>
                <a:gd name="T49" fmla="*/ 182 h 825"/>
                <a:gd name="T50" fmla="*/ 80 w 626"/>
                <a:gd name="T51" fmla="*/ 189 h 825"/>
                <a:gd name="T52" fmla="*/ 76 w 626"/>
                <a:gd name="T53" fmla="*/ 193 h 825"/>
                <a:gd name="T54" fmla="*/ 69 w 626"/>
                <a:gd name="T55" fmla="*/ 199 h 825"/>
                <a:gd name="T56" fmla="*/ 61 w 626"/>
                <a:gd name="T57" fmla="*/ 204 h 825"/>
                <a:gd name="T58" fmla="*/ 58 w 626"/>
                <a:gd name="T59" fmla="*/ 207 h 825"/>
                <a:gd name="T60" fmla="*/ 48 w 626"/>
                <a:gd name="T61" fmla="*/ 185 h 825"/>
                <a:gd name="T62" fmla="*/ 22 w 626"/>
                <a:gd name="T63" fmla="*/ 161 h 825"/>
                <a:gd name="T64" fmla="*/ 0 w 626"/>
                <a:gd name="T65" fmla="*/ 146 h 825"/>
                <a:gd name="T66" fmla="*/ 15 w 626"/>
                <a:gd name="T67" fmla="*/ 107 h 825"/>
                <a:gd name="T68" fmla="*/ 20 w 626"/>
                <a:gd name="T69" fmla="*/ 88 h 825"/>
                <a:gd name="T70" fmla="*/ 18 w 626"/>
                <a:gd name="T71" fmla="*/ 67 h 825"/>
                <a:gd name="T72" fmla="*/ 34 w 626"/>
                <a:gd name="T73" fmla="*/ 43 h 825"/>
                <a:gd name="T74" fmla="*/ 42 w 626"/>
                <a:gd name="T75" fmla="*/ 24 h 825"/>
                <a:gd name="T76" fmla="*/ 63 w 626"/>
                <a:gd name="T77" fmla="*/ 17 h 825"/>
                <a:gd name="T78" fmla="*/ 75 w 626"/>
                <a:gd name="T79" fmla="*/ 1 h 825"/>
                <a:gd name="T80" fmla="*/ 92 w 626"/>
                <a:gd name="T81" fmla="*/ 14 h 825"/>
                <a:gd name="T82" fmla="*/ 114 w 626"/>
                <a:gd name="T83" fmla="*/ 32 h 825"/>
                <a:gd name="T84" fmla="*/ 135 w 626"/>
                <a:gd name="T85" fmla="*/ 32 h 825"/>
                <a:gd name="T86" fmla="*/ 151 w 626"/>
                <a:gd name="T87" fmla="*/ 25 h 82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26"/>
                <a:gd name="T133" fmla="*/ 0 h 825"/>
                <a:gd name="T134" fmla="*/ 626 w 626"/>
                <a:gd name="T135" fmla="*/ 825 h 82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26" h="825">
                  <a:moveTo>
                    <a:pt x="626" y="122"/>
                  </a:moveTo>
                  <a:lnTo>
                    <a:pt x="624" y="124"/>
                  </a:lnTo>
                  <a:lnTo>
                    <a:pt x="621" y="134"/>
                  </a:lnTo>
                  <a:lnTo>
                    <a:pt x="615" y="146"/>
                  </a:lnTo>
                  <a:lnTo>
                    <a:pt x="613" y="159"/>
                  </a:lnTo>
                  <a:lnTo>
                    <a:pt x="607" y="173"/>
                  </a:lnTo>
                  <a:lnTo>
                    <a:pt x="597" y="189"/>
                  </a:lnTo>
                  <a:lnTo>
                    <a:pt x="581" y="205"/>
                  </a:lnTo>
                  <a:lnTo>
                    <a:pt x="565" y="216"/>
                  </a:lnTo>
                  <a:lnTo>
                    <a:pt x="550" y="228"/>
                  </a:lnTo>
                  <a:lnTo>
                    <a:pt x="534" y="236"/>
                  </a:lnTo>
                  <a:lnTo>
                    <a:pt x="524" y="242"/>
                  </a:lnTo>
                  <a:lnTo>
                    <a:pt x="520" y="244"/>
                  </a:lnTo>
                  <a:lnTo>
                    <a:pt x="520" y="248"/>
                  </a:lnTo>
                  <a:lnTo>
                    <a:pt x="524" y="258"/>
                  </a:lnTo>
                  <a:lnTo>
                    <a:pt x="528" y="272"/>
                  </a:lnTo>
                  <a:lnTo>
                    <a:pt x="532" y="285"/>
                  </a:lnTo>
                  <a:lnTo>
                    <a:pt x="538" y="299"/>
                  </a:lnTo>
                  <a:lnTo>
                    <a:pt x="542" y="309"/>
                  </a:lnTo>
                  <a:lnTo>
                    <a:pt x="544" y="321"/>
                  </a:lnTo>
                  <a:lnTo>
                    <a:pt x="546" y="339"/>
                  </a:lnTo>
                  <a:lnTo>
                    <a:pt x="544" y="354"/>
                  </a:lnTo>
                  <a:lnTo>
                    <a:pt x="544" y="368"/>
                  </a:lnTo>
                  <a:lnTo>
                    <a:pt x="548" y="380"/>
                  </a:lnTo>
                  <a:lnTo>
                    <a:pt x="550" y="396"/>
                  </a:lnTo>
                  <a:lnTo>
                    <a:pt x="550" y="413"/>
                  </a:lnTo>
                  <a:lnTo>
                    <a:pt x="540" y="429"/>
                  </a:lnTo>
                  <a:lnTo>
                    <a:pt x="522" y="447"/>
                  </a:lnTo>
                  <a:lnTo>
                    <a:pt x="504" y="462"/>
                  </a:lnTo>
                  <a:lnTo>
                    <a:pt x="489" y="480"/>
                  </a:lnTo>
                  <a:lnTo>
                    <a:pt x="479" y="494"/>
                  </a:lnTo>
                  <a:lnTo>
                    <a:pt x="469" y="522"/>
                  </a:lnTo>
                  <a:lnTo>
                    <a:pt x="463" y="549"/>
                  </a:lnTo>
                  <a:lnTo>
                    <a:pt x="459" y="565"/>
                  </a:lnTo>
                  <a:lnTo>
                    <a:pt x="451" y="585"/>
                  </a:lnTo>
                  <a:lnTo>
                    <a:pt x="441" y="602"/>
                  </a:lnTo>
                  <a:lnTo>
                    <a:pt x="428" y="618"/>
                  </a:lnTo>
                  <a:lnTo>
                    <a:pt x="414" y="624"/>
                  </a:lnTo>
                  <a:lnTo>
                    <a:pt x="396" y="630"/>
                  </a:lnTo>
                  <a:lnTo>
                    <a:pt x="376" y="632"/>
                  </a:lnTo>
                  <a:lnTo>
                    <a:pt x="359" y="636"/>
                  </a:lnTo>
                  <a:lnTo>
                    <a:pt x="345" y="642"/>
                  </a:lnTo>
                  <a:lnTo>
                    <a:pt x="337" y="648"/>
                  </a:lnTo>
                  <a:lnTo>
                    <a:pt x="339" y="659"/>
                  </a:lnTo>
                  <a:lnTo>
                    <a:pt x="347" y="669"/>
                  </a:lnTo>
                  <a:lnTo>
                    <a:pt x="357" y="681"/>
                  </a:lnTo>
                  <a:lnTo>
                    <a:pt x="363" y="691"/>
                  </a:lnTo>
                  <a:lnTo>
                    <a:pt x="361" y="701"/>
                  </a:lnTo>
                  <a:lnTo>
                    <a:pt x="353" y="710"/>
                  </a:lnTo>
                  <a:lnTo>
                    <a:pt x="343" y="726"/>
                  </a:lnTo>
                  <a:lnTo>
                    <a:pt x="331" y="742"/>
                  </a:lnTo>
                  <a:lnTo>
                    <a:pt x="319" y="756"/>
                  </a:lnTo>
                  <a:lnTo>
                    <a:pt x="312" y="766"/>
                  </a:lnTo>
                  <a:lnTo>
                    <a:pt x="302" y="771"/>
                  </a:lnTo>
                  <a:lnTo>
                    <a:pt x="290" y="781"/>
                  </a:lnTo>
                  <a:lnTo>
                    <a:pt x="274" y="793"/>
                  </a:lnTo>
                  <a:lnTo>
                    <a:pt x="258" y="805"/>
                  </a:lnTo>
                  <a:lnTo>
                    <a:pt x="245" y="815"/>
                  </a:lnTo>
                  <a:lnTo>
                    <a:pt x="235" y="821"/>
                  </a:lnTo>
                  <a:lnTo>
                    <a:pt x="231" y="825"/>
                  </a:lnTo>
                  <a:lnTo>
                    <a:pt x="215" y="795"/>
                  </a:lnTo>
                  <a:lnTo>
                    <a:pt x="191" y="740"/>
                  </a:lnTo>
                  <a:lnTo>
                    <a:pt x="158" y="675"/>
                  </a:lnTo>
                  <a:lnTo>
                    <a:pt x="89" y="642"/>
                  </a:lnTo>
                  <a:lnTo>
                    <a:pt x="2" y="640"/>
                  </a:lnTo>
                  <a:lnTo>
                    <a:pt x="0" y="581"/>
                  </a:lnTo>
                  <a:lnTo>
                    <a:pt x="28" y="476"/>
                  </a:lnTo>
                  <a:lnTo>
                    <a:pt x="60" y="425"/>
                  </a:lnTo>
                  <a:lnTo>
                    <a:pt x="58" y="376"/>
                  </a:lnTo>
                  <a:lnTo>
                    <a:pt x="77" y="352"/>
                  </a:lnTo>
                  <a:lnTo>
                    <a:pt x="63" y="317"/>
                  </a:lnTo>
                  <a:lnTo>
                    <a:pt x="69" y="266"/>
                  </a:lnTo>
                  <a:lnTo>
                    <a:pt x="126" y="244"/>
                  </a:lnTo>
                  <a:lnTo>
                    <a:pt x="136" y="171"/>
                  </a:lnTo>
                  <a:lnTo>
                    <a:pt x="140" y="116"/>
                  </a:lnTo>
                  <a:lnTo>
                    <a:pt x="170" y="94"/>
                  </a:lnTo>
                  <a:lnTo>
                    <a:pt x="203" y="94"/>
                  </a:lnTo>
                  <a:lnTo>
                    <a:pt x="254" y="65"/>
                  </a:lnTo>
                  <a:lnTo>
                    <a:pt x="298" y="45"/>
                  </a:lnTo>
                  <a:lnTo>
                    <a:pt x="298" y="4"/>
                  </a:lnTo>
                  <a:lnTo>
                    <a:pt x="363" y="0"/>
                  </a:lnTo>
                  <a:lnTo>
                    <a:pt x="367" y="53"/>
                  </a:lnTo>
                  <a:lnTo>
                    <a:pt x="406" y="110"/>
                  </a:lnTo>
                  <a:lnTo>
                    <a:pt x="455" y="126"/>
                  </a:lnTo>
                  <a:lnTo>
                    <a:pt x="495" y="83"/>
                  </a:lnTo>
                  <a:lnTo>
                    <a:pt x="538" y="126"/>
                  </a:lnTo>
                  <a:lnTo>
                    <a:pt x="571" y="122"/>
                  </a:lnTo>
                  <a:lnTo>
                    <a:pt x="603" y="98"/>
                  </a:lnTo>
                  <a:lnTo>
                    <a:pt x="626" y="122"/>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7" name="Freeform 81"/>
            <p:cNvSpPr/>
            <p:nvPr/>
          </p:nvSpPr>
          <p:spPr bwMode="gray">
            <a:xfrm>
              <a:off x="3746" y="2774"/>
              <a:ext cx="283" cy="318"/>
            </a:xfrm>
            <a:custGeom>
              <a:avLst/>
              <a:gdLst>
                <a:gd name="T0" fmla="*/ 109 w 565"/>
                <a:gd name="T1" fmla="*/ 11 h 638"/>
                <a:gd name="T2" fmla="*/ 106 w 565"/>
                <a:gd name="T3" fmla="*/ 11 h 638"/>
                <a:gd name="T4" fmla="*/ 103 w 565"/>
                <a:gd name="T5" fmla="*/ 14 h 638"/>
                <a:gd name="T6" fmla="*/ 100 w 565"/>
                <a:gd name="T7" fmla="*/ 21 h 638"/>
                <a:gd name="T8" fmla="*/ 99 w 565"/>
                <a:gd name="T9" fmla="*/ 28 h 638"/>
                <a:gd name="T10" fmla="*/ 96 w 565"/>
                <a:gd name="T11" fmla="*/ 31 h 638"/>
                <a:gd name="T12" fmla="*/ 90 w 565"/>
                <a:gd name="T13" fmla="*/ 29 h 638"/>
                <a:gd name="T14" fmla="*/ 84 w 565"/>
                <a:gd name="T15" fmla="*/ 26 h 638"/>
                <a:gd name="T16" fmla="*/ 80 w 565"/>
                <a:gd name="T17" fmla="*/ 26 h 638"/>
                <a:gd name="T18" fmla="*/ 82 w 565"/>
                <a:gd name="T19" fmla="*/ 32 h 638"/>
                <a:gd name="T20" fmla="*/ 87 w 565"/>
                <a:gd name="T21" fmla="*/ 36 h 638"/>
                <a:gd name="T22" fmla="*/ 93 w 565"/>
                <a:gd name="T23" fmla="*/ 38 h 638"/>
                <a:gd name="T24" fmla="*/ 101 w 565"/>
                <a:gd name="T25" fmla="*/ 35 h 638"/>
                <a:gd name="T26" fmla="*/ 104 w 565"/>
                <a:gd name="T27" fmla="*/ 31 h 638"/>
                <a:gd name="T28" fmla="*/ 106 w 565"/>
                <a:gd name="T29" fmla="*/ 25 h 638"/>
                <a:gd name="T30" fmla="*/ 110 w 565"/>
                <a:gd name="T31" fmla="*/ 24 h 638"/>
                <a:gd name="T32" fmla="*/ 117 w 565"/>
                <a:gd name="T33" fmla="*/ 30 h 638"/>
                <a:gd name="T34" fmla="*/ 126 w 565"/>
                <a:gd name="T35" fmla="*/ 34 h 638"/>
                <a:gd name="T36" fmla="*/ 131 w 565"/>
                <a:gd name="T37" fmla="*/ 36 h 638"/>
                <a:gd name="T38" fmla="*/ 138 w 565"/>
                <a:gd name="T39" fmla="*/ 38 h 638"/>
                <a:gd name="T40" fmla="*/ 142 w 565"/>
                <a:gd name="T41" fmla="*/ 44 h 638"/>
                <a:gd name="T42" fmla="*/ 139 w 565"/>
                <a:gd name="T43" fmla="*/ 51 h 638"/>
                <a:gd name="T44" fmla="*/ 133 w 565"/>
                <a:gd name="T45" fmla="*/ 58 h 638"/>
                <a:gd name="T46" fmla="*/ 130 w 565"/>
                <a:gd name="T47" fmla="*/ 60 h 638"/>
                <a:gd name="T48" fmla="*/ 134 w 565"/>
                <a:gd name="T49" fmla="*/ 60 h 638"/>
                <a:gd name="T50" fmla="*/ 139 w 565"/>
                <a:gd name="T51" fmla="*/ 60 h 638"/>
                <a:gd name="T52" fmla="*/ 141 w 565"/>
                <a:gd name="T53" fmla="*/ 63 h 638"/>
                <a:gd name="T54" fmla="*/ 136 w 565"/>
                <a:gd name="T55" fmla="*/ 67 h 638"/>
                <a:gd name="T56" fmla="*/ 129 w 565"/>
                <a:gd name="T57" fmla="*/ 71 h 638"/>
                <a:gd name="T58" fmla="*/ 126 w 565"/>
                <a:gd name="T59" fmla="*/ 73 h 638"/>
                <a:gd name="T60" fmla="*/ 129 w 565"/>
                <a:gd name="T61" fmla="*/ 73 h 638"/>
                <a:gd name="T62" fmla="*/ 135 w 565"/>
                <a:gd name="T63" fmla="*/ 78 h 638"/>
                <a:gd name="T64" fmla="*/ 136 w 565"/>
                <a:gd name="T65" fmla="*/ 88 h 638"/>
                <a:gd name="T66" fmla="*/ 138 w 565"/>
                <a:gd name="T67" fmla="*/ 98 h 638"/>
                <a:gd name="T68" fmla="*/ 141 w 565"/>
                <a:gd name="T69" fmla="*/ 104 h 638"/>
                <a:gd name="T70" fmla="*/ 141 w 565"/>
                <a:gd name="T71" fmla="*/ 108 h 638"/>
                <a:gd name="T72" fmla="*/ 136 w 565"/>
                <a:gd name="T73" fmla="*/ 112 h 638"/>
                <a:gd name="T74" fmla="*/ 129 w 565"/>
                <a:gd name="T75" fmla="*/ 111 h 638"/>
                <a:gd name="T76" fmla="*/ 123 w 565"/>
                <a:gd name="T77" fmla="*/ 110 h 638"/>
                <a:gd name="T78" fmla="*/ 119 w 565"/>
                <a:gd name="T79" fmla="*/ 116 h 638"/>
                <a:gd name="T80" fmla="*/ 118 w 565"/>
                <a:gd name="T81" fmla="*/ 122 h 638"/>
                <a:gd name="T82" fmla="*/ 116 w 565"/>
                <a:gd name="T83" fmla="*/ 129 h 638"/>
                <a:gd name="T84" fmla="*/ 113 w 565"/>
                <a:gd name="T85" fmla="*/ 136 h 638"/>
                <a:gd name="T86" fmla="*/ 112 w 565"/>
                <a:gd name="T87" fmla="*/ 146 h 638"/>
                <a:gd name="T88" fmla="*/ 112 w 565"/>
                <a:gd name="T89" fmla="*/ 150 h 638"/>
                <a:gd name="T90" fmla="*/ 102 w 565"/>
                <a:gd name="T91" fmla="*/ 158 h 638"/>
                <a:gd name="T92" fmla="*/ 88 w 565"/>
                <a:gd name="T93" fmla="*/ 158 h 638"/>
                <a:gd name="T94" fmla="*/ 69 w 565"/>
                <a:gd name="T95" fmla="*/ 148 h 638"/>
                <a:gd name="T96" fmla="*/ 47 w 565"/>
                <a:gd name="T97" fmla="*/ 155 h 638"/>
                <a:gd name="T98" fmla="*/ 35 w 565"/>
                <a:gd name="T99" fmla="*/ 128 h 638"/>
                <a:gd name="T100" fmla="*/ 20 w 565"/>
                <a:gd name="T101" fmla="*/ 113 h 638"/>
                <a:gd name="T102" fmla="*/ 5 w 565"/>
                <a:gd name="T103" fmla="*/ 83 h 638"/>
                <a:gd name="T104" fmla="*/ 27 w 565"/>
                <a:gd name="T105" fmla="*/ 49 h 638"/>
                <a:gd name="T106" fmla="*/ 42 w 565"/>
                <a:gd name="T107" fmla="*/ 36 h 638"/>
                <a:gd name="T108" fmla="*/ 46 w 565"/>
                <a:gd name="T109" fmla="*/ 12 h 638"/>
                <a:gd name="T110" fmla="*/ 56 w 565"/>
                <a:gd name="T111" fmla="*/ 0 h 638"/>
                <a:gd name="T112" fmla="*/ 76 w 565"/>
                <a:gd name="T113" fmla="*/ 7 h 638"/>
                <a:gd name="T114" fmla="*/ 96 w 565"/>
                <a:gd name="T115" fmla="*/ 1 h 638"/>
                <a:gd name="T116" fmla="*/ 109 w 565"/>
                <a:gd name="T117" fmla="*/ 11 h 6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65"/>
                <a:gd name="T178" fmla="*/ 0 h 638"/>
                <a:gd name="T179" fmla="*/ 565 w 565"/>
                <a:gd name="T180" fmla="*/ 638 h 6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65" h="638">
                  <a:moveTo>
                    <a:pt x="433" y="44"/>
                  </a:moveTo>
                  <a:lnTo>
                    <a:pt x="433" y="44"/>
                  </a:lnTo>
                  <a:lnTo>
                    <a:pt x="429" y="46"/>
                  </a:lnTo>
                  <a:lnTo>
                    <a:pt x="423" y="47"/>
                  </a:lnTo>
                  <a:lnTo>
                    <a:pt x="417" y="53"/>
                  </a:lnTo>
                  <a:lnTo>
                    <a:pt x="411" y="59"/>
                  </a:lnTo>
                  <a:lnTo>
                    <a:pt x="403" y="69"/>
                  </a:lnTo>
                  <a:lnTo>
                    <a:pt x="398" y="85"/>
                  </a:lnTo>
                  <a:lnTo>
                    <a:pt x="396" y="99"/>
                  </a:lnTo>
                  <a:lnTo>
                    <a:pt x="394" y="112"/>
                  </a:lnTo>
                  <a:lnTo>
                    <a:pt x="392" y="122"/>
                  </a:lnTo>
                  <a:lnTo>
                    <a:pt x="384" y="126"/>
                  </a:lnTo>
                  <a:lnTo>
                    <a:pt x="372" y="122"/>
                  </a:lnTo>
                  <a:lnTo>
                    <a:pt x="360" y="118"/>
                  </a:lnTo>
                  <a:lnTo>
                    <a:pt x="346" y="110"/>
                  </a:lnTo>
                  <a:lnTo>
                    <a:pt x="335" y="107"/>
                  </a:lnTo>
                  <a:lnTo>
                    <a:pt x="325" y="105"/>
                  </a:lnTo>
                  <a:lnTo>
                    <a:pt x="319" y="107"/>
                  </a:lnTo>
                  <a:lnTo>
                    <a:pt x="317" y="118"/>
                  </a:lnTo>
                  <a:lnTo>
                    <a:pt x="325" y="128"/>
                  </a:lnTo>
                  <a:lnTo>
                    <a:pt x="337" y="138"/>
                  </a:lnTo>
                  <a:lnTo>
                    <a:pt x="346" y="146"/>
                  </a:lnTo>
                  <a:lnTo>
                    <a:pt x="358" y="152"/>
                  </a:lnTo>
                  <a:lnTo>
                    <a:pt x="372" y="154"/>
                  </a:lnTo>
                  <a:lnTo>
                    <a:pt x="388" y="150"/>
                  </a:lnTo>
                  <a:lnTo>
                    <a:pt x="402" y="142"/>
                  </a:lnTo>
                  <a:lnTo>
                    <a:pt x="407" y="134"/>
                  </a:lnTo>
                  <a:lnTo>
                    <a:pt x="413" y="124"/>
                  </a:lnTo>
                  <a:lnTo>
                    <a:pt x="417" y="112"/>
                  </a:lnTo>
                  <a:lnTo>
                    <a:pt x="423" y="103"/>
                  </a:lnTo>
                  <a:lnTo>
                    <a:pt x="429" y="97"/>
                  </a:lnTo>
                  <a:lnTo>
                    <a:pt x="437" y="97"/>
                  </a:lnTo>
                  <a:lnTo>
                    <a:pt x="447" y="105"/>
                  </a:lnTo>
                  <a:lnTo>
                    <a:pt x="468" y="122"/>
                  </a:lnTo>
                  <a:lnTo>
                    <a:pt x="486" y="132"/>
                  </a:lnTo>
                  <a:lnTo>
                    <a:pt x="502" y="138"/>
                  </a:lnTo>
                  <a:lnTo>
                    <a:pt x="514" y="142"/>
                  </a:lnTo>
                  <a:lnTo>
                    <a:pt x="524" y="144"/>
                  </a:lnTo>
                  <a:lnTo>
                    <a:pt x="537" y="148"/>
                  </a:lnTo>
                  <a:lnTo>
                    <a:pt x="549" y="154"/>
                  </a:lnTo>
                  <a:lnTo>
                    <a:pt x="559" y="164"/>
                  </a:lnTo>
                  <a:lnTo>
                    <a:pt x="565" y="177"/>
                  </a:lnTo>
                  <a:lnTo>
                    <a:pt x="561" y="191"/>
                  </a:lnTo>
                  <a:lnTo>
                    <a:pt x="553" y="207"/>
                  </a:lnTo>
                  <a:lnTo>
                    <a:pt x="543" y="221"/>
                  </a:lnTo>
                  <a:lnTo>
                    <a:pt x="531" y="232"/>
                  </a:lnTo>
                  <a:lnTo>
                    <a:pt x="524" y="240"/>
                  </a:lnTo>
                  <a:lnTo>
                    <a:pt x="520" y="242"/>
                  </a:lnTo>
                  <a:lnTo>
                    <a:pt x="524" y="242"/>
                  </a:lnTo>
                  <a:lnTo>
                    <a:pt x="533" y="242"/>
                  </a:lnTo>
                  <a:lnTo>
                    <a:pt x="543" y="240"/>
                  </a:lnTo>
                  <a:lnTo>
                    <a:pt x="555" y="242"/>
                  </a:lnTo>
                  <a:lnTo>
                    <a:pt x="561" y="246"/>
                  </a:lnTo>
                  <a:lnTo>
                    <a:pt x="561" y="252"/>
                  </a:lnTo>
                  <a:lnTo>
                    <a:pt x="555" y="262"/>
                  </a:lnTo>
                  <a:lnTo>
                    <a:pt x="543" y="270"/>
                  </a:lnTo>
                  <a:lnTo>
                    <a:pt x="529" y="278"/>
                  </a:lnTo>
                  <a:lnTo>
                    <a:pt x="516" y="286"/>
                  </a:lnTo>
                  <a:lnTo>
                    <a:pt x="506" y="290"/>
                  </a:lnTo>
                  <a:lnTo>
                    <a:pt x="502" y="292"/>
                  </a:lnTo>
                  <a:lnTo>
                    <a:pt x="506" y="292"/>
                  </a:lnTo>
                  <a:lnTo>
                    <a:pt x="516" y="295"/>
                  </a:lnTo>
                  <a:lnTo>
                    <a:pt x="528" y="303"/>
                  </a:lnTo>
                  <a:lnTo>
                    <a:pt x="537" y="315"/>
                  </a:lnTo>
                  <a:lnTo>
                    <a:pt x="541" y="329"/>
                  </a:lnTo>
                  <a:lnTo>
                    <a:pt x="543" y="353"/>
                  </a:lnTo>
                  <a:lnTo>
                    <a:pt x="543" y="374"/>
                  </a:lnTo>
                  <a:lnTo>
                    <a:pt x="549" y="396"/>
                  </a:lnTo>
                  <a:lnTo>
                    <a:pt x="555" y="408"/>
                  </a:lnTo>
                  <a:lnTo>
                    <a:pt x="561" y="418"/>
                  </a:lnTo>
                  <a:lnTo>
                    <a:pt x="565" y="425"/>
                  </a:lnTo>
                  <a:lnTo>
                    <a:pt x="563" y="435"/>
                  </a:lnTo>
                  <a:lnTo>
                    <a:pt x="553" y="445"/>
                  </a:lnTo>
                  <a:lnTo>
                    <a:pt x="541" y="451"/>
                  </a:lnTo>
                  <a:lnTo>
                    <a:pt x="528" y="449"/>
                  </a:lnTo>
                  <a:lnTo>
                    <a:pt x="514" y="445"/>
                  </a:lnTo>
                  <a:lnTo>
                    <a:pt x="502" y="441"/>
                  </a:lnTo>
                  <a:lnTo>
                    <a:pt x="490" y="443"/>
                  </a:lnTo>
                  <a:lnTo>
                    <a:pt x="482" y="453"/>
                  </a:lnTo>
                  <a:lnTo>
                    <a:pt x="476" y="465"/>
                  </a:lnTo>
                  <a:lnTo>
                    <a:pt x="474" y="479"/>
                  </a:lnTo>
                  <a:lnTo>
                    <a:pt x="472" y="492"/>
                  </a:lnTo>
                  <a:lnTo>
                    <a:pt x="470" y="506"/>
                  </a:lnTo>
                  <a:lnTo>
                    <a:pt x="463" y="518"/>
                  </a:lnTo>
                  <a:lnTo>
                    <a:pt x="457" y="532"/>
                  </a:lnTo>
                  <a:lnTo>
                    <a:pt x="449" y="545"/>
                  </a:lnTo>
                  <a:lnTo>
                    <a:pt x="447" y="567"/>
                  </a:lnTo>
                  <a:lnTo>
                    <a:pt x="445" y="587"/>
                  </a:lnTo>
                  <a:lnTo>
                    <a:pt x="445" y="599"/>
                  </a:lnTo>
                  <a:lnTo>
                    <a:pt x="445" y="604"/>
                  </a:lnTo>
                  <a:lnTo>
                    <a:pt x="445" y="606"/>
                  </a:lnTo>
                  <a:lnTo>
                    <a:pt x="405" y="634"/>
                  </a:lnTo>
                  <a:lnTo>
                    <a:pt x="382" y="610"/>
                  </a:lnTo>
                  <a:lnTo>
                    <a:pt x="350" y="634"/>
                  </a:lnTo>
                  <a:lnTo>
                    <a:pt x="317" y="638"/>
                  </a:lnTo>
                  <a:lnTo>
                    <a:pt x="274" y="595"/>
                  </a:lnTo>
                  <a:lnTo>
                    <a:pt x="234" y="638"/>
                  </a:lnTo>
                  <a:lnTo>
                    <a:pt x="185" y="622"/>
                  </a:lnTo>
                  <a:lnTo>
                    <a:pt x="146" y="565"/>
                  </a:lnTo>
                  <a:lnTo>
                    <a:pt x="140" y="514"/>
                  </a:lnTo>
                  <a:lnTo>
                    <a:pt x="91" y="514"/>
                  </a:lnTo>
                  <a:lnTo>
                    <a:pt x="77" y="453"/>
                  </a:lnTo>
                  <a:lnTo>
                    <a:pt x="0" y="394"/>
                  </a:lnTo>
                  <a:lnTo>
                    <a:pt x="18" y="333"/>
                  </a:lnTo>
                  <a:lnTo>
                    <a:pt x="77" y="272"/>
                  </a:lnTo>
                  <a:lnTo>
                    <a:pt x="106" y="199"/>
                  </a:lnTo>
                  <a:lnTo>
                    <a:pt x="134" y="156"/>
                  </a:lnTo>
                  <a:lnTo>
                    <a:pt x="165" y="144"/>
                  </a:lnTo>
                  <a:lnTo>
                    <a:pt x="144" y="101"/>
                  </a:lnTo>
                  <a:lnTo>
                    <a:pt x="183" y="51"/>
                  </a:lnTo>
                  <a:lnTo>
                    <a:pt x="179" y="8"/>
                  </a:lnTo>
                  <a:lnTo>
                    <a:pt x="224" y="0"/>
                  </a:lnTo>
                  <a:lnTo>
                    <a:pt x="252" y="34"/>
                  </a:lnTo>
                  <a:lnTo>
                    <a:pt x="301" y="30"/>
                  </a:lnTo>
                  <a:lnTo>
                    <a:pt x="344" y="20"/>
                  </a:lnTo>
                  <a:lnTo>
                    <a:pt x="384" y="4"/>
                  </a:lnTo>
                  <a:lnTo>
                    <a:pt x="415" y="22"/>
                  </a:lnTo>
                  <a:lnTo>
                    <a:pt x="433" y="44"/>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8" name="Freeform 82"/>
            <p:cNvSpPr/>
            <p:nvPr/>
          </p:nvSpPr>
          <p:spPr bwMode="gray">
            <a:xfrm>
              <a:off x="3746" y="2774"/>
              <a:ext cx="283" cy="318"/>
            </a:xfrm>
            <a:custGeom>
              <a:avLst/>
              <a:gdLst>
                <a:gd name="T0" fmla="*/ 109 w 565"/>
                <a:gd name="T1" fmla="*/ 11 h 638"/>
                <a:gd name="T2" fmla="*/ 106 w 565"/>
                <a:gd name="T3" fmla="*/ 11 h 638"/>
                <a:gd name="T4" fmla="*/ 103 w 565"/>
                <a:gd name="T5" fmla="*/ 14 h 638"/>
                <a:gd name="T6" fmla="*/ 100 w 565"/>
                <a:gd name="T7" fmla="*/ 21 h 638"/>
                <a:gd name="T8" fmla="*/ 99 w 565"/>
                <a:gd name="T9" fmla="*/ 28 h 638"/>
                <a:gd name="T10" fmla="*/ 96 w 565"/>
                <a:gd name="T11" fmla="*/ 31 h 638"/>
                <a:gd name="T12" fmla="*/ 90 w 565"/>
                <a:gd name="T13" fmla="*/ 29 h 638"/>
                <a:gd name="T14" fmla="*/ 84 w 565"/>
                <a:gd name="T15" fmla="*/ 26 h 638"/>
                <a:gd name="T16" fmla="*/ 80 w 565"/>
                <a:gd name="T17" fmla="*/ 26 h 638"/>
                <a:gd name="T18" fmla="*/ 82 w 565"/>
                <a:gd name="T19" fmla="*/ 32 h 638"/>
                <a:gd name="T20" fmla="*/ 87 w 565"/>
                <a:gd name="T21" fmla="*/ 36 h 638"/>
                <a:gd name="T22" fmla="*/ 93 w 565"/>
                <a:gd name="T23" fmla="*/ 38 h 638"/>
                <a:gd name="T24" fmla="*/ 101 w 565"/>
                <a:gd name="T25" fmla="*/ 35 h 638"/>
                <a:gd name="T26" fmla="*/ 104 w 565"/>
                <a:gd name="T27" fmla="*/ 31 h 638"/>
                <a:gd name="T28" fmla="*/ 106 w 565"/>
                <a:gd name="T29" fmla="*/ 25 h 638"/>
                <a:gd name="T30" fmla="*/ 110 w 565"/>
                <a:gd name="T31" fmla="*/ 24 h 638"/>
                <a:gd name="T32" fmla="*/ 117 w 565"/>
                <a:gd name="T33" fmla="*/ 30 h 638"/>
                <a:gd name="T34" fmla="*/ 126 w 565"/>
                <a:gd name="T35" fmla="*/ 34 h 638"/>
                <a:gd name="T36" fmla="*/ 131 w 565"/>
                <a:gd name="T37" fmla="*/ 36 h 638"/>
                <a:gd name="T38" fmla="*/ 138 w 565"/>
                <a:gd name="T39" fmla="*/ 38 h 638"/>
                <a:gd name="T40" fmla="*/ 142 w 565"/>
                <a:gd name="T41" fmla="*/ 44 h 638"/>
                <a:gd name="T42" fmla="*/ 139 w 565"/>
                <a:gd name="T43" fmla="*/ 51 h 638"/>
                <a:gd name="T44" fmla="*/ 133 w 565"/>
                <a:gd name="T45" fmla="*/ 58 h 638"/>
                <a:gd name="T46" fmla="*/ 130 w 565"/>
                <a:gd name="T47" fmla="*/ 60 h 638"/>
                <a:gd name="T48" fmla="*/ 134 w 565"/>
                <a:gd name="T49" fmla="*/ 60 h 638"/>
                <a:gd name="T50" fmla="*/ 139 w 565"/>
                <a:gd name="T51" fmla="*/ 60 h 638"/>
                <a:gd name="T52" fmla="*/ 141 w 565"/>
                <a:gd name="T53" fmla="*/ 63 h 638"/>
                <a:gd name="T54" fmla="*/ 136 w 565"/>
                <a:gd name="T55" fmla="*/ 67 h 638"/>
                <a:gd name="T56" fmla="*/ 129 w 565"/>
                <a:gd name="T57" fmla="*/ 71 h 638"/>
                <a:gd name="T58" fmla="*/ 126 w 565"/>
                <a:gd name="T59" fmla="*/ 73 h 638"/>
                <a:gd name="T60" fmla="*/ 129 w 565"/>
                <a:gd name="T61" fmla="*/ 73 h 638"/>
                <a:gd name="T62" fmla="*/ 135 w 565"/>
                <a:gd name="T63" fmla="*/ 78 h 638"/>
                <a:gd name="T64" fmla="*/ 136 w 565"/>
                <a:gd name="T65" fmla="*/ 88 h 638"/>
                <a:gd name="T66" fmla="*/ 138 w 565"/>
                <a:gd name="T67" fmla="*/ 98 h 638"/>
                <a:gd name="T68" fmla="*/ 141 w 565"/>
                <a:gd name="T69" fmla="*/ 104 h 638"/>
                <a:gd name="T70" fmla="*/ 141 w 565"/>
                <a:gd name="T71" fmla="*/ 108 h 638"/>
                <a:gd name="T72" fmla="*/ 136 w 565"/>
                <a:gd name="T73" fmla="*/ 112 h 638"/>
                <a:gd name="T74" fmla="*/ 129 w 565"/>
                <a:gd name="T75" fmla="*/ 111 h 638"/>
                <a:gd name="T76" fmla="*/ 123 w 565"/>
                <a:gd name="T77" fmla="*/ 110 h 638"/>
                <a:gd name="T78" fmla="*/ 119 w 565"/>
                <a:gd name="T79" fmla="*/ 116 h 638"/>
                <a:gd name="T80" fmla="*/ 118 w 565"/>
                <a:gd name="T81" fmla="*/ 122 h 638"/>
                <a:gd name="T82" fmla="*/ 116 w 565"/>
                <a:gd name="T83" fmla="*/ 129 h 638"/>
                <a:gd name="T84" fmla="*/ 113 w 565"/>
                <a:gd name="T85" fmla="*/ 136 h 638"/>
                <a:gd name="T86" fmla="*/ 112 w 565"/>
                <a:gd name="T87" fmla="*/ 146 h 638"/>
                <a:gd name="T88" fmla="*/ 112 w 565"/>
                <a:gd name="T89" fmla="*/ 150 h 638"/>
                <a:gd name="T90" fmla="*/ 102 w 565"/>
                <a:gd name="T91" fmla="*/ 158 h 638"/>
                <a:gd name="T92" fmla="*/ 88 w 565"/>
                <a:gd name="T93" fmla="*/ 158 h 638"/>
                <a:gd name="T94" fmla="*/ 69 w 565"/>
                <a:gd name="T95" fmla="*/ 148 h 638"/>
                <a:gd name="T96" fmla="*/ 47 w 565"/>
                <a:gd name="T97" fmla="*/ 155 h 638"/>
                <a:gd name="T98" fmla="*/ 35 w 565"/>
                <a:gd name="T99" fmla="*/ 128 h 638"/>
                <a:gd name="T100" fmla="*/ 20 w 565"/>
                <a:gd name="T101" fmla="*/ 113 h 638"/>
                <a:gd name="T102" fmla="*/ 5 w 565"/>
                <a:gd name="T103" fmla="*/ 83 h 638"/>
                <a:gd name="T104" fmla="*/ 27 w 565"/>
                <a:gd name="T105" fmla="*/ 49 h 638"/>
                <a:gd name="T106" fmla="*/ 42 w 565"/>
                <a:gd name="T107" fmla="*/ 36 h 638"/>
                <a:gd name="T108" fmla="*/ 46 w 565"/>
                <a:gd name="T109" fmla="*/ 12 h 638"/>
                <a:gd name="T110" fmla="*/ 56 w 565"/>
                <a:gd name="T111" fmla="*/ 0 h 638"/>
                <a:gd name="T112" fmla="*/ 76 w 565"/>
                <a:gd name="T113" fmla="*/ 7 h 638"/>
                <a:gd name="T114" fmla="*/ 96 w 565"/>
                <a:gd name="T115" fmla="*/ 1 h 638"/>
                <a:gd name="T116" fmla="*/ 109 w 565"/>
                <a:gd name="T117" fmla="*/ 11 h 6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65"/>
                <a:gd name="T178" fmla="*/ 0 h 638"/>
                <a:gd name="T179" fmla="*/ 565 w 565"/>
                <a:gd name="T180" fmla="*/ 638 h 6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65" h="638">
                  <a:moveTo>
                    <a:pt x="433" y="44"/>
                  </a:moveTo>
                  <a:lnTo>
                    <a:pt x="433" y="44"/>
                  </a:lnTo>
                  <a:lnTo>
                    <a:pt x="429" y="46"/>
                  </a:lnTo>
                  <a:lnTo>
                    <a:pt x="423" y="47"/>
                  </a:lnTo>
                  <a:lnTo>
                    <a:pt x="417" y="53"/>
                  </a:lnTo>
                  <a:lnTo>
                    <a:pt x="411" y="59"/>
                  </a:lnTo>
                  <a:lnTo>
                    <a:pt x="403" y="69"/>
                  </a:lnTo>
                  <a:lnTo>
                    <a:pt x="398" y="85"/>
                  </a:lnTo>
                  <a:lnTo>
                    <a:pt x="396" y="99"/>
                  </a:lnTo>
                  <a:lnTo>
                    <a:pt x="394" y="112"/>
                  </a:lnTo>
                  <a:lnTo>
                    <a:pt x="392" y="122"/>
                  </a:lnTo>
                  <a:lnTo>
                    <a:pt x="384" y="126"/>
                  </a:lnTo>
                  <a:lnTo>
                    <a:pt x="372" y="122"/>
                  </a:lnTo>
                  <a:lnTo>
                    <a:pt x="360" y="118"/>
                  </a:lnTo>
                  <a:lnTo>
                    <a:pt x="346" y="110"/>
                  </a:lnTo>
                  <a:lnTo>
                    <a:pt x="335" y="107"/>
                  </a:lnTo>
                  <a:lnTo>
                    <a:pt x="325" y="105"/>
                  </a:lnTo>
                  <a:lnTo>
                    <a:pt x="319" y="107"/>
                  </a:lnTo>
                  <a:lnTo>
                    <a:pt x="317" y="118"/>
                  </a:lnTo>
                  <a:lnTo>
                    <a:pt x="325" y="128"/>
                  </a:lnTo>
                  <a:lnTo>
                    <a:pt x="337" y="138"/>
                  </a:lnTo>
                  <a:lnTo>
                    <a:pt x="346" y="146"/>
                  </a:lnTo>
                  <a:lnTo>
                    <a:pt x="358" y="152"/>
                  </a:lnTo>
                  <a:lnTo>
                    <a:pt x="372" y="154"/>
                  </a:lnTo>
                  <a:lnTo>
                    <a:pt x="388" y="150"/>
                  </a:lnTo>
                  <a:lnTo>
                    <a:pt x="402" y="142"/>
                  </a:lnTo>
                  <a:lnTo>
                    <a:pt x="407" y="134"/>
                  </a:lnTo>
                  <a:lnTo>
                    <a:pt x="413" y="124"/>
                  </a:lnTo>
                  <a:lnTo>
                    <a:pt x="417" y="112"/>
                  </a:lnTo>
                  <a:lnTo>
                    <a:pt x="423" y="103"/>
                  </a:lnTo>
                  <a:lnTo>
                    <a:pt x="429" y="97"/>
                  </a:lnTo>
                  <a:lnTo>
                    <a:pt x="437" y="97"/>
                  </a:lnTo>
                  <a:lnTo>
                    <a:pt x="447" y="105"/>
                  </a:lnTo>
                  <a:lnTo>
                    <a:pt x="468" y="122"/>
                  </a:lnTo>
                  <a:lnTo>
                    <a:pt x="486" y="132"/>
                  </a:lnTo>
                  <a:lnTo>
                    <a:pt x="502" y="138"/>
                  </a:lnTo>
                  <a:lnTo>
                    <a:pt x="514" y="142"/>
                  </a:lnTo>
                  <a:lnTo>
                    <a:pt x="524" y="144"/>
                  </a:lnTo>
                  <a:lnTo>
                    <a:pt x="537" y="148"/>
                  </a:lnTo>
                  <a:lnTo>
                    <a:pt x="549" y="154"/>
                  </a:lnTo>
                  <a:lnTo>
                    <a:pt x="559" y="164"/>
                  </a:lnTo>
                  <a:lnTo>
                    <a:pt x="565" y="177"/>
                  </a:lnTo>
                  <a:lnTo>
                    <a:pt x="561" y="191"/>
                  </a:lnTo>
                  <a:lnTo>
                    <a:pt x="553" y="207"/>
                  </a:lnTo>
                  <a:lnTo>
                    <a:pt x="543" y="221"/>
                  </a:lnTo>
                  <a:lnTo>
                    <a:pt x="531" y="232"/>
                  </a:lnTo>
                  <a:lnTo>
                    <a:pt x="524" y="240"/>
                  </a:lnTo>
                  <a:lnTo>
                    <a:pt x="520" y="242"/>
                  </a:lnTo>
                  <a:lnTo>
                    <a:pt x="524" y="242"/>
                  </a:lnTo>
                  <a:lnTo>
                    <a:pt x="533" y="242"/>
                  </a:lnTo>
                  <a:lnTo>
                    <a:pt x="543" y="240"/>
                  </a:lnTo>
                  <a:lnTo>
                    <a:pt x="555" y="242"/>
                  </a:lnTo>
                  <a:lnTo>
                    <a:pt x="561" y="246"/>
                  </a:lnTo>
                  <a:lnTo>
                    <a:pt x="561" y="252"/>
                  </a:lnTo>
                  <a:lnTo>
                    <a:pt x="555" y="262"/>
                  </a:lnTo>
                  <a:lnTo>
                    <a:pt x="543" y="270"/>
                  </a:lnTo>
                  <a:lnTo>
                    <a:pt x="529" y="278"/>
                  </a:lnTo>
                  <a:lnTo>
                    <a:pt x="516" y="286"/>
                  </a:lnTo>
                  <a:lnTo>
                    <a:pt x="506" y="290"/>
                  </a:lnTo>
                  <a:lnTo>
                    <a:pt x="502" y="292"/>
                  </a:lnTo>
                  <a:lnTo>
                    <a:pt x="506" y="292"/>
                  </a:lnTo>
                  <a:lnTo>
                    <a:pt x="516" y="295"/>
                  </a:lnTo>
                  <a:lnTo>
                    <a:pt x="528" y="303"/>
                  </a:lnTo>
                  <a:lnTo>
                    <a:pt x="537" y="315"/>
                  </a:lnTo>
                  <a:lnTo>
                    <a:pt x="541" y="329"/>
                  </a:lnTo>
                  <a:lnTo>
                    <a:pt x="543" y="353"/>
                  </a:lnTo>
                  <a:lnTo>
                    <a:pt x="543" y="374"/>
                  </a:lnTo>
                  <a:lnTo>
                    <a:pt x="549" y="396"/>
                  </a:lnTo>
                  <a:lnTo>
                    <a:pt x="555" y="408"/>
                  </a:lnTo>
                  <a:lnTo>
                    <a:pt x="561" y="418"/>
                  </a:lnTo>
                  <a:lnTo>
                    <a:pt x="565" y="425"/>
                  </a:lnTo>
                  <a:lnTo>
                    <a:pt x="563" y="435"/>
                  </a:lnTo>
                  <a:lnTo>
                    <a:pt x="553" y="445"/>
                  </a:lnTo>
                  <a:lnTo>
                    <a:pt x="541" y="451"/>
                  </a:lnTo>
                  <a:lnTo>
                    <a:pt x="528" y="449"/>
                  </a:lnTo>
                  <a:lnTo>
                    <a:pt x="514" y="445"/>
                  </a:lnTo>
                  <a:lnTo>
                    <a:pt x="502" y="441"/>
                  </a:lnTo>
                  <a:lnTo>
                    <a:pt x="490" y="443"/>
                  </a:lnTo>
                  <a:lnTo>
                    <a:pt x="482" y="453"/>
                  </a:lnTo>
                  <a:lnTo>
                    <a:pt x="476" y="465"/>
                  </a:lnTo>
                  <a:lnTo>
                    <a:pt x="474" y="479"/>
                  </a:lnTo>
                  <a:lnTo>
                    <a:pt x="472" y="492"/>
                  </a:lnTo>
                  <a:lnTo>
                    <a:pt x="470" y="506"/>
                  </a:lnTo>
                  <a:lnTo>
                    <a:pt x="463" y="518"/>
                  </a:lnTo>
                  <a:lnTo>
                    <a:pt x="457" y="532"/>
                  </a:lnTo>
                  <a:lnTo>
                    <a:pt x="449" y="545"/>
                  </a:lnTo>
                  <a:lnTo>
                    <a:pt x="447" y="567"/>
                  </a:lnTo>
                  <a:lnTo>
                    <a:pt x="445" y="587"/>
                  </a:lnTo>
                  <a:lnTo>
                    <a:pt x="445" y="599"/>
                  </a:lnTo>
                  <a:lnTo>
                    <a:pt x="445" y="604"/>
                  </a:lnTo>
                  <a:lnTo>
                    <a:pt x="445" y="606"/>
                  </a:lnTo>
                  <a:lnTo>
                    <a:pt x="405" y="634"/>
                  </a:lnTo>
                  <a:lnTo>
                    <a:pt x="382" y="610"/>
                  </a:lnTo>
                  <a:lnTo>
                    <a:pt x="350" y="634"/>
                  </a:lnTo>
                  <a:lnTo>
                    <a:pt x="317" y="638"/>
                  </a:lnTo>
                  <a:lnTo>
                    <a:pt x="274" y="595"/>
                  </a:lnTo>
                  <a:lnTo>
                    <a:pt x="234" y="638"/>
                  </a:lnTo>
                  <a:lnTo>
                    <a:pt x="185" y="622"/>
                  </a:lnTo>
                  <a:lnTo>
                    <a:pt x="146" y="565"/>
                  </a:lnTo>
                  <a:lnTo>
                    <a:pt x="140" y="514"/>
                  </a:lnTo>
                  <a:lnTo>
                    <a:pt x="91" y="514"/>
                  </a:lnTo>
                  <a:lnTo>
                    <a:pt x="77" y="453"/>
                  </a:lnTo>
                  <a:lnTo>
                    <a:pt x="0" y="394"/>
                  </a:lnTo>
                  <a:lnTo>
                    <a:pt x="18" y="333"/>
                  </a:lnTo>
                  <a:lnTo>
                    <a:pt x="77" y="272"/>
                  </a:lnTo>
                  <a:lnTo>
                    <a:pt x="106" y="199"/>
                  </a:lnTo>
                  <a:lnTo>
                    <a:pt x="134" y="156"/>
                  </a:lnTo>
                  <a:lnTo>
                    <a:pt x="165" y="144"/>
                  </a:lnTo>
                  <a:lnTo>
                    <a:pt x="144" y="101"/>
                  </a:lnTo>
                  <a:lnTo>
                    <a:pt x="183" y="51"/>
                  </a:lnTo>
                  <a:lnTo>
                    <a:pt x="179" y="8"/>
                  </a:lnTo>
                  <a:lnTo>
                    <a:pt x="224" y="0"/>
                  </a:lnTo>
                  <a:lnTo>
                    <a:pt x="252" y="34"/>
                  </a:lnTo>
                  <a:lnTo>
                    <a:pt x="301" y="30"/>
                  </a:lnTo>
                  <a:lnTo>
                    <a:pt x="344" y="20"/>
                  </a:lnTo>
                  <a:lnTo>
                    <a:pt x="384" y="4"/>
                  </a:lnTo>
                  <a:lnTo>
                    <a:pt x="415" y="22"/>
                  </a:lnTo>
                  <a:lnTo>
                    <a:pt x="433" y="44"/>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59" name="Freeform 83"/>
            <p:cNvSpPr/>
            <p:nvPr/>
          </p:nvSpPr>
          <p:spPr bwMode="gray">
            <a:xfrm>
              <a:off x="3622" y="2455"/>
              <a:ext cx="383" cy="340"/>
            </a:xfrm>
            <a:custGeom>
              <a:avLst/>
              <a:gdLst>
                <a:gd name="T0" fmla="*/ 67 w 766"/>
                <a:gd name="T1" fmla="*/ 11 h 681"/>
                <a:gd name="T2" fmla="*/ 71 w 766"/>
                <a:gd name="T3" fmla="*/ 13 h 681"/>
                <a:gd name="T4" fmla="*/ 79 w 766"/>
                <a:gd name="T5" fmla="*/ 17 h 681"/>
                <a:gd name="T6" fmla="*/ 85 w 766"/>
                <a:gd name="T7" fmla="*/ 22 h 681"/>
                <a:gd name="T8" fmla="*/ 96 w 766"/>
                <a:gd name="T9" fmla="*/ 25 h 681"/>
                <a:gd name="T10" fmla="*/ 105 w 766"/>
                <a:gd name="T11" fmla="*/ 28 h 681"/>
                <a:gd name="T12" fmla="*/ 110 w 766"/>
                <a:gd name="T13" fmla="*/ 34 h 681"/>
                <a:gd name="T14" fmla="*/ 114 w 766"/>
                <a:gd name="T15" fmla="*/ 41 h 681"/>
                <a:gd name="T16" fmla="*/ 120 w 766"/>
                <a:gd name="T17" fmla="*/ 51 h 681"/>
                <a:gd name="T18" fmla="*/ 126 w 766"/>
                <a:gd name="T19" fmla="*/ 59 h 681"/>
                <a:gd name="T20" fmla="*/ 133 w 766"/>
                <a:gd name="T21" fmla="*/ 69 h 681"/>
                <a:gd name="T22" fmla="*/ 138 w 766"/>
                <a:gd name="T23" fmla="*/ 79 h 681"/>
                <a:gd name="T24" fmla="*/ 138 w 766"/>
                <a:gd name="T25" fmla="*/ 85 h 681"/>
                <a:gd name="T26" fmla="*/ 141 w 766"/>
                <a:gd name="T27" fmla="*/ 92 h 681"/>
                <a:gd name="T28" fmla="*/ 152 w 766"/>
                <a:gd name="T29" fmla="*/ 96 h 681"/>
                <a:gd name="T30" fmla="*/ 162 w 766"/>
                <a:gd name="T31" fmla="*/ 99 h 681"/>
                <a:gd name="T32" fmla="*/ 168 w 766"/>
                <a:gd name="T33" fmla="*/ 106 h 681"/>
                <a:gd name="T34" fmla="*/ 174 w 766"/>
                <a:gd name="T35" fmla="*/ 112 h 681"/>
                <a:gd name="T36" fmla="*/ 179 w 766"/>
                <a:gd name="T37" fmla="*/ 116 h 681"/>
                <a:gd name="T38" fmla="*/ 183 w 766"/>
                <a:gd name="T39" fmla="*/ 121 h 681"/>
                <a:gd name="T40" fmla="*/ 181 w 766"/>
                <a:gd name="T41" fmla="*/ 124 h 681"/>
                <a:gd name="T42" fmla="*/ 173 w 766"/>
                <a:gd name="T43" fmla="*/ 125 h 681"/>
                <a:gd name="T44" fmla="*/ 161 w 766"/>
                <a:gd name="T45" fmla="*/ 124 h 681"/>
                <a:gd name="T46" fmla="*/ 153 w 766"/>
                <a:gd name="T47" fmla="*/ 124 h 681"/>
                <a:gd name="T48" fmla="*/ 153 w 766"/>
                <a:gd name="T49" fmla="*/ 124 h 681"/>
                <a:gd name="T50" fmla="*/ 158 w 766"/>
                <a:gd name="T51" fmla="*/ 126 h 681"/>
                <a:gd name="T52" fmla="*/ 165 w 766"/>
                <a:gd name="T53" fmla="*/ 130 h 681"/>
                <a:gd name="T54" fmla="*/ 168 w 766"/>
                <a:gd name="T55" fmla="*/ 134 h 681"/>
                <a:gd name="T56" fmla="*/ 177 w 766"/>
                <a:gd name="T57" fmla="*/ 139 h 681"/>
                <a:gd name="T58" fmla="*/ 184 w 766"/>
                <a:gd name="T59" fmla="*/ 144 h 681"/>
                <a:gd name="T60" fmla="*/ 189 w 766"/>
                <a:gd name="T61" fmla="*/ 150 h 681"/>
                <a:gd name="T62" fmla="*/ 192 w 766"/>
                <a:gd name="T63" fmla="*/ 155 h 681"/>
                <a:gd name="T64" fmla="*/ 190 w 766"/>
                <a:gd name="T65" fmla="*/ 157 h 681"/>
                <a:gd name="T66" fmla="*/ 183 w 766"/>
                <a:gd name="T67" fmla="*/ 161 h 681"/>
                <a:gd name="T68" fmla="*/ 177 w 766"/>
                <a:gd name="T69" fmla="*/ 164 h 681"/>
                <a:gd name="T70" fmla="*/ 175 w 766"/>
                <a:gd name="T71" fmla="*/ 166 h 681"/>
                <a:gd name="T72" fmla="*/ 173 w 766"/>
                <a:gd name="T73" fmla="*/ 168 h 681"/>
                <a:gd name="T74" fmla="*/ 171 w 766"/>
                <a:gd name="T75" fmla="*/ 169 h 681"/>
                <a:gd name="T76" fmla="*/ 170 w 766"/>
                <a:gd name="T77" fmla="*/ 170 h 681"/>
                <a:gd name="T78" fmla="*/ 158 w 766"/>
                <a:gd name="T79" fmla="*/ 160 h 681"/>
                <a:gd name="T80" fmla="*/ 125 w 766"/>
                <a:gd name="T81" fmla="*/ 167 h 681"/>
                <a:gd name="T82" fmla="*/ 108 w 766"/>
                <a:gd name="T83" fmla="*/ 161 h 681"/>
                <a:gd name="T84" fmla="*/ 89 w 766"/>
                <a:gd name="T85" fmla="*/ 158 h 681"/>
                <a:gd name="T86" fmla="*/ 75 w 766"/>
                <a:gd name="T87" fmla="*/ 148 h 681"/>
                <a:gd name="T88" fmla="*/ 57 w 766"/>
                <a:gd name="T89" fmla="*/ 128 h 681"/>
                <a:gd name="T90" fmla="*/ 49 w 766"/>
                <a:gd name="T91" fmla="*/ 101 h 681"/>
                <a:gd name="T92" fmla="*/ 36 w 766"/>
                <a:gd name="T93" fmla="*/ 67 h 681"/>
                <a:gd name="T94" fmla="*/ 21 w 766"/>
                <a:gd name="T95" fmla="*/ 64 h 681"/>
                <a:gd name="T96" fmla="*/ 0 w 766"/>
                <a:gd name="T97" fmla="*/ 55 h 681"/>
                <a:gd name="T98" fmla="*/ 18 w 766"/>
                <a:gd name="T99" fmla="*/ 31 h 681"/>
                <a:gd name="T100" fmla="*/ 30 w 766"/>
                <a:gd name="T101" fmla="*/ 25 h 681"/>
                <a:gd name="T102" fmla="*/ 51 w 766"/>
                <a:gd name="T103" fmla="*/ 19 h 681"/>
                <a:gd name="T104" fmla="*/ 66 w 766"/>
                <a:gd name="T105" fmla="*/ 0 h 68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66"/>
                <a:gd name="T160" fmla="*/ 0 h 681"/>
                <a:gd name="T161" fmla="*/ 766 w 766"/>
                <a:gd name="T162" fmla="*/ 681 h 68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66" h="681">
                  <a:moveTo>
                    <a:pt x="262" y="0"/>
                  </a:moveTo>
                  <a:lnTo>
                    <a:pt x="266" y="45"/>
                  </a:lnTo>
                  <a:lnTo>
                    <a:pt x="270" y="49"/>
                  </a:lnTo>
                  <a:lnTo>
                    <a:pt x="281" y="55"/>
                  </a:lnTo>
                  <a:lnTo>
                    <a:pt x="297" y="63"/>
                  </a:lnTo>
                  <a:lnTo>
                    <a:pt x="313" y="70"/>
                  </a:lnTo>
                  <a:lnTo>
                    <a:pt x="325" y="78"/>
                  </a:lnTo>
                  <a:lnTo>
                    <a:pt x="340" y="88"/>
                  </a:lnTo>
                  <a:lnTo>
                    <a:pt x="362" y="94"/>
                  </a:lnTo>
                  <a:lnTo>
                    <a:pt x="384" y="100"/>
                  </a:lnTo>
                  <a:lnTo>
                    <a:pt x="402" y="104"/>
                  </a:lnTo>
                  <a:lnTo>
                    <a:pt x="419" y="114"/>
                  </a:lnTo>
                  <a:lnTo>
                    <a:pt x="433" y="124"/>
                  </a:lnTo>
                  <a:lnTo>
                    <a:pt x="441" y="137"/>
                  </a:lnTo>
                  <a:lnTo>
                    <a:pt x="447" y="149"/>
                  </a:lnTo>
                  <a:lnTo>
                    <a:pt x="457" y="165"/>
                  </a:lnTo>
                  <a:lnTo>
                    <a:pt x="470" y="185"/>
                  </a:lnTo>
                  <a:lnTo>
                    <a:pt x="482" y="204"/>
                  </a:lnTo>
                  <a:lnTo>
                    <a:pt x="496" y="222"/>
                  </a:lnTo>
                  <a:lnTo>
                    <a:pt x="506" y="236"/>
                  </a:lnTo>
                  <a:lnTo>
                    <a:pt x="518" y="253"/>
                  </a:lnTo>
                  <a:lnTo>
                    <a:pt x="531" y="277"/>
                  </a:lnTo>
                  <a:lnTo>
                    <a:pt x="543" y="299"/>
                  </a:lnTo>
                  <a:lnTo>
                    <a:pt x="549" y="316"/>
                  </a:lnTo>
                  <a:lnTo>
                    <a:pt x="551" y="330"/>
                  </a:lnTo>
                  <a:lnTo>
                    <a:pt x="551" y="342"/>
                  </a:lnTo>
                  <a:lnTo>
                    <a:pt x="553" y="354"/>
                  </a:lnTo>
                  <a:lnTo>
                    <a:pt x="563" y="368"/>
                  </a:lnTo>
                  <a:lnTo>
                    <a:pt x="583" y="379"/>
                  </a:lnTo>
                  <a:lnTo>
                    <a:pt x="606" y="385"/>
                  </a:lnTo>
                  <a:lnTo>
                    <a:pt x="628" y="391"/>
                  </a:lnTo>
                  <a:lnTo>
                    <a:pt x="646" y="399"/>
                  </a:lnTo>
                  <a:lnTo>
                    <a:pt x="659" y="411"/>
                  </a:lnTo>
                  <a:lnTo>
                    <a:pt x="671" y="427"/>
                  </a:lnTo>
                  <a:lnTo>
                    <a:pt x="681" y="440"/>
                  </a:lnTo>
                  <a:lnTo>
                    <a:pt x="693" y="448"/>
                  </a:lnTo>
                  <a:lnTo>
                    <a:pt x="705" y="454"/>
                  </a:lnTo>
                  <a:lnTo>
                    <a:pt x="716" y="464"/>
                  </a:lnTo>
                  <a:lnTo>
                    <a:pt x="726" y="474"/>
                  </a:lnTo>
                  <a:lnTo>
                    <a:pt x="732" y="486"/>
                  </a:lnTo>
                  <a:lnTo>
                    <a:pt x="732" y="496"/>
                  </a:lnTo>
                  <a:lnTo>
                    <a:pt x="724" y="499"/>
                  </a:lnTo>
                  <a:lnTo>
                    <a:pt x="711" y="501"/>
                  </a:lnTo>
                  <a:lnTo>
                    <a:pt x="689" y="503"/>
                  </a:lnTo>
                  <a:lnTo>
                    <a:pt x="667" y="501"/>
                  </a:lnTo>
                  <a:lnTo>
                    <a:pt x="644" y="499"/>
                  </a:lnTo>
                  <a:lnTo>
                    <a:pt x="624" y="498"/>
                  </a:lnTo>
                  <a:lnTo>
                    <a:pt x="610" y="496"/>
                  </a:lnTo>
                  <a:lnTo>
                    <a:pt x="606" y="496"/>
                  </a:lnTo>
                  <a:lnTo>
                    <a:pt x="610" y="498"/>
                  </a:lnTo>
                  <a:lnTo>
                    <a:pt x="620" y="501"/>
                  </a:lnTo>
                  <a:lnTo>
                    <a:pt x="632" y="507"/>
                  </a:lnTo>
                  <a:lnTo>
                    <a:pt x="646" y="515"/>
                  </a:lnTo>
                  <a:lnTo>
                    <a:pt x="657" y="523"/>
                  </a:lnTo>
                  <a:lnTo>
                    <a:pt x="663" y="531"/>
                  </a:lnTo>
                  <a:lnTo>
                    <a:pt x="671" y="539"/>
                  </a:lnTo>
                  <a:lnTo>
                    <a:pt x="687" y="549"/>
                  </a:lnTo>
                  <a:lnTo>
                    <a:pt x="707" y="559"/>
                  </a:lnTo>
                  <a:lnTo>
                    <a:pt x="724" y="568"/>
                  </a:lnTo>
                  <a:lnTo>
                    <a:pt x="736" y="578"/>
                  </a:lnTo>
                  <a:lnTo>
                    <a:pt x="746" y="590"/>
                  </a:lnTo>
                  <a:lnTo>
                    <a:pt x="754" y="602"/>
                  </a:lnTo>
                  <a:lnTo>
                    <a:pt x="762" y="612"/>
                  </a:lnTo>
                  <a:lnTo>
                    <a:pt x="766" y="622"/>
                  </a:lnTo>
                  <a:lnTo>
                    <a:pt x="766" y="627"/>
                  </a:lnTo>
                  <a:lnTo>
                    <a:pt x="758" y="631"/>
                  </a:lnTo>
                  <a:lnTo>
                    <a:pt x="746" y="639"/>
                  </a:lnTo>
                  <a:lnTo>
                    <a:pt x="730" y="647"/>
                  </a:lnTo>
                  <a:lnTo>
                    <a:pt x="716" y="653"/>
                  </a:lnTo>
                  <a:lnTo>
                    <a:pt x="705" y="659"/>
                  </a:lnTo>
                  <a:lnTo>
                    <a:pt x="699" y="663"/>
                  </a:lnTo>
                  <a:lnTo>
                    <a:pt x="697" y="665"/>
                  </a:lnTo>
                  <a:lnTo>
                    <a:pt x="693" y="669"/>
                  </a:lnTo>
                  <a:lnTo>
                    <a:pt x="689" y="673"/>
                  </a:lnTo>
                  <a:lnTo>
                    <a:pt x="685" y="675"/>
                  </a:lnTo>
                  <a:lnTo>
                    <a:pt x="681" y="677"/>
                  </a:lnTo>
                  <a:lnTo>
                    <a:pt x="679" y="679"/>
                  </a:lnTo>
                  <a:lnTo>
                    <a:pt x="679" y="681"/>
                  </a:lnTo>
                  <a:lnTo>
                    <a:pt x="665" y="663"/>
                  </a:lnTo>
                  <a:lnTo>
                    <a:pt x="632" y="641"/>
                  </a:lnTo>
                  <a:lnTo>
                    <a:pt x="592" y="657"/>
                  </a:lnTo>
                  <a:lnTo>
                    <a:pt x="500" y="671"/>
                  </a:lnTo>
                  <a:lnTo>
                    <a:pt x="472" y="637"/>
                  </a:lnTo>
                  <a:lnTo>
                    <a:pt x="431" y="645"/>
                  </a:lnTo>
                  <a:lnTo>
                    <a:pt x="398" y="651"/>
                  </a:lnTo>
                  <a:lnTo>
                    <a:pt x="356" y="633"/>
                  </a:lnTo>
                  <a:lnTo>
                    <a:pt x="303" y="651"/>
                  </a:lnTo>
                  <a:lnTo>
                    <a:pt x="297" y="592"/>
                  </a:lnTo>
                  <a:lnTo>
                    <a:pt x="242" y="566"/>
                  </a:lnTo>
                  <a:lnTo>
                    <a:pt x="230" y="513"/>
                  </a:lnTo>
                  <a:lnTo>
                    <a:pt x="258" y="470"/>
                  </a:lnTo>
                  <a:lnTo>
                    <a:pt x="197" y="407"/>
                  </a:lnTo>
                  <a:lnTo>
                    <a:pt x="140" y="336"/>
                  </a:lnTo>
                  <a:lnTo>
                    <a:pt x="144" y="269"/>
                  </a:lnTo>
                  <a:lnTo>
                    <a:pt x="112" y="250"/>
                  </a:lnTo>
                  <a:lnTo>
                    <a:pt x="83" y="257"/>
                  </a:lnTo>
                  <a:lnTo>
                    <a:pt x="69" y="222"/>
                  </a:lnTo>
                  <a:lnTo>
                    <a:pt x="0" y="220"/>
                  </a:lnTo>
                  <a:lnTo>
                    <a:pt x="14" y="131"/>
                  </a:lnTo>
                  <a:lnTo>
                    <a:pt x="69" y="124"/>
                  </a:lnTo>
                  <a:lnTo>
                    <a:pt x="81" y="98"/>
                  </a:lnTo>
                  <a:lnTo>
                    <a:pt x="122" y="100"/>
                  </a:lnTo>
                  <a:lnTo>
                    <a:pt x="175" y="76"/>
                  </a:lnTo>
                  <a:lnTo>
                    <a:pt x="203" y="76"/>
                  </a:lnTo>
                  <a:lnTo>
                    <a:pt x="215" y="15"/>
                  </a:lnTo>
                  <a:lnTo>
                    <a:pt x="262" y="0"/>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0" name="Freeform 84"/>
            <p:cNvSpPr/>
            <p:nvPr/>
          </p:nvSpPr>
          <p:spPr bwMode="gray">
            <a:xfrm>
              <a:off x="3622" y="2455"/>
              <a:ext cx="383" cy="340"/>
            </a:xfrm>
            <a:custGeom>
              <a:avLst/>
              <a:gdLst>
                <a:gd name="T0" fmla="*/ 67 w 766"/>
                <a:gd name="T1" fmla="*/ 11 h 681"/>
                <a:gd name="T2" fmla="*/ 71 w 766"/>
                <a:gd name="T3" fmla="*/ 13 h 681"/>
                <a:gd name="T4" fmla="*/ 79 w 766"/>
                <a:gd name="T5" fmla="*/ 17 h 681"/>
                <a:gd name="T6" fmla="*/ 85 w 766"/>
                <a:gd name="T7" fmla="*/ 22 h 681"/>
                <a:gd name="T8" fmla="*/ 96 w 766"/>
                <a:gd name="T9" fmla="*/ 25 h 681"/>
                <a:gd name="T10" fmla="*/ 105 w 766"/>
                <a:gd name="T11" fmla="*/ 28 h 681"/>
                <a:gd name="T12" fmla="*/ 110 w 766"/>
                <a:gd name="T13" fmla="*/ 34 h 681"/>
                <a:gd name="T14" fmla="*/ 114 w 766"/>
                <a:gd name="T15" fmla="*/ 41 h 681"/>
                <a:gd name="T16" fmla="*/ 120 w 766"/>
                <a:gd name="T17" fmla="*/ 51 h 681"/>
                <a:gd name="T18" fmla="*/ 126 w 766"/>
                <a:gd name="T19" fmla="*/ 59 h 681"/>
                <a:gd name="T20" fmla="*/ 133 w 766"/>
                <a:gd name="T21" fmla="*/ 69 h 681"/>
                <a:gd name="T22" fmla="*/ 138 w 766"/>
                <a:gd name="T23" fmla="*/ 79 h 681"/>
                <a:gd name="T24" fmla="*/ 138 w 766"/>
                <a:gd name="T25" fmla="*/ 85 h 681"/>
                <a:gd name="T26" fmla="*/ 141 w 766"/>
                <a:gd name="T27" fmla="*/ 92 h 681"/>
                <a:gd name="T28" fmla="*/ 152 w 766"/>
                <a:gd name="T29" fmla="*/ 96 h 681"/>
                <a:gd name="T30" fmla="*/ 162 w 766"/>
                <a:gd name="T31" fmla="*/ 99 h 681"/>
                <a:gd name="T32" fmla="*/ 168 w 766"/>
                <a:gd name="T33" fmla="*/ 106 h 681"/>
                <a:gd name="T34" fmla="*/ 174 w 766"/>
                <a:gd name="T35" fmla="*/ 112 h 681"/>
                <a:gd name="T36" fmla="*/ 179 w 766"/>
                <a:gd name="T37" fmla="*/ 116 h 681"/>
                <a:gd name="T38" fmla="*/ 183 w 766"/>
                <a:gd name="T39" fmla="*/ 121 h 681"/>
                <a:gd name="T40" fmla="*/ 181 w 766"/>
                <a:gd name="T41" fmla="*/ 124 h 681"/>
                <a:gd name="T42" fmla="*/ 173 w 766"/>
                <a:gd name="T43" fmla="*/ 125 h 681"/>
                <a:gd name="T44" fmla="*/ 161 w 766"/>
                <a:gd name="T45" fmla="*/ 124 h 681"/>
                <a:gd name="T46" fmla="*/ 153 w 766"/>
                <a:gd name="T47" fmla="*/ 124 h 681"/>
                <a:gd name="T48" fmla="*/ 153 w 766"/>
                <a:gd name="T49" fmla="*/ 124 h 681"/>
                <a:gd name="T50" fmla="*/ 158 w 766"/>
                <a:gd name="T51" fmla="*/ 126 h 681"/>
                <a:gd name="T52" fmla="*/ 165 w 766"/>
                <a:gd name="T53" fmla="*/ 130 h 681"/>
                <a:gd name="T54" fmla="*/ 168 w 766"/>
                <a:gd name="T55" fmla="*/ 134 h 681"/>
                <a:gd name="T56" fmla="*/ 177 w 766"/>
                <a:gd name="T57" fmla="*/ 139 h 681"/>
                <a:gd name="T58" fmla="*/ 184 w 766"/>
                <a:gd name="T59" fmla="*/ 144 h 681"/>
                <a:gd name="T60" fmla="*/ 189 w 766"/>
                <a:gd name="T61" fmla="*/ 150 h 681"/>
                <a:gd name="T62" fmla="*/ 192 w 766"/>
                <a:gd name="T63" fmla="*/ 155 h 681"/>
                <a:gd name="T64" fmla="*/ 190 w 766"/>
                <a:gd name="T65" fmla="*/ 157 h 681"/>
                <a:gd name="T66" fmla="*/ 183 w 766"/>
                <a:gd name="T67" fmla="*/ 161 h 681"/>
                <a:gd name="T68" fmla="*/ 177 w 766"/>
                <a:gd name="T69" fmla="*/ 164 h 681"/>
                <a:gd name="T70" fmla="*/ 175 w 766"/>
                <a:gd name="T71" fmla="*/ 166 h 681"/>
                <a:gd name="T72" fmla="*/ 173 w 766"/>
                <a:gd name="T73" fmla="*/ 168 h 681"/>
                <a:gd name="T74" fmla="*/ 171 w 766"/>
                <a:gd name="T75" fmla="*/ 169 h 681"/>
                <a:gd name="T76" fmla="*/ 170 w 766"/>
                <a:gd name="T77" fmla="*/ 170 h 681"/>
                <a:gd name="T78" fmla="*/ 158 w 766"/>
                <a:gd name="T79" fmla="*/ 160 h 681"/>
                <a:gd name="T80" fmla="*/ 125 w 766"/>
                <a:gd name="T81" fmla="*/ 167 h 681"/>
                <a:gd name="T82" fmla="*/ 108 w 766"/>
                <a:gd name="T83" fmla="*/ 161 h 681"/>
                <a:gd name="T84" fmla="*/ 89 w 766"/>
                <a:gd name="T85" fmla="*/ 158 h 681"/>
                <a:gd name="T86" fmla="*/ 75 w 766"/>
                <a:gd name="T87" fmla="*/ 148 h 681"/>
                <a:gd name="T88" fmla="*/ 57 w 766"/>
                <a:gd name="T89" fmla="*/ 128 h 681"/>
                <a:gd name="T90" fmla="*/ 49 w 766"/>
                <a:gd name="T91" fmla="*/ 101 h 681"/>
                <a:gd name="T92" fmla="*/ 36 w 766"/>
                <a:gd name="T93" fmla="*/ 67 h 681"/>
                <a:gd name="T94" fmla="*/ 21 w 766"/>
                <a:gd name="T95" fmla="*/ 64 h 681"/>
                <a:gd name="T96" fmla="*/ 0 w 766"/>
                <a:gd name="T97" fmla="*/ 55 h 681"/>
                <a:gd name="T98" fmla="*/ 18 w 766"/>
                <a:gd name="T99" fmla="*/ 31 h 681"/>
                <a:gd name="T100" fmla="*/ 30 w 766"/>
                <a:gd name="T101" fmla="*/ 25 h 681"/>
                <a:gd name="T102" fmla="*/ 51 w 766"/>
                <a:gd name="T103" fmla="*/ 19 h 681"/>
                <a:gd name="T104" fmla="*/ 66 w 766"/>
                <a:gd name="T105" fmla="*/ 0 h 68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66"/>
                <a:gd name="T160" fmla="*/ 0 h 681"/>
                <a:gd name="T161" fmla="*/ 766 w 766"/>
                <a:gd name="T162" fmla="*/ 681 h 68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66" h="681">
                  <a:moveTo>
                    <a:pt x="262" y="0"/>
                  </a:moveTo>
                  <a:lnTo>
                    <a:pt x="266" y="45"/>
                  </a:lnTo>
                  <a:lnTo>
                    <a:pt x="270" y="49"/>
                  </a:lnTo>
                  <a:lnTo>
                    <a:pt x="281" y="55"/>
                  </a:lnTo>
                  <a:lnTo>
                    <a:pt x="297" y="63"/>
                  </a:lnTo>
                  <a:lnTo>
                    <a:pt x="313" y="70"/>
                  </a:lnTo>
                  <a:lnTo>
                    <a:pt x="325" y="78"/>
                  </a:lnTo>
                  <a:lnTo>
                    <a:pt x="340" y="88"/>
                  </a:lnTo>
                  <a:lnTo>
                    <a:pt x="362" y="94"/>
                  </a:lnTo>
                  <a:lnTo>
                    <a:pt x="384" y="100"/>
                  </a:lnTo>
                  <a:lnTo>
                    <a:pt x="402" y="104"/>
                  </a:lnTo>
                  <a:lnTo>
                    <a:pt x="419" y="114"/>
                  </a:lnTo>
                  <a:lnTo>
                    <a:pt x="433" y="124"/>
                  </a:lnTo>
                  <a:lnTo>
                    <a:pt x="441" y="137"/>
                  </a:lnTo>
                  <a:lnTo>
                    <a:pt x="447" y="149"/>
                  </a:lnTo>
                  <a:lnTo>
                    <a:pt x="457" y="165"/>
                  </a:lnTo>
                  <a:lnTo>
                    <a:pt x="470" y="185"/>
                  </a:lnTo>
                  <a:lnTo>
                    <a:pt x="482" y="204"/>
                  </a:lnTo>
                  <a:lnTo>
                    <a:pt x="496" y="222"/>
                  </a:lnTo>
                  <a:lnTo>
                    <a:pt x="506" y="236"/>
                  </a:lnTo>
                  <a:lnTo>
                    <a:pt x="518" y="253"/>
                  </a:lnTo>
                  <a:lnTo>
                    <a:pt x="531" y="277"/>
                  </a:lnTo>
                  <a:lnTo>
                    <a:pt x="543" y="299"/>
                  </a:lnTo>
                  <a:lnTo>
                    <a:pt x="549" y="316"/>
                  </a:lnTo>
                  <a:lnTo>
                    <a:pt x="551" y="330"/>
                  </a:lnTo>
                  <a:lnTo>
                    <a:pt x="551" y="342"/>
                  </a:lnTo>
                  <a:lnTo>
                    <a:pt x="553" y="354"/>
                  </a:lnTo>
                  <a:lnTo>
                    <a:pt x="563" y="368"/>
                  </a:lnTo>
                  <a:lnTo>
                    <a:pt x="583" y="379"/>
                  </a:lnTo>
                  <a:lnTo>
                    <a:pt x="606" y="385"/>
                  </a:lnTo>
                  <a:lnTo>
                    <a:pt x="628" y="391"/>
                  </a:lnTo>
                  <a:lnTo>
                    <a:pt x="646" y="399"/>
                  </a:lnTo>
                  <a:lnTo>
                    <a:pt x="659" y="411"/>
                  </a:lnTo>
                  <a:lnTo>
                    <a:pt x="671" y="427"/>
                  </a:lnTo>
                  <a:lnTo>
                    <a:pt x="681" y="440"/>
                  </a:lnTo>
                  <a:lnTo>
                    <a:pt x="693" y="448"/>
                  </a:lnTo>
                  <a:lnTo>
                    <a:pt x="705" y="454"/>
                  </a:lnTo>
                  <a:lnTo>
                    <a:pt x="716" y="464"/>
                  </a:lnTo>
                  <a:lnTo>
                    <a:pt x="726" y="474"/>
                  </a:lnTo>
                  <a:lnTo>
                    <a:pt x="732" y="486"/>
                  </a:lnTo>
                  <a:lnTo>
                    <a:pt x="732" y="496"/>
                  </a:lnTo>
                  <a:lnTo>
                    <a:pt x="724" y="499"/>
                  </a:lnTo>
                  <a:lnTo>
                    <a:pt x="711" y="501"/>
                  </a:lnTo>
                  <a:lnTo>
                    <a:pt x="689" y="503"/>
                  </a:lnTo>
                  <a:lnTo>
                    <a:pt x="667" y="501"/>
                  </a:lnTo>
                  <a:lnTo>
                    <a:pt x="644" y="499"/>
                  </a:lnTo>
                  <a:lnTo>
                    <a:pt x="624" y="498"/>
                  </a:lnTo>
                  <a:lnTo>
                    <a:pt x="610" y="496"/>
                  </a:lnTo>
                  <a:lnTo>
                    <a:pt x="606" y="496"/>
                  </a:lnTo>
                  <a:lnTo>
                    <a:pt x="610" y="498"/>
                  </a:lnTo>
                  <a:lnTo>
                    <a:pt x="620" y="501"/>
                  </a:lnTo>
                  <a:lnTo>
                    <a:pt x="632" y="507"/>
                  </a:lnTo>
                  <a:lnTo>
                    <a:pt x="646" y="515"/>
                  </a:lnTo>
                  <a:lnTo>
                    <a:pt x="657" y="523"/>
                  </a:lnTo>
                  <a:lnTo>
                    <a:pt x="663" y="531"/>
                  </a:lnTo>
                  <a:lnTo>
                    <a:pt x="671" y="539"/>
                  </a:lnTo>
                  <a:lnTo>
                    <a:pt x="687" y="549"/>
                  </a:lnTo>
                  <a:lnTo>
                    <a:pt x="707" y="559"/>
                  </a:lnTo>
                  <a:lnTo>
                    <a:pt x="724" y="568"/>
                  </a:lnTo>
                  <a:lnTo>
                    <a:pt x="736" y="578"/>
                  </a:lnTo>
                  <a:lnTo>
                    <a:pt x="746" y="590"/>
                  </a:lnTo>
                  <a:lnTo>
                    <a:pt x="754" y="602"/>
                  </a:lnTo>
                  <a:lnTo>
                    <a:pt x="762" y="612"/>
                  </a:lnTo>
                  <a:lnTo>
                    <a:pt x="766" y="622"/>
                  </a:lnTo>
                  <a:lnTo>
                    <a:pt x="766" y="627"/>
                  </a:lnTo>
                  <a:lnTo>
                    <a:pt x="758" y="631"/>
                  </a:lnTo>
                  <a:lnTo>
                    <a:pt x="746" y="639"/>
                  </a:lnTo>
                  <a:lnTo>
                    <a:pt x="730" y="647"/>
                  </a:lnTo>
                  <a:lnTo>
                    <a:pt x="716" y="653"/>
                  </a:lnTo>
                  <a:lnTo>
                    <a:pt x="705" y="659"/>
                  </a:lnTo>
                  <a:lnTo>
                    <a:pt x="699" y="663"/>
                  </a:lnTo>
                  <a:lnTo>
                    <a:pt x="697" y="665"/>
                  </a:lnTo>
                  <a:lnTo>
                    <a:pt x="693" y="669"/>
                  </a:lnTo>
                  <a:lnTo>
                    <a:pt x="689" y="673"/>
                  </a:lnTo>
                  <a:lnTo>
                    <a:pt x="685" y="675"/>
                  </a:lnTo>
                  <a:lnTo>
                    <a:pt x="681" y="677"/>
                  </a:lnTo>
                  <a:lnTo>
                    <a:pt x="679" y="679"/>
                  </a:lnTo>
                  <a:lnTo>
                    <a:pt x="679" y="681"/>
                  </a:lnTo>
                  <a:lnTo>
                    <a:pt x="665" y="663"/>
                  </a:lnTo>
                  <a:lnTo>
                    <a:pt x="632" y="641"/>
                  </a:lnTo>
                  <a:lnTo>
                    <a:pt x="592" y="657"/>
                  </a:lnTo>
                  <a:lnTo>
                    <a:pt x="500" y="671"/>
                  </a:lnTo>
                  <a:lnTo>
                    <a:pt x="472" y="637"/>
                  </a:lnTo>
                  <a:lnTo>
                    <a:pt x="431" y="645"/>
                  </a:lnTo>
                  <a:lnTo>
                    <a:pt x="398" y="651"/>
                  </a:lnTo>
                  <a:lnTo>
                    <a:pt x="356" y="633"/>
                  </a:lnTo>
                  <a:lnTo>
                    <a:pt x="303" y="651"/>
                  </a:lnTo>
                  <a:lnTo>
                    <a:pt x="297" y="592"/>
                  </a:lnTo>
                  <a:lnTo>
                    <a:pt x="242" y="566"/>
                  </a:lnTo>
                  <a:lnTo>
                    <a:pt x="230" y="513"/>
                  </a:lnTo>
                  <a:lnTo>
                    <a:pt x="258" y="470"/>
                  </a:lnTo>
                  <a:lnTo>
                    <a:pt x="197" y="407"/>
                  </a:lnTo>
                  <a:lnTo>
                    <a:pt x="140" y="336"/>
                  </a:lnTo>
                  <a:lnTo>
                    <a:pt x="144" y="269"/>
                  </a:lnTo>
                  <a:lnTo>
                    <a:pt x="112" y="250"/>
                  </a:lnTo>
                  <a:lnTo>
                    <a:pt x="83" y="257"/>
                  </a:lnTo>
                  <a:lnTo>
                    <a:pt x="69" y="222"/>
                  </a:lnTo>
                  <a:lnTo>
                    <a:pt x="0" y="220"/>
                  </a:lnTo>
                  <a:lnTo>
                    <a:pt x="14" y="131"/>
                  </a:lnTo>
                  <a:lnTo>
                    <a:pt x="69" y="124"/>
                  </a:lnTo>
                  <a:lnTo>
                    <a:pt x="81" y="98"/>
                  </a:lnTo>
                  <a:lnTo>
                    <a:pt x="122" y="100"/>
                  </a:lnTo>
                  <a:lnTo>
                    <a:pt x="175" y="76"/>
                  </a:lnTo>
                  <a:lnTo>
                    <a:pt x="203" y="76"/>
                  </a:lnTo>
                  <a:lnTo>
                    <a:pt x="215" y="15"/>
                  </a:lnTo>
                  <a:lnTo>
                    <a:pt x="262" y="0"/>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1" name="Freeform 85"/>
            <p:cNvSpPr/>
            <p:nvPr/>
          </p:nvSpPr>
          <p:spPr bwMode="gray">
            <a:xfrm>
              <a:off x="3848" y="2705"/>
              <a:ext cx="58" cy="77"/>
            </a:xfrm>
            <a:custGeom>
              <a:avLst/>
              <a:gdLst>
                <a:gd name="T0" fmla="*/ 0 w 116"/>
                <a:gd name="T1" fmla="*/ 0 h 156"/>
                <a:gd name="T2" fmla="*/ 1 w 116"/>
                <a:gd name="T3" fmla="*/ 1 h 156"/>
                <a:gd name="T4" fmla="*/ 2 w 116"/>
                <a:gd name="T5" fmla="*/ 4 h 156"/>
                <a:gd name="T6" fmla="*/ 4 w 116"/>
                <a:gd name="T7" fmla="*/ 8 h 156"/>
                <a:gd name="T8" fmla="*/ 5 w 116"/>
                <a:gd name="T9" fmla="*/ 13 h 156"/>
                <a:gd name="T10" fmla="*/ 6 w 116"/>
                <a:gd name="T11" fmla="*/ 16 h 156"/>
                <a:gd name="T12" fmla="*/ 6 w 116"/>
                <a:gd name="T13" fmla="*/ 20 h 156"/>
                <a:gd name="T14" fmla="*/ 8 w 116"/>
                <a:gd name="T15" fmla="*/ 25 h 156"/>
                <a:gd name="T16" fmla="*/ 11 w 116"/>
                <a:gd name="T17" fmla="*/ 30 h 156"/>
                <a:gd name="T18" fmla="*/ 12 w 116"/>
                <a:gd name="T19" fmla="*/ 33 h 156"/>
                <a:gd name="T20" fmla="*/ 13 w 116"/>
                <a:gd name="T21" fmla="*/ 35 h 156"/>
                <a:gd name="T22" fmla="*/ 15 w 116"/>
                <a:gd name="T23" fmla="*/ 36 h 156"/>
                <a:gd name="T24" fmla="*/ 18 w 116"/>
                <a:gd name="T25" fmla="*/ 38 h 156"/>
                <a:gd name="T26" fmla="*/ 21 w 116"/>
                <a:gd name="T27" fmla="*/ 38 h 156"/>
                <a:gd name="T28" fmla="*/ 24 w 116"/>
                <a:gd name="T29" fmla="*/ 38 h 156"/>
                <a:gd name="T30" fmla="*/ 27 w 116"/>
                <a:gd name="T31" fmla="*/ 37 h 156"/>
                <a:gd name="T32" fmla="*/ 29 w 116"/>
                <a:gd name="T33" fmla="*/ 34 h 156"/>
                <a:gd name="T34" fmla="*/ 29 w 116"/>
                <a:gd name="T35" fmla="*/ 30 h 156"/>
                <a:gd name="T36" fmla="*/ 27 w 116"/>
                <a:gd name="T37" fmla="*/ 26 h 156"/>
                <a:gd name="T38" fmla="*/ 24 w 116"/>
                <a:gd name="T39" fmla="*/ 22 h 156"/>
                <a:gd name="T40" fmla="*/ 19 w 116"/>
                <a:gd name="T41" fmla="*/ 19 h 156"/>
                <a:gd name="T42" fmla="*/ 15 w 116"/>
                <a:gd name="T43" fmla="*/ 16 h 156"/>
                <a:gd name="T44" fmla="*/ 11 w 116"/>
                <a:gd name="T45" fmla="*/ 13 h 156"/>
                <a:gd name="T46" fmla="*/ 10 w 116"/>
                <a:gd name="T47" fmla="*/ 11 h 156"/>
                <a:gd name="T48" fmla="*/ 8 w 116"/>
                <a:gd name="T49" fmla="*/ 8 h 156"/>
                <a:gd name="T50" fmla="*/ 6 w 116"/>
                <a:gd name="T51" fmla="*/ 5 h 156"/>
                <a:gd name="T52" fmla="*/ 3 w 116"/>
                <a:gd name="T53" fmla="*/ 3 h 156"/>
                <a:gd name="T54" fmla="*/ 1 w 116"/>
                <a:gd name="T55" fmla="*/ 1 h 156"/>
                <a:gd name="T56" fmla="*/ 0 w 116"/>
                <a:gd name="T57" fmla="*/ 0 h 1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16"/>
                <a:gd name="T88" fmla="*/ 0 h 156"/>
                <a:gd name="T89" fmla="*/ 116 w 116"/>
                <a:gd name="T90" fmla="*/ 156 h 1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16" h="156">
                  <a:moveTo>
                    <a:pt x="0" y="0"/>
                  </a:moveTo>
                  <a:lnTo>
                    <a:pt x="2" y="6"/>
                  </a:lnTo>
                  <a:lnTo>
                    <a:pt x="8" y="18"/>
                  </a:lnTo>
                  <a:lnTo>
                    <a:pt x="13" y="34"/>
                  </a:lnTo>
                  <a:lnTo>
                    <a:pt x="19" y="52"/>
                  </a:lnTo>
                  <a:lnTo>
                    <a:pt x="21" y="65"/>
                  </a:lnTo>
                  <a:lnTo>
                    <a:pt x="23" y="83"/>
                  </a:lnTo>
                  <a:lnTo>
                    <a:pt x="31" y="103"/>
                  </a:lnTo>
                  <a:lnTo>
                    <a:pt x="41" y="121"/>
                  </a:lnTo>
                  <a:lnTo>
                    <a:pt x="47" y="136"/>
                  </a:lnTo>
                  <a:lnTo>
                    <a:pt x="49" y="142"/>
                  </a:lnTo>
                  <a:lnTo>
                    <a:pt x="59" y="148"/>
                  </a:lnTo>
                  <a:lnTo>
                    <a:pt x="69" y="154"/>
                  </a:lnTo>
                  <a:lnTo>
                    <a:pt x="82" y="156"/>
                  </a:lnTo>
                  <a:lnTo>
                    <a:pt x="94" y="156"/>
                  </a:lnTo>
                  <a:lnTo>
                    <a:pt x="106" y="150"/>
                  </a:lnTo>
                  <a:lnTo>
                    <a:pt x="114" y="138"/>
                  </a:lnTo>
                  <a:lnTo>
                    <a:pt x="116" y="123"/>
                  </a:lnTo>
                  <a:lnTo>
                    <a:pt x="108" y="107"/>
                  </a:lnTo>
                  <a:lnTo>
                    <a:pt x="94" y="91"/>
                  </a:lnTo>
                  <a:lnTo>
                    <a:pt x="76" y="77"/>
                  </a:lnTo>
                  <a:lnTo>
                    <a:pt x="59" y="65"/>
                  </a:lnTo>
                  <a:lnTo>
                    <a:pt x="43" y="54"/>
                  </a:lnTo>
                  <a:lnTo>
                    <a:pt x="37" y="46"/>
                  </a:lnTo>
                  <a:lnTo>
                    <a:pt x="31" y="34"/>
                  </a:lnTo>
                  <a:lnTo>
                    <a:pt x="21" y="22"/>
                  </a:lnTo>
                  <a:lnTo>
                    <a:pt x="12" y="12"/>
                  </a:lnTo>
                  <a:lnTo>
                    <a:pt x="2" y="4"/>
                  </a:lnTo>
                  <a:lnTo>
                    <a:pt x="0" y="0"/>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2" name="Freeform 86"/>
            <p:cNvSpPr/>
            <p:nvPr/>
          </p:nvSpPr>
          <p:spPr bwMode="gray">
            <a:xfrm>
              <a:off x="3848" y="2705"/>
              <a:ext cx="58" cy="77"/>
            </a:xfrm>
            <a:custGeom>
              <a:avLst/>
              <a:gdLst>
                <a:gd name="T0" fmla="*/ 0 w 116"/>
                <a:gd name="T1" fmla="*/ 0 h 156"/>
                <a:gd name="T2" fmla="*/ 1 w 116"/>
                <a:gd name="T3" fmla="*/ 1 h 156"/>
                <a:gd name="T4" fmla="*/ 2 w 116"/>
                <a:gd name="T5" fmla="*/ 4 h 156"/>
                <a:gd name="T6" fmla="*/ 4 w 116"/>
                <a:gd name="T7" fmla="*/ 8 h 156"/>
                <a:gd name="T8" fmla="*/ 5 w 116"/>
                <a:gd name="T9" fmla="*/ 13 h 156"/>
                <a:gd name="T10" fmla="*/ 6 w 116"/>
                <a:gd name="T11" fmla="*/ 16 h 156"/>
                <a:gd name="T12" fmla="*/ 6 w 116"/>
                <a:gd name="T13" fmla="*/ 20 h 156"/>
                <a:gd name="T14" fmla="*/ 8 w 116"/>
                <a:gd name="T15" fmla="*/ 25 h 156"/>
                <a:gd name="T16" fmla="*/ 11 w 116"/>
                <a:gd name="T17" fmla="*/ 30 h 156"/>
                <a:gd name="T18" fmla="*/ 12 w 116"/>
                <a:gd name="T19" fmla="*/ 33 h 156"/>
                <a:gd name="T20" fmla="*/ 13 w 116"/>
                <a:gd name="T21" fmla="*/ 35 h 156"/>
                <a:gd name="T22" fmla="*/ 15 w 116"/>
                <a:gd name="T23" fmla="*/ 36 h 156"/>
                <a:gd name="T24" fmla="*/ 18 w 116"/>
                <a:gd name="T25" fmla="*/ 38 h 156"/>
                <a:gd name="T26" fmla="*/ 21 w 116"/>
                <a:gd name="T27" fmla="*/ 38 h 156"/>
                <a:gd name="T28" fmla="*/ 24 w 116"/>
                <a:gd name="T29" fmla="*/ 38 h 156"/>
                <a:gd name="T30" fmla="*/ 27 w 116"/>
                <a:gd name="T31" fmla="*/ 37 h 156"/>
                <a:gd name="T32" fmla="*/ 29 w 116"/>
                <a:gd name="T33" fmla="*/ 34 h 156"/>
                <a:gd name="T34" fmla="*/ 29 w 116"/>
                <a:gd name="T35" fmla="*/ 30 h 156"/>
                <a:gd name="T36" fmla="*/ 27 w 116"/>
                <a:gd name="T37" fmla="*/ 26 h 156"/>
                <a:gd name="T38" fmla="*/ 24 w 116"/>
                <a:gd name="T39" fmla="*/ 22 h 156"/>
                <a:gd name="T40" fmla="*/ 19 w 116"/>
                <a:gd name="T41" fmla="*/ 19 h 156"/>
                <a:gd name="T42" fmla="*/ 15 w 116"/>
                <a:gd name="T43" fmla="*/ 16 h 156"/>
                <a:gd name="T44" fmla="*/ 11 w 116"/>
                <a:gd name="T45" fmla="*/ 13 h 156"/>
                <a:gd name="T46" fmla="*/ 10 w 116"/>
                <a:gd name="T47" fmla="*/ 11 h 156"/>
                <a:gd name="T48" fmla="*/ 8 w 116"/>
                <a:gd name="T49" fmla="*/ 8 h 156"/>
                <a:gd name="T50" fmla="*/ 6 w 116"/>
                <a:gd name="T51" fmla="*/ 5 h 156"/>
                <a:gd name="T52" fmla="*/ 3 w 116"/>
                <a:gd name="T53" fmla="*/ 3 h 156"/>
                <a:gd name="T54" fmla="*/ 1 w 116"/>
                <a:gd name="T55" fmla="*/ 1 h 156"/>
                <a:gd name="T56" fmla="*/ 0 w 116"/>
                <a:gd name="T57" fmla="*/ 0 h 1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16"/>
                <a:gd name="T88" fmla="*/ 0 h 156"/>
                <a:gd name="T89" fmla="*/ 116 w 116"/>
                <a:gd name="T90" fmla="*/ 156 h 1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16" h="156">
                  <a:moveTo>
                    <a:pt x="0" y="0"/>
                  </a:moveTo>
                  <a:lnTo>
                    <a:pt x="2" y="6"/>
                  </a:lnTo>
                  <a:lnTo>
                    <a:pt x="8" y="18"/>
                  </a:lnTo>
                  <a:lnTo>
                    <a:pt x="13" y="34"/>
                  </a:lnTo>
                  <a:lnTo>
                    <a:pt x="19" y="52"/>
                  </a:lnTo>
                  <a:lnTo>
                    <a:pt x="21" y="65"/>
                  </a:lnTo>
                  <a:lnTo>
                    <a:pt x="23" y="83"/>
                  </a:lnTo>
                  <a:lnTo>
                    <a:pt x="31" y="103"/>
                  </a:lnTo>
                  <a:lnTo>
                    <a:pt x="41" y="121"/>
                  </a:lnTo>
                  <a:lnTo>
                    <a:pt x="47" y="136"/>
                  </a:lnTo>
                  <a:lnTo>
                    <a:pt x="49" y="142"/>
                  </a:lnTo>
                  <a:lnTo>
                    <a:pt x="59" y="148"/>
                  </a:lnTo>
                  <a:lnTo>
                    <a:pt x="69" y="154"/>
                  </a:lnTo>
                  <a:lnTo>
                    <a:pt x="82" y="156"/>
                  </a:lnTo>
                  <a:lnTo>
                    <a:pt x="94" y="156"/>
                  </a:lnTo>
                  <a:lnTo>
                    <a:pt x="106" y="150"/>
                  </a:lnTo>
                  <a:lnTo>
                    <a:pt x="114" y="138"/>
                  </a:lnTo>
                  <a:lnTo>
                    <a:pt x="116" y="123"/>
                  </a:lnTo>
                  <a:lnTo>
                    <a:pt x="108" y="107"/>
                  </a:lnTo>
                  <a:lnTo>
                    <a:pt x="94" y="91"/>
                  </a:lnTo>
                  <a:lnTo>
                    <a:pt x="76" y="77"/>
                  </a:lnTo>
                  <a:lnTo>
                    <a:pt x="59" y="65"/>
                  </a:lnTo>
                  <a:lnTo>
                    <a:pt x="43" y="54"/>
                  </a:lnTo>
                  <a:lnTo>
                    <a:pt x="37" y="46"/>
                  </a:lnTo>
                  <a:lnTo>
                    <a:pt x="31" y="34"/>
                  </a:lnTo>
                  <a:lnTo>
                    <a:pt x="21" y="22"/>
                  </a:lnTo>
                  <a:lnTo>
                    <a:pt x="12" y="12"/>
                  </a:lnTo>
                  <a:lnTo>
                    <a:pt x="2" y="4"/>
                  </a:lnTo>
                  <a:lnTo>
                    <a:pt x="0" y="0"/>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3" name="Freeform 87"/>
            <p:cNvSpPr/>
            <p:nvPr/>
          </p:nvSpPr>
          <p:spPr bwMode="gray">
            <a:xfrm>
              <a:off x="3714" y="2597"/>
              <a:ext cx="37" cy="32"/>
            </a:xfrm>
            <a:custGeom>
              <a:avLst/>
              <a:gdLst>
                <a:gd name="T0" fmla="*/ 0 w 75"/>
                <a:gd name="T1" fmla="*/ 12 h 63"/>
                <a:gd name="T2" fmla="*/ 8 w 75"/>
                <a:gd name="T3" fmla="*/ 0 h 63"/>
                <a:gd name="T4" fmla="*/ 18 w 75"/>
                <a:gd name="T5" fmla="*/ 4 h 63"/>
                <a:gd name="T6" fmla="*/ 18 w 75"/>
                <a:gd name="T7" fmla="*/ 13 h 63"/>
                <a:gd name="T8" fmla="*/ 8 w 75"/>
                <a:gd name="T9" fmla="*/ 16 h 63"/>
                <a:gd name="T10" fmla="*/ 0 w 75"/>
                <a:gd name="T11" fmla="*/ 12 h 63"/>
                <a:gd name="T12" fmla="*/ 0 60000 65536"/>
                <a:gd name="T13" fmla="*/ 0 60000 65536"/>
                <a:gd name="T14" fmla="*/ 0 60000 65536"/>
                <a:gd name="T15" fmla="*/ 0 60000 65536"/>
                <a:gd name="T16" fmla="*/ 0 60000 65536"/>
                <a:gd name="T17" fmla="*/ 0 60000 65536"/>
                <a:gd name="T18" fmla="*/ 0 w 75"/>
                <a:gd name="T19" fmla="*/ 0 h 63"/>
                <a:gd name="T20" fmla="*/ 75 w 75"/>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75" h="63">
                  <a:moveTo>
                    <a:pt x="0" y="45"/>
                  </a:moveTo>
                  <a:lnTo>
                    <a:pt x="33" y="0"/>
                  </a:lnTo>
                  <a:lnTo>
                    <a:pt x="73" y="14"/>
                  </a:lnTo>
                  <a:lnTo>
                    <a:pt x="75" y="49"/>
                  </a:lnTo>
                  <a:lnTo>
                    <a:pt x="32" y="63"/>
                  </a:lnTo>
                  <a:lnTo>
                    <a:pt x="0" y="45"/>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4" name="Freeform 88"/>
            <p:cNvSpPr/>
            <p:nvPr/>
          </p:nvSpPr>
          <p:spPr bwMode="gray">
            <a:xfrm>
              <a:off x="3714" y="2597"/>
              <a:ext cx="37" cy="32"/>
            </a:xfrm>
            <a:custGeom>
              <a:avLst/>
              <a:gdLst>
                <a:gd name="T0" fmla="*/ 0 w 75"/>
                <a:gd name="T1" fmla="*/ 12 h 63"/>
                <a:gd name="T2" fmla="*/ 8 w 75"/>
                <a:gd name="T3" fmla="*/ 0 h 63"/>
                <a:gd name="T4" fmla="*/ 18 w 75"/>
                <a:gd name="T5" fmla="*/ 4 h 63"/>
                <a:gd name="T6" fmla="*/ 18 w 75"/>
                <a:gd name="T7" fmla="*/ 13 h 63"/>
                <a:gd name="T8" fmla="*/ 8 w 75"/>
                <a:gd name="T9" fmla="*/ 16 h 63"/>
                <a:gd name="T10" fmla="*/ 0 w 75"/>
                <a:gd name="T11" fmla="*/ 12 h 63"/>
                <a:gd name="T12" fmla="*/ 0 60000 65536"/>
                <a:gd name="T13" fmla="*/ 0 60000 65536"/>
                <a:gd name="T14" fmla="*/ 0 60000 65536"/>
                <a:gd name="T15" fmla="*/ 0 60000 65536"/>
                <a:gd name="T16" fmla="*/ 0 60000 65536"/>
                <a:gd name="T17" fmla="*/ 0 60000 65536"/>
                <a:gd name="T18" fmla="*/ 0 w 75"/>
                <a:gd name="T19" fmla="*/ 0 h 63"/>
                <a:gd name="T20" fmla="*/ 75 w 75"/>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75" h="63">
                  <a:moveTo>
                    <a:pt x="0" y="45"/>
                  </a:moveTo>
                  <a:lnTo>
                    <a:pt x="33" y="0"/>
                  </a:lnTo>
                  <a:lnTo>
                    <a:pt x="73" y="14"/>
                  </a:lnTo>
                  <a:lnTo>
                    <a:pt x="75" y="49"/>
                  </a:lnTo>
                  <a:lnTo>
                    <a:pt x="32" y="63"/>
                  </a:lnTo>
                  <a:lnTo>
                    <a:pt x="0" y="45"/>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5" name="Freeform 89"/>
            <p:cNvSpPr/>
            <p:nvPr/>
          </p:nvSpPr>
          <p:spPr bwMode="gray">
            <a:xfrm>
              <a:off x="3768" y="2614"/>
              <a:ext cx="37" cy="52"/>
            </a:xfrm>
            <a:custGeom>
              <a:avLst/>
              <a:gdLst>
                <a:gd name="T0" fmla="*/ 0 w 73"/>
                <a:gd name="T1" fmla="*/ 10 h 105"/>
                <a:gd name="T2" fmla="*/ 9 w 73"/>
                <a:gd name="T3" fmla="*/ 0 h 105"/>
                <a:gd name="T4" fmla="*/ 16 w 73"/>
                <a:gd name="T5" fmla="*/ 12 h 105"/>
                <a:gd name="T6" fmla="*/ 19 w 73"/>
                <a:gd name="T7" fmla="*/ 26 h 105"/>
                <a:gd name="T8" fmla="*/ 9 w 73"/>
                <a:gd name="T9" fmla="*/ 19 h 105"/>
                <a:gd name="T10" fmla="*/ 0 w 73"/>
                <a:gd name="T11" fmla="*/ 10 h 105"/>
                <a:gd name="T12" fmla="*/ 0 60000 65536"/>
                <a:gd name="T13" fmla="*/ 0 60000 65536"/>
                <a:gd name="T14" fmla="*/ 0 60000 65536"/>
                <a:gd name="T15" fmla="*/ 0 60000 65536"/>
                <a:gd name="T16" fmla="*/ 0 60000 65536"/>
                <a:gd name="T17" fmla="*/ 0 60000 65536"/>
                <a:gd name="T18" fmla="*/ 0 w 73"/>
                <a:gd name="T19" fmla="*/ 0 h 105"/>
                <a:gd name="T20" fmla="*/ 73 w 73"/>
                <a:gd name="T21" fmla="*/ 105 h 105"/>
              </a:gdLst>
              <a:ahLst/>
              <a:cxnLst>
                <a:cxn ang="T12">
                  <a:pos x="T0" y="T1"/>
                </a:cxn>
                <a:cxn ang="T13">
                  <a:pos x="T2" y="T3"/>
                </a:cxn>
                <a:cxn ang="T14">
                  <a:pos x="T4" y="T5"/>
                </a:cxn>
                <a:cxn ang="T15">
                  <a:pos x="T6" y="T7"/>
                </a:cxn>
                <a:cxn ang="T16">
                  <a:pos x="T8" y="T9"/>
                </a:cxn>
                <a:cxn ang="T17">
                  <a:pos x="T10" y="T11"/>
                </a:cxn>
              </a:cxnLst>
              <a:rect l="T18" t="T19" r="T20" b="T21"/>
              <a:pathLst>
                <a:path w="73" h="105">
                  <a:moveTo>
                    <a:pt x="0" y="40"/>
                  </a:moveTo>
                  <a:lnTo>
                    <a:pt x="34" y="0"/>
                  </a:lnTo>
                  <a:lnTo>
                    <a:pt x="63" y="48"/>
                  </a:lnTo>
                  <a:lnTo>
                    <a:pt x="73" y="105"/>
                  </a:lnTo>
                  <a:lnTo>
                    <a:pt x="34" y="77"/>
                  </a:lnTo>
                  <a:lnTo>
                    <a:pt x="0" y="40"/>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6" name="Freeform 90"/>
            <p:cNvSpPr/>
            <p:nvPr/>
          </p:nvSpPr>
          <p:spPr bwMode="gray">
            <a:xfrm>
              <a:off x="3768" y="2614"/>
              <a:ext cx="37" cy="52"/>
            </a:xfrm>
            <a:custGeom>
              <a:avLst/>
              <a:gdLst>
                <a:gd name="T0" fmla="*/ 0 w 73"/>
                <a:gd name="T1" fmla="*/ 10 h 105"/>
                <a:gd name="T2" fmla="*/ 9 w 73"/>
                <a:gd name="T3" fmla="*/ 0 h 105"/>
                <a:gd name="T4" fmla="*/ 16 w 73"/>
                <a:gd name="T5" fmla="*/ 12 h 105"/>
                <a:gd name="T6" fmla="*/ 19 w 73"/>
                <a:gd name="T7" fmla="*/ 26 h 105"/>
                <a:gd name="T8" fmla="*/ 9 w 73"/>
                <a:gd name="T9" fmla="*/ 19 h 105"/>
                <a:gd name="T10" fmla="*/ 0 w 73"/>
                <a:gd name="T11" fmla="*/ 10 h 105"/>
                <a:gd name="T12" fmla="*/ 0 60000 65536"/>
                <a:gd name="T13" fmla="*/ 0 60000 65536"/>
                <a:gd name="T14" fmla="*/ 0 60000 65536"/>
                <a:gd name="T15" fmla="*/ 0 60000 65536"/>
                <a:gd name="T16" fmla="*/ 0 60000 65536"/>
                <a:gd name="T17" fmla="*/ 0 60000 65536"/>
                <a:gd name="T18" fmla="*/ 0 w 73"/>
                <a:gd name="T19" fmla="*/ 0 h 105"/>
                <a:gd name="T20" fmla="*/ 73 w 73"/>
                <a:gd name="T21" fmla="*/ 105 h 105"/>
              </a:gdLst>
              <a:ahLst/>
              <a:cxnLst>
                <a:cxn ang="T12">
                  <a:pos x="T0" y="T1"/>
                </a:cxn>
                <a:cxn ang="T13">
                  <a:pos x="T2" y="T3"/>
                </a:cxn>
                <a:cxn ang="T14">
                  <a:pos x="T4" y="T5"/>
                </a:cxn>
                <a:cxn ang="T15">
                  <a:pos x="T6" y="T7"/>
                </a:cxn>
                <a:cxn ang="T16">
                  <a:pos x="T8" y="T9"/>
                </a:cxn>
                <a:cxn ang="T17">
                  <a:pos x="T10" y="T11"/>
                </a:cxn>
              </a:cxnLst>
              <a:rect l="T18" t="T19" r="T20" b="T21"/>
              <a:pathLst>
                <a:path w="73" h="105">
                  <a:moveTo>
                    <a:pt x="0" y="40"/>
                  </a:moveTo>
                  <a:lnTo>
                    <a:pt x="34" y="0"/>
                  </a:lnTo>
                  <a:lnTo>
                    <a:pt x="63" y="48"/>
                  </a:lnTo>
                  <a:lnTo>
                    <a:pt x="73" y="105"/>
                  </a:lnTo>
                  <a:lnTo>
                    <a:pt x="34" y="77"/>
                  </a:lnTo>
                  <a:lnTo>
                    <a:pt x="0" y="40"/>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7" name="Freeform 91"/>
            <p:cNvSpPr/>
            <p:nvPr/>
          </p:nvSpPr>
          <p:spPr bwMode="gray">
            <a:xfrm>
              <a:off x="3451" y="2207"/>
              <a:ext cx="493" cy="331"/>
            </a:xfrm>
            <a:custGeom>
              <a:avLst/>
              <a:gdLst>
                <a:gd name="T0" fmla="*/ 81 w 987"/>
                <a:gd name="T1" fmla="*/ 0 h 663"/>
                <a:gd name="T2" fmla="*/ 88 w 987"/>
                <a:gd name="T3" fmla="*/ 3 h 663"/>
                <a:gd name="T4" fmla="*/ 96 w 987"/>
                <a:gd name="T5" fmla="*/ 5 h 663"/>
                <a:gd name="T6" fmla="*/ 103 w 987"/>
                <a:gd name="T7" fmla="*/ 2 h 663"/>
                <a:gd name="T8" fmla="*/ 111 w 987"/>
                <a:gd name="T9" fmla="*/ 0 h 663"/>
                <a:gd name="T10" fmla="*/ 119 w 987"/>
                <a:gd name="T11" fmla="*/ 5 h 663"/>
                <a:gd name="T12" fmla="*/ 125 w 987"/>
                <a:gd name="T13" fmla="*/ 15 h 663"/>
                <a:gd name="T14" fmla="*/ 126 w 987"/>
                <a:gd name="T15" fmla="*/ 24 h 663"/>
                <a:gd name="T16" fmla="*/ 128 w 987"/>
                <a:gd name="T17" fmla="*/ 32 h 663"/>
                <a:gd name="T18" fmla="*/ 133 w 987"/>
                <a:gd name="T19" fmla="*/ 37 h 663"/>
                <a:gd name="T20" fmla="*/ 141 w 987"/>
                <a:gd name="T21" fmla="*/ 39 h 663"/>
                <a:gd name="T22" fmla="*/ 149 w 987"/>
                <a:gd name="T23" fmla="*/ 38 h 663"/>
                <a:gd name="T24" fmla="*/ 154 w 987"/>
                <a:gd name="T25" fmla="*/ 33 h 663"/>
                <a:gd name="T26" fmla="*/ 160 w 987"/>
                <a:gd name="T27" fmla="*/ 24 h 663"/>
                <a:gd name="T28" fmla="*/ 167 w 987"/>
                <a:gd name="T29" fmla="*/ 15 h 663"/>
                <a:gd name="T30" fmla="*/ 175 w 987"/>
                <a:gd name="T31" fmla="*/ 6 h 663"/>
                <a:gd name="T32" fmla="*/ 184 w 987"/>
                <a:gd name="T33" fmla="*/ 2 h 663"/>
                <a:gd name="T34" fmla="*/ 191 w 987"/>
                <a:gd name="T35" fmla="*/ 4 h 663"/>
                <a:gd name="T36" fmla="*/ 200 w 987"/>
                <a:gd name="T37" fmla="*/ 9 h 663"/>
                <a:gd name="T38" fmla="*/ 212 w 987"/>
                <a:gd name="T39" fmla="*/ 11 h 663"/>
                <a:gd name="T40" fmla="*/ 224 w 987"/>
                <a:gd name="T41" fmla="*/ 9 h 663"/>
                <a:gd name="T42" fmla="*/ 234 w 987"/>
                <a:gd name="T43" fmla="*/ 7 h 663"/>
                <a:gd name="T44" fmla="*/ 241 w 987"/>
                <a:gd name="T45" fmla="*/ 5 h 663"/>
                <a:gd name="T46" fmla="*/ 246 w 987"/>
                <a:gd name="T47" fmla="*/ 5 h 663"/>
                <a:gd name="T48" fmla="*/ 246 w 987"/>
                <a:gd name="T49" fmla="*/ 12 h 663"/>
                <a:gd name="T50" fmla="*/ 245 w 987"/>
                <a:gd name="T51" fmla="*/ 23 h 663"/>
                <a:gd name="T52" fmla="*/ 243 w 987"/>
                <a:gd name="T53" fmla="*/ 31 h 663"/>
                <a:gd name="T54" fmla="*/ 237 w 987"/>
                <a:gd name="T55" fmla="*/ 32 h 663"/>
                <a:gd name="T56" fmla="*/ 231 w 987"/>
                <a:gd name="T57" fmla="*/ 31 h 663"/>
                <a:gd name="T58" fmla="*/ 225 w 987"/>
                <a:gd name="T59" fmla="*/ 32 h 663"/>
                <a:gd name="T60" fmla="*/ 216 w 987"/>
                <a:gd name="T61" fmla="*/ 41 h 663"/>
                <a:gd name="T62" fmla="*/ 205 w 987"/>
                <a:gd name="T63" fmla="*/ 49 h 663"/>
                <a:gd name="T64" fmla="*/ 198 w 987"/>
                <a:gd name="T65" fmla="*/ 51 h 663"/>
                <a:gd name="T66" fmla="*/ 191 w 987"/>
                <a:gd name="T67" fmla="*/ 52 h 663"/>
                <a:gd name="T68" fmla="*/ 189 w 987"/>
                <a:gd name="T69" fmla="*/ 55 h 663"/>
                <a:gd name="T70" fmla="*/ 191 w 987"/>
                <a:gd name="T71" fmla="*/ 63 h 663"/>
                <a:gd name="T72" fmla="*/ 190 w 987"/>
                <a:gd name="T73" fmla="*/ 72 h 663"/>
                <a:gd name="T74" fmla="*/ 185 w 987"/>
                <a:gd name="T75" fmla="*/ 77 h 663"/>
                <a:gd name="T76" fmla="*/ 177 w 987"/>
                <a:gd name="T77" fmla="*/ 79 h 663"/>
                <a:gd name="T78" fmla="*/ 171 w 987"/>
                <a:gd name="T79" fmla="*/ 79 h 663"/>
                <a:gd name="T80" fmla="*/ 170 w 987"/>
                <a:gd name="T81" fmla="*/ 84 h 663"/>
                <a:gd name="T82" fmla="*/ 170 w 987"/>
                <a:gd name="T83" fmla="*/ 93 h 663"/>
                <a:gd name="T84" fmla="*/ 168 w 987"/>
                <a:gd name="T85" fmla="*/ 101 h 663"/>
                <a:gd name="T86" fmla="*/ 163 w 987"/>
                <a:gd name="T87" fmla="*/ 106 h 663"/>
                <a:gd name="T88" fmla="*/ 157 w 987"/>
                <a:gd name="T89" fmla="*/ 111 h 663"/>
                <a:gd name="T90" fmla="*/ 155 w 987"/>
                <a:gd name="T91" fmla="*/ 118 h 663"/>
                <a:gd name="T92" fmla="*/ 152 w 987"/>
                <a:gd name="T93" fmla="*/ 123 h 663"/>
                <a:gd name="T94" fmla="*/ 139 w 987"/>
                <a:gd name="T95" fmla="*/ 127 h 663"/>
                <a:gd name="T96" fmla="*/ 129 w 987"/>
                <a:gd name="T97" fmla="*/ 143 h 663"/>
                <a:gd name="T98" fmla="*/ 106 w 987"/>
                <a:gd name="T99" fmla="*/ 148 h 663"/>
                <a:gd name="T100" fmla="*/ 89 w 987"/>
                <a:gd name="T101" fmla="*/ 156 h 663"/>
                <a:gd name="T102" fmla="*/ 66 w 987"/>
                <a:gd name="T103" fmla="*/ 144 h 663"/>
                <a:gd name="T104" fmla="*/ 52 w 987"/>
                <a:gd name="T105" fmla="*/ 160 h 663"/>
                <a:gd name="T106" fmla="*/ 13 w 987"/>
                <a:gd name="T107" fmla="*/ 152 h 663"/>
                <a:gd name="T108" fmla="*/ 0 w 987"/>
                <a:gd name="T109" fmla="*/ 140 h 663"/>
                <a:gd name="T110" fmla="*/ 14 w 987"/>
                <a:gd name="T111" fmla="*/ 98 h 663"/>
                <a:gd name="T112" fmla="*/ 8 w 987"/>
                <a:gd name="T113" fmla="*/ 78 h 663"/>
                <a:gd name="T114" fmla="*/ 26 w 987"/>
                <a:gd name="T115" fmla="*/ 45 h 663"/>
                <a:gd name="T116" fmla="*/ 50 w 987"/>
                <a:gd name="T117" fmla="*/ 22 h 663"/>
                <a:gd name="T118" fmla="*/ 80 w 987"/>
                <a:gd name="T119" fmla="*/ 0 h 6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87"/>
                <a:gd name="T181" fmla="*/ 0 h 663"/>
                <a:gd name="T182" fmla="*/ 987 w 987"/>
                <a:gd name="T183" fmla="*/ 663 h 6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87" h="663">
                  <a:moveTo>
                    <a:pt x="323" y="0"/>
                  </a:moveTo>
                  <a:lnTo>
                    <a:pt x="327" y="2"/>
                  </a:lnTo>
                  <a:lnTo>
                    <a:pt x="339" y="7"/>
                  </a:lnTo>
                  <a:lnTo>
                    <a:pt x="353" y="13"/>
                  </a:lnTo>
                  <a:lnTo>
                    <a:pt x="369" y="19"/>
                  </a:lnTo>
                  <a:lnTo>
                    <a:pt x="384" y="21"/>
                  </a:lnTo>
                  <a:lnTo>
                    <a:pt x="398" y="19"/>
                  </a:lnTo>
                  <a:lnTo>
                    <a:pt x="414" y="9"/>
                  </a:lnTo>
                  <a:lnTo>
                    <a:pt x="432" y="2"/>
                  </a:lnTo>
                  <a:lnTo>
                    <a:pt x="447" y="2"/>
                  </a:lnTo>
                  <a:lnTo>
                    <a:pt x="463" y="7"/>
                  </a:lnTo>
                  <a:lnTo>
                    <a:pt x="479" y="23"/>
                  </a:lnTo>
                  <a:lnTo>
                    <a:pt x="493" y="43"/>
                  </a:lnTo>
                  <a:lnTo>
                    <a:pt x="500" y="63"/>
                  </a:lnTo>
                  <a:lnTo>
                    <a:pt x="504" y="82"/>
                  </a:lnTo>
                  <a:lnTo>
                    <a:pt x="504" y="98"/>
                  </a:lnTo>
                  <a:lnTo>
                    <a:pt x="508" y="114"/>
                  </a:lnTo>
                  <a:lnTo>
                    <a:pt x="512" y="129"/>
                  </a:lnTo>
                  <a:lnTo>
                    <a:pt x="522" y="143"/>
                  </a:lnTo>
                  <a:lnTo>
                    <a:pt x="534" y="151"/>
                  </a:lnTo>
                  <a:lnTo>
                    <a:pt x="550" y="155"/>
                  </a:lnTo>
                  <a:lnTo>
                    <a:pt x="567" y="157"/>
                  </a:lnTo>
                  <a:lnTo>
                    <a:pt x="585" y="157"/>
                  </a:lnTo>
                  <a:lnTo>
                    <a:pt x="599" y="153"/>
                  </a:lnTo>
                  <a:lnTo>
                    <a:pt x="609" y="147"/>
                  </a:lnTo>
                  <a:lnTo>
                    <a:pt x="617" y="133"/>
                  </a:lnTo>
                  <a:lnTo>
                    <a:pt x="628" y="116"/>
                  </a:lnTo>
                  <a:lnTo>
                    <a:pt x="642" y="96"/>
                  </a:lnTo>
                  <a:lnTo>
                    <a:pt x="656" y="76"/>
                  </a:lnTo>
                  <a:lnTo>
                    <a:pt x="668" y="61"/>
                  </a:lnTo>
                  <a:lnTo>
                    <a:pt x="683" y="43"/>
                  </a:lnTo>
                  <a:lnTo>
                    <a:pt x="703" y="27"/>
                  </a:lnTo>
                  <a:lnTo>
                    <a:pt x="723" y="15"/>
                  </a:lnTo>
                  <a:lnTo>
                    <a:pt x="737" y="9"/>
                  </a:lnTo>
                  <a:lnTo>
                    <a:pt x="748" y="11"/>
                  </a:lnTo>
                  <a:lnTo>
                    <a:pt x="764" y="19"/>
                  </a:lnTo>
                  <a:lnTo>
                    <a:pt x="782" y="27"/>
                  </a:lnTo>
                  <a:lnTo>
                    <a:pt x="802" y="37"/>
                  </a:lnTo>
                  <a:lnTo>
                    <a:pt x="823" y="45"/>
                  </a:lnTo>
                  <a:lnTo>
                    <a:pt x="851" y="47"/>
                  </a:lnTo>
                  <a:lnTo>
                    <a:pt x="874" y="43"/>
                  </a:lnTo>
                  <a:lnTo>
                    <a:pt x="896" y="37"/>
                  </a:lnTo>
                  <a:lnTo>
                    <a:pt x="920" y="33"/>
                  </a:lnTo>
                  <a:lnTo>
                    <a:pt x="937" y="29"/>
                  </a:lnTo>
                  <a:lnTo>
                    <a:pt x="953" y="25"/>
                  </a:lnTo>
                  <a:lnTo>
                    <a:pt x="967" y="21"/>
                  </a:lnTo>
                  <a:lnTo>
                    <a:pt x="979" y="19"/>
                  </a:lnTo>
                  <a:lnTo>
                    <a:pt x="985" y="21"/>
                  </a:lnTo>
                  <a:lnTo>
                    <a:pt x="987" y="31"/>
                  </a:lnTo>
                  <a:lnTo>
                    <a:pt x="987" y="51"/>
                  </a:lnTo>
                  <a:lnTo>
                    <a:pt x="985" y="70"/>
                  </a:lnTo>
                  <a:lnTo>
                    <a:pt x="983" y="92"/>
                  </a:lnTo>
                  <a:lnTo>
                    <a:pt x="979" y="112"/>
                  </a:lnTo>
                  <a:lnTo>
                    <a:pt x="973" y="124"/>
                  </a:lnTo>
                  <a:lnTo>
                    <a:pt x="963" y="128"/>
                  </a:lnTo>
                  <a:lnTo>
                    <a:pt x="951" y="128"/>
                  </a:lnTo>
                  <a:lnTo>
                    <a:pt x="937" y="126"/>
                  </a:lnTo>
                  <a:lnTo>
                    <a:pt x="926" y="124"/>
                  </a:lnTo>
                  <a:lnTo>
                    <a:pt x="912" y="126"/>
                  </a:lnTo>
                  <a:lnTo>
                    <a:pt x="902" y="131"/>
                  </a:lnTo>
                  <a:lnTo>
                    <a:pt x="886" y="147"/>
                  </a:lnTo>
                  <a:lnTo>
                    <a:pt x="865" y="167"/>
                  </a:lnTo>
                  <a:lnTo>
                    <a:pt x="843" y="185"/>
                  </a:lnTo>
                  <a:lnTo>
                    <a:pt x="821" y="198"/>
                  </a:lnTo>
                  <a:lnTo>
                    <a:pt x="807" y="204"/>
                  </a:lnTo>
                  <a:lnTo>
                    <a:pt x="792" y="206"/>
                  </a:lnTo>
                  <a:lnTo>
                    <a:pt x="778" y="206"/>
                  </a:lnTo>
                  <a:lnTo>
                    <a:pt x="766" y="208"/>
                  </a:lnTo>
                  <a:lnTo>
                    <a:pt x="760" y="212"/>
                  </a:lnTo>
                  <a:lnTo>
                    <a:pt x="758" y="222"/>
                  </a:lnTo>
                  <a:lnTo>
                    <a:pt x="762" y="236"/>
                  </a:lnTo>
                  <a:lnTo>
                    <a:pt x="764" y="253"/>
                  </a:lnTo>
                  <a:lnTo>
                    <a:pt x="764" y="271"/>
                  </a:lnTo>
                  <a:lnTo>
                    <a:pt x="760" y="289"/>
                  </a:lnTo>
                  <a:lnTo>
                    <a:pt x="754" y="303"/>
                  </a:lnTo>
                  <a:lnTo>
                    <a:pt x="743" y="311"/>
                  </a:lnTo>
                  <a:lnTo>
                    <a:pt x="725" y="316"/>
                  </a:lnTo>
                  <a:lnTo>
                    <a:pt x="709" y="316"/>
                  </a:lnTo>
                  <a:lnTo>
                    <a:pt x="695" y="316"/>
                  </a:lnTo>
                  <a:lnTo>
                    <a:pt x="685" y="318"/>
                  </a:lnTo>
                  <a:lnTo>
                    <a:pt x="682" y="326"/>
                  </a:lnTo>
                  <a:lnTo>
                    <a:pt x="682" y="338"/>
                  </a:lnTo>
                  <a:lnTo>
                    <a:pt x="682" y="356"/>
                  </a:lnTo>
                  <a:lnTo>
                    <a:pt x="682" y="374"/>
                  </a:lnTo>
                  <a:lnTo>
                    <a:pt x="680" y="391"/>
                  </a:lnTo>
                  <a:lnTo>
                    <a:pt x="674" y="405"/>
                  </a:lnTo>
                  <a:lnTo>
                    <a:pt x="668" y="415"/>
                  </a:lnTo>
                  <a:lnTo>
                    <a:pt x="654" y="425"/>
                  </a:lnTo>
                  <a:lnTo>
                    <a:pt x="640" y="433"/>
                  </a:lnTo>
                  <a:lnTo>
                    <a:pt x="630" y="444"/>
                  </a:lnTo>
                  <a:lnTo>
                    <a:pt x="626" y="458"/>
                  </a:lnTo>
                  <a:lnTo>
                    <a:pt x="622" y="474"/>
                  </a:lnTo>
                  <a:lnTo>
                    <a:pt x="617" y="486"/>
                  </a:lnTo>
                  <a:lnTo>
                    <a:pt x="609" y="494"/>
                  </a:lnTo>
                  <a:lnTo>
                    <a:pt x="605" y="496"/>
                  </a:lnTo>
                  <a:lnTo>
                    <a:pt x="558" y="511"/>
                  </a:lnTo>
                  <a:lnTo>
                    <a:pt x="546" y="572"/>
                  </a:lnTo>
                  <a:lnTo>
                    <a:pt x="518" y="572"/>
                  </a:lnTo>
                  <a:lnTo>
                    <a:pt x="461" y="598"/>
                  </a:lnTo>
                  <a:lnTo>
                    <a:pt x="424" y="594"/>
                  </a:lnTo>
                  <a:lnTo>
                    <a:pt x="412" y="620"/>
                  </a:lnTo>
                  <a:lnTo>
                    <a:pt x="357" y="627"/>
                  </a:lnTo>
                  <a:lnTo>
                    <a:pt x="327" y="643"/>
                  </a:lnTo>
                  <a:lnTo>
                    <a:pt x="266" y="578"/>
                  </a:lnTo>
                  <a:lnTo>
                    <a:pt x="229" y="596"/>
                  </a:lnTo>
                  <a:lnTo>
                    <a:pt x="209" y="643"/>
                  </a:lnTo>
                  <a:lnTo>
                    <a:pt x="105" y="663"/>
                  </a:lnTo>
                  <a:lnTo>
                    <a:pt x="54" y="610"/>
                  </a:lnTo>
                  <a:lnTo>
                    <a:pt x="4" y="612"/>
                  </a:lnTo>
                  <a:lnTo>
                    <a:pt x="0" y="562"/>
                  </a:lnTo>
                  <a:lnTo>
                    <a:pt x="69" y="482"/>
                  </a:lnTo>
                  <a:lnTo>
                    <a:pt x="59" y="395"/>
                  </a:lnTo>
                  <a:lnTo>
                    <a:pt x="28" y="350"/>
                  </a:lnTo>
                  <a:lnTo>
                    <a:pt x="32" y="313"/>
                  </a:lnTo>
                  <a:lnTo>
                    <a:pt x="87" y="265"/>
                  </a:lnTo>
                  <a:lnTo>
                    <a:pt x="107" y="181"/>
                  </a:lnTo>
                  <a:lnTo>
                    <a:pt x="168" y="143"/>
                  </a:lnTo>
                  <a:lnTo>
                    <a:pt x="201" y="88"/>
                  </a:lnTo>
                  <a:lnTo>
                    <a:pt x="266" y="84"/>
                  </a:lnTo>
                  <a:lnTo>
                    <a:pt x="323" y="0"/>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8" name="Freeform 92"/>
            <p:cNvSpPr/>
            <p:nvPr/>
          </p:nvSpPr>
          <p:spPr bwMode="gray">
            <a:xfrm>
              <a:off x="3451" y="2207"/>
              <a:ext cx="493" cy="331"/>
            </a:xfrm>
            <a:custGeom>
              <a:avLst/>
              <a:gdLst>
                <a:gd name="T0" fmla="*/ 81 w 987"/>
                <a:gd name="T1" fmla="*/ 0 h 663"/>
                <a:gd name="T2" fmla="*/ 88 w 987"/>
                <a:gd name="T3" fmla="*/ 3 h 663"/>
                <a:gd name="T4" fmla="*/ 96 w 987"/>
                <a:gd name="T5" fmla="*/ 5 h 663"/>
                <a:gd name="T6" fmla="*/ 103 w 987"/>
                <a:gd name="T7" fmla="*/ 2 h 663"/>
                <a:gd name="T8" fmla="*/ 111 w 987"/>
                <a:gd name="T9" fmla="*/ 0 h 663"/>
                <a:gd name="T10" fmla="*/ 119 w 987"/>
                <a:gd name="T11" fmla="*/ 5 h 663"/>
                <a:gd name="T12" fmla="*/ 125 w 987"/>
                <a:gd name="T13" fmla="*/ 15 h 663"/>
                <a:gd name="T14" fmla="*/ 126 w 987"/>
                <a:gd name="T15" fmla="*/ 24 h 663"/>
                <a:gd name="T16" fmla="*/ 128 w 987"/>
                <a:gd name="T17" fmla="*/ 32 h 663"/>
                <a:gd name="T18" fmla="*/ 133 w 987"/>
                <a:gd name="T19" fmla="*/ 37 h 663"/>
                <a:gd name="T20" fmla="*/ 141 w 987"/>
                <a:gd name="T21" fmla="*/ 39 h 663"/>
                <a:gd name="T22" fmla="*/ 149 w 987"/>
                <a:gd name="T23" fmla="*/ 38 h 663"/>
                <a:gd name="T24" fmla="*/ 154 w 987"/>
                <a:gd name="T25" fmla="*/ 33 h 663"/>
                <a:gd name="T26" fmla="*/ 160 w 987"/>
                <a:gd name="T27" fmla="*/ 24 h 663"/>
                <a:gd name="T28" fmla="*/ 167 w 987"/>
                <a:gd name="T29" fmla="*/ 15 h 663"/>
                <a:gd name="T30" fmla="*/ 175 w 987"/>
                <a:gd name="T31" fmla="*/ 6 h 663"/>
                <a:gd name="T32" fmla="*/ 184 w 987"/>
                <a:gd name="T33" fmla="*/ 2 h 663"/>
                <a:gd name="T34" fmla="*/ 191 w 987"/>
                <a:gd name="T35" fmla="*/ 4 h 663"/>
                <a:gd name="T36" fmla="*/ 200 w 987"/>
                <a:gd name="T37" fmla="*/ 9 h 663"/>
                <a:gd name="T38" fmla="*/ 212 w 987"/>
                <a:gd name="T39" fmla="*/ 11 h 663"/>
                <a:gd name="T40" fmla="*/ 224 w 987"/>
                <a:gd name="T41" fmla="*/ 9 h 663"/>
                <a:gd name="T42" fmla="*/ 234 w 987"/>
                <a:gd name="T43" fmla="*/ 7 h 663"/>
                <a:gd name="T44" fmla="*/ 241 w 987"/>
                <a:gd name="T45" fmla="*/ 5 h 663"/>
                <a:gd name="T46" fmla="*/ 246 w 987"/>
                <a:gd name="T47" fmla="*/ 5 h 663"/>
                <a:gd name="T48" fmla="*/ 246 w 987"/>
                <a:gd name="T49" fmla="*/ 12 h 663"/>
                <a:gd name="T50" fmla="*/ 245 w 987"/>
                <a:gd name="T51" fmla="*/ 23 h 663"/>
                <a:gd name="T52" fmla="*/ 243 w 987"/>
                <a:gd name="T53" fmla="*/ 31 h 663"/>
                <a:gd name="T54" fmla="*/ 237 w 987"/>
                <a:gd name="T55" fmla="*/ 32 h 663"/>
                <a:gd name="T56" fmla="*/ 231 w 987"/>
                <a:gd name="T57" fmla="*/ 31 h 663"/>
                <a:gd name="T58" fmla="*/ 225 w 987"/>
                <a:gd name="T59" fmla="*/ 32 h 663"/>
                <a:gd name="T60" fmla="*/ 216 w 987"/>
                <a:gd name="T61" fmla="*/ 41 h 663"/>
                <a:gd name="T62" fmla="*/ 205 w 987"/>
                <a:gd name="T63" fmla="*/ 49 h 663"/>
                <a:gd name="T64" fmla="*/ 198 w 987"/>
                <a:gd name="T65" fmla="*/ 51 h 663"/>
                <a:gd name="T66" fmla="*/ 191 w 987"/>
                <a:gd name="T67" fmla="*/ 52 h 663"/>
                <a:gd name="T68" fmla="*/ 189 w 987"/>
                <a:gd name="T69" fmla="*/ 55 h 663"/>
                <a:gd name="T70" fmla="*/ 191 w 987"/>
                <a:gd name="T71" fmla="*/ 63 h 663"/>
                <a:gd name="T72" fmla="*/ 190 w 987"/>
                <a:gd name="T73" fmla="*/ 72 h 663"/>
                <a:gd name="T74" fmla="*/ 185 w 987"/>
                <a:gd name="T75" fmla="*/ 77 h 663"/>
                <a:gd name="T76" fmla="*/ 177 w 987"/>
                <a:gd name="T77" fmla="*/ 79 h 663"/>
                <a:gd name="T78" fmla="*/ 171 w 987"/>
                <a:gd name="T79" fmla="*/ 79 h 663"/>
                <a:gd name="T80" fmla="*/ 170 w 987"/>
                <a:gd name="T81" fmla="*/ 84 h 663"/>
                <a:gd name="T82" fmla="*/ 170 w 987"/>
                <a:gd name="T83" fmla="*/ 93 h 663"/>
                <a:gd name="T84" fmla="*/ 168 w 987"/>
                <a:gd name="T85" fmla="*/ 101 h 663"/>
                <a:gd name="T86" fmla="*/ 163 w 987"/>
                <a:gd name="T87" fmla="*/ 106 h 663"/>
                <a:gd name="T88" fmla="*/ 157 w 987"/>
                <a:gd name="T89" fmla="*/ 111 h 663"/>
                <a:gd name="T90" fmla="*/ 155 w 987"/>
                <a:gd name="T91" fmla="*/ 118 h 663"/>
                <a:gd name="T92" fmla="*/ 152 w 987"/>
                <a:gd name="T93" fmla="*/ 123 h 663"/>
                <a:gd name="T94" fmla="*/ 139 w 987"/>
                <a:gd name="T95" fmla="*/ 127 h 663"/>
                <a:gd name="T96" fmla="*/ 129 w 987"/>
                <a:gd name="T97" fmla="*/ 143 h 663"/>
                <a:gd name="T98" fmla="*/ 106 w 987"/>
                <a:gd name="T99" fmla="*/ 148 h 663"/>
                <a:gd name="T100" fmla="*/ 89 w 987"/>
                <a:gd name="T101" fmla="*/ 156 h 663"/>
                <a:gd name="T102" fmla="*/ 66 w 987"/>
                <a:gd name="T103" fmla="*/ 144 h 663"/>
                <a:gd name="T104" fmla="*/ 52 w 987"/>
                <a:gd name="T105" fmla="*/ 160 h 663"/>
                <a:gd name="T106" fmla="*/ 13 w 987"/>
                <a:gd name="T107" fmla="*/ 152 h 663"/>
                <a:gd name="T108" fmla="*/ 0 w 987"/>
                <a:gd name="T109" fmla="*/ 140 h 663"/>
                <a:gd name="T110" fmla="*/ 14 w 987"/>
                <a:gd name="T111" fmla="*/ 98 h 663"/>
                <a:gd name="T112" fmla="*/ 8 w 987"/>
                <a:gd name="T113" fmla="*/ 78 h 663"/>
                <a:gd name="T114" fmla="*/ 26 w 987"/>
                <a:gd name="T115" fmla="*/ 45 h 663"/>
                <a:gd name="T116" fmla="*/ 50 w 987"/>
                <a:gd name="T117" fmla="*/ 22 h 663"/>
                <a:gd name="T118" fmla="*/ 80 w 987"/>
                <a:gd name="T119" fmla="*/ 0 h 6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87"/>
                <a:gd name="T181" fmla="*/ 0 h 663"/>
                <a:gd name="T182" fmla="*/ 987 w 987"/>
                <a:gd name="T183" fmla="*/ 663 h 6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87" h="663">
                  <a:moveTo>
                    <a:pt x="323" y="0"/>
                  </a:moveTo>
                  <a:lnTo>
                    <a:pt x="327" y="2"/>
                  </a:lnTo>
                  <a:lnTo>
                    <a:pt x="339" y="7"/>
                  </a:lnTo>
                  <a:lnTo>
                    <a:pt x="353" y="13"/>
                  </a:lnTo>
                  <a:lnTo>
                    <a:pt x="369" y="19"/>
                  </a:lnTo>
                  <a:lnTo>
                    <a:pt x="384" y="21"/>
                  </a:lnTo>
                  <a:lnTo>
                    <a:pt x="398" y="19"/>
                  </a:lnTo>
                  <a:lnTo>
                    <a:pt x="414" y="9"/>
                  </a:lnTo>
                  <a:lnTo>
                    <a:pt x="432" y="2"/>
                  </a:lnTo>
                  <a:lnTo>
                    <a:pt x="447" y="2"/>
                  </a:lnTo>
                  <a:lnTo>
                    <a:pt x="463" y="7"/>
                  </a:lnTo>
                  <a:lnTo>
                    <a:pt x="479" y="23"/>
                  </a:lnTo>
                  <a:lnTo>
                    <a:pt x="493" y="43"/>
                  </a:lnTo>
                  <a:lnTo>
                    <a:pt x="500" y="63"/>
                  </a:lnTo>
                  <a:lnTo>
                    <a:pt x="504" y="82"/>
                  </a:lnTo>
                  <a:lnTo>
                    <a:pt x="504" y="98"/>
                  </a:lnTo>
                  <a:lnTo>
                    <a:pt x="508" y="114"/>
                  </a:lnTo>
                  <a:lnTo>
                    <a:pt x="512" y="129"/>
                  </a:lnTo>
                  <a:lnTo>
                    <a:pt x="522" y="143"/>
                  </a:lnTo>
                  <a:lnTo>
                    <a:pt x="534" y="151"/>
                  </a:lnTo>
                  <a:lnTo>
                    <a:pt x="550" y="155"/>
                  </a:lnTo>
                  <a:lnTo>
                    <a:pt x="567" y="157"/>
                  </a:lnTo>
                  <a:lnTo>
                    <a:pt x="585" y="157"/>
                  </a:lnTo>
                  <a:lnTo>
                    <a:pt x="599" y="153"/>
                  </a:lnTo>
                  <a:lnTo>
                    <a:pt x="609" y="147"/>
                  </a:lnTo>
                  <a:lnTo>
                    <a:pt x="617" y="133"/>
                  </a:lnTo>
                  <a:lnTo>
                    <a:pt x="628" y="116"/>
                  </a:lnTo>
                  <a:lnTo>
                    <a:pt x="642" y="96"/>
                  </a:lnTo>
                  <a:lnTo>
                    <a:pt x="656" y="76"/>
                  </a:lnTo>
                  <a:lnTo>
                    <a:pt x="668" y="61"/>
                  </a:lnTo>
                  <a:lnTo>
                    <a:pt x="683" y="43"/>
                  </a:lnTo>
                  <a:lnTo>
                    <a:pt x="703" y="27"/>
                  </a:lnTo>
                  <a:lnTo>
                    <a:pt x="723" y="15"/>
                  </a:lnTo>
                  <a:lnTo>
                    <a:pt x="737" y="9"/>
                  </a:lnTo>
                  <a:lnTo>
                    <a:pt x="748" y="11"/>
                  </a:lnTo>
                  <a:lnTo>
                    <a:pt x="764" y="19"/>
                  </a:lnTo>
                  <a:lnTo>
                    <a:pt x="782" y="27"/>
                  </a:lnTo>
                  <a:lnTo>
                    <a:pt x="802" y="37"/>
                  </a:lnTo>
                  <a:lnTo>
                    <a:pt x="823" y="45"/>
                  </a:lnTo>
                  <a:lnTo>
                    <a:pt x="851" y="47"/>
                  </a:lnTo>
                  <a:lnTo>
                    <a:pt x="874" y="43"/>
                  </a:lnTo>
                  <a:lnTo>
                    <a:pt x="896" y="37"/>
                  </a:lnTo>
                  <a:lnTo>
                    <a:pt x="920" y="33"/>
                  </a:lnTo>
                  <a:lnTo>
                    <a:pt x="937" y="29"/>
                  </a:lnTo>
                  <a:lnTo>
                    <a:pt x="953" y="25"/>
                  </a:lnTo>
                  <a:lnTo>
                    <a:pt x="967" y="21"/>
                  </a:lnTo>
                  <a:lnTo>
                    <a:pt x="979" y="19"/>
                  </a:lnTo>
                  <a:lnTo>
                    <a:pt x="985" y="21"/>
                  </a:lnTo>
                  <a:lnTo>
                    <a:pt x="987" y="31"/>
                  </a:lnTo>
                  <a:lnTo>
                    <a:pt x="987" y="51"/>
                  </a:lnTo>
                  <a:lnTo>
                    <a:pt x="985" y="70"/>
                  </a:lnTo>
                  <a:lnTo>
                    <a:pt x="983" y="92"/>
                  </a:lnTo>
                  <a:lnTo>
                    <a:pt x="979" y="112"/>
                  </a:lnTo>
                  <a:lnTo>
                    <a:pt x="973" y="124"/>
                  </a:lnTo>
                  <a:lnTo>
                    <a:pt x="963" y="128"/>
                  </a:lnTo>
                  <a:lnTo>
                    <a:pt x="951" y="128"/>
                  </a:lnTo>
                  <a:lnTo>
                    <a:pt x="937" y="126"/>
                  </a:lnTo>
                  <a:lnTo>
                    <a:pt x="926" y="124"/>
                  </a:lnTo>
                  <a:lnTo>
                    <a:pt x="912" y="126"/>
                  </a:lnTo>
                  <a:lnTo>
                    <a:pt x="902" y="131"/>
                  </a:lnTo>
                  <a:lnTo>
                    <a:pt x="886" y="147"/>
                  </a:lnTo>
                  <a:lnTo>
                    <a:pt x="865" y="167"/>
                  </a:lnTo>
                  <a:lnTo>
                    <a:pt x="843" y="185"/>
                  </a:lnTo>
                  <a:lnTo>
                    <a:pt x="821" y="198"/>
                  </a:lnTo>
                  <a:lnTo>
                    <a:pt x="807" y="204"/>
                  </a:lnTo>
                  <a:lnTo>
                    <a:pt x="792" y="206"/>
                  </a:lnTo>
                  <a:lnTo>
                    <a:pt x="778" y="206"/>
                  </a:lnTo>
                  <a:lnTo>
                    <a:pt x="766" y="208"/>
                  </a:lnTo>
                  <a:lnTo>
                    <a:pt x="760" y="212"/>
                  </a:lnTo>
                  <a:lnTo>
                    <a:pt x="758" y="222"/>
                  </a:lnTo>
                  <a:lnTo>
                    <a:pt x="762" y="236"/>
                  </a:lnTo>
                  <a:lnTo>
                    <a:pt x="764" y="253"/>
                  </a:lnTo>
                  <a:lnTo>
                    <a:pt x="764" y="271"/>
                  </a:lnTo>
                  <a:lnTo>
                    <a:pt x="760" y="289"/>
                  </a:lnTo>
                  <a:lnTo>
                    <a:pt x="754" y="303"/>
                  </a:lnTo>
                  <a:lnTo>
                    <a:pt x="743" y="311"/>
                  </a:lnTo>
                  <a:lnTo>
                    <a:pt x="725" y="316"/>
                  </a:lnTo>
                  <a:lnTo>
                    <a:pt x="709" y="316"/>
                  </a:lnTo>
                  <a:lnTo>
                    <a:pt x="695" y="316"/>
                  </a:lnTo>
                  <a:lnTo>
                    <a:pt x="685" y="318"/>
                  </a:lnTo>
                  <a:lnTo>
                    <a:pt x="682" y="326"/>
                  </a:lnTo>
                  <a:lnTo>
                    <a:pt x="682" y="338"/>
                  </a:lnTo>
                  <a:lnTo>
                    <a:pt x="682" y="356"/>
                  </a:lnTo>
                  <a:lnTo>
                    <a:pt x="682" y="374"/>
                  </a:lnTo>
                  <a:lnTo>
                    <a:pt x="680" y="391"/>
                  </a:lnTo>
                  <a:lnTo>
                    <a:pt x="674" y="405"/>
                  </a:lnTo>
                  <a:lnTo>
                    <a:pt x="668" y="415"/>
                  </a:lnTo>
                  <a:lnTo>
                    <a:pt x="654" y="425"/>
                  </a:lnTo>
                  <a:lnTo>
                    <a:pt x="640" y="433"/>
                  </a:lnTo>
                  <a:lnTo>
                    <a:pt x="630" y="444"/>
                  </a:lnTo>
                  <a:lnTo>
                    <a:pt x="626" y="458"/>
                  </a:lnTo>
                  <a:lnTo>
                    <a:pt x="622" y="474"/>
                  </a:lnTo>
                  <a:lnTo>
                    <a:pt x="617" y="486"/>
                  </a:lnTo>
                  <a:lnTo>
                    <a:pt x="609" y="494"/>
                  </a:lnTo>
                  <a:lnTo>
                    <a:pt x="605" y="496"/>
                  </a:lnTo>
                  <a:lnTo>
                    <a:pt x="558" y="511"/>
                  </a:lnTo>
                  <a:lnTo>
                    <a:pt x="546" y="572"/>
                  </a:lnTo>
                  <a:lnTo>
                    <a:pt x="518" y="572"/>
                  </a:lnTo>
                  <a:lnTo>
                    <a:pt x="461" y="598"/>
                  </a:lnTo>
                  <a:lnTo>
                    <a:pt x="424" y="594"/>
                  </a:lnTo>
                  <a:lnTo>
                    <a:pt x="412" y="620"/>
                  </a:lnTo>
                  <a:lnTo>
                    <a:pt x="357" y="627"/>
                  </a:lnTo>
                  <a:lnTo>
                    <a:pt x="327" y="643"/>
                  </a:lnTo>
                  <a:lnTo>
                    <a:pt x="266" y="578"/>
                  </a:lnTo>
                  <a:lnTo>
                    <a:pt x="229" y="596"/>
                  </a:lnTo>
                  <a:lnTo>
                    <a:pt x="209" y="643"/>
                  </a:lnTo>
                  <a:lnTo>
                    <a:pt x="105" y="663"/>
                  </a:lnTo>
                  <a:lnTo>
                    <a:pt x="54" y="610"/>
                  </a:lnTo>
                  <a:lnTo>
                    <a:pt x="4" y="612"/>
                  </a:lnTo>
                  <a:lnTo>
                    <a:pt x="0" y="562"/>
                  </a:lnTo>
                  <a:lnTo>
                    <a:pt x="69" y="482"/>
                  </a:lnTo>
                  <a:lnTo>
                    <a:pt x="59" y="395"/>
                  </a:lnTo>
                  <a:lnTo>
                    <a:pt x="28" y="350"/>
                  </a:lnTo>
                  <a:lnTo>
                    <a:pt x="32" y="313"/>
                  </a:lnTo>
                  <a:lnTo>
                    <a:pt x="87" y="265"/>
                  </a:lnTo>
                  <a:lnTo>
                    <a:pt x="107" y="181"/>
                  </a:lnTo>
                  <a:lnTo>
                    <a:pt x="168" y="143"/>
                  </a:lnTo>
                  <a:lnTo>
                    <a:pt x="201" y="88"/>
                  </a:lnTo>
                  <a:lnTo>
                    <a:pt x="266" y="84"/>
                  </a:lnTo>
                  <a:lnTo>
                    <a:pt x="323" y="0"/>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69" name="Freeform 93"/>
            <p:cNvSpPr/>
            <p:nvPr/>
          </p:nvSpPr>
          <p:spPr bwMode="gray">
            <a:xfrm>
              <a:off x="3322" y="1838"/>
              <a:ext cx="400" cy="580"/>
            </a:xfrm>
            <a:custGeom>
              <a:avLst/>
              <a:gdLst>
                <a:gd name="T0" fmla="*/ 199 w 799"/>
                <a:gd name="T1" fmla="*/ 103 h 1161"/>
                <a:gd name="T2" fmla="*/ 194 w 799"/>
                <a:gd name="T3" fmla="*/ 108 h 1161"/>
                <a:gd name="T4" fmla="*/ 187 w 799"/>
                <a:gd name="T5" fmla="*/ 114 h 1161"/>
                <a:gd name="T6" fmla="*/ 185 w 799"/>
                <a:gd name="T7" fmla="*/ 121 h 1161"/>
                <a:gd name="T8" fmla="*/ 185 w 799"/>
                <a:gd name="T9" fmla="*/ 129 h 1161"/>
                <a:gd name="T10" fmla="*/ 182 w 799"/>
                <a:gd name="T11" fmla="*/ 137 h 1161"/>
                <a:gd name="T12" fmla="*/ 171 w 799"/>
                <a:gd name="T13" fmla="*/ 142 h 1161"/>
                <a:gd name="T14" fmla="*/ 162 w 799"/>
                <a:gd name="T15" fmla="*/ 146 h 1161"/>
                <a:gd name="T16" fmla="*/ 156 w 799"/>
                <a:gd name="T17" fmla="*/ 146 h 1161"/>
                <a:gd name="T18" fmla="*/ 149 w 799"/>
                <a:gd name="T19" fmla="*/ 145 h 1161"/>
                <a:gd name="T20" fmla="*/ 145 w 799"/>
                <a:gd name="T21" fmla="*/ 144 h 1161"/>
                <a:gd name="T22" fmla="*/ 140 w 799"/>
                <a:gd name="T23" fmla="*/ 169 h 1161"/>
                <a:gd name="T24" fmla="*/ 145 w 799"/>
                <a:gd name="T25" fmla="*/ 184 h 1161"/>
                <a:gd name="T26" fmla="*/ 115 w 799"/>
                <a:gd name="T27" fmla="*/ 206 h 1161"/>
                <a:gd name="T28" fmla="*/ 92 w 799"/>
                <a:gd name="T29" fmla="*/ 229 h 1161"/>
                <a:gd name="T30" fmla="*/ 73 w 799"/>
                <a:gd name="T31" fmla="*/ 262 h 1161"/>
                <a:gd name="T32" fmla="*/ 79 w 799"/>
                <a:gd name="T33" fmla="*/ 283 h 1161"/>
                <a:gd name="T34" fmla="*/ 61 w 799"/>
                <a:gd name="T35" fmla="*/ 290 h 1161"/>
                <a:gd name="T36" fmla="*/ 20 w 799"/>
                <a:gd name="T37" fmla="*/ 284 h 1161"/>
                <a:gd name="T38" fmla="*/ 12 w 799"/>
                <a:gd name="T39" fmla="*/ 265 h 1161"/>
                <a:gd name="T40" fmla="*/ 17 w 799"/>
                <a:gd name="T41" fmla="*/ 247 h 1161"/>
                <a:gd name="T42" fmla="*/ 21 w 799"/>
                <a:gd name="T43" fmla="*/ 214 h 1161"/>
                <a:gd name="T44" fmla="*/ 3 w 799"/>
                <a:gd name="T45" fmla="*/ 187 h 1161"/>
                <a:gd name="T46" fmla="*/ 12 w 799"/>
                <a:gd name="T47" fmla="*/ 169 h 1161"/>
                <a:gd name="T48" fmla="*/ 29 w 799"/>
                <a:gd name="T49" fmla="*/ 148 h 1161"/>
                <a:gd name="T50" fmla="*/ 13 w 799"/>
                <a:gd name="T51" fmla="*/ 132 h 1161"/>
                <a:gd name="T52" fmla="*/ 24 w 799"/>
                <a:gd name="T53" fmla="*/ 116 h 1161"/>
                <a:gd name="T54" fmla="*/ 0 w 799"/>
                <a:gd name="T55" fmla="*/ 84 h 1161"/>
                <a:gd name="T56" fmla="*/ 1 w 799"/>
                <a:gd name="T57" fmla="*/ 68 h 1161"/>
                <a:gd name="T58" fmla="*/ 11 w 799"/>
                <a:gd name="T59" fmla="*/ 45 h 1161"/>
                <a:gd name="T60" fmla="*/ 29 w 799"/>
                <a:gd name="T61" fmla="*/ 36 h 1161"/>
                <a:gd name="T62" fmla="*/ 45 w 799"/>
                <a:gd name="T63" fmla="*/ 55 h 1161"/>
                <a:gd name="T64" fmla="*/ 68 w 799"/>
                <a:gd name="T65" fmla="*/ 41 h 1161"/>
                <a:gd name="T66" fmla="*/ 81 w 799"/>
                <a:gd name="T67" fmla="*/ 35 h 1161"/>
                <a:gd name="T68" fmla="*/ 88 w 799"/>
                <a:gd name="T69" fmla="*/ 14 h 1161"/>
                <a:gd name="T70" fmla="*/ 105 w 799"/>
                <a:gd name="T71" fmla="*/ 8 h 1161"/>
                <a:gd name="T72" fmla="*/ 116 w 799"/>
                <a:gd name="T73" fmla="*/ 4 h 1161"/>
                <a:gd name="T74" fmla="*/ 124 w 799"/>
                <a:gd name="T75" fmla="*/ 16 h 1161"/>
                <a:gd name="T76" fmla="*/ 128 w 799"/>
                <a:gd name="T77" fmla="*/ 21 h 1161"/>
                <a:gd name="T78" fmla="*/ 131 w 799"/>
                <a:gd name="T79" fmla="*/ 26 h 1161"/>
                <a:gd name="T80" fmla="*/ 132 w 799"/>
                <a:gd name="T81" fmla="*/ 28 h 1161"/>
                <a:gd name="T82" fmla="*/ 133 w 799"/>
                <a:gd name="T83" fmla="*/ 34 h 1161"/>
                <a:gd name="T84" fmla="*/ 135 w 799"/>
                <a:gd name="T85" fmla="*/ 40 h 1161"/>
                <a:gd name="T86" fmla="*/ 147 w 799"/>
                <a:gd name="T87" fmla="*/ 52 h 1161"/>
                <a:gd name="T88" fmla="*/ 166 w 799"/>
                <a:gd name="T89" fmla="*/ 58 h 1161"/>
                <a:gd name="T90" fmla="*/ 174 w 799"/>
                <a:gd name="T91" fmla="*/ 77 h 1161"/>
                <a:gd name="T92" fmla="*/ 194 w 799"/>
                <a:gd name="T93" fmla="*/ 97 h 116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99"/>
                <a:gd name="T142" fmla="*/ 0 h 1161"/>
                <a:gd name="T143" fmla="*/ 799 w 799"/>
                <a:gd name="T144" fmla="*/ 1161 h 116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99" h="1161">
                  <a:moveTo>
                    <a:pt x="799" y="413"/>
                  </a:moveTo>
                  <a:lnTo>
                    <a:pt x="795" y="415"/>
                  </a:lnTo>
                  <a:lnTo>
                    <a:pt x="785" y="423"/>
                  </a:lnTo>
                  <a:lnTo>
                    <a:pt x="773" y="433"/>
                  </a:lnTo>
                  <a:lnTo>
                    <a:pt x="759" y="444"/>
                  </a:lnTo>
                  <a:lnTo>
                    <a:pt x="748" y="458"/>
                  </a:lnTo>
                  <a:lnTo>
                    <a:pt x="740" y="468"/>
                  </a:lnTo>
                  <a:lnTo>
                    <a:pt x="738" y="484"/>
                  </a:lnTo>
                  <a:lnTo>
                    <a:pt x="738" y="499"/>
                  </a:lnTo>
                  <a:lnTo>
                    <a:pt x="738" y="517"/>
                  </a:lnTo>
                  <a:lnTo>
                    <a:pt x="734" y="535"/>
                  </a:lnTo>
                  <a:lnTo>
                    <a:pt x="726" y="549"/>
                  </a:lnTo>
                  <a:lnTo>
                    <a:pt x="706" y="560"/>
                  </a:lnTo>
                  <a:lnTo>
                    <a:pt x="683" y="570"/>
                  </a:lnTo>
                  <a:lnTo>
                    <a:pt x="661" y="578"/>
                  </a:lnTo>
                  <a:lnTo>
                    <a:pt x="645" y="584"/>
                  </a:lnTo>
                  <a:lnTo>
                    <a:pt x="635" y="588"/>
                  </a:lnTo>
                  <a:lnTo>
                    <a:pt x="622" y="586"/>
                  </a:lnTo>
                  <a:lnTo>
                    <a:pt x="608" y="584"/>
                  </a:lnTo>
                  <a:lnTo>
                    <a:pt x="594" y="580"/>
                  </a:lnTo>
                  <a:lnTo>
                    <a:pt x="584" y="576"/>
                  </a:lnTo>
                  <a:lnTo>
                    <a:pt x="580" y="576"/>
                  </a:lnTo>
                  <a:lnTo>
                    <a:pt x="561" y="618"/>
                  </a:lnTo>
                  <a:lnTo>
                    <a:pt x="557" y="679"/>
                  </a:lnTo>
                  <a:lnTo>
                    <a:pt x="568" y="718"/>
                  </a:lnTo>
                  <a:lnTo>
                    <a:pt x="580" y="738"/>
                  </a:lnTo>
                  <a:lnTo>
                    <a:pt x="523" y="822"/>
                  </a:lnTo>
                  <a:lnTo>
                    <a:pt x="458" y="826"/>
                  </a:lnTo>
                  <a:lnTo>
                    <a:pt x="425" y="881"/>
                  </a:lnTo>
                  <a:lnTo>
                    <a:pt x="368" y="919"/>
                  </a:lnTo>
                  <a:lnTo>
                    <a:pt x="344" y="1003"/>
                  </a:lnTo>
                  <a:lnTo>
                    <a:pt x="289" y="1051"/>
                  </a:lnTo>
                  <a:lnTo>
                    <a:pt x="285" y="1088"/>
                  </a:lnTo>
                  <a:lnTo>
                    <a:pt x="316" y="1133"/>
                  </a:lnTo>
                  <a:lnTo>
                    <a:pt x="318" y="1147"/>
                  </a:lnTo>
                  <a:lnTo>
                    <a:pt x="244" y="1161"/>
                  </a:lnTo>
                  <a:lnTo>
                    <a:pt x="139" y="1145"/>
                  </a:lnTo>
                  <a:lnTo>
                    <a:pt x="80" y="1137"/>
                  </a:lnTo>
                  <a:lnTo>
                    <a:pt x="41" y="1100"/>
                  </a:lnTo>
                  <a:lnTo>
                    <a:pt x="45" y="1060"/>
                  </a:lnTo>
                  <a:lnTo>
                    <a:pt x="72" y="1025"/>
                  </a:lnTo>
                  <a:lnTo>
                    <a:pt x="66" y="990"/>
                  </a:lnTo>
                  <a:lnTo>
                    <a:pt x="96" y="929"/>
                  </a:lnTo>
                  <a:lnTo>
                    <a:pt x="82" y="858"/>
                  </a:lnTo>
                  <a:lnTo>
                    <a:pt x="7" y="820"/>
                  </a:lnTo>
                  <a:lnTo>
                    <a:pt x="9" y="749"/>
                  </a:lnTo>
                  <a:lnTo>
                    <a:pt x="41" y="718"/>
                  </a:lnTo>
                  <a:lnTo>
                    <a:pt x="47" y="677"/>
                  </a:lnTo>
                  <a:lnTo>
                    <a:pt x="88" y="665"/>
                  </a:lnTo>
                  <a:lnTo>
                    <a:pt x="114" y="594"/>
                  </a:lnTo>
                  <a:lnTo>
                    <a:pt x="88" y="547"/>
                  </a:lnTo>
                  <a:lnTo>
                    <a:pt x="49" y="529"/>
                  </a:lnTo>
                  <a:lnTo>
                    <a:pt x="53" y="486"/>
                  </a:lnTo>
                  <a:lnTo>
                    <a:pt x="96" y="466"/>
                  </a:lnTo>
                  <a:lnTo>
                    <a:pt x="63" y="419"/>
                  </a:lnTo>
                  <a:lnTo>
                    <a:pt x="0" y="338"/>
                  </a:lnTo>
                  <a:lnTo>
                    <a:pt x="15" y="314"/>
                  </a:lnTo>
                  <a:lnTo>
                    <a:pt x="3" y="273"/>
                  </a:lnTo>
                  <a:lnTo>
                    <a:pt x="35" y="234"/>
                  </a:lnTo>
                  <a:lnTo>
                    <a:pt x="41" y="181"/>
                  </a:lnTo>
                  <a:lnTo>
                    <a:pt x="66" y="143"/>
                  </a:lnTo>
                  <a:lnTo>
                    <a:pt x="114" y="147"/>
                  </a:lnTo>
                  <a:lnTo>
                    <a:pt x="131" y="224"/>
                  </a:lnTo>
                  <a:lnTo>
                    <a:pt x="179" y="220"/>
                  </a:lnTo>
                  <a:lnTo>
                    <a:pt x="230" y="165"/>
                  </a:lnTo>
                  <a:lnTo>
                    <a:pt x="269" y="167"/>
                  </a:lnTo>
                  <a:lnTo>
                    <a:pt x="297" y="131"/>
                  </a:lnTo>
                  <a:lnTo>
                    <a:pt x="324" y="141"/>
                  </a:lnTo>
                  <a:lnTo>
                    <a:pt x="362" y="127"/>
                  </a:lnTo>
                  <a:lnTo>
                    <a:pt x="352" y="59"/>
                  </a:lnTo>
                  <a:lnTo>
                    <a:pt x="387" y="33"/>
                  </a:lnTo>
                  <a:lnTo>
                    <a:pt x="419" y="33"/>
                  </a:lnTo>
                  <a:lnTo>
                    <a:pt x="439" y="0"/>
                  </a:lnTo>
                  <a:lnTo>
                    <a:pt x="464" y="17"/>
                  </a:lnTo>
                  <a:lnTo>
                    <a:pt x="492" y="64"/>
                  </a:lnTo>
                  <a:lnTo>
                    <a:pt x="496" y="66"/>
                  </a:lnTo>
                  <a:lnTo>
                    <a:pt x="502" y="74"/>
                  </a:lnTo>
                  <a:lnTo>
                    <a:pt x="509" y="84"/>
                  </a:lnTo>
                  <a:lnTo>
                    <a:pt x="517" y="94"/>
                  </a:lnTo>
                  <a:lnTo>
                    <a:pt x="523" y="104"/>
                  </a:lnTo>
                  <a:lnTo>
                    <a:pt x="525" y="108"/>
                  </a:lnTo>
                  <a:lnTo>
                    <a:pt x="525" y="114"/>
                  </a:lnTo>
                  <a:lnTo>
                    <a:pt x="527" y="124"/>
                  </a:lnTo>
                  <a:lnTo>
                    <a:pt x="531" y="137"/>
                  </a:lnTo>
                  <a:lnTo>
                    <a:pt x="535" y="151"/>
                  </a:lnTo>
                  <a:lnTo>
                    <a:pt x="539" y="161"/>
                  </a:lnTo>
                  <a:lnTo>
                    <a:pt x="539" y="165"/>
                  </a:lnTo>
                  <a:lnTo>
                    <a:pt x="586" y="208"/>
                  </a:lnTo>
                  <a:lnTo>
                    <a:pt x="653" y="206"/>
                  </a:lnTo>
                  <a:lnTo>
                    <a:pt x="661" y="232"/>
                  </a:lnTo>
                  <a:lnTo>
                    <a:pt x="641" y="291"/>
                  </a:lnTo>
                  <a:lnTo>
                    <a:pt x="696" y="309"/>
                  </a:lnTo>
                  <a:lnTo>
                    <a:pt x="744" y="342"/>
                  </a:lnTo>
                  <a:lnTo>
                    <a:pt x="775" y="389"/>
                  </a:lnTo>
                  <a:lnTo>
                    <a:pt x="799" y="413"/>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0" name="Freeform 94"/>
            <p:cNvSpPr/>
            <p:nvPr/>
          </p:nvSpPr>
          <p:spPr bwMode="gray">
            <a:xfrm>
              <a:off x="3322" y="1838"/>
              <a:ext cx="400" cy="580"/>
            </a:xfrm>
            <a:custGeom>
              <a:avLst/>
              <a:gdLst>
                <a:gd name="T0" fmla="*/ 199 w 799"/>
                <a:gd name="T1" fmla="*/ 103 h 1161"/>
                <a:gd name="T2" fmla="*/ 194 w 799"/>
                <a:gd name="T3" fmla="*/ 108 h 1161"/>
                <a:gd name="T4" fmla="*/ 187 w 799"/>
                <a:gd name="T5" fmla="*/ 114 h 1161"/>
                <a:gd name="T6" fmla="*/ 185 w 799"/>
                <a:gd name="T7" fmla="*/ 121 h 1161"/>
                <a:gd name="T8" fmla="*/ 185 w 799"/>
                <a:gd name="T9" fmla="*/ 129 h 1161"/>
                <a:gd name="T10" fmla="*/ 182 w 799"/>
                <a:gd name="T11" fmla="*/ 137 h 1161"/>
                <a:gd name="T12" fmla="*/ 171 w 799"/>
                <a:gd name="T13" fmla="*/ 142 h 1161"/>
                <a:gd name="T14" fmla="*/ 162 w 799"/>
                <a:gd name="T15" fmla="*/ 146 h 1161"/>
                <a:gd name="T16" fmla="*/ 156 w 799"/>
                <a:gd name="T17" fmla="*/ 146 h 1161"/>
                <a:gd name="T18" fmla="*/ 149 w 799"/>
                <a:gd name="T19" fmla="*/ 145 h 1161"/>
                <a:gd name="T20" fmla="*/ 145 w 799"/>
                <a:gd name="T21" fmla="*/ 144 h 1161"/>
                <a:gd name="T22" fmla="*/ 140 w 799"/>
                <a:gd name="T23" fmla="*/ 169 h 1161"/>
                <a:gd name="T24" fmla="*/ 145 w 799"/>
                <a:gd name="T25" fmla="*/ 184 h 1161"/>
                <a:gd name="T26" fmla="*/ 115 w 799"/>
                <a:gd name="T27" fmla="*/ 206 h 1161"/>
                <a:gd name="T28" fmla="*/ 92 w 799"/>
                <a:gd name="T29" fmla="*/ 229 h 1161"/>
                <a:gd name="T30" fmla="*/ 73 w 799"/>
                <a:gd name="T31" fmla="*/ 262 h 1161"/>
                <a:gd name="T32" fmla="*/ 79 w 799"/>
                <a:gd name="T33" fmla="*/ 283 h 1161"/>
                <a:gd name="T34" fmla="*/ 61 w 799"/>
                <a:gd name="T35" fmla="*/ 290 h 1161"/>
                <a:gd name="T36" fmla="*/ 20 w 799"/>
                <a:gd name="T37" fmla="*/ 284 h 1161"/>
                <a:gd name="T38" fmla="*/ 12 w 799"/>
                <a:gd name="T39" fmla="*/ 265 h 1161"/>
                <a:gd name="T40" fmla="*/ 17 w 799"/>
                <a:gd name="T41" fmla="*/ 247 h 1161"/>
                <a:gd name="T42" fmla="*/ 21 w 799"/>
                <a:gd name="T43" fmla="*/ 214 h 1161"/>
                <a:gd name="T44" fmla="*/ 3 w 799"/>
                <a:gd name="T45" fmla="*/ 187 h 1161"/>
                <a:gd name="T46" fmla="*/ 12 w 799"/>
                <a:gd name="T47" fmla="*/ 169 h 1161"/>
                <a:gd name="T48" fmla="*/ 29 w 799"/>
                <a:gd name="T49" fmla="*/ 148 h 1161"/>
                <a:gd name="T50" fmla="*/ 13 w 799"/>
                <a:gd name="T51" fmla="*/ 132 h 1161"/>
                <a:gd name="T52" fmla="*/ 24 w 799"/>
                <a:gd name="T53" fmla="*/ 116 h 1161"/>
                <a:gd name="T54" fmla="*/ 0 w 799"/>
                <a:gd name="T55" fmla="*/ 84 h 1161"/>
                <a:gd name="T56" fmla="*/ 1 w 799"/>
                <a:gd name="T57" fmla="*/ 68 h 1161"/>
                <a:gd name="T58" fmla="*/ 11 w 799"/>
                <a:gd name="T59" fmla="*/ 45 h 1161"/>
                <a:gd name="T60" fmla="*/ 29 w 799"/>
                <a:gd name="T61" fmla="*/ 36 h 1161"/>
                <a:gd name="T62" fmla="*/ 45 w 799"/>
                <a:gd name="T63" fmla="*/ 55 h 1161"/>
                <a:gd name="T64" fmla="*/ 68 w 799"/>
                <a:gd name="T65" fmla="*/ 41 h 1161"/>
                <a:gd name="T66" fmla="*/ 81 w 799"/>
                <a:gd name="T67" fmla="*/ 35 h 1161"/>
                <a:gd name="T68" fmla="*/ 88 w 799"/>
                <a:gd name="T69" fmla="*/ 14 h 1161"/>
                <a:gd name="T70" fmla="*/ 105 w 799"/>
                <a:gd name="T71" fmla="*/ 8 h 1161"/>
                <a:gd name="T72" fmla="*/ 116 w 799"/>
                <a:gd name="T73" fmla="*/ 4 h 1161"/>
                <a:gd name="T74" fmla="*/ 124 w 799"/>
                <a:gd name="T75" fmla="*/ 16 h 1161"/>
                <a:gd name="T76" fmla="*/ 128 w 799"/>
                <a:gd name="T77" fmla="*/ 21 h 1161"/>
                <a:gd name="T78" fmla="*/ 131 w 799"/>
                <a:gd name="T79" fmla="*/ 26 h 1161"/>
                <a:gd name="T80" fmla="*/ 132 w 799"/>
                <a:gd name="T81" fmla="*/ 28 h 1161"/>
                <a:gd name="T82" fmla="*/ 133 w 799"/>
                <a:gd name="T83" fmla="*/ 34 h 1161"/>
                <a:gd name="T84" fmla="*/ 135 w 799"/>
                <a:gd name="T85" fmla="*/ 40 h 1161"/>
                <a:gd name="T86" fmla="*/ 147 w 799"/>
                <a:gd name="T87" fmla="*/ 52 h 1161"/>
                <a:gd name="T88" fmla="*/ 166 w 799"/>
                <a:gd name="T89" fmla="*/ 58 h 1161"/>
                <a:gd name="T90" fmla="*/ 174 w 799"/>
                <a:gd name="T91" fmla="*/ 77 h 1161"/>
                <a:gd name="T92" fmla="*/ 194 w 799"/>
                <a:gd name="T93" fmla="*/ 97 h 116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99"/>
                <a:gd name="T142" fmla="*/ 0 h 1161"/>
                <a:gd name="T143" fmla="*/ 799 w 799"/>
                <a:gd name="T144" fmla="*/ 1161 h 116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99" h="1161">
                  <a:moveTo>
                    <a:pt x="799" y="413"/>
                  </a:moveTo>
                  <a:lnTo>
                    <a:pt x="795" y="415"/>
                  </a:lnTo>
                  <a:lnTo>
                    <a:pt x="785" y="423"/>
                  </a:lnTo>
                  <a:lnTo>
                    <a:pt x="773" y="433"/>
                  </a:lnTo>
                  <a:lnTo>
                    <a:pt x="759" y="444"/>
                  </a:lnTo>
                  <a:lnTo>
                    <a:pt x="748" y="458"/>
                  </a:lnTo>
                  <a:lnTo>
                    <a:pt x="740" y="468"/>
                  </a:lnTo>
                  <a:lnTo>
                    <a:pt x="738" y="484"/>
                  </a:lnTo>
                  <a:lnTo>
                    <a:pt x="738" y="499"/>
                  </a:lnTo>
                  <a:lnTo>
                    <a:pt x="738" y="517"/>
                  </a:lnTo>
                  <a:lnTo>
                    <a:pt x="734" y="535"/>
                  </a:lnTo>
                  <a:lnTo>
                    <a:pt x="726" y="549"/>
                  </a:lnTo>
                  <a:lnTo>
                    <a:pt x="706" y="560"/>
                  </a:lnTo>
                  <a:lnTo>
                    <a:pt x="683" y="570"/>
                  </a:lnTo>
                  <a:lnTo>
                    <a:pt x="661" y="578"/>
                  </a:lnTo>
                  <a:lnTo>
                    <a:pt x="645" y="584"/>
                  </a:lnTo>
                  <a:lnTo>
                    <a:pt x="635" y="588"/>
                  </a:lnTo>
                  <a:lnTo>
                    <a:pt x="622" y="586"/>
                  </a:lnTo>
                  <a:lnTo>
                    <a:pt x="608" y="584"/>
                  </a:lnTo>
                  <a:lnTo>
                    <a:pt x="594" y="580"/>
                  </a:lnTo>
                  <a:lnTo>
                    <a:pt x="584" y="576"/>
                  </a:lnTo>
                  <a:lnTo>
                    <a:pt x="580" y="576"/>
                  </a:lnTo>
                  <a:lnTo>
                    <a:pt x="561" y="618"/>
                  </a:lnTo>
                  <a:lnTo>
                    <a:pt x="557" y="679"/>
                  </a:lnTo>
                  <a:lnTo>
                    <a:pt x="568" y="718"/>
                  </a:lnTo>
                  <a:lnTo>
                    <a:pt x="580" y="738"/>
                  </a:lnTo>
                  <a:lnTo>
                    <a:pt x="523" y="822"/>
                  </a:lnTo>
                  <a:lnTo>
                    <a:pt x="458" y="826"/>
                  </a:lnTo>
                  <a:lnTo>
                    <a:pt x="425" y="881"/>
                  </a:lnTo>
                  <a:lnTo>
                    <a:pt x="368" y="919"/>
                  </a:lnTo>
                  <a:lnTo>
                    <a:pt x="344" y="1003"/>
                  </a:lnTo>
                  <a:lnTo>
                    <a:pt x="289" y="1051"/>
                  </a:lnTo>
                  <a:lnTo>
                    <a:pt x="285" y="1088"/>
                  </a:lnTo>
                  <a:lnTo>
                    <a:pt x="316" y="1133"/>
                  </a:lnTo>
                  <a:lnTo>
                    <a:pt x="318" y="1147"/>
                  </a:lnTo>
                  <a:lnTo>
                    <a:pt x="244" y="1161"/>
                  </a:lnTo>
                  <a:lnTo>
                    <a:pt x="139" y="1145"/>
                  </a:lnTo>
                  <a:lnTo>
                    <a:pt x="80" y="1137"/>
                  </a:lnTo>
                  <a:lnTo>
                    <a:pt x="41" y="1100"/>
                  </a:lnTo>
                  <a:lnTo>
                    <a:pt x="45" y="1060"/>
                  </a:lnTo>
                  <a:lnTo>
                    <a:pt x="72" y="1025"/>
                  </a:lnTo>
                  <a:lnTo>
                    <a:pt x="66" y="990"/>
                  </a:lnTo>
                  <a:lnTo>
                    <a:pt x="96" y="929"/>
                  </a:lnTo>
                  <a:lnTo>
                    <a:pt x="82" y="858"/>
                  </a:lnTo>
                  <a:lnTo>
                    <a:pt x="7" y="820"/>
                  </a:lnTo>
                  <a:lnTo>
                    <a:pt x="9" y="749"/>
                  </a:lnTo>
                  <a:lnTo>
                    <a:pt x="41" y="718"/>
                  </a:lnTo>
                  <a:lnTo>
                    <a:pt x="47" y="677"/>
                  </a:lnTo>
                  <a:lnTo>
                    <a:pt x="88" y="665"/>
                  </a:lnTo>
                  <a:lnTo>
                    <a:pt x="114" y="594"/>
                  </a:lnTo>
                  <a:lnTo>
                    <a:pt x="88" y="547"/>
                  </a:lnTo>
                  <a:lnTo>
                    <a:pt x="49" y="529"/>
                  </a:lnTo>
                  <a:lnTo>
                    <a:pt x="53" y="486"/>
                  </a:lnTo>
                  <a:lnTo>
                    <a:pt x="96" y="466"/>
                  </a:lnTo>
                  <a:lnTo>
                    <a:pt x="63" y="419"/>
                  </a:lnTo>
                  <a:lnTo>
                    <a:pt x="0" y="338"/>
                  </a:lnTo>
                  <a:lnTo>
                    <a:pt x="15" y="314"/>
                  </a:lnTo>
                  <a:lnTo>
                    <a:pt x="3" y="273"/>
                  </a:lnTo>
                  <a:lnTo>
                    <a:pt x="35" y="234"/>
                  </a:lnTo>
                  <a:lnTo>
                    <a:pt x="41" y="181"/>
                  </a:lnTo>
                  <a:lnTo>
                    <a:pt x="66" y="143"/>
                  </a:lnTo>
                  <a:lnTo>
                    <a:pt x="114" y="147"/>
                  </a:lnTo>
                  <a:lnTo>
                    <a:pt x="131" y="224"/>
                  </a:lnTo>
                  <a:lnTo>
                    <a:pt x="179" y="220"/>
                  </a:lnTo>
                  <a:lnTo>
                    <a:pt x="230" y="165"/>
                  </a:lnTo>
                  <a:lnTo>
                    <a:pt x="269" y="167"/>
                  </a:lnTo>
                  <a:lnTo>
                    <a:pt x="297" y="131"/>
                  </a:lnTo>
                  <a:lnTo>
                    <a:pt x="324" y="141"/>
                  </a:lnTo>
                  <a:lnTo>
                    <a:pt x="362" y="127"/>
                  </a:lnTo>
                  <a:lnTo>
                    <a:pt x="352" y="59"/>
                  </a:lnTo>
                  <a:lnTo>
                    <a:pt x="387" y="33"/>
                  </a:lnTo>
                  <a:lnTo>
                    <a:pt x="419" y="33"/>
                  </a:lnTo>
                  <a:lnTo>
                    <a:pt x="439" y="0"/>
                  </a:lnTo>
                  <a:lnTo>
                    <a:pt x="464" y="17"/>
                  </a:lnTo>
                  <a:lnTo>
                    <a:pt x="492" y="64"/>
                  </a:lnTo>
                  <a:lnTo>
                    <a:pt x="496" y="66"/>
                  </a:lnTo>
                  <a:lnTo>
                    <a:pt x="502" y="74"/>
                  </a:lnTo>
                  <a:lnTo>
                    <a:pt x="509" y="84"/>
                  </a:lnTo>
                  <a:lnTo>
                    <a:pt x="517" y="94"/>
                  </a:lnTo>
                  <a:lnTo>
                    <a:pt x="523" y="104"/>
                  </a:lnTo>
                  <a:lnTo>
                    <a:pt x="525" y="108"/>
                  </a:lnTo>
                  <a:lnTo>
                    <a:pt x="525" y="114"/>
                  </a:lnTo>
                  <a:lnTo>
                    <a:pt x="527" y="124"/>
                  </a:lnTo>
                  <a:lnTo>
                    <a:pt x="531" y="137"/>
                  </a:lnTo>
                  <a:lnTo>
                    <a:pt x="535" y="151"/>
                  </a:lnTo>
                  <a:lnTo>
                    <a:pt x="539" y="161"/>
                  </a:lnTo>
                  <a:lnTo>
                    <a:pt x="539" y="165"/>
                  </a:lnTo>
                  <a:lnTo>
                    <a:pt x="586" y="208"/>
                  </a:lnTo>
                  <a:lnTo>
                    <a:pt x="653" y="206"/>
                  </a:lnTo>
                  <a:lnTo>
                    <a:pt x="661" y="232"/>
                  </a:lnTo>
                  <a:lnTo>
                    <a:pt x="641" y="291"/>
                  </a:lnTo>
                  <a:lnTo>
                    <a:pt x="696" y="309"/>
                  </a:lnTo>
                  <a:lnTo>
                    <a:pt x="744" y="342"/>
                  </a:lnTo>
                  <a:lnTo>
                    <a:pt x="775" y="389"/>
                  </a:lnTo>
                  <a:lnTo>
                    <a:pt x="799" y="413"/>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1" name="Freeform 95"/>
            <p:cNvSpPr/>
            <p:nvPr/>
          </p:nvSpPr>
          <p:spPr bwMode="gray">
            <a:xfrm>
              <a:off x="3440" y="1985"/>
              <a:ext cx="121" cy="140"/>
            </a:xfrm>
            <a:custGeom>
              <a:avLst/>
              <a:gdLst>
                <a:gd name="T0" fmla="*/ 44 w 242"/>
                <a:gd name="T1" fmla="*/ 62 h 279"/>
                <a:gd name="T2" fmla="*/ 35 w 242"/>
                <a:gd name="T3" fmla="*/ 63 h 279"/>
                <a:gd name="T4" fmla="*/ 29 w 242"/>
                <a:gd name="T5" fmla="*/ 70 h 279"/>
                <a:gd name="T6" fmla="*/ 11 w 242"/>
                <a:gd name="T7" fmla="*/ 69 h 279"/>
                <a:gd name="T8" fmla="*/ 1 w 242"/>
                <a:gd name="T9" fmla="*/ 63 h 279"/>
                <a:gd name="T10" fmla="*/ 0 w 242"/>
                <a:gd name="T11" fmla="*/ 45 h 279"/>
                <a:gd name="T12" fmla="*/ 6 w 242"/>
                <a:gd name="T13" fmla="*/ 40 h 279"/>
                <a:gd name="T14" fmla="*/ 11 w 242"/>
                <a:gd name="T15" fmla="*/ 30 h 279"/>
                <a:gd name="T16" fmla="*/ 5 w 242"/>
                <a:gd name="T17" fmla="*/ 27 h 279"/>
                <a:gd name="T18" fmla="*/ 7 w 242"/>
                <a:gd name="T19" fmla="*/ 22 h 279"/>
                <a:gd name="T20" fmla="*/ 14 w 242"/>
                <a:gd name="T21" fmla="*/ 20 h 279"/>
                <a:gd name="T22" fmla="*/ 21 w 242"/>
                <a:gd name="T23" fmla="*/ 10 h 279"/>
                <a:gd name="T24" fmla="*/ 27 w 242"/>
                <a:gd name="T25" fmla="*/ 3 h 279"/>
                <a:gd name="T26" fmla="*/ 33 w 242"/>
                <a:gd name="T27" fmla="*/ 0 h 279"/>
                <a:gd name="T28" fmla="*/ 44 w 242"/>
                <a:gd name="T29" fmla="*/ 13 h 279"/>
                <a:gd name="T30" fmla="*/ 54 w 242"/>
                <a:gd name="T31" fmla="*/ 13 h 279"/>
                <a:gd name="T32" fmla="*/ 58 w 242"/>
                <a:gd name="T33" fmla="*/ 25 h 279"/>
                <a:gd name="T34" fmla="*/ 61 w 242"/>
                <a:gd name="T35" fmla="*/ 35 h 279"/>
                <a:gd name="T36" fmla="*/ 54 w 242"/>
                <a:gd name="T37" fmla="*/ 41 h 279"/>
                <a:gd name="T38" fmla="*/ 54 w 242"/>
                <a:gd name="T39" fmla="*/ 54 h 279"/>
                <a:gd name="T40" fmla="*/ 44 w 242"/>
                <a:gd name="T41" fmla="*/ 62 h 2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2"/>
                <a:gd name="T64" fmla="*/ 0 h 279"/>
                <a:gd name="T65" fmla="*/ 242 w 242"/>
                <a:gd name="T66" fmla="*/ 279 h 2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2" h="279">
                  <a:moveTo>
                    <a:pt x="173" y="248"/>
                  </a:moveTo>
                  <a:lnTo>
                    <a:pt x="140" y="250"/>
                  </a:lnTo>
                  <a:lnTo>
                    <a:pt x="116" y="279"/>
                  </a:lnTo>
                  <a:lnTo>
                    <a:pt x="41" y="273"/>
                  </a:lnTo>
                  <a:lnTo>
                    <a:pt x="2" y="250"/>
                  </a:lnTo>
                  <a:lnTo>
                    <a:pt x="0" y="179"/>
                  </a:lnTo>
                  <a:lnTo>
                    <a:pt x="21" y="159"/>
                  </a:lnTo>
                  <a:lnTo>
                    <a:pt x="41" y="118"/>
                  </a:lnTo>
                  <a:lnTo>
                    <a:pt x="17" y="106"/>
                  </a:lnTo>
                  <a:lnTo>
                    <a:pt x="25" y="86"/>
                  </a:lnTo>
                  <a:lnTo>
                    <a:pt x="53" y="80"/>
                  </a:lnTo>
                  <a:lnTo>
                    <a:pt x="82" y="39"/>
                  </a:lnTo>
                  <a:lnTo>
                    <a:pt x="106" y="12"/>
                  </a:lnTo>
                  <a:lnTo>
                    <a:pt x="132" y="0"/>
                  </a:lnTo>
                  <a:lnTo>
                    <a:pt x="175" y="49"/>
                  </a:lnTo>
                  <a:lnTo>
                    <a:pt x="216" y="49"/>
                  </a:lnTo>
                  <a:lnTo>
                    <a:pt x="230" y="100"/>
                  </a:lnTo>
                  <a:lnTo>
                    <a:pt x="242" y="139"/>
                  </a:lnTo>
                  <a:lnTo>
                    <a:pt x="216" y="163"/>
                  </a:lnTo>
                  <a:lnTo>
                    <a:pt x="214" y="214"/>
                  </a:lnTo>
                  <a:lnTo>
                    <a:pt x="173" y="248"/>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2" name="Freeform 96"/>
            <p:cNvSpPr/>
            <p:nvPr/>
          </p:nvSpPr>
          <p:spPr bwMode="gray">
            <a:xfrm>
              <a:off x="3440" y="1985"/>
              <a:ext cx="121" cy="140"/>
            </a:xfrm>
            <a:custGeom>
              <a:avLst/>
              <a:gdLst>
                <a:gd name="T0" fmla="*/ 44 w 242"/>
                <a:gd name="T1" fmla="*/ 62 h 279"/>
                <a:gd name="T2" fmla="*/ 35 w 242"/>
                <a:gd name="T3" fmla="*/ 63 h 279"/>
                <a:gd name="T4" fmla="*/ 29 w 242"/>
                <a:gd name="T5" fmla="*/ 70 h 279"/>
                <a:gd name="T6" fmla="*/ 11 w 242"/>
                <a:gd name="T7" fmla="*/ 69 h 279"/>
                <a:gd name="T8" fmla="*/ 1 w 242"/>
                <a:gd name="T9" fmla="*/ 63 h 279"/>
                <a:gd name="T10" fmla="*/ 0 w 242"/>
                <a:gd name="T11" fmla="*/ 45 h 279"/>
                <a:gd name="T12" fmla="*/ 6 w 242"/>
                <a:gd name="T13" fmla="*/ 40 h 279"/>
                <a:gd name="T14" fmla="*/ 11 w 242"/>
                <a:gd name="T15" fmla="*/ 30 h 279"/>
                <a:gd name="T16" fmla="*/ 5 w 242"/>
                <a:gd name="T17" fmla="*/ 27 h 279"/>
                <a:gd name="T18" fmla="*/ 7 w 242"/>
                <a:gd name="T19" fmla="*/ 22 h 279"/>
                <a:gd name="T20" fmla="*/ 14 w 242"/>
                <a:gd name="T21" fmla="*/ 20 h 279"/>
                <a:gd name="T22" fmla="*/ 21 w 242"/>
                <a:gd name="T23" fmla="*/ 10 h 279"/>
                <a:gd name="T24" fmla="*/ 27 w 242"/>
                <a:gd name="T25" fmla="*/ 3 h 279"/>
                <a:gd name="T26" fmla="*/ 33 w 242"/>
                <a:gd name="T27" fmla="*/ 0 h 279"/>
                <a:gd name="T28" fmla="*/ 44 w 242"/>
                <a:gd name="T29" fmla="*/ 13 h 279"/>
                <a:gd name="T30" fmla="*/ 54 w 242"/>
                <a:gd name="T31" fmla="*/ 13 h 279"/>
                <a:gd name="T32" fmla="*/ 58 w 242"/>
                <a:gd name="T33" fmla="*/ 25 h 279"/>
                <a:gd name="T34" fmla="*/ 61 w 242"/>
                <a:gd name="T35" fmla="*/ 35 h 279"/>
                <a:gd name="T36" fmla="*/ 54 w 242"/>
                <a:gd name="T37" fmla="*/ 41 h 279"/>
                <a:gd name="T38" fmla="*/ 54 w 242"/>
                <a:gd name="T39" fmla="*/ 54 h 279"/>
                <a:gd name="T40" fmla="*/ 44 w 242"/>
                <a:gd name="T41" fmla="*/ 62 h 2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2"/>
                <a:gd name="T64" fmla="*/ 0 h 279"/>
                <a:gd name="T65" fmla="*/ 242 w 242"/>
                <a:gd name="T66" fmla="*/ 279 h 2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2" h="279">
                  <a:moveTo>
                    <a:pt x="173" y="248"/>
                  </a:moveTo>
                  <a:lnTo>
                    <a:pt x="140" y="250"/>
                  </a:lnTo>
                  <a:lnTo>
                    <a:pt x="116" y="279"/>
                  </a:lnTo>
                  <a:lnTo>
                    <a:pt x="41" y="273"/>
                  </a:lnTo>
                  <a:lnTo>
                    <a:pt x="2" y="250"/>
                  </a:lnTo>
                  <a:lnTo>
                    <a:pt x="0" y="179"/>
                  </a:lnTo>
                  <a:lnTo>
                    <a:pt x="21" y="159"/>
                  </a:lnTo>
                  <a:lnTo>
                    <a:pt x="41" y="118"/>
                  </a:lnTo>
                  <a:lnTo>
                    <a:pt x="17" y="106"/>
                  </a:lnTo>
                  <a:lnTo>
                    <a:pt x="25" y="86"/>
                  </a:lnTo>
                  <a:lnTo>
                    <a:pt x="53" y="80"/>
                  </a:lnTo>
                  <a:lnTo>
                    <a:pt x="82" y="39"/>
                  </a:lnTo>
                  <a:lnTo>
                    <a:pt x="106" y="12"/>
                  </a:lnTo>
                  <a:lnTo>
                    <a:pt x="132" y="0"/>
                  </a:lnTo>
                  <a:lnTo>
                    <a:pt x="175" y="49"/>
                  </a:lnTo>
                  <a:lnTo>
                    <a:pt x="216" y="49"/>
                  </a:lnTo>
                  <a:lnTo>
                    <a:pt x="230" y="100"/>
                  </a:lnTo>
                  <a:lnTo>
                    <a:pt x="242" y="139"/>
                  </a:lnTo>
                  <a:lnTo>
                    <a:pt x="216" y="163"/>
                  </a:lnTo>
                  <a:lnTo>
                    <a:pt x="214" y="214"/>
                  </a:lnTo>
                  <a:lnTo>
                    <a:pt x="173" y="248"/>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3" name="Freeform 97"/>
            <p:cNvSpPr/>
            <p:nvPr/>
          </p:nvSpPr>
          <p:spPr bwMode="gray">
            <a:xfrm>
              <a:off x="3527" y="2070"/>
              <a:ext cx="86" cy="115"/>
            </a:xfrm>
            <a:custGeom>
              <a:avLst/>
              <a:gdLst>
                <a:gd name="T0" fmla="*/ 2 w 171"/>
                <a:gd name="T1" fmla="*/ 36 h 230"/>
                <a:gd name="T2" fmla="*/ 1 w 171"/>
                <a:gd name="T3" fmla="*/ 47 h 230"/>
                <a:gd name="T4" fmla="*/ 8 w 171"/>
                <a:gd name="T5" fmla="*/ 56 h 230"/>
                <a:gd name="T6" fmla="*/ 24 w 171"/>
                <a:gd name="T7" fmla="*/ 58 h 230"/>
                <a:gd name="T8" fmla="*/ 37 w 171"/>
                <a:gd name="T9" fmla="*/ 54 h 230"/>
                <a:gd name="T10" fmla="*/ 38 w 171"/>
                <a:gd name="T11" fmla="*/ 39 h 230"/>
                <a:gd name="T12" fmla="*/ 43 w 171"/>
                <a:gd name="T13" fmla="*/ 27 h 230"/>
                <a:gd name="T14" fmla="*/ 41 w 171"/>
                <a:gd name="T15" fmla="*/ 20 h 230"/>
                <a:gd name="T16" fmla="*/ 35 w 171"/>
                <a:gd name="T17" fmla="*/ 15 h 230"/>
                <a:gd name="T18" fmla="*/ 25 w 171"/>
                <a:gd name="T19" fmla="*/ 9 h 230"/>
                <a:gd name="T20" fmla="*/ 25 w 171"/>
                <a:gd name="T21" fmla="*/ 1 h 230"/>
                <a:gd name="T22" fmla="*/ 12 w 171"/>
                <a:gd name="T23" fmla="*/ 0 h 230"/>
                <a:gd name="T24" fmla="*/ 11 w 171"/>
                <a:gd name="T25" fmla="*/ 12 h 230"/>
                <a:gd name="T26" fmla="*/ 0 w 171"/>
                <a:gd name="T27" fmla="*/ 20 h 230"/>
                <a:gd name="T28" fmla="*/ 2 w 171"/>
                <a:gd name="T29" fmla="*/ 36 h 2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1"/>
                <a:gd name="T46" fmla="*/ 0 h 230"/>
                <a:gd name="T47" fmla="*/ 171 w 171"/>
                <a:gd name="T48" fmla="*/ 230 h 2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1" h="230">
                  <a:moveTo>
                    <a:pt x="8" y="144"/>
                  </a:moveTo>
                  <a:lnTo>
                    <a:pt x="4" y="185"/>
                  </a:lnTo>
                  <a:lnTo>
                    <a:pt x="31" y="224"/>
                  </a:lnTo>
                  <a:lnTo>
                    <a:pt x="96" y="230"/>
                  </a:lnTo>
                  <a:lnTo>
                    <a:pt x="148" y="215"/>
                  </a:lnTo>
                  <a:lnTo>
                    <a:pt x="152" y="154"/>
                  </a:lnTo>
                  <a:lnTo>
                    <a:pt x="171" y="108"/>
                  </a:lnTo>
                  <a:lnTo>
                    <a:pt x="163" y="79"/>
                  </a:lnTo>
                  <a:lnTo>
                    <a:pt x="138" y="59"/>
                  </a:lnTo>
                  <a:lnTo>
                    <a:pt x="98" y="35"/>
                  </a:lnTo>
                  <a:lnTo>
                    <a:pt x="98" y="4"/>
                  </a:lnTo>
                  <a:lnTo>
                    <a:pt x="45" y="0"/>
                  </a:lnTo>
                  <a:lnTo>
                    <a:pt x="41" y="45"/>
                  </a:lnTo>
                  <a:lnTo>
                    <a:pt x="0" y="79"/>
                  </a:lnTo>
                  <a:lnTo>
                    <a:pt x="8" y="144"/>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4" name="Freeform 98"/>
            <p:cNvSpPr/>
            <p:nvPr/>
          </p:nvSpPr>
          <p:spPr bwMode="gray">
            <a:xfrm>
              <a:off x="3527" y="2070"/>
              <a:ext cx="86" cy="115"/>
            </a:xfrm>
            <a:custGeom>
              <a:avLst/>
              <a:gdLst>
                <a:gd name="T0" fmla="*/ 2 w 171"/>
                <a:gd name="T1" fmla="*/ 36 h 230"/>
                <a:gd name="T2" fmla="*/ 1 w 171"/>
                <a:gd name="T3" fmla="*/ 47 h 230"/>
                <a:gd name="T4" fmla="*/ 8 w 171"/>
                <a:gd name="T5" fmla="*/ 56 h 230"/>
                <a:gd name="T6" fmla="*/ 24 w 171"/>
                <a:gd name="T7" fmla="*/ 58 h 230"/>
                <a:gd name="T8" fmla="*/ 37 w 171"/>
                <a:gd name="T9" fmla="*/ 54 h 230"/>
                <a:gd name="T10" fmla="*/ 38 w 171"/>
                <a:gd name="T11" fmla="*/ 39 h 230"/>
                <a:gd name="T12" fmla="*/ 43 w 171"/>
                <a:gd name="T13" fmla="*/ 27 h 230"/>
                <a:gd name="T14" fmla="*/ 41 w 171"/>
                <a:gd name="T15" fmla="*/ 20 h 230"/>
                <a:gd name="T16" fmla="*/ 35 w 171"/>
                <a:gd name="T17" fmla="*/ 15 h 230"/>
                <a:gd name="T18" fmla="*/ 25 w 171"/>
                <a:gd name="T19" fmla="*/ 9 h 230"/>
                <a:gd name="T20" fmla="*/ 25 w 171"/>
                <a:gd name="T21" fmla="*/ 1 h 230"/>
                <a:gd name="T22" fmla="*/ 12 w 171"/>
                <a:gd name="T23" fmla="*/ 0 h 230"/>
                <a:gd name="T24" fmla="*/ 11 w 171"/>
                <a:gd name="T25" fmla="*/ 12 h 230"/>
                <a:gd name="T26" fmla="*/ 0 w 171"/>
                <a:gd name="T27" fmla="*/ 20 h 230"/>
                <a:gd name="T28" fmla="*/ 2 w 171"/>
                <a:gd name="T29" fmla="*/ 36 h 2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1"/>
                <a:gd name="T46" fmla="*/ 0 h 230"/>
                <a:gd name="T47" fmla="*/ 171 w 171"/>
                <a:gd name="T48" fmla="*/ 230 h 2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1" h="230">
                  <a:moveTo>
                    <a:pt x="8" y="144"/>
                  </a:moveTo>
                  <a:lnTo>
                    <a:pt x="4" y="185"/>
                  </a:lnTo>
                  <a:lnTo>
                    <a:pt x="31" y="224"/>
                  </a:lnTo>
                  <a:lnTo>
                    <a:pt x="96" y="230"/>
                  </a:lnTo>
                  <a:lnTo>
                    <a:pt x="148" y="215"/>
                  </a:lnTo>
                  <a:lnTo>
                    <a:pt x="152" y="154"/>
                  </a:lnTo>
                  <a:lnTo>
                    <a:pt x="171" y="108"/>
                  </a:lnTo>
                  <a:lnTo>
                    <a:pt x="163" y="79"/>
                  </a:lnTo>
                  <a:lnTo>
                    <a:pt x="138" y="59"/>
                  </a:lnTo>
                  <a:lnTo>
                    <a:pt x="98" y="35"/>
                  </a:lnTo>
                  <a:lnTo>
                    <a:pt x="98" y="4"/>
                  </a:lnTo>
                  <a:lnTo>
                    <a:pt x="45" y="0"/>
                  </a:lnTo>
                  <a:lnTo>
                    <a:pt x="41" y="45"/>
                  </a:lnTo>
                  <a:lnTo>
                    <a:pt x="0" y="79"/>
                  </a:lnTo>
                  <a:lnTo>
                    <a:pt x="8" y="144"/>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5" name="Freeform 99"/>
            <p:cNvSpPr/>
            <p:nvPr/>
          </p:nvSpPr>
          <p:spPr bwMode="gray">
            <a:xfrm>
              <a:off x="3643" y="1699"/>
              <a:ext cx="430" cy="429"/>
            </a:xfrm>
            <a:custGeom>
              <a:avLst/>
              <a:gdLst>
                <a:gd name="T0" fmla="*/ 182 w 860"/>
                <a:gd name="T1" fmla="*/ 145 h 858"/>
                <a:gd name="T2" fmla="*/ 179 w 860"/>
                <a:gd name="T3" fmla="*/ 149 h 858"/>
                <a:gd name="T4" fmla="*/ 174 w 860"/>
                <a:gd name="T5" fmla="*/ 152 h 858"/>
                <a:gd name="T6" fmla="*/ 166 w 860"/>
                <a:gd name="T7" fmla="*/ 154 h 858"/>
                <a:gd name="T8" fmla="*/ 156 w 860"/>
                <a:gd name="T9" fmla="*/ 157 h 858"/>
                <a:gd name="T10" fmla="*/ 149 w 860"/>
                <a:gd name="T11" fmla="*/ 163 h 858"/>
                <a:gd name="T12" fmla="*/ 140 w 860"/>
                <a:gd name="T13" fmla="*/ 170 h 858"/>
                <a:gd name="T14" fmla="*/ 133 w 860"/>
                <a:gd name="T15" fmla="*/ 176 h 858"/>
                <a:gd name="T16" fmla="*/ 129 w 860"/>
                <a:gd name="T17" fmla="*/ 180 h 858"/>
                <a:gd name="T18" fmla="*/ 123 w 860"/>
                <a:gd name="T19" fmla="*/ 186 h 858"/>
                <a:gd name="T20" fmla="*/ 119 w 860"/>
                <a:gd name="T21" fmla="*/ 194 h 858"/>
                <a:gd name="T22" fmla="*/ 113 w 860"/>
                <a:gd name="T23" fmla="*/ 201 h 858"/>
                <a:gd name="T24" fmla="*/ 107 w 860"/>
                <a:gd name="T25" fmla="*/ 204 h 858"/>
                <a:gd name="T26" fmla="*/ 103 w 860"/>
                <a:gd name="T27" fmla="*/ 208 h 858"/>
                <a:gd name="T28" fmla="*/ 95 w 860"/>
                <a:gd name="T29" fmla="*/ 213 h 858"/>
                <a:gd name="T30" fmla="*/ 89 w 860"/>
                <a:gd name="T31" fmla="*/ 215 h 858"/>
                <a:gd name="T32" fmla="*/ 88 w 860"/>
                <a:gd name="T33" fmla="*/ 210 h 858"/>
                <a:gd name="T34" fmla="*/ 92 w 860"/>
                <a:gd name="T35" fmla="*/ 204 h 858"/>
                <a:gd name="T36" fmla="*/ 98 w 860"/>
                <a:gd name="T37" fmla="*/ 198 h 858"/>
                <a:gd name="T38" fmla="*/ 103 w 860"/>
                <a:gd name="T39" fmla="*/ 191 h 858"/>
                <a:gd name="T40" fmla="*/ 101 w 860"/>
                <a:gd name="T41" fmla="*/ 187 h 858"/>
                <a:gd name="T42" fmla="*/ 95 w 860"/>
                <a:gd name="T43" fmla="*/ 184 h 858"/>
                <a:gd name="T44" fmla="*/ 91 w 860"/>
                <a:gd name="T45" fmla="*/ 179 h 858"/>
                <a:gd name="T46" fmla="*/ 93 w 860"/>
                <a:gd name="T47" fmla="*/ 170 h 858"/>
                <a:gd name="T48" fmla="*/ 100 w 860"/>
                <a:gd name="T49" fmla="*/ 159 h 858"/>
                <a:gd name="T50" fmla="*/ 107 w 860"/>
                <a:gd name="T51" fmla="*/ 148 h 858"/>
                <a:gd name="T52" fmla="*/ 110 w 860"/>
                <a:gd name="T53" fmla="*/ 140 h 858"/>
                <a:gd name="T54" fmla="*/ 110 w 860"/>
                <a:gd name="T55" fmla="*/ 135 h 858"/>
                <a:gd name="T56" fmla="*/ 105 w 860"/>
                <a:gd name="T57" fmla="*/ 129 h 858"/>
                <a:gd name="T58" fmla="*/ 99 w 860"/>
                <a:gd name="T59" fmla="*/ 123 h 858"/>
                <a:gd name="T60" fmla="*/ 94 w 860"/>
                <a:gd name="T61" fmla="*/ 122 h 858"/>
                <a:gd name="T62" fmla="*/ 87 w 860"/>
                <a:gd name="T63" fmla="*/ 123 h 858"/>
                <a:gd name="T64" fmla="*/ 78 w 860"/>
                <a:gd name="T65" fmla="*/ 123 h 858"/>
                <a:gd name="T66" fmla="*/ 74 w 860"/>
                <a:gd name="T67" fmla="*/ 124 h 858"/>
                <a:gd name="T68" fmla="*/ 70 w 860"/>
                <a:gd name="T69" fmla="*/ 134 h 858"/>
                <a:gd name="T70" fmla="*/ 66 w 860"/>
                <a:gd name="T71" fmla="*/ 145 h 858"/>
                <a:gd name="T72" fmla="*/ 60 w 860"/>
                <a:gd name="T73" fmla="*/ 152 h 858"/>
                <a:gd name="T74" fmla="*/ 53 w 860"/>
                <a:gd name="T75" fmla="*/ 163 h 858"/>
                <a:gd name="T76" fmla="*/ 46 w 860"/>
                <a:gd name="T77" fmla="*/ 169 h 858"/>
                <a:gd name="T78" fmla="*/ 41 w 860"/>
                <a:gd name="T79" fmla="*/ 172 h 858"/>
                <a:gd name="T80" fmla="*/ 34 w 860"/>
                <a:gd name="T81" fmla="*/ 167 h 858"/>
                <a:gd name="T82" fmla="*/ 14 w 860"/>
                <a:gd name="T83" fmla="*/ 147 h 858"/>
                <a:gd name="T84" fmla="*/ 5 w 860"/>
                <a:gd name="T85" fmla="*/ 127 h 858"/>
                <a:gd name="T86" fmla="*/ 7 w 860"/>
                <a:gd name="T87" fmla="*/ 101 h 858"/>
                <a:gd name="T88" fmla="*/ 3 w 860"/>
                <a:gd name="T89" fmla="*/ 79 h 858"/>
                <a:gd name="T90" fmla="*/ 21 w 860"/>
                <a:gd name="T91" fmla="*/ 80 h 858"/>
                <a:gd name="T92" fmla="*/ 43 w 860"/>
                <a:gd name="T93" fmla="*/ 78 h 858"/>
                <a:gd name="T94" fmla="*/ 69 w 860"/>
                <a:gd name="T95" fmla="*/ 53 h 858"/>
                <a:gd name="T96" fmla="*/ 94 w 860"/>
                <a:gd name="T97" fmla="*/ 44 h 858"/>
                <a:gd name="T98" fmla="*/ 108 w 860"/>
                <a:gd name="T99" fmla="*/ 37 h 858"/>
                <a:gd name="T100" fmla="*/ 131 w 860"/>
                <a:gd name="T101" fmla="*/ 12 h 858"/>
                <a:gd name="T102" fmla="*/ 149 w 860"/>
                <a:gd name="T103" fmla="*/ 6 h 858"/>
                <a:gd name="T104" fmla="*/ 182 w 860"/>
                <a:gd name="T105" fmla="*/ 30 h 858"/>
                <a:gd name="T106" fmla="*/ 194 w 860"/>
                <a:gd name="T107" fmla="*/ 60 h 858"/>
                <a:gd name="T108" fmla="*/ 215 w 860"/>
                <a:gd name="T109" fmla="*/ 101 h 858"/>
                <a:gd name="T110" fmla="*/ 183 w 860"/>
                <a:gd name="T111" fmla="*/ 134 h 85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0"/>
                <a:gd name="T169" fmla="*/ 0 h 858"/>
                <a:gd name="T170" fmla="*/ 860 w 860"/>
                <a:gd name="T171" fmla="*/ 858 h 85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0" h="858">
                  <a:moveTo>
                    <a:pt x="725" y="575"/>
                  </a:moveTo>
                  <a:lnTo>
                    <a:pt x="725" y="579"/>
                  </a:lnTo>
                  <a:lnTo>
                    <a:pt x="719" y="585"/>
                  </a:lnTo>
                  <a:lnTo>
                    <a:pt x="713" y="594"/>
                  </a:lnTo>
                  <a:lnTo>
                    <a:pt x="705" y="604"/>
                  </a:lnTo>
                  <a:lnTo>
                    <a:pt x="695" y="608"/>
                  </a:lnTo>
                  <a:lnTo>
                    <a:pt x="681" y="610"/>
                  </a:lnTo>
                  <a:lnTo>
                    <a:pt x="664" y="614"/>
                  </a:lnTo>
                  <a:lnTo>
                    <a:pt x="642" y="618"/>
                  </a:lnTo>
                  <a:lnTo>
                    <a:pt x="622" y="626"/>
                  </a:lnTo>
                  <a:lnTo>
                    <a:pt x="607" y="638"/>
                  </a:lnTo>
                  <a:lnTo>
                    <a:pt x="593" y="651"/>
                  </a:lnTo>
                  <a:lnTo>
                    <a:pt x="577" y="665"/>
                  </a:lnTo>
                  <a:lnTo>
                    <a:pt x="559" y="679"/>
                  </a:lnTo>
                  <a:lnTo>
                    <a:pt x="544" y="693"/>
                  </a:lnTo>
                  <a:lnTo>
                    <a:pt x="530" y="703"/>
                  </a:lnTo>
                  <a:lnTo>
                    <a:pt x="522" y="711"/>
                  </a:lnTo>
                  <a:lnTo>
                    <a:pt x="514" y="718"/>
                  </a:lnTo>
                  <a:lnTo>
                    <a:pt x="502" y="730"/>
                  </a:lnTo>
                  <a:lnTo>
                    <a:pt x="492" y="744"/>
                  </a:lnTo>
                  <a:lnTo>
                    <a:pt x="481" y="760"/>
                  </a:lnTo>
                  <a:lnTo>
                    <a:pt x="475" y="774"/>
                  </a:lnTo>
                  <a:lnTo>
                    <a:pt x="465" y="789"/>
                  </a:lnTo>
                  <a:lnTo>
                    <a:pt x="451" y="801"/>
                  </a:lnTo>
                  <a:lnTo>
                    <a:pt x="437" y="809"/>
                  </a:lnTo>
                  <a:lnTo>
                    <a:pt x="427" y="815"/>
                  </a:lnTo>
                  <a:lnTo>
                    <a:pt x="422" y="823"/>
                  </a:lnTo>
                  <a:lnTo>
                    <a:pt x="410" y="831"/>
                  </a:lnTo>
                  <a:lnTo>
                    <a:pt x="394" y="840"/>
                  </a:lnTo>
                  <a:lnTo>
                    <a:pt x="380" y="850"/>
                  </a:lnTo>
                  <a:lnTo>
                    <a:pt x="364" y="856"/>
                  </a:lnTo>
                  <a:lnTo>
                    <a:pt x="355" y="858"/>
                  </a:lnTo>
                  <a:lnTo>
                    <a:pt x="349" y="854"/>
                  </a:lnTo>
                  <a:lnTo>
                    <a:pt x="349" y="838"/>
                  </a:lnTo>
                  <a:lnTo>
                    <a:pt x="355" y="827"/>
                  </a:lnTo>
                  <a:lnTo>
                    <a:pt x="366" y="815"/>
                  </a:lnTo>
                  <a:lnTo>
                    <a:pt x="380" y="801"/>
                  </a:lnTo>
                  <a:lnTo>
                    <a:pt x="392" y="789"/>
                  </a:lnTo>
                  <a:lnTo>
                    <a:pt x="404" y="775"/>
                  </a:lnTo>
                  <a:lnTo>
                    <a:pt x="410" y="764"/>
                  </a:lnTo>
                  <a:lnTo>
                    <a:pt x="410" y="754"/>
                  </a:lnTo>
                  <a:lnTo>
                    <a:pt x="404" y="748"/>
                  </a:lnTo>
                  <a:lnTo>
                    <a:pt x="392" y="742"/>
                  </a:lnTo>
                  <a:lnTo>
                    <a:pt x="380" y="734"/>
                  </a:lnTo>
                  <a:lnTo>
                    <a:pt x="370" y="726"/>
                  </a:lnTo>
                  <a:lnTo>
                    <a:pt x="364" y="716"/>
                  </a:lnTo>
                  <a:lnTo>
                    <a:pt x="364" y="699"/>
                  </a:lnTo>
                  <a:lnTo>
                    <a:pt x="372" y="679"/>
                  </a:lnTo>
                  <a:lnTo>
                    <a:pt x="382" y="661"/>
                  </a:lnTo>
                  <a:lnTo>
                    <a:pt x="400" y="636"/>
                  </a:lnTo>
                  <a:lnTo>
                    <a:pt x="418" y="608"/>
                  </a:lnTo>
                  <a:lnTo>
                    <a:pt x="425" y="592"/>
                  </a:lnTo>
                  <a:lnTo>
                    <a:pt x="433" y="575"/>
                  </a:lnTo>
                  <a:lnTo>
                    <a:pt x="441" y="559"/>
                  </a:lnTo>
                  <a:lnTo>
                    <a:pt x="443" y="547"/>
                  </a:lnTo>
                  <a:lnTo>
                    <a:pt x="439" y="537"/>
                  </a:lnTo>
                  <a:lnTo>
                    <a:pt x="429" y="526"/>
                  </a:lnTo>
                  <a:lnTo>
                    <a:pt x="418" y="514"/>
                  </a:lnTo>
                  <a:lnTo>
                    <a:pt x="404" y="502"/>
                  </a:lnTo>
                  <a:lnTo>
                    <a:pt x="394" y="494"/>
                  </a:lnTo>
                  <a:lnTo>
                    <a:pt x="384" y="490"/>
                  </a:lnTo>
                  <a:lnTo>
                    <a:pt x="374" y="490"/>
                  </a:lnTo>
                  <a:lnTo>
                    <a:pt x="362" y="492"/>
                  </a:lnTo>
                  <a:lnTo>
                    <a:pt x="345" y="494"/>
                  </a:lnTo>
                  <a:lnTo>
                    <a:pt x="325" y="494"/>
                  </a:lnTo>
                  <a:lnTo>
                    <a:pt x="311" y="492"/>
                  </a:lnTo>
                  <a:lnTo>
                    <a:pt x="301" y="492"/>
                  </a:lnTo>
                  <a:lnTo>
                    <a:pt x="294" y="498"/>
                  </a:lnTo>
                  <a:lnTo>
                    <a:pt x="286" y="512"/>
                  </a:lnTo>
                  <a:lnTo>
                    <a:pt x="280" y="533"/>
                  </a:lnTo>
                  <a:lnTo>
                    <a:pt x="272" y="557"/>
                  </a:lnTo>
                  <a:lnTo>
                    <a:pt x="264" y="577"/>
                  </a:lnTo>
                  <a:lnTo>
                    <a:pt x="254" y="592"/>
                  </a:lnTo>
                  <a:lnTo>
                    <a:pt x="242" y="608"/>
                  </a:lnTo>
                  <a:lnTo>
                    <a:pt x="227" y="630"/>
                  </a:lnTo>
                  <a:lnTo>
                    <a:pt x="211" y="650"/>
                  </a:lnTo>
                  <a:lnTo>
                    <a:pt x="197" y="663"/>
                  </a:lnTo>
                  <a:lnTo>
                    <a:pt x="183" y="673"/>
                  </a:lnTo>
                  <a:lnTo>
                    <a:pt x="172" y="681"/>
                  </a:lnTo>
                  <a:lnTo>
                    <a:pt x="162" y="687"/>
                  </a:lnTo>
                  <a:lnTo>
                    <a:pt x="158" y="691"/>
                  </a:lnTo>
                  <a:lnTo>
                    <a:pt x="134" y="667"/>
                  </a:lnTo>
                  <a:lnTo>
                    <a:pt x="103" y="620"/>
                  </a:lnTo>
                  <a:lnTo>
                    <a:pt x="55" y="587"/>
                  </a:lnTo>
                  <a:lnTo>
                    <a:pt x="0" y="569"/>
                  </a:lnTo>
                  <a:lnTo>
                    <a:pt x="20" y="510"/>
                  </a:lnTo>
                  <a:lnTo>
                    <a:pt x="53" y="457"/>
                  </a:lnTo>
                  <a:lnTo>
                    <a:pt x="30" y="402"/>
                  </a:lnTo>
                  <a:lnTo>
                    <a:pt x="30" y="337"/>
                  </a:lnTo>
                  <a:lnTo>
                    <a:pt x="10" y="315"/>
                  </a:lnTo>
                  <a:lnTo>
                    <a:pt x="40" y="285"/>
                  </a:lnTo>
                  <a:lnTo>
                    <a:pt x="81" y="317"/>
                  </a:lnTo>
                  <a:lnTo>
                    <a:pt x="126" y="382"/>
                  </a:lnTo>
                  <a:lnTo>
                    <a:pt x="170" y="311"/>
                  </a:lnTo>
                  <a:lnTo>
                    <a:pt x="215" y="274"/>
                  </a:lnTo>
                  <a:lnTo>
                    <a:pt x="274" y="209"/>
                  </a:lnTo>
                  <a:lnTo>
                    <a:pt x="349" y="189"/>
                  </a:lnTo>
                  <a:lnTo>
                    <a:pt x="376" y="173"/>
                  </a:lnTo>
                  <a:lnTo>
                    <a:pt x="380" y="134"/>
                  </a:lnTo>
                  <a:lnTo>
                    <a:pt x="431" y="146"/>
                  </a:lnTo>
                  <a:lnTo>
                    <a:pt x="475" y="108"/>
                  </a:lnTo>
                  <a:lnTo>
                    <a:pt x="524" y="47"/>
                  </a:lnTo>
                  <a:lnTo>
                    <a:pt x="524" y="0"/>
                  </a:lnTo>
                  <a:lnTo>
                    <a:pt x="595" y="22"/>
                  </a:lnTo>
                  <a:lnTo>
                    <a:pt x="679" y="45"/>
                  </a:lnTo>
                  <a:lnTo>
                    <a:pt x="725" y="120"/>
                  </a:lnTo>
                  <a:lnTo>
                    <a:pt x="784" y="187"/>
                  </a:lnTo>
                  <a:lnTo>
                    <a:pt x="774" y="240"/>
                  </a:lnTo>
                  <a:lnTo>
                    <a:pt x="860" y="317"/>
                  </a:lnTo>
                  <a:lnTo>
                    <a:pt x="860" y="402"/>
                  </a:lnTo>
                  <a:lnTo>
                    <a:pt x="815" y="425"/>
                  </a:lnTo>
                  <a:lnTo>
                    <a:pt x="731" y="533"/>
                  </a:lnTo>
                  <a:lnTo>
                    <a:pt x="725" y="575"/>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6" name="Freeform 100"/>
            <p:cNvSpPr/>
            <p:nvPr/>
          </p:nvSpPr>
          <p:spPr bwMode="gray">
            <a:xfrm>
              <a:off x="3643" y="1699"/>
              <a:ext cx="430" cy="429"/>
            </a:xfrm>
            <a:custGeom>
              <a:avLst/>
              <a:gdLst>
                <a:gd name="T0" fmla="*/ 182 w 860"/>
                <a:gd name="T1" fmla="*/ 145 h 858"/>
                <a:gd name="T2" fmla="*/ 179 w 860"/>
                <a:gd name="T3" fmla="*/ 149 h 858"/>
                <a:gd name="T4" fmla="*/ 174 w 860"/>
                <a:gd name="T5" fmla="*/ 152 h 858"/>
                <a:gd name="T6" fmla="*/ 166 w 860"/>
                <a:gd name="T7" fmla="*/ 154 h 858"/>
                <a:gd name="T8" fmla="*/ 156 w 860"/>
                <a:gd name="T9" fmla="*/ 157 h 858"/>
                <a:gd name="T10" fmla="*/ 149 w 860"/>
                <a:gd name="T11" fmla="*/ 163 h 858"/>
                <a:gd name="T12" fmla="*/ 140 w 860"/>
                <a:gd name="T13" fmla="*/ 170 h 858"/>
                <a:gd name="T14" fmla="*/ 133 w 860"/>
                <a:gd name="T15" fmla="*/ 176 h 858"/>
                <a:gd name="T16" fmla="*/ 129 w 860"/>
                <a:gd name="T17" fmla="*/ 180 h 858"/>
                <a:gd name="T18" fmla="*/ 123 w 860"/>
                <a:gd name="T19" fmla="*/ 186 h 858"/>
                <a:gd name="T20" fmla="*/ 119 w 860"/>
                <a:gd name="T21" fmla="*/ 194 h 858"/>
                <a:gd name="T22" fmla="*/ 113 w 860"/>
                <a:gd name="T23" fmla="*/ 201 h 858"/>
                <a:gd name="T24" fmla="*/ 107 w 860"/>
                <a:gd name="T25" fmla="*/ 204 h 858"/>
                <a:gd name="T26" fmla="*/ 103 w 860"/>
                <a:gd name="T27" fmla="*/ 208 h 858"/>
                <a:gd name="T28" fmla="*/ 95 w 860"/>
                <a:gd name="T29" fmla="*/ 213 h 858"/>
                <a:gd name="T30" fmla="*/ 89 w 860"/>
                <a:gd name="T31" fmla="*/ 215 h 858"/>
                <a:gd name="T32" fmla="*/ 88 w 860"/>
                <a:gd name="T33" fmla="*/ 210 h 858"/>
                <a:gd name="T34" fmla="*/ 92 w 860"/>
                <a:gd name="T35" fmla="*/ 204 h 858"/>
                <a:gd name="T36" fmla="*/ 98 w 860"/>
                <a:gd name="T37" fmla="*/ 198 h 858"/>
                <a:gd name="T38" fmla="*/ 103 w 860"/>
                <a:gd name="T39" fmla="*/ 191 h 858"/>
                <a:gd name="T40" fmla="*/ 101 w 860"/>
                <a:gd name="T41" fmla="*/ 187 h 858"/>
                <a:gd name="T42" fmla="*/ 95 w 860"/>
                <a:gd name="T43" fmla="*/ 184 h 858"/>
                <a:gd name="T44" fmla="*/ 91 w 860"/>
                <a:gd name="T45" fmla="*/ 179 h 858"/>
                <a:gd name="T46" fmla="*/ 93 w 860"/>
                <a:gd name="T47" fmla="*/ 170 h 858"/>
                <a:gd name="T48" fmla="*/ 100 w 860"/>
                <a:gd name="T49" fmla="*/ 159 h 858"/>
                <a:gd name="T50" fmla="*/ 107 w 860"/>
                <a:gd name="T51" fmla="*/ 148 h 858"/>
                <a:gd name="T52" fmla="*/ 110 w 860"/>
                <a:gd name="T53" fmla="*/ 140 h 858"/>
                <a:gd name="T54" fmla="*/ 110 w 860"/>
                <a:gd name="T55" fmla="*/ 135 h 858"/>
                <a:gd name="T56" fmla="*/ 105 w 860"/>
                <a:gd name="T57" fmla="*/ 129 h 858"/>
                <a:gd name="T58" fmla="*/ 99 w 860"/>
                <a:gd name="T59" fmla="*/ 123 h 858"/>
                <a:gd name="T60" fmla="*/ 94 w 860"/>
                <a:gd name="T61" fmla="*/ 122 h 858"/>
                <a:gd name="T62" fmla="*/ 87 w 860"/>
                <a:gd name="T63" fmla="*/ 123 h 858"/>
                <a:gd name="T64" fmla="*/ 78 w 860"/>
                <a:gd name="T65" fmla="*/ 123 h 858"/>
                <a:gd name="T66" fmla="*/ 74 w 860"/>
                <a:gd name="T67" fmla="*/ 124 h 858"/>
                <a:gd name="T68" fmla="*/ 70 w 860"/>
                <a:gd name="T69" fmla="*/ 134 h 858"/>
                <a:gd name="T70" fmla="*/ 66 w 860"/>
                <a:gd name="T71" fmla="*/ 145 h 858"/>
                <a:gd name="T72" fmla="*/ 60 w 860"/>
                <a:gd name="T73" fmla="*/ 152 h 858"/>
                <a:gd name="T74" fmla="*/ 53 w 860"/>
                <a:gd name="T75" fmla="*/ 163 h 858"/>
                <a:gd name="T76" fmla="*/ 46 w 860"/>
                <a:gd name="T77" fmla="*/ 169 h 858"/>
                <a:gd name="T78" fmla="*/ 41 w 860"/>
                <a:gd name="T79" fmla="*/ 172 h 858"/>
                <a:gd name="T80" fmla="*/ 34 w 860"/>
                <a:gd name="T81" fmla="*/ 167 h 858"/>
                <a:gd name="T82" fmla="*/ 14 w 860"/>
                <a:gd name="T83" fmla="*/ 147 h 858"/>
                <a:gd name="T84" fmla="*/ 5 w 860"/>
                <a:gd name="T85" fmla="*/ 127 h 858"/>
                <a:gd name="T86" fmla="*/ 7 w 860"/>
                <a:gd name="T87" fmla="*/ 101 h 858"/>
                <a:gd name="T88" fmla="*/ 3 w 860"/>
                <a:gd name="T89" fmla="*/ 79 h 858"/>
                <a:gd name="T90" fmla="*/ 21 w 860"/>
                <a:gd name="T91" fmla="*/ 80 h 858"/>
                <a:gd name="T92" fmla="*/ 43 w 860"/>
                <a:gd name="T93" fmla="*/ 78 h 858"/>
                <a:gd name="T94" fmla="*/ 69 w 860"/>
                <a:gd name="T95" fmla="*/ 53 h 858"/>
                <a:gd name="T96" fmla="*/ 94 w 860"/>
                <a:gd name="T97" fmla="*/ 44 h 858"/>
                <a:gd name="T98" fmla="*/ 108 w 860"/>
                <a:gd name="T99" fmla="*/ 37 h 858"/>
                <a:gd name="T100" fmla="*/ 131 w 860"/>
                <a:gd name="T101" fmla="*/ 12 h 858"/>
                <a:gd name="T102" fmla="*/ 149 w 860"/>
                <a:gd name="T103" fmla="*/ 6 h 858"/>
                <a:gd name="T104" fmla="*/ 182 w 860"/>
                <a:gd name="T105" fmla="*/ 30 h 858"/>
                <a:gd name="T106" fmla="*/ 194 w 860"/>
                <a:gd name="T107" fmla="*/ 60 h 858"/>
                <a:gd name="T108" fmla="*/ 215 w 860"/>
                <a:gd name="T109" fmla="*/ 101 h 858"/>
                <a:gd name="T110" fmla="*/ 183 w 860"/>
                <a:gd name="T111" fmla="*/ 134 h 85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0"/>
                <a:gd name="T169" fmla="*/ 0 h 858"/>
                <a:gd name="T170" fmla="*/ 860 w 860"/>
                <a:gd name="T171" fmla="*/ 858 h 85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0" h="858">
                  <a:moveTo>
                    <a:pt x="725" y="575"/>
                  </a:moveTo>
                  <a:lnTo>
                    <a:pt x="725" y="579"/>
                  </a:lnTo>
                  <a:lnTo>
                    <a:pt x="719" y="585"/>
                  </a:lnTo>
                  <a:lnTo>
                    <a:pt x="713" y="594"/>
                  </a:lnTo>
                  <a:lnTo>
                    <a:pt x="705" y="604"/>
                  </a:lnTo>
                  <a:lnTo>
                    <a:pt x="695" y="608"/>
                  </a:lnTo>
                  <a:lnTo>
                    <a:pt x="681" y="610"/>
                  </a:lnTo>
                  <a:lnTo>
                    <a:pt x="664" y="614"/>
                  </a:lnTo>
                  <a:lnTo>
                    <a:pt x="642" y="618"/>
                  </a:lnTo>
                  <a:lnTo>
                    <a:pt x="622" y="626"/>
                  </a:lnTo>
                  <a:lnTo>
                    <a:pt x="607" y="638"/>
                  </a:lnTo>
                  <a:lnTo>
                    <a:pt x="593" y="651"/>
                  </a:lnTo>
                  <a:lnTo>
                    <a:pt x="577" y="665"/>
                  </a:lnTo>
                  <a:lnTo>
                    <a:pt x="559" y="679"/>
                  </a:lnTo>
                  <a:lnTo>
                    <a:pt x="544" y="693"/>
                  </a:lnTo>
                  <a:lnTo>
                    <a:pt x="530" y="703"/>
                  </a:lnTo>
                  <a:lnTo>
                    <a:pt x="522" y="711"/>
                  </a:lnTo>
                  <a:lnTo>
                    <a:pt x="514" y="718"/>
                  </a:lnTo>
                  <a:lnTo>
                    <a:pt x="502" y="730"/>
                  </a:lnTo>
                  <a:lnTo>
                    <a:pt x="492" y="744"/>
                  </a:lnTo>
                  <a:lnTo>
                    <a:pt x="481" y="760"/>
                  </a:lnTo>
                  <a:lnTo>
                    <a:pt x="475" y="774"/>
                  </a:lnTo>
                  <a:lnTo>
                    <a:pt x="465" y="789"/>
                  </a:lnTo>
                  <a:lnTo>
                    <a:pt x="451" y="801"/>
                  </a:lnTo>
                  <a:lnTo>
                    <a:pt x="437" y="809"/>
                  </a:lnTo>
                  <a:lnTo>
                    <a:pt x="427" y="815"/>
                  </a:lnTo>
                  <a:lnTo>
                    <a:pt x="422" y="823"/>
                  </a:lnTo>
                  <a:lnTo>
                    <a:pt x="410" y="831"/>
                  </a:lnTo>
                  <a:lnTo>
                    <a:pt x="394" y="840"/>
                  </a:lnTo>
                  <a:lnTo>
                    <a:pt x="380" y="850"/>
                  </a:lnTo>
                  <a:lnTo>
                    <a:pt x="364" y="856"/>
                  </a:lnTo>
                  <a:lnTo>
                    <a:pt x="355" y="858"/>
                  </a:lnTo>
                  <a:lnTo>
                    <a:pt x="349" y="854"/>
                  </a:lnTo>
                  <a:lnTo>
                    <a:pt x="349" y="838"/>
                  </a:lnTo>
                  <a:lnTo>
                    <a:pt x="355" y="827"/>
                  </a:lnTo>
                  <a:lnTo>
                    <a:pt x="366" y="815"/>
                  </a:lnTo>
                  <a:lnTo>
                    <a:pt x="380" y="801"/>
                  </a:lnTo>
                  <a:lnTo>
                    <a:pt x="392" y="789"/>
                  </a:lnTo>
                  <a:lnTo>
                    <a:pt x="404" y="775"/>
                  </a:lnTo>
                  <a:lnTo>
                    <a:pt x="410" y="764"/>
                  </a:lnTo>
                  <a:lnTo>
                    <a:pt x="410" y="754"/>
                  </a:lnTo>
                  <a:lnTo>
                    <a:pt x="404" y="748"/>
                  </a:lnTo>
                  <a:lnTo>
                    <a:pt x="392" y="742"/>
                  </a:lnTo>
                  <a:lnTo>
                    <a:pt x="380" y="734"/>
                  </a:lnTo>
                  <a:lnTo>
                    <a:pt x="370" y="726"/>
                  </a:lnTo>
                  <a:lnTo>
                    <a:pt x="364" y="716"/>
                  </a:lnTo>
                  <a:lnTo>
                    <a:pt x="364" y="699"/>
                  </a:lnTo>
                  <a:lnTo>
                    <a:pt x="372" y="679"/>
                  </a:lnTo>
                  <a:lnTo>
                    <a:pt x="382" y="661"/>
                  </a:lnTo>
                  <a:lnTo>
                    <a:pt x="400" y="636"/>
                  </a:lnTo>
                  <a:lnTo>
                    <a:pt x="418" y="608"/>
                  </a:lnTo>
                  <a:lnTo>
                    <a:pt x="425" y="592"/>
                  </a:lnTo>
                  <a:lnTo>
                    <a:pt x="433" y="575"/>
                  </a:lnTo>
                  <a:lnTo>
                    <a:pt x="441" y="559"/>
                  </a:lnTo>
                  <a:lnTo>
                    <a:pt x="443" y="547"/>
                  </a:lnTo>
                  <a:lnTo>
                    <a:pt x="439" y="537"/>
                  </a:lnTo>
                  <a:lnTo>
                    <a:pt x="429" y="526"/>
                  </a:lnTo>
                  <a:lnTo>
                    <a:pt x="418" y="514"/>
                  </a:lnTo>
                  <a:lnTo>
                    <a:pt x="404" y="502"/>
                  </a:lnTo>
                  <a:lnTo>
                    <a:pt x="394" y="494"/>
                  </a:lnTo>
                  <a:lnTo>
                    <a:pt x="384" y="490"/>
                  </a:lnTo>
                  <a:lnTo>
                    <a:pt x="374" y="490"/>
                  </a:lnTo>
                  <a:lnTo>
                    <a:pt x="362" y="492"/>
                  </a:lnTo>
                  <a:lnTo>
                    <a:pt x="345" y="494"/>
                  </a:lnTo>
                  <a:lnTo>
                    <a:pt x="325" y="494"/>
                  </a:lnTo>
                  <a:lnTo>
                    <a:pt x="311" y="492"/>
                  </a:lnTo>
                  <a:lnTo>
                    <a:pt x="301" y="492"/>
                  </a:lnTo>
                  <a:lnTo>
                    <a:pt x="294" y="498"/>
                  </a:lnTo>
                  <a:lnTo>
                    <a:pt x="286" y="512"/>
                  </a:lnTo>
                  <a:lnTo>
                    <a:pt x="280" y="533"/>
                  </a:lnTo>
                  <a:lnTo>
                    <a:pt x="272" y="557"/>
                  </a:lnTo>
                  <a:lnTo>
                    <a:pt x="264" y="577"/>
                  </a:lnTo>
                  <a:lnTo>
                    <a:pt x="254" y="592"/>
                  </a:lnTo>
                  <a:lnTo>
                    <a:pt x="242" y="608"/>
                  </a:lnTo>
                  <a:lnTo>
                    <a:pt x="227" y="630"/>
                  </a:lnTo>
                  <a:lnTo>
                    <a:pt x="211" y="650"/>
                  </a:lnTo>
                  <a:lnTo>
                    <a:pt x="197" y="663"/>
                  </a:lnTo>
                  <a:lnTo>
                    <a:pt x="183" y="673"/>
                  </a:lnTo>
                  <a:lnTo>
                    <a:pt x="172" y="681"/>
                  </a:lnTo>
                  <a:lnTo>
                    <a:pt x="162" y="687"/>
                  </a:lnTo>
                  <a:lnTo>
                    <a:pt x="158" y="691"/>
                  </a:lnTo>
                  <a:lnTo>
                    <a:pt x="134" y="667"/>
                  </a:lnTo>
                  <a:lnTo>
                    <a:pt x="103" y="620"/>
                  </a:lnTo>
                  <a:lnTo>
                    <a:pt x="55" y="587"/>
                  </a:lnTo>
                  <a:lnTo>
                    <a:pt x="0" y="569"/>
                  </a:lnTo>
                  <a:lnTo>
                    <a:pt x="20" y="510"/>
                  </a:lnTo>
                  <a:lnTo>
                    <a:pt x="53" y="457"/>
                  </a:lnTo>
                  <a:lnTo>
                    <a:pt x="30" y="402"/>
                  </a:lnTo>
                  <a:lnTo>
                    <a:pt x="30" y="337"/>
                  </a:lnTo>
                  <a:lnTo>
                    <a:pt x="10" y="315"/>
                  </a:lnTo>
                  <a:lnTo>
                    <a:pt x="40" y="285"/>
                  </a:lnTo>
                  <a:lnTo>
                    <a:pt x="81" y="317"/>
                  </a:lnTo>
                  <a:lnTo>
                    <a:pt x="126" y="382"/>
                  </a:lnTo>
                  <a:lnTo>
                    <a:pt x="170" y="311"/>
                  </a:lnTo>
                  <a:lnTo>
                    <a:pt x="215" y="274"/>
                  </a:lnTo>
                  <a:lnTo>
                    <a:pt x="274" y="209"/>
                  </a:lnTo>
                  <a:lnTo>
                    <a:pt x="349" y="189"/>
                  </a:lnTo>
                  <a:lnTo>
                    <a:pt x="376" y="173"/>
                  </a:lnTo>
                  <a:lnTo>
                    <a:pt x="380" y="134"/>
                  </a:lnTo>
                  <a:lnTo>
                    <a:pt x="431" y="146"/>
                  </a:lnTo>
                  <a:lnTo>
                    <a:pt x="475" y="108"/>
                  </a:lnTo>
                  <a:lnTo>
                    <a:pt x="524" y="47"/>
                  </a:lnTo>
                  <a:lnTo>
                    <a:pt x="524" y="0"/>
                  </a:lnTo>
                  <a:lnTo>
                    <a:pt x="595" y="22"/>
                  </a:lnTo>
                  <a:lnTo>
                    <a:pt x="679" y="45"/>
                  </a:lnTo>
                  <a:lnTo>
                    <a:pt x="725" y="120"/>
                  </a:lnTo>
                  <a:lnTo>
                    <a:pt x="784" y="187"/>
                  </a:lnTo>
                  <a:lnTo>
                    <a:pt x="774" y="240"/>
                  </a:lnTo>
                  <a:lnTo>
                    <a:pt x="860" y="317"/>
                  </a:lnTo>
                  <a:lnTo>
                    <a:pt x="860" y="402"/>
                  </a:lnTo>
                  <a:lnTo>
                    <a:pt x="815" y="425"/>
                  </a:lnTo>
                  <a:lnTo>
                    <a:pt x="731" y="533"/>
                  </a:lnTo>
                  <a:lnTo>
                    <a:pt x="725" y="575"/>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7" name="Freeform 101"/>
            <p:cNvSpPr/>
            <p:nvPr/>
          </p:nvSpPr>
          <p:spPr bwMode="gray">
            <a:xfrm>
              <a:off x="3738" y="1458"/>
              <a:ext cx="630" cy="431"/>
            </a:xfrm>
            <a:custGeom>
              <a:avLst/>
              <a:gdLst>
                <a:gd name="T0" fmla="*/ 315 w 1260"/>
                <a:gd name="T1" fmla="*/ 87 h 862"/>
                <a:gd name="T2" fmla="*/ 309 w 1260"/>
                <a:gd name="T3" fmla="*/ 91 h 862"/>
                <a:gd name="T4" fmla="*/ 299 w 1260"/>
                <a:gd name="T5" fmla="*/ 98 h 862"/>
                <a:gd name="T6" fmla="*/ 293 w 1260"/>
                <a:gd name="T7" fmla="*/ 101 h 862"/>
                <a:gd name="T8" fmla="*/ 287 w 1260"/>
                <a:gd name="T9" fmla="*/ 98 h 862"/>
                <a:gd name="T10" fmla="*/ 279 w 1260"/>
                <a:gd name="T11" fmla="*/ 94 h 862"/>
                <a:gd name="T12" fmla="*/ 277 w 1260"/>
                <a:gd name="T13" fmla="*/ 106 h 862"/>
                <a:gd name="T14" fmla="*/ 274 w 1260"/>
                <a:gd name="T15" fmla="*/ 119 h 862"/>
                <a:gd name="T16" fmla="*/ 265 w 1260"/>
                <a:gd name="T17" fmla="*/ 127 h 862"/>
                <a:gd name="T18" fmla="*/ 263 w 1260"/>
                <a:gd name="T19" fmla="*/ 136 h 862"/>
                <a:gd name="T20" fmla="*/ 254 w 1260"/>
                <a:gd name="T21" fmla="*/ 143 h 862"/>
                <a:gd name="T22" fmla="*/ 241 w 1260"/>
                <a:gd name="T23" fmla="*/ 147 h 862"/>
                <a:gd name="T24" fmla="*/ 233 w 1260"/>
                <a:gd name="T25" fmla="*/ 149 h 862"/>
                <a:gd name="T26" fmla="*/ 236 w 1260"/>
                <a:gd name="T27" fmla="*/ 157 h 862"/>
                <a:gd name="T28" fmla="*/ 244 w 1260"/>
                <a:gd name="T29" fmla="*/ 167 h 862"/>
                <a:gd name="T30" fmla="*/ 241 w 1260"/>
                <a:gd name="T31" fmla="*/ 175 h 862"/>
                <a:gd name="T32" fmla="*/ 226 w 1260"/>
                <a:gd name="T33" fmla="*/ 177 h 862"/>
                <a:gd name="T34" fmla="*/ 216 w 1260"/>
                <a:gd name="T35" fmla="*/ 177 h 862"/>
                <a:gd name="T36" fmla="*/ 207 w 1260"/>
                <a:gd name="T37" fmla="*/ 177 h 862"/>
                <a:gd name="T38" fmla="*/ 202 w 1260"/>
                <a:gd name="T39" fmla="*/ 172 h 862"/>
                <a:gd name="T40" fmla="*/ 196 w 1260"/>
                <a:gd name="T41" fmla="*/ 170 h 862"/>
                <a:gd name="T42" fmla="*/ 191 w 1260"/>
                <a:gd name="T43" fmla="*/ 183 h 862"/>
                <a:gd name="T44" fmla="*/ 185 w 1260"/>
                <a:gd name="T45" fmla="*/ 199 h 862"/>
                <a:gd name="T46" fmla="*/ 178 w 1260"/>
                <a:gd name="T47" fmla="*/ 213 h 862"/>
                <a:gd name="T48" fmla="*/ 169 w 1260"/>
                <a:gd name="T49" fmla="*/ 216 h 862"/>
                <a:gd name="T50" fmla="*/ 147 w 1260"/>
                <a:gd name="T51" fmla="*/ 181 h 862"/>
                <a:gd name="T52" fmla="*/ 122 w 1260"/>
                <a:gd name="T53" fmla="*/ 132 h 862"/>
                <a:gd name="T54" fmla="*/ 66 w 1260"/>
                <a:gd name="T55" fmla="*/ 99 h 862"/>
                <a:gd name="T56" fmla="*/ 28 w 1260"/>
                <a:gd name="T57" fmla="*/ 96 h 862"/>
                <a:gd name="T58" fmla="*/ 21 w 1260"/>
                <a:gd name="T59" fmla="*/ 55 h 862"/>
                <a:gd name="T60" fmla="*/ 6 w 1260"/>
                <a:gd name="T61" fmla="*/ 26 h 862"/>
                <a:gd name="T62" fmla="*/ 33 w 1260"/>
                <a:gd name="T63" fmla="*/ 29 h 862"/>
                <a:gd name="T64" fmla="*/ 64 w 1260"/>
                <a:gd name="T65" fmla="*/ 0 h 862"/>
                <a:gd name="T66" fmla="*/ 101 w 1260"/>
                <a:gd name="T67" fmla="*/ 27 h 862"/>
                <a:gd name="T68" fmla="*/ 133 w 1260"/>
                <a:gd name="T69" fmla="*/ 34 h 862"/>
                <a:gd name="T70" fmla="*/ 172 w 1260"/>
                <a:gd name="T71" fmla="*/ 48 h 862"/>
                <a:gd name="T72" fmla="*/ 206 w 1260"/>
                <a:gd name="T73" fmla="*/ 62 h 862"/>
                <a:gd name="T74" fmla="*/ 214 w 1260"/>
                <a:gd name="T75" fmla="*/ 42 h 862"/>
                <a:gd name="T76" fmla="*/ 217 w 1260"/>
                <a:gd name="T77" fmla="*/ 53 h 862"/>
                <a:gd name="T78" fmla="*/ 219 w 1260"/>
                <a:gd name="T79" fmla="*/ 58 h 862"/>
                <a:gd name="T80" fmla="*/ 227 w 1260"/>
                <a:gd name="T81" fmla="*/ 65 h 862"/>
                <a:gd name="T82" fmla="*/ 243 w 1260"/>
                <a:gd name="T83" fmla="*/ 80 h 862"/>
                <a:gd name="T84" fmla="*/ 265 w 1260"/>
                <a:gd name="T85" fmla="*/ 51 h 862"/>
                <a:gd name="T86" fmla="*/ 312 w 1260"/>
                <a:gd name="T87" fmla="*/ 62 h 8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60"/>
                <a:gd name="T133" fmla="*/ 0 h 862"/>
                <a:gd name="T134" fmla="*/ 1260 w 1260"/>
                <a:gd name="T135" fmla="*/ 862 h 8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60" h="862">
                  <a:moveTo>
                    <a:pt x="1246" y="248"/>
                  </a:moveTo>
                  <a:lnTo>
                    <a:pt x="1260" y="267"/>
                  </a:lnTo>
                  <a:lnTo>
                    <a:pt x="1258" y="348"/>
                  </a:lnTo>
                  <a:lnTo>
                    <a:pt x="1254" y="350"/>
                  </a:lnTo>
                  <a:lnTo>
                    <a:pt x="1246" y="356"/>
                  </a:lnTo>
                  <a:lnTo>
                    <a:pt x="1233" y="364"/>
                  </a:lnTo>
                  <a:lnTo>
                    <a:pt x="1219" y="374"/>
                  </a:lnTo>
                  <a:lnTo>
                    <a:pt x="1205" y="382"/>
                  </a:lnTo>
                  <a:lnTo>
                    <a:pt x="1195" y="390"/>
                  </a:lnTo>
                  <a:lnTo>
                    <a:pt x="1187" y="395"/>
                  </a:lnTo>
                  <a:lnTo>
                    <a:pt x="1179" y="399"/>
                  </a:lnTo>
                  <a:lnTo>
                    <a:pt x="1170" y="401"/>
                  </a:lnTo>
                  <a:lnTo>
                    <a:pt x="1160" y="401"/>
                  </a:lnTo>
                  <a:lnTo>
                    <a:pt x="1154" y="395"/>
                  </a:lnTo>
                  <a:lnTo>
                    <a:pt x="1146" y="390"/>
                  </a:lnTo>
                  <a:lnTo>
                    <a:pt x="1136" y="380"/>
                  </a:lnTo>
                  <a:lnTo>
                    <a:pt x="1124" y="376"/>
                  </a:lnTo>
                  <a:lnTo>
                    <a:pt x="1114" y="376"/>
                  </a:lnTo>
                  <a:lnTo>
                    <a:pt x="1110" y="384"/>
                  </a:lnTo>
                  <a:lnTo>
                    <a:pt x="1107" y="401"/>
                  </a:lnTo>
                  <a:lnTo>
                    <a:pt x="1105" y="423"/>
                  </a:lnTo>
                  <a:lnTo>
                    <a:pt x="1103" y="443"/>
                  </a:lnTo>
                  <a:lnTo>
                    <a:pt x="1101" y="460"/>
                  </a:lnTo>
                  <a:lnTo>
                    <a:pt x="1095" y="476"/>
                  </a:lnTo>
                  <a:lnTo>
                    <a:pt x="1085" y="490"/>
                  </a:lnTo>
                  <a:lnTo>
                    <a:pt x="1069" y="500"/>
                  </a:lnTo>
                  <a:lnTo>
                    <a:pt x="1059" y="508"/>
                  </a:lnTo>
                  <a:lnTo>
                    <a:pt x="1055" y="519"/>
                  </a:lnTo>
                  <a:lnTo>
                    <a:pt x="1053" y="531"/>
                  </a:lnTo>
                  <a:lnTo>
                    <a:pt x="1051" y="541"/>
                  </a:lnTo>
                  <a:lnTo>
                    <a:pt x="1045" y="551"/>
                  </a:lnTo>
                  <a:lnTo>
                    <a:pt x="1032" y="559"/>
                  </a:lnTo>
                  <a:lnTo>
                    <a:pt x="1016" y="569"/>
                  </a:lnTo>
                  <a:lnTo>
                    <a:pt x="996" y="576"/>
                  </a:lnTo>
                  <a:lnTo>
                    <a:pt x="979" y="584"/>
                  </a:lnTo>
                  <a:lnTo>
                    <a:pt x="965" y="588"/>
                  </a:lnTo>
                  <a:lnTo>
                    <a:pt x="951" y="590"/>
                  </a:lnTo>
                  <a:lnTo>
                    <a:pt x="941" y="592"/>
                  </a:lnTo>
                  <a:lnTo>
                    <a:pt x="933" y="596"/>
                  </a:lnTo>
                  <a:lnTo>
                    <a:pt x="929" y="604"/>
                  </a:lnTo>
                  <a:lnTo>
                    <a:pt x="933" y="614"/>
                  </a:lnTo>
                  <a:lnTo>
                    <a:pt x="943" y="628"/>
                  </a:lnTo>
                  <a:lnTo>
                    <a:pt x="955" y="641"/>
                  </a:lnTo>
                  <a:lnTo>
                    <a:pt x="967" y="651"/>
                  </a:lnTo>
                  <a:lnTo>
                    <a:pt x="977" y="665"/>
                  </a:lnTo>
                  <a:lnTo>
                    <a:pt x="981" y="677"/>
                  </a:lnTo>
                  <a:lnTo>
                    <a:pt x="975" y="691"/>
                  </a:lnTo>
                  <a:lnTo>
                    <a:pt x="963" y="699"/>
                  </a:lnTo>
                  <a:lnTo>
                    <a:pt x="943" y="702"/>
                  </a:lnTo>
                  <a:lnTo>
                    <a:pt x="923" y="704"/>
                  </a:lnTo>
                  <a:lnTo>
                    <a:pt x="906" y="706"/>
                  </a:lnTo>
                  <a:lnTo>
                    <a:pt x="892" y="708"/>
                  </a:lnTo>
                  <a:lnTo>
                    <a:pt x="880" y="708"/>
                  </a:lnTo>
                  <a:lnTo>
                    <a:pt x="864" y="708"/>
                  </a:lnTo>
                  <a:lnTo>
                    <a:pt x="847" y="706"/>
                  </a:lnTo>
                  <a:lnTo>
                    <a:pt x="833" y="706"/>
                  </a:lnTo>
                  <a:lnTo>
                    <a:pt x="827" y="706"/>
                  </a:lnTo>
                  <a:lnTo>
                    <a:pt x="825" y="702"/>
                  </a:lnTo>
                  <a:lnTo>
                    <a:pt x="819" y="697"/>
                  </a:lnTo>
                  <a:lnTo>
                    <a:pt x="809" y="687"/>
                  </a:lnTo>
                  <a:lnTo>
                    <a:pt x="799" y="679"/>
                  </a:lnTo>
                  <a:lnTo>
                    <a:pt x="792" y="675"/>
                  </a:lnTo>
                  <a:lnTo>
                    <a:pt x="786" y="679"/>
                  </a:lnTo>
                  <a:lnTo>
                    <a:pt x="780" y="691"/>
                  </a:lnTo>
                  <a:lnTo>
                    <a:pt x="774" y="708"/>
                  </a:lnTo>
                  <a:lnTo>
                    <a:pt x="766" y="732"/>
                  </a:lnTo>
                  <a:lnTo>
                    <a:pt x="756" y="756"/>
                  </a:lnTo>
                  <a:lnTo>
                    <a:pt x="748" y="777"/>
                  </a:lnTo>
                  <a:lnTo>
                    <a:pt x="742" y="795"/>
                  </a:lnTo>
                  <a:lnTo>
                    <a:pt x="733" y="821"/>
                  </a:lnTo>
                  <a:lnTo>
                    <a:pt x="723" y="838"/>
                  </a:lnTo>
                  <a:lnTo>
                    <a:pt x="711" y="850"/>
                  </a:lnTo>
                  <a:lnTo>
                    <a:pt x="699" y="854"/>
                  </a:lnTo>
                  <a:lnTo>
                    <a:pt x="687" y="858"/>
                  </a:lnTo>
                  <a:lnTo>
                    <a:pt x="677" y="862"/>
                  </a:lnTo>
                  <a:lnTo>
                    <a:pt x="671" y="862"/>
                  </a:lnTo>
                  <a:lnTo>
                    <a:pt x="671" y="799"/>
                  </a:lnTo>
                  <a:lnTo>
                    <a:pt x="585" y="722"/>
                  </a:lnTo>
                  <a:lnTo>
                    <a:pt x="595" y="669"/>
                  </a:lnTo>
                  <a:lnTo>
                    <a:pt x="536" y="602"/>
                  </a:lnTo>
                  <a:lnTo>
                    <a:pt x="490" y="527"/>
                  </a:lnTo>
                  <a:lnTo>
                    <a:pt x="335" y="482"/>
                  </a:lnTo>
                  <a:lnTo>
                    <a:pt x="297" y="460"/>
                  </a:lnTo>
                  <a:lnTo>
                    <a:pt x="262" y="393"/>
                  </a:lnTo>
                  <a:lnTo>
                    <a:pt x="223" y="327"/>
                  </a:lnTo>
                  <a:lnTo>
                    <a:pt x="144" y="388"/>
                  </a:lnTo>
                  <a:lnTo>
                    <a:pt x="114" y="382"/>
                  </a:lnTo>
                  <a:lnTo>
                    <a:pt x="112" y="352"/>
                  </a:lnTo>
                  <a:lnTo>
                    <a:pt x="77" y="303"/>
                  </a:lnTo>
                  <a:lnTo>
                    <a:pt x="83" y="220"/>
                  </a:lnTo>
                  <a:lnTo>
                    <a:pt x="42" y="165"/>
                  </a:lnTo>
                  <a:lnTo>
                    <a:pt x="0" y="157"/>
                  </a:lnTo>
                  <a:lnTo>
                    <a:pt x="24" y="102"/>
                  </a:lnTo>
                  <a:lnTo>
                    <a:pt x="67" y="116"/>
                  </a:lnTo>
                  <a:lnTo>
                    <a:pt x="83" y="96"/>
                  </a:lnTo>
                  <a:lnTo>
                    <a:pt x="132" y="118"/>
                  </a:lnTo>
                  <a:lnTo>
                    <a:pt x="124" y="53"/>
                  </a:lnTo>
                  <a:lnTo>
                    <a:pt x="160" y="23"/>
                  </a:lnTo>
                  <a:lnTo>
                    <a:pt x="256" y="0"/>
                  </a:lnTo>
                  <a:lnTo>
                    <a:pt x="280" y="63"/>
                  </a:lnTo>
                  <a:lnTo>
                    <a:pt x="343" y="132"/>
                  </a:lnTo>
                  <a:lnTo>
                    <a:pt x="406" y="110"/>
                  </a:lnTo>
                  <a:lnTo>
                    <a:pt x="453" y="114"/>
                  </a:lnTo>
                  <a:lnTo>
                    <a:pt x="488" y="81"/>
                  </a:lnTo>
                  <a:lnTo>
                    <a:pt x="530" y="134"/>
                  </a:lnTo>
                  <a:lnTo>
                    <a:pt x="650" y="110"/>
                  </a:lnTo>
                  <a:lnTo>
                    <a:pt x="673" y="142"/>
                  </a:lnTo>
                  <a:lnTo>
                    <a:pt x="689" y="191"/>
                  </a:lnTo>
                  <a:lnTo>
                    <a:pt x="742" y="177"/>
                  </a:lnTo>
                  <a:lnTo>
                    <a:pt x="790" y="250"/>
                  </a:lnTo>
                  <a:lnTo>
                    <a:pt x="823" y="248"/>
                  </a:lnTo>
                  <a:lnTo>
                    <a:pt x="813" y="167"/>
                  </a:lnTo>
                  <a:lnTo>
                    <a:pt x="853" y="161"/>
                  </a:lnTo>
                  <a:lnTo>
                    <a:pt x="855" y="167"/>
                  </a:lnTo>
                  <a:lnTo>
                    <a:pt x="858" y="179"/>
                  </a:lnTo>
                  <a:lnTo>
                    <a:pt x="864" y="195"/>
                  </a:lnTo>
                  <a:lnTo>
                    <a:pt x="868" y="212"/>
                  </a:lnTo>
                  <a:lnTo>
                    <a:pt x="872" y="224"/>
                  </a:lnTo>
                  <a:lnTo>
                    <a:pt x="874" y="232"/>
                  </a:lnTo>
                  <a:lnTo>
                    <a:pt x="878" y="234"/>
                  </a:lnTo>
                  <a:lnTo>
                    <a:pt x="886" y="242"/>
                  </a:lnTo>
                  <a:lnTo>
                    <a:pt x="896" y="250"/>
                  </a:lnTo>
                  <a:lnTo>
                    <a:pt x="908" y="258"/>
                  </a:lnTo>
                  <a:lnTo>
                    <a:pt x="916" y="262"/>
                  </a:lnTo>
                  <a:lnTo>
                    <a:pt x="920" y="266"/>
                  </a:lnTo>
                  <a:lnTo>
                    <a:pt x="971" y="319"/>
                  </a:lnTo>
                  <a:lnTo>
                    <a:pt x="994" y="293"/>
                  </a:lnTo>
                  <a:lnTo>
                    <a:pt x="1010" y="238"/>
                  </a:lnTo>
                  <a:lnTo>
                    <a:pt x="1059" y="201"/>
                  </a:lnTo>
                  <a:lnTo>
                    <a:pt x="1126" y="226"/>
                  </a:lnTo>
                  <a:lnTo>
                    <a:pt x="1203" y="252"/>
                  </a:lnTo>
                  <a:lnTo>
                    <a:pt x="1246" y="248"/>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8" name="Freeform 102"/>
            <p:cNvSpPr/>
            <p:nvPr/>
          </p:nvSpPr>
          <p:spPr bwMode="gray">
            <a:xfrm>
              <a:off x="3738" y="1458"/>
              <a:ext cx="630" cy="431"/>
            </a:xfrm>
            <a:custGeom>
              <a:avLst/>
              <a:gdLst>
                <a:gd name="T0" fmla="*/ 315 w 1260"/>
                <a:gd name="T1" fmla="*/ 87 h 862"/>
                <a:gd name="T2" fmla="*/ 309 w 1260"/>
                <a:gd name="T3" fmla="*/ 91 h 862"/>
                <a:gd name="T4" fmla="*/ 299 w 1260"/>
                <a:gd name="T5" fmla="*/ 98 h 862"/>
                <a:gd name="T6" fmla="*/ 293 w 1260"/>
                <a:gd name="T7" fmla="*/ 101 h 862"/>
                <a:gd name="T8" fmla="*/ 287 w 1260"/>
                <a:gd name="T9" fmla="*/ 98 h 862"/>
                <a:gd name="T10" fmla="*/ 279 w 1260"/>
                <a:gd name="T11" fmla="*/ 94 h 862"/>
                <a:gd name="T12" fmla="*/ 277 w 1260"/>
                <a:gd name="T13" fmla="*/ 106 h 862"/>
                <a:gd name="T14" fmla="*/ 274 w 1260"/>
                <a:gd name="T15" fmla="*/ 119 h 862"/>
                <a:gd name="T16" fmla="*/ 265 w 1260"/>
                <a:gd name="T17" fmla="*/ 127 h 862"/>
                <a:gd name="T18" fmla="*/ 263 w 1260"/>
                <a:gd name="T19" fmla="*/ 136 h 862"/>
                <a:gd name="T20" fmla="*/ 254 w 1260"/>
                <a:gd name="T21" fmla="*/ 143 h 862"/>
                <a:gd name="T22" fmla="*/ 241 w 1260"/>
                <a:gd name="T23" fmla="*/ 147 h 862"/>
                <a:gd name="T24" fmla="*/ 233 w 1260"/>
                <a:gd name="T25" fmla="*/ 149 h 862"/>
                <a:gd name="T26" fmla="*/ 236 w 1260"/>
                <a:gd name="T27" fmla="*/ 157 h 862"/>
                <a:gd name="T28" fmla="*/ 244 w 1260"/>
                <a:gd name="T29" fmla="*/ 167 h 862"/>
                <a:gd name="T30" fmla="*/ 241 w 1260"/>
                <a:gd name="T31" fmla="*/ 175 h 862"/>
                <a:gd name="T32" fmla="*/ 226 w 1260"/>
                <a:gd name="T33" fmla="*/ 177 h 862"/>
                <a:gd name="T34" fmla="*/ 216 w 1260"/>
                <a:gd name="T35" fmla="*/ 177 h 862"/>
                <a:gd name="T36" fmla="*/ 207 w 1260"/>
                <a:gd name="T37" fmla="*/ 177 h 862"/>
                <a:gd name="T38" fmla="*/ 202 w 1260"/>
                <a:gd name="T39" fmla="*/ 172 h 862"/>
                <a:gd name="T40" fmla="*/ 196 w 1260"/>
                <a:gd name="T41" fmla="*/ 170 h 862"/>
                <a:gd name="T42" fmla="*/ 191 w 1260"/>
                <a:gd name="T43" fmla="*/ 183 h 862"/>
                <a:gd name="T44" fmla="*/ 185 w 1260"/>
                <a:gd name="T45" fmla="*/ 199 h 862"/>
                <a:gd name="T46" fmla="*/ 178 w 1260"/>
                <a:gd name="T47" fmla="*/ 213 h 862"/>
                <a:gd name="T48" fmla="*/ 169 w 1260"/>
                <a:gd name="T49" fmla="*/ 216 h 862"/>
                <a:gd name="T50" fmla="*/ 147 w 1260"/>
                <a:gd name="T51" fmla="*/ 181 h 862"/>
                <a:gd name="T52" fmla="*/ 122 w 1260"/>
                <a:gd name="T53" fmla="*/ 132 h 862"/>
                <a:gd name="T54" fmla="*/ 66 w 1260"/>
                <a:gd name="T55" fmla="*/ 99 h 862"/>
                <a:gd name="T56" fmla="*/ 28 w 1260"/>
                <a:gd name="T57" fmla="*/ 96 h 862"/>
                <a:gd name="T58" fmla="*/ 21 w 1260"/>
                <a:gd name="T59" fmla="*/ 55 h 862"/>
                <a:gd name="T60" fmla="*/ 6 w 1260"/>
                <a:gd name="T61" fmla="*/ 26 h 862"/>
                <a:gd name="T62" fmla="*/ 33 w 1260"/>
                <a:gd name="T63" fmla="*/ 29 h 862"/>
                <a:gd name="T64" fmla="*/ 64 w 1260"/>
                <a:gd name="T65" fmla="*/ 0 h 862"/>
                <a:gd name="T66" fmla="*/ 101 w 1260"/>
                <a:gd name="T67" fmla="*/ 27 h 862"/>
                <a:gd name="T68" fmla="*/ 133 w 1260"/>
                <a:gd name="T69" fmla="*/ 34 h 862"/>
                <a:gd name="T70" fmla="*/ 172 w 1260"/>
                <a:gd name="T71" fmla="*/ 48 h 862"/>
                <a:gd name="T72" fmla="*/ 206 w 1260"/>
                <a:gd name="T73" fmla="*/ 62 h 862"/>
                <a:gd name="T74" fmla="*/ 214 w 1260"/>
                <a:gd name="T75" fmla="*/ 42 h 862"/>
                <a:gd name="T76" fmla="*/ 217 w 1260"/>
                <a:gd name="T77" fmla="*/ 53 h 862"/>
                <a:gd name="T78" fmla="*/ 219 w 1260"/>
                <a:gd name="T79" fmla="*/ 58 h 862"/>
                <a:gd name="T80" fmla="*/ 227 w 1260"/>
                <a:gd name="T81" fmla="*/ 65 h 862"/>
                <a:gd name="T82" fmla="*/ 243 w 1260"/>
                <a:gd name="T83" fmla="*/ 80 h 862"/>
                <a:gd name="T84" fmla="*/ 265 w 1260"/>
                <a:gd name="T85" fmla="*/ 51 h 862"/>
                <a:gd name="T86" fmla="*/ 312 w 1260"/>
                <a:gd name="T87" fmla="*/ 62 h 8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60"/>
                <a:gd name="T133" fmla="*/ 0 h 862"/>
                <a:gd name="T134" fmla="*/ 1260 w 1260"/>
                <a:gd name="T135" fmla="*/ 862 h 8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60" h="862">
                  <a:moveTo>
                    <a:pt x="1246" y="248"/>
                  </a:moveTo>
                  <a:lnTo>
                    <a:pt x="1260" y="267"/>
                  </a:lnTo>
                  <a:lnTo>
                    <a:pt x="1258" y="348"/>
                  </a:lnTo>
                  <a:lnTo>
                    <a:pt x="1254" y="350"/>
                  </a:lnTo>
                  <a:lnTo>
                    <a:pt x="1246" y="356"/>
                  </a:lnTo>
                  <a:lnTo>
                    <a:pt x="1233" y="364"/>
                  </a:lnTo>
                  <a:lnTo>
                    <a:pt x="1219" y="374"/>
                  </a:lnTo>
                  <a:lnTo>
                    <a:pt x="1205" y="382"/>
                  </a:lnTo>
                  <a:lnTo>
                    <a:pt x="1195" y="390"/>
                  </a:lnTo>
                  <a:lnTo>
                    <a:pt x="1187" y="395"/>
                  </a:lnTo>
                  <a:lnTo>
                    <a:pt x="1179" y="399"/>
                  </a:lnTo>
                  <a:lnTo>
                    <a:pt x="1170" y="401"/>
                  </a:lnTo>
                  <a:lnTo>
                    <a:pt x="1160" y="401"/>
                  </a:lnTo>
                  <a:lnTo>
                    <a:pt x="1154" y="395"/>
                  </a:lnTo>
                  <a:lnTo>
                    <a:pt x="1146" y="390"/>
                  </a:lnTo>
                  <a:lnTo>
                    <a:pt x="1136" y="380"/>
                  </a:lnTo>
                  <a:lnTo>
                    <a:pt x="1124" y="376"/>
                  </a:lnTo>
                  <a:lnTo>
                    <a:pt x="1114" y="376"/>
                  </a:lnTo>
                  <a:lnTo>
                    <a:pt x="1110" y="384"/>
                  </a:lnTo>
                  <a:lnTo>
                    <a:pt x="1107" y="401"/>
                  </a:lnTo>
                  <a:lnTo>
                    <a:pt x="1105" y="423"/>
                  </a:lnTo>
                  <a:lnTo>
                    <a:pt x="1103" y="443"/>
                  </a:lnTo>
                  <a:lnTo>
                    <a:pt x="1101" y="460"/>
                  </a:lnTo>
                  <a:lnTo>
                    <a:pt x="1095" y="476"/>
                  </a:lnTo>
                  <a:lnTo>
                    <a:pt x="1085" y="490"/>
                  </a:lnTo>
                  <a:lnTo>
                    <a:pt x="1069" y="500"/>
                  </a:lnTo>
                  <a:lnTo>
                    <a:pt x="1059" y="508"/>
                  </a:lnTo>
                  <a:lnTo>
                    <a:pt x="1055" y="519"/>
                  </a:lnTo>
                  <a:lnTo>
                    <a:pt x="1053" y="531"/>
                  </a:lnTo>
                  <a:lnTo>
                    <a:pt x="1051" y="541"/>
                  </a:lnTo>
                  <a:lnTo>
                    <a:pt x="1045" y="551"/>
                  </a:lnTo>
                  <a:lnTo>
                    <a:pt x="1032" y="559"/>
                  </a:lnTo>
                  <a:lnTo>
                    <a:pt x="1016" y="569"/>
                  </a:lnTo>
                  <a:lnTo>
                    <a:pt x="996" y="576"/>
                  </a:lnTo>
                  <a:lnTo>
                    <a:pt x="979" y="584"/>
                  </a:lnTo>
                  <a:lnTo>
                    <a:pt x="965" y="588"/>
                  </a:lnTo>
                  <a:lnTo>
                    <a:pt x="951" y="590"/>
                  </a:lnTo>
                  <a:lnTo>
                    <a:pt x="941" y="592"/>
                  </a:lnTo>
                  <a:lnTo>
                    <a:pt x="933" y="596"/>
                  </a:lnTo>
                  <a:lnTo>
                    <a:pt x="929" y="604"/>
                  </a:lnTo>
                  <a:lnTo>
                    <a:pt x="933" y="614"/>
                  </a:lnTo>
                  <a:lnTo>
                    <a:pt x="943" y="628"/>
                  </a:lnTo>
                  <a:lnTo>
                    <a:pt x="955" y="641"/>
                  </a:lnTo>
                  <a:lnTo>
                    <a:pt x="967" y="651"/>
                  </a:lnTo>
                  <a:lnTo>
                    <a:pt x="977" y="665"/>
                  </a:lnTo>
                  <a:lnTo>
                    <a:pt x="981" y="677"/>
                  </a:lnTo>
                  <a:lnTo>
                    <a:pt x="975" y="691"/>
                  </a:lnTo>
                  <a:lnTo>
                    <a:pt x="963" y="699"/>
                  </a:lnTo>
                  <a:lnTo>
                    <a:pt x="943" y="702"/>
                  </a:lnTo>
                  <a:lnTo>
                    <a:pt x="923" y="704"/>
                  </a:lnTo>
                  <a:lnTo>
                    <a:pt x="906" y="706"/>
                  </a:lnTo>
                  <a:lnTo>
                    <a:pt x="892" y="708"/>
                  </a:lnTo>
                  <a:lnTo>
                    <a:pt x="880" y="708"/>
                  </a:lnTo>
                  <a:lnTo>
                    <a:pt x="864" y="708"/>
                  </a:lnTo>
                  <a:lnTo>
                    <a:pt x="847" y="706"/>
                  </a:lnTo>
                  <a:lnTo>
                    <a:pt x="833" y="706"/>
                  </a:lnTo>
                  <a:lnTo>
                    <a:pt x="827" y="706"/>
                  </a:lnTo>
                  <a:lnTo>
                    <a:pt x="825" y="702"/>
                  </a:lnTo>
                  <a:lnTo>
                    <a:pt x="819" y="697"/>
                  </a:lnTo>
                  <a:lnTo>
                    <a:pt x="809" y="687"/>
                  </a:lnTo>
                  <a:lnTo>
                    <a:pt x="799" y="679"/>
                  </a:lnTo>
                  <a:lnTo>
                    <a:pt x="792" y="675"/>
                  </a:lnTo>
                  <a:lnTo>
                    <a:pt x="786" y="679"/>
                  </a:lnTo>
                  <a:lnTo>
                    <a:pt x="780" y="691"/>
                  </a:lnTo>
                  <a:lnTo>
                    <a:pt x="774" y="708"/>
                  </a:lnTo>
                  <a:lnTo>
                    <a:pt x="766" y="732"/>
                  </a:lnTo>
                  <a:lnTo>
                    <a:pt x="756" y="756"/>
                  </a:lnTo>
                  <a:lnTo>
                    <a:pt x="748" y="777"/>
                  </a:lnTo>
                  <a:lnTo>
                    <a:pt x="742" y="795"/>
                  </a:lnTo>
                  <a:lnTo>
                    <a:pt x="733" y="821"/>
                  </a:lnTo>
                  <a:lnTo>
                    <a:pt x="723" y="838"/>
                  </a:lnTo>
                  <a:lnTo>
                    <a:pt x="711" y="850"/>
                  </a:lnTo>
                  <a:lnTo>
                    <a:pt x="699" y="854"/>
                  </a:lnTo>
                  <a:lnTo>
                    <a:pt x="687" y="858"/>
                  </a:lnTo>
                  <a:lnTo>
                    <a:pt x="677" y="862"/>
                  </a:lnTo>
                  <a:lnTo>
                    <a:pt x="671" y="862"/>
                  </a:lnTo>
                  <a:lnTo>
                    <a:pt x="671" y="799"/>
                  </a:lnTo>
                  <a:lnTo>
                    <a:pt x="585" y="722"/>
                  </a:lnTo>
                  <a:lnTo>
                    <a:pt x="595" y="669"/>
                  </a:lnTo>
                  <a:lnTo>
                    <a:pt x="536" y="602"/>
                  </a:lnTo>
                  <a:lnTo>
                    <a:pt x="490" y="527"/>
                  </a:lnTo>
                  <a:lnTo>
                    <a:pt x="335" y="482"/>
                  </a:lnTo>
                  <a:lnTo>
                    <a:pt x="297" y="460"/>
                  </a:lnTo>
                  <a:lnTo>
                    <a:pt x="262" y="393"/>
                  </a:lnTo>
                  <a:lnTo>
                    <a:pt x="223" y="327"/>
                  </a:lnTo>
                  <a:lnTo>
                    <a:pt x="144" y="388"/>
                  </a:lnTo>
                  <a:lnTo>
                    <a:pt x="114" y="382"/>
                  </a:lnTo>
                  <a:lnTo>
                    <a:pt x="112" y="352"/>
                  </a:lnTo>
                  <a:lnTo>
                    <a:pt x="77" y="303"/>
                  </a:lnTo>
                  <a:lnTo>
                    <a:pt x="83" y="220"/>
                  </a:lnTo>
                  <a:lnTo>
                    <a:pt x="42" y="165"/>
                  </a:lnTo>
                  <a:lnTo>
                    <a:pt x="0" y="157"/>
                  </a:lnTo>
                  <a:lnTo>
                    <a:pt x="24" y="102"/>
                  </a:lnTo>
                  <a:lnTo>
                    <a:pt x="67" y="116"/>
                  </a:lnTo>
                  <a:lnTo>
                    <a:pt x="83" y="96"/>
                  </a:lnTo>
                  <a:lnTo>
                    <a:pt x="132" y="118"/>
                  </a:lnTo>
                  <a:lnTo>
                    <a:pt x="124" y="53"/>
                  </a:lnTo>
                  <a:lnTo>
                    <a:pt x="160" y="23"/>
                  </a:lnTo>
                  <a:lnTo>
                    <a:pt x="256" y="0"/>
                  </a:lnTo>
                  <a:lnTo>
                    <a:pt x="280" y="63"/>
                  </a:lnTo>
                  <a:lnTo>
                    <a:pt x="343" y="132"/>
                  </a:lnTo>
                  <a:lnTo>
                    <a:pt x="406" y="110"/>
                  </a:lnTo>
                  <a:lnTo>
                    <a:pt x="453" y="114"/>
                  </a:lnTo>
                  <a:lnTo>
                    <a:pt x="488" y="81"/>
                  </a:lnTo>
                  <a:lnTo>
                    <a:pt x="530" y="134"/>
                  </a:lnTo>
                  <a:lnTo>
                    <a:pt x="650" y="110"/>
                  </a:lnTo>
                  <a:lnTo>
                    <a:pt x="673" y="142"/>
                  </a:lnTo>
                  <a:lnTo>
                    <a:pt x="689" y="191"/>
                  </a:lnTo>
                  <a:lnTo>
                    <a:pt x="742" y="177"/>
                  </a:lnTo>
                  <a:lnTo>
                    <a:pt x="790" y="250"/>
                  </a:lnTo>
                  <a:lnTo>
                    <a:pt x="823" y="248"/>
                  </a:lnTo>
                  <a:lnTo>
                    <a:pt x="813" y="167"/>
                  </a:lnTo>
                  <a:lnTo>
                    <a:pt x="853" y="161"/>
                  </a:lnTo>
                  <a:lnTo>
                    <a:pt x="855" y="167"/>
                  </a:lnTo>
                  <a:lnTo>
                    <a:pt x="858" y="179"/>
                  </a:lnTo>
                  <a:lnTo>
                    <a:pt x="864" y="195"/>
                  </a:lnTo>
                  <a:lnTo>
                    <a:pt x="868" y="212"/>
                  </a:lnTo>
                  <a:lnTo>
                    <a:pt x="872" y="224"/>
                  </a:lnTo>
                  <a:lnTo>
                    <a:pt x="874" y="232"/>
                  </a:lnTo>
                  <a:lnTo>
                    <a:pt x="878" y="234"/>
                  </a:lnTo>
                  <a:lnTo>
                    <a:pt x="886" y="242"/>
                  </a:lnTo>
                  <a:lnTo>
                    <a:pt x="896" y="250"/>
                  </a:lnTo>
                  <a:lnTo>
                    <a:pt x="908" y="258"/>
                  </a:lnTo>
                  <a:lnTo>
                    <a:pt x="916" y="262"/>
                  </a:lnTo>
                  <a:lnTo>
                    <a:pt x="920" y="266"/>
                  </a:lnTo>
                  <a:lnTo>
                    <a:pt x="971" y="319"/>
                  </a:lnTo>
                  <a:lnTo>
                    <a:pt x="994" y="293"/>
                  </a:lnTo>
                  <a:lnTo>
                    <a:pt x="1010" y="238"/>
                  </a:lnTo>
                  <a:lnTo>
                    <a:pt x="1059" y="201"/>
                  </a:lnTo>
                  <a:lnTo>
                    <a:pt x="1126" y="226"/>
                  </a:lnTo>
                  <a:lnTo>
                    <a:pt x="1203" y="252"/>
                  </a:lnTo>
                  <a:lnTo>
                    <a:pt x="1246" y="248"/>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79" name="Freeform 103"/>
            <p:cNvSpPr/>
            <p:nvPr/>
          </p:nvSpPr>
          <p:spPr bwMode="gray">
            <a:xfrm>
              <a:off x="3599" y="839"/>
              <a:ext cx="861" cy="778"/>
            </a:xfrm>
            <a:custGeom>
              <a:avLst/>
              <a:gdLst>
                <a:gd name="T0" fmla="*/ 419 w 1722"/>
                <a:gd name="T1" fmla="*/ 147 h 1557"/>
                <a:gd name="T2" fmla="*/ 423 w 1722"/>
                <a:gd name="T3" fmla="*/ 159 h 1557"/>
                <a:gd name="T4" fmla="*/ 428 w 1722"/>
                <a:gd name="T5" fmla="*/ 173 h 1557"/>
                <a:gd name="T6" fmla="*/ 419 w 1722"/>
                <a:gd name="T7" fmla="*/ 185 h 1557"/>
                <a:gd name="T8" fmla="*/ 421 w 1722"/>
                <a:gd name="T9" fmla="*/ 196 h 1557"/>
                <a:gd name="T10" fmla="*/ 431 w 1722"/>
                <a:gd name="T11" fmla="*/ 209 h 1557"/>
                <a:gd name="T12" fmla="*/ 429 w 1722"/>
                <a:gd name="T13" fmla="*/ 233 h 1557"/>
                <a:gd name="T14" fmla="*/ 425 w 1722"/>
                <a:gd name="T15" fmla="*/ 256 h 1557"/>
                <a:gd name="T16" fmla="*/ 417 w 1722"/>
                <a:gd name="T17" fmla="*/ 278 h 1557"/>
                <a:gd name="T18" fmla="*/ 418 w 1722"/>
                <a:gd name="T19" fmla="*/ 290 h 1557"/>
                <a:gd name="T20" fmla="*/ 404 w 1722"/>
                <a:gd name="T21" fmla="*/ 293 h 1557"/>
                <a:gd name="T22" fmla="*/ 383 w 1722"/>
                <a:gd name="T23" fmla="*/ 292 h 1557"/>
                <a:gd name="T24" fmla="*/ 374 w 1722"/>
                <a:gd name="T25" fmla="*/ 295 h 1557"/>
                <a:gd name="T26" fmla="*/ 367 w 1722"/>
                <a:gd name="T27" fmla="*/ 309 h 1557"/>
                <a:gd name="T28" fmla="*/ 358 w 1722"/>
                <a:gd name="T29" fmla="*/ 318 h 1557"/>
                <a:gd name="T30" fmla="*/ 368 w 1722"/>
                <a:gd name="T31" fmla="*/ 333 h 1557"/>
                <a:gd name="T32" fmla="*/ 375 w 1722"/>
                <a:gd name="T33" fmla="*/ 350 h 1557"/>
                <a:gd name="T34" fmla="*/ 380 w 1722"/>
                <a:gd name="T35" fmla="*/ 367 h 1557"/>
                <a:gd name="T36" fmla="*/ 334 w 1722"/>
                <a:gd name="T37" fmla="*/ 359 h 1557"/>
                <a:gd name="T38" fmla="*/ 299 w 1722"/>
                <a:gd name="T39" fmla="*/ 376 h 1557"/>
                <a:gd name="T40" fmla="*/ 275 w 1722"/>
                <a:gd name="T41" fmla="*/ 371 h 1557"/>
                <a:gd name="T42" fmla="*/ 237 w 1722"/>
                <a:gd name="T43" fmla="*/ 345 h 1557"/>
                <a:gd name="T44" fmla="*/ 183 w 1722"/>
                <a:gd name="T45" fmla="*/ 338 h 1557"/>
                <a:gd name="T46" fmla="*/ 134 w 1722"/>
                <a:gd name="T47" fmla="*/ 309 h 1557"/>
                <a:gd name="T48" fmla="*/ 93 w 1722"/>
                <a:gd name="T49" fmla="*/ 288 h 1557"/>
                <a:gd name="T50" fmla="*/ 118 w 1722"/>
                <a:gd name="T51" fmla="*/ 211 h 1557"/>
                <a:gd name="T52" fmla="*/ 133 w 1722"/>
                <a:gd name="T53" fmla="*/ 147 h 1557"/>
                <a:gd name="T54" fmla="*/ 106 w 1722"/>
                <a:gd name="T55" fmla="*/ 89 h 1557"/>
                <a:gd name="T56" fmla="*/ 45 w 1722"/>
                <a:gd name="T57" fmla="*/ 63 h 1557"/>
                <a:gd name="T58" fmla="*/ 12 w 1722"/>
                <a:gd name="T59" fmla="*/ 35 h 1557"/>
                <a:gd name="T60" fmla="*/ 9 w 1722"/>
                <a:gd name="T61" fmla="*/ 18 h 1557"/>
                <a:gd name="T62" fmla="*/ 25 w 1722"/>
                <a:gd name="T63" fmla="*/ 11 h 1557"/>
                <a:gd name="T64" fmla="*/ 45 w 1722"/>
                <a:gd name="T65" fmla="*/ 4 h 1557"/>
                <a:gd name="T66" fmla="*/ 61 w 1722"/>
                <a:gd name="T67" fmla="*/ 1 h 1557"/>
                <a:gd name="T68" fmla="*/ 82 w 1722"/>
                <a:gd name="T69" fmla="*/ 11 h 1557"/>
                <a:gd name="T70" fmla="*/ 94 w 1722"/>
                <a:gd name="T71" fmla="*/ 8 h 1557"/>
                <a:gd name="T72" fmla="*/ 104 w 1722"/>
                <a:gd name="T73" fmla="*/ 6 h 1557"/>
                <a:gd name="T74" fmla="*/ 127 w 1722"/>
                <a:gd name="T75" fmla="*/ 24 h 1557"/>
                <a:gd name="T76" fmla="*/ 146 w 1722"/>
                <a:gd name="T77" fmla="*/ 46 h 1557"/>
                <a:gd name="T78" fmla="*/ 160 w 1722"/>
                <a:gd name="T79" fmla="*/ 69 h 1557"/>
                <a:gd name="T80" fmla="*/ 175 w 1722"/>
                <a:gd name="T81" fmla="*/ 92 h 1557"/>
                <a:gd name="T82" fmla="*/ 184 w 1722"/>
                <a:gd name="T83" fmla="*/ 101 h 1557"/>
                <a:gd name="T84" fmla="*/ 194 w 1722"/>
                <a:gd name="T85" fmla="*/ 123 h 1557"/>
                <a:gd name="T86" fmla="*/ 206 w 1722"/>
                <a:gd name="T87" fmla="*/ 138 h 1557"/>
                <a:gd name="T88" fmla="*/ 225 w 1722"/>
                <a:gd name="T89" fmla="*/ 141 h 1557"/>
                <a:gd name="T90" fmla="*/ 245 w 1722"/>
                <a:gd name="T91" fmla="*/ 137 h 1557"/>
                <a:gd name="T92" fmla="*/ 267 w 1722"/>
                <a:gd name="T93" fmla="*/ 143 h 1557"/>
                <a:gd name="T94" fmla="*/ 281 w 1722"/>
                <a:gd name="T95" fmla="*/ 152 h 1557"/>
                <a:gd name="T96" fmla="*/ 293 w 1722"/>
                <a:gd name="T97" fmla="*/ 154 h 1557"/>
                <a:gd name="T98" fmla="*/ 298 w 1722"/>
                <a:gd name="T99" fmla="*/ 154 h 1557"/>
                <a:gd name="T100" fmla="*/ 300 w 1722"/>
                <a:gd name="T101" fmla="*/ 160 h 1557"/>
                <a:gd name="T102" fmla="*/ 308 w 1722"/>
                <a:gd name="T103" fmla="*/ 175 h 1557"/>
                <a:gd name="T104" fmla="*/ 317 w 1722"/>
                <a:gd name="T105" fmla="*/ 191 h 1557"/>
                <a:gd name="T106" fmla="*/ 329 w 1722"/>
                <a:gd name="T107" fmla="*/ 197 h 1557"/>
                <a:gd name="T108" fmla="*/ 350 w 1722"/>
                <a:gd name="T109" fmla="*/ 191 h 1557"/>
                <a:gd name="T110" fmla="*/ 368 w 1722"/>
                <a:gd name="T111" fmla="*/ 175 h 1557"/>
                <a:gd name="T112" fmla="*/ 382 w 1722"/>
                <a:gd name="T113" fmla="*/ 160 h 1557"/>
                <a:gd name="T114" fmla="*/ 396 w 1722"/>
                <a:gd name="T115" fmla="*/ 148 h 1557"/>
                <a:gd name="T116" fmla="*/ 414 w 1722"/>
                <a:gd name="T117" fmla="*/ 140 h 15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722"/>
                <a:gd name="T178" fmla="*/ 0 h 1557"/>
                <a:gd name="T179" fmla="*/ 1722 w 1722"/>
                <a:gd name="T180" fmla="*/ 1557 h 15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722" h="1557">
                  <a:moveTo>
                    <a:pt x="1673" y="557"/>
                  </a:moveTo>
                  <a:lnTo>
                    <a:pt x="1673" y="561"/>
                  </a:lnTo>
                  <a:lnTo>
                    <a:pt x="1673" y="575"/>
                  </a:lnTo>
                  <a:lnTo>
                    <a:pt x="1675" y="590"/>
                  </a:lnTo>
                  <a:lnTo>
                    <a:pt x="1675" y="606"/>
                  </a:lnTo>
                  <a:lnTo>
                    <a:pt x="1675" y="618"/>
                  </a:lnTo>
                  <a:lnTo>
                    <a:pt x="1681" y="628"/>
                  </a:lnTo>
                  <a:lnTo>
                    <a:pt x="1691" y="639"/>
                  </a:lnTo>
                  <a:lnTo>
                    <a:pt x="1702" y="649"/>
                  </a:lnTo>
                  <a:lnTo>
                    <a:pt x="1712" y="661"/>
                  </a:lnTo>
                  <a:lnTo>
                    <a:pt x="1714" y="673"/>
                  </a:lnTo>
                  <a:lnTo>
                    <a:pt x="1710" y="693"/>
                  </a:lnTo>
                  <a:lnTo>
                    <a:pt x="1698" y="712"/>
                  </a:lnTo>
                  <a:lnTo>
                    <a:pt x="1687" y="728"/>
                  </a:lnTo>
                  <a:lnTo>
                    <a:pt x="1681" y="736"/>
                  </a:lnTo>
                  <a:lnTo>
                    <a:pt x="1673" y="742"/>
                  </a:lnTo>
                  <a:lnTo>
                    <a:pt x="1669" y="752"/>
                  </a:lnTo>
                  <a:lnTo>
                    <a:pt x="1667" y="762"/>
                  </a:lnTo>
                  <a:lnTo>
                    <a:pt x="1673" y="773"/>
                  </a:lnTo>
                  <a:lnTo>
                    <a:pt x="1683" y="787"/>
                  </a:lnTo>
                  <a:lnTo>
                    <a:pt x="1697" y="799"/>
                  </a:lnTo>
                  <a:lnTo>
                    <a:pt x="1708" y="811"/>
                  </a:lnTo>
                  <a:lnTo>
                    <a:pt x="1718" y="823"/>
                  </a:lnTo>
                  <a:lnTo>
                    <a:pt x="1722" y="836"/>
                  </a:lnTo>
                  <a:lnTo>
                    <a:pt x="1720" y="852"/>
                  </a:lnTo>
                  <a:lnTo>
                    <a:pt x="1720" y="876"/>
                  </a:lnTo>
                  <a:lnTo>
                    <a:pt x="1718" y="905"/>
                  </a:lnTo>
                  <a:lnTo>
                    <a:pt x="1716" y="935"/>
                  </a:lnTo>
                  <a:lnTo>
                    <a:pt x="1714" y="964"/>
                  </a:lnTo>
                  <a:lnTo>
                    <a:pt x="1712" y="988"/>
                  </a:lnTo>
                  <a:lnTo>
                    <a:pt x="1708" y="1002"/>
                  </a:lnTo>
                  <a:lnTo>
                    <a:pt x="1697" y="1025"/>
                  </a:lnTo>
                  <a:lnTo>
                    <a:pt x="1687" y="1051"/>
                  </a:lnTo>
                  <a:lnTo>
                    <a:pt x="1675" y="1074"/>
                  </a:lnTo>
                  <a:lnTo>
                    <a:pt x="1667" y="1096"/>
                  </a:lnTo>
                  <a:lnTo>
                    <a:pt x="1667" y="1114"/>
                  </a:lnTo>
                  <a:lnTo>
                    <a:pt x="1667" y="1130"/>
                  </a:lnTo>
                  <a:lnTo>
                    <a:pt x="1669" y="1139"/>
                  </a:lnTo>
                  <a:lnTo>
                    <a:pt x="1671" y="1151"/>
                  </a:lnTo>
                  <a:lnTo>
                    <a:pt x="1671" y="1163"/>
                  </a:lnTo>
                  <a:lnTo>
                    <a:pt x="1667" y="1171"/>
                  </a:lnTo>
                  <a:lnTo>
                    <a:pt x="1655" y="1175"/>
                  </a:lnTo>
                  <a:lnTo>
                    <a:pt x="1639" y="1175"/>
                  </a:lnTo>
                  <a:lnTo>
                    <a:pt x="1614" y="1175"/>
                  </a:lnTo>
                  <a:lnTo>
                    <a:pt x="1586" y="1175"/>
                  </a:lnTo>
                  <a:lnTo>
                    <a:pt x="1561" y="1173"/>
                  </a:lnTo>
                  <a:lnTo>
                    <a:pt x="1539" y="1171"/>
                  </a:lnTo>
                  <a:lnTo>
                    <a:pt x="1529" y="1169"/>
                  </a:lnTo>
                  <a:lnTo>
                    <a:pt x="1521" y="1169"/>
                  </a:lnTo>
                  <a:lnTo>
                    <a:pt x="1511" y="1171"/>
                  </a:lnTo>
                  <a:lnTo>
                    <a:pt x="1502" y="1177"/>
                  </a:lnTo>
                  <a:lnTo>
                    <a:pt x="1496" y="1183"/>
                  </a:lnTo>
                  <a:lnTo>
                    <a:pt x="1492" y="1193"/>
                  </a:lnTo>
                  <a:lnTo>
                    <a:pt x="1486" y="1206"/>
                  </a:lnTo>
                  <a:lnTo>
                    <a:pt x="1478" y="1222"/>
                  </a:lnTo>
                  <a:lnTo>
                    <a:pt x="1468" y="1238"/>
                  </a:lnTo>
                  <a:lnTo>
                    <a:pt x="1458" y="1246"/>
                  </a:lnTo>
                  <a:lnTo>
                    <a:pt x="1445" y="1254"/>
                  </a:lnTo>
                  <a:lnTo>
                    <a:pt x="1435" y="1261"/>
                  </a:lnTo>
                  <a:lnTo>
                    <a:pt x="1429" y="1273"/>
                  </a:lnTo>
                  <a:lnTo>
                    <a:pt x="1433" y="1285"/>
                  </a:lnTo>
                  <a:lnTo>
                    <a:pt x="1443" y="1297"/>
                  </a:lnTo>
                  <a:lnTo>
                    <a:pt x="1456" y="1313"/>
                  </a:lnTo>
                  <a:lnTo>
                    <a:pt x="1470" y="1332"/>
                  </a:lnTo>
                  <a:lnTo>
                    <a:pt x="1480" y="1350"/>
                  </a:lnTo>
                  <a:lnTo>
                    <a:pt x="1486" y="1364"/>
                  </a:lnTo>
                  <a:lnTo>
                    <a:pt x="1492" y="1381"/>
                  </a:lnTo>
                  <a:lnTo>
                    <a:pt x="1498" y="1401"/>
                  </a:lnTo>
                  <a:lnTo>
                    <a:pt x="1504" y="1423"/>
                  </a:lnTo>
                  <a:lnTo>
                    <a:pt x="1510" y="1441"/>
                  </a:lnTo>
                  <a:lnTo>
                    <a:pt x="1513" y="1454"/>
                  </a:lnTo>
                  <a:lnTo>
                    <a:pt x="1517" y="1470"/>
                  </a:lnTo>
                  <a:lnTo>
                    <a:pt x="1521" y="1482"/>
                  </a:lnTo>
                  <a:lnTo>
                    <a:pt x="1523" y="1486"/>
                  </a:lnTo>
                  <a:lnTo>
                    <a:pt x="1480" y="1490"/>
                  </a:lnTo>
                  <a:lnTo>
                    <a:pt x="1336" y="1439"/>
                  </a:lnTo>
                  <a:lnTo>
                    <a:pt x="1287" y="1476"/>
                  </a:lnTo>
                  <a:lnTo>
                    <a:pt x="1271" y="1531"/>
                  </a:lnTo>
                  <a:lnTo>
                    <a:pt x="1248" y="1557"/>
                  </a:lnTo>
                  <a:lnTo>
                    <a:pt x="1195" y="1504"/>
                  </a:lnTo>
                  <a:lnTo>
                    <a:pt x="1151" y="1472"/>
                  </a:lnTo>
                  <a:lnTo>
                    <a:pt x="1130" y="1399"/>
                  </a:lnTo>
                  <a:lnTo>
                    <a:pt x="1090" y="1405"/>
                  </a:lnTo>
                  <a:lnTo>
                    <a:pt x="1100" y="1486"/>
                  </a:lnTo>
                  <a:lnTo>
                    <a:pt x="1067" y="1488"/>
                  </a:lnTo>
                  <a:lnTo>
                    <a:pt x="1019" y="1415"/>
                  </a:lnTo>
                  <a:lnTo>
                    <a:pt x="966" y="1429"/>
                  </a:lnTo>
                  <a:lnTo>
                    <a:pt x="950" y="1380"/>
                  </a:lnTo>
                  <a:lnTo>
                    <a:pt x="927" y="1348"/>
                  </a:lnTo>
                  <a:lnTo>
                    <a:pt x="807" y="1372"/>
                  </a:lnTo>
                  <a:lnTo>
                    <a:pt x="765" y="1322"/>
                  </a:lnTo>
                  <a:lnTo>
                    <a:pt x="730" y="1352"/>
                  </a:lnTo>
                  <a:lnTo>
                    <a:pt x="683" y="1348"/>
                  </a:lnTo>
                  <a:lnTo>
                    <a:pt x="620" y="1370"/>
                  </a:lnTo>
                  <a:lnTo>
                    <a:pt x="557" y="1301"/>
                  </a:lnTo>
                  <a:lnTo>
                    <a:pt x="533" y="1238"/>
                  </a:lnTo>
                  <a:lnTo>
                    <a:pt x="437" y="1261"/>
                  </a:lnTo>
                  <a:lnTo>
                    <a:pt x="401" y="1291"/>
                  </a:lnTo>
                  <a:lnTo>
                    <a:pt x="413" y="1208"/>
                  </a:lnTo>
                  <a:lnTo>
                    <a:pt x="372" y="1153"/>
                  </a:lnTo>
                  <a:lnTo>
                    <a:pt x="317" y="1094"/>
                  </a:lnTo>
                  <a:lnTo>
                    <a:pt x="332" y="1047"/>
                  </a:lnTo>
                  <a:lnTo>
                    <a:pt x="415" y="956"/>
                  </a:lnTo>
                  <a:lnTo>
                    <a:pt x="472" y="844"/>
                  </a:lnTo>
                  <a:lnTo>
                    <a:pt x="521" y="791"/>
                  </a:lnTo>
                  <a:lnTo>
                    <a:pt x="529" y="722"/>
                  </a:lnTo>
                  <a:lnTo>
                    <a:pt x="563" y="708"/>
                  </a:lnTo>
                  <a:lnTo>
                    <a:pt x="531" y="590"/>
                  </a:lnTo>
                  <a:lnTo>
                    <a:pt x="561" y="480"/>
                  </a:lnTo>
                  <a:lnTo>
                    <a:pt x="580" y="376"/>
                  </a:lnTo>
                  <a:lnTo>
                    <a:pt x="468" y="297"/>
                  </a:lnTo>
                  <a:lnTo>
                    <a:pt x="421" y="358"/>
                  </a:lnTo>
                  <a:lnTo>
                    <a:pt x="313" y="393"/>
                  </a:lnTo>
                  <a:lnTo>
                    <a:pt x="210" y="393"/>
                  </a:lnTo>
                  <a:lnTo>
                    <a:pt x="183" y="321"/>
                  </a:lnTo>
                  <a:lnTo>
                    <a:pt x="179" y="254"/>
                  </a:lnTo>
                  <a:lnTo>
                    <a:pt x="112" y="226"/>
                  </a:lnTo>
                  <a:lnTo>
                    <a:pt x="88" y="273"/>
                  </a:lnTo>
                  <a:lnTo>
                    <a:pt x="0" y="222"/>
                  </a:lnTo>
                  <a:lnTo>
                    <a:pt x="45" y="140"/>
                  </a:lnTo>
                  <a:lnTo>
                    <a:pt x="6" y="90"/>
                  </a:lnTo>
                  <a:lnTo>
                    <a:pt x="10" y="88"/>
                  </a:lnTo>
                  <a:lnTo>
                    <a:pt x="19" y="83"/>
                  </a:lnTo>
                  <a:lnTo>
                    <a:pt x="33" y="75"/>
                  </a:lnTo>
                  <a:lnTo>
                    <a:pt x="51" y="65"/>
                  </a:lnTo>
                  <a:lnTo>
                    <a:pt x="69" y="57"/>
                  </a:lnTo>
                  <a:lnTo>
                    <a:pt x="84" y="49"/>
                  </a:lnTo>
                  <a:lnTo>
                    <a:pt x="98" y="45"/>
                  </a:lnTo>
                  <a:lnTo>
                    <a:pt x="112" y="41"/>
                  </a:lnTo>
                  <a:lnTo>
                    <a:pt x="134" y="35"/>
                  </a:lnTo>
                  <a:lnTo>
                    <a:pt x="155" y="25"/>
                  </a:lnTo>
                  <a:lnTo>
                    <a:pt x="179" y="18"/>
                  </a:lnTo>
                  <a:lnTo>
                    <a:pt x="197" y="8"/>
                  </a:lnTo>
                  <a:lnTo>
                    <a:pt x="208" y="4"/>
                  </a:lnTo>
                  <a:lnTo>
                    <a:pt x="224" y="0"/>
                  </a:lnTo>
                  <a:lnTo>
                    <a:pt x="244" y="4"/>
                  </a:lnTo>
                  <a:lnTo>
                    <a:pt x="267" y="14"/>
                  </a:lnTo>
                  <a:lnTo>
                    <a:pt x="293" y="25"/>
                  </a:lnTo>
                  <a:lnTo>
                    <a:pt x="313" y="39"/>
                  </a:lnTo>
                  <a:lnTo>
                    <a:pt x="328" y="47"/>
                  </a:lnTo>
                  <a:lnTo>
                    <a:pt x="344" y="51"/>
                  </a:lnTo>
                  <a:lnTo>
                    <a:pt x="358" y="49"/>
                  </a:lnTo>
                  <a:lnTo>
                    <a:pt x="366" y="43"/>
                  </a:lnTo>
                  <a:lnTo>
                    <a:pt x="374" y="35"/>
                  </a:lnTo>
                  <a:lnTo>
                    <a:pt x="380" y="27"/>
                  </a:lnTo>
                  <a:lnTo>
                    <a:pt x="387" y="21"/>
                  </a:lnTo>
                  <a:lnTo>
                    <a:pt x="397" y="21"/>
                  </a:lnTo>
                  <a:lnTo>
                    <a:pt x="413" y="25"/>
                  </a:lnTo>
                  <a:lnTo>
                    <a:pt x="447" y="39"/>
                  </a:lnTo>
                  <a:lnTo>
                    <a:pt x="472" y="53"/>
                  </a:lnTo>
                  <a:lnTo>
                    <a:pt x="492" y="73"/>
                  </a:lnTo>
                  <a:lnTo>
                    <a:pt x="510" y="96"/>
                  </a:lnTo>
                  <a:lnTo>
                    <a:pt x="531" y="118"/>
                  </a:lnTo>
                  <a:lnTo>
                    <a:pt x="551" y="142"/>
                  </a:lnTo>
                  <a:lnTo>
                    <a:pt x="567" y="163"/>
                  </a:lnTo>
                  <a:lnTo>
                    <a:pt x="582" y="187"/>
                  </a:lnTo>
                  <a:lnTo>
                    <a:pt x="598" y="212"/>
                  </a:lnTo>
                  <a:lnTo>
                    <a:pt x="610" y="232"/>
                  </a:lnTo>
                  <a:lnTo>
                    <a:pt x="622" y="256"/>
                  </a:lnTo>
                  <a:lnTo>
                    <a:pt x="637" y="279"/>
                  </a:lnTo>
                  <a:lnTo>
                    <a:pt x="655" y="303"/>
                  </a:lnTo>
                  <a:lnTo>
                    <a:pt x="673" y="325"/>
                  </a:lnTo>
                  <a:lnTo>
                    <a:pt x="689" y="348"/>
                  </a:lnTo>
                  <a:lnTo>
                    <a:pt x="698" y="368"/>
                  </a:lnTo>
                  <a:lnTo>
                    <a:pt x="704" y="378"/>
                  </a:lnTo>
                  <a:lnTo>
                    <a:pt x="714" y="386"/>
                  </a:lnTo>
                  <a:lnTo>
                    <a:pt x="726" y="393"/>
                  </a:lnTo>
                  <a:lnTo>
                    <a:pt x="736" y="405"/>
                  </a:lnTo>
                  <a:lnTo>
                    <a:pt x="742" y="417"/>
                  </a:lnTo>
                  <a:lnTo>
                    <a:pt x="750" y="445"/>
                  </a:lnTo>
                  <a:lnTo>
                    <a:pt x="761" y="470"/>
                  </a:lnTo>
                  <a:lnTo>
                    <a:pt x="773" y="492"/>
                  </a:lnTo>
                  <a:lnTo>
                    <a:pt x="783" y="508"/>
                  </a:lnTo>
                  <a:lnTo>
                    <a:pt x="795" y="527"/>
                  </a:lnTo>
                  <a:lnTo>
                    <a:pt x="809" y="543"/>
                  </a:lnTo>
                  <a:lnTo>
                    <a:pt x="824" y="555"/>
                  </a:lnTo>
                  <a:lnTo>
                    <a:pt x="840" y="561"/>
                  </a:lnTo>
                  <a:lnTo>
                    <a:pt x="862" y="567"/>
                  </a:lnTo>
                  <a:lnTo>
                    <a:pt x="882" y="569"/>
                  </a:lnTo>
                  <a:lnTo>
                    <a:pt x="901" y="565"/>
                  </a:lnTo>
                  <a:lnTo>
                    <a:pt x="919" y="559"/>
                  </a:lnTo>
                  <a:lnTo>
                    <a:pt x="941" y="553"/>
                  </a:lnTo>
                  <a:lnTo>
                    <a:pt x="960" y="549"/>
                  </a:lnTo>
                  <a:lnTo>
                    <a:pt x="982" y="551"/>
                  </a:lnTo>
                  <a:lnTo>
                    <a:pt x="1004" y="559"/>
                  </a:lnTo>
                  <a:lnTo>
                    <a:pt x="1029" y="563"/>
                  </a:lnTo>
                  <a:lnTo>
                    <a:pt x="1051" y="569"/>
                  </a:lnTo>
                  <a:lnTo>
                    <a:pt x="1065" y="575"/>
                  </a:lnTo>
                  <a:lnTo>
                    <a:pt x="1073" y="580"/>
                  </a:lnTo>
                  <a:lnTo>
                    <a:pt x="1086" y="588"/>
                  </a:lnTo>
                  <a:lnTo>
                    <a:pt x="1104" y="598"/>
                  </a:lnTo>
                  <a:lnTo>
                    <a:pt x="1122" y="608"/>
                  </a:lnTo>
                  <a:lnTo>
                    <a:pt x="1139" y="616"/>
                  </a:lnTo>
                  <a:lnTo>
                    <a:pt x="1155" y="620"/>
                  </a:lnTo>
                  <a:lnTo>
                    <a:pt x="1167" y="620"/>
                  </a:lnTo>
                  <a:lnTo>
                    <a:pt x="1171" y="618"/>
                  </a:lnTo>
                  <a:lnTo>
                    <a:pt x="1177" y="614"/>
                  </a:lnTo>
                  <a:lnTo>
                    <a:pt x="1181" y="614"/>
                  </a:lnTo>
                  <a:lnTo>
                    <a:pt x="1185" y="614"/>
                  </a:lnTo>
                  <a:lnTo>
                    <a:pt x="1189" y="616"/>
                  </a:lnTo>
                  <a:lnTo>
                    <a:pt x="1191" y="618"/>
                  </a:lnTo>
                  <a:lnTo>
                    <a:pt x="1193" y="624"/>
                  </a:lnTo>
                  <a:lnTo>
                    <a:pt x="1195" y="632"/>
                  </a:lnTo>
                  <a:lnTo>
                    <a:pt x="1197" y="641"/>
                  </a:lnTo>
                  <a:lnTo>
                    <a:pt x="1202" y="659"/>
                  </a:lnTo>
                  <a:lnTo>
                    <a:pt x="1212" y="675"/>
                  </a:lnTo>
                  <a:lnTo>
                    <a:pt x="1224" y="687"/>
                  </a:lnTo>
                  <a:lnTo>
                    <a:pt x="1232" y="701"/>
                  </a:lnTo>
                  <a:lnTo>
                    <a:pt x="1238" y="714"/>
                  </a:lnTo>
                  <a:lnTo>
                    <a:pt x="1244" y="734"/>
                  </a:lnTo>
                  <a:lnTo>
                    <a:pt x="1254" y="754"/>
                  </a:lnTo>
                  <a:lnTo>
                    <a:pt x="1265" y="767"/>
                  </a:lnTo>
                  <a:lnTo>
                    <a:pt x="1277" y="775"/>
                  </a:lnTo>
                  <a:lnTo>
                    <a:pt x="1289" y="779"/>
                  </a:lnTo>
                  <a:lnTo>
                    <a:pt x="1299" y="785"/>
                  </a:lnTo>
                  <a:lnTo>
                    <a:pt x="1313" y="789"/>
                  </a:lnTo>
                  <a:lnTo>
                    <a:pt x="1328" y="785"/>
                  </a:lnTo>
                  <a:lnTo>
                    <a:pt x="1348" y="777"/>
                  </a:lnTo>
                  <a:lnTo>
                    <a:pt x="1374" y="773"/>
                  </a:lnTo>
                  <a:lnTo>
                    <a:pt x="1399" y="767"/>
                  </a:lnTo>
                  <a:lnTo>
                    <a:pt x="1423" y="760"/>
                  </a:lnTo>
                  <a:lnTo>
                    <a:pt x="1447" y="742"/>
                  </a:lnTo>
                  <a:lnTo>
                    <a:pt x="1462" y="722"/>
                  </a:lnTo>
                  <a:lnTo>
                    <a:pt x="1472" y="701"/>
                  </a:lnTo>
                  <a:lnTo>
                    <a:pt x="1480" y="689"/>
                  </a:lnTo>
                  <a:lnTo>
                    <a:pt x="1494" y="675"/>
                  </a:lnTo>
                  <a:lnTo>
                    <a:pt x="1510" y="659"/>
                  </a:lnTo>
                  <a:lnTo>
                    <a:pt x="1527" y="643"/>
                  </a:lnTo>
                  <a:lnTo>
                    <a:pt x="1543" y="628"/>
                  </a:lnTo>
                  <a:lnTo>
                    <a:pt x="1557" y="616"/>
                  </a:lnTo>
                  <a:lnTo>
                    <a:pt x="1572" y="604"/>
                  </a:lnTo>
                  <a:lnTo>
                    <a:pt x="1584" y="594"/>
                  </a:lnTo>
                  <a:lnTo>
                    <a:pt x="1598" y="586"/>
                  </a:lnTo>
                  <a:lnTo>
                    <a:pt x="1614" y="577"/>
                  </a:lnTo>
                  <a:lnTo>
                    <a:pt x="1634" y="567"/>
                  </a:lnTo>
                  <a:lnTo>
                    <a:pt x="1653" y="561"/>
                  </a:lnTo>
                  <a:lnTo>
                    <a:pt x="1667" y="557"/>
                  </a:lnTo>
                  <a:lnTo>
                    <a:pt x="1673" y="557"/>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0" name="Freeform 104"/>
            <p:cNvSpPr/>
            <p:nvPr/>
          </p:nvSpPr>
          <p:spPr bwMode="gray">
            <a:xfrm>
              <a:off x="3599" y="839"/>
              <a:ext cx="861" cy="778"/>
            </a:xfrm>
            <a:custGeom>
              <a:avLst/>
              <a:gdLst>
                <a:gd name="T0" fmla="*/ 419 w 1722"/>
                <a:gd name="T1" fmla="*/ 147 h 1557"/>
                <a:gd name="T2" fmla="*/ 423 w 1722"/>
                <a:gd name="T3" fmla="*/ 159 h 1557"/>
                <a:gd name="T4" fmla="*/ 428 w 1722"/>
                <a:gd name="T5" fmla="*/ 173 h 1557"/>
                <a:gd name="T6" fmla="*/ 419 w 1722"/>
                <a:gd name="T7" fmla="*/ 185 h 1557"/>
                <a:gd name="T8" fmla="*/ 421 w 1722"/>
                <a:gd name="T9" fmla="*/ 196 h 1557"/>
                <a:gd name="T10" fmla="*/ 431 w 1722"/>
                <a:gd name="T11" fmla="*/ 209 h 1557"/>
                <a:gd name="T12" fmla="*/ 429 w 1722"/>
                <a:gd name="T13" fmla="*/ 233 h 1557"/>
                <a:gd name="T14" fmla="*/ 425 w 1722"/>
                <a:gd name="T15" fmla="*/ 256 h 1557"/>
                <a:gd name="T16" fmla="*/ 417 w 1722"/>
                <a:gd name="T17" fmla="*/ 278 h 1557"/>
                <a:gd name="T18" fmla="*/ 418 w 1722"/>
                <a:gd name="T19" fmla="*/ 290 h 1557"/>
                <a:gd name="T20" fmla="*/ 404 w 1722"/>
                <a:gd name="T21" fmla="*/ 293 h 1557"/>
                <a:gd name="T22" fmla="*/ 383 w 1722"/>
                <a:gd name="T23" fmla="*/ 292 h 1557"/>
                <a:gd name="T24" fmla="*/ 374 w 1722"/>
                <a:gd name="T25" fmla="*/ 295 h 1557"/>
                <a:gd name="T26" fmla="*/ 367 w 1722"/>
                <a:gd name="T27" fmla="*/ 309 h 1557"/>
                <a:gd name="T28" fmla="*/ 358 w 1722"/>
                <a:gd name="T29" fmla="*/ 318 h 1557"/>
                <a:gd name="T30" fmla="*/ 368 w 1722"/>
                <a:gd name="T31" fmla="*/ 333 h 1557"/>
                <a:gd name="T32" fmla="*/ 375 w 1722"/>
                <a:gd name="T33" fmla="*/ 350 h 1557"/>
                <a:gd name="T34" fmla="*/ 380 w 1722"/>
                <a:gd name="T35" fmla="*/ 367 h 1557"/>
                <a:gd name="T36" fmla="*/ 334 w 1722"/>
                <a:gd name="T37" fmla="*/ 359 h 1557"/>
                <a:gd name="T38" fmla="*/ 299 w 1722"/>
                <a:gd name="T39" fmla="*/ 376 h 1557"/>
                <a:gd name="T40" fmla="*/ 275 w 1722"/>
                <a:gd name="T41" fmla="*/ 371 h 1557"/>
                <a:gd name="T42" fmla="*/ 237 w 1722"/>
                <a:gd name="T43" fmla="*/ 345 h 1557"/>
                <a:gd name="T44" fmla="*/ 183 w 1722"/>
                <a:gd name="T45" fmla="*/ 338 h 1557"/>
                <a:gd name="T46" fmla="*/ 134 w 1722"/>
                <a:gd name="T47" fmla="*/ 309 h 1557"/>
                <a:gd name="T48" fmla="*/ 93 w 1722"/>
                <a:gd name="T49" fmla="*/ 288 h 1557"/>
                <a:gd name="T50" fmla="*/ 118 w 1722"/>
                <a:gd name="T51" fmla="*/ 211 h 1557"/>
                <a:gd name="T52" fmla="*/ 133 w 1722"/>
                <a:gd name="T53" fmla="*/ 147 h 1557"/>
                <a:gd name="T54" fmla="*/ 106 w 1722"/>
                <a:gd name="T55" fmla="*/ 89 h 1557"/>
                <a:gd name="T56" fmla="*/ 45 w 1722"/>
                <a:gd name="T57" fmla="*/ 63 h 1557"/>
                <a:gd name="T58" fmla="*/ 12 w 1722"/>
                <a:gd name="T59" fmla="*/ 35 h 1557"/>
                <a:gd name="T60" fmla="*/ 9 w 1722"/>
                <a:gd name="T61" fmla="*/ 18 h 1557"/>
                <a:gd name="T62" fmla="*/ 25 w 1722"/>
                <a:gd name="T63" fmla="*/ 11 h 1557"/>
                <a:gd name="T64" fmla="*/ 45 w 1722"/>
                <a:gd name="T65" fmla="*/ 4 h 1557"/>
                <a:gd name="T66" fmla="*/ 61 w 1722"/>
                <a:gd name="T67" fmla="*/ 1 h 1557"/>
                <a:gd name="T68" fmla="*/ 82 w 1722"/>
                <a:gd name="T69" fmla="*/ 11 h 1557"/>
                <a:gd name="T70" fmla="*/ 94 w 1722"/>
                <a:gd name="T71" fmla="*/ 8 h 1557"/>
                <a:gd name="T72" fmla="*/ 104 w 1722"/>
                <a:gd name="T73" fmla="*/ 6 h 1557"/>
                <a:gd name="T74" fmla="*/ 127 w 1722"/>
                <a:gd name="T75" fmla="*/ 24 h 1557"/>
                <a:gd name="T76" fmla="*/ 146 w 1722"/>
                <a:gd name="T77" fmla="*/ 46 h 1557"/>
                <a:gd name="T78" fmla="*/ 160 w 1722"/>
                <a:gd name="T79" fmla="*/ 69 h 1557"/>
                <a:gd name="T80" fmla="*/ 175 w 1722"/>
                <a:gd name="T81" fmla="*/ 92 h 1557"/>
                <a:gd name="T82" fmla="*/ 184 w 1722"/>
                <a:gd name="T83" fmla="*/ 101 h 1557"/>
                <a:gd name="T84" fmla="*/ 194 w 1722"/>
                <a:gd name="T85" fmla="*/ 123 h 1557"/>
                <a:gd name="T86" fmla="*/ 206 w 1722"/>
                <a:gd name="T87" fmla="*/ 138 h 1557"/>
                <a:gd name="T88" fmla="*/ 225 w 1722"/>
                <a:gd name="T89" fmla="*/ 141 h 1557"/>
                <a:gd name="T90" fmla="*/ 245 w 1722"/>
                <a:gd name="T91" fmla="*/ 137 h 1557"/>
                <a:gd name="T92" fmla="*/ 267 w 1722"/>
                <a:gd name="T93" fmla="*/ 143 h 1557"/>
                <a:gd name="T94" fmla="*/ 281 w 1722"/>
                <a:gd name="T95" fmla="*/ 152 h 1557"/>
                <a:gd name="T96" fmla="*/ 293 w 1722"/>
                <a:gd name="T97" fmla="*/ 154 h 1557"/>
                <a:gd name="T98" fmla="*/ 298 w 1722"/>
                <a:gd name="T99" fmla="*/ 154 h 1557"/>
                <a:gd name="T100" fmla="*/ 300 w 1722"/>
                <a:gd name="T101" fmla="*/ 160 h 1557"/>
                <a:gd name="T102" fmla="*/ 308 w 1722"/>
                <a:gd name="T103" fmla="*/ 175 h 1557"/>
                <a:gd name="T104" fmla="*/ 317 w 1722"/>
                <a:gd name="T105" fmla="*/ 191 h 1557"/>
                <a:gd name="T106" fmla="*/ 329 w 1722"/>
                <a:gd name="T107" fmla="*/ 197 h 1557"/>
                <a:gd name="T108" fmla="*/ 350 w 1722"/>
                <a:gd name="T109" fmla="*/ 191 h 1557"/>
                <a:gd name="T110" fmla="*/ 368 w 1722"/>
                <a:gd name="T111" fmla="*/ 175 h 1557"/>
                <a:gd name="T112" fmla="*/ 382 w 1722"/>
                <a:gd name="T113" fmla="*/ 160 h 1557"/>
                <a:gd name="T114" fmla="*/ 396 w 1722"/>
                <a:gd name="T115" fmla="*/ 148 h 1557"/>
                <a:gd name="T116" fmla="*/ 414 w 1722"/>
                <a:gd name="T117" fmla="*/ 140 h 15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722"/>
                <a:gd name="T178" fmla="*/ 0 h 1557"/>
                <a:gd name="T179" fmla="*/ 1722 w 1722"/>
                <a:gd name="T180" fmla="*/ 1557 h 15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722" h="1557">
                  <a:moveTo>
                    <a:pt x="1673" y="557"/>
                  </a:moveTo>
                  <a:lnTo>
                    <a:pt x="1673" y="561"/>
                  </a:lnTo>
                  <a:lnTo>
                    <a:pt x="1673" y="575"/>
                  </a:lnTo>
                  <a:lnTo>
                    <a:pt x="1675" y="590"/>
                  </a:lnTo>
                  <a:lnTo>
                    <a:pt x="1675" y="606"/>
                  </a:lnTo>
                  <a:lnTo>
                    <a:pt x="1675" y="618"/>
                  </a:lnTo>
                  <a:lnTo>
                    <a:pt x="1681" y="628"/>
                  </a:lnTo>
                  <a:lnTo>
                    <a:pt x="1691" y="639"/>
                  </a:lnTo>
                  <a:lnTo>
                    <a:pt x="1702" y="649"/>
                  </a:lnTo>
                  <a:lnTo>
                    <a:pt x="1712" y="661"/>
                  </a:lnTo>
                  <a:lnTo>
                    <a:pt x="1714" y="673"/>
                  </a:lnTo>
                  <a:lnTo>
                    <a:pt x="1710" y="693"/>
                  </a:lnTo>
                  <a:lnTo>
                    <a:pt x="1698" y="712"/>
                  </a:lnTo>
                  <a:lnTo>
                    <a:pt x="1687" y="728"/>
                  </a:lnTo>
                  <a:lnTo>
                    <a:pt x="1681" y="736"/>
                  </a:lnTo>
                  <a:lnTo>
                    <a:pt x="1673" y="742"/>
                  </a:lnTo>
                  <a:lnTo>
                    <a:pt x="1669" y="752"/>
                  </a:lnTo>
                  <a:lnTo>
                    <a:pt x="1667" y="762"/>
                  </a:lnTo>
                  <a:lnTo>
                    <a:pt x="1673" y="773"/>
                  </a:lnTo>
                  <a:lnTo>
                    <a:pt x="1683" y="787"/>
                  </a:lnTo>
                  <a:lnTo>
                    <a:pt x="1697" y="799"/>
                  </a:lnTo>
                  <a:lnTo>
                    <a:pt x="1708" y="811"/>
                  </a:lnTo>
                  <a:lnTo>
                    <a:pt x="1718" y="823"/>
                  </a:lnTo>
                  <a:lnTo>
                    <a:pt x="1722" y="836"/>
                  </a:lnTo>
                  <a:lnTo>
                    <a:pt x="1720" y="852"/>
                  </a:lnTo>
                  <a:lnTo>
                    <a:pt x="1720" y="876"/>
                  </a:lnTo>
                  <a:lnTo>
                    <a:pt x="1718" y="905"/>
                  </a:lnTo>
                  <a:lnTo>
                    <a:pt x="1716" y="935"/>
                  </a:lnTo>
                  <a:lnTo>
                    <a:pt x="1714" y="964"/>
                  </a:lnTo>
                  <a:lnTo>
                    <a:pt x="1712" y="988"/>
                  </a:lnTo>
                  <a:lnTo>
                    <a:pt x="1708" y="1002"/>
                  </a:lnTo>
                  <a:lnTo>
                    <a:pt x="1697" y="1025"/>
                  </a:lnTo>
                  <a:lnTo>
                    <a:pt x="1687" y="1051"/>
                  </a:lnTo>
                  <a:lnTo>
                    <a:pt x="1675" y="1074"/>
                  </a:lnTo>
                  <a:lnTo>
                    <a:pt x="1667" y="1096"/>
                  </a:lnTo>
                  <a:lnTo>
                    <a:pt x="1667" y="1114"/>
                  </a:lnTo>
                  <a:lnTo>
                    <a:pt x="1667" y="1130"/>
                  </a:lnTo>
                  <a:lnTo>
                    <a:pt x="1669" y="1139"/>
                  </a:lnTo>
                  <a:lnTo>
                    <a:pt x="1671" y="1151"/>
                  </a:lnTo>
                  <a:lnTo>
                    <a:pt x="1671" y="1163"/>
                  </a:lnTo>
                  <a:lnTo>
                    <a:pt x="1667" y="1171"/>
                  </a:lnTo>
                  <a:lnTo>
                    <a:pt x="1655" y="1175"/>
                  </a:lnTo>
                  <a:lnTo>
                    <a:pt x="1639" y="1175"/>
                  </a:lnTo>
                  <a:lnTo>
                    <a:pt x="1614" y="1175"/>
                  </a:lnTo>
                  <a:lnTo>
                    <a:pt x="1586" y="1175"/>
                  </a:lnTo>
                  <a:lnTo>
                    <a:pt x="1561" y="1173"/>
                  </a:lnTo>
                  <a:lnTo>
                    <a:pt x="1539" y="1171"/>
                  </a:lnTo>
                  <a:lnTo>
                    <a:pt x="1529" y="1169"/>
                  </a:lnTo>
                  <a:lnTo>
                    <a:pt x="1521" y="1169"/>
                  </a:lnTo>
                  <a:lnTo>
                    <a:pt x="1511" y="1171"/>
                  </a:lnTo>
                  <a:lnTo>
                    <a:pt x="1502" y="1177"/>
                  </a:lnTo>
                  <a:lnTo>
                    <a:pt x="1496" y="1183"/>
                  </a:lnTo>
                  <a:lnTo>
                    <a:pt x="1492" y="1193"/>
                  </a:lnTo>
                  <a:lnTo>
                    <a:pt x="1486" y="1206"/>
                  </a:lnTo>
                  <a:lnTo>
                    <a:pt x="1478" y="1222"/>
                  </a:lnTo>
                  <a:lnTo>
                    <a:pt x="1468" y="1238"/>
                  </a:lnTo>
                  <a:lnTo>
                    <a:pt x="1458" y="1246"/>
                  </a:lnTo>
                  <a:lnTo>
                    <a:pt x="1445" y="1254"/>
                  </a:lnTo>
                  <a:lnTo>
                    <a:pt x="1435" y="1261"/>
                  </a:lnTo>
                  <a:lnTo>
                    <a:pt x="1429" y="1273"/>
                  </a:lnTo>
                  <a:lnTo>
                    <a:pt x="1433" y="1285"/>
                  </a:lnTo>
                  <a:lnTo>
                    <a:pt x="1443" y="1297"/>
                  </a:lnTo>
                  <a:lnTo>
                    <a:pt x="1456" y="1313"/>
                  </a:lnTo>
                  <a:lnTo>
                    <a:pt x="1470" y="1332"/>
                  </a:lnTo>
                  <a:lnTo>
                    <a:pt x="1480" y="1350"/>
                  </a:lnTo>
                  <a:lnTo>
                    <a:pt x="1486" y="1364"/>
                  </a:lnTo>
                  <a:lnTo>
                    <a:pt x="1492" y="1381"/>
                  </a:lnTo>
                  <a:lnTo>
                    <a:pt x="1498" y="1401"/>
                  </a:lnTo>
                  <a:lnTo>
                    <a:pt x="1504" y="1423"/>
                  </a:lnTo>
                  <a:lnTo>
                    <a:pt x="1510" y="1441"/>
                  </a:lnTo>
                  <a:lnTo>
                    <a:pt x="1513" y="1454"/>
                  </a:lnTo>
                  <a:lnTo>
                    <a:pt x="1517" y="1470"/>
                  </a:lnTo>
                  <a:lnTo>
                    <a:pt x="1521" y="1482"/>
                  </a:lnTo>
                  <a:lnTo>
                    <a:pt x="1523" y="1486"/>
                  </a:lnTo>
                  <a:lnTo>
                    <a:pt x="1480" y="1490"/>
                  </a:lnTo>
                  <a:lnTo>
                    <a:pt x="1336" y="1439"/>
                  </a:lnTo>
                  <a:lnTo>
                    <a:pt x="1287" y="1476"/>
                  </a:lnTo>
                  <a:lnTo>
                    <a:pt x="1271" y="1531"/>
                  </a:lnTo>
                  <a:lnTo>
                    <a:pt x="1248" y="1557"/>
                  </a:lnTo>
                  <a:lnTo>
                    <a:pt x="1195" y="1504"/>
                  </a:lnTo>
                  <a:lnTo>
                    <a:pt x="1151" y="1472"/>
                  </a:lnTo>
                  <a:lnTo>
                    <a:pt x="1130" y="1399"/>
                  </a:lnTo>
                  <a:lnTo>
                    <a:pt x="1090" y="1405"/>
                  </a:lnTo>
                  <a:lnTo>
                    <a:pt x="1100" y="1486"/>
                  </a:lnTo>
                  <a:lnTo>
                    <a:pt x="1067" y="1488"/>
                  </a:lnTo>
                  <a:lnTo>
                    <a:pt x="1019" y="1415"/>
                  </a:lnTo>
                  <a:lnTo>
                    <a:pt x="966" y="1429"/>
                  </a:lnTo>
                  <a:lnTo>
                    <a:pt x="950" y="1380"/>
                  </a:lnTo>
                  <a:lnTo>
                    <a:pt x="927" y="1348"/>
                  </a:lnTo>
                  <a:lnTo>
                    <a:pt x="807" y="1372"/>
                  </a:lnTo>
                  <a:lnTo>
                    <a:pt x="765" y="1322"/>
                  </a:lnTo>
                  <a:lnTo>
                    <a:pt x="730" y="1352"/>
                  </a:lnTo>
                  <a:lnTo>
                    <a:pt x="683" y="1348"/>
                  </a:lnTo>
                  <a:lnTo>
                    <a:pt x="620" y="1370"/>
                  </a:lnTo>
                  <a:lnTo>
                    <a:pt x="557" y="1301"/>
                  </a:lnTo>
                  <a:lnTo>
                    <a:pt x="533" y="1238"/>
                  </a:lnTo>
                  <a:lnTo>
                    <a:pt x="437" y="1261"/>
                  </a:lnTo>
                  <a:lnTo>
                    <a:pt x="401" y="1291"/>
                  </a:lnTo>
                  <a:lnTo>
                    <a:pt x="413" y="1208"/>
                  </a:lnTo>
                  <a:lnTo>
                    <a:pt x="372" y="1153"/>
                  </a:lnTo>
                  <a:lnTo>
                    <a:pt x="317" y="1094"/>
                  </a:lnTo>
                  <a:lnTo>
                    <a:pt x="332" y="1047"/>
                  </a:lnTo>
                  <a:lnTo>
                    <a:pt x="415" y="956"/>
                  </a:lnTo>
                  <a:lnTo>
                    <a:pt x="472" y="844"/>
                  </a:lnTo>
                  <a:lnTo>
                    <a:pt x="521" y="791"/>
                  </a:lnTo>
                  <a:lnTo>
                    <a:pt x="529" y="722"/>
                  </a:lnTo>
                  <a:lnTo>
                    <a:pt x="563" y="708"/>
                  </a:lnTo>
                  <a:lnTo>
                    <a:pt x="531" y="590"/>
                  </a:lnTo>
                  <a:lnTo>
                    <a:pt x="561" y="480"/>
                  </a:lnTo>
                  <a:lnTo>
                    <a:pt x="580" y="376"/>
                  </a:lnTo>
                  <a:lnTo>
                    <a:pt x="468" y="297"/>
                  </a:lnTo>
                  <a:lnTo>
                    <a:pt x="421" y="358"/>
                  </a:lnTo>
                  <a:lnTo>
                    <a:pt x="313" y="393"/>
                  </a:lnTo>
                  <a:lnTo>
                    <a:pt x="210" y="393"/>
                  </a:lnTo>
                  <a:lnTo>
                    <a:pt x="183" y="321"/>
                  </a:lnTo>
                  <a:lnTo>
                    <a:pt x="179" y="254"/>
                  </a:lnTo>
                  <a:lnTo>
                    <a:pt x="112" y="226"/>
                  </a:lnTo>
                  <a:lnTo>
                    <a:pt x="88" y="273"/>
                  </a:lnTo>
                  <a:lnTo>
                    <a:pt x="0" y="222"/>
                  </a:lnTo>
                  <a:lnTo>
                    <a:pt x="45" y="140"/>
                  </a:lnTo>
                  <a:lnTo>
                    <a:pt x="6" y="90"/>
                  </a:lnTo>
                  <a:lnTo>
                    <a:pt x="10" y="88"/>
                  </a:lnTo>
                  <a:lnTo>
                    <a:pt x="19" y="83"/>
                  </a:lnTo>
                  <a:lnTo>
                    <a:pt x="33" y="75"/>
                  </a:lnTo>
                  <a:lnTo>
                    <a:pt x="51" y="65"/>
                  </a:lnTo>
                  <a:lnTo>
                    <a:pt x="69" y="57"/>
                  </a:lnTo>
                  <a:lnTo>
                    <a:pt x="84" y="49"/>
                  </a:lnTo>
                  <a:lnTo>
                    <a:pt x="98" y="45"/>
                  </a:lnTo>
                  <a:lnTo>
                    <a:pt x="112" y="41"/>
                  </a:lnTo>
                  <a:lnTo>
                    <a:pt x="134" y="35"/>
                  </a:lnTo>
                  <a:lnTo>
                    <a:pt x="155" y="25"/>
                  </a:lnTo>
                  <a:lnTo>
                    <a:pt x="179" y="18"/>
                  </a:lnTo>
                  <a:lnTo>
                    <a:pt x="197" y="8"/>
                  </a:lnTo>
                  <a:lnTo>
                    <a:pt x="208" y="4"/>
                  </a:lnTo>
                  <a:lnTo>
                    <a:pt x="224" y="0"/>
                  </a:lnTo>
                  <a:lnTo>
                    <a:pt x="244" y="4"/>
                  </a:lnTo>
                  <a:lnTo>
                    <a:pt x="267" y="14"/>
                  </a:lnTo>
                  <a:lnTo>
                    <a:pt x="293" y="25"/>
                  </a:lnTo>
                  <a:lnTo>
                    <a:pt x="313" y="39"/>
                  </a:lnTo>
                  <a:lnTo>
                    <a:pt x="328" y="47"/>
                  </a:lnTo>
                  <a:lnTo>
                    <a:pt x="344" y="51"/>
                  </a:lnTo>
                  <a:lnTo>
                    <a:pt x="358" y="49"/>
                  </a:lnTo>
                  <a:lnTo>
                    <a:pt x="366" y="43"/>
                  </a:lnTo>
                  <a:lnTo>
                    <a:pt x="374" y="35"/>
                  </a:lnTo>
                  <a:lnTo>
                    <a:pt x="380" y="27"/>
                  </a:lnTo>
                  <a:lnTo>
                    <a:pt x="387" y="21"/>
                  </a:lnTo>
                  <a:lnTo>
                    <a:pt x="397" y="21"/>
                  </a:lnTo>
                  <a:lnTo>
                    <a:pt x="413" y="25"/>
                  </a:lnTo>
                  <a:lnTo>
                    <a:pt x="447" y="39"/>
                  </a:lnTo>
                  <a:lnTo>
                    <a:pt x="472" y="53"/>
                  </a:lnTo>
                  <a:lnTo>
                    <a:pt x="492" y="73"/>
                  </a:lnTo>
                  <a:lnTo>
                    <a:pt x="510" y="96"/>
                  </a:lnTo>
                  <a:lnTo>
                    <a:pt x="531" y="118"/>
                  </a:lnTo>
                  <a:lnTo>
                    <a:pt x="551" y="142"/>
                  </a:lnTo>
                  <a:lnTo>
                    <a:pt x="567" y="163"/>
                  </a:lnTo>
                  <a:lnTo>
                    <a:pt x="582" y="187"/>
                  </a:lnTo>
                  <a:lnTo>
                    <a:pt x="598" y="212"/>
                  </a:lnTo>
                  <a:lnTo>
                    <a:pt x="610" y="232"/>
                  </a:lnTo>
                  <a:lnTo>
                    <a:pt x="622" y="256"/>
                  </a:lnTo>
                  <a:lnTo>
                    <a:pt x="637" y="279"/>
                  </a:lnTo>
                  <a:lnTo>
                    <a:pt x="655" y="303"/>
                  </a:lnTo>
                  <a:lnTo>
                    <a:pt x="673" y="325"/>
                  </a:lnTo>
                  <a:lnTo>
                    <a:pt x="689" y="348"/>
                  </a:lnTo>
                  <a:lnTo>
                    <a:pt x="698" y="368"/>
                  </a:lnTo>
                  <a:lnTo>
                    <a:pt x="704" y="378"/>
                  </a:lnTo>
                  <a:lnTo>
                    <a:pt x="714" y="386"/>
                  </a:lnTo>
                  <a:lnTo>
                    <a:pt x="726" y="393"/>
                  </a:lnTo>
                  <a:lnTo>
                    <a:pt x="736" y="405"/>
                  </a:lnTo>
                  <a:lnTo>
                    <a:pt x="742" y="417"/>
                  </a:lnTo>
                  <a:lnTo>
                    <a:pt x="750" y="445"/>
                  </a:lnTo>
                  <a:lnTo>
                    <a:pt x="761" y="470"/>
                  </a:lnTo>
                  <a:lnTo>
                    <a:pt x="773" y="492"/>
                  </a:lnTo>
                  <a:lnTo>
                    <a:pt x="783" y="508"/>
                  </a:lnTo>
                  <a:lnTo>
                    <a:pt x="795" y="527"/>
                  </a:lnTo>
                  <a:lnTo>
                    <a:pt x="809" y="543"/>
                  </a:lnTo>
                  <a:lnTo>
                    <a:pt x="824" y="555"/>
                  </a:lnTo>
                  <a:lnTo>
                    <a:pt x="840" y="561"/>
                  </a:lnTo>
                  <a:lnTo>
                    <a:pt x="862" y="567"/>
                  </a:lnTo>
                  <a:lnTo>
                    <a:pt x="882" y="569"/>
                  </a:lnTo>
                  <a:lnTo>
                    <a:pt x="901" y="565"/>
                  </a:lnTo>
                  <a:lnTo>
                    <a:pt x="919" y="559"/>
                  </a:lnTo>
                  <a:lnTo>
                    <a:pt x="941" y="553"/>
                  </a:lnTo>
                  <a:lnTo>
                    <a:pt x="960" y="549"/>
                  </a:lnTo>
                  <a:lnTo>
                    <a:pt x="982" y="551"/>
                  </a:lnTo>
                  <a:lnTo>
                    <a:pt x="1004" y="559"/>
                  </a:lnTo>
                  <a:lnTo>
                    <a:pt x="1029" y="563"/>
                  </a:lnTo>
                  <a:lnTo>
                    <a:pt x="1051" y="569"/>
                  </a:lnTo>
                  <a:lnTo>
                    <a:pt x="1065" y="575"/>
                  </a:lnTo>
                  <a:lnTo>
                    <a:pt x="1073" y="580"/>
                  </a:lnTo>
                  <a:lnTo>
                    <a:pt x="1086" y="588"/>
                  </a:lnTo>
                  <a:lnTo>
                    <a:pt x="1104" y="598"/>
                  </a:lnTo>
                  <a:lnTo>
                    <a:pt x="1122" y="608"/>
                  </a:lnTo>
                  <a:lnTo>
                    <a:pt x="1139" y="616"/>
                  </a:lnTo>
                  <a:lnTo>
                    <a:pt x="1155" y="620"/>
                  </a:lnTo>
                  <a:lnTo>
                    <a:pt x="1167" y="620"/>
                  </a:lnTo>
                  <a:lnTo>
                    <a:pt x="1171" y="618"/>
                  </a:lnTo>
                  <a:lnTo>
                    <a:pt x="1177" y="614"/>
                  </a:lnTo>
                  <a:lnTo>
                    <a:pt x="1181" y="614"/>
                  </a:lnTo>
                  <a:lnTo>
                    <a:pt x="1185" y="614"/>
                  </a:lnTo>
                  <a:lnTo>
                    <a:pt x="1189" y="616"/>
                  </a:lnTo>
                  <a:lnTo>
                    <a:pt x="1191" y="618"/>
                  </a:lnTo>
                  <a:lnTo>
                    <a:pt x="1193" y="624"/>
                  </a:lnTo>
                  <a:lnTo>
                    <a:pt x="1195" y="632"/>
                  </a:lnTo>
                  <a:lnTo>
                    <a:pt x="1197" y="641"/>
                  </a:lnTo>
                  <a:lnTo>
                    <a:pt x="1202" y="659"/>
                  </a:lnTo>
                  <a:lnTo>
                    <a:pt x="1212" y="675"/>
                  </a:lnTo>
                  <a:lnTo>
                    <a:pt x="1224" y="687"/>
                  </a:lnTo>
                  <a:lnTo>
                    <a:pt x="1232" y="701"/>
                  </a:lnTo>
                  <a:lnTo>
                    <a:pt x="1238" y="714"/>
                  </a:lnTo>
                  <a:lnTo>
                    <a:pt x="1244" y="734"/>
                  </a:lnTo>
                  <a:lnTo>
                    <a:pt x="1254" y="754"/>
                  </a:lnTo>
                  <a:lnTo>
                    <a:pt x="1265" y="767"/>
                  </a:lnTo>
                  <a:lnTo>
                    <a:pt x="1277" y="775"/>
                  </a:lnTo>
                  <a:lnTo>
                    <a:pt x="1289" y="779"/>
                  </a:lnTo>
                  <a:lnTo>
                    <a:pt x="1299" y="785"/>
                  </a:lnTo>
                  <a:lnTo>
                    <a:pt x="1313" y="789"/>
                  </a:lnTo>
                  <a:lnTo>
                    <a:pt x="1328" y="785"/>
                  </a:lnTo>
                  <a:lnTo>
                    <a:pt x="1348" y="777"/>
                  </a:lnTo>
                  <a:lnTo>
                    <a:pt x="1374" y="773"/>
                  </a:lnTo>
                  <a:lnTo>
                    <a:pt x="1399" y="767"/>
                  </a:lnTo>
                  <a:lnTo>
                    <a:pt x="1423" y="760"/>
                  </a:lnTo>
                  <a:lnTo>
                    <a:pt x="1447" y="742"/>
                  </a:lnTo>
                  <a:lnTo>
                    <a:pt x="1462" y="722"/>
                  </a:lnTo>
                  <a:lnTo>
                    <a:pt x="1472" y="701"/>
                  </a:lnTo>
                  <a:lnTo>
                    <a:pt x="1480" y="689"/>
                  </a:lnTo>
                  <a:lnTo>
                    <a:pt x="1494" y="675"/>
                  </a:lnTo>
                  <a:lnTo>
                    <a:pt x="1510" y="659"/>
                  </a:lnTo>
                  <a:lnTo>
                    <a:pt x="1527" y="643"/>
                  </a:lnTo>
                  <a:lnTo>
                    <a:pt x="1543" y="628"/>
                  </a:lnTo>
                  <a:lnTo>
                    <a:pt x="1557" y="616"/>
                  </a:lnTo>
                  <a:lnTo>
                    <a:pt x="1572" y="604"/>
                  </a:lnTo>
                  <a:lnTo>
                    <a:pt x="1584" y="594"/>
                  </a:lnTo>
                  <a:lnTo>
                    <a:pt x="1598" y="586"/>
                  </a:lnTo>
                  <a:lnTo>
                    <a:pt x="1614" y="577"/>
                  </a:lnTo>
                  <a:lnTo>
                    <a:pt x="1634" y="567"/>
                  </a:lnTo>
                  <a:lnTo>
                    <a:pt x="1653" y="561"/>
                  </a:lnTo>
                  <a:lnTo>
                    <a:pt x="1667" y="557"/>
                  </a:lnTo>
                  <a:lnTo>
                    <a:pt x="1673" y="557"/>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1" name="Freeform 105"/>
            <p:cNvSpPr/>
            <p:nvPr/>
          </p:nvSpPr>
          <p:spPr bwMode="gray">
            <a:xfrm>
              <a:off x="2264" y="884"/>
              <a:ext cx="1641" cy="1473"/>
            </a:xfrm>
            <a:custGeom>
              <a:avLst/>
              <a:gdLst>
                <a:gd name="T0" fmla="*/ 651 w 3282"/>
                <a:gd name="T1" fmla="*/ 10 h 2947"/>
                <a:gd name="T2" fmla="*/ 669 w 3282"/>
                <a:gd name="T3" fmla="*/ 0 h 2947"/>
                <a:gd name="T4" fmla="*/ 720 w 3282"/>
                <a:gd name="T5" fmla="*/ 75 h 2947"/>
                <a:gd name="T6" fmla="*/ 808 w 3282"/>
                <a:gd name="T7" fmla="*/ 154 h 2947"/>
                <a:gd name="T8" fmla="*/ 761 w 3282"/>
                <a:gd name="T9" fmla="*/ 265 h 2947"/>
                <a:gd name="T10" fmla="*/ 737 w 3282"/>
                <a:gd name="T11" fmla="*/ 326 h 2947"/>
                <a:gd name="T12" fmla="*/ 793 w 3282"/>
                <a:gd name="T13" fmla="*/ 368 h 2947"/>
                <a:gd name="T14" fmla="*/ 785 w 3282"/>
                <a:gd name="T15" fmla="*/ 441 h 2947"/>
                <a:gd name="T16" fmla="*/ 710 w 3282"/>
                <a:gd name="T17" fmla="*/ 486 h 2947"/>
                <a:gd name="T18" fmla="*/ 693 w 3282"/>
                <a:gd name="T19" fmla="*/ 529 h 2947"/>
                <a:gd name="T20" fmla="*/ 634 w 3282"/>
                <a:gd name="T21" fmla="*/ 485 h 2947"/>
                <a:gd name="T22" fmla="*/ 587 w 3282"/>
                <a:gd name="T23" fmla="*/ 518 h 2947"/>
                <a:gd name="T24" fmla="*/ 530 w 3282"/>
                <a:gd name="T25" fmla="*/ 545 h 2947"/>
                <a:gd name="T26" fmla="*/ 470 w 3282"/>
                <a:gd name="T27" fmla="*/ 631 h 2947"/>
                <a:gd name="T28" fmla="*/ 376 w 3282"/>
                <a:gd name="T29" fmla="*/ 713 h 2947"/>
                <a:gd name="T30" fmla="*/ 309 w 3282"/>
                <a:gd name="T31" fmla="*/ 676 h 2947"/>
                <a:gd name="T32" fmla="*/ 235 w 3282"/>
                <a:gd name="T33" fmla="*/ 736 h 2947"/>
                <a:gd name="T34" fmla="*/ 189 w 3282"/>
                <a:gd name="T35" fmla="*/ 655 h 2947"/>
                <a:gd name="T36" fmla="*/ 88 w 3282"/>
                <a:gd name="T37" fmla="*/ 617 h 2947"/>
                <a:gd name="T38" fmla="*/ 9 w 3282"/>
                <a:gd name="T39" fmla="*/ 583 h 2947"/>
                <a:gd name="T40" fmla="*/ 20 w 3282"/>
                <a:gd name="T41" fmla="*/ 515 h 2947"/>
                <a:gd name="T42" fmla="*/ 70 w 3282"/>
                <a:gd name="T43" fmla="*/ 522 h 2947"/>
                <a:gd name="T44" fmla="*/ 103 w 3282"/>
                <a:gd name="T45" fmla="*/ 518 h 2947"/>
                <a:gd name="T46" fmla="*/ 144 w 3282"/>
                <a:gd name="T47" fmla="*/ 526 h 2947"/>
                <a:gd name="T48" fmla="*/ 178 w 3282"/>
                <a:gd name="T49" fmla="*/ 545 h 2947"/>
                <a:gd name="T50" fmla="*/ 223 w 3282"/>
                <a:gd name="T51" fmla="*/ 550 h 2947"/>
                <a:gd name="T52" fmla="*/ 246 w 3282"/>
                <a:gd name="T53" fmla="*/ 558 h 2947"/>
                <a:gd name="T54" fmla="*/ 291 w 3282"/>
                <a:gd name="T55" fmla="*/ 532 h 2947"/>
                <a:gd name="T56" fmla="*/ 341 w 3282"/>
                <a:gd name="T57" fmla="*/ 519 h 2947"/>
                <a:gd name="T58" fmla="*/ 375 w 3282"/>
                <a:gd name="T59" fmla="*/ 517 h 2947"/>
                <a:gd name="T60" fmla="*/ 398 w 3282"/>
                <a:gd name="T61" fmla="*/ 506 h 2947"/>
                <a:gd name="T62" fmla="*/ 420 w 3282"/>
                <a:gd name="T63" fmla="*/ 485 h 2947"/>
                <a:gd name="T64" fmla="*/ 443 w 3282"/>
                <a:gd name="T65" fmla="*/ 466 h 2947"/>
                <a:gd name="T66" fmla="*/ 459 w 3282"/>
                <a:gd name="T67" fmla="*/ 452 h 2947"/>
                <a:gd name="T68" fmla="*/ 443 w 3282"/>
                <a:gd name="T69" fmla="*/ 419 h 2947"/>
                <a:gd name="T70" fmla="*/ 466 w 3282"/>
                <a:gd name="T71" fmla="*/ 396 h 2947"/>
                <a:gd name="T72" fmla="*/ 505 w 3282"/>
                <a:gd name="T73" fmla="*/ 403 h 2947"/>
                <a:gd name="T74" fmla="*/ 530 w 3282"/>
                <a:gd name="T75" fmla="*/ 375 h 2947"/>
                <a:gd name="T76" fmla="*/ 561 w 3282"/>
                <a:gd name="T77" fmla="*/ 369 h 2947"/>
                <a:gd name="T78" fmla="*/ 579 w 3282"/>
                <a:gd name="T79" fmla="*/ 341 h 2947"/>
                <a:gd name="T80" fmla="*/ 607 w 3282"/>
                <a:gd name="T81" fmla="*/ 315 h 2947"/>
                <a:gd name="T82" fmla="*/ 634 w 3282"/>
                <a:gd name="T83" fmla="*/ 298 h 2947"/>
                <a:gd name="T84" fmla="*/ 672 w 3282"/>
                <a:gd name="T85" fmla="*/ 300 h 2947"/>
                <a:gd name="T86" fmla="*/ 671 w 3282"/>
                <a:gd name="T87" fmla="*/ 277 h 2947"/>
                <a:gd name="T88" fmla="*/ 631 w 3282"/>
                <a:gd name="T89" fmla="*/ 249 h 2947"/>
                <a:gd name="T90" fmla="*/ 607 w 3282"/>
                <a:gd name="T91" fmla="*/ 260 h 2947"/>
                <a:gd name="T92" fmla="*/ 576 w 3282"/>
                <a:gd name="T93" fmla="*/ 258 h 2947"/>
                <a:gd name="T94" fmla="*/ 553 w 3282"/>
                <a:gd name="T95" fmla="*/ 268 h 2947"/>
                <a:gd name="T96" fmla="*/ 549 w 3282"/>
                <a:gd name="T97" fmla="*/ 245 h 2947"/>
                <a:gd name="T98" fmla="*/ 560 w 3282"/>
                <a:gd name="T99" fmla="*/ 195 h 2947"/>
                <a:gd name="T100" fmla="*/ 583 w 3282"/>
                <a:gd name="T101" fmla="*/ 179 h 2947"/>
                <a:gd name="T102" fmla="*/ 611 w 3282"/>
                <a:gd name="T103" fmla="*/ 168 h 2947"/>
                <a:gd name="T104" fmla="*/ 635 w 3282"/>
                <a:gd name="T105" fmla="*/ 152 h 2947"/>
                <a:gd name="T106" fmla="*/ 636 w 3282"/>
                <a:gd name="T107" fmla="*/ 124 h 2947"/>
                <a:gd name="T108" fmla="*/ 647 w 3282"/>
                <a:gd name="T109" fmla="*/ 84 h 2947"/>
                <a:gd name="T110" fmla="*/ 659 w 3282"/>
                <a:gd name="T111" fmla="*/ 61 h 2947"/>
                <a:gd name="T112" fmla="*/ 652 w 3282"/>
                <a:gd name="T113" fmla="*/ 37 h 2947"/>
                <a:gd name="T114" fmla="*/ 637 w 3282"/>
                <a:gd name="T115" fmla="*/ 31 h 294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282"/>
                <a:gd name="T175" fmla="*/ 0 h 2947"/>
                <a:gd name="T176" fmla="*/ 3282 w 3282"/>
                <a:gd name="T177" fmla="*/ 2947 h 294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282" h="2947">
                  <a:moveTo>
                    <a:pt x="2552" y="115"/>
                  </a:moveTo>
                  <a:lnTo>
                    <a:pt x="2554" y="111"/>
                  </a:lnTo>
                  <a:lnTo>
                    <a:pt x="2559" y="101"/>
                  </a:lnTo>
                  <a:lnTo>
                    <a:pt x="2569" y="87"/>
                  </a:lnTo>
                  <a:lnTo>
                    <a:pt x="2579" y="73"/>
                  </a:lnTo>
                  <a:lnTo>
                    <a:pt x="2589" y="55"/>
                  </a:lnTo>
                  <a:lnTo>
                    <a:pt x="2601" y="42"/>
                  </a:lnTo>
                  <a:lnTo>
                    <a:pt x="2609" y="28"/>
                  </a:lnTo>
                  <a:lnTo>
                    <a:pt x="2617" y="20"/>
                  </a:lnTo>
                  <a:lnTo>
                    <a:pt x="2628" y="12"/>
                  </a:lnTo>
                  <a:lnTo>
                    <a:pt x="2642" y="6"/>
                  </a:lnTo>
                  <a:lnTo>
                    <a:pt x="2658" y="2"/>
                  </a:lnTo>
                  <a:lnTo>
                    <a:pt x="2670" y="0"/>
                  </a:lnTo>
                  <a:lnTo>
                    <a:pt x="2676" y="0"/>
                  </a:lnTo>
                  <a:lnTo>
                    <a:pt x="2715" y="50"/>
                  </a:lnTo>
                  <a:lnTo>
                    <a:pt x="2670" y="132"/>
                  </a:lnTo>
                  <a:lnTo>
                    <a:pt x="2758" y="183"/>
                  </a:lnTo>
                  <a:lnTo>
                    <a:pt x="2782" y="142"/>
                  </a:lnTo>
                  <a:lnTo>
                    <a:pt x="2849" y="164"/>
                  </a:lnTo>
                  <a:lnTo>
                    <a:pt x="2853" y="231"/>
                  </a:lnTo>
                  <a:lnTo>
                    <a:pt x="2880" y="303"/>
                  </a:lnTo>
                  <a:lnTo>
                    <a:pt x="2983" y="303"/>
                  </a:lnTo>
                  <a:lnTo>
                    <a:pt x="3091" y="268"/>
                  </a:lnTo>
                  <a:lnTo>
                    <a:pt x="3138" y="207"/>
                  </a:lnTo>
                  <a:lnTo>
                    <a:pt x="3250" y="286"/>
                  </a:lnTo>
                  <a:lnTo>
                    <a:pt x="3231" y="386"/>
                  </a:lnTo>
                  <a:lnTo>
                    <a:pt x="3201" y="500"/>
                  </a:lnTo>
                  <a:lnTo>
                    <a:pt x="3231" y="616"/>
                  </a:lnTo>
                  <a:lnTo>
                    <a:pt x="3199" y="632"/>
                  </a:lnTo>
                  <a:lnTo>
                    <a:pt x="3191" y="701"/>
                  </a:lnTo>
                  <a:lnTo>
                    <a:pt x="3140" y="756"/>
                  </a:lnTo>
                  <a:lnTo>
                    <a:pt x="3085" y="866"/>
                  </a:lnTo>
                  <a:lnTo>
                    <a:pt x="3002" y="957"/>
                  </a:lnTo>
                  <a:lnTo>
                    <a:pt x="2987" y="1004"/>
                  </a:lnTo>
                  <a:lnTo>
                    <a:pt x="3042" y="1063"/>
                  </a:lnTo>
                  <a:lnTo>
                    <a:pt x="3083" y="1120"/>
                  </a:lnTo>
                  <a:lnTo>
                    <a:pt x="3071" y="1201"/>
                  </a:lnTo>
                  <a:lnTo>
                    <a:pt x="3079" y="1266"/>
                  </a:lnTo>
                  <a:lnTo>
                    <a:pt x="3030" y="1244"/>
                  </a:lnTo>
                  <a:lnTo>
                    <a:pt x="3014" y="1264"/>
                  </a:lnTo>
                  <a:lnTo>
                    <a:pt x="2971" y="1250"/>
                  </a:lnTo>
                  <a:lnTo>
                    <a:pt x="2947" y="1305"/>
                  </a:lnTo>
                  <a:lnTo>
                    <a:pt x="2989" y="1313"/>
                  </a:lnTo>
                  <a:lnTo>
                    <a:pt x="3030" y="1368"/>
                  </a:lnTo>
                  <a:lnTo>
                    <a:pt x="3024" y="1451"/>
                  </a:lnTo>
                  <a:lnTo>
                    <a:pt x="3059" y="1500"/>
                  </a:lnTo>
                  <a:lnTo>
                    <a:pt x="3061" y="1530"/>
                  </a:lnTo>
                  <a:lnTo>
                    <a:pt x="3091" y="1536"/>
                  </a:lnTo>
                  <a:lnTo>
                    <a:pt x="3170" y="1475"/>
                  </a:lnTo>
                  <a:lnTo>
                    <a:pt x="3209" y="1541"/>
                  </a:lnTo>
                  <a:lnTo>
                    <a:pt x="3244" y="1608"/>
                  </a:lnTo>
                  <a:lnTo>
                    <a:pt x="3282" y="1630"/>
                  </a:lnTo>
                  <a:lnTo>
                    <a:pt x="3282" y="1677"/>
                  </a:lnTo>
                  <a:lnTo>
                    <a:pt x="3239" y="1728"/>
                  </a:lnTo>
                  <a:lnTo>
                    <a:pt x="3189" y="1776"/>
                  </a:lnTo>
                  <a:lnTo>
                    <a:pt x="3138" y="1766"/>
                  </a:lnTo>
                  <a:lnTo>
                    <a:pt x="3134" y="1803"/>
                  </a:lnTo>
                  <a:lnTo>
                    <a:pt x="3101" y="1819"/>
                  </a:lnTo>
                  <a:lnTo>
                    <a:pt x="3032" y="1839"/>
                  </a:lnTo>
                  <a:lnTo>
                    <a:pt x="2981" y="1898"/>
                  </a:lnTo>
                  <a:lnTo>
                    <a:pt x="2928" y="1941"/>
                  </a:lnTo>
                  <a:lnTo>
                    <a:pt x="2884" y="2012"/>
                  </a:lnTo>
                  <a:lnTo>
                    <a:pt x="2839" y="1947"/>
                  </a:lnTo>
                  <a:lnTo>
                    <a:pt x="2798" y="1917"/>
                  </a:lnTo>
                  <a:lnTo>
                    <a:pt x="2768" y="1945"/>
                  </a:lnTo>
                  <a:lnTo>
                    <a:pt x="2788" y="1967"/>
                  </a:lnTo>
                  <a:lnTo>
                    <a:pt x="2788" y="2032"/>
                  </a:lnTo>
                  <a:lnTo>
                    <a:pt x="2811" y="2087"/>
                  </a:lnTo>
                  <a:lnTo>
                    <a:pt x="2778" y="2140"/>
                  </a:lnTo>
                  <a:lnTo>
                    <a:pt x="2770" y="2118"/>
                  </a:lnTo>
                  <a:lnTo>
                    <a:pt x="2703" y="2116"/>
                  </a:lnTo>
                  <a:lnTo>
                    <a:pt x="2656" y="2073"/>
                  </a:lnTo>
                  <a:lnTo>
                    <a:pt x="2640" y="2012"/>
                  </a:lnTo>
                  <a:lnTo>
                    <a:pt x="2607" y="1971"/>
                  </a:lnTo>
                  <a:lnTo>
                    <a:pt x="2581" y="1925"/>
                  </a:lnTo>
                  <a:lnTo>
                    <a:pt x="2556" y="1911"/>
                  </a:lnTo>
                  <a:lnTo>
                    <a:pt x="2536" y="1941"/>
                  </a:lnTo>
                  <a:lnTo>
                    <a:pt x="2506" y="1943"/>
                  </a:lnTo>
                  <a:lnTo>
                    <a:pt x="2469" y="1967"/>
                  </a:lnTo>
                  <a:lnTo>
                    <a:pt x="2479" y="2035"/>
                  </a:lnTo>
                  <a:lnTo>
                    <a:pt x="2441" y="2049"/>
                  </a:lnTo>
                  <a:lnTo>
                    <a:pt x="2414" y="2039"/>
                  </a:lnTo>
                  <a:lnTo>
                    <a:pt x="2386" y="2075"/>
                  </a:lnTo>
                  <a:lnTo>
                    <a:pt x="2347" y="2073"/>
                  </a:lnTo>
                  <a:lnTo>
                    <a:pt x="2296" y="2128"/>
                  </a:lnTo>
                  <a:lnTo>
                    <a:pt x="2248" y="2132"/>
                  </a:lnTo>
                  <a:lnTo>
                    <a:pt x="2231" y="2055"/>
                  </a:lnTo>
                  <a:lnTo>
                    <a:pt x="2183" y="2051"/>
                  </a:lnTo>
                  <a:lnTo>
                    <a:pt x="2158" y="2093"/>
                  </a:lnTo>
                  <a:lnTo>
                    <a:pt x="2152" y="2142"/>
                  </a:lnTo>
                  <a:lnTo>
                    <a:pt x="2120" y="2181"/>
                  </a:lnTo>
                  <a:lnTo>
                    <a:pt x="2132" y="2222"/>
                  </a:lnTo>
                  <a:lnTo>
                    <a:pt x="2117" y="2246"/>
                  </a:lnTo>
                  <a:lnTo>
                    <a:pt x="2185" y="2333"/>
                  </a:lnTo>
                  <a:lnTo>
                    <a:pt x="2075" y="2376"/>
                  </a:lnTo>
                  <a:lnTo>
                    <a:pt x="2014" y="2376"/>
                  </a:lnTo>
                  <a:lnTo>
                    <a:pt x="1928" y="2407"/>
                  </a:lnTo>
                  <a:lnTo>
                    <a:pt x="1880" y="2526"/>
                  </a:lnTo>
                  <a:lnTo>
                    <a:pt x="1802" y="2555"/>
                  </a:lnTo>
                  <a:lnTo>
                    <a:pt x="1766" y="2539"/>
                  </a:lnTo>
                  <a:lnTo>
                    <a:pt x="1731" y="2598"/>
                  </a:lnTo>
                  <a:lnTo>
                    <a:pt x="1674" y="2579"/>
                  </a:lnTo>
                  <a:lnTo>
                    <a:pt x="1621" y="2638"/>
                  </a:lnTo>
                  <a:lnTo>
                    <a:pt x="1601" y="2718"/>
                  </a:lnTo>
                  <a:lnTo>
                    <a:pt x="1502" y="2852"/>
                  </a:lnTo>
                  <a:lnTo>
                    <a:pt x="1459" y="2888"/>
                  </a:lnTo>
                  <a:lnTo>
                    <a:pt x="1430" y="2860"/>
                  </a:lnTo>
                  <a:lnTo>
                    <a:pt x="1339" y="2876"/>
                  </a:lnTo>
                  <a:lnTo>
                    <a:pt x="1298" y="2823"/>
                  </a:lnTo>
                  <a:lnTo>
                    <a:pt x="1239" y="2821"/>
                  </a:lnTo>
                  <a:lnTo>
                    <a:pt x="1195" y="2781"/>
                  </a:lnTo>
                  <a:lnTo>
                    <a:pt x="1233" y="2707"/>
                  </a:lnTo>
                  <a:lnTo>
                    <a:pt x="1248" y="2659"/>
                  </a:lnTo>
                  <a:lnTo>
                    <a:pt x="1215" y="2612"/>
                  </a:lnTo>
                  <a:lnTo>
                    <a:pt x="1150" y="2630"/>
                  </a:lnTo>
                  <a:lnTo>
                    <a:pt x="1115" y="2709"/>
                  </a:lnTo>
                  <a:lnTo>
                    <a:pt x="1101" y="2846"/>
                  </a:lnTo>
                  <a:lnTo>
                    <a:pt x="1052" y="2901"/>
                  </a:lnTo>
                  <a:lnTo>
                    <a:pt x="939" y="2947"/>
                  </a:lnTo>
                  <a:lnTo>
                    <a:pt x="869" y="2941"/>
                  </a:lnTo>
                  <a:lnTo>
                    <a:pt x="810" y="2886"/>
                  </a:lnTo>
                  <a:lnTo>
                    <a:pt x="817" y="2795"/>
                  </a:lnTo>
                  <a:lnTo>
                    <a:pt x="874" y="2764"/>
                  </a:lnTo>
                  <a:lnTo>
                    <a:pt x="874" y="2657"/>
                  </a:lnTo>
                  <a:lnTo>
                    <a:pt x="829" y="2618"/>
                  </a:lnTo>
                  <a:lnTo>
                    <a:pt x="754" y="2620"/>
                  </a:lnTo>
                  <a:lnTo>
                    <a:pt x="658" y="2714"/>
                  </a:lnTo>
                  <a:lnTo>
                    <a:pt x="524" y="2714"/>
                  </a:lnTo>
                  <a:lnTo>
                    <a:pt x="441" y="2671"/>
                  </a:lnTo>
                  <a:lnTo>
                    <a:pt x="445" y="2610"/>
                  </a:lnTo>
                  <a:lnTo>
                    <a:pt x="378" y="2606"/>
                  </a:lnTo>
                  <a:lnTo>
                    <a:pt x="302" y="2539"/>
                  </a:lnTo>
                  <a:lnTo>
                    <a:pt x="351" y="2470"/>
                  </a:lnTo>
                  <a:lnTo>
                    <a:pt x="396" y="2457"/>
                  </a:lnTo>
                  <a:lnTo>
                    <a:pt x="376" y="2390"/>
                  </a:lnTo>
                  <a:lnTo>
                    <a:pt x="296" y="2362"/>
                  </a:lnTo>
                  <a:lnTo>
                    <a:pt x="203" y="2374"/>
                  </a:lnTo>
                  <a:lnTo>
                    <a:pt x="156" y="2429"/>
                  </a:lnTo>
                  <a:lnTo>
                    <a:pt x="111" y="2423"/>
                  </a:lnTo>
                  <a:lnTo>
                    <a:pt x="34" y="2333"/>
                  </a:lnTo>
                  <a:lnTo>
                    <a:pt x="0" y="2236"/>
                  </a:lnTo>
                  <a:lnTo>
                    <a:pt x="18" y="2179"/>
                  </a:lnTo>
                  <a:lnTo>
                    <a:pt x="10" y="2055"/>
                  </a:lnTo>
                  <a:lnTo>
                    <a:pt x="14" y="2057"/>
                  </a:lnTo>
                  <a:lnTo>
                    <a:pt x="30" y="2057"/>
                  </a:lnTo>
                  <a:lnTo>
                    <a:pt x="52" y="2059"/>
                  </a:lnTo>
                  <a:lnTo>
                    <a:pt x="79" y="2063"/>
                  </a:lnTo>
                  <a:lnTo>
                    <a:pt x="109" y="2065"/>
                  </a:lnTo>
                  <a:lnTo>
                    <a:pt x="138" y="2069"/>
                  </a:lnTo>
                  <a:lnTo>
                    <a:pt x="166" y="2073"/>
                  </a:lnTo>
                  <a:lnTo>
                    <a:pt x="189" y="2077"/>
                  </a:lnTo>
                  <a:lnTo>
                    <a:pt x="207" y="2081"/>
                  </a:lnTo>
                  <a:lnTo>
                    <a:pt x="243" y="2089"/>
                  </a:lnTo>
                  <a:lnTo>
                    <a:pt x="278" y="2089"/>
                  </a:lnTo>
                  <a:lnTo>
                    <a:pt x="308" y="2081"/>
                  </a:lnTo>
                  <a:lnTo>
                    <a:pt x="323" y="2075"/>
                  </a:lnTo>
                  <a:lnTo>
                    <a:pt x="337" y="2069"/>
                  </a:lnTo>
                  <a:lnTo>
                    <a:pt x="351" y="2067"/>
                  </a:lnTo>
                  <a:lnTo>
                    <a:pt x="367" y="2065"/>
                  </a:lnTo>
                  <a:lnTo>
                    <a:pt x="386" y="2069"/>
                  </a:lnTo>
                  <a:lnTo>
                    <a:pt x="412" y="2075"/>
                  </a:lnTo>
                  <a:lnTo>
                    <a:pt x="441" y="2079"/>
                  </a:lnTo>
                  <a:lnTo>
                    <a:pt x="473" y="2083"/>
                  </a:lnTo>
                  <a:lnTo>
                    <a:pt x="498" y="2087"/>
                  </a:lnTo>
                  <a:lnTo>
                    <a:pt x="518" y="2087"/>
                  </a:lnTo>
                  <a:lnTo>
                    <a:pt x="542" y="2089"/>
                  </a:lnTo>
                  <a:lnTo>
                    <a:pt x="560" y="2095"/>
                  </a:lnTo>
                  <a:lnTo>
                    <a:pt x="575" y="2104"/>
                  </a:lnTo>
                  <a:lnTo>
                    <a:pt x="589" y="2118"/>
                  </a:lnTo>
                  <a:lnTo>
                    <a:pt x="607" y="2134"/>
                  </a:lnTo>
                  <a:lnTo>
                    <a:pt x="626" y="2148"/>
                  </a:lnTo>
                  <a:lnTo>
                    <a:pt x="646" y="2156"/>
                  </a:lnTo>
                  <a:lnTo>
                    <a:pt x="666" y="2163"/>
                  </a:lnTo>
                  <a:lnTo>
                    <a:pt x="685" y="2173"/>
                  </a:lnTo>
                  <a:lnTo>
                    <a:pt x="709" y="2183"/>
                  </a:lnTo>
                  <a:lnTo>
                    <a:pt x="739" y="2193"/>
                  </a:lnTo>
                  <a:lnTo>
                    <a:pt x="762" y="2197"/>
                  </a:lnTo>
                  <a:lnTo>
                    <a:pt x="792" y="2199"/>
                  </a:lnTo>
                  <a:lnTo>
                    <a:pt x="821" y="2201"/>
                  </a:lnTo>
                  <a:lnTo>
                    <a:pt x="851" y="2201"/>
                  </a:lnTo>
                  <a:lnTo>
                    <a:pt x="874" y="2201"/>
                  </a:lnTo>
                  <a:lnTo>
                    <a:pt x="892" y="2203"/>
                  </a:lnTo>
                  <a:lnTo>
                    <a:pt x="904" y="2207"/>
                  </a:lnTo>
                  <a:lnTo>
                    <a:pt x="914" y="2215"/>
                  </a:lnTo>
                  <a:lnTo>
                    <a:pt x="924" y="2224"/>
                  </a:lnTo>
                  <a:lnTo>
                    <a:pt x="935" y="2232"/>
                  </a:lnTo>
                  <a:lnTo>
                    <a:pt x="947" y="2236"/>
                  </a:lnTo>
                  <a:lnTo>
                    <a:pt x="965" y="2238"/>
                  </a:lnTo>
                  <a:lnTo>
                    <a:pt x="985" y="2234"/>
                  </a:lnTo>
                  <a:lnTo>
                    <a:pt x="1002" y="2224"/>
                  </a:lnTo>
                  <a:lnTo>
                    <a:pt x="1024" y="2207"/>
                  </a:lnTo>
                  <a:lnTo>
                    <a:pt x="1048" y="2187"/>
                  </a:lnTo>
                  <a:lnTo>
                    <a:pt x="1073" y="2171"/>
                  </a:lnTo>
                  <a:lnTo>
                    <a:pt x="1103" y="2157"/>
                  </a:lnTo>
                  <a:lnTo>
                    <a:pt x="1134" y="2144"/>
                  </a:lnTo>
                  <a:lnTo>
                    <a:pt x="1164" y="2130"/>
                  </a:lnTo>
                  <a:lnTo>
                    <a:pt x="1199" y="2114"/>
                  </a:lnTo>
                  <a:lnTo>
                    <a:pt x="1241" y="2098"/>
                  </a:lnTo>
                  <a:lnTo>
                    <a:pt x="1282" y="2087"/>
                  </a:lnTo>
                  <a:lnTo>
                    <a:pt x="1325" y="2079"/>
                  </a:lnTo>
                  <a:lnTo>
                    <a:pt x="1345" y="2077"/>
                  </a:lnTo>
                  <a:lnTo>
                    <a:pt x="1357" y="2077"/>
                  </a:lnTo>
                  <a:lnTo>
                    <a:pt x="1363" y="2079"/>
                  </a:lnTo>
                  <a:lnTo>
                    <a:pt x="1367" y="2079"/>
                  </a:lnTo>
                  <a:lnTo>
                    <a:pt x="1371" y="2081"/>
                  </a:lnTo>
                  <a:lnTo>
                    <a:pt x="1378" y="2081"/>
                  </a:lnTo>
                  <a:lnTo>
                    <a:pt x="1392" y="2081"/>
                  </a:lnTo>
                  <a:lnTo>
                    <a:pt x="1418" y="2079"/>
                  </a:lnTo>
                  <a:lnTo>
                    <a:pt x="1463" y="2075"/>
                  </a:lnTo>
                  <a:lnTo>
                    <a:pt x="1498" y="2071"/>
                  </a:lnTo>
                  <a:lnTo>
                    <a:pt x="1526" y="2065"/>
                  </a:lnTo>
                  <a:lnTo>
                    <a:pt x="1548" y="2059"/>
                  </a:lnTo>
                  <a:lnTo>
                    <a:pt x="1561" y="2053"/>
                  </a:lnTo>
                  <a:lnTo>
                    <a:pt x="1571" y="2045"/>
                  </a:lnTo>
                  <a:lnTo>
                    <a:pt x="1577" y="2035"/>
                  </a:lnTo>
                  <a:lnTo>
                    <a:pt x="1581" y="2030"/>
                  </a:lnTo>
                  <a:lnTo>
                    <a:pt x="1589" y="2024"/>
                  </a:lnTo>
                  <a:lnTo>
                    <a:pt x="1603" y="2018"/>
                  </a:lnTo>
                  <a:lnTo>
                    <a:pt x="1622" y="2014"/>
                  </a:lnTo>
                  <a:lnTo>
                    <a:pt x="1640" y="2006"/>
                  </a:lnTo>
                  <a:lnTo>
                    <a:pt x="1656" y="1994"/>
                  </a:lnTo>
                  <a:lnTo>
                    <a:pt x="1668" y="1974"/>
                  </a:lnTo>
                  <a:lnTo>
                    <a:pt x="1674" y="1957"/>
                  </a:lnTo>
                  <a:lnTo>
                    <a:pt x="1680" y="1941"/>
                  </a:lnTo>
                  <a:lnTo>
                    <a:pt x="1685" y="1927"/>
                  </a:lnTo>
                  <a:lnTo>
                    <a:pt x="1697" y="1913"/>
                  </a:lnTo>
                  <a:lnTo>
                    <a:pt x="1715" y="1900"/>
                  </a:lnTo>
                  <a:lnTo>
                    <a:pt x="1737" y="1888"/>
                  </a:lnTo>
                  <a:lnTo>
                    <a:pt x="1752" y="1878"/>
                  </a:lnTo>
                  <a:lnTo>
                    <a:pt x="1764" y="1872"/>
                  </a:lnTo>
                  <a:lnTo>
                    <a:pt x="1772" y="1866"/>
                  </a:lnTo>
                  <a:lnTo>
                    <a:pt x="1780" y="1860"/>
                  </a:lnTo>
                  <a:lnTo>
                    <a:pt x="1790" y="1854"/>
                  </a:lnTo>
                  <a:lnTo>
                    <a:pt x="1804" y="1848"/>
                  </a:lnTo>
                  <a:lnTo>
                    <a:pt x="1817" y="1841"/>
                  </a:lnTo>
                  <a:lnTo>
                    <a:pt x="1831" y="1831"/>
                  </a:lnTo>
                  <a:lnTo>
                    <a:pt x="1837" y="1821"/>
                  </a:lnTo>
                  <a:lnTo>
                    <a:pt x="1837" y="1811"/>
                  </a:lnTo>
                  <a:lnTo>
                    <a:pt x="1825" y="1795"/>
                  </a:lnTo>
                  <a:lnTo>
                    <a:pt x="1809" y="1780"/>
                  </a:lnTo>
                  <a:lnTo>
                    <a:pt x="1794" y="1762"/>
                  </a:lnTo>
                  <a:lnTo>
                    <a:pt x="1780" y="1744"/>
                  </a:lnTo>
                  <a:lnTo>
                    <a:pt x="1772" y="1726"/>
                  </a:lnTo>
                  <a:lnTo>
                    <a:pt x="1772" y="1707"/>
                  </a:lnTo>
                  <a:lnTo>
                    <a:pt x="1772" y="1679"/>
                  </a:lnTo>
                  <a:lnTo>
                    <a:pt x="1776" y="1652"/>
                  </a:lnTo>
                  <a:lnTo>
                    <a:pt x="1782" y="1628"/>
                  </a:lnTo>
                  <a:lnTo>
                    <a:pt x="1790" y="1608"/>
                  </a:lnTo>
                  <a:lnTo>
                    <a:pt x="1806" y="1593"/>
                  </a:lnTo>
                  <a:lnTo>
                    <a:pt x="1823" y="1585"/>
                  </a:lnTo>
                  <a:lnTo>
                    <a:pt x="1843" y="1581"/>
                  </a:lnTo>
                  <a:lnTo>
                    <a:pt x="1863" y="1585"/>
                  </a:lnTo>
                  <a:lnTo>
                    <a:pt x="1884" y="1597"/>
                  </a:lnTo>
                  <a:lnTo>
                    <a:pt x="1910" y="1606"/>
                  </a:lnTo>
                  <a:lnTo>
                    <a:pt x="1937" y="1614"/>
                  </a:lnTo>
                  <a:lnTo>
                    <a:pt x="1963" y="1616"/>
                  </a:lnTo>
                  <a:lnTo>
                    <a:pt x="1985" y="1614"/>
                  </a:lnTo>
                  <a:lnTo>
                    <a:pt x="2002" y="1614"/>
                  </a:lnTo>
                  <a:lnTo>
                    <a:pt x="2020" y="1612"/>
                  </a:lnTo>
                  <a:lnTo>
                    <a:pt x="2034" y="1608"/>
                  </a:lnTo>
                  <a:lnTo>
                    <a:pt x="2046" y="1597"/>
                  </a:lnTo>
                  <a:lnTo>
                    <a:pt x="2058" y="1581"/>
                  </a:lnTo>
                  <a:lnTo>
                    <a:pt x="2071" y="1561"/>
                  </a:lnTo>
                  <a:lnTo>
                    <a:pt x="2085" y="1538"/>
                  </a:lnTo>
                  <a:lnTo>
                    <a:pt x="2101" y="1518"/>
                  </a:lnTo>
                  <a:lnTo>
                    <a:pt x="2117" y="1502"/>
                  </a:lnTo>
                  <a:lnTo>
                    <a:pt x="2130" y="1494"/>
                  </a:lnTo>
                  <a:lnTo>
                    <a:pt x="2146" y="1490"/>
                  </a:lnTo>
                  <a:lnTo>
                    <a:pt x="2166" y="1488"/>
                  </a:lnTo>
                  <a:lnTo>
                    <a:pt x="2189" y="1486"/>
                  </a:lnTo>
                  <a:lnTo>
                    <a:pt x="2213" y="1484"/>
                  </a:lnTo>
                  <a:lnTo>
                    <a:pt x="2231" y="1482"/>
                  </a:lnTo>
                  <a:lnTo>
                    <a:pt x="2243" y="1477"/>
                  </a:lnTo>
                  <a:lnTo>
                    <a:pt x="2254" y="1469"/>
                  </a:lnTo>
                  <a:lnTo>
                    <a:pt x="2268" y="1455"/>
                  </a:lnTo>
                  <a:lnTo>
                    <a:pt x="2284" y="1437"/>
                  </a:lnTo>
                  <a:lnTo>
                    <a:pt x="2298" y="1421"/>
                  </a:lnTo>
                  <a:lnTo>
                    <a:pt x="2308" y="1408"/>
                  </a:lnTo>
                  <a:lnTo>
                    <a:pt x="2311" y="1388"/>
                  </a:lnTo>
                  <a:lnTo>
                    <a:pt x="2315" y="1364"/>
                  </a:lnTo>
                  <a:lnTo>
                    <a:pt x="2321" y="1343"/>
                  </a:lnTo>
                  <a:lnTo>
                    <a:pt x="2331" y="1323"/>
                  </a:lnTo>
                  <a:lnTo>
                    <a:pt x="2351" y="1303"/>
                  </a:lnTo>
                  <a:lnTo>
                    <a:pt x="2374" y="1286"/>
                  </a:lnTo>
                  <a:lnTo>
                    <a:pt x="2402" y="1276"/>
                  </a:lnTo>
                  <a:lnTo>
                    <a:pt x="2416" y="1270"/>
                  </a:lnTo>
                  <a:lnTo>
                    <a:pt x="2426" y="1262"/>
                  </a:lnTo>
                  <a:lnTo>
                    <a:pt x="2433" y="1250"/>
                  </a:lnTo>
                  <a:lnTo>
                    <a:pt x="2443" y="1240"/>
                  </a:lnTo>
                  <a:lnTo>
                    <a:pt x="2455" y="1232"/>
                  </a:lnTo>
                  <a:lnTo>
                    <a:pt x="2469" y="1227"/>
                  </a:lnTo>
                  <a:lnTo>
                    <a:pt x="2487" y="1217"/>
                  </a:lnTo>
                  <a:lnTo>
                    <a:pt x="2510" y="1205"/>
                  </a:lnTo>
                  <a:lnTo>
                    <a:pt x="2534" y="1195"/>
                  </a:lnTo>
                  <a:lnTo>
                    <a:pt x="2559" y="1189"/>
                  </a:lnTo>
                  <a:lnTo>
                    <a:pt x="2583" y="1187"/>
                  </a:lnTo>
                  <a:lnTo>
                    <a:pt x="2607" y="1189"/>
                  </a:lnTo>
                  <a:lnTo>
                    <a:pt x="2628" y="1195"/>
                  </a:lnTo>
                  <a:lnTo>
                    <a:pt x="2652" y="1199"/>
                  </a:lnTo>
                  <a:lnTo>
                    <a:pt x="2670" y="1203"/>
                  </a:lnTo>
                  <a:lnTo>
                    <a:pt x="2685" y="1203"/>
                  </a:lnTo>
                  <a:lnTo>
                    <a:pt x="2697" y="1197"/>
                  </a:lnTo>
                  <a:lnTo>
                    <a:pt x="2707" y="1183"/>
                  </a:lnTo>
                  <a:lnTo>
                    <a:pt x="2713" y="1171"/>
                  </a:lnTo>
                  <a:lnTo>
                    <a:pt x="2713" y="1158"/>
                  </a:lnTo>
                  <a:lnTo>
                    <a:pt x="2707" y="1140"/>
                  </a:lnTo>
                  <a:lnTo>
                    <a:pt x="2695" y="1126"/>
                  </a:lnTo>
                  <a:lnTo>
                    <a:pt x="2682" y="1108"/>
                  </a:lnTo>
                  <a:lnTo>
                    <a:pt x="2662" y="1089"/>
                  </a:lnTo>
                  <a:lnTo>
                    <a:pt x="2644" y="1071"/>
                  </a:lnTo>
                  <a:lnTo>
                    <a:pt x="2626" y="1055"/>
                  </a:lnTo>
                  <a:lnTo>
                    <a:pt x="2611" y="1042"/>
                  </a:lnTo>
                  <a:lnTo>
                    <a:pt x="2575" y="1016"/>
                  </a:lnTo>
                  <a:lnTo>
                    <a:pt x="2538" y="1004"/>
                  </a:lnTo>
                  <a:lnTo>
                    <a:pt x="2524" y="998"/>
                  </a:lnTo>
                  <a:lnTo>
                    <a:pt x="2510" y="990"/>
                  </a:lnTo>
                  <a:lnTo>
                    <a:pt x="2498" y="986"/>
                  </a:lnTo>
                  <a:lnTo>
                    <a:pt x="2485" y="984"/>
                  </a:lnTo>
                  <a:lnTo>
                    <a:pt x="2469" y="990"/>
                  </a:lnTo>
                  <a:lnTo>
                    <a:pt x="2453" y="1006"/>
                  </a:lnTo>
                  <a:lnTo>
                    <a:pt x="2439" y="1024"/>
                  </a:lnTo>
                  <a:lnTo>
                    <a:pt x="2426" y="1040"/>
                  </a:lnTo>
                  <a:lnTo>
                    <a:pt x="2408" y="1051"/>
                  </a:lnTo>
                  <a:lnTo>
                    <a:pt x="2394" y="1053"/>
                  </a:lnTo>
                  <a:lnTo>
                    <a:pt x="2376" y="1049"/>
                  </a:lnTo>
                  <a:lnTo>
                    <a:pt x="2357" y="1044"/>
                  </a:lnTo>
                  <a:lnTo>
                    <a:pt x="2337" y="1036"/>
                  </a:lnTo>
                  <a:lnTo>
                    <a:pt x="2317" y="1032"/>
                  </a:lnTo>
                  <a:lnTo>
                    <a:pt x="2304" y="1034"/>
                  </a:lnTo>
                  <a:lnTo>
                    <a:pt x="2292" y="1042"/>
                  </a:lnTo>
                  <a:lnTo>
                    <a:pt x="2282" y="1053"/>
                  </a:lnTo>
                  <a:lnTo>
                    <a:pt x="2272" y="1067"/>
                  </a:lnTo>
                  <a:lnTo>
                    <a:pt x="2260" y="1079"/>
                  </a:lnTo>
                  <a:lnTo>
                    <a:pt x="2248" y="1087"/>
                  </a:lnTo>
                  <a:lnTo>
                    <a:pt x="2235" y="1087"/>
                  </a:lnTo>
                  <a:lnTo>
                    <a:pt x="2211" y="1075"/>
                  </a:lnTo>
                  <a:lnTo>
                    <a:pt x="2189" y="1061"/>
                  </a:lnTo>
                  <a:lnTo>
                    <a:pt x="2174" y="1044"/>
                  </a:lnTo>
                  <a:lnTo>
                    <a:pt x="2168" y="1024"/>
                  </a:lnTo>
                  <a:lnTo>
                    <a:pt x="2170" y="1010"/>
                  </a:lnTo>
                  <a:lnTo>
                    <a:pt x="2178" y="1002"/>
                  </a:lnTo>
                  <a:lnTo>
                    <a:pt x="2185" y="992"/>
                  </a:lnTo>
                  <a:lnTo>
                    <a:pt x="2193" y="982"/>
                  </a:lnTo>
                  <a:lnTo>
                    <a:pt x="2197" y="965"/>
                  </a:lnTo>
                  <a:lnTo>
                    <a:pt x="2199" y="935"/>
                  </a:lnTo>
                  <a:lnTo>
                    <a:pt x="2201" y="902"/>
                  </a:lnTo>
                  <a:lnTo>
                    <a:pt x="2207" y="868"/>
                  </a:lnTo>
                  <a:lnTo>
                    <a:pt x="2217" y="839"/>
                  </a:lnTo>
                  <a:lnTo>
                    <a:pt x="2229" y="811"/>
                  </a:lnTo>
                  <a:lnTo>
                    <a:pt x="2239" y="782"/>
                  </a:lnTo>
                  <a:lnTo>
                    <a:pt x="2248" y="754"/>
                  </a:lnTo>
                  <a:lnTo>
                    <a:pt x="2254" y="735"/>
                  </a:lnTo>
                  <a:lnTo>
                    <a:pt x="2262" y="721"/>
                  </a:lnTo>
                  <a:lnTo>
                    <a:pt x="2276" y="713"/>
                  </a:lnTo>
                  <a:lnTo>
                    <a:pt x="2296" y="711"/>
                  </a:lnTo>
                  <a:lnTo>
                    <a:pt x="2317" y="713"/>
                  </a:lnTo>
                  <a:lnTo>
                    <a:pt x="2331" y="719"/>
                  </a:lnTo>
                  <a:lnTo>
                    <a:pt x="2349" y="725"/>
                  </a:lnTo>
                  <a:lnTo>
                    <a:pt x="2365" y="733"/>
                  </a:lnTo>
                  <a:lnTo>
                    <a:pt x="2380" y="736"/>
                  </a:lnTo>
                  <a:lnTo>
                    <a:pt x="2394" y="736"/>
                  </a:lnTo>
                  <a:lnTo>
                    <a:pt x="2406" y="729"/>
                  </a:lnTo>
                  <a:lnTo>
                    <a:pt x="2424" y="703"/>
                  </a:lnTo>
                  <a:lnTo>
                    <a:pt x="2443" y="675"/>
                  </a:lnTo>
                  <a:lnTo>
                    <a:pt x="2463" y="650"/>
                  </a:lnTo>
                  <a:lnTo>
                    <a:pt x="2477" y="640"/>
                  </a:lnTo>
                  <a:lnTo>
                    <a:pt x="2493" y="636"/>
                  </a:lnTo>
                  <a:lnTo>
                    <a:pt x="2506" y="634"/>
                  </a:lnTo>
                  <a:lnTo>
                    <a:pt x="2522" y="630"/>
                  </a:lnTo>
                  <a:lnTo>
                    <a:pt x="2534" y="622"/>
                  </a:lnTo>
                  <a:lnTo>
                    <a:pt x="2540" y="611"/>
                  </a:lnTo>
                  <a:lnTo>
                    <a:pt x="2542" y="595"/>
                  </a:lnTo>
                  <a:lnTo>
                    <a:pt x="2538" y="577"/>
                  </a:lnTo>
                  <a:lnTo>
                    <a:pt x="2534" y="561"/>
                  </a:lnTo>
                  <a:lnTo>
                    <a:pt x="2530" y="548"/>
                  </a:lnTo>
                  <a:lnTo>
                    <a:pt x="2532" y="534"/>
                  </a:lnTo>
                  <a:lnTo>
                    <a:pt x="2536" y="518"/>
                  </a:lnTo>
                  <a:lnTo>
                    <a:pt x="2542" y="498"/>
                  </a:lnTo>
                  <a:lnTo>
                    <a:pt x="2550" y="477"/>
                  </a:lnTo>
                  <a:lnTo>
                    <a:pt x="2556" y="459"/>
                  </a:lnTo>
                  <a:lnTo>
                    <a:pt x="2561" y="443"/>
                  </a:lnTo>
                  <a:lnTo>
                    <a:pt x="2567" y="416"/>
                  </a:lnTo>
                  <a:lnTo>
                    <a:pt x="2571" y="386"/>
                  </a:lnTo>
                  <a:lnTo>
                    <a:pt x="2579" y="355"/>
                  </a:lnTo>
                  <a:lnTo>
                    <a:pt x="2585" y="337"/>
                  </a:lnTo>
                  <a:lnTo>
                    <a:pt x="2589" y="327"/>
                  </a:lnTo>
                  <a:lnTo>
                    <a:pt x="2595" y="317"/>
                  </a:lnTo>
                  <a:lnTo>
                    <a:pt x="2603" y="305"/>
                  </a:lnTo>
                  <a:lnTo>
                    <a:pt x="2615" y="294"/>
                  </a:lnTo>
                  <a:lnTo>
                    <a:pt x="2626" y="276"/>
                  </a:lnTo>
                  <a:lnTo>
                    <a:pt x="2632" y="260"/>
                  </a:lnTo>
                  <a:lnTo>
                    <a:pt x="2634" y="246"/>
                  </a:lnTo>
                  <a:lnTo>
                    <a:pt x="2634" y="231"/>
                  </a:lnTo>
                  <a:lnTo>
                    <a:pt x="2632" y="209"/>
                  </a:lnTo>
                  <a:lnTo>
                    <a:pt x="2632" y="185"/>
                  </a:lnTo>
                  <a:lnTo>
                    <a:pt x="2628" y="164"/>
                  </a:lnTo>
                  <a:lnTo>
                    <a:pt x="2622" y="150"/>
                  </a:lnTo>
                  <a:lnTo>
                    <a:pt x="2615" y="146"/>
                  </a:lnTo>
                  <a:lnTo>
                    <a:pt x="2605" y="148"/>
                  </a:lnTo>
                  <a:lnTo>
                    <a:pt x="2593" y="152"/>
                  </a:lnTo>
                  <a:lnTo>
                    <a:pt x="2581" y="156"/>
                  </a:lnTo>
                  <a:lnTo>
                    <a:pt x="2567" y="158"/>
                  </a:lnTo>
                  <a:lnTo>
                    <a:pt x="2556" y="156"/>
                  </a:lnTo>
                  <a:lnTo>
                    <a:pt x="2548" y="148"/>
                  </a:lnTo>
                  <a:lnTo>
                    <a:pt x="2546" y="136"/>
                  </a:lnTo>
                  <a:lnTo>
                    <a:pt x="2548" y="124"/>
                  </a:lnTo>
                  <a:lnTo>
                    <a:pt x="2550" y="116"/>
                  </a:lnTo>
                  <a:lnTo>
                    <a:pt x="2552" y="115"/>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2" name="Freeform 106"/>
            <p:cNvSpPr/>
            <p:nvPr/>
          </p:nvSpPr>
          <p:spPr bwMode="gray">
            <a:xfrm>
              <a:off x="2264" y="884"/>
              <a:ext cx="1641" cy="1473"/>
            </a:xfrm>
            <a:custGeom>
              <a:avLst/>
              <a:gdLst>
                <a:gd name="T0" fmla="*/ 651 w 3282"/>
                <a:gd name="T1" fmla="*/ 10 h 2947"/>
                <a:gd name="T2" fmla="*/ 669 w 3282"/>
                <a:gd name="T3" fmla="*/ 0 h 2947"/>
                <a:gd name="T4" fmla="*/ 720 w 3282"/>
                <a:gd name="T5" fmla="*/ 75 h 2947"/>
                <a:gd name="T6" fmla="*/ 808 w 3282"/>
                <a:gd name="T7" fmla="*/ 154 h 2947"/>
                <a:gd name="T8" fmla="*/ 761 w 3282"/>
                <a:gd name="T9" fmla="*/ 265 h 2947"/>
                <a:gd name="T10" fmla="*/ 737 w 3282"/>
                <a:gd name="T11" fmla="*/ 326 h 2947"/>
                <a:gd name="T12" fmla="*/ 793 w 3282"/>
                <a:gd name="T13" fmla="*/ 368 h 2947"/>
                <a:gd name="T14" fmla="*/ 785 w 3282"/>
                <a:gd name="T15" fmla="*/ 441 h 2947"/>
                <a:gd name="T16" fmla="*/ 710 w 3282"/>
                <a:gd name="T17" fmla="*/ 486 h 2947"/>
                <a:gd name="T18" fmla="*/ 693 w 3282"/>
                <a:gd name="T19" fmla="*/ 529 h 2947"/>
                <a:gd name="T20" fmla="*/ 634 w 3282"/>
                <a:gd name="T21" fmla="*/ 485 h 2947"/>
                <a:gd name="T22" fmla="*/ 587 w 3282"/>
                <a:gd name="T23" fmla="*/ 518 h 2947"/>
                <a:gd name="T24" fmla="*/ 530 w 3282"/>
                <a:gd name="T25" fmla="*/ 545 h 2947"/>
                <a:gd name="T26" fmla="*/ 470 w 3282"/>
                <a:gd name="T27" fmla="*/ 631 h 2947"/>
                <a:gd name="T28" fmla="*/ 376 w 3282"/>
                <a:gd name="T29" fmla="*/ 713 h 2947"/>
                <a:gd name="T30" fmla="*/ 309 w 3282"/>
                <a:gd name="T31" fmla="*/ 676 h 2947"/>
                <a:gd name="T32" fmla="*/ 235 w 3282"/>
                <a:gd name="T33" fmla="*/ 736 h 2947"/>
                <a:gd name="T34" fmla="*/ 189 w 3282"/>
                <a:gd name="T35" fmla="*/ 655 h 2947"/>
                <a:gd name="T36" fmla="*/ 88 w 3282"/>
                <a:gd name="T37" fmla="*/ 617 h 2947"/>
                <a:gd name="T38" fmla="*/ 9 w 3282"/>
                <a:gd name="T39" fmla="*/ 583 h 2947"/>
                <a:gd name="T40" fmla="*/ 20 w 3282"/>
                <a:gd name="T41" fmla="*/ 515 h 2947"/>
                <a:gd name="T42" fmla="*/ 70 w 3282"/>
                <a:gd name="T43" fmla="*/ 522 h 2947"/>
                <a:gd name="T44" fmla="*/ 103 w 3282"/>
                <a:gd name="T45" fmla="*/ 518 h 2947"/>
                <a:gd name="T46" fmla="*/ 144 w 3282"/>
                <a:gd name="T47" fmla="*/ 526 h 2947"/>
                <a:gd name="T48" fmla="*/ 178 w 3282"/>
                <a:gd name="T49" fmla="*/ 545 h 2947"/>
                <a:gd name="T50" fmla="*/ 223 w 3282"/>
                <a:gd name="T51" fmla="*/ 550 h 2947"/>
                <a:gd name="T52" fmla="*/ 246 w 3282"/>
                <a:gd name="T53" fmla="*/ 558 h 2947"/>
                <a:gd name="T54" fmla="*/ 291 w 3282"/>
                <a:gd name="T55" fmla="*/ 532 h 2947"/>
                <a:gd name="T56" fmla="*/ 341 w 3282"/>
                <a:gd name="T57" fmla="*/ 519 h 2947"/>
                <a:gd name="T58" fmla="*/ 375 w 3282"/>
                <a:gd name="T59" fmla="*/ 517 h 2947"/>
                <a:gd name="T60" fmla="*/ 398 w 3282"/>
                <a:gd name="T61" fmla="*/ 506 h 2947"/>
                <a:gd name="T62" fmla="*/ 420 w 3282"/>
                <a:gd name="T63" fmla="*/ 485 h 2947"/>
                <a:gd name="T64" fmla="*/ 443 w 3282"/>
                <a:gd name="T65" fmla="*/ 466 h 2947"/>
                <a:gd name="T66" fmla="*/ 459 w 3282"/>
                <a:gd name="T67" fmla="*/ 452 h 2947"/>
                <a:gd name="T68" fmla="*/ 443 w 3282"/>
                <a:gd name="T69" fmla="*/ 419 h 2947"/>
                <a:gd name="T70" fmla="*/ 466 w 3282"/>
                <a:gd name="T71" fmla="*/ 396 h 2947"/>
                <a:gd name="T72" fmla="*/ 505 w 3282"/>
                <a:gd name="T73" fmla="*/ 403 h 2947"/>
                <a:gd name="T74" fmla="*/ 530 w 3282"/>
                <a:gd name="T75" fmla="*/ 375 h 2947"/>
                <a:gd name="T76" fmla="*/ 561 w 3282"/>
                <a:gd name="T77" fmla="*/ 369 h 2947"/>
                <a:gd name="T78" fmla="*/ 579 w 3282"/>
                <a:gd name="T79" fmla="*/ 341 h 2947"/>
                <a:gd name="T80" fmla="*/ 607 w 3282"/>
                <a:gd name="T81" fmla="*/ 315 h 2947"/>
                <a:gd name="T82" fmla="*/ 634 w 3282"/>
                <a:gd name="T83" fmla="*/ 298 h 2947"/>
                <a:gd name="T84" fmla="*/ 672 w 3282"/>
                <a:gd name="T85" fmla="*/ 300 h 2947"/>
                <a:gd name="T86" fmla="*/ 671 w 3282"/>
                <a:gd name="T87" fmla="*/ 277 h 2947"/>
                <a:gd name="T88" fmla="*/ 631 w 3282"/>
                <a:gd name="T89" fmla="*/ 249 h 2947"/>
                <a:gd name="T90" fmla="*/ 607 w 3282"/>
                <a:gd name="T91" fmla="*/ 260 h 2947"/>
                <a:gd name="T92" fmla="*/ 576 w 3282"/>
                <a:gd name="T93" fmla="*/ 258 h 2947"/>
                <a:gd name="T94" fmla="*/ 553 w 3282"/>
                <a:gd name="T95" fmla="*/ 268 h 2947"/>
                <a:gd name="T96" fmla="*/ 549 w 3282"/>
                <a:gd name="T97" fmla="*/ 245 h 2947"/>
                <a:gd name="T98" fmla="*/ 560 w 3282"/>
                <a:gd name="T99" fmla="*/ 195 h 2947"/>
                <a:gd name="T100" fmla="*/ 583 w 3282"/>
                <a:gd name="T101" fmla="*/ 179 h 2947"/>
                <a:gd name="T102" fmla="*/ 611 w 3282"/>
                <a:gd name="T103" fmla="*/ 168 h 2947"/>
                <a:gd name="T104" fmla="*/ 635 w 3282"/>
                <a:gd name="T105" fmla="*/ 152 h 2947"/>
                <a:gd name="T106" fmla="*/ 636 w 3282"/>
                <a:gd name="T107" fmla="*/ 124 h 2947"/>
                <a:gd name="T108" fmla="*/ 647 w 3282"/>
                <a:gd name="T109" fmla="*/ 84 h 2947"/>
                <a:gd name="T110" fmla="*/ 659 w 3282"/>
                <a:gd name="T111" fmla="*/ 61 h 2947"/>
                <a:gd name="T112" fmla="*/ 652 w 3282"/>
                <a:gd name="T113" fmla="*/ 37 h 2947"/>
                <a:gd name="T114" fmla="*/ 637 w 3282"/>
                <a:gd name="T115" fmla="*/ 31 h 294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282"/>
                <a:gd name="T175" fmla="*/ 0 h 2947"/>
                <a:gd name="T176" fmla="*/ 3282 w 3282"/>
                <a:gd name="T177" fmla="*/ 2947 h 294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282" h="2947">
                  <a:moveTo>
                    <a:pt x="2552" y="115"/>
                  </a:moveTo>
                  <a:lnTo>
                    <a:pt x="2554" y="111"/>
                  </a:lnTo>
                  <a:lnTo>
                    <a:pt x="2559" y="101"/>
                  </a:lnTo>
                  <a:lnTo>
                    <a:pt x="2569" y="87"/>
                  </a:lnTo>
                  <a:lnTo>
                    <a:pt x="2579" y="73"/>
                  </a:lnTo>
                  <a:lnTo>
                    <a:pt x="2589" y="55"/>
                  </a:lnTo>
                  <a:lnTo>
                    <a:pt x="2601" y="42"/>
                  </a:lnTo>
                  <a:lnTo>
                    <a:pt x="2609" y="28"/>
                  </a:lnTo>
                  <a:lnTo>
                    <a:pt x="2617" y="20"/>
                  </a:lnTo>
                  <a:lnTo>
                    <a:pt x="2628" y="12"/>
                  </a:lnTo>
                  <a:lnTo>
                    <a:pt x="2642" y="6"/>
                  </a:lnTo>
                  <a:lnTo>
                    <a:pt x="2658" y="2"/>
                  </a:lnTo>
                  <a:lnTo>
                    <a:pt x="2670" y="0"/>
                  </a:lnTo>
                  <a:lnTo>
                    <a:pt x="2676" y="0"/>
                  </a:lnTo>
                  <a:lnTo>
                    <a:pt x="2715" y="50"/>
                  </a:lnTo>
                  <a:lnTo>
                    <a:pt x="2670" y="132"/>
                  </a:lnTo>
                  <a:lnTo>
                    <a:pt x="2758" y="183"/>
                  </a:lnTo>
                  <a:lnTo>
                    <a:pt x="2782" y="142"/>
                  </a:lnTo>
                  <a:lnTo>
                    <a:pt x="2849" y="164"/>
                  </a:lnTo>
                  <a:lnTo>
                    <a:pt x="2853" y="231"/>
                  </a:lnTo>
                  <a:lnTo>
                    <a:pt x="2880" y="303"/>
                  </a:lnTo>
                  <a:lnTo>
                    <a:pt x="2983" y="303"/>
                  </a:lnTo>
                  <a:lnTo>
                    <a:pt x="3091" y="268"/>
                  </a:lnTo>
                  <a:lnTo>
                    <a:pt x="3138" y="207"/>
                  </a:lnTo>
                  <a:lnTo>
                    <a:pt x="3250" y="286"/>
                  </a:lnTo>
                  <a:lnTo>
                    <a:pt x="3231" y="386"/>
                  </a:lnTo>
                  <a:lnTo>
                    <a:pt x="3201" y="500"/>
                  </a:lnTo>
                  <a:lnTo>
                    <a:pt x="3231" y="616"/>
                  </a:lnTo>
                  <a:lnTo>
                    <a:pt x="3199" y="632"/>
                  </a:lnTo>
                  <a:lnTo>
                    <a:pt x="3191" y="701"/>
                  </a:lnTo>
                  <a:lnTo>
                    <a:pt x="3140" y="756"/>
                  </a:lnTo>
                  <a:lnTo>
                    <a:pt x="3085" y="866"/>
                  </a:lnTo>
                  <a:lnTo>
                    <a:pt x="3002" y="957"/>
                  </a:lnTo>
                  <a:lnTo>
                    <a:pt x="2987" y="1004"/>
                  </a:lnTo>
                  <a:lnTo>
                    <a:pt x="3042" y="1063"/>
                  </a:lnTo>
                  <a:lnTo>
                    <a:pt x="3083" y="1120"/>
                  </a:lnTo>
                  <a:lnTo>
                    <a:pt x="3071" y="1201"/>
                  </a:lnTo>
                  <a:lnTo>
                    <a:pt x="3079" y="1266"/>
                  </a:lnTo>
                  <a:lnTo>
                    <a:pt x="3030" y="1244"/>
                  </a:lnTo>
                  <a:lnTo>
                    <a:pt x="3014" y="1264"/>
                  </a:lnTo>
                  <a:lnTo>
                    <a:pt x="2971" y="1250"/>
                  </a:lnTo>
                  <a:lnTo>
                    <a:pt x="2947" y="1305"/>
                  </a:lnTo>
                  <a:lnTo>
                    <a:pt x="2989" y="1313"/>
                  </a:lnTo>
                  <a:lnTo>
                    <a:pt x="3030" y="1368"/>
                  </a:lnTo>
                  <a:lnTo>
                    <a:pt x="3024" y="1451"/>
                  </a:lnTo>
                  <a:lnTo>
                    <a:pt x="3059" y="1500"/>
                  </a:lnTo>
                  <a:lnTo>
                    <a:pt x="3061" y="1530"/>
                  </a:lnTo>
                  <a:lnTo>
                    <a:pt x="3091" y="1536"/>
                  </a:lnTo>
                  <a:lnTo>
                    <a:pt x="3170" y="1475"/>
                  </a:lnTo>
                  <a:lnTo>
                    <a:pt x="3209" y="1541"/>
                  </a:lnTo>
                  <a:lnTo>
                    <a:pt x="3244" y="1608"/>
                  </a:lnTo>
                  <a:lnTo>
                    <a:pt x="3282" y="1630"/>
                  </a:lnTo>
                  <a:lnTo>
                    <a:pt x="3282" y="1677"/>
                  </a:lnTo>
                  <a:lnTo>
                    <a:pt x="3239" y="1728"/>
                  </a:lnTo>
                  <a:lnTo>
                    <a:pt x="3189" y="1776"/>
                  </a:lnTo>
                  <a:lnTo>
                    <a:pt x="3138" y="1766"/>
                  </a:lnTo>
                  <a:lnTo>
                    <a:pt x="3134" y="1803"/>
                  </a:lnTo>
                  <a:lnTo>
                    <a:pt x="3101" y="1819"/>
                  </a:lnTo>
                  <a:lnTo>
                    <a:pt x="3032" y="1839"/>
                  </a:lnTo>
                  <a:lnTo>
                    <a:pt x="2981" y="1898"/>
                  </a:lnTo>
                  <a:lnTo>
                    <a:pt x="2928" y="1941"/>
                  </a:lnTo>
                  <a:lnTo>
                    <a:pt x="2884" y="2012"/>
                  </a:lnTo>
                  <a:lnTo>
                    <a:pt x="2839" y="1947"/>
                  </a:lnTo>
                  <a:lnTo>
                    <a:pt x="2798" y="1917"/>
                  </a:lnTo>
                  <a:lnTo>
                    <a:pt x="2768" y="1945"/>
                  </a:lnTo>
                  <a:lnTo>
                    <a:pt x="2788" y="1967"/>
                  </a:lnTo>
                  <a:lnTo>
                    <a:pt x="2788" y="2032"/>
                  </a:lnTo>
                  <a:lnTo>
                    <a:pt x="2811" y="2087"/>
                  </a:lnTo>
                  <a:lnTo>
                    <a:pt x="2778" y="2140"/>
                  </a:lnTo>
                  <a:lnTo>
                    <a:pt x="2770" y="2118"/>
                  </a:lnTo>
                  <a:lnTo>
                    <a:pt x="2703" y="2116"/>
                  </a:lnTo>
                  <a:lnTo>
                    <a:pt x="2656" y="2073"/>
                  </a:lnTo>
                  <a:lnTo>
                    <a:pt x="2640" y="2012"/>
                  </a:lnTo>
                  <a:lnTo>
                    <a:pt x="2607" y="1971"/>
                  </a:lnTo>
                  <a:lnTo>
                    <a:pt x="2581" y="1925"/>
                  </a:lnTo>
                  <a:lnTo>
                    <a:pt x="2556" y="1911"/>
                  </a:lnTo>
                  <a:lnTo>
                    <a:pt x="2536" y="1941"/>
                  </a:lnTo>
                  <a:lnTo>
                    <a:pt x="2506" y="1943"/>
                  </a:lnTo>
                  <a:lnTo>
                    <a:pt x="2469" y="1967"/>
                  </a:lnTo>
                  <a:lnTo>
                    <a:pt x="2479" y="2035"/>
                  </a:lnTo>
                  <a:lnTo>
                    <a:pt x="2441" y="2049"/>
                  </a:lnTo>
                  <a:lnTo>
                    <a:pt x="2414" y="2039"/>
                  </a:lnTo>
                  <a:lnTo>
                    <a:pt x="2386" y="2075"/>
                  </a:lnTo>
                  <a:lnTo>
                    <a:pt x="2347" y="2073"/>
                  </a:lnTo>
                  <a:lnTo>
                    <a:pt x="2296" y="2128"/>
                  </a:lnTo>
                  <a:lnTo>
                    <a:pt x="2248" y="2132"/>
                  </a:lnTo>
                  <a:lnTo>
                    <a:pt x="2231" y="2055"/>
                  </a:lnTo>
                  <a:lnTo>
                    <a:pt x="2183" y="2051"/>
                  </a:lnTo>
                  <a:lnTo>
                    <a:pt x="2158" y="2093"/>
                  </a:lnTo>
                  <a:lnTo>
                    <a:pt x="2152" y="2142"/>
                  </a:lnTo>
                  <a:lnTo>
                    <a:pt x="2120" y="2181"/>
                  </a:lnTo>
                  <a:lnTo>
                    <a:pt x="2132" y="2222"/>
                  </a:lnTo>
                  <a:lnTo>
                    <a:pt x="2117" y="2246"/>
                  </a:lnTo>
                  <a:lnTo>
                    <a:pt x="2185" y="2333"/>
                  </a:lnTo>
                  <a:lnTo>
                    <a:pt x="2075" y="2376"/>
                  </a:lnTo>
                  <a:lnTo>
                    <a:pt x="2014" y="2376"/>
                  </a:lnTo>
                  <a:lnTo>
                    <a:pt x="1928" y="2407"/>
                  </a:lnTo>
                  <a:lnTo>
                    <a:pt x="1880" y="2526"/>
                  </a:lnTo>
                  <a:lnTo>
                    <a:pt x="1802" y="2555"/>
                  </a:lnTo>
                  <a:lnTo>
                    <a:pt x="1766" y="2539"/>
                  </a:lnTo>
                  <a:lnTo>
                    <a:pt x="1731" y="2598"/>
                  </a:lnTo>
                  <a:lnTo>
                    <a:pt x="1674" y="2579"/>
                  </a:lnTo>
                  <a:lnTo>
                    <a:pt x="1621" y="2638"/>
                  </a:lnTo>
                  <a:lnTo>
                    <a:pt x="1601" y="2718"/>
                  </a:lnTo>
                  <a:lnTo>
                    <a:pt x="1502" y="2852"/>
                  </a:lnTo>
                  <a:lnTo>
                    <a:pt x="1459" y="2888"/>
                  </a:lnTo>
                  <a:lnTo>
                    <a:pt x="1430" y="2860"/>
                  </a:lnTo>
                  <a:lnTo>
                    <a:pt x="1339" y="2876"/>
                  </a:lnTo>
                  <a:lnTo>
                    <a:pt x="1298" y="2823"/>
                  </a:lnTo>
                  <a:lnTo>
                    <a:pt x="1239" y="2821"/>
                  </a:lnTo>
                  <a:lnTo>
                    <a:pt x="1195" y="2781"/>
                  </a:lnTo>
                  <a:lnTo>
                    <a:pt x="1233" y="2707"/>
                  </a:lnTo>
                  <a:lnTo>
                    <a:pt x="1248" y="2659"/>
                  </a:lnTo>
                  <a:lnTo>
                    <a:pt x="1215" y="2612"/>
                  </a:lnTo>
                  <a:lnTo>
                    <a:pt x="1150" y="2630"/>
                  </a:lnTo>
                  <a:lnTo>
                    <a:pt x="1115" y="2709"/>
                  </a:lnTo>
                  <a:lnTo>
                    <a:pt x="1101" y="2846"/>
                  </a:lnTo>
                  <a:lnTo>
                    <a:pt x="1052" y="2901"/>
                  </a:lnTo>
                  <a:lnTo>
                    <a:pt x="939" y="2947"/>
                  </a:lnTo>
                  <a:lnTo>
                    <a:pt x="869" y="2941"/>
                  </a:lnTo>
                  <a:lnTo>
                    <a:pt x="810" y="2886"/>
                  </a:lnTo>
                  <a:lnTo>
                    <a:pt x="817" y="2795"/>
                  </a:lnTo>
                  <a:lnTo>
                    <a:pt x="874" y="2764"/>
                  </a:lnTo>
                  <a:lnTo>
                    <a:pt x="874" y="2657"/>
                  </a:lnTo>
                  <a:lnTo>
                    <a:pt x="829" y="2618"/>
                  </a:lnTo>
                  <a:lnTo>
                    <a:pt x="754" y="2620"/>
                  </a:lnTo>
                  <a:lnTo>
                    <a:pt x="658" y="2714"/>
                  </a:lnTo>
                  <a:lnTo>
                    <a:pt x="524" y="2714"/>
                  </a:lnTo>
                  <a:lnTo>
                    <a:pt x="441" y="2671"/>
                  </a:lnTo>
                  <a:lnTo>
                    <a:pt x="445" y="2610"/>
                  </a:lnTo>
                  <a:lnTo>
                    <a:pt x="378" y="2606"/>
                  </a:lnTo>
                  <a:lnTo>
                    <a:pt x="302" y="2539"/>
                  </a:lnTo>
                  <a:lnTo>
                    <a:pt x="351" y="2470"/>
                  </a:lnTo>
                  <a:lnTo>
                    <a:pt x="396" y="2457"/>
                  </a:lnTo>
                  <a:lnTo>
                    <a:pt x="376" y="2390"/>
                  </a:lnTo>
                  <a:lnTo>
                    <a:pt x="296" y="2362"/>
                  </a:lnTo>
                  <a:lnTo>
                    <a:pt x="203" y="2374"/>
                  </a:lnTo>
                  <a:lnTo>
                    <a:pt x="156" y="2429"/>
                  </a:lnTo>
                  <a:lnTo>
                    <a:pt x="111" y="2423"/>
                  </a:lnTo>
                  <a:lnTo>
                    <a:pt x="34" y="2333"/>
                  </a:lnTo>
                  <a:lnTo>
                    <a:pt x="0" y="2236"/>
                  </a:lnTo>
                  <a:lnTo>
                    <a:pt x="18" y="2179"/>
                  </a:lnTo>
                  <a:lnTo>
                    <a:pt x="10" y="2055"/>
                  </a:lnTo>
                  <a:lnTo>
                    <a:pt x="14" y="2057"/>
                  </a:lnTo>
                  <a:lnTo>
                    <a:pt x="30" y="2057"/>
                  </a:lnTo>
                  <a:lnTo>
                    <a:pt x="52" y="2059"/>
                  </a:lnTo>
                  <a:lnTo>
                    <a:pt x="79" y="2063"/>
                  </a:lnTo>
                  <a:lnTo>
                    <a:pt x="109" y="2065"/>
                  </a:lnTo>
                  <a:lnTo>
                    <a:pt x="138" y="2069"/>
                  </a:lnTo>
                  <a:lnTo>
                    <a:pt x="166" y="2073"/>
                  </a:lnTo>
                  <a:lnTo>
                    <a:pt x="189" y="2077"/>
                  </a:lnTo>
                  <a:lnTo>
                    <a:pt x="207" y="2081"/>
                  </a:lnTo>
                  <a:lnTo>
                    <a:pt x="243" y="2089"/>
                  </a:lnTo>
                  <a:lnTo>
                    <a:pt x="278" y="2089"/>
                  </a:lnTo>
                  <a:lnTo>
                    <a:pt x="308" y="2081"/>
                  </a:lnTo>
                  <a:lnTo>
                    <a:pt x="323" y="2075"/>
                  </a:lnTo>
                  <a:lnTo>
                    <a:pt x="337" y="2069"/>
                  </a:lnTo>
                  <a:lnTo>
                    <a:pt x="351" y="2067"/>
                  </a:lnTo>
                  <a:lnTo>
                    <a:pt x="367" y="2065"/>
                  </a:lnTo>
                  <a:lnTo>
                    <a:pt x="386" y="2069"/>
                  </a:lnTo>
                  <a:lnTo>
                    <a:pt x="412" y="2075"/>
                  </a:lnTo>
                  <a:lnTo>
                    <a:pt x="441" y="2079"/>
                  </a:lnTo>
                  <a:lnTo>
                    <a:pt x="473" y="2083"/>
                  </a:lnTo>
                  <a:lnTo>
                    <a:pt x="498" y="2087"/>
                  </a:lnTo>
                  <a:lnTo>
                    <a:pt x="518" y="2087"/>
                  </a:lnTo>
                  <a:lnTo>
                    <a:pt x="542" y="2089"/>
                  </a:lnTo>
                  <a:lnTo>
                    <a:pt x="560" y="2095"/>
                  </a:lnTo>
                  <a:lnTo>
                    <a:pt x="575" y="2104"/>
                  </a:lnTo>
                  <a:lnTo>
                    <a:pt x="589" y="2118"/>
                  </a:lnTo>
                  <a:lnTo>
                    <a:pt x="607" y="2134"/>
                  </a:lnTo>
                  <a:lnTo>
                    <a:pt x="626" y="2148"/>
                  </a:lnTo>
                  <a:lnTo>
                    <a:pt x="646" y="2156"/>
                  </a:lnTo>
                  <a:lnTo>
                    <a:pt x="666" y="2163"/>
                  </a:lnTo>
                  <a:lnTo>
                    <a:pt x="685" y="2173"/>
                  </a:lnTo>
                  <a:lnTo>
                    <a:pt x="709" y="2183"/>
                  </a:lnTo>
                  <a:lnTo>
                    <a:pt x="739" y="2193"/>
                  </a:lnTo>
                  <a:lnTo>
                    <a:pt x="762" y="2197"/>
                  </a:lnTo>
                  <a:lnTo>
                    <a:pt x="792" y="2199"/>
                  </a:lnTo>
                  <a:lnTo>
                    <a:pt x="821" y="2201"/>
                  </a:lnTo>
                  <a:lnTo>
                    <a:pt x="851" y="2201"/>
                  </a:lnTo>
                  <a:lnTo>
                    <a:pt x="874" y="2201"/>
                  </a:lnTo>
                  <a:lnTo>
                    <a:pt x="892" y="2203"/>
                  </a:lnTo>
                  <a:lnTo>
                    <a:pt x="904" y="2207"/>
                  </a:lnTo>
                  <a:lnTo>
                    <a:pt x="914" y="2215"/>
                  </a:lnTo>
                  <a:lnTo>
                    <a:pt x="924" y="2224"/>
                  </a:lnTo>
                  <a:lnTo>
                    <a:pt x="935" y="2232"/>
                  </a:lnTo>
                  <a:lnTo>
                    <a:pt x="947" y="2236"/>
                  </a:lnTo>
                  <a:lnTo>
                    <a:pt x="965" y="2238"/>
                  </a:lnTo>
                  <a:lnTo>
                    <a:pt x="985" y="2234"/>
                  </a:lnTo>
                  <a:lnTo>
                    <a:pt x="1002" y="2224"/>
                  </a:lnTo>
                  <a:lnTo>
                    <a:pt x="1024" y="2207"/>
                  </a:lnTo>
                  <a:lnTo>
                    <a:pt x="1048" y="2187"/>
                  </a:lnTo>
                  <a:lnTo>
                    <a:pt x="1073" y="2171"/>
                  </a:lnTo>
                  <a:lnTo>
                    <a:pt x="1103" y="2157"/>
                  </a:lnTo>
                  <a:lnTo>
                    <a:pt x="1134" y="2144"/>
                  </a:lnTo>
                  <a:lnTo>
                    <a:pt x="1164" y="2130"/>
                  </a:lnTo>
                  <a:lnTo>
                    <a:pt x="1199" y="2114"/>
                  </a:lnTo>
                  <a:lnTo>
                    <a:pt x="1241" y="2098"/>
                  </a:lnTo>
                  <a:lnTo>
                    <a:pt x="1282" y="2087"/>
                  </a:lnTo>
                  <a:lnTo>
                    <a:pt x="1325" y="2079"/>
                  </a:lnTo>
                  <a:lnTo>
                    <a:pt x="1345" y="2077"/>
                  </a:lnTo>
                  <a:lnTo>
                    <a:pt x="1357" y="2077"/>
                  </a:lnTo>
                  <a:lnTo>
                    <a:pt x="1363" y="2079"/>
                  </a:lnTo>
                  <a:lnTo>
                    <a:pt x="1367" y="2079"/>
                  </a:lnTo>
                  <a:lnTo>
                    <a:pt x="1371" y="2081"/>
                  </a:lnTo>
                  <a:lnTo>
                    <a:pt x="1378" y="2081"/>
                  </a:lnTo>
                  <a:lnTo>
                    <a:pt x="1392" y="2081"/>
                  </a:lnTo>
                  <a:lnTo>
                    <a:pt x="1418" y="2079"/>
                  </a:lnTo>
                  <a:lnTo>
                    <a:pt x="1463" y="2075"/>
                  </a:lnTo>
                  <a:lnTo>
                    <a:pt x="1498" y="2071"/>
                  </a:lnTo>
                  <a:lnTo>
                    <a:pt x="1526" y="2065"/>
                  </a:lnTo>
                  <a:lnTo>
                    <a:pt x="1548" y="2059"/>
                  </a:lnTo>
                  <a:lnTo>
                    <a:pt x="1561" y="2053"/>
                  </a:lnTo>
                  <a:lnTo>
                    <a:pt x="1571" y="2045"/>
                  </a:lnTo>
                  <a:lnTo>
                    <a:pt x="1577" y="2035"/>
                  </a:lnTo>
                  <a:lnTo>
                    <a:pt x="1581" y="2030"/>
                  </a:lnTo>
                  <a:lnTo>
                    <a:pt x="1589" y="2024"/>
                  </a:lnTo>
                  <a:lnTo>
                    <a:pt x="1603" y="2018"/>
                  </a:lnTo>
                  <a:lnTo>
                    <a:pt x="1622" y="2014"/>
                  </a:lnTo>
                  <a:lnTo>
                    <a:pt x="1640" y="2006"/>
                  </a:lnTo>
                  <a:lnTo>
                    <a:pt x="1656" y="1994"/>
                  </a:lnTo>
                  <a:lnTo>
                    <a:pt x="1668" y="1974"/>
                  </a:lnTo>
                  <a:lnTo>
                    <a:pt x="1674" y="1957"/>
                  </a:lnTo>
                  <a:lnTo>
                    <a:pt x="1680" y="1941"/>
                  </a:lnTo>
                  <a:lnTo>
                    <a:pt x="1685" y="1927"/>
                  </a:lnTo>
                  <a:lnTo>
                    <a:pt x="1697" y="1913"/>
                  </a:lnTo>
                  <a:lnTo>
                    <a:pt x="1715" y="1900"/>
                  </a:lnTo>
                  <a:lnTo>
                    <a:pt x="1737" y="1888"/>
                  </a:lnTo>
                  <a:lnTo>
                    <a:pt x="1752" y="1878"/>
                  </a:lnTo>
                  <a:lnTo>
                    <a:pt x="1764" y="1872"/>
                  </a:lnTo>
                  <a:lnTo>
                    <a:pt x="1772" y="1866"/>
                  </a:lnTo>
                  <a:lnTo>
                    <a:pt x="1780" y="1860"/>
                  </a:lnTo>
                  <a:lnTo>
                    <a:pt x="1790" y="1854"/>
                  </a:lnTo>
                  <a:lnTo>
                    <a:pt x="1804" y="1848"/>
                  </a:lnTo>
                  <a:lnTo>
                    <a:pt x="1817" y="1841"/>
                  </a:lnTo>
                  <a:lnTo>
                    <a:pt x="1831" y="1831"/>
                  </a:lnTo>
                  <a:lnTo>
                    <a:pt x="1837" y="1821"/>
                  </a:lnTo>
                  <a:lnTo>
                    <a:pt x="1837" y="1811"/>
                  </a:lnTo>
                  <a:lnTo>
                    <a:pt x="1825" y="1795"/>
                  </a:lnTo>
                  <a:lnTo>
                    <a:pt x="1809" y="1780"/>
                  </a:lnTo>
                  <a:lnTo>
                    <a:pt x="1794" y="1762"/>
                  </a:lnTo>
                  <a:lnTo>
                    <a:pt x="1780" y="1744"/>
                  </a:lnTo>
                  <a:lnTo>
                    <a:pt x="1772" y="1726"/>
                  </a:lnTo>
                  <a:lnTo>
                    <a:pt x="1772" y="1707"/>
                  </a:lnTo>
                  <a:lnTo>
                    <a:pt x="1772" y="1679"/>
                  </a:lnTo>
                  <a:lnTo>
                    <a:pt x="1776" y="1652"/>
                  </a:lnTo>
                  <a:lnTo>
                    <a:pt x="1782" y="1628"/>
                  </a:lnTo>
                  <a:lnTo>
                    <a:pt x="1790" y="1608"/>
                  </a:lnTo>
                  <a:lnTo>
                    <a:pt x="1806" y="1593"/>
                  </a:lnTo>
                  <a:lnTo>
                    <a:pt x="1823" y="1585"/>
                  </a:lnTo>
                  <a:lnTo>
                    <a:pt x="1843" y="1581"/>
                  </a:lnTo>
                  <a:lnTo>
                    <a:pt x="1863" y="1585"/>
                  </a:lnTo>
                  <a:lnTo>
                    <a:pt x="1884" y="1597"/>
                  </a:lnTo>
                  <a:lnTo>
                    <a:pt x="1910" y="1606"/>
                  </a:lnTo>
                  <a:lnTo>
                    <a:pt x="1937" y="1614"/>
                  </a:lnTo>
                  <a:lnTo>
                    <a:pt x="1963" y="1616"/>
                  </a:lnTo>
                  <a:lnTo>
                    <a:pt x="1985" y="1614"/>
                  </a:lnTo>
                  <a:lnTo>
                    <a:pt x="2002" y="1614"/>
                  </a:lnTo>
                  <a:lnTo>
                    <a:pt x="2020" y="1612"/>
                  </a:lnTo>
                  <a:lnTo>
                    <a:pt x="2034" y="1608"/>
                  </a:lnTo>
                  <a:lnTo>
                    <a:pt x="2046" y="1597"/>
                  </a:lnTo>
                  <a:lnTo>
                    <a:pt x="2058" y="1581"/>
                  </a:lnTo>
                  <a:lnTo>
                    <a:pt x="2071" y="1561"/>
                  </a:lnTo>
                  <a:lnTo>
                    <a:pt x="2085" y="1538"/>
                  </a:lnTo>
                  <a:lnTo>
                    <a:pt x="2101" y="1518"/>
                  </a:lnTo>
                  <a:lnTo>
                    <a:pt x="2117" y="1502"/>
                  </a:lnTo>
                  <a:lnTo>
                    <a:pt x="2130" y="1494"/>
                  </a:lnTo>
                  <a:lnTo>
                    <a:pt x="2146" y="1490"/>
                  </a:lnTo>
                  <a:lnTo>
                    <a:pt x="2166" y="1488"/>
                  </a:lnTo>
                  <a:lnTo>
                    <a:pt x="2189" y="1486"/>
                  </a:lnTo>
                  <a:lnTo>
                    <a:pt x="2213" y="1484"/>
                  </a:lnTo>
                  <a:lnTo>
                    <a:pt x="2231" y="1482"/>
                  </a:lnTo>
                  <a:lnTo>
                    <a:pt x="2243" y="1477"/>
                  </a:lnTo>
                  <a:lnTo>
                    <a:pt x="2254" y="1469"/>
                  </a:lnTo>
                  <a:lnTo>
                    <a:pt x="2268" y="1455"/>
                  </a:lnTo>
                  <a:lnTo>
                    <a:pt x="2284" y="1437"/>
                  </a:lnTo>
                  <a:lnTo>
                    <a:pt x="2298" y="1421"/>
                  </a:lnTo>
                  <a:lnTo>
                    <a:pt x="2308" y="1408"/>
                  </a:lnTo>
                  <a:lnTo>
                    <a:pt x="2311" y="1388"/>
                  </a:lnTo>
                  <a:lnTo>
                    <a:pt x="2315" y="1364"/>
                  </a:lnTo>
                  <a:lnTo>
                    <a:pt x="2321" y="1343"/>
                  </a:lnTo>
                  <a:lnTo>
                    <a:pt x="2331" y="1323"/>
                  </a:lnTo>
                  <a:lnTo>
                    <a:pt x="2351" y="1303"/>
                  </a:lnTo>
                  <a:lnTo>
                    <a:pt x="2374" y="1286"/>
                  </a:lnTo>
                  <a:lnTo>
                    <a:pt x="2402" y="1276"/>
                  </a:lnTo>
                  <a:lnTo>
                    <a:pt x="2416" y="1270"/>
                  </a:lnTo>
                  <a:lnTo>
                    <a:pt x="2426" y="1262"/>
                  </a:lnTo>
                  <a:lnTo>
                    <a:pt x="2433" y="1250"/>
                  </a:lnTo>
                  <a:lnTo>
                    <a:pt x="2443" y="1240"/>
                  </a:lnTo>
                  <a:lnTo>
                    <a:pt x="2455" y="1232"/>
                  </a:lnTo>
                  <a:lnTo>
                    <a:pt x="2469" y="1227"/>
                  </a:lnTo>
                  <a:lnTo>
                    <a:pt x="2487" y="1217"/>
                  </a:lnTo>
                  <a:lnTo>
                    <a:pt x="2510" y="1205"/>
                  </a:lnTo>
                  <a:lnTo>
                    <a:pt x="2534" y="1195"/>
                  </a:lnTo>
                  <a:lnTo>
                    <a:pt x="2559" y="1189"/>
                  </a:lnTo>
                  <a:lnTo>
                    <a:pt x="2583" y="1187"/>
                  </a:lnTo>
                  <a:lnTo>
                    <a:pt x="2607" y="1189"/>
                  </a:lnTo>
                  <a:lnTo>
                    <a:pt x="2628" y="1195"/>
                  </a:lnTo>
                  <a:lnTo>
                    <a:pt x="2652" y="1199"/>
                  </a:lnTo>
                  <a:lnTo>
                    <a:pt x="2670" y="1203"/>
                  </a:lnTo>
                  <a:lnTo>
                    <a:pt x="2685" y="1203"/>
                  </a:lnTo>
                  <a:lnTo>
                    <a:pt x="2697" y="1197"/>
                  </a:lnTo>
                  <a:lnTo>
                    <a:pt x="2707" y="1183"/>
                  </a:lnTo>
                  <a:lnTo>
                    <a:pt x="2713" y="1171"/>
                  </a:lnTo>
                  <a:lnTo>
                    <a:pt x="2713" y="1158"/>
                  </a:lnTo>
                  <a:lnTo>
                    <a:pt x="2707" y="1140"/>
                  </a:lnTo>
                  <a:lnTo>
                    <a:pt x="2695" y="1126"/>
                  </a:lnTo>
                  <a:lnTo>
                    <a:pt x="2682" y="1108"/>
                  </a:lnTo>
                  <a:lnTo>
                    <a:pt x="2662" y="1089"/>
                  </a:lnTo>
                  <a:lnTo>
                    <a:pt x="2644" y="1071"/>
                  </a:lnTo>
                  <a:lnTo>
                    <a:pt x="2626" y="1055"/>
                  </a:lnTo>
                  <a:lnTo>
                    <a:pt x="2611" y="1042"/>
                  </a:lnTo>
                  <a:lnTo>
                    <a:pt x="2575" y="1016"/>
                  </a:lnTo>
                  <a:lnTo>
                    <a:pt x="2538" y="1004"/>
                  </a:lnTo>
                  <a:lnTo>
                    <a:pt x="2524" y="998"/>
                  </a:lnTo>
                  <a:lnTo>
                    <a:pt x="2510" y="990"/>
                  </a:lnTo>
                  <a:lnTo>
                    <a:pt x="2498" y="986"/>
                  </a:lnTo>
                  <a:lnTo>
                    <a:pt x="2485" y="984"/>
                  </a:lnTo>
                  <a:lnTo>
                    <a:pt x="2469" y="990"/>
                  </a:lnTo>
                  <a:lnTo>
                    <a:pt x="2453" y="1006"/>
                  </a:lnTo>
                  <a:lnTo>
                    <a:pt x="2439" y="1024"/>
                  </a:lnTo>
                  <a:lnTo>
                    <a:pt x="2426" y="1040"/>
                  </a:lnTo>
                  <a:lnTo>
                    <a:pt x="2408" y="1051"/>
                  </a:lnTo>
                  <a:lnTo>
                    <a:pt x="2394" y="1053"/>
                  </a:lnTo>
                  <a:lnTo>
                    <a:pt x="2376" y="1049"/>
                  </a:lnTo>
                  <a:lnTo>
                    <a:pt x="2357" y="1044"/>
                  </a:lnTo>
                  <a:lnTo>
                    <a:pt x="2337" y="1036"/>
                  </a:lnTo>
                  <a:lnTo>
                    <a:pt x="2317" y="1032"/>
                  </a:lnTo>
                  <a:lnTo>
                    <a:pt x="2304" y="1034"/>
                  </a:lnTo>
                  <a:lnTo>
                    <a:pt x="2292" y="1042"/>
                  </a:lnTo>
                  <a:lnTo>
                    <a:pt x="2282" y="1053"/>
                  </a:lnTo>
                  <a:lnTo>
                    <a:pt x="2272" y="1067"/>
                  </a:lnTo>
                  <a:lnTo>
                    <a:pt x="2260" y="1079"/>
                  </a:lnTo>
                  <a:lnTo>
                    <a:pt x="2248" y="1087"/>
                  </a:lnTo>
                  <a:lnTo>
                    <a:pt x="2235" y="1087"/>
                  </a:lnTo>
                  <a:lnTo>
                    <a:pt x="2211" y="1075"/>
                  </a:lnTo>
                  <a:lnTo>
                    <a:pt x="2189" y="1061"/>
                  </a:lnTo>
                  <a:lnTo>
                    <a:pt x="2174" y="1044"/>
                  </a:lnTo>
                  <a:lnTo>
                    <a:pt x="2168" y="1024"/>
                  </a:lnTo>
                  <a:lnTo>
                    <a:pt x="2170" y="1010"/>
                  </a:lnTo>
                  <a:lnTo>
                    <a:pt x="2178" y="1002"/>
                  </a:lnTo>
                  <a:lnTo>
                    <a:pt x="2185" y="992"/>
                  </a:lnTo>
                  <a:lnTo>
                    <a:pt x="2193" y="982"/>
                  </a:lnTo>
                  <a:lnTo>
                    <a:pt x="2197" y="965"/>
                  </a:lnTo>
                  <a:lnTo>
                    <a:pt x="2199" y="935"/>
                  </a:lnTo>
                  <a:lnTo>
                    <a:pt x="2201" y="902"/>
                  </a:lnTo>
                  <a:lnTo>
                    <a:pt x="2207" y="868"/>
                  </a:lnTo>
                  <a:lnTo>
                    <a:pt x="2217" y="839"/>
                  </a:lnTo>
                  <a:lnTo>
                    <a:pt x="2229" y="811"/>
                  </a:lnTo>
                  <a:lnTo>
                    <a:pt x="2239" y="782"/>
                  </a:lnTo>
                  <a:lnTo>
                    <a:pt x="2248" y="754"/>
                  </a:lnTo>
                  <a:lnTo>
                    <a:pt x="2254" y="735"/>
                  </a:lnTo>
                  <a:lnTo>
                    <a:pt x="2262" y="721"/>
                  </a:lnTo>
                  <a:lnTo>
                    <a:pt x="2276" y="713"/>
                  </a:lnTo>
                  <a:lnTo>
                    <a:pt x="2296" y="711"/>
                  </a:lnTo>
                  <a:lnTo>
                    <a:pt x="2317" y="713"/>
                  </a:lnTo>
                  <a:lnTo>
                    <a:pt x="2331" y="719"/>
                  </a:lnTo>
                  <a:lnTo>
                    <a:pt x="2349" y="725"/>
                  </a:lnTo>
                  <a:lnTo>
                    <a:pt x="2365" y="733"/>
                  </a:lnTo>
                  <a:lnTo>
                    <a:pt x="2380" y="736"/>
                  </a:lnTo>
                  <a:lnTo>
                    <a:pt x="2394" y="736"/>
                  </a:lnTo>
                  <a:lnTo>
                    <a:pt x="2406" y="729"/>
                  </a:lnTo>
                  <a:lnTo>
                    <a:pt x="2424" y="703"/>
                  </a:lnTo>
                  <a:lnTo>
                    <a:pt x="2443" y="675"/>
                  </a:lnTo>
                  <a:lnTo>
                    <a:pt x="2463" y="650"/>
                  </a:lnTo>
                  <a:lnTo>
                    <a:pt x="2477" y="640"/>
                  </a:lnTo>
                  <a:lnTo>
                    <a:pt x="2493" y="636"/>
                  </a:lnTo>
                  <a:lnTo>
                    <a:pt x="2506" y="634"/>
                  </a:lnTo>
                  <a:lnTo>
                    <a:pt x="2522" y="630"/>
                  </a:lnTo>
                  <a:lnTo>
                    <a:pt x="2534" y="622"/>
                  </a:lnTo>
                  <a:lnTo>
                    <a:pt x="2540" y="611"/>
                  </a:lnTo>
                  <a:lnTo>
                    <a:pt x="2542" y="595"/>
                  </a:lnTo>
                  <a:lnTo>
                    <a:pt x="2538" y="577"/>
                  </a:lnTo>
                  <a:lnTo>
                    <a:pt x="2534" y="561"/>
                  </a:lnTo>
                  <a:lnTo>
                    <a:pt x="2530" y="548"/>
                  </a:lnTo>
                  <a:lnTo>
                    <a:pt x="2532" y="534"/>
                  </a:lnTo>
                  <a:lnTo>
                    <a:pt x="2536" y="518"/>
                  </a:lnTo>
                  <a:lnTo>
                    <a:pt x="2542" y="498"/>
                  </a:lnTo>
                  <a:lnTo>
                    <a:pt x="2550" y="477"/>
                  </a:lnTo>
                  <a:lnTo>
                    <a:pt x="2556" y="459"/>
                  </a:lnTo>
                  <a:lnTo>
                    <a:pt x="2561" y="443"/>
                  </a:lnTo>
                  <a:lnTo>
                    <a:pt x="2567" y="416"/>
                  </a:lnTo>
                  <a:lnTo>
                    <a:pt x="2571" y="386"/>
                  </a:lnTo>
                  <a:lnTo>
                    <a:pt x="2579" y="355"/>
                  </a:lnTo>
                  <a:lnTo>
                    <a:pt x="2585" y="337"/>
                  </a:lnTo>
                  <a:lnTo>
                    <a:pt x="2589" y="327"/>
                  </a:lnTo>
                  <a:lnTo>
                    <a:pt x="2595" y="317"/>
                  </a:lnTo>
                  <a:lnTo>
                    <a:pt x="2603" y="305"/>
                  </a:lnTo>
                  <a:lnTo>
                    <a:pt x="2615" y="294"/>
                  </a:lnTo>
                  <a:lnTo>
                    <a:pt x="2626" y="276"/>
                  </a:lnTo>
                  <a:lnTo>
                    <a:pt x="2632" y="260"/>
                  </a:lnTo>
                  <a:lnTo>
                    <a:pt x="2634" y="246"/>
                  </a:lnTo>
                  <a:lnTo>
                    <a:pt x="2634" y="231"/>
                  </a:lnTo>
                  <a:lnTo>
                    <a:pt x="2632" y="209"/>
                  </a:lnTo>
                  <a:lnTo>
                    <a:pt x="2632" y="185"/>
                  </a:lnTo>
                  <a:lnTo>
                    <a:pt x="2628" y="164"/>
                  </a:lnTo>
                  <a:lnTo>
                    <a:pt x="2622" y="150"/>
                  </a:lnTo>
                  <a:lnTo>
                    <a:pt x="2615" y="146"/>
                  </a:lnTo>
                  <a:lnTo>
                    <a:pt x="2605" y="148"/>
                  </a:lnTo>
                  <a:lnTo>
                    <a:pt x="2593" y="152"/>
                  </a:lnTo>
                  <a:lnTo>
                    <a:pt x="2581" y="156"/>
                  </a:lnTo>
                  <a:lnTo>
                    <a:pt x="2567" y="158"/>
                  </a:lnTo>
                  <a:lnTo>
                    <a:pt x="2556" y="156"/>
                  </a:lnTo>
                  <a:lnTo>
                    <a:pt x="2548" y="148"/>
                  </a:lnTo>
                  <a:lnTo>
                    <a:pt x="2546" y="136"/>
                  </a:lnTo>
                  <a:lnTo>
                    <a:pt x="2548" y="124"/>
                  </a:lnTo>
                  <a:lnTo>
                    <a:pt x="2550" y="116"/>
                  </a:lnTo>
                  <a:lnTo>
                    <a:pt x="2552" y="115"/>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3" name="Freeform 107"/>
            <p:cNvSpPr/>
            <p:nvPr/>
          </p:nvSpPr>
          <p:spPr bwMode="gray">
            <a:xfrm>
              <a:off x="2016" y="1899"/>
              <a:ext cx="1007" cy="870"/>
            </a:xfrm>
            <a:custGeom>
              <a:avLst/>
              <a:gdLst>
                <a:gd name="T0" fmla="*/ 92 w 2014"/>
                <a:gd name="T1" fmla="*/ 13 h 1739"/>
                <a:gd name="T2" fmla="*/ 66 w 2014"/>
                <a:gd name="T3" fmla="*/ 38 h 1739"/>
                <a:gd name="T4" fmla="*/ 0 w 2014"/>
                <a:gd name="T5" fmla="*/ 77 h 1739"/>
                <a:gd name="T6" fmla="*/ 45 w 2014"/>
                <a:gd name="T7" fmla="*/ 154 h 1739"/>
                <a:gd name="T8" fmla="*/ 90 w 2014"/>
                <a:gd name="T9" fmla="*/ 171 h 1739"/>
                <a:gd name="T10" fmla="*/ 140 w 2014"/>
                <a:gd name="T11" fmla="*/ 160 h 1739"/>
                <a:gd name="T12" fmla="*/ 188 w 2014"/>
                <a:gd name="T13" fmla="*/ 177 h 1739"/>
                <a:gd name="T14" fmla="*/ 215 w 2014"/>
                <a:gd name="T15" fmla="*/ 193 h 1739"/>
                <a:gd name="T16" fmla="*/ 258 w 2014"/>
                <a:gd name="T17" fmla="*/ 220 h 1739"/>
                <a:gd name="T18" fmla="*/ 284 w 2014"/>
                <a:gd name="T19" fmla="*/ 237 h 1739"/>
                <a:gd name="T20" fmla="*/ 301 w 2014"/>
                <a:gd name="T21" fmla="*/ 275 h 1739"/>
                <a:gd name="T22" fmla="*/ 283 w 2014"/>
                <a:gd name="T23" fmla="*/ 318 h 1739"/>
                <a:gd name="T24" fmla="*/ 270 w 2014"/>
                <a:gd name="T25" fmla="*/ 341 h 1739"/>
                <a:gd name="T26" fmla="*/ 249 w 2014"/>
                <a:gd name="T27" fmla="*/ 367 h 1739"/>
                <a:gd name="T28" fmla="*/ 239 w 2014"/>
                <a:gd name="T29" fmla="*/ 374 h 1739"/>
                <a:gd name="T30" fmla="*/ 281 w 2014"/>
                <a:gd name="T31" fmla="*/ 390 h 1739"/>
                <a:gd name="T32" fmla="*/ 314 w 2014"/>
                <a:gd name="T33" fmla="*/ 373 h 1739"/>
                <a:gd name="T34" fmla="*/ 353 w 2014"/>
                <a:gd name="T35" fmla="*/ 403 h 1739"/>
                <a:gd name="T36" fmla="*/ 385 w 2014"/>
                <a:gd name="T37" fmla="*/ 435 h 1739"/>
                <a:gd name="T38" fmla="*/ 413 w 2014"/>
                <a:gd name="T39" fmla="*/ 401 h 1739"/>
                <a:gd name="T40" fmla="*/ 430 w 2014"/>
                <a:gd name="T41" fmla="*/ 377 h 1739"/>
                <a:gd name="T42" fmla="*/ 425 w 2014"/>
                <a:gd name="T43" fmla="*/ 349 h 1739"/>
                <a:gd name="T44" fmla="*/ 431 w 2014"/>
                <a:gd name="T45" fmla="*/ 341 h 1739"/>
                <a:gd name="T46" fmla="*/ 432 w 2014"/>
                <a:gd name="T47" fmla="*/ 335 h 1739"/>
                <a:gd name="T48" fmla="*/ 432 w 2014"/>
                <a:gd name="T49" fmla="*/ 327 h 1739"/>
                <a:gd name="T50" fmla="*/ 472 w 2014"/>
                <a:gd name="T51" fmla="*/ 329 h 1739"/>
                <a:gd name="T52" fmla="*/ 500 w 2014"/>
                <a:gd name="T53" fmla="*/ 302 h 1739"/>
                <a:gd name="T54" fmla="*/ 501 w 2014"/>
                <a:gd name="T55" fmla="*/ 267 h 1739"/>
                <a:gd name="T56" fmla="*/ 453 w 2014"/>
                <a:gd name="T57" fmla="*/ 241 h 1739"/>
                <a:gd name="T58" fmla="*/ 429 w 2014"/>
                <a:gd name="T59" fmla="*/ 256 h 1739"/>
                <a:gd name="T60" fmla="*/ 444 w 2014"/>
                <a:gd name="T61" fmla="*/ 290 h 1739"/>
                <a:gd name="T62" fmla="*/ 429 w 2014"/>
                <a:gd name="T63" fmla="*/ 315 h 1739"/>
                <a:gd name="T64" fmla="*/ 398 w 2014"/>
                <a:gd name="T65" fmla="*/ 302 h 1739"/>
                <a:gd name="T66" fmla="*/ 391 w 2014"/>
                <a:gd name="T67" fmla="*/ 276 h 1739"/>
                <a:gd name="T68" fmla="*/ 369 w 2014"/>
                <a:gd name="T69" fmla="*/ 243 h 1739"/>
                <a:gd name="T70" fmla="*/ 342 w 2014"/>
                <a:gd name="T71" fmla="*/ 228 h 1739"/>
                <a:gd name="T72" fmla="*/ 343 w 2014"/>
                <a:gd name="T73" fmla="*/ 183 h 1739"/>
                <a:gd name="T74" fmla="*/ 313 w 2014"/>
                <a:gd name="T75" fmla="*/ 148 h 1739"/>
                <a:gd name="T76" fmla="*/ 235 w 2014"/>
                <a:gd name="T77" fmla="*/ 161 h 1739"/>
                <a:gd name="T78" fmla="*/ 200 w 2014"/>
                <a:gd name="T79" fmla="*/ 128 h 1739"/>
                <a:gd name="T80" fmla="*/ 218 w 2014"/>
                <a:gd name="T81" fmla="*/ 91 h 1739"/>
                <a:gd name="T82" fmla="*/ 163 w 2014"/>
                <a:gd name="T83" fmla="*/ 100 h 1739"/>
                <a:gd name="T84" fmla="*/ 124 w 2014"/>
                <a:gd name="T85" fmla="*/ 52 h 1739"/>
                <a:gd name="T86" fmla="*/ 116 w 2014"/>
                <a:gd name="T87" fmla="*/ 3 h 173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14"/>
                <a:gd name="T133" fmla="*/ 0 h 1739"/>
                <a:gd name="T134" fmla="*/ 2014 w 2014"/>
                <a:gd name="T135" fmla="*/ 1739 h 173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14" h="1739">
                  <a:moveTo>
                    <a:pt x="463" y="9"/>
                  </a:moveTo>
                  <a:lnTo>
                    <a:pt x="398" y="0"/>
                  </a:lnTo>
                  <a:lnTo>
                    <a:pt x="365" y="51"/>
                  </a:lnTo>
                  <a:lnTo>
                    <a:pt x="374" y="92"/>
                  </a:lnTo>
                  <a:lnTo>
                    <a:pt x="347" y="122"/>
                  </a:lnTo>
                  <a:lnTo>
                    <a:pt x="264" y="149"/>
                  </a:lnTo>
                  <a:lnTo>
                    <a:pt x="160" y="181"/>
                  </a:lnTo>
                  <a:lnTo>
                    <a:pt x="81" y="259"/>
                  </a:lnTo>
                  <a:lnTo>
                    <a:pt x="0" y="307"/>
                  </a:lnTo>
                  <a:lnTo>
                    <a:pt x="32" y="570"/>
                  </a:lnTo>
                  <a:lnTo>
                    <a:pt x="115" y="578"/>
                  </a:lnTo>
                  <a:lnTo>
                    <a:pt x="180" y="614"/>
                  </a:lnTo>
                  <a:lnTo>
                    <a:pt x="237" y="625"/>
                  </a:lnTo>
                  <a:lnTo>
                    <a:pt x="298" y="684"/>
                  </a:lnTo>
                  <a:lnTo>
                    <a:pt x="357" y="681"/>
                  </a:lnTo>
                  <a:lnTo>
                    <a:pt x="432" y="637"/>
                  </a:lnTo>
                  <a:lnTo>
                    <a:pt x="504" y="641"/>
                  </a:lnTo>
                  <a:lnTo>
                    <a:pt x="559" y="637"/>
                  </a:lnTo>
                  <a:lnTo>
                    <a:pt x="601" y="612"/>
                  </a:lnTo>
                  <a:lnTo>
                    <a:pt x="674" y="651"/>
                  </a:lnTo>
                  <a:lnTo>
                    <a:pt x="752" y="708"/>
                  </a:lnTo>
                  <a:lnTo>
                    <a:pt x="813" y="669"/>
                  </a:lnTo>
                  <a:lnTo>
                    <a:pt x="829" y="708"/>
                  </a:lnTo>
                  <a:lnTo>
                    <a:pt x="859" y="771"/>
                  </a:lnTo>
                  <a:lnTo>
                    <a:pt x="945" y="807"/>
                  </a:lnTo>
                  <a:lnTo>
                    <a:pt x="998" y="877"/>
                  </a:lnTo>
                  <a:lnTo>
                    <a:pt x="1032" y="879"/>
                  </a:lnTo>
                  <a:lnTo>
                    <a:pt x="1059" y="854"/>
                  </a:lnTo>
                  <a:lnTo>
                    <a:pt x="1101" y="895"/>
                  </a:lnTo>
                  <a:lnTo>
                    <a:pt x="1136" y="946"/>
                  </a:lnTo>
                  <a:lnTo>
                    <a:pt x="1150" y="1015"/>
                  </a:lnTo>
                  <a:lnTo>
                    <a:pt x="1181" y="1051"/>
                  </a:lnTo>
                  <a:lnTo>
                    <a:pt x="1203" y="1100"/>
                  </a:lnTo>
                  <a:lnTo>
                    <a:pt x="1229" y="1129"/>
                  </a:lnTo>
                  <a:lnTo>
                    <a:pt x="1197" y="1234"/>
                  </a:lnTo>
                  <a:lnTo>
                    <a:pt x="1132" y="1271"/>
                  </a:lnTo>
                  <a:lnTo>
                    <a:pt x="1144" y="1326"/>
                  </a:lnTo>
                  <a:lnTo>
                    <a:pt x="1105" y="1358"/>
                  </a:lnTo>
                  <a:lnTo>
                    <a:pt x="1077" y="1362"/>
                  </a:lnTo>
                  <a:lnTo>
                    <a:pt x="1085" y="1448"/>
                  </a:lnTo>
                  <a:lnTo>
                    <a:pt x="1050" y="1478"/>
                  </a:lnTo>
                  <a:lnTo>
                    <a:pt x="996" y="1468"/>
                  </a:lnTo>
                  <a:lnTo>
                    <a:pt x="971" y="1425"/>
                  </a:lnTo>
                  <a:lnTo>
                    <a:pt x="943" y="1444"/>
                  </a:lnTo>
                  <a:lnTo>
                    <a:pt x="953" y="1495"/>
                  </a:lnTo>
                  <a:lnTo>
                    <a:pt x="1018" y="1503"/>
                  </a:lnTo>
                  <a:lnTo>
                    <a:pt x="1073" y="1547"/>
                  </a:lnTo>
                  <a:lnTo>
                    <a:pt x="1124" y="1558"/>
                  </a:lnTo>
                  <a:lnTo>
                    <a:pt x="1126" y="1507"/>
                  </a:lnTo>
                  <a:lnTo>
                    <a:pt x="1223" y="1472"/>
                  </a:lnTo>
                  <a:lnTo>
                    <a:pt x="1256" y="1489"/>
                  </a:lnTo>
                  <a:lnTo>
                    <a:pt x="1282" y="1560"/>
                  </a:lnTo>
                  <a:lnTo>
                    <a:pt x="1363" y="1633"/>
                  </a:lnTo>
                  <a:lnTo>
                    <a:pt x="1410" y="1610"/>
                  </a:lnTo>
                  <a:lnTo>
                    <a:pt x="1437" y="1688"/>
                  </a:lnTo>
                  <a:lnTo>
                    <a:pt x="1493" y="1732"/>
                  </a:lnTo>
                  <a:lnTo>
                    <a:pt x="1540" y="1739"/>
                  </a:lnTo>
                  <a:lnTo>
                    <a:pt x="1587" y="1688"/>
                  </a:lnTo>
                  <a:lnTo>
                    <a:pt x="1654" y="1651"/>
                  </a:lnTo>
                  <a:lnTo>
                    <a:pt x="1650" y="1602"/>
                  </a:lnTo>
                  <a:lnTo>
                    <a:pt x="1634" y="1580"/>
                  </a:lnTo>
                  <a:lnTo>
                    <a:pt x="1731" y="1566"/>
                  </a:lnTo>
                  <a:lnTo>
                    <a:pt x="1719" y="1507"/>
                  </a:lnTo>
                  <a:lnTo>
                    <a:pt x="1744" y="1430"/>
                  </a:lnTo>
                  <a:lnTo>
                    <a:pt x="1697" y="1399"/>
                  </a:lnTo>
                  <a:lnTo>
                    <a:pt x="1699" y="1395"/>
                  </a:lnTo>
                  <a:lnTo>
                    <a:pt x="1707" y="1385"/>
                  </a:lnTo>
                  <a:lnTo>
                    <a:pt x="1715" y="1373"/>
                  </a:lnTo>
                  <a:lnTo>
                    <a:pt x="1723" y="1363"/>
                  </a:lnTo>
                  <a:lnTo>
                    <a:pt x="1727" y="1360"/>
                  </a:lnTo>
                  <a:lnTo>
                    <a:pt x="1727" y="1354"/>
                  </a:lnTo>
                  <a:lnTo>
                    <a:pt x="1725" y="1340"/>
                  </a:lnTo>
                  <a:lnTo>
                    <a:pt x="1725" y="1324"/>
                  </a:lnTo>
                  <a:lnTo>
                    <a:pt x="1725" y="1312"/>
                  </a:lnTo>
                  <a:lnTo>
                    <a:pt x="1725" y="1306"/>
                  </a:lnTo>
                  <a:lnTo>
                    <a:pt x="1788" y="1302"/>
                  </a:lnTo>
                  <a:lnTo>
                    <a:pt x="1835" y="1328"/>
                  </a:lnTo>
                  <a:lnTo>
                    <a:pt x="1888" y="1316"/>
                  </a:lnTo>
                  <a:lnTo>
                    <a:pt x="1888" y="1267"/>
                  </a:lnTo>
                  <a:lnTo>
                    <a:pt x="1996" y="1259"/>
                  </a:lnTo>
                  <a:lnTo>
                    <a:pt x="2000" y="1206"/>
                  </a:lnTo>
                  <a:lnTo>
                    <a:pt x="1989" y="1155"/>
                  </a:lnTo>
                  <a:lnTo>
                    <a:pt x="2014" y="1112"/>
                  </a:lnTo>
                  <a:lnTo>
                    <a:pt x="2002" y="1068"/>
                  </a:lnTo>
                  <a:lnTo>
                    <a:pt x="1882" y="1015"/>
                  </a:lnTo>
                  <a:lnTo>
                    <a:pt x="1811" y="993"/>
                  </a:lnTo>
                  <a:lnTo>
                    <a:pt x="1809" y="962"/>
                  </a:lnTo>
                  <a:lnTo>
                    <a:pt x="1758" y="960"/>
                  </a:lnTo>
                  <a:lnTo>
                    <a:pt x="1727" y="944"/>
                  </a:lnTo>
                  <a:lnTo>
                    <a:pt x="1713" y="1023"/>
                  </a:lnTo>
                  <a:lnTo>
                    <a:pt x="1701" y="1102"/>
                  </a:lnTo>
                  <a:lnTo>
                    <a:pt x="1754" y="1121"/>
                  </a:lnTo>
                  <a:lnTo>
                    <a:pt x="1774" y="1157"/>
                  </a:lnTo>
                  <a:lnTo>
                    <a:pt x="1756" y="1198"/>
                  </a:lnTo>
                  <a:lnTo>
                    <a:pt x="1717" y="1214"/>
                  </a:lnTo>
                  <a:lnTo>
                    <a:pt x="1713" y="1259"/>
                  </a:lnTo>
                  <a:lnTo>
                    <a:pt x="1678" y="1271"/>
                  </a:lnTo>
                  <a:lnTo>
                    <a:pt x="1613" y="1241"/>
                  </a:lnTo>
                  <a:lnTo>
                    <a:pt x="1589" y="1206"/>
                  </a:lnTo>
                  <a:lnTo>
                    <a:pt x="1546" y="1190"/>
                  </a:lnTo>
                  <a:lnTo>
                    <a:pt x="1546" y="1145"/>
                  </a:lnTo>
                  <a:lnTo>
                    <a:pt x="1563" y="1104"/>
                  </a:lnTo>
                  <a:lnTo>
                    <a:pt x="1524" y="1047"/>
                  </a:lnTo>
                  <a:lnTo>
                    <a:pt x="1528" y="1011"/>
                  </a:lnTo>
                  <a:lnTo>
                    <a:pt x="1475" y="970"/>
                  </a:lnTo>
                  <a:lnTo>
                    <a:pt x="1447" y="932"/>
                  </a:lnTo>
                  <a:lnTo>
                    <a:pt x="1437" y="915"/>
                  </a:lnTo>
                  <a:lnTo>
                    <a:pt x="1365" y="911"/>
                  </a:lnTo>
                  <a:lnTo>
                    <a:pt x="1306" y="856"/>
                  </a:lnTo>
                  <a:lnTo>
                    <a:pt x="1313" y="767"/>
                  </a:lnTo>
                  <a:lnTo>
                    <a:pt x="1370" y="732"/>
                  </a:lnTo>
                  <a:lnTo>
                    <a:pt x="1370" y="627"/>
                  </a:lnTo>
                  <a:lnTo>
                    <a:pt x="1325" y="588"/>
                  </a:lnTo>
                  <a:lnTo>
                    <a:pt x="1250" y="592"/>
                  </a:lnTo>
                  <a:lnTo>
                    <a:pt x="1154" y="684"/>
                  </a:lnTo>
                  <a:lnTo>
                    <a:pt x="1020" y="684"/>
                  </a:lnTo>
                  <a:lnTo>
                    <a:pt x="937" y="641"/>
                  </a:lnTo>
                  <a:lnTo>
                    <a:pt x="941" y="580"/>
                  </a:lnTo>
                  <a:lnTo>
                    <a:pt x="874" y="576"/>
                  </a:lnTo>
                  <a:lnTo>
                    <a:pt x="798" y="509"/>
                  </a:lnTo>
                  <a:lnTo>
                    <a:pt x="847" y="440"/>
                  </a:lnTo>
                  <a:lnTo>
                    <a:pt x="892" y="425"/>
                  </a:lnTo>
                  <a:lnTo>
                    <a:pt x="872" y="362"/>
                  </a:lnTo>
                  <a:lnTo>
                    <a:pt x="792" y="334"/>
                  </a:lnTo>
                  <a:lnTo>
                    <a:pt x="699" y="344"/>
                  </a:lnTo>
                  <a:lnTo>
                    <a:pt x="652" y="399"/>
                  </a:lnTo>
                  <a:lnTo>
                    <a:pt x="607" y="393"/>
                  </a:lnTo>
                  <a:lnTo>
                    <a:pt x="530" y="303"/>
                  </a:lnTo>
                  <a:lnTo>
                    <a:pt x="496" y="208"/>
                  </a:lnTo>
                  <a:lnTo>
                    <a:pt x="514" y="149"/>
                  </a:lnTo>
                  <a:lnTo>
                    <a:pt x="506" y="25"/>
                  </a:lnTo>
                  <a:lnTo>
                    <a:pt x="463" y="9"/>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4" name="Freeform 108"/>
            <p:cNvSpPr/>
            <p:nvPr/>
          </p:nvSpPr>
          <p:spPr bwMode="gray">
            <a:xfrm>
              <a:off x="2016" y="1899"/>
              <a:ext cx="1007" cy="870"/>
            </a:xfrm>
            <a:custGeom>
              <a:avLst/>
              <a:gdLst>
                <a:gd name="T0" fmla="*/ 92 w 2014"/>
                <a:gd name="T1" fmla="*/ 13 h 1739"/>
                <a:gd name="T2" fmla="*/ 66 w 2014"/>
                <a:gd name="T3" fmla="*/ 38 h 1739"/>
                <a:gd name="T4" fmla="*/ 0 w 2014"/>
                <a:gd name="T5" fmla="*/ 77 h 1739"/>
                <a:gd name="T6" fmla="*/ 45 w 2014"/>
                <a:gd name="T7" fmla="*/ 154 h 1739"/>
                <a:gd name="T8" fmla="*/ 90 w 2014"/>
                <a:gd name="T9" fmla="*/ 171 h 1739"/>
                <a:gd name="T10" fmla="*/ 140 w 2014"/>
                <a:gd name="T11" fmla="*/ 160 h 1739"/>
                <a:gd name="T12" fmla="*/ 188 w 2014"/>
                <a:gd name="T13" fmla="*/ 177 h 1739"/>
                <a:gd name="T14" fmla="*/ 215 w 2014"/>
                <a:gd name="T15" fmla="*/ 193 h 1739"/>
                <a:gd name="T16" fmla="*/ 258 w 2014"/>
                <a:gd name="T17" fmla="*/ 220 h 1739"/>
                <a:gd name="T18" fmla="*/ 284 w 2014"/>
                <a:gd name="T19" fmla="*/ 237 h 1739"/>
                <a:gd name="T20" fmla="*/ 301 w 2014"/>
                <a:gd name="T21" fmla="*/ 275 h 1739"/>
                <a:gd name="T22" fmla="*/ 283 w 2014"/>
                <a:gd name="T23" fmla="*/ 318 h 1739"/>
                <a:gd name="T24" fmla="*/ 270 w 2014"/>
                <a:gd name="T25" fmla="*/ 341 h 1739"/>
                <a:gd name="T26" fmla="*/ 249 w 2014"/>
                <a:gd name="T27" fmla="*/ 367 h 1739"/>
                <a:gd name="T28" fmla="*/ 239 w 2014"/>
                <a:gd name="T29" fmla="*/ 374 h 1739"/>
                <a:gd name="T30" fmla="*/ 281 w 2014"/>
                <a:gd name="T31" fmla="*/ 390 h 1739"/>
                <a:gd name="T32" fmla="*/ 314 w 2014"/>
                <a:gd name="T33" fmla="*/ 373 h 1739"/>
                <a:gd name="T34" fmla="*/ 353 w 2014"/>
                <a:gd name="T35" fmla="*/ 403 h 1739"/>
                <a:gd name="T36" fmla="*/ 385 w 2014"/>
                <a:gd name="T37" fmla="*/ 435 h 1739"/>
                <a:gd name="T38" fmla="*/ 413 w 2014"/>
                <a:gd name="T39" fmla="*/ 401 h 1739"/>
                <a:gd name="T40" fmla="*/ 430 w 2014"/>
                <a:gd name="T41" fmla="*/ 377 h 1739"/>
                <a:gd name="T42" fmla="*/ 425 w 2014"/>
                <a:gd name="T43" fmla="*/ 349 h 1739"/>
                <a:gd name="T44" fmla="*/ 431 w 2014"/>
                <a:gd name="T45" fmla="*/ 341 h 1739"/>
                <a:gd name="T46" fmla="*/ 432 w 2014"/>
                <a:gd name="T47" fmla="*/ 335 h 1739"/>
                <a:gd name="T48" fmla="*/ 432 w 2014"/>
                <a:gd name="T49" fmla="*/ 327 h 1739"/>
                <a:gd name="T50" fmla="*/ 472 w 2014"/>
                <a:gd name="T51" fmla="*/ 329 h 1739"/>
                <a:gd name="T52" fmla="*/ 500 w 2014"/>
                <a:gd name="T53" fmla="*/ 302 h 1739"/>
                <a:gd name="T54" fmla="*/ 501 w 2014"/>
                <a:gd name="T55" fmla="*/ 267 h 1739"/>
                <a:gd name="T56" fmla="*/ 453 w 2014"/>
                <a:gd name="T57" fmla="*/ 241 h 1739"/>
                <a:gd name="T58" fmla="*/ 429 w 2014"/>
                <a:gd name="T59" fmla="*/ 256 h 1739"/>
                <a:gd name="T60" fmla="*/ 444 w 2014"/>
                <a:gd name="T61" fmla="*/ 290 h 1739"/>
                <a:gd name="T62" fmla="*/ 429 w 2014"/>
                <a:gd name="T63" fmla="*/ 315 h 1739"/>
                <a:gd name="T64" fmla="*/ 398 w 2014"/>
                <a:gd name="T65" fmla="*/ 302 h 1739"/>
                <a:gd name="T66" fmla="*/ 391 w 2014"/>
                <a:gd name="T67" fmla="*/ 276 h 1739"/>
                <a:gd name="T68" fmla="*/ 369 w 2014"/>
                <a:gd name="T69" fmla="*/ 243 h 1739"/>
                <a:gd name="T70" fmla="*/ 342 w 2014"/>
                <a:gd name="T71" fmla="*/ 228 h 1739"/>
                <a:gd name="T72" fmla="*/ 343 w 2014"/>
                <a:gd name="T73" fmla="*/ 183 h 1739"/>
                <a:gd name="T74" fmla="*/ 313 w 2014"/>
                <a:gd name="T75" fmla="*/ 148 h 1739"/>
                <a:gd name="T76" fmla="*/ 235 w 2014"/>
                <a:gd name="T77" fmla="*/ 161 h 1739"/>
                <a:gd name="T78" fmla="*/ 200 w 2014"/>
                <a:gd name="T79" fmla="*/ 128 h 1739"/>
                <a:gd name="T80" fmla="*/ 218 w 2014"/>
                <a:gd name="T81" fmla="*/ 91 h 1739"/>
                <a:gd name="T82" fmla="*/ 163 w 2014"/>
                <a:gd name="T83" fmla="*/ 100 h 1739"/>
                <a:gd name="T84" fmla="*/ 124 w 2014"/>
                <a:gd name="T85" fmla="*/ 52 h 1739"/>
                <a:gd name="T86" fmla="*/ 116 w 2014"/>
                <a:gd name="T87" fmla="*/ 3 h 173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14"/>
                <a:gd name="T133" fmla="*/ 0 h 1739"/>
                <a:gd name="T134" fmla="*/ 2014 w 2014"/>
                <a:gd name="T135" fmla="*/ 1739 h 173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14" h="1739">
                  <a:moveTo>
                    <a:pt x="463" y="9"/>
                  </a:moveTo>
                  <a:lnTo>
                    <a:pt x="398" y="0"/>
                  </a:lnTo>
                  <a:lnTo>
                    <a:pt x="365" y="51"/>
                  </a:lnTo>
                  <a:lnTo>
                    <a:pt x="374" y="92"/>
                  </a:lnTo>
                  <a:lnTo>
                    <a:pt x="347" y="122"/>
                  </a:lnTo>
                  <a:lnTo>
                    <a:pt x="264" y="149"/>
                  </a:lnTo>
                  <a:lnTo>
                    <a:pt x="160" y="181"/>
                  </a:lnTo>
                  <a:lnTo>
                    <a:pt x="81" y="259"/>
                  </a:lnTo>
                  <a:lnTo>
                    <a:pt x="0" y="307"/>
                  </a:lnTo>
                  <a:lnTo>
                    <a:pt x="32" y="570"/>
                  </a:lnTo>
                  <a:lnTo>
                    <a:pt x="115" y="578"/>
                  </a:lnTo>
                  <a:lnTo>
                    <a:pt x="180" y="614"/>
                  </a:lnTo>
                  <a:lnTo>
                    <a:pt x="237" y="625"/>
                  </a:lnTo>
                  <a:lnTo>
                    <a:pt x="298" y="684"/>
                  </a:lnTo>
                  <a:lnTo>
                    <a:pt x="357" y="681"/>
                  </a:lnTo>
                  <a:lnTo>
                    <a:pt x="432" y="637"/>
                  </a:lnTo>
                  <a:lnTo>
                    <a:pt x="504" y="641"/>
                  </a:lnTo>
                  <a:lnTo>
                    <a:pt x="559" y="637"/>
                  </a:lnTo>
                  <a:lnTo>
                    <a:pt x="601" y="612"/>
                  </a:lnTo>
                  <a:lnTo>
                    <a:pt x="674" y="651"/>
                  </a:lnTo>
                  <a:lnTo>
                    <a:pt x="752" y="708"/>
                  </a:lnTo>
                  <a:lnTo>
                    <a:pt x="813" y="669"/>
                  </a:lnTo>
                  <a:lnTo>
                    <a:pt x="829" y="708"/>
                  </a:lnTo>
                  <a:lnTo>
                    <a:pt x="859" y="771"/>
                  </a:lnTo>
                  <a:lnTo>
                    <a:pt x="945" y="807"/>
                  </a:lnTo>
                  <a:lnTo>
                    <a:pt x="998" y="877"/>
                  </a:lnTo>
                  <a:lnTo>
                    <a:pt x="1032" y="879"/>
                  </a:lnTo>
                  <a:lnTo>
                    <a:pt x="1059" y="854"/>
                  </a:lnTo>
                  <a:lnTo>
                    <a:pt x="1101" y="895"/>
                  </a:lnTo>
                  <a:lnTo>
                    <a:pt x="1136" y="946"/>
                  </a:lnTo>
                  <a:lnTo>
                    <a:pt x="1150" y="1015"/>
                  </a:lnTo>
                  <a:lnTo>
                    <a:pt x="1181" y="1051"/>
                  </a:lnTo>
                  <a:lnTo>
                    <a:pt x="1203" y="1100"/>
                  </a:lnTo>
                  <a:lnTo>
                    <a:pt x="1229" y="1129"/>
                  </a:lnTo>
                  <a:lnTo>
                    <a:pt x="1197" y="1234"/>
                  </a:lnTo>
                  <a:lnTo>
                    <a:pt x="1132" y="1271"/>
                  </a:lnTo>
                  <a:lnTo>
                    <a:pt x="1144" y="1326"/>
                  </a:lnTo>
                  <a:lnTo>
                    <a:pt x="1105" y="1358"/>
                  </a:lnTo>
                  <a:lnTo>
                    <a:pt x="1077" y="1362"/>
                  </a:lnTo>
                  <a:lnTo>
                    <a:pt x="1085" y="1448"/>
                  </a:lnTo>
                  <a:lnTo>
                    <a:pt x="1050" y="1478"/>
                  </a:lnTo>
                  <a:lnTo>
                    <a:pt x="996" y="1468"/>
                  </a:lnTo>
                  <a:lnTo>
                    <a:pt x="971" y="1425"/>
                  </a:lnTo>
                  <a:lnTo>
                    <a:pt x="943" y="1444"/>
                  </a:lnTo>
                  <a:lnTo>
                    <a:pt x="953" y="1495"/>
                  </a:lnTo>
                  <a:lnTo>
                    <a:pt x="1018" y="1503"/>
                  </a:lnTo>
                  <a:lnTo>
                    <a:pt x="1073" y="1547"/>
                  </a:lnTo>
                  <a:lnTo>
                    <a:pt x="1124" y="1558"/>
                  </a:lnTo>
                  <a:lnTo>
                    <a:pt x="1126" y="1507"/>
                  </a:lnTo>
                  <a:lnTo>
                    <a:pt x="1223" y="1472"/>
                  </a:lnTo>
                  <a:lnTo>
                    <a:pt x="1256" y="1489"/>
                  </a:lnTo>
                  <a:lnTo>
                    <a:pt x="1282" y="1560"/>
                  </a:lnTo>
                  <a:lnTo>
                    <a:pt x="1363" y="1633"/>
                  </a:lnTo>
                  <a:lnTo>
                    <a:pt x="1410" y="1610"/>
                  </a:lnTo>
                  <a:lnTo>
                    <a:pt x="1437" y="1688"/>
                  </a:lnTo>
                  <a:lnTo>
                    <a:pt x="1493" y="1732"/>
                  </a:lnTo>
                  <a:lnTo>
                    <a:pt x="1540" y="1739"/>
                  </a:lnTo>
                  <a:lnTo>
                    <a:pt x="1587" y="1688"/>
                  </a:lnTo>
                  <a:lnTo>
                    <a:pt x="1654" y="1651"/>
                  </a:lnTo>
                  <a:lnTo>
                    <a:pt x="1650" y="1602"/>
                  </a:lnTo>
                  <a:lnTo>
                    <a:pt x="1634" y="1580"/>
                  </a:lnTo>
                  <a:lnTo>
                    <a:pt x="1731" y="1566"/>
                  </a:lnTo>
                  <a:lnTo>
                    <a:pt x="1719" y="1507"/>
                  </a:lnTo>
                  <a:lnTo>
                    <a:pt x="1744" y="1430"/>
                  </a:lnTo>
                  <a:lnTo>
                    <a:pt x="1697" y="1399"/>
                  </a:lnTo>
                  <a:lnTo>
                    <a:pt x="1699" y="1395"/>
                  </a:lnTo>
                  <a:lnTo>
                    <a:pt x="1707" y="1385"/>
                  </a:lnTo>
                  <a:lnTo>
                    <a:pt x="1715" y="1373"/>
                  </a:lnTo>
                  <a:lnTo>
                    <a:pt x="1723" y="1363"/>
                  </a:lnTo>
                  <a:lnTo>
                    <a:pt x="1727" y="1360"/>
                  </a:lnTo>
                  <a:lnTo>
                    <a:pt x="1727" y="1354"/>
                  </a:lnTo>
                  <a:lnTo>
                    <a:pt x="1725" y="1340"/>
                  </a:lnTo>
                  <a:lnTo>
                    <a:pt x="1725" y="1324"/>
                  </a:lnTo>
                  <a:lnTo>
                    <a:pt x="1725" y="1312"/>
                  </a:lnTo>
                  <a:lnTo>
                    <a:pt x="1725" y="1306"/>
                  </a:lnTo>
                  <a:lnTo>
                    <a:pt x="1788" y="1302"/>
                  </a:lnTo>
                  <a:lnTo>
                    <a:pt x="1835" y="1328"/>
                  </a:lnTo>
                  <a:lnTo>
                    <a:pt x="1888" y="1316"/>
                  </a:lnTo>
                  <a:lnTo>
                    <a:pt x="1888" y="1267"/>
                  </a:lnTo>
                  <a:lnTo>
                    <a:pt x="1996" y="1259"/>
                  </a:lnTo>
                  <a:lnTo>
                    <a:pt x="2000" y="1206"/>
                  </a:lnTo>
                  <a:lnTo>
                    <a:pt x="1989" y="1155"/>
                  </a:lnTo>
                  <a:lnTo>
                    <a:pt x="2014" y="1112"/>
                  </a:lnTo>
                  <a:lnTo>
                    <a:pt x="2002" y="1068"/>
                  </a:lnTo>
                  <a:lnTo>
                    <a:pt x="1882" y="1015"/>
                  </a:lnTo>
                  <a:lnTo>
                    <a:pt x="1811" y="993"/>
                  </a:lnTo>
                  <a:lnTo>
                    <a:pt x="1809" y="962"/>
                  </a:lnTo>
                  <a:lnTo>
                    <a:pt x="1758" y="960"/>
                  </a:lnTo>
                  <a:lnTo>
                    <a:pt x="1727" y="944"/>
                  </a:lnTo>
                  <a:lnTo>
                    <a:pt x="1713" y="1023"/>
                  </a:lnTo>
                  <a:lnTo>
                    <a:pt x="1701" y="1102"/>
                  </a:lnTo>
                  <a:lnTo>
                    <a:pt x="1754" y="1121"/>
                  </a:lnTo>
                  <a:lnTo>
                    <a:pt x="1774" y="1157"/>
                  </a:lnTo>
                  <a:lnTo>
                    <a:pt x="1756" y="1198"/>
                  </a:lnTo>
                  <a:lnTo>
                    <a:pt x="1717" y="1214"/>
                  </a:lnTo>
                  <a:lnTo>
                    <a:pt x="1713" y="1259"/>
                  </a:lnTo>
                  <a:lnTo>
                    <a:pt x="1678" y="1271"/>
                  </a:lnTo>
                  <a:lnTo>
                    <a:pt x="1613" y="1241"/>
                  </a:lnTo>
                  <a:lnTo>
                    <a:pt x="1589" y="1206"/>
                  </a:lnTo>
                  <a:lnTo>
                    <a:pt x="1546" y="1190"/>
                  </a:lnTo>
                  <a:lnTo>
                    <a:pt x="1546" y="1145"/>
                  </a:lnTo>
                  <a:lnTo>
                    <a:pt x="1563" y="1104"/>
                  </a:lnTo>
                  <a:lnTo>
                    <a:pt x="1524" y="1047"/>
                  </a:lnTo>
                  <a:lnTo>
                    <a:pt x="1528" y="1011"/>
                  </a:lnTo>
                  <a:lnTo>
                    <a:pt x="1475" y="970"/>
                  </a:lnTo>
                  <a:lnTo>
                    <a:pt x="1447" y="932"/>
                  </a:lnTo>
                  <a:lnTo>
                    <a:pt x="1437" y="915"/>
                  </a:lnTo>
                  <a:lnTo>
                    <a:pt x="1365" y="911"/>
                  </a:lnTo>
                  <a:lnTo>
                    <a:pt x="1306" y="856"/>
                  </a:lnTo>
                  <a:lnTo>
                    <a:pt x="1313" y="767"/>
                  </a:lnTo>
                  <a:lnTo>
                    <a:pt x="1370" y="732"/>
                  </a:lnTo>
                  <a:lnTo>
                    <a:pt x="1370" y="627"/>
                  </a:lnTo>
                  <a:lnTo>
                    <a:pt x="1325" y="588"/>
                  </a:lnTo>
                  <a:lnTo>
                    <a:pt x="1250" y="592"/>
                  </a:lnTo>
                  <a:lnTo>
                    <a:pt x="1154" y="684"/>
                  </a:lnTo>
                  <a:lnTo>
                    <a:pt x="1020" y="684"/>
                  </a:lnTo>
                  <a:lnTo>
                    <a:pt x="937" y="641"/>
                  </a:lnTo>
                  <a:lnTo>
                    <a:pt x="941" y="580"/>
                  </a:lnTo>
                  <a:lnTo>
                    <a:pt x="874" y="576"/>
                  </a:lnTo>
                  <a:lnTo>
                    <a:pt x="798" y="509"/>
                  </a:lnTo>
                  <a:lnTo>
                    <a:pt x="847" y="440"/>
                  </a:lnTo>
                  <a:lnTo>
                    <a:pt x="892" y="425"/>
                  </a:lnTo>
                  <a:lnTo>
                    <a:pt x="872" y="362"/>
                  </a:lnTo>
                  <a:lnTo>
                    <a:pt x="792" y="334"/>
                  </a:lnTo>
                  <a:lnTo>
                    <a:pt x="699" y="344"/>
                  </a:lnTo>
                  <a:lnTo>
                    <a:pt x="652" y="399"/>
                  </a:lnTo>
                  <a:lnTo>
                    <a:pt x="607" y="393"/>
                  </a:lnTo>
                  <a:lnTo>
                    <a:pt x="530" y="303"/>
                  </a:lnTo>
                  <a:lnTo>
                    <a:pt x="496" y="208"/>
                  </a:lnTo>
                  <a:lnTo>
                    <a:pt x="514" y="149"/>
                  </a:lnTo>
                  <a:lnTo>
                    <a:pt x="506" y="25"/>
                  </a:lnTo>
                  <a:lnTo>
                    <a:pt x="463" y="9"/>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5" name="Freeform 109"/>
            <p:cNvSpPr/>
            <p:nvPr/>
          </p:nvSpPr>
          <p:spPr bwMode="gray">
            <a:xfrm>
              <a:off x="1694" y="2177"/>
              <a:ext cx="936" cy="666"/>
            </a:xfrm>
            <a:custGeom>
              <a:avLst/>
              <a:gdLst>
                <a:gd name="T0" fmla="*/ 445 w 1872"/>
                <a:gd name="T1" fmla="*/ 276 h 1330"/>
                <a:gd name="T2" fmla="*/ 426 w 1872"/>
                <a:gd name="T3" fmla="*/ 279 h 1330"/>
                <a:gd name="T4" fmla="*/ 397 w 1872"/>
                <a:gd name="T5" fmla="*/ 279 h 1330"/>
                <a:gd name="T6" fmla="*/ 381 w 1872"/>
                <a:gd name="T7" fmla="*/ 296 h 1330"/>
                <a:gd name="T8" fmla="*/ 343 w 1872"/>
                <a:gd name="T9" fmla="*/ 274 h 1330"/>
                <a:gd name="T10" fmla="*/ 308 w 1872"/>
                <a:gd name="T11" fmla="*/ 269 h 1330"/>
                <a:gd name="T12" fmla="*/ 275 w 1872"/>
                <a:gd name="T13" fmla="*/ 273 h 1330"/>
                <a:gd name="T14" fmla="*/ 262 w 1872"/>
                <a:gd name="T15" fmla="*/ 288 h 1330"/>
                <a:gd name="T16" fmla="*/ 260 w 1872"/>
                <a:gd name="T17" fmla="*/ 309 h 1330"/>
                <a:gd name="T18" fmla="*/ 225 w 1872"/>
                <a:gd name="T19" fmla="*/ 329 h 1330"/>
                <a:gd name="T20" fmla="*/ 204 w 1872"/>
                <a:gd name="T21" fmla="*/ 313 h 1330"/>
                <a:gd name="T22" fmla="*/ 155 w 1872"/>
                <a:gd name="T23" fmla="*/ 287 h 1330"/>
                <a:gd name="T24" fmla="*/ 113 w 1872"/>
                <a:gd name="T25" fmla="*/ 280 h 1330"/>
                <a:gd name="T26" fmla="*/ 85 w 1872"/>
                <a:gd name="T27" fmla="*/ 274 h 1330"/>
                <a:gd name="T28" fmla="*/ 64 w 1872"/>
                <a:gd name="T29" fmla="*/ 264 h 1330"/>
                <a:gd name="T30" fmla="*/ 28 w 1872"/>
                <a:gd name="T31" fmla="*/ 256 h 1330"/>
                <a:gd name="T32" fmla="*/ 2 w 1872"/>
                <a:gd name="T33" fmla="*/ 206 h 1330"/>
                <a:gd name="T34" fmla="*/ 12 w 1872"/>
                <a:gd name="T35" fmla="*/ 185 h 1330"/>
                <a:gd name="T36" fmla="*/ 20 w 1872"/>
                <a:gd name="T37" fmla="*/ 149 h 1330"/>
                <a:gd name="T38" fmla="*/ 11 w 1872"/>
                <a:gd name="T39" fmla="*/ 133 h 1330"/>
                <a:gd name="T40" fmla="*/ 20 w 1872"/>
                <a:gd name="T41" fmla="*/ 117 h 1330"/>
                <a:gd name="T42" fmla="*/ 61 w 1872"/>
                <a:gd name="T43" fmla="*/ 117 h 1330"/>
                <a:gd name="T44" fmla="*/ 53 w 1872"/>
                <a:gd name="T45" fmla="*/ 96 h 1330"/>
                <a:gd name="T46" fmla="*/ 74 w 1872"/>
                <a:gd name="T47" fmla="*/ 75 h 1330"/>
                <a:gd name="T48" fmla="*/ 45 w 1872"/>
                <a:gd name="T49" fmla="*/ 32 h 1330"/>
                <a:gd name="T50" fmla="*/ 99 w 1872"/>
                <a:gd name="T51" fmla="*/ 18 h 1330"/>
                <a:gd name="T52" fmla="*/ 134 w 1872"/>
                <a:gd name="T53" fmla="*/ 10 h 1330"/>
                <a:gd name="T54" fmla="*/ 169 w 1872"/>
                <a:gd name="T55" fmla="*/ 4 h 1330"/>
                <a:gd name="T56" fmla="*/ 206 w 1872"/>
                <a:gd name="T57" fmla="*/ 15 h 1330"/>
                <a:gd name="T58" fmla="*/ 235 w 1872"/>
                <a:gd name="T59" fmla="*/ 32 h 1330"/>
                <a:gd name="T60" fmla="*/ 269 w 1872"/>
                <a:gd name="T61" fmla="*/ 20 h 1330"/>
                <a:gd name="T62" fmla="*/ 301 w 1872"/>
                <a:gd name="T63" fmla="*/ 20 h 1330"/>
                <a:gd name="T64" fmla="*/ 330 w 1872"/>
                <a:gd name="T65" fmla="*/ 24 h 1330"/>
                <a:gd name="T66" fmla="*/ 364 w 1872"/>
                <a:gd name="T67" fmla="*/ 28 h 1330"/>
                <a:gd name="T68" fmla="*/ 376 w 1872"/>
                <a:gd name="T69" fmla="*/ 54 h 1330"/>
                <a:gd name="T70" fmla="*/ 411 w 1872"/>
                <a:gd name="T71" fmla="*/ 80 h 1330"/>
                <a:gd name="T72" fmla="*/ 426 w 1872"/>
                <a:gd name="T73" fmla="*/ 75 h 1330"/>
                <a:gd name="T74" fmla="*/ 445 w 1872"/>
                <a:gd name="T75" fmla="*/ 98 h 1330"/>
                <a:gd name="T76" fmla="*/ 456 w 1872"/>
                <a:gd name="T77" fmla="*/ 124 h 1330"/>
                <a:gd name="T78" fmla="*/ 468 w 1872"/>
                <a:gd name="T79" fmla="*/ 143 h 1330"/>
                <a:gd name="T80" fmla="*/ 444 w 1872"/>
                <a:gd name="T81" fmla="*/ 179 h 1330"/>
                <a:gd name="T82" fmla="*/ 437 w 1872"/>
                <a:gd name="T83" fmla="*/ 201 h 1330"/>
                <a:gd name="T84" fmla="*/ 432 w 1872"/>
                <a:gd name="T85" fmla="*/ 223 h 1330"/>
                <a:gd name="T86" fmla="*/ 410 w 1872"/>
                <a:gd name="T87" fmla="*/ 228 h 1330"/>
                <a:gd name="T88" fmla="*/ 397 w 1872"/>
                <a:gd name="T89" fmla="*/ 222 h 1330"/>
                <a:gd name="T90" fmla="*/ 416 w 1872"/>
                <a:gd name="T91" fmla="*/ 237 h 1330"/>
                <a:gd name="T92" fmla="*/ 442 w 1872"/>
                <a:gd name="T93" fmla="*/ 251 h 133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872"/>
                <a:gd name="T142" fmla="*/ 0 h 1330"/>
                <a:gd name="T143" fmla="*/ 1872 w 1872"/>
                <a:gd name="T144" fmla="*/ 1330 h 133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872" h="1330">
                  <a:moveTo>
                    <a:pt x="1801" y="1035"/>
                  </a:moveTo>
                  <a:lnTo>
                    <a:pt x="1779" y="1102"/>
                  </a:lnTo>
                  <a:lnTo>
                    <a:pt x="1736" y="1082"/>
                  </a:lnTo>
                  <a:lnTo>
                    <a:pt x="1702" y="1115"/>
                  </a:lnTo>
                  <a:lnTo>
                    <a:pt x="1655" y="1072"/>
                  </a:lnTo>
                  <a:lnTo>
                    <a:pt x="1586" y="1114"/>
                  </a:lnTo>
                  <a:lnTo>
                    <a:pt x="1588" y="1184"/>
                  </a:lnTo>
                  <a:lnTo>
                    <a:pt x="1521" y="1180"/>
                  </a:lnTo>
                  <a:lnTo>
                    <a:pt x="1421" y="1068"/>
                  </a:lnTo>
                  <a:lnTo>
                    <a:pt x="1372" y="1094"/>
                  </a:lnTo>
                  <a:lnTo>
                    <a:pt x="1279" y="1049"/>
                  </a:lnTo>
                  <a:lnTo>
                    <a:pt x="1232" y="1072"/>
                  </a:lnTo>
                  <a:lnTo>
                    <a:pt x="1138" y="1062"/>
                  </a:lnTo>
                  <a:lnTo>
                    <a:pt x="1100" y="1090"/>
                  </a:lnTo>
                  <a:lnTo>
                    <a:pt x="1092" y="1155"/>
                  </a:lnTo>
                  <a:lnTo>
                    <a:pt x="1045" y="1149"/>
                  </a:lnTo>
                  <a:lnTo>
                    <a:pt x="1055" y="1184"/>
                  </a:lnTo>
                  <a:lnTo>
                    <a:pt x="1039" y="1234"/>
                  </a:lnTo>
                  <a:lnTo>
                    <a:pt x="968" y="1330"/>
                  </a:lnTo>
                  <a:lnTo>
                    <a:pt x="897" y="1314"/>
                  </a:lnTo>
                  <a:lnTo>
                    <a:pt x="821" y="1304"/>
                  </a:lnTo>
                  <a:lnTo>
                    <a:pt x="813" y="1251"/>
                  </a:lnTo>
                  <a:lnTo>
                    <a:pt x="728" y="1190"/>
                  </a:lnTo>
                  <a:lnTo>
                    <a:pt x="618" y="1147"/>
                  </a:lnTo>
                  <a:lnTo>
                    <a:pt x="521" y="1149"/>
                  </a:lnTo>
                  <a:lnTo>
                    <a:pt x="452" y="1117"/>
                  </a:lnTo>
                  <a:lnTo>
                    <a:pt x="389" y="1121"/>
                  </a:lnTo>
                  <a:lnTo>
                    <a:pt x="338" y="1092"/>
                  </a:lnTo>
                  <a:lnTo>
                    <a:pt x="281" y="1056"/>
                  </a:lnTo>
                  <a:lnTo>
                    <a:pt x="256" y="1054"/>
                  </a:lnTo>
                  <a:lnTo>
                    <a:pt x="185" y="1021"/>
                  </a:lnTo>
                  <a:lnTo>
                    <a:pt x="112" y="1023"/>
                  </a:lnTo>
                  <a:lnTo>
                    <a:pt x="61" y="911"/>
                  </a:lnTo>
                  <a:lnTo>
                    <a:pt x="6" y="822"/>
                  </a:lnTo>
                  <a:lnTo>
                    <a:pt x="0" y="740"/>
                  </a:lnTo>
                  <a:lnTo>
                    <a:pt x="45" y="738"/>
                  </a:lnTo>
                  <a:lnTo>
                    <a:pt x="43" y="686"/>
                  </a:lnTo>
                  <a:lnTo>
                    <a:pt x="77" y="594"/>
                  </a:lnTo>
                  <a:lnTo>
                    <a:pt x="78" y="549"/>
                  </a:lnTo>
                  <a:lnTo>
                    <a:pt x="43" y="529"/>
                  </a:lnTo>
                  <a:lnTo>
                    <a:pt x="80" y="501"/>
                  </a:lnTo>
                  <a:lnTo>
                    <a:pt x="77" y="466"/>
                  </a:lnTo>
                  <a:lnTo>
                    <a:pt x="139" y="501"/>
                  </a:lnTo>
                  <a:lnTo>
                    <a:pt x="244" y="466"/>
                  </a:lnTo>
                  <a:lnTo>
                    <a:pt x="206" y="433"/>
                  </a:lnTo>
                  <a:lnTo>
                    <a:pt x="212" y="383"/>
                  </a:lnTo>
                  <a:lnTo>
                    <a:pt x="265" y="364"/>
                  </a:lnTo>
                  <a:lnTo>
                    <a:pt x="293" y="299"/>
                  </a:lnTo>
                  <a:lnTo>
                    <a:pt x="175" y="206"/>
                  </a:lnTo>
                  <a:lnTo>
                    <a:pt x="179" y="126"/>
                  </a:lnTo>
                  <a:lnTo>
                    <a:pt x="252" y="84"/>
                  </a:lnTo>
                  <a:lnTo>
                    <a:pt x="393" y="70"/>
                  </a:lnTo>
                  <a:lnTo>
                    <a:pt x="502" y="41"/>
                  </a:lnTo>
                  <a:lnTo>
                    <a:pt x="533" y="37"/>
                  </a:lnTo>
                  <a:lnTo>
                    <a:pt x="596" y="0"/>
                  </a:lnTo>
                  <a:lnTo>
                    <a:pt x="675" y="13"/>
                  </a:lnTo>
                  <a:lnTo>
                    <a:pt x="758" y="21"/>
                  </a:lnTo>
                  <a:lnTo>
                    <a:pt x="823" y="57"/>
                  </a:lnTo>
                  <a:lnTo>
                    <a:pt x="880" y="68"/>
                  </a:lnTo>
                  <a:lnTo>
                    <a:pt x="941" y="127"/>
                  </a:lnTo>
                  <a:lnTo>
                    <a:pt x="996" y="124"/>
                  </a:lnTo>
                  <a:lnTo>
                    <a:pt x="1075" y="80"/>
                  </a:lnTo>
                  <a:lnTo>
                    <a:pt x="1147" y="84"/>
                  </a:lnTo>
                  <a:lnTo>
                    <a:pt x="1202" y="80"/>
                  </a:lnTo>
                  <a:lnTo>
                    <a:pt x="1244" y="57"/>
                  </a:lnTo>
                  <a:lnTo>
                    <a:pt x="1319" y="96"/>
                  </a:lnTo>
                  <a:lnTo>
                    <a:pt x="1395" y="151"/>
                  </a:lnTo>
                  <a:lnTo>
                    <a:pt x="1456" y="112"/>
                  </a:lnTo>
                  <a:lnTo>
                    <a:pt x="1480" y="171"/>
                  </a:lnTo>
                  <a:lnTo>
                    <a:pt x="1502" y="214"/>
                  </a:lnTo>
                  <a:lnTo>
                    <a:pt x="1588" y="250"/>
                  </a:lnTo>
                  <a:lnTo>
                    <a:pt x="1641" y="320"/>
                  </a:lnTo>
                  <a:lnTo>
                    <a:pt x="1675" y="322"/>
                  </a:lnTo>
                  <a:lnTo>
                    <a:pt x="1702" y="299"/>
                  </a:lnTo>
                  <a:lnTo>
                    <a:pt x="1740" y="334"/>
                  </a:lnTo>
                  <a:lnTo>
                    <a:pt x="1779" y="389"/>
                  </a:lnTo>
                  <a:lnTo>
                    <a:pt x="1793" y="458"/>
                  </a:lnTo>
                  <a:lnTo>
                    <a:pt x="1824" y="494"/>
                  </a:lnTo>
                  <a:lnTo>
                    <a:pt x="1846" y="543"/>
                  </a:lnTo>
                  <a:lnTo>
                    <a:pt x="1872" y="572"/>
                  </a:lnTo>
                  <a:lnTo>
                    <a:pt x="1840" y="677"/>
                  </a:lnTo>
                  <a:lnTo>
                    <a:pt x="1775" y="714"/>
                  </a:lnTo>
                  <a:lnTo>
                    <a:pt x="1787" y="769"/>
                  </a:lnTo>
                  <a:lnTo>
                    <a:pt x="1748" y="801"/>
                  </a:lnTo>
                  <a:lnTo>
                    <a:pt x="1720" y="805"/>
                  </a:lnTo>
                  <a:lnTo>
                    <a:pt x="1726" y="889"/>
                  </a:lnTo>
                  <a:lnTo>
                    <a:pt x="1693" y="921"/>
                  </a:lnTo>
                  <a:lnTo>
                    <a:pt x="1639" y="911"/>
                  </a:lnTo>
                  <a:lnTo>
                    <a:pt x="1614" y="868"/>
                  </a:lnTo>
                  <a:lnTo>
                    <a:pt x="1586" y="887"/>
                  </a:lnTo>
                  <a:lnTo>
                    <a:pt x="1596" y="938"/>
                  </a:lnTo>
                  <a:lnTo>
                    <a:pt x="1661" y="946"/>
                  </a:lnTo>
                  <a:lnTo>
                    <a:pt x="1716" y="990"/>
                  </a:lnTo>
                  <a:lnTo>
                    <a:pt x="1767" y="1001"/>
                  </a:lnTo>
                  <a:lnTo>
                    <a:pt x="1801" y="1035"/>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6" name="Freeform 110"/>
            <p:cNvSpPr/>
            <p:nvPr/>
          </p:nvSpPr>
          <p:spPr bwMode="gray">
            <a:xfrm>
              <a:off x="1694" y="2177"/>
              <a:ext cx="936" cy="666"/>
            </a:xfrm>
            <a:custGeom>
              <a:avLst/>
              <a:gdLst>
                <a:gd name="T0" fmla="*/ 445 w 1872"/>
                <a:gd name="T1" fmla="*/ 276 h 1330"/>
                <a:gd name="T2" fmla="*/ 426 w 1872"/>
                <a:gd name="T3" fmla="*/ 279 h 1330"/>
                <a:gd name="T4" fmla="*/ 397 w 1872"/>
                <a:gd name="T5" fmla="*/ 279 h 1330"/>
                <a:gd name="T6" fmla="*/ 381 w 1872"/>
                <a:gd name="T7" fmla="*/ 296 h 1330"/>
                <a:gd name="T8" fmla="*/ 343 w 1872"/>
                <a:gd name="T9" fmla="*/ 274 h 1330"/>
                <a:gd name="T10" fmla="*/ 308 w 1872"/>
                <a:gd name="T11" fmla="*/ 269 h 1330"/>
                <a:gd name="T12" fmla="*/ 275 w 1872"/>
                <a:gd name="T13" fmla="*/ 273 h 1330"/>
                <a:gd name="T14" fmla="*/ 262 w 1872"/>
                <a:gd name="T15" fmla="*/ 288 h 1330"/>
                <a:gd name="T16" fmla="*/ 260 w 1872"/>
                <a:gd name="T17" fmla="*/ 309 h 1330"/>
                <a:gd name="T18" fmla="*/ 225 w 1872"/>
                <a:gd name="T19" fmla="*/ 329 h 1330"/>
                <a:gd name="T20" fmla="*/ 204 w 1872"/>
                <a:gd name="T21" fmla="*/ 313 h 1330"/>
                <a:gd name="T22" fmla="*/ 155 w 1872"/>
                <a:gd name="T23" fmla="*/ 287 h 1330"/>
                <a:gd name="T24" fmla="*/ 113 w 1872"/>
                <a:gd name="T25" fmla="*/ 280 h 1330"/>
                <a:gd name="T26" fmla="*/ 85 w 1872"/>
                <a:gd name="T27" fmla="*/ 274 h 1330"/>
                <a:gd name="T28" fmla="*/ 64 w 1872"/>
                <a:gd name="T29" fmla="*/ 264 h 1330"/>
                <a:gd name="T30" fmla="*/ 28 w 1872"/>
                <a:gd name="T31" fmla="*/ 256 h 1330"/>
                <a:gd name="T32" fmla="*/ 2 w 1872"/>
                <a:gd name="T33" fmla="*/ 206 h 1330"/>
                <a:gd name="T34" fmla="*/ 12 w 1872"/>
                <a:gd name="T35" fmla="*/ 185 h 1330"/>
                <a:gd name="T36" fmla="*/ 20 w 1872"/>
                <a:gd name="T37" fmla="*/ 149 h 1330"/>
                <a:gd name="T38" fmla="*/ 11 w 1872"/>
                <a:gd name="T39" fmla="*/ 133 h 1330"/>
                <a:gd name="T40" fmla="*/ 20 w 1872"/>
                <a:gd name="T41" fmla="*/ 117 h 1330"/>
                <a:gd name="T42" fmla="*/ 61 w 1872"/>
                <a:gd name="T43" fmla="*/ 117 h 1330"/>
                <a:gd name="T44" fmla="*/ 53 w 1872"/>
                <a:gd name="T45" fmla="*/ 96 h 1330"/>
                <a:gd name="T46" fmla="*/ 74 w 1872"/>
                <a:gd name="T47" fmla="*/ 75 h 1330"/>
                <a:gd name="T48" fmla="*/ 45 w 1872"/>
                <a:gd name="T49" fmla="*/ 32 h 1330"/>
                <a:gd name="T50" fmla="*/ 99 w 1872"/>
                <a:gd name="T51" fmla="*/ 18 h 1330"/>
                <a:gd name="T52" fmla="*/ 134 w 1872"/>
                <a:gd name="T53" fmla="*/ 10 h 1330"/>
                <a:gd name="T54" fmla="*/ 169 w 1872"/>
                <a:gd name="T55" fmla="*/ 4 h 1330"/>
                <a:gd name="T56" fmla="*/ 206 w 1872"/>
                <a:gd name="T57" fmla="*/ 15 h 1330"/>
                <a:gd name="T58" fmla="*/ 235 w 1872"/>
                <a:gd name="T59" fmla="*/ 32 h 1330"/>
                <a:gd name="T60" fmla="*/ 269 w 1872"/>
                <a:gd name="T61" fmla="*/ 20 h 1330"/>
                <a:gd name="T62" fmla="*/ 301 w 1872"/>
                <a:gd name="T63" fmla="*/ 20 h 1330"/>
                <a:gd name="T64" fmla="*/ 330 w 1872"/>
                <a:gd name="T65" fmla="*/ 24 h 1330"/>
                <a:gd name="T66" fmla="*/ 364 w 1872"/>
                <a:gd name="T67" fmla="*/ 28 h 1330"/>
                <a:gd name="T68" fmla="*/ 376 w 1872"/>
                <a:gd name="T69" fmla="*/ 54 h 1330"/>
                <a:gd name="T70" fmla="*/ 411 w 1872"/>
                <a:gd name="T71" fmla="*/ 80 h 1330"/>
                <a:gd name="T72" fmla="*/ 426 w 1872"/>
                <a:gd name="T73" fmla="*/ 75 h 1330"/>
                <a:gd name="T74" fmla="*/ 445 w 1872"/>
                <a:gd name="T75" fmla="*/ 98 h 1330"/>
                <a:gd name="T76" fmla="*/ 456 w 1872"/>
                <a:gd name="T77" fmla="*/ 124 h 1330"/>
                <a:gd name="T78" fmla="*/ 468 w 1872"/>
                <a:gd name="T79" fmla="*/ 143 h 1330"/>
                <a:gd name="T80" fmla="*/ 444 w 1872"/>
                <a:gd name="T81" fmla="*/ 179 h 1330"/>
                <a:gd name="T82" fmla="*/ 437 w 1872"/>
                <a:gd name="T83" fmla="*/ 201 h 1330"/>
                <a:gd name="T84" fmla="*/ 432 w 1872"/>
                <a:gd name="T85" fmla="*/ 223 h 1330"/>
                <a:gd name="T86" fmla="*/ 410 w 1872"/>
                <a:gd name="T87" fmla="*/ 228 h 1330"/>
                <a:gd name="T88" fmla="*/ 397 w 1872"/>
                <a:gd name="T89" fmla="*/ 222 h 1330"/>
                <a:gd name="T90" fmla="*/ 416 w 1872"/>
                <a:gd name="T91" fmla="*/ 237 h 1330"/>
                <a:gd name="T92" fmla="*/ 442 w 1872"/>
                <a:gd name="T93" fmla="*/ 251 h 133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872"/>
                <a:gd name="T142" fmla="*/ 0 h 1330"/>
                <a:gd name="T143" fmla="*/ 1872 w 1872"/>
                <a:gd name="T144" fmla="*/ 1330 h 133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872" h="1330">
                  <a:moveTo>
                    <a:pt x="1801" y="1035"/>
                  </a:moveTo>
                  <a:lnTo>
                    <a:pt x="1779" y="1102"/>
                  </a:lnTo>
                  <a:lnTo>
                    <a:pt x="1736" y="1082"/>
                  </a:lnTo>
                  <a:lnTo>
                    <a:pt x="1702" y="1115"/>
                  </a:lnTo>
                  <a:lnTo>
                    <a:pt x="1655" y="1072"/>
                  </a:lnTo>
                  <a:lnTo>
                    <a:pt x="1586" y="1114"/>
                  </a:lnTo>
                  <a:lnTo>
                    <a:pt x="1588" y="1184"/>
                  </a:lnTo>
                  <a:lnTo>
                    <a:pt x="1521" y="1180"/>
                  </a:lnTo>
                  <a:lnTo>
                    <a:pt x="1421" y="1068"/>
                  </a:lnTo>
                  <a:lnTo>
                    <a:pt x="1372" y="1094"/>
                  </a:lnTo>
                  <a:lnTo>
                    <a:pt x="1279" y="1049"/>
                  </a:lnTo>
                  <a:lnTo>
                    <a:pt x="1232" y="1072"/>
                  </a:lnTo>
                  <a:lnTo>
                    <a:pt x="1138" y="1062"/>
                  </a:lnTo>
                  <a:lnTo>
                    <a:pt x="1100" y="1090"/>
                  </a:lnTo>
                  <a:lnTo>
                    <a:pt x="1092" y="1155"/>
                  </a:lnTo>
                  <a:lnTo>
                    <a:pt x="1045" y="1149"/>
                  </a:lnTo>
                  <a:lnTo>
                    <a:pt x="1055" y="1184"/>
                  </a:lnTo>
                  <a:lnTo>
                    <a:pt x="1039" y="1234"/>
                  </a:lnTo>
                  <a:lnTo>
                    <a:pt x="968" y="1330"/>
                  </a:lnTo>
                  <a:lnTo>
                    <a:pt x="897" y="1314"/>
                  </a:lnTo>
                  <a:lnTo>
                    <a:pt x="821" y="1304"/>
                  </a:lnTo>
                  <a:lnTo>
                    <a:pt x="813" y="1251"/>
                  </a:lnTo>
                  <a:lnTo>
                    <a:pt x="728" y="1190"/>
                  </a:lnTo>
                  <a:lnTo>
                    <a:pt x="618" y="1147"/>
                  </a:lnTo>
                  <a:lnTo>
                    <a:pt x="521" y="1149"/>
                  </a:lnTo>
                  <a:lnTo>
                    <a:pt x="452" y="1117"/>
                  </a:lnTo>
                  <a:lnTo>
                    <a:pt x="389" y="1121"/>
                  </a:lnTo>
                  <a:lnTo>
                    <a:pt x="338" y="1092"/>
                  </a:lnTo>
                  <a:lnTo>
                    <a:pt x="281" y="1056"/>
                  </a:lnTo>
                  <a:lnTo>
                    <a:pt x="256" y="1054"/>
                  </a:lnTo>
                  <a:lnTo>
                    <a:pt x="185" y="1021"/>
                  </a:lnTo>
                  <a:lnTo>
                    <a:pt x="112" y="1023"/>
                  </a:lnTo>
                  <a:lnTo>
                    <a:pt x="61" y="911"/>
                  </a:lnTo>
                  <a:lnTo>
                    <a:pt x="6" y="822"/>
                  </a:lnTo>
                  <a:lnTo>
                    <a:pt x="0" y="740"/>
                  </a:lnTo>
                  <a:lnTo>
                    <a:pt x="45" y="738"/>
                  </a:lnTo>
                  <a:lnTo>
                    <a:pt x="43" y="686"/>
                  </a:lnTo>
                  <a:lnTo>
                    <a:pt x="77" y="594"/>
                  </a:lnTo>
                  <a:lnTo>
                    <a:pt x="78" y="549"/>
                  </a:lnTo>
                  <a:lnTo>
                    <a:pt x="43" y="529"/>
                  </a:lnTo>
                  <a:lnTo>
                    <a:pt x="80" y="501"/>
                  </a:lnTo>
                  <a:lnTo>
                    <a:pt x="77" y="466"/>
                  </a:lnTo>
                  <a:lnTo>
                    <a:pt x="139" y="501"/>
                  </a:lnTo>
                  <a:lnTo>
                    <a:pt x="244" y="466"/>
                  </a:lnTo>
                  <a:lnTo>
                    <a:pt x="206" y="433"/>
                  </a:lnTo>
                  <a:lnTo>
                    <a:pt x="212" y="383"/>
                  </a:lnTo>
                  <a:lnTo>
                    <a:pt x="265" y="364"/>
                  </a:lnTo>
                  <a:lnTo>
                    <a:pt x="293" y="299"/>
                  </a:lnTo>
                  <a:lnTo>
                    <a:pt x="175" y="206"/>
                  </a:lnTo>
                  <a:lnTo>
                    <a:pt x="179" y="126"/>
                  </a:lnTo>
                  <a:lnTo>
                    <a:pt x="252" y="84"/>
                  </a:lnTo>
                  <a:lnTo>
                    <a:pt x="393" y="70"/>
                  </a:lnTo>
                  <a:lnTo>
                    <a:pt x="502" y="41"/>
                  </a:lnTo>
                  <a:lnTo>
                    <a:pt x="533" y="37"/>
                  </a:lnTo>
                  <a:lnTo>
                    <a:pt x="596" y="0"/>
                  </a:lnTo>
                  <a:lnTo>
                    <a:pt x="675" y="13"/>
                  </a:lnTo>
                  <a:lnTo>
                    <a:pt x="758" y="21"/>
                  </a:lnTo>
                  <a:lnTo>
                    <a:pt x="823" y="57"/>
                  </a:lnTo>
                  <a:lnTo>
                    <a:pt x="880" y="68"/>
                  </a:lnTo>
                  <a:lnTo>
                    <a:pt x="941" y="127"/>
                  </a:lnTo>
                  <a:lnTo>
                    <a:pt x="996" y="124"/>
                  </a:lnTo>
                  <a:lnTo>
                    <a:pt x="1075" y="80"/>
                  </a:lnTo>
                  <a:lnTo>
                    <a:pt x="1147" y="84"/>
                  </a:lnTo>
                  <a:lnTo>
                    <a:pt x="1202" y="80"/>
                  </a:lnTo>
                  <a:lnTo>
                    <a:pt x="1244" y="57"/>
                  </a:lnTo>
                  <a:lnTo>
                    <a:pt x="1319" y="96"/>
                  </a:lnTo>
                  <a:lnTo>
                    <a:pt x="1395" y="151"/>
                  </a:lnTo>
                  <a:lnTo>
                    <a:pt x="1456" y="112"/>
                  </a:lnTo>
                  <a:lnTo>
                    <a:pt x="1480" y="171"/>
                  </a:lnTo>
                  <a:lnTo>
                    <a:pt x="1502" y="214"/>
                  </a:lnTo>
                  <a:lnTo>
                    <a:pt x="1588" y="250"/>
                  </a:lnTo>
                  <a:lnTo>
                    <a:pt x="1641" y="320"/>
                  </a:lnTo>
                  <a:lnTo>
                    <a:pt x="1675" y="322"/>
                  </a:lnTo>
                  <a:lnTo>
                    <a:pt x="1702" y="299"/>
                  </a:lnTo>
                  <a:lnTo>
                    <a:pt x="1740" y="334"/>
                  </a:lnTo>
                  <a:lnTo>
                    <a:pt x="1779" y="389"/>
                  </a:lnTo>
                  <a:lnTo>
                    <a:pt x="1793" y="458"/>
                  </a:lnTo>
                  <a:lnTo>
                    <a:pt x="1824" y="494"/>
                  </a:lnTo>
                  <a:lnTo>
                    <a:pt x="1846" y="543"/>
                  </a:lnTo>
                  <a:lnTo>
                    <a:pt x="1872" y="572"/>
                  </a:lnTo>
                  <a:lnTo>
                    <a:pt x="1840" y="677"/>
                  </a:lnTo>
                  <a:lnTo>
                    <a:pt x="1775" y="714"/>
                  </a:lnTo>
                  <a:lnTo>
                    <a:pt x="1787" y="769"/>
                  </a:lnTo>
                  <a:lnTo>
                    <a:pt x="1748" y="801"/>
                  </a:lnTo>
                  <a:lnTo>
                    <a:pt x="1720" y="805"/>
                  </a:lnTo>
                  <a:lnTo>
                    <a:pt x="1726" y="889"/>
                  </a:lnTo>
                  <a:lnTo>
                    <a:pt x="1693" y="921"/>
                  </a:lnTo>
                  <a:lnTo>
                    <a:pt x="1639" y="911"/>
                  </a:lnTo>
                  <a:lnTo>
                    <a:pt x="1614" y="868"/>
                  </a:lnTo>
                  <a:lnTo>
                    <a:pt x="1586" y="887"/>
                  </a:lnTo>
                  <a:lnTo>
                    <a:pt x="1596" y="938"/>
                  </a:lnTo>
                  <a:lnTo>
                    <a:pt x="1661" y="946"/>
                  </a:lnTo>
                  <a:lnTo>
                    <a:pt x="1716" y="990"/>
                  </a:lnTo>
                  <a:lnTo>
                    <a:pt x="1767" y="1001"/>
                  </a:lnTo>
                  <a:lnTo>
                    <a:pt x="1801" y="1035"/>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7" name="Freeform 111"/>
            <p:cNvSpPr/>
            <p:nvPr/>
          </p:nvSpPr>
          <p:spPr bwMode="gray">
            <a:xfrm>
              <a:off x="2241" y="2635"/>
              <a:ext cx="911" cy="693"/>
            </a:xfrm>
            <a:custGeom>
              <a:avLst/>
              <a:gdLst>
                <a:gd name="T0" fmla="*/ 300 w 1823"/>
                <a:gd name="T1" fmla="*/ 274 h 1385"/>
                <a:gd name="T2" fmla="*/ 284 w 1823"/>
                <a:gd name="T3" fmla="*/ 262 h 1385"/>
                <a:gd name="T4" fmla="*/ 269 w 1823"/>
                <a:gd name="T5" fmla="*/ 266 h 1385"/>
                <a:gd name="T6" fmla="*/ 248 w 1823"/>
                <a:gd name="T7" fmla="*/ 249 h 1385"/>
                <a:gd name="T8" fmla="*/ 236 w 1823"/>
                <a:gd name="T9" fmla="*/ 235 h 1385"/>
                <a:gd name="T10" fmla="*/ 232 w 1823"/>
                <a:gd name="T11" fmla="*/ 246 h 1385"/>
                <a:gd name="T12" fmla="*/ 222 w 1823"/>
                <a:gd name="T13" fmla="*/ 252 h 1385"/>
                <a:gd name="T14" fmla="*/ 218 w 1823"/>
                <a:gd name="T15" fmla="*/ 270 h 1385"/>
                <a:gd name="T16" fmla="*/ 195 w 1823"/>
                <a:gd name="T17" fmla="*/ 293 h 1385"/>
                <a:gd name="T18" fmla="*/ 201 w 1823"/>
                <a:gd name="T19" fmla="*/ 318 h 1385"/>
                <a:gd name="T20" fmla="*/ 188 w 1823"/>
                <a:gd name="T21" fmla="*/ 338 h 1385"/>
                <a:gd name="T22" fmla="*/ 167 w 1823"/>
                <a:gd name="T23" fmla="*/ 345 h 1385"/>
                <a:gd name="T24" fmla="*/ 148 w 1823"/>
                <a:gd name="T25" fmla="*/ 338 h 1385"/>
                <a:gd name="T26" fmla="*/ 132 w 1823"/>
                <a:gd name="T27" fmla="*/ 302 h 1385"/>
                <a:gd name="T28" fmla="*/ 111 w 1823"/>
                <a:gd name="T29" fmla="*/ 270 h 1385"/>
                <a:gd name="T30" fmla="*/ 90 w 1823"/>
                <a:gd name="T31" fmla="*/ 257 h 1385"/>
                <a:gd name="T32" fmla="*/ 87 w 1823"/>
                <a:gd name="T33" fmla="*/ 239 h 1385"/>
                <a:gd name="T34" fmla="*/ 65 w 1823"/>
                <a:gd name="T35" fmla="*/ 253 h 1385"/>
                <a:gd name="T36" fmla="*/ 53 w 1823"/>
                <a:gd name="T37" fmla="*/ 209 h 1385"/>
                <a:gd name="T38" fmla="*/ 51 w 1823"/>
                <a:gd name="T39" fmla="*/ 156 h 1385"/>
                <a:gd name="T40" fmla="*/ 40 w 1823"/>
                <a:gd name="T41" fmla="*/ 128 h 1385"/>
                <a:gd name="T42" fmla="*/ 49 w 1823"/>
                <a:gd name="T43" fmla="*/ 117 h 1385"/>
                <a:gd name="T44" fmla="*/ 26 w 1823"/>
                <a:gd name="T45" fmla="*/ 77 h 1385"/>
                <a:gd name="T46" fmla="*/ 2 w 1823"/>
                <a:gd name="T47" fmla="*/ 45 h 1385"/>
                <a:gd name="T48" fmla="*/ 35 w 1823"/>
                <a:gd name="T49" fmla="*/ 40 h 1385"/>
                <a:gd name="T50" fmla="*/ 70 w 1823"/>
                <a:gd name="T51" fmla="*/ 45 h 1385"/>
                <a:gd name="T52" fmla="*/ 107 w 1823"/>
                <a:gd name="T53" fmla="*/ 67 h 1385"/>
                <a:gd name="T54" fmla="*/ 124 w 1823"/>
                <a:gd name="T55" fmla="*/ 50 h 1385"/>
                <a:gd name="T56" fmla="*/ 152 w 1823"/>
                <a:gd name="T57" fmla="*/ 50 h 1385"/>
                <a:gd name="T58" fmla="*/ 171 w 1823"/>
                <a:gd name="T59" fmla="*/ 47 h 1385"/>
                <a:gd name="T60" fmla="*/ 168 w 1823"/>
                <a:gd name="T61" fmla="*/ 22 h 1385"/>
                <a:gd name="T62" fmla="*/ 193 w 1823"/>
                <a:gd name="T63" fmla="*/ 0 h 1385"/>
                <a:gd name="T64" fmla="*/ 208 w 1823"/>
                <a:gd name="T65" fmla="*/ 22 h 1385"/>
                <a:gd name="T66" fmla="*/ 240 w 1823"/>
                <a:gd name="T67" fmla="*/ 35 h 1385"/>
                <a:gd name="T68" fmla="*/ 261 w 1823"/>
                <a:gd name="T69" fmla="*/ 65 h 1385"/>
                <a:gd name="T70" fmla="*/ 284 w 1823"/>
                <a:gd name="T71" fmla="*/ 54 h 1385"/>
                <a:gd name="T72" fmla="*/ 310 w 1823"/>
                <a:gd name="T73" fmla="*/ 64 h 1385"/>
                <a:gd name="T74" fmla="*/ 358 w 1823"/>
                <a:gd name="T75" fmla="*/ 68 h 1385"/>
                <a:gd name="T76" fmla="*/ 390 w 1823"/>
                <a:gd name="T77" fmla="*/ 73 h 1385"/>
                <a:gd name="T78" fmla="*/ 419 w 1823"/>
                <a:gd name="T79" fmla="*/ 84 h 1385"/>
                <a:gd name="T80" fmla="*/ 448 w 1823"/>
                <a:gd name="T81" fmla="*/ 89 h 1385"/>
                <a:gd name="T82" fmla="*/ 455 w 1823"/>
                <a:gd name="T83" fmla="*/ 130 h 1385"/>
                <a:gd name="T84" fmla="*/ 431 w 1823"/>
                <a:gd name="T85" fmla="*/ 144 h 1385"/>
                <a:gd name="T86" fmla="*/ 396 w 1823"/>
                <a:gd name="T87" fmla="*/ 155 h 1385"/>
                <a:gd name="T88" fmla="*/ 417 w 1823"/>
                <a:gd name="T89" fmla="*/ 193 h 1385"/>
                <a:gd name="T90" fmla="*/ 433 w 1823"/>
                <a:gd name="T91" fmla="*/ 227 h 1385"/>
                <a:gd name="T92" fmla="*/ 417 w 1823"/>
                <a:gd name="T93" fmla="*/ 246 h 1385"/>
                <a:gd name="T94" fmla="*/ 397 w 1823"/>
                <a:gd name="T95" fmla="*/ 227 h 1385"/>
                <a:gd name="T96" fmla="*/ 379 w 1823"/>
                <a:gd name="T97" fmla="*/ 214 h 1385"/>
                <a:gd name="T98" fmla="*/ 361 w 1823"/>
                <a:gd name="T99" fmla="*/ 210 h 1385"/>
                <a:gd name="T100" fmla="*/ 355 w 1823"/>
                <a:gd name="T101" fmla="*/ 224 h 1385"/>
                <a:gd name="T102" fmla="*/ 344 w 1823"/>
                <a:gd name="T103" fmla="*/ 240 h 1385"/>
                <a:gd name="T104" fmla="*/ 312 w 1823"/>
                <a:gd name="T105" fmla="*/ 227 h 1385"/>
                <a:gd name="T106" fmla="*/ 300 w 1823"/>
                <a:gd name="T107" fmla="*/ 247 h 1385"/>
                <a:gd name="T108" fmla="*/ 320 w 1823"/>
                <a:gd name="T109" fmla="*/ 253 h 138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23"/>
                <a:gd name="T166" fmla="*/ 0 h 1385"/>
                <a:gd name="T167" fmla="*/ 1823 w 1823"/>
                <a:gd name="T168" fmla="*/ 1385 h 138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23" h="1385">
                  <a:moveTo>
                    <a:pt x="1301" y="1068"/>
                  </a:moveTo>
                  <a:lnTo>
                    <a:pt x="1203" y="1096"/>
                  </a:lnTo>
                  <a:lnTo>
                    <a:pt x="1142" y="1088"/>
                  </a:lnTo>
                  <a:lnTo>
                    <a:pt x="1138" y="1047"/>
                  </a:lnTo>
                  <a:lnTo>
                    <a:pt x="1105" y="1025"/>
                  </a:lnTo>
                  <a:lnTo>
                    <a:pt x="1077" y="1061"/>
                  </a:lnTo>
                  <a:lnTo>
                    <a:pt x="1014" y="1066"/>
                  </a:lnTo>
                  <a:lnTo>
                    <a:pt x="992" y="996"/>
                  </a:lnTo>
                  <a:lnTo>
                    <a:pt x="992" y="942"/>
                  </a:lnTo>
                  <a:lnTo>
                    <a:pt x="945" y="939"/>
                  </a:lnTo>
                  <a:lnTo>
                    <a:pt x="916" y="954"/>
                  </a:lnTo>
                  <a:lnTo>
                    <a:pt x="929" y="982"/>
                  </a:lnTo>
                  <a:lnTo>
                    <a:pt x="923" y="1005"/>
                  </a:lnTo>
                  <a:lnTo>
                    <a:pt x="890" y="1007"/>
                  </a:lnTo>
                  <a:lnTo>
                    <a:pt x="866" y="1033"/>
                  </a:lnTo>
                  <a:lnTo>
                    <a:pt x="874" y="1078"/>
                  </a:lnTo>
                  <a:lnTo>
                    <a:pt x="817" y="1149"/>
                  </a:lnTo>
                  <a:lnTo>
                    <a:pt x="780" y="1169"/>
                  </a:lnTo>
                  <a:lnTo>
                    <a:pt x="780" y="1234"/>
                  </a:lnTo>
                  <a:lnTo>
                    <a:pt x="805" y="1271"/>
                  </a:lnTo>
                  <a:lnTo>
                    <a:pt x="801" y="1326"/>
                  </a:lnTo>
                  <a:lnTo>
                    <a:pt x="752" y="1352"/>
                  </a:lnTo>
                  <a:lnTo>
                    <a:pt x="742" y="1330"/>
                  </a:lnTo>
                  <a:lnTo>
                    <a:pt x="670" y="1377"/>
                  </a:lnTo>
                  <a:lnTo>
                    <a:pt x="632" y="1385"/>
                  </a:lnTo>
                  <a:lnTo>
                    <a:pt x="595" y="1352"/>
                  </a:lnTo>
                  <a:lnTo>
                    <a:pt x="563" y="1273"/>
                  </a:lnTo>
                  <a:lnTo>
                    <a:pt x="528" y="1206"/>
                  </a:lnTo>
                  <a:lnTo>
                    <a:pt x="500" y="1163"/>
                  </a:lnTo>
                  <a:lnTo>
                    <a:pt x="445" y="1078"/>
                  </a:lnTo>
                  <a:lnTo>
                    <a:pt x="396" y="1076"/>
                  </a:lnTo>
                  <a:lnTo>
                    <a:pt x="362" y="1025"/>
                  </a:lnTo>
                  <a:lnTo>
                    <a:pt x="378" y="988"/>
                  </a:lnTo>
                  <a:lnTo>
                    <a:pt x="349" y="954"/>
                  </a:lnTo>
                  <a:lnTo>
                    <a:pt x="303" y="1004"/>
                  </a:lnTo>
                  <a:lnTo>
                    <a:pt x="260" y="1011"/>
                  </a:lnTo>
                  <a:lnTo>
                    <a:pt x="227" y="950"/>
                  </a:lnTo>
                  <a:lnTo>
                    <a:pt x="215" y="834"/>
                  </a:lnTo>
                  <a:lnTo>
                    <a:pt x="211" y="712"/>
                  </a:lnTo>
                  <a:lnTo>
                    <a:pt x="205" y="624"/>
                  </a:lnTo>
                  <a:lnTo>
                    <a:pt x="199" y="582"/>
                  </a:lnTo>
                  <a:lnTo>
                    <a:pt x="160" y="509"/>
                  </a:lnTo>
                  <a:lnTo>
                    <a:pt x="193" y="496"/>
                  </a:lnTo>
                  <a:lnTo>
                    <a:pt x="199" y="468"/>
                  </a:lnTo>
                  <a:lnTo>
                    <a:pt x="136" y="401"/>
                  </a:lnTo>
                  <a:lnTo>
                    <a:pt x="105" y="305"/>
                  </a:lnTo>
                  <a:lnTo>
                    <a:pt x="0" y="240"/>
                  </a:lnTo>
                  <a:lnTo>
                    <a:pt x="8" y="177"/>
                  </a:lnTo>
                  <a:lnTo>
                    <a:pt x="49" y="147"/>
                  </a:lnTo>
                  <a:lnTo>
                    <a:pt x="140" y="157"/>
                  </a:lnTo>
                  <a:lnTo>
                    <a:pt x="189" y="134"/>
                  </a:lnTo>
                  <a:lnTo>
                    <a:pt x="280" y="179"/>
                  </a:lnTo>
                  <a:lnTo>
                    <a:pt x="329" y="153"/>
                  </a:lnTo>
                  <a:lnTo>
                    <a:pt x="429" y="265"/>
                  </a:lnTo>
                  <a:lnTo>
                    <a:pt x="496" y="267"/>
                  </a:lnTo>
                  <a:lnTo>
                    <a:pt x="496" y="200"/>
                  </a:lnTo>
                  <a:lnTo>
                    <a:pt x="563" y="157"/>
                  </a:lnTo>
                  <a:lnTo>
                    <a:pt x="610" y="200"/>
                  </a:lnTo>
                  <a:lnTo>
                    <a:pt x="644" y="167"/>
                  </a:lnTo>
                  <a:lnTo>
                    <a:pt x="687" y="187"/>
                  </a:lnTo>
                  <a:lnTo>
                    <a:pt x="709" y="120"/>
                  </a:lnTo>
                  <a:lnTo>
                    <a:pt x="673" y="86"/>
                  </a:lnTo>
                  <a:lnTo>
                    <a:pt x="677" y="35"/>
                  </a:lnTo>
                  <a:lnTo>
                    <a:pt x="774" y="0"/>
                  </a:lnTo>
                  <a:lnTo>
                    <a:pt x="807" y="17"/>
                  </a:lnTo>
                  <a:lnTo>
                    <a:pt x="833" y="88"/>
                  </a:lnTo>
                  <a:lnTo>
                    <a:pt x="914" y="161"/>
                  </a:lnTo>
                  <a:lnTo>
                    <a:pt x="961" y="138"/>
                  </a:lnTo>
                  <a:lnTo>
                    <a:pt x="988" y="216"/>
                  </a:lnTo>
                  <a:lnTo>
                    <a:pt x="1044" y="260"/>
                  </a:lnTo>
                  <a:lnTo>
                    <a:pt x="1091" y="267"/>
                  </a:lnTo>
                  <a:lnTo>
                    <a:pt x="1138" y="216"/>
                  </a:lnTo>
                  <a:lnTo>
                    <a:pt x="1183" y="195"/>
                  </a:lnTo>
                  <a:lnTo>
                    <a:pt x="1242" y="254"/>
                  </a:lnTo>
                  <a:lnTo>
                    <a:pt x="1335" y="228"/>
                  </a:lnTo>
                  <a:lnTo>
                    <a:pt x="1433" y="269"/>
                  </a:lnTo>
                  <a:lnTo>
                    <a:pt x="1496" y="317"/>
                  </a:lnTo>
                  <a:lnTo>
                    <a:pt x="1561" y="291"/>
                  </a:lnTo>
                  <a:lnTo>
                    <a:pt x="1632" y="336"/>
                  </a:lnTo>
                  <a:lnTo>
                    <a:pt x="1679" y="336"/>
                  </a:lnTo>
                  <a:lnTo>
                    <a:pt x="1681" y="368"/>
                  </a:lnTo>
                  <a:lnTo>
                    <a:pt x="1795" y="356"/>
                  </a:lnTo>
                  <a:lnTo>
                    <a:pt x="1823" y="433"/>
                  </a:lnTo>
                  <a:lnTo>
                    <a:pt x="1821" y="519"/>
                  </a:lnTo>
                  <a:lnTo>
                    <a:pt x="1770" y="527"/>
                  </a:lnTo>
                  <a:lnTo>
                    <a:pt x="1727" y="576"/>
                  </a:lnTo>
                  <a:lnTo>
                    <a:pt x="1620" y="584"/>
                  </a:lnTo>
                  <a:lnTo>
                    <a:pt x="1587" y="618"/>
                  </a:lnTo>
                  <a:lnTo>
                    <a:pt x="1610" y="693"/>
                  </a:lnTo>
                  <a:lnTo>
                    <a:pt x="1669" y="771"/>
                  </a:lnTo>
                  <a:lnTo>
                    <a:pt x="1721" y="815"/>
                  </a:lnTo>
                  <a:lnTo>
                    <a:pt x="1732" y="905"/>
                  </a:lnTo>
                  <a:lnTo>
                    <a:pt x="1731" y="956"/>
                  </a:lnTo>
                  <a:lnTo>
                    <a:pt x="1669" y="984"/>
                  </a:lnTo>
                  <a:lnTo>
                    <a:pt x="1616" y="913"/>
                  </a:lnTo>
                  <a:lnTo>
                    <a:pt x="1591" y="905"/>
                  </a:lnTo>
                  <a:lnTo>
                    <a:pt x="1575" y="838"/>
                  </a:lnTo>
                  <a:lnTo>
                    <a:pt x="1516" y="856"/>
                  </a:lnTo>
                  <a:lnTo>
                    <a:pt x="1463" y="818"/>
                  </a:lnTo>
                  <a:lnTo>
                    <a:pt x="1445" y="838"/>
                  </a:lnTo>
                  <a:lnTo>
                    <a:pt x="1457" y="880"/>
                  </a:lnTo>
                  <a:lnTo>
                    <a:pt x="1421" y="895"/>
                  </a:lnTo>
                  <a:lnTo>
                    <a:pt x="1362" y="909"/>
                  </a:lnTo>
                  <a:lnTo>
                    <a:pt x="1378" y="958"/>
                  </a:lnTo>
                  <a:lnTo>
                    <a:pt x="1313" y="950"/>
                  </a:lnTo>
                  <a:lnTo>
                    <a:pt x="1248" y="907"/>
                  </a:lnTo>
                  <a:lnTo>
                    <a:pt x="1197" y="944"/>
                  </a:lnTo>
                  <a:lnTo>
                    <a:pt x="1201" y="986"/>
                  </a:lnTo>
                  <a:lnTo>
                    <a:pt x="1252" y="1009"/>
                  </a:lnTo>
                  <a:lnTo>
                    <a:pt x="1280" y="1009"/>
                  </a:lnTo>
                  <a:lnTo>
                    <a:pt x="1301" y="1068"/>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8" name="Freeform 112"/>
            <p:cNvSpPr/>
            <p:nvPr/>
          </p:nvSpPr>
          <p:spPr bwMode="gray">
            <a:xfrm>
              <a:off x="2241" y="2635"/>
              <a:ext cx="911" cy="693"/>
            </a:xfrm>
            <a:custGeom>
              <a:avLst/>
              <a:gdLst>
                <a:gd name="T0" fmla="*/ 300 w 1823"/>
                <a:gd name="T1" fmla="*/ 274 h 1385"/>
                <a:gd name="T2" fmla="*/ 284 w 1823"/>
                <a:gd name="T3" fmla="*/ 262 h 1385"/>
                <a:gd name="T4" fmla="*/ 269 w 1823"/>
                <a:gd name="T5" fmla="*/ 266 h 1385"/>
                <a:gd name="T6" fmla="*/ 248 w 1823"/>
                <a:gd name="T7" fmla="*/ 249 h 1385"/>
                <a:gd name="T8" fmla="*/ 236 w 1823"/>
                <a:gd name="T9" fmla="*/ 235 h 1385"/>
                <a:gd name="T10" fmla="*/ 232 w 1823"/>
                <a:gd name="T11" fmla="*/ 246 h 1385"/>
                <a:gd name="T12" fmla="*/ 222 w 1823"/>
                <a:gd name="T13" fmla="*/ 252 h 1385"/>
                <a:gd name="T14" fmla="*/ 218 w 1823"/>
                <a:gd name="T15" fmla="*/ 270 h 1385"/>
                <a:gd name="T16" fmla="*/ 195 w 1823"/>
                <a:gd name="T17" fmla="*/ 293 h 1385"/>
                <a:gd name="T18" fmla="*/ 201 w 1823"/>
                <a:gd name="T19" fmla="*/ 318 h 1385"/>
                <a:gd name="T20" fmla="*/ 188 w 1823"/>
                <a:gd name="T21" fmla="*/ 338 h 1385"/>
                <a:gd name="T22" fmla="*/ 167 w 1823"/>
                <a:gd name="T23" fmla="*/ 345 h 1385"/>
                <a:gd name="T24" fmla="*/ 148 w 1823"/>
                <a:gd name="T25" fmla="*/ 338 h 1385"/>
                <a:gd name="T26" fmla="*/ 132 w 1823"/>
                <a:gd name="T27" fmla="*/ 302 h 1385"/>
                <a:gd name="T28" fmla="*/ 111 w 1823"/>
                <a:gd name="T29" fmla="*/ 270 h 1385"/>
                <a:gd name="T30" fmla="*/ 90 w 1823"/>
                <a:gd name="T31" fmla="*/ 257 h 1385"/>
                <a:gd name="T32" fmla="*/ 87 w 1823"/>
                <a:gd name="T33" fmla="*/ 239 h 1385"/>
                <a:gd name="T34" fmla="*/ 65 w 1823"/>
                <a:gd name="T35" fmla="*/ 253 h 1385"/>
                <a:gd name="T36" fmla="*/ 53 w 1823"/>
                <a:gd name="T37" fmla="*/ 209 h 1385"/>
                <a:gd name="T38" fmla="*/ 51 w 1823"/>
                <a:gd name="T39" fmla="*/ 156 h 1385"/>
                <a:gd name="T40" fmla="*/ 40 w 1823"/>
                <a:gd name="T41" fmla="*/ 128 h 1385"/>
                <a:gd name="T42" fmla="*/ 49 w 1823"/>
                <a:gd name="T43" fmla="*/ 117 h 1385"/>
                <a:gd name="T44" fmla="*/ 26 w 1823"/>
                <a:gd name="T45" fmla="*/ 77 h 1385"/>
                <a:gd name="T46" fmla="*/ 2 w 1823"/>
                <a:gd name="T47" fmla="*/ 45 h 1385"/>
                <a:gd name="T48" fmla="*/ 35 w 1823"/>
                <a:gd name="T49" fmla="*/ 40 h 1385"/>
                <a:gd name="T50" fmla="*/ 70 w 1823"/>
                <a:gd name="T51" fmla="*/ 45 h 1385"/>
                <a:gd name="T52" fmla="*/ 107 w 1823"/>
                <a:gd name="T53" fmla="*/ 67 h 1385"/>
                <a:gd name="T54" fmla="*/ 124 w 1823"/>
                <a:gd name="T55" fmla="*/ 50 h 1385"/>
                <a:gd name="T56" fmla="*/ 152 w 1823"/>
                <a:gd name="T57" fmla="*/ 50 h 1385"/>
                <a:gd name="T58" fmla="*/ 171 w 1823"/>
                <a:gd name="T59" fmla="*/ 47 h 1385"/>
                <a:gd name="T60" fmla="*/ 168 w 1823"/>
                <a:gd name="T61" fmla="*/ 22 h 1385"/>
                <a:gd name="T62" fmla="*/ 193 w 1823"/>
                <a:gd name="T63" fmla="*/ 0 h 1385"/>
                <a:gd name="T64" fmla="*/ 208 w 1823"/>
                <a:gd name="T65" fmla="*/ 22 h 1385"/>
                <a:gd name="T66" fmla="*/ 240 w 1823"/>
                <a:gd name="T67" fmla="*/ 35 h 1385"/>
                <a:gd name="T68" fmla="*/ 261 w 1823"/>
                <a:gd name="T69" fmla="*/ 65 h 1385"/>
                <a:gd name="T70" fmla="*/ 284 w 1823"/>
                <a:gd name="T71" fmla="*/ 54 h 1385"/>
                <a:gd name="T72" fmla="*/ 310 w 1823"/>
                <a:gd name="T73" fmla="*/ 64 h 1385"/>
                <a:gd name="T74" fmla="*/ 358 w 1823"/>
                <a:gd name="T75" fmla="*/ 68 h 1385"/>
                <a:gd name="T76" fmla="*/ 390 w 1823"/>
                <a:gd name="T77" fmla="*/ 73 h 1385"/>
                <a:gd name="T78" fmla="*/ 419 w 1823"/>
                <a:gd name="T79" fmla="*/ 84 h 1385"/>
                <a:gd name="T80" fmla="*/ 448 w 1823"/>
                <a:gd name="T81" fmla="*/ 89 h 1385"/>
                <a:gd name="T82" fmla="*/ 455 w 1823"/>
                <a:gd name="T83" fmla="*/ 130 h 1385"/>
                <a:gd name="T84" fmla="*/ 431 w 1823"/>
                <a:gd name="T85" fmla="*/ 144 h 1385"/>
                <a:gd name="T86" fmla="*/ 396 w 1823"/>
                <a:gd name="T87" fmla="*/ 155 h 1385"/>
                <a:gd name="T88" fmla="*/ 417 w 1823"/>
                <a:gd name="T89" fmla="*/ 193 h 1385"/>
                <a:gd name="T90" fmla="*/ 433 w 1823"/>
                <a:gd name="T91" fmla="*/ 227 h 1385"/>
                <a:gd name="T92" fmla="*/ 417 w 1823"/>
                <a:gd name="T93" fmla="*/ 246 h 1385"/>
                <a:gd name="T94" fmla="*/ 397 w 1823"/>
                <a:gd name="T95" fmla="*/ 227 h 1385"/>
                <a:gd name="T96" fmla="*/ 379 w 1823"/>
                <a:gd name="T97" fmla="*/ 214 h 1385"/>
                <a:gd name="T98" fmla="*/ 361 w 1823"/>
                <a:gd name="T99" fmla="*/ 210 h 1385"/>
                <a:gd name="T100" fmla="*/ 355 w 1823"/>
                <a:gd name="T101" fmla="*/ 224 h 1385"/>
                <a:gd name="T102" fmla="*/ 344 w 1823"/>
                <a:gd name="T103" fmla="*/ 240 h 1385"/>
                <a:gd name="T104" fmla="*/ 312 w 1823"/>
                <a:gd name="T105" fmla="*/ 227 h 1385"/>
                <a:gd name="T106" fmla="*/ 300 w 1823"/>
                <a:gd name="T107" fmla="*/ 247 h 1385"/>
                <a:gd name="T108" fmla="*/ 320 w 1823"/>
                <a:gd name="T109" fmla="*/ 253 h 138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23"/>
                <a:gd name="T166" fmla="*/ 0 h 1385"/>
                <a:gd name="T167" fmla="*/ 1823 w 1823"/>
                <a:gd name="T168" fmla="*/ 1385 h 138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23" h="1385">
                  <a:moveTo>
                    <a:pt x="1301" y="1068"/>
                  </a:moveTo>
                  <a:lnTo>
                    <a:pt x="1203" y="1096"/>
                  </a:lnTo>
                  <a:lnTo>
                    <a:pt x="1142" y="1088"/>
                  </a:lnTo>
                  <a:lnTo>
                    <a:pt x="1138" y="1047"/>
                  </a:lnTo>
                  <a:lnTo>
                    <a:pt x="1105" y="1025"/>
                  </a:lnTo>
                  <a:lnTo>
                    <a:pt x="1077" y="1061"/>
                  </a:lnTo>
                  <a:lnTo>
                    <a:pt x="1014" y="1066"/>
                  </a:lnTo>
                  <a:lnTo>
                    <a:pt x="992" y="996"/>
                  </a:lnTo>
                  <a:lnTo>
                    <a:pt x="992" y="942"/>
                  </a:lnTo>
                  <a:lnTo>
                    <a:pt x="945" y="939"/>
                  </a:lnTo>
                  <a:lnTo>
                    <a:pt x="916" y="954"/>
                  </a:lnTo>
                  <a:lnTo>
                    <a:pt x="929" y="982"/>
                  </a:lnTo>
                  <a:lnTo>
                    <a:pt x="923" y="1005"/>
                  </a:lnTo>
                  <a:lnTo>
                    <a:pt x="890" y="1007"/>
                  </a:lnTo>
                  <a:lnTo>
                    <a:pt x="866" y="1033"/>
                  </a:lnTo>
                  <a:lnTo>
                    <a:pt x="874" y="1078"/>
                  </a:lnTo>
                  <a:lnTo>
                    <a:pt x="817" y="1149"/>
                  </a:lnTo>
                  <a:lnTo>
                    <a:pt x="780" y="1169"/>
                  </a:lnTo>
                  <a:lnTo>
                    <a:pt x="780" y="1234"/>
                  </a:lnTo>
                  <a:lnTo>
                    <a:pt x="805" y="1271"/>
                  </a:lnTo>
                  <a:lnTo>
                    <a:pt x="801" y="1326"/>
                  </a:lnTo>
                  <a:lnTo>
                    <a:pt x="752" y="1352"/>
                  </a:lnTo>
                  <a:lnTo>
                    <a:pt x="742" y="1330"/>
                  </a:lnTo>
                  <a:lnTo>
                    <a:pt x="670" y="1377"/>
                  </a:lnTo>
                  <a:lnTo>
                    <a:pt x="632" y="1385"/>
                  </a:lnTo>
                  <a:lnTo>
                    <a:pt x="595" y="1352"/>
                  </a:lnTo>
                  <a:lnTo>
                    <a:pt x="563" y="1273"/>
                  </a:lnTo>
                  <a:lnTo>
                    <a:pt x="528" y="1206"/>
                  </a:lnTo>
                  <a:lnTo>
                    <a:pt x="500" y="1163"/>
                  </a:lnTo>
                  <a:lnTo>
                    <a:pt x="445" y="1078"/>
                  </a:lnTo>
                  <a:lnTo>
                    <a:pt x="396" y="1076"/>
                  </a:lnTo>
                  <a:lnTo>
                    <a:pt x="362" y="1025"/>
                  </a:lnTo>
                  <a:lnTo>
                    <a:pt x="378" y="988"/>
                  </a:lnTo>
                  <a:lnTo>
                    <a:pt x="349" y="954"/>
                  </a:lnTo>
                  <a:lnTo>
                    <a:pt x="303" y="1004"/>
                  </a:lnTo>
                  <a:lnTo>
                    <a:pt x="260" y="1011"/>
                  </a:lnTo>
                  <a:lnTo>
                    <a:pt x="227" y="950"/>
                  </a:lnTo>
                  <a:lnTo>
                    <a:pt x="215" y="834"/>
                  </a:lnTo>
                  <a:lnTo>
                    <a:pt x="211" y="712"/>
                  </a:lnTo>
                  <a:lnTo>
                    <a:pt x="205" y="624"/>
                  </a:lnTo>
                  <a:lnTo>
                    <a:pt x="199" y="582"/>
                  </a:lnTo>
                  <a:lnTo>
                    <a:pt x="160" y="509"/>
                  </a:lnTo>
                  <a:lnTo>
                    <a:pt x="193" y="496"/>
                  </a:lnTo>
                  <a:lnTo>
                    <a:pt x="199" y="468"/>
                  </a:lnTo>
                  <a:lnTo>
                    <a:pt x="136" y="401"/>
                  </a:lnTo>
                  <a:lnTo>
                    <a:pt x="105" y="305"/>
                  </a:lnTo>
                  <a:lnTo>
                    <a:pt x="0" y="240"/>
                  </a:lnTo>
                  <a:lnTo>
                    <a:pt x="8" y="177"/>
                  </a:lnTo>
                  <a:lnTo>
                    <a:pt x="49" y="147"/>
                  </a:lnTo>
                  <a:lnTo>
                    <a:pt x="140" y="157"/>
                  </a:lnTo>
                  <a:lnTo>
                    <a:pt x="189" y="134"/>
                  </a:lnTo>
                  <a:lnTo>
                    <a:pt x="280" y="179"/>
                  </a:lnTo>
                  <a:lnTo>
                    <a:pt x="329" y="153"/>
                  </a:lnTo>
                  <a:lnTo>
                    <a:pt x="429" y="265"/>
                  </a:lnTo>
                  <a:lnTo>
                    <a:pt x="496" y="267"/>
                  </a:lnTo>
                  <a:lnTo>
                    <a:pt x="496" y="200"/>
                  </a:lnTo>
                  <a:lnTo>
                    <a:pt x="563" y="157"/>
                  </a:lnTo>
                  <a:lnTo>
                    <a:pt x="610" y="200"/>
                  </a:lnTo>
                  <a:lnTo>
                    <a:pt x="644" y="167"/>
                  </a:lnTo>
                  <a:lnTo>
                    <a:pt x="687" y="187"/>
                  </a:lnTo>
                  <a:lnTo>
                    <a:pt x="709" y="120"/>
                  </a:lnTo>
                  <a:lnTo>
                    <a:pt x="673" y="86"/>
                  </a:lnTo>
                  <a:lnTo>
                    <a:pt x="677" y="35"/>
                  </a:lnTo>
                  <a:lnTo>
                    <a:pt x="774" y="0"/>
                  </a:lnTo>
                  <a:lnTo>
                    <a:pt x="807" y="17"/>
                  </a:lnTo>
                  <a:lnTo>
                    <a:pt x="833" y="88"/>
                  </a:lnTo>
                  <a:lnTo>
                    <a:pt x="914" y="161"/>
                  </a:lnTo>
                  <a:lnTo>
                    <a:pt x="961" y="138"/>
                  </a:lnTo>
                  <a:lnTo>
                    <a:pt x="988" y="216"/>
                  </a:lnTo>
                  <a:lnTo>
                    <a:pt x="1044" y="260"/>
                  </a:lnTo>
                  <a:lnTo>
                    <a:pt x="1091" y="267"/>
                  </a:lnTo>
                  <a:lnTo>
                    <a:pt x="1138" y="216"/>
                  </a:lnTo>
                  <a:lnTo>
                    <a:pt x="1183" y="195"/>
                  </a:lnTo>
                  <a:lnTo>
                    <a:pt x="1242" y="254"/>
                  </a:lnTo>
                  <a:lnTo>
                    <a:pt x="1335" y="228"/>
                  </a:lnTo>
                  <a:lnTo>
                    <a:pt x="1433" y="269"/>
                  </a:lnTo>
                  <a:lnTo>
                    <a:pt x="1496" y="317"/>
                  </a:lnTo>
                  <a:lnTo>
                    <a:pt x="1561" y="291"/>
                  </a:lnTo>
                  <a:lnTo>
                    <a:pt x="1632" y="336"/>
                  </a:lnTo>
                  <a:lnTo>
                    <a:pt x="1679" y="336"/>
                  </a:lnTo>
                  <a:lnTo>
                    <a:pt x="1681" y="368"/>
                  </a:lnTo>
                  <a:lnTo>
                    <a:pt x="1795" y="356"/>
                  </a:lnTo>
                  <a:lnTo>
                    <a:pt x="1823" y="433"/>
                  </a:lnTo>
                  <a:lnTo>
                    <a:pt x="1821" y="519"/>
                  </a:lnTo>
                  <a:lnTo>
                    <a:pt x="1770" y="527"/>
                  </a:lnTo>
                  <a:lnTo>
                    <a:pt x="1727" y="576"/>
                  </a:lnTo>
                  <a:lnTo>
                    <a:pt x="1620" y="584"/>
                  </a:lnTo>
                  <a:lnTo>
                    <a:pt x="1587" y="618"/>
                  </a:lnTo>
                  <a:lnTo>
                    <a:pt x="1610" y="693"/>
                  </a:lnTo>
                  <a:lnTo>
                    <a:pt x="1669" y="771"/>
                  </a:lnTo>
                  <a:lnTo>
                    <a:pt x="1721" y="815"/>
                  </a:lnTo>
                  <a:lnTo>
                    <a:pt x="1732" y="905"/>
                  </a:lnTo>
                  <a:lnTo>
                    <a:pt x="1731" y="956"/>
                  </a:lnTo>
                  <a:lnTo>
                    <a:pt x="1669" y="984"/>
                  </a:lnTo>
                  <a:lnTo>
                    <a:pt x="1616" y="913"/>
                  </a:lnTo>
                  <a:lnTo>
                    <a:pt x="1591" y="905"/>
                  </a:lnTo>
                  <a:lnTo>
                    <a:pt x="1575" y="838"/>
                  </a:lnTo>
                  <a:lnTo>
                    <a:pt x="1516" y="856"/>
                  </a:lnTo>
                  <a:lnTo>
                    <a:pt x="1463" y="818"/>
                  </a:lnTo>
                  <a:lnTo>
                    <a:pt x="1445" y="838"/>
                  </a:lnTo>
                  <a:lnTo>
                    <a:pt x="1457" y="880"/>
                  </a:lnTo>
                  <a:lnTo>
                    <a:pt x="1421" y="895"/>
                  </a:lnTo>
                  <a:lnTo>
                    <a:pt x="1362" y="909"/>
                  </a:lnTo>
                  <a:lnTo>
                    <a:pt x="1378" y="958"/>
                  </a:lnTo>
                  <a:lnTo>
                    <a:pt x="1313" y="950"/>
                  </a:lnTo>
                  <a:lnTo>
                    <a:pt x="1248" y="907"/>
                  </a:lnTo>
                  <a:lnTo>
                    <a:pt x="1197" y="944"/>
                  </a:lnTo>
                  <a:lnTo>
                    <a:pt x="1201" y="986"/>
                  </a:lnTo>
                  <a:lnTo>
                    <a:pt x="1252" y="1009"/>
                  </a:lnTo>
                  <a:lnTo>
                    <a:pt x="1280" y="1009"/>
                  </a:lnTo>
                  <a:lnTo>
                    <a:pt x="1301" y="1068"/>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89" name="Freeform 113"/>
            <p:cNvSpPr/>
            <p:nvPr/>
          </p:nvSpPr>
          <p:spPr bwMode="gray">
            <a:xfrm>
              <a:off x="2685" y="3045"/>
              <a:ext cx="453" cy="398"/>
            </a:xfrm>
            <a:custGeom>
              <a:avLst/>
              <a:gdLst>
                <a:gd name="T0" fmla="*/ 221 w 907"/>
                <a:gd name="T1" fmla="*/ 85 h 796"/>
                <a:gd name="T2" fmla="*/ 221 w 907"/>
                <a:gd name="T3" fmla="*/ 106 h 796"/>
                <a:gd name="T4" fmla="*/ 226 w 907"/>
                <a:gd name="T5" fmla="*/ 130 h 796"/>
                <a:gd name="T6" fmla="*/ 217 w 907"/>
                <a:gd name="T7" fmla="*/ 139 h 796"/>
                <a:gd name="T8" fmla="*/ 209 w 907"/>
                <a:gd name="T9" fmla="*/ 152 h 796"/>
                <a:gd name="T10" fmla="*/ 195 w 907"/>
                <a:gd name="T11" fmla="*/ 160 h 796"/>
                <a:gd name="T12" fmla="*/ 179 w 907"/>
                <a:gd name="T13" fmla="*/ 159 h 796"/>
                <a:gd name="T14" fmla="*/ 165 w 907"/>
                <a:gd name="T15" fmla="*/ 174 h 796"/>
                <a:gd name="T16" fmla="*/ 150 w 907"/>
                <a:gd name="T17" fmla="*/ 168 h 796"/>
                <a:gd name="T18" fmla="*/ 134 w 907"/>
                <a:gd name="T19" fmla="*/ 164 h 796"/>
                <a:gd name="T20" fmla="*/ 120 w 907"/>
                <a:gd name="T21" fmla="*/ 174 h 796"/>
                <a:gd name="T22" fmla="*/ 105 w 907"/>
                <a:gd name="T23" fmla="*/ 184 h 796"/>
                <a:gd name="T24" fmla="*/ 98 w 907"/>
                <a:gd name="T25" fmla="*/ 196 h 796"/>
                <a:gd name="T26" fmla="*/ 70 w 907"/>
                <a:gd name="T27" fmla="*/ 185 h 796"/>
                <a:gd name="T28" fmla="*/ 48 w 907"/>
                <a:gd name="T29" fmla="*/ 199 h 796"/>
                <a:gd name="T30" fmla="*/ 44 w 907"/>
                <a:gd name="T31" fmla="*/ 187 h 796"/>
                <a:gd name="T32" fmla="*/ 34 w 907"/>
                <a:gd name="T33" fmla="*/ 168 h 796"/>
                <a:gd name="T34" fmla="*/ 41 w 907"/>
                <a:gd name="T35" fmla="*/ 126 h 796"/>
                <a:gd name="T36" fmla="*/ 27 w 907"/>
                <a:gd name="T37" fmla="*/ 116 h 796"/>
                <a:gd name="T38" fmla="*/ 6 w 907"/>
                <a:gd name="T39" fmla="*/ 118 h 796"/>
                <a:gd name="T40" fmla="*/ 0 w 907"/>
                <a:gd name="T41" fmla="*/ 98 h 796"/>
                <a:gd name="T42" fmla="*/ 21 w 907"/>
                <a:gd name="T43" fmla="*/ 88 h 796"/>
                <a:gd name="T44" fmla="*/ 30 w 907"/>
                <a:gd name="T45" fmla="*/ 86 h 796"/>
                <a:gd name="T46" fmla="*/ 59 w 907"/>
                <a:gd name="T47" fmla="*/ 83 h 796"/>
                <a:gd name="T48" fmla="*/ 78 w 907"/>
                <a:gd name="T49" fmla="*/ 69 h 796"/>
                <a:gd name="T50" fmla="*/ 98 w 907"/>
                <a:gd name="T51" fmla="*/ 48 h 796"/>
                <a:gd name="T52" fmla="*/ 78 w 907"/>
                <a:gd name="T53" fmla="*/ 42 h 796"/>
                <a:gd name="T54" fmla="*/ 90 w 907"/>
                <a:gd name="T55" fmla="*/ 22 h 796"/>
                <a:gd name="T56" fmla="*/ 122 w 907"/>
                <a:gd name="T57" fmla="*/ 35 h 796"/>
                <a:gd name="T58" fmla="*/ 132 w 907"/>
                <a:gd name="T59" fmla="*/ 19 h 796"/>
                <a:gd name="T60" fmla="*/ 139 w 907"/>
                <a:gd name="T61" fmla="*/ 5 h 796"/>
                <a:gd name="T62" fmla="*/ 157 w 907"/>
                <a:gd name="T63" fmla="*/ 9 h 796"/>
                <a:gd name="T64" fmla="*/ 175 w 907"/>
                <a:gd name="T65" fmla="*/ 22 h 796"/>
                <a:gd name="T66" fmla="*/ 195 w 907"/>
                <a:gd name="T67" fmla="*/ 41 h 796"/>
                <a:gd name="T68" fmla="*/ 216 w 907"/>
                <a:gd name="T69" fmla="*/ 52 h 796"/>
                <a:gd name="T70" fmla="*/ 208 w 907"/>
                <a:gd name="T71" fmla="*/ 78 h 7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07"/>
                <a:gd name="T109" fmla="*/ 0 h 796"/>
                <a:gd name="T110" fmla="*/ 907 w 907"/>
                <a:gd name="T111" fmla="*/ 796 h 79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07" h="796">
                  <a:moveTo>
                    <a:pt x="817" y="333"/>
                  </a:moveTo>
                  <a:lnTo>
                    <a:pt x="884" y="339"/>
                  </a:lnTo>
                  <a:lnTo>
                    <a:pt x="905" y="372"/>
                  </a:lnTo>
                  <a:lnTo>
                    <a:pt x="884" y="424"/>
                  </a:lnTo>
                  <a:lnTo>
                    <a:pt x="880" y="475"/>
                  </a:lnTo>
                  <a:lnTo>
                    <a:pt x="907" y="520"/>
                  </a:lnTo>
                  <a:lnTo>
                    <a:pt x="882" y="569"/>
                  </a:lnTo>
                  <a:lnTo>
                    <a:pt x="870" y="555"/>
                  </a:lnTo>
                  <a:lnTo>
                    <a:pt x="837" y="567"/>
                  </a:lnTo>
                  <a:lnTo>
                    <a:pt x="837" y="607"/>
                  </a:lnTo>
                  <a:lnTo>
                    <a:pt x="801" y="607"/>
                  </a:lnTo>
                  <a:lnTo>
                    <a:pt x="783" y="640"/>
                  </a:lnTo>
                  <a:lnTo>
                    <a:pt x="746" y="620"/>
                  </a:lnTo>
                  <a:lnTo>
                    <a:pt x="717" y="636"/>
                  </a:lnTo>
                  <a:lnTo>
                    <a:pt x="709" y="670"/>
                  </a:lnTo>
                  <a:lnTo>
                    <a:pt x="663" y="695"/>
                  </a:lnTo>
                  <a:lnTo>
                    <a:pt x="640" y="674"/>
                  </a:lnTo>
                  <a:lnTo>
                    <a:pt x="600" y="670"/>
                  </a:lnTo>
                  <a:lnTo>
                    <a:pt x="579" y="630"/>
                  </a:lnTo>
                  <a:lnTo>
                    <a:pt x="539" y="654"/>
                  </a:lnTo>
                  <a:lnTo>
                    <a:pt x="530" y="683"/>
                  </a:lnTo>
                  <a:lnTo>
                    <a:pt x="480" y="695"/>
                  </a:lnTo>
                  <a:lnTo>
                    <a:pt x="449" y="725"/>
                  </a:lnTo>
                  <a:lnTo>
                    <a:pt x="421" y="735"/>
                  </a:lnTo>
                  <a:lnTo>
                    <a:pt x="417" y="756"/>
                  </a:lnTo>
                  <a:lnTo>
                    <a:pt x="392" y="782"/>
                  </a:lnTo>
                  <a:lnTo>
                    <a:pt x="337" y="774"/>
                  </a:lnTo>
                  <a:lnTo>
                    <a:pt x="283" y="740"/>
                  </a:lnTo>
                  <a:lnTo>
                    <a:pt x="246" y="742"/>
                  </a:lnTo>
                  <a:lnTo>
                    <a:pt x="193" y="794"/>
                  </a:lnTo>
                  <a:lnTo>
                    <a:pt x="142" y="796"/>
                  </a:lnTo>
                  <a:lnTo>
                    <a:pt x="179" y="746"/>
                  </a:lnTo>
                  <a:lnTo>
                    <a:pt x="177" y="691"/>
                  </a:lnTo>
                  <a:lnTo>
                    <a:pt x="136" y="672"/>
                  </a:lnTo>
                  <a:lnTo>
                    <a:pt x="114" y="628"/>
                  </a:lnTo>
                  <a:lnTo>
                    <a:pt x="165" y="504"/>
                  </a:lnTo>
                  <a:lnTo>
                    <a:pt x="130" y="459"/>
                  </a:lnTo>
                  <a:lnTo>
                    <a:pt x="108" y="465"/>
                  </a:lnTo>
                  <a:lnTo>
                    <a:pt x="67" y="485"/>
                  </a:lnTo>
                  <a:lnTo>
                    <a:pt x="26" y="473"/>
                  </a:lnTo>
                  <a:lnTo>
                    <a:pt x="22" y="418"/>
                  </a:lnTo>
                  <a:lnTo>
                    <a:pt x="0" y="390"/>
                  </a:lnTo>
                  <a:lnTo>
                    <a:pt x="55" y="329"/>
                  </a:lnTo>
                  <a:lnTo>
                    <a:pt x="85" y="351"/>
                  </a:lnTo>
                  <a:lnTo>
                    <a:pt x="108" y="325"/>
                  </a:lnTo>
                  <a:lnTo>
                    <a:pt x="122" y="341"/>
                  </a:lnTo>
                  <a:lnTo>
                    <a:pt x="191" y="341"/>
                  </a:lnTo>
                  <a:lnTo>
                    <a:pt x="238" y="331"/>
                  </a:lnTo>
                  <a:lnTo>
                    <a:pt x="254" y="266"/>
                  </a:lnTo>
                  <a:lnTo>
                    <a:pt x="315" y="276"/>
                  </a:lnTo>
                  <a:lnTo>
                    <a:pt x="413" y="248"/>
                  </a:lnTo>
                  <a:lnTo>
                    <a:pt x="392" y="189"/>
                  </a:lnTo>
                  <a:lnTo>
                    <a:pt x="364" y="189"/>
                  </a:lnTo>
                  <a:lnTo>
                    <a:pt x="313" y="166"/>
                  </a:lnTo>
                  <a:lnTo>
                    <a:pt x="309" y="124"/>
                  </a:lnTo>
                  <a:lnTo>
                    <a:pt x="360" y="87"/>
                  </a:lnTo>
                  <a:lnTo>
                    <a:pt x="421" y="128"/>
                  </a:lnTo>
                  <a:lnTo>
                    <a:pt x="490" y="138"/>
                  </a:lnTo>
                  <a:lnTo>
                    <a:pt x="476" y="89"/>
                  </a:lnTo>
                  <a:lnTo>
                    <a:pt x="531" y="75"/>
                  </a:lnTo>
                  <a:lnTo>
                    <a:pt x="569" y="60"/>
                  </a:lnTo>
                  <a:lnTo>
                    <a:pt x="557" y="18"/>
                  </a:lnTo>
                  <a:lnTo>
                    <a:pt x="577" y="0"/>
                  </a:lnTo>
                  <a:lnTo>
                    <a:pt x="628" y="36"/>
                  </a:lnTo>
                  <a:lnTo>
                    <a:pt x="687" y="18"/>
                  </a:lnTo>
                  <a:lnTo>
                    <a:pt x="703" y="85"/>
                  </a:lnTo>
                  <a:lnTo>
                    <a:pt x="728" y="93"/>
                  </a:lnTo>
                  <a:lnTo>
                    <a:pt x="781" y="164"/>
                  </a:lnTo>
                  <a:lnTo>
                    <a:pt x="843" y="136"/>
                  </a:lnTo>
                  <a:lnTo>
                    <a:pt x="864" y="209"/>
                  </a:lnTo>
                  <a:lnTo>
                    <a:pt x="884" y="280"/>
                  </a:lnTo>
                  <a:lnTo>
                    <a:pt x="833" y="309"/>
                  </a:lnTo>
                  <a:lnTo>
                    <a:pt x="817" y="333"/>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0" name="Freeform 114"/>
            <p:cNvSpPr/>
            <p:nvPr/>
          </p:nvSpPr>
          <p:spPr bwMode="gray">
            <a:xfrm>
              <a:off x="2685" y="3045"/>
              <a:ext cx="453" cy="398"/>
            </a:xfrm>
            <a:custGeom>
              <a:avLst/>
              <a:gdLst>
                <a:gd name="T0" fmla="*/ 221 w 907"/>
                <a:gd name="T1" fmla="*/ 85 h 796"/>
                <a:gd name="T2" fmla="*/ 221 w 907"/>
                <a:gd name="T3" fmla="*/ 106 h 796"/>
                <a:gd name="T4" fmla="*/ 226 w 907"/>
                <a:gd name="T5" fmla="*/ 130 h 796"/>
                <a:gd name="T6" fmla="*/ 217 w 907"/>
                <a:gd name="T7" fmla="*/ 139 h 796"/>
                <a:gd name="T8" fmla="*/ 209 w 907"/>
                <a:gd name="T9" fmla="*/ 152 h 796"/>
                <a:gd name="T10" fmla="*/ 195 w 907"/>
                <a:gd name="T11" fmla="*/ 160 h 796"/>
                <a:gd name="T12" fmla="*/ 179 w 907"/>
                <a:gd name="T13" fmla="*/ 159 h 796"/>
                <a:gd name="T14" fmla="*/ 165 w 907"/>
                <a:gd name="T15" fmla="*/ 174 h 796"/>
                <a:gd name="T16" fmla="*/ 150 w 907"/>
                <a:gd name="T17" fmla="*/ 168 h 796"/>
                <a:gd name="T18" fmla="*/ 134 w 907"/>
                <a:gd name="T19" fmla="*/ 164 h 796"/>
                <a:gd name="T20" fmla="*/ 120 w 907"/>
                <a:gd name="T21" fmla="*/ 174 h 796"/>
                <a:gd name="T22" fmla="*/ 105 w 907"/>
                <a:gd name="T23" fmla="*/ 184 h 796"/>
                <a:gd name="T24" fmla="*/ 98 w 907"/>
                <a:gd name="T25" fmla="*/ 196 h 796"/>
                <a:gd name="T26" fmla="*/ 70 w 907"/>
                <a:gd name="T27" fmla="*/ 185 h 796"/>
                <a:gd name="T28" fmla="*/ 48 w 907"/>
                <a:gd name="T29" fmla="*/ 199 h 796"/>
                <a:gd name="T30" fmla="*/ 44 w 907"/>
                <a:gd name="T31" fmla="*/ 187 h 796"/>
                <a:gd name="T32" fmla="*/ 34 w 907"/>
                <a:gd name="T33" fmla="*/ 168 h 796"/>
                <a:gd name="T34" fmla="*/ 41 w 907"/>
                <a:gd name="T35" fmla="*/ 126 h 796"/>
                <a:gd name="T36" fmla="*/ 27 w 907"/>
                <a:gd name="T37" fmla="*/ 116 h 796"/>
                <a:gd name="T38" fmla="*/ 6 w 907"/>
                <a:gd name="T39" fmla="*/ 118 h 796"/>
                <a:gd name="T40" fmla="*/ 0 w 907"/>
                <a:gd name="T41" fmla="*/ 98 h 796"/>
                <a:gd name="T42" fmla="*/ 21 w 907"/>
                <a:gd name="T43" fmla="*/ 88 h 796"/>
                <a:gd name="T44" fmla="*/ 30 w 907"/>
                <a:gd name="T45" fmla="*/ 86 h 796"/>
                <a:gd name="T46" fmla="*/ 59 w 907"/>
                <a:gd name="T47" fmla="*/ 83 h 796"/>
                <a:gd name="T48" fmla="*/ 78 w 907"/>
                <a:gd name="T49" fmla="*/ 69 h 796"/>
                <a:gd name="T50" fmla="*/ 98 w 907"/>
                <a:gd name="T51" fmla="*/ 48 h 796"/>
                <a:gd name="T52" fmla="*/ 78 w 907"/>
                <a:gd name="T53" fmla="*/ 42 h 796"/>
                <a:gd name="T54" fmla="*/ 90 w 907"/>
                <a:gd name="T55" fmla="*/ 22 h 796"/>
                <a:gd name="T56" fmla="*/ 122 w 907"/>
                <a:gd name="T57" fmla="*/ 35 h 796"/>
                <a:gd name="T58" fmla="*/ 132 w 907"/>
                <a:gd name="T59" fmla="*/ 19 h 796"/>
                <a:gd name="T60" fmla="*/ 139 w 907"/>
                <a:gd name="T61" fmla="*/ 5 h 796"/>
                <a:gd name="T62" fmla="*/ 157 w 907"/>
                <a:gd name="T63" fmla="*/ 9 h 796"/>
                <a:gd name="T64" fmla="*/ 175 w 907"/>
                <a:gd name="T65" fmla="*/ 22 h 796"/>
                <a:gd name="T66" fmla="*/ 195 w 907"/>
                <a:gd name="T67" fmla="*/ 41 h 796"/>
                <a:gd name="T68" fmla="*/ 216 w 907"/>
                <a:gd name="T69" fmla="*/ 52 h 796"/>
                <a:gd name="T70" fmla="*/ 208 w 907"/>
                <a:gd name="T71" fmla="*/ 78 h 7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07"/>
                <a:gd name="T109" fmla="*/ 0 h 796"/>
                <a:gd name="T110" fmla="*/ 907 w 907"/>
                <a:gd name="T111" fmla="*/ 796 h 79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07" h="796">
                  <a:moveTo>
                    <a:pt x="817" y="333"/>
                  </a:moveTo>
                  <a:lnTo>
                    <a:pt x="884" y="339"/>
                  </a:lnTo>
                  <a:lnTo>
                    <a:pt x="905" y="372"/>
                  </a:lnTo>
                  <a:lnTo>
                    <a:pt x="884" y="424"/>
                  </a:lnTo>
                  <a:lnTo>
                    <a:pt x="880" y="475"/>
                  </a:lnTo>
                  <a:lnTo>
                    <a:pt x="907" y="520"/>
                  </a:lnTo>
                  <a:lnTo>
                    <a:pt x="882" y="569"/>
                  </a:lnTo>
                  <a:lnTo>
                    <a:pt x="870" y="555"/>
                  </a:lnTo>
                  <a:lnTo>
                    <a:pt x="837" y="567"/>
                  </a:lnTo>
                  <a:lnTo>
                    <a:pt x="837" y="607"/>
                  </a:lnTo>
                  <a:lnTo>
                    <a:pt x="801" y="607"/>
                  </a:lnTo>
                  <a:lnTo>
                    <a:pt x="783" y="640"/>
                  </a:lnTo>
                  <a:lnTo>
                    <a:pt x="746" y="620"/>
                  </a:lnTo>
                  <a:lnTo>
                    <a:pt x="717" y="636"/>
                  </a:lnTo>
                  <a:lnTo>
                    <a:pt x="709" y="670"/>
                  </a:lnTo>
                  <a:lnTo>
                    <a:pt x="663" y="695"/>
                  </a:lnTo>
                  <a:lnTo>
                    <a:pt x="640" y="674"/>
                  </a:lnTo>
                  <a:lnTo>
                    <a:pt x="600" y="670"/>
                  </a:lnTo>
                  <a:lnTo>
                    <a:pt x="579" y="630"/>
                  </a:lnTo>
                  <a:lnTo>
                    <a:pt x="539" y="654"/>
                  </a:lnTo>
                  <a:lnTo>
                    <a:pt x="530" y="683"/>
                  </a:lnTo>
                  <a:lnTo>
                    <a:pt x="480" y="695"/>
                  </a:lnTo>
                  <a:lnTo>
                    <a:pt x="449" y="725"/>
                  </a:lnTo>
                  <a:lnTo>
                    <a:pt x="421" y="735"/>
                  </a:lnTo>
                  <a:lnTo>
                    <a:pt x="417" y="756"/>
                  </a:lnTo>
                  <a:lnTo>
                    <a:pt x="392" y="782"/>
                  </a:lnTo>
                  <a:lnTo>
                    <a:pt x="337" y="774"/>
                  </a:lnTo>
                  <a:lnTo>
                    <a:pt x="283" y="740"/>
                  </a:lnTo>
                  <a:lnTo>
                    <a:pt x="246" y="742"/>
                  </a:lnTo>
                  <a:lnTo>
                    <a:pt x="193" y="794"/>
                  </a:lnTo>
                  <a:lnTo>
                    <a:pt x="142" y="796"/>
                  </a:lnTo>
                  <a:lnTo>
                    <a:pt x="179" y="746"/>
                  </a:lnTo>
                  <a:lnTo>
                    <a:pt x="177" y="691"/>
                  </a:lnTo>
                  <a:lnTo>
                    <a:pt x="136" y="672"/>
                  </a:lnTo>
                  <a:lnTo>
                    <a:pt x="114" y="628"/>
                  </a:lnTo>
                  <a:lnTo>
                    <a:pt x="165" y="504"/>
                  </a:lnTo>
                  <a:lnTo>
                    <a:pt x="130" y="459"/>
                  </a:lnTo>
                  <a:lnTo>
                    <a:pt x="108" y="465"/>
                  </a:lnTo>
                  <a:lnTo>
                    <a:pt x="67" y="485"/>
                  </a:lnTo>
                  <a:lnTo>
                    <a:pt x="26" y="473"/>
                  </a:lnTo>
                  <a:lnTo>
                    <a:pt x="22" y="418"/>
                  </a:lnTo>
                  <a:lnTo>
                    <a:pt x="0" y="390"/>
                  </a:lnTo>
                  <a:lnTo>
                    <a:pt x="55" y="329"/>
                  </a:lnTo>
                  <a:lnTo>
                    <a:pt x="85" y="351"/>
                  </a:lnTo>
                  <a:lnTo>
                    <a:pt x="108" y="325"/>
                  </a:lnTo>
                  <a:lnTo>
                    <a:pt x="122" y="341"/>
                  </a:lnTo>
                  <a:lnTo>
                    <a:pt x="191" y="341"/>
                  </a:lnTo>
                  <a:lnTo>
                    <a:pt x="238" y="331"/>
                  </a:lnTo>
                  <a:lnTo>
                    <a:pt x="254" y="266"/>
                  </a:lnTo>
                  <a:lnTo>
                    <a:pt x="315" y="276"/>
                  </a:lnTo>
                  <a:lnTo>
                    <a:pt x="413" y="248"/>
                  </a:lnTo>
                  <a:lnTo>
                    <a:pt x="392" y="189"/>
                  </a:lnTo>
                  <a:lnTo>
                    <a:pt x="364" y="189"/>
                  </a:lnTo>
                  <a:lnTo>
                    <a:pt x="313" y="166"/>
                  </a:lnTo>
                  <a:lnTo>
                    <a:pt x="309" y="124"/>
                  </a:lnTo>
                  <a:lnTo>
                    <a:pt x="360" y="87"/>
                  </a:lnTo>
                  <a:lnTo>
                    <a:pt x="421" y="128"/>
                  </a:lnTo>
                  <a:lnTo>
                    <a:pt x="490" y="138"/>
                  </a:lnTo>
                  <a:lnTo>
                    <a:pt x="476" y="89"/>
                  </a:lnTo>
                  <a:lnTo>
                    <a:pt x="531" y="75"/>
                  </a:lnTo>
                  <a:lnTo>
                    <a:pt x="569" y="60"/>
                  </a:lnTo>
                  <a:lnTo>
                    <a:pt x="557" y="18"/>
                  </a:lnTo>
                  <a:lnTo>
                    <a:pt x="577" y="0"/>
                  </a:lnTo>
                  <a:lnTo>
                    <a:pt x="628" y="36"/>
                  </a:lnTo>
                  <a:lnTo>
                    <a:pt x="687" y="18"/>
                  </a:lnTo>
                  <a:lnTo>
                    <a:pt x="703" y="85"/>
                  </a:lnTo>
                  <a:lnTo>
                    <a:pt x="728" y="93"/>
                  </a:lnTo>
                  <a:lnTo>
                    <a:pt x="781" y="164"/>
                  </a:lnTo>
                  <a:lnTo>
                    <a:pt x="843" y="136"/>
                  </a:lnTo>
                  <a:lnTo>
                    <a:pt x="864" y="209"/>
                  </a:lnTo>
                  <a:lnTo>
                    <a:pt x="884" y="280"/>
                  </a:lnTo>
                  <a:lnTo>
                    <a:pt x="833" y="309"/>
                  </a:lnTo>
                  <a:lnTo>
                    <a:pt x="817" y="333"/>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1" name="Freeform 115"/>
            <p:cNvSpPr/>
            <p:nvPr/>
          </p:nvSpPr>
          <p:spPr bwMode="gray">
            <a:xfrm>
              <a:off x="3094" y="2950"/>
              <a:ext cx="402" cy="458"/>
            </a:xfrm>
            <a:custGeom>
              <a:avLst/>
              <a:gdLst>
                <a:gd name="T0" fmla="*/ 186 w 805"/>
                <a:gd name="T1" fmla="*/ 44 h 917"/>
                <a:gd name="T2" fmla="*/ 191 w 805"/>
                <a:gd name="T3" fmla="*/ 62 h 917"/>
                <a:gd name="T4" fmla="*/ 185 w 805"/>
                <a:gd name="T5" fmla="*/ 74 h 917"/>
                <a:gd name="T6" fmla="*/ 176 w 805"/>
                <a:gd name="T7" fmla="*/ 80 h 917"/>
                <a:gd name="T8" fmla="*/ 171 w 805"/>
                <a:gd name="T9" fmla="*/ 98 h 917"/>
                <a:gd name="T10" fmla="*/ 184 w 805"/>
                <a:gd name="T11" fmla="*/ 111 h 917"/>
                <a:gd name="T12" fmla="*/ 186 w 805"/>
                <a:gd name="T13" fmla="*/ 132 h 917"/>
                <a:gd name="T14" fmla="*/ 196 w 805"/>
                <a:gd name="T15" fmla="*/ 139 h 917"/>
                <a:gd name="T16" fmla="*/ 201 w 805"/>
                <a:gd name="T17" fmla="*/ 156 h 917"/>
                <a:gd name="T18" fmla="*/ 194 w 805"/>
                <a:gd name="T19" fmla="*/ 172 h 917"/>
                <a:gd name="T20" fmla="*/ 195 w 805"/>
                <a:gd name="T21" fmla="*/ 186 h 917"/>
                <a:gd name="T22" fmla="*/ 181 w 805"/>
                <a:gd name="T23" fmla="*/ 194 h 917"/>
                <a:gd name="T24" fmla="*/ 168 w 805"/>
                <a:gd name="T25" fmla="*/ 186 h 917"/>
                <a:gd name="T26" fmla="*/ 143 w 805"/>
                <a:gd name="T27" fmla="*/ 204 h 917"/>
                <a:gd name="T28" fmla="*/ 129 w 805"/>
                <a:gd name="T29" fmla="*/ 206 h 917"/>
                <a:gd name="T30" fmla="*/ 129 w 805"/>
                <a:gd name="T31" fmla="*/ 220 h 917"/>
                <a:gd name="T32" fmla="*/ 123 w 805"/>
                <a:gd name="T33" fmla="*/ 223 h 917"/>
                <a:gd name="T34" fmla="*/ 114 w 805"/>
                <a:gd name="T35" fmla="*/ 223 h 917"/>
                <a:gd name="T36" fmla="*/ 104 w 805"/>
                <a:gd name="T37" fmla="*/ 229 h 917"/>
                <a:gd name="T38" fmla="*/ 104 w 805"/>
                <a:gd name="T39" fmla="*/ 218 h 917"/>
                <a:gd name="T40" fmla="*/ 100 w 805"/>
                <a:gd name="T41" fmla="*/ 212 h 917"/>
                <a:gd name="T42" fmla="*/ 83 w 805"/>
                <a:gd name="T43" fmla="*/ 212 h 917"/>
                <a:gd name="T44" fmla="*/ 96 w 805"/>
                <a:gd name="T45" fmla="*/ 196 h 917"/>
                <a:gd name="T46" fmla="*/ 97 w 805"/>
                <a:gd name="T47" fmla="*/ 181 h 917"/>
                <a:gd name="T48" fmla="*/ 90 w 805"/>
                <a:gd name="T49" fmla="*/ 176 h 917"/>
                <a:gd name="T50" fmla="*/ 90 w 805"/>
                <a:gd name="T51" fmla="*/ 161 h 917"/>
                <a:gd name="T52" fmla="*/ 82 w 805"/>
                <a:gd name="T53" fmla="*/ 159 h 917"/>
                <a:gd name="T54" fmla="*/ 74 w 805"/>
                <a:gd name="T55" fmla="*/ 163 h 917"/>
                <a:gd name="T56" fmla="*/ 64 w 805"/>
                <a:gd name="T57" fmla="*/ 160 h 917"/>
                <a:gd name="T58" fmla="*/ 53 w 805"/>
                <a:gd name="T59" fmla="*/ 175 h 917"/>
                <a:gd name="T60" fmla="*/ 47 w 805"/>
                <a:gd name="T61" fmla="*/ 168 h 917"/>
                <a:gd name="T62" fmla="*/ 40 w 805"/>
                <a:gd name="T63" fmla="*/ 166 h 917"/>
                <a:gd name="T64" fmla="*/ 37 w 805"/>
                <a:gd name="T65" fmla="*/ 178 h 917"/>
                <a:gd name="T66" fmla="*/ 22 w 805"/>
                <a:gd name="T67" fmla="*/ 177 h 917"/>
                <a:gd name="T68" fmla="*/ 15 w 805"/>
                <a:gd name="T69" fmla="*/ 166 h 917"/>
                <a:gd name="T70" fmla="*/ 16 w 805"/>
                <a:gd name="T71" fmla="*/ 153 h 917"/>
                <a:gd name="T72" fmla="*/ 21 w 805"/>
                <a:gd name="T73" fmla="*/ 140 h 917"/>
                <a:gd name="T74" fmla="*/ 16 w 805"/>
                <a:gd name="T75" fmla="*/ 132 h 917"/>
                <a:gd name="T76" fmla="*/ 0 w 805"/>
                <a:gd name="T77" fmla="*/ 130 h 917"/>
                <a:gd name="T78" fmla="*/ 3 w 805"/>
                <a:gd name="T79" fmla="*/ 124 h 917"/>
                <a:gd name="T80" fmla="*/ 15 w 805"/>
                <a:gd name="T81" fmla="*/ 117 h 917"/>
                <a:gd name="T82" fmla="*/ 6 w 805"/>
                <a:gd name="T83" fmla="*/ 81 h 917"/>
                <a:gd name="T84" fmla="*/ 6 w 805"/>
                <a:gd name="T85" fmla="*/ 68 h 917"/>
                <a:gd name="T86" fmla="*/ 3 w 805"/>
                <a:gd name="T87" fmla="*/ 46 h 917"/>
                <a:gd name="T88" fmla="*/ 10 w 805"/>
                <a:gd name="T89" fmla="*/ 30 h 917"/>
                <a:gd name="T90" fmla="*/ 25 w 805"/>
                <a:gd name="T91" fmla="*/ 17 h 917"/>
                <a:gd name="T92" fmla="*/ 49 w 805"/>
                <a:gd name="T93" fmla="*/ 21 h 917"/>
                <a:gd name="T94" fmla="*/ 53 w 805"/>
                <a:gd name="T95" fmla="*/ 14 h 917"/>
                <a:gd name="T96" fmla="*/ 45 w 805"/>
                <a:gd name="T97" fmla="*/ 4 h 917"/>
                <a:gd name="T98" fmla="*/ 63 w 805"/>
                <a:gd name="T99" fmla="*/ 0 h 917"/>
                <a:gd name="T100" fmla="*/ 85 w 805"/>
                <a:gd name="T101" fmla="*/ 6 h 917"/>
                <a:gd name="T102" fmla="*/ 102 w 805"/>
                <a:gd name="T103" fmla="*/ 7 h 917"/>
                <a:gd name="T104" fmla="*/ 117 w 805"/>
                <a:gd name="T105" fmla="*/ 17 h 917"/>
                <a:gd name="T106" fmla="*/ 132 w 805"/>
                <a:gd name="T107" fmla="*/ 8 h 917"/>
                <a:gd name="T108" fmla="*/ 140 w 805"/>
                <a:gd name="T109" fmla="*/ 10 h 917"/>
                <a:gd name="T110" fmla="*/ 141 w 805"/>
                <a:gd name="T111" fmla="*/ 18 h 917"/>
                <a:gd name="T112" fmla="*/ 159 w 805"/>
                <a:gd name="T113" fmla="*/ 6 h 917"/>
                <a:gd name="T114" fmla="*/ 167 w 805"/>
                <a:gd name="T115" fmla="*/ 14 h 917"/>
                <a:gd name="T116" fmla="*/ 166 w 805"/>
                <a:gd name="T117" fmla="*/ 28 h 917"/>
                <a:gd name="T118" fmla="*/ 178 w 805"/>
                <a:gd name="T119" fmla="*/ 31 h 917"/>
                <a:gd name="T120" fmla="*/ 186 w 805"/>
                <a:gd name="T121" fmla="*/ 44 h 91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05"/>
                <a:gd name="T184" fmla="*/ 0 h 917"/>
                <a:gd name="T185" fmla="*/ 805 w 805"/>
                <a:gd name="T186" fmla="*/ 917 h 91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05" h="917">
                  <a:moveTo>
                    <a:pt x="746" y="177"/>
                  </a:moveTo>
                  <a:lnTo>
                    <a:pt x="766" y="251"/>
                  </a:lnTo>
                  <a:lnTo>
                    <a:pt x="740" y="299"/>
                  </a:lnTo>
                  <a:lnTo>
                    <a:pt x="707" y="322"/>
                  </a:lnTo>
                  <a:lnTo>
                    <a:pt x="685" y="393"/>
                  </a:lnTo>
                  <a:lnTo>
                    <a:pt x="736" y="446"/>
                  </a:lnTo>
                  <a:lnTo>
                    <a:pt x="746" y="531"/>
                  </a:lnTo>
                  <a:lnTo>
                    <a:pt x="787" y="557"/>
                  </a:lnTo>
                  <a:lnTo>
                    <a:pt x="805" y="627"/>
                  </a:lnTo>
                  <a:lnTo>
                    <a:pt x="777" y="688"/>
                  </a:lnTo>
                  <a:lnTo>
                    <a:pt x="781" y="747"/>
                  </a:lnTo>
                  <a:lnTo>
                    <a:pt x="724" y="777"/>
                  </a:lnTo>
                  <a:lnTo>
                    <a:pt x="673" y="747"/>
                  </a:lnTo>
                  <a:lnTo>
                    <a:pt x="573" y="816"/>
                  </a:lnTo>
                  <a:lnTo>
                    <a:pt x="518" y="824"/>
                  </a:lnTo>
                  <a:lnTo>
                    <a:pt x="518" y="881"/>
                  </a:lnTo>
                  <a:lnTo>
                    <a:pt x="492" y="895"/>
                  </a:lnTo>
                  <a:lnTo>
                    <a:pt x="457" y="895"/>
                  </a:lnTo>
                  <a:lnTo>
                    <a:pt x="419" y="917"/>
                  </a:lnTo>
                  <a:lnTo>
                    <a:pt x="419" y="873"/>
                  </a:lnTo>
                  <a:lnTo>
                    <a:pt x="403" y="848"/>
                  </a:lnTo>
                  <a:lnTo>
                    <a:pt x="333" y="850"/>
                  </a:lnTo>
                  <a:lnTo>
                    <a:pt x="384" y="787"/>
                  </a:lnTo>
                  <a:lnTo>
                    <a:pt x="388" y="726"/>
                  </a:lnTo>
                  <a:lnTo>
                    <a:pt x="362" y="706"/>
                  </a:lnTo>
                  <a:lnTo>
                    <a:pt x="362" y="647"/>
                  </a:lnTo>
                  <a:lnTo>
                    <a:pt x="329" y="637"/>
                  </a:lnTo>
                  <a:lnTo>
                    <a:pt x="297" y="655"/>
                  </a:lnTo>
                  <a:lnTo>
                    <a:pt x="256" y="643"/>
                  </a:lnTo>
                  <a:lnTo>
                    <a:pt x="214" y="700"/>
                  </a:lnTo>
                  <a:lnTo>
                    <a:pt x="191" y="673"/>
                  </a:lnTo>
                  <a:lnTo>
                    <a:pt x="163" y="667"/>
                  </a:lnTo>
                  <a:lnTo>
                    <a:pt x="148" y="714"/>
                  </a:lnTo>
                  <a:lnTo>
                    <a:pt x="88" y="708"/>
                  </a:lnTo>
                  <a:lnTo>
                    <a:pt x="61" y="667"/>
                  </a:lnTo>
                  <a:lnTo>
                    <a:pt x="65" y="614"/>
                  </a:lnTo>
                  <a:lnTo>
                    <a:pt x="86" y="562"/>
                  </a:lnTo>
                  <a:lnTo>
                    <a:pt x="65" y="529"/>
                  </a:lnTo>
                  <a:lnTo>
                    <a:pt x="0" y="523"/>
                  </a:lnTo>
                  <a:lnTo>
                    <a:pt x="14" y="499"/>
                  </a:lnTo>
                  <a:lnTo>
                    <a:pt x="63" y="468"/>
                  </a:lnTo>
                  <a:lnTo>
                    <a:pt x="24" y="326"/>
                  </a:lnTo>
                  <a:lnTo>
                    <a:pt x="25" y="275"/>
                  </a:lnTo>
                  <a:lnTo>
                    <a:pt x="14" y="185"/>
                  </a:lnTo>
                  <a:lnTo>
                    <a:pt x="41" y="120"/>
                  </a:lnTo>
                  <a:lnTo>
                    <a:pt x="100" y="68"/>
                  </a:lnTo>
                  <a:lnTo>
                    <a:pt x="199" y="84"/>
                  </a:lnTo>
                  <a:lnTo>
                    <a:pt x="212" y="59"/>
                  </a:lnTo>
                  <a:lnTo>
                    <a:pt x="183" y="17"/>
                  </a:lnTo>
                  <a:lnTo>
                    <a:pt x="252" y="0"/>
                  </a:lnTo>
                  <a:lnTo>
                    <a:pt x="340" y="27"/>
                  </a:lnTo>
                  <a:lnTo>
                    <a:pt x="411" y="31"/>
                  </a:lnTo>
                  <a:lnTo>
                    <a:pt x="468" y="70"/>
                  </a:lnTo>
                  <a:lnTo>
                    <a:pt x="529" y="35"/>
                  </a:lnTo>
                  <a:lnTo>
                    <a:pt x="561" y="41"/>
                  </a:lnTo>
                  <a:lnTo>
                    <a:pt x="567" y="74"/>
                  </a:lnTo>
                  <a:lnTo>
                    <a:pt x="638" y="25"/>
                  </a:lnTo>
                  <a:lnTo>
                    <a:pt x="671" y="59"/>
                  </a:lnTo>
                  <a:lnTo>
                    <a:pt x="665" y="112"/>
                  </a:lnTo>
                  <a:lnTo>
                    <a:pt x="712" y="126"/>
                  </a:lnTo>
                  <a:lnTo>
                    <a:pt x="746" y="177"/>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2" name="Freeform 116"/>
            <p:cNvSpPr/>
            <p:nvPr/>
          </p:nvSpPr>
          <p:spPr bwMode="gray">
            <a:xfrm>
              <a:off x="3094" y="2950"/>
              <a:ext cx="402" cy="458"/>
            </a:xfrm>
            <a:custGeom>
              <a:avLst/>
              <a:gdLst>
                <a:gd name="T0" fmla="*/ 186 w 805"/>
                <a:gd name="T1" fmla="*/ 44 h 917"/>
                <a:gd name="T2" fmla="*/ 191 w 805"/>
                <a:gd name="T3" fmla="*/ 62 h 917"/>
                <a:gd name="T4" fmla="*/ 185 w 805"/>
                <a:gd name="T5" fmla="*/ 74 h 917"/>
                <a:gd name="T6" fmla="*/ 176 w 805"/>
                <a:gd name="T7" fmla="*/ 80 h 917"/>
                <a:gd name="T8" fmla="*/ 171 w 805"/>
                <a:gd name="T9" fmla="*/ 98 h 917"/>
                <a:gd name="T10" fmla="*/ 184 w 805"/>
                <a:gd name="T11" fmla="*/ 111 h 917"/>
                <a:gd name="T12" fmla="*/ 186 w 805"/>
                <a:gd name="T13" fmla="*/ 132 h 917"/>
                <a:gd name="T14" fmla="*/ 196 w 805"/>
                <a:gd name="T15" fmla="*/ 139 h 917"/>
                <a:gd name="T16" fmla="*/ 201 w 805"/>
                <a:gd name="T17" fmla="*/ 156 h 917"/>
                <a:gd name="T18" fmla="*/ 194 w 805"/>
                <a:gd name="T19" fmla="*/ 172 h 917"/>
                <a:gd name="T20" fmla="*/ 195 w 805"/>
                <a:gd name="T21" fmla="*/ 186 h 917"/>
                <a:gd name="T22" fmla="*/ 181 w 805"/>
                <a:gd name="T23" fmla="*/ 194 h 917"/>
                <a:gd name="T24" fmla="*/ 168 w 805"/>
                <a:gd name="T25" fmla="*/ 186 h 917"/>
                <a:gd name="T26" fmla="*/ 143 w 805"/>
                <a:gd name="T27" fmla="*/ 204 h 917"/>
                <a:gd name="T28" fmla="*/ 129 w 805"/>
                <a:gd name="T29" fmla="*/ 206 h 917"/>
                <a:gd name="T30" fmla="*/ 129 w 805"/>
                <a:gd name="T31" fmla="*/ 220 h 917"/>
                <a:gd name="T32" fmla="*/ 123 w 805"/>
                <a:gd name="T33" fmla="*/ 223 h 917"/>
                <a:gd name="T34" fmla="*/ 114 w 805"/>
                <a:gd name="T35" fmla="*/ 223 h 917"/>
                <a:gd name="T36" fmla="*/ 104 w 805"/>
                <a:gd name="T37" fmla="*/ 229 h 917"/>
                <a:gd name="T38" fmla="*/ 104 w 805"/>
                <a:gd name="T39" fmla="*/ 218 h 917"/>
                <a:gd name="T40" fmla="*/ 100 w 805"/>
                <a:gd name="T41" fmla="*/ 212 h 917"/>
                <a:gd name="T42" fmla="*/ 83 w 805"/>
                <a:gd name="T43" fmla="*/ 212 h 917"/>
                <a:gd name="T44" fmla="*/ 96 w 805"/>
                <a:gd name="T45" fmla="*/ 196 h 917"/>
                <a:gd name="T46" fmla="*/ 97 w 805"/>
                <a:gd name="T47" fmla="*/ 181 h 917"/>
                <a:gd name="T48" fmla="*/ 90 w 805"/>
                <a:gd name="T49" fmla="*/ 176 h 917"/>
                <a:gd name="T50" fmla="*/ 90 w 805"/>
                <a:gd name="T51" fmla="*/ 161 h 917"/>
                <a:gd name="T52" fmla="*/ 82 w 805"/>
                <a:gd name="T53" fmla="*/ 159 h 917"/>
                <a:gd name="T54" fmla="*/ 74 w 805"/>
                <a:gd name="T55" fmla="*/ 163 h 917"/>
                <a:gd name="T56" fmla="*/ 64 w 805"/>
                <a:gd name="T57" fmla="*/ 160 h 917"/>
                <a:gd name="T58" fmla="*/ 53 w 805"/>
                <a:gd name="T59" fmla="*/ 175 h 917"/>
                <a:gd name="T60" fmla="*/ 47 w 805"/>
                <a:gd name="T61" fmla="*/ 168 h 917"/>
                <a:gd name="T62" fmla="*/ 40 w 805"/>
                <a:gd name="T63" fmla="*/ 166 h 917"/>
                <a:gd name="T64" fmla="*/ 37 w 805"/>
                <a:gd name="T65" fmla="*/ 178 h 917"/>
                <a:gd name="T66" fmla="*/ 22 w 805"/>
                <a:gd name="T67" fmla="*/ 177 h 917"/>
                <a:gd name="T68" fmla="*/ 15 w 805"/>
                <a:gd name="T69" fmla="*/ 166 h 917"/>
                <a:gd name="T70" fmla="*/ 16 w 805"/>
                <a:gd name="T71" fmla="*/ 153 h 917"/>
                <a:gd name="T72" fmla="*/ 21 w 805"/>
                <a:gd name="T73" fmla="*/ 140 h 917"/>
                <a:gd name="T74" fmla="*/ 16 w 805"/>
                <a:gd name="T75" fmla="*/ 132 h 917"/>
                <a:gd name="T76" fmla="*/ 0 w 805"/>
                <a:gd name="T77" fmla="*/ 130 h 917"/>
                <a:gd name="T78" fmla="*/ 3 w 805"/>
                <a:gd name="T79" fmla="*/ 124 h 917"/>
                <a:gd name="T80" fmla="*/ 15 w 805"/>
                <a:gd name="T81" fmla="*/ 117 h 917"/>
                <a:gd name="T82" fmla="*/ 6 w 805"/>
                <a:gd name="T83" fmla="*/ 81 h 917"/>
                <a:gd name="T84" fmla="*/ 6 w 805"/>
                <a:gd name="T85" fmla="*/ 68 h 917"/>
                <a:gd name="T86" fmla="*/ 3 w 805"/>
                <a:gd name="T87" fmla="*/ 46 h 917"/>
                <a:gd name="T88" fmla="*/ 10 w 805"/>
                <a:gd name="T89" fmla="*/ 30 h 917"/>
                <a:gd name="T90" fmla="*/ 25 w 805"/>
                <a:gd name="T91" fmla="*/ 17 h 917"/>
                <a:gd name="T92" fmla="*/ 49 w 805"/>
                <a:gd name="T93" fmla="*/ 21 h 917"/>
                <a:gd name="T94" fmla="*/ 53 w 805"/>
                <a:gd name="T95" fmla="*/ 14 h 917"/>
                <a:gd name="T96" fmla="*/ 45 w 805"/>
                <a:gd name="T97" fmla="*/ 4 h 917"/>
                <a:gd name="T98" fmla="*/ 63 w 805"/>
                <a:gd name="T99" fmla="*/ 0 h 917"/>
                <a:gd name="T100" fmla="*/ 85 w 805"/>
                <a:gd name="T101" fmla="*/ 6 h 917"/>
                <a:gd name="T102" fmla="*/ 102 w 805"/>
                <a:gd name="T103" fmla="*/ 7 h 917"/>
                <a:gd name="T104" fmla="*/ 117 w 805"/>
                <a:gd name="T105" fmla="*/ 17 h 917"/>
                <a:gd name="T106" fmla="*/ 132 w 805"/>
                <a:gd name="T107" fmla="*/ 8 h 917"/>
                <a:gd name="T108" fmla="*/ 140 w 805"/>
                <a:gd name="T109" fmla="*/ 10 h 917"/>
                <a:gd name="T110" fmla="*/ 141 w 805"/>
                <a:gd name="T111" fmla="*/ 18 h 917"/>
                <a:gd name="T112" fmla="*/ 159 w 805"/>
                <a:gd name="T113" fmla="*/ 6 h 917"/>
                <a:gd name="T114" fmla="*/ 167 w 805"/>
                <a:gd name="T115" fmla="*/ 14 h 917"/>
                <a:gd name="T116" fmla="*/ 166 w 805"/>
                <a:gd name="T117" fmla="*/ 28 h 917"/>
                <a:gd name="T118" fmla="*/ 178 w 805"/>
                <a:gd name="T119" fmla="*/ 31 h 917"/>
                <a:gd name="T120" fmla="*/ 186 w 805"/>
                <a:gd name="T121" fmla="*/ 44 h 91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05"/>
                <a:gd name="T184" fmla="*/ 0 h 917"/>
                <a:gd name="T185" fmla="*/ 805 w 805"/>
                <a:gd name="T186" fmla="*/ 917 h 91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05" h="917">
                  <a:moveTo>
                    <a:pt x="746" y="177"/>
                  </a:moveTo>
                  <a:lnTo>
                    <a:pt x="766" y="251"/>
                  </a:lnTo>
                  <a:lnTo>
                    <a:pt x="740" y="299"/>
                  </a:lnTo>
                  <a:lnTo>
                    <a:pt x="707" y="322"/>
                  </a:lnTo>
                  <a:lnTo>
                    <a:pt x="685" y="393"/>
                  </a:lnTo>
                  <a:lnTo>
                    <a:pt x="736" y="446"/>
                  </a:lnTo>
                  <a:lnTo>
                    <a:pt x="746" y="531"/>
                  </a:lnTo>
                  <a:lnTo>
                    <a:pt x="787" y="557"/>
                  </a:lnTo>
                  <a:lnTo>
                    <a:pt x="805" y="627"/>
                  </a:lnTo>
                  <a:lnTo>
                    <a:pt x="777" y="688"/>
                  </a:lnTo>
                  <a:lnTo>
                    <a:pt x="781" y="747"/>
                  </a:lnTo>
                  <a:lnTo>
                    <a:pt x="724" y="777"/>
                  </a:lnTo>
                  <a:lnTo>
                    <a:pt x="673" y="747"/>
                  </a:lnTo>
                  <a:lnTo>
                    <a:pt x="573" y="816"/>
                  </a:lnTo>
                  <a:lnTo>
                    <a:pt x="518" y="824"/>
                  </a:lnTo>
                  <a:lnTo>
                    <a:pt x="518" y="881"/>
                  </a:lnTo>
                  <a:lnTo>
                    <a:pt x="492" y="895"/>
                  </a:lnTo>
                  <a:lnTo>
                    <a:pt x="457" y="895"/>
                  </a:lnTo>
                  <a:lnTo>
                    <a:pt x="419" y="917"/>
                  </a:lnTo>
                  <a:lnTo>
                    <a:pt x="419" y="873"/>
                  </a:lnTo>
                  <a:lnTo>
                    <a:pt x="403" y="848"/>
                  </a:lnTo>
                  <a:lnTo>
                    <a:pt x="333" y="850"/>
                  </a:lnTo>
                  <a:lnTo>
                    <a:pt x="384" y="787"/>
                  </a:lnTo>
                  <a:lnTo>
                    <a:pt x="388" y="726"/>
                  </a:lnTo>
                  <a:lnTo>
                    <a:pt x="362" y="706"/>
                  </a:lnTo>
                  <a:lnTo>
                    <a:pt x="362" y="647"/>
                  </a:lnTo>
                  <a:lnTo>
                    <a:pt x="329" y="637"/>
                  </a:lnTo>
                  <a:lnTo>
                    <a:pt x="297" y="655"/>
                  </a:lnTo>
                  <a:lnTo>
                    <a:pt x="256" y="643"/>
                  </a:lnTo>
                  <a:lnTo>
                    <a:pt x="214" y="700"/>
                  </a:lnTo>
                  <a:lnTo>
                    <a:pt x="191" y="673"/>
                  </a:lnTo>
                  <a:lnTo>
                    <a:pt x="163" y="667"/>
                  </a:lnTo>
                  <a:lnTo>
                    <a:pt x="148" y="714"/>
                  </a:lnTo>
                  <a:lnTo>
                    <a:pt x="88" y="708"/>
                  </a:lnTo>
                  <a:lnTo>
                    <a:pt x="61" y="667"/>
                  </a:lnTo>
                  <a:lnTo>
                    <a:pt x="65" y="614"/>
                  </a:lnTo>
                  <a:lnTo>
                    <a:pt x="86" y="562"/>
                  </a:lnTo>
                  <a:lnTo>
                    <a:pt x="65" y="529"/>
                  </a:lnTo>
                  <a:lnTo>
                    <a:pt x="0" y="523"/>
                  </a:lnTo>
                  <a:lnTo>
                    <a:pt x="14" y="499"/>
                  </a:lnTo>
                  <a:lnTo>
                    <a:pt x="63" y="468"/>
                  </a:lnTo>
                  <a:lnTo>
                    <a:pt x="24" y="326"/>
                  </a:lnTo>
                  <a:lnTo>
                    <a:pt x="25" y="275"/>
                  </a:lnTo>
                  <a:lnTo>
                    <a:pt x="14" y="185"/>
                  </a:lnTo>
                  <a:lnTo>
                    <a:pt x="41" y="120"/>
                  </a:lnTo>
                  <a:lnTo>
                    <a:pt x="100" y="68"/>
                  </a:lnTo>
                  <a:lnTo>
                    <a:pt x="199" y="84"/>
                  </a:lnTo>
                  <a:lnTo>
                    <a:pt x="212" y="59"/>
                  </a:lnTo>
                  <a:lnTo>
                    <a:pt x="183" y="17"/>
                  </a:lnTo>
                  <a:lnTo>
                    <a:pt x="252" y="0"/>
                  </a:lnTo>
                  <a:lnTo>
                    <a:pt x="340" y="27"/>
                  </a:lnTo>
                  <a:lnTo>
                    <a:pt x="411" y="31"/>
                  </a:lnTo>
                  <a:lnTo>
                    <a:pt x="468" y="70"/>
                  </a:lnTo>
                  <a:lnTo>
                    <a:pt x="529" y="35"/>
                  </a:lnTo>
                  <a:lnTo>
                    <a:pt x="561" y="41"/>
                  </a:lnTo>
                  <a:lnTo>
                    <a:pt x="567" y="74"/>
                  </a:lnTo>
                  <a:lnTo>
                    <a:pt x="638" y="25"/>
                  </a:lnTo>
                  <a:lnTo>
                    <a:pt x="671" y="59"/>
                  </a:lnTo>
                  <a:lnTo>
                    <a:pt x="665" y="112"/>
                  </a:lnTo>
                  <a:lnTo>
                    <a:pt x="712" y="126"/>
                  </a:lnTo>
                  <a:lnTo>
                    <a:pt x="746" y="177"/>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3" name="Freeform 117"/>
            <p:cNvSpPr/>
            <p:nvPr/>
          </p:nvSpPr>
          <p:spPr bwMode="gray">
            <a:xfrm>
              <a:off x="3436" y="2904"/>
              <a:ext cx="356" cy="491"/>
            </a:xfrm>
            <a:custGeom>
              <a:avLst/>
              <a:gdLst>
                <a:gd name="T0" fmla="*/ 20 w 711"/>
                <a:gd name="T1" fmla="*/ 44 h 982"/>
                <a:gd name="T2" fmla="*/ 7 w 711"/>
                <a:gd name="T3" fmla="*/ 55 h 982"/>
                <a:gd name="T4" fmla="*/ 16 w 711"/>
                <a:gd name="T5" fmla="*/ 68 h 982"/>
                <a:gd name="T6" fmla="*/ 21 w 711"/>
                <a:gd name="T7" fmla="*/ 86 h 982"/>
                <a:gd name="T8" fmla="*/ 14 w 711"/>
                <a:gd name="T9" fmla="*/ 98 h 982"/>
                <a:gd name="T10" fmla="*/ 6 w 711"/>
                <a:gd name="T11" fmla="*/ 104 h 982"/>
                <a:gd name="T12" fmla="*/ 0 w 711"/>
                <a:gd name="T13" fmla="*/ 122 h 982"/>
                <a:gd name="T14" fmla="*/ 13 w 711"/>
                <a:gd name="T15" fmla="*/ 135 h 982"/>
                <a:gd name="T16" fmla="*/ 16 w 711"/>
                <a:gd name="T17" fmla="*/ 156 h 982"/>
                <a:gd name="T18" fmla="*/ 26 w 711"/>
                <a:gd name="T19" fmla="*/ 163 h 982"/>
                <a:gd name="T20" fmla="*/ 30 w 711"/>
                <a:gd name="T21" fmla="*/ 179 h 982"/>
                <a:gd name="T22" fmla="*/ 23 w 711"/>
                <a:gd name="T23" fmla="*/ 196 h 982"/>
                <a:gd name="T24" fmla="*/ 24 w 711"/>
                <a:gd name="T25" fmla="*/ 210 h 982"/>
                <a:gd name="T26" fmla="*/ 32 w 711"/>
                <a:gd name="T27" fmla="*/ 215 h 982"/>
                <a:gd name="T28" fmla="*/ 50 w 711"/>
                <a:gd name="T29" fmla="*/ 209 h 982"/>
                <a:gd name="T30" fmla="*/ 56 w 711"/>
                <a:gd name="T31" fmla="*/ 215 h 982"/>
                <a:gd name="T32" fmla="*/ 47 w 711"/>
                <a:gd name="T33" fmla="*/ 232 h 982"/>
                <a:gd name="T34" fmla="*/ 39 w 711"/>
                <a:gd name="T35" fmla="*/ 241 h 982"/>
                <a:gd name="T36" fmla="*/ 46 w 711"/>
                <a:gd name="T37" fmla="*/ 246 h 982"/>
                <a:gd name="T38" fmla="*/ 82 w 711"/>
                <a:gd name="T39" fmla="*/ 231 h 982"/>
                <a:gd name="T40" fmla="*/ 96 w 711"/>
                <a:gd name="T41" fmla="*/ 238 h 982"/>
                <a:gd name="T42" fmla="*/ 101 w 711"/>
                <a:gd name="T43" fmla="*/ 222 h 982"/>
                <a:gd name="T44" fmla="*/ 100 w 711"/>
                <a:gd name="T45" fmla="*/ 209 h 982"/>
                <a:gd name="T46" fmla="*/ 107 w 711"/>
                <a:gd name="T47" fmla="*/ 182 h 982"/>
                <a:gd name="T48" fmla="*/ 115 w 711"/>
                <a:gd name="T49" fmla="*/ 170 h 982"/>
                <a:gd name="T50" fmla="*/ 115 w 711"/>
                <a:gd name="T51" fmla="*/ 157 h 982"/>
                <a:gd name="T52" fmla="*/ 119 w 711"/>
                <a:gd name="T53" fmla="*/ 151 h 982"/>
                <a:gd name="T54" fmla="*/ 116 w 711"/>
                <a:gd name="T55" fmla="*/ 143 h 982"/>
                <a:gd name="T56" fmla="*/ 117 w 711"/>
                <a:gd name="T57" fmla="*/ 130 h 982"/>
                <a:gd name="T58" fmla="*/ 132 w 711"/>
                <a:gd name="T59" fmla="*/ 124 h 982"/>
                <a:gd name="T60" fmla="*/ 134 w 711"/>
                <a:gd name="T61" fmla="*/ 106 h 982"/>
                <a:gd name="T62" fmla="*/ 135 w 711"/>
                <a:gd name="T63" fmla="*/ 92 h 982"/>
                <a:gd name="T64" fmla="*/ 143 w 711"/>
                <a:gd name="T65" fmla="*/ 87 h 982"/>
                <a:gd name="T66" fmla="*/ 151 w 711"/>
                <a:gd name="T67" fmla="*/ 87 h 982"/>
                <a:gd name="T68" fmla="*/ 164 w 711"/>
                <a:gd name="T69" fmla="*/ 80 h 982"/>
                <a:gd name="T70" fmla="*/ 175 w 711"/>
                <a:gd name="T71" fmla="*/ 75 h 982"/>
                <a:gd name="T72" fmla="*/ 175 w 711"/>
                <a:gd name="T73" fmla="*/ 64 h 982"/>
                <a:gd name="T74" fmla="*/ 178 w 711"/>
                <a:gd name="T75" fmla="*/ 63 h 982"/>
                <a:gd name="T76" fmla="*/ 175 w 711"/>
                <a:gd name="T77" fmla="*/ 49 h 982"/>
                <a:gd name="T78" fmla="*/ 155 w 711"/>
                <a:gd name="T79" fmla="*/ 34 h 982"/>
                <a:gd name="T80" fmla="*/ 160 w 711"/>
                <a:gd name="T81" fmla="*/ 19 h 982"/>
                <a:gd name="T82" fmla="*/ 153 w 711"/>
                <a:gd name="T83" fmla="*/ 15 h 982"/>
                <a:gd name="T84" fmla="*/ 134 w 711"/>
                <a:gd name="T85" fmla="*/ 14 h 982"/>
                <a:gd name="T86" fmla="*/ 127 w 711"/>
                <a:gd name="T87" fmla="*/ 5 h 982"/>
                <a:gd name="T88" fmla="*/ 112 w 711"/>
                <a:gd name="T89" fmla="*/ 21 h 982"/>
                <a:gd name="T90" fmla="*/ 102 w 711"/>
                <a:gd name="T91" fmla="*/ 17 h 982"/>
                <a:gd name="T92" fmla="*/ 110 w 711"/>
                <a:gd name="T93" fmla="*/ 7 h 982"/>
                <a:gd name="T94" fmla="*/ 105 w 711"/>
                <a:gd name="T95" fmla="*/ 0 h 982"/>
                <a:gd name="T96" fmla="*/ 96 w 711"/>
                <a:gd name="T97" fmla="*/ 4 h 982"/>
                <a:gd name="T98" fmla="*/ 87 w 711"/>
                <a:gd name="T99" fmla="*/ 15 h 982"/>
                <a:gd name="T100" fmla="*/ 83 w 711"/>
                <a:gd name="T101" fmla="*/ 14 h 982"/>
                <a:gd name="T102" fmla="*/ 76 w 711"/>
                <a:gd name="T103" fmla="*/ 21 h 982"/>
                <a:gd name="T104" fmla="*/ 63 w 711"/>
                <a:gd name="T105" fmla="*/ 15 h 982"/>
                <a:gd name="T106" fmla="*/ 54 w 711"/>
                <a:gd name="T107" fmla="*/ 25 h 982"/>
                <a:gd name="T108" fmla="*/ 46 w 711"/>
                <a:gd name="T109" fmla="*/ 27 h 982"/>
                <a:gd name="T110" fmla="*/ 35 w 711"/>
                <a:gd name="T111" fmla="*/ 40 h 982"/>
                <a:gd name="T112" fmla="*/ 20 w 711"/>
                <a:gd name="T113" fmla="*/ 44 h 9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11"/>
                <a:gd name="T172" fmla="*/ 0 h 982"/>
                <a:gd name="T173" fmla="*/ 711 w 711"/>
                <a:gd name="T174" fmla="*/ 982 h 98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11" h="982">
                  <a:moveTo>
                    <a:pt x="77" y="173"/>
                  </a:moveTo>
                  <a:lnTo>
                    <a:pt x="27" y="219"/>
                  </a:lnTo>
                  <a:lnTo>
                    <a:pt x="61" y="270"/>
                  </a:lnTo>
                  <a:lnTo>
                    <a:pt x="81" y="344"/>
                  </a:lnTo>
                  <a:lnTo>
                    <a:pt x="55" y="392"/>
                  </a:lnTo>
                  <a:lnTo>
                    <a:pt x="22" y="415"/>
                  </a:lnTo>
                  <a:lnTo>
                    <a:pt x="0" y="486"/>
                  </a:lnTo>
                  <a:lnTo>
                    <a:pt x="51" y="539"/>
                  </a:lnTo>
                  <a:lnTo>
                    <a:pt x="61" y="624"/>
                  </a:lnTo>
                  <a:lnTo>
                    <a:pt x="102" y="650"/>
                  </a:lnTo>
                  <a:lnTo>
                    <a:pt x="120" y="716"/>
                  </a:lnTo>
                  <a:lnTo>
                    <a:pt x="92" y="783"/>
                  </a:lnTo>
                  <a:lnTo>
                    <a:pt x="96" y="840"/>
                  </a:lnTo>
                  <a:lnTo>
                    <a:pt x="128" y="860"/>
                  </a:lnTo>
                  <a:lnTo>
                    <a:pt x="197" y="833"/>
                  </a:lnTo>
                  <a:lnTo>
                    <a:pt x="224" y="858"/>
                  </a:lnTo>
                  <a:lnTo>
                    <a:pt x="185" y="927"/>
                  </a:lnTo>
                  <a:lnTo>
                    <a:pt x="155" y="961"/>
                  </a:lnTo>
                  <a:lnTo>
                    <a:pt x="183" y="982"/>
                  </a:lnTo>
                  <a:lnTo>
                    <a:pt x="327" y="923"/>
                  </a:lnTo>
                  <a:lnTo>
                    <a:pt x="382" y="949"/>
                  </a:lnTo>
                  <a:lnTo>
                    <a:pt x="403" y="888"/>
                  </a:lnTo>
                  <a:lnTo>
                    <a:pt x="398" y="833"/>
                  </a:lnTo>
                  <a:lnTo>
                    <a:pt x="425" y="726"/>
                  </a:lnTo>
                  <a:lnTo>
                    <a:pt x="459" y="677"/>
                  </a:lnTo>
                  <a:lnTo>
                    <a:pt x="457" y="628"/>
                  </a:lnTo>
                  <a:lnTo>
                    <a:pt x="476" y="604"/>
                  </a:lnTo>
                  <a:lnTo>
                    <a:pt x="462" y="569"/>
                  </a:lnTo>
                  <a:lnTo>
                    <a:pt x="468" y="518"/>
                  </a:lnTo>
                  <a:lnTo>
                    <a:pt x="525" y="496"/>
                  </a:lnTo>
                  <a:lnTo>
                    <a:pt x="535" y="423"/>
                  </a:lnTo>
                  <a:lnTo>
                    <a:pt x="539" y="368"/>
                  </a:lnTo>
                  <a:lnTo>
                    <a:pt x="569" y="346"/>
                  </a:lnTo>
                  <a:lnTo>
                    <a:pt x="602" y="346"/>
                  </a:lnTo>
                  <a:lnTo>
                    <a:pt x="653" y="317"/>
                  </a:lnTo>
                  <a:lnTo>
                    <a:pt x="697" y="297"/>
                  </a:lnTo>
                  <a:lnTo>
                    <a:pt x="697" y="256"/>
                  </a:lnTo>
                  <a:lnTo>
                    <a:pt x="711" y="254"/>
                  </a:lnTo>
                  <a:lnTo>
                    <a:pt x="697" y="193"/>
                  </a:lnTo>
                  <a:lnTo>
                    <a:pt x="620" y="134"/>
                  </a:lnTo>
                  <a:lnTo>
                    <a:pt x="638" y="73"/>
                  </a:lnTo>
                  <a:lnTo>
                    <a:pt x="612" y="57"/>
                  </a:lnTo>
                  <a:lnTo>
                    <a:pt x="535" y="55"/>
                  </a:lnTo>
                  <a:lnTo>
                    <a:pt x="506" y="20"/>
                  </a:lnTo>
                  <a:lnTo>
                    <a:pt x="447" y="81"/>
                  </a:lnTo>
                  <a:lnTo>
                    <a:pt x="407" y="67"/>
                  </a:lnTo>
                  <a:lnTo>
                    <a:pt x="439" y="28"/>
                  </a:lnTo>
                  <a:lnTo>
                    <a:pt x="417" y="0"/>
                  </a:lnTo>
                  <a:lnTo>
                    <a:pt x="384" y="14"/>
                  </a:lnTo>
                  <a:lnTo>
                    <a:pt x="348" y="59"/>
                  </a:lnTo>
                  <a:lnTo>
                    <a:pt x="331" y="55"/>
                  </a:lnTo>
                  <a:lnTo>
                    <a:pt x="301" y="81"/>
                  </a:lnTo>
                  <a:lnTo>
                    <a:pt x="250" y="61"/>
                  </a:lnTo>
                  <a:lnTo>
                    <a:pt x="214" y="98"/>
                  </a:lnTo>
                  <a:lnTo>
                    <a:pt x="183" y="108"/>
                  </a:lnTo>
                  <a:lnTo>
                    <a:pt x="140" y="159"/>
                  </a:lnTo>
                  <a:lnTo>
                    <a:pt x="77" y="173"/>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4" name="Freeform 118"/>
            <p:cNvSpPr/>
            <p:nvPr/>
          </p:nvSpPr>
          <p:spPr bwMode="gray">
            <a:xfrm>
              <a:off x="3436" y="2904"/>
              <a:ext cx="356" cy="491"/>
            </a:xfrm>
            <a:custGeom>
              <a:avLst/>
              <a:gdLst>
                <a:gd name="T0" fmla="*/ 20 w 711"/>
                <a:gd name="T1" fmla="*/ 44 h 982"/>
                <a:gd name="T2" fmla="*/ 7 w 711"/>
                <a:gd name="T3" fmla="*/ 55 h 982"/>
                <a:gd name="T4" fmla="*/ 16 w 711"/>
                <a:gd name="T5" fmla="*/ 68 h 982"/>
                <a:gd name="T6" fmla="*/ 21 w 711"/>
                <a:gd name="T7" fmla="*/ 86 h 982"/>
                <a:gd name="T8" fmla="*/ 14 w 711"/>
                <a:gd name="T9" fmla="*/ 98 h 982"/>
                <a:gd name="T10" fmla="*/ 6 w 711"/>
                <a:gd name="T11" fmla="*/ 104 h 982"/>
                <a:gd name="T12" fmla="*/ 0 w 711"/>
                <a:gd name="T13" fmla="*/ 122 h 982"/>
                <a:gd name="T14" fmla="*/ 13 w 711"/>
                <a:gd name="T15" fmla="*/ 135 h 982"/>
                <a:gd name="T16" fmla="*/ 16 w 711"/>
                <a:gd name="T17" fmla="*/ 156 h 982"/>
                <a:gd name="T18" fmla="*/ 26 w 711"/>
                <a:gd name="T19" fmla="*/ 163 h 982"/>
                <a:gd name="T20" fmla="*/ 30 w 711"/>
                <a:gd name="T21" fmla="*/ 179 h 982"/>
                <a:gd name="T22" fmla="*/ 23 w 711"/>
                <a:gd name="T23" fmla="*/ 196 h 982"/>
                <a:gd name="T24" fmla="*/ 24 w 711"/>
                <a:gd name="T25" fmla="*/ 210 h 982"/>
                <a:gd name="T26" fmla="*/ 32 w 711"/>
                <a:gd name="T27" fmla="*/ 215 h 982"/>
                <a:gd name="T28" fmla="*/ 50 w 711"/>
                <a:gd name="T29" fmla="*/ 209 h 982"/>
                <a:gd name="T30" fmla="*/ 56 w 711"/>
                <a:gd name="T31" fmla="*/ 215 h 982"/>
                <a:gd name="T32" fmla="*/ 47 w 711"/>
                <a:gd name="T33" fmla="*/ 232 h 982"/>
                <a:gd name="T34" fmla="*/ 39 w 711"/>
                <a:gd name="T35" fmla="*/ 241 h 982"/>
                <a:gd name="T36" fmla="*/ 46 w 711"/>
                <a:gd name="T37" fmla="*/ 246 h 982"/>
                <a:gd name="T38" fmla="*/ 82 w 711"/>
                <a:gd name="T39" fmla="*/ 231 h 982"/>
                <a:gd name="T40" fmla="*/ 96 w 711"/>
                <a:gd name="T41" fmla="*/ 238 h 982"/>
                <a:gd name="T42" fmla="*/ 101 w 711"/>
                <a:gd name="T43" fmla="*/ 222 h 982"/>
                <a:gd name="T44" fmla="*/ 100 w 711"/>
                <a:gd name="T45" fmla="*/ 209 h 982"/>
                <a:gd name="T46" fmla="*/ 107 w 711"/>
                <a:gd name="T47" fmla="*/ 182 h 982"/>
                <a:gd name="T48" fmla="*/ 115 w 711"/>
                <a:gd name="T49" fmla="*/ 170 h 982"/>
                <a:gd name="T50" fmla="*/ 115 w 711"/>
                <a:gd name="T51" fmla="*/ 157 h 982"/>
                <a:gd name="T52" fmla="*/ 119 w 711"/>
                <a:gd name="T53" fmla="*/ 151 h 982"/>
                <a:gd name="T54" fmla="*/ 116 w 711"/>
                <a:gd name="T55" fmla="*/ 143 h 982"/>
                <a:gd name="T56" fmla="*/ 117 w 711"/>
                <a:gd name="T57" fmla="*/ 130 h 982"/>
                <a:gd name="T58" fmla="*/ 132 w 711"/>
                <a:gd name="T59" fmla="*/ 124 h 982"/>
                <a:gd name="T60" fmla="*/ 134 w 711"/>
                <a:gd name="T61" fmla="*/ 106 h 982"/>
                <a:gd name="T62" fmla="*/ 135 w 711"/>
                <a:gd name="T63" fmla="*/ 92 h 982"/>
                <a:gd name="T64" fmla="*/ 143 w 711"/>
                <a:gd name="T65" fmla="*/ 87 h 982"/>
                <a:gd name="T66" fmla="*/ 151 w 711"/>
                <a:gd name="T67" fmla="*/ 87 h 982"/>
                <a:gd name="T68" fmla="*/ 164 w 711"/>
                <a:gd name="T69" fmla="*/ 80 h 982"/>
                <a:gd name="T70" fmla="*/ 175 w 711"/>
                <a:gd name="T71" fmla="*/ 75 h 982"/>
                <a:gd name="T72" fmla="*/ 175 w 711"/>
                <a:gd name="T73" fmla="*/ 64 h 982"/>
                <a:gd name="T74" fmla="*/ 178 w 711"/>
                <a:gd name="T75" fmla="*/ 63 h 982"/>
                <a:gd name="T76" fmla="*/ 175 w 711"/>
                <a:gd name="T77" fmla="*/ 49 h 982"/>
                <a:gd name="T78" fmla="*/ 155 w 711"/>
                <a:gd name="T79" fmla="*/ 34 h 982"/>
                <a:gd name="T80" fmla="*/ 160 w 711"/>
                <a:gd name="T81" fmla="*/ 19 h 982"/>
                <a:gd name="T82" fmla="*/ 153 w 711"/>
                <a:gd name="T83" fmla="*/ 15 h 982"/>
                <a:gd name="T84" fmla="*/ 134 w 711"/>
                <a:gd name="T85" fmla="*/ 14 h 982"/>
                <a:gd name="T86" fmla="*/ 127 w 711"/>
                <a:gd name="T87" fmla="*/ 5 h 982"/>
                <a:gd name="T88" fmla="*/ 112 w 711"/>
                <a:gd name="T89" fmla="*/ 21 h 982"/>
                <a:gd name="T90" fmla="*/ 102 w 711"/>
                <a:gd name="T91" fmla="*/ 17 h 982"/>
                <a:gd name="T92" fmla="*/ 110 w 711"/>
                <a:gd name="T93" fmla="*/ 7 h 982"/>
                <a:gd name="T94" fmla="*/ 105 w 711"/>
                <a:gd name="T95" fmla="*/ 0 h 982"/>
                <a:gd name="T96" fmla="*/ 96 w 711"/>
                <a:gd name="T97" fmla="*/ 4 h 982"/>
                <a:gd name="T98" fmla="*/ 87 w 711"/>
                <a:gd name="T99" fmla="*/ 15 h 982"/>
                <a:gd name="T100" fmla="*/ 83 w 711"/>
                <a:gd name="T101" fmla="*/ 14 h 982"/>
                <a:gd name="T102" fmla="*/ 76 w 711"/>
                <a:gd name="T103" fmla="*/ 21 h 982"/>
                <a:gd name="T104" fmla="*/ 63 w 711"/>
                <a:gd name="T105" fmla="*/ 15 h 982"/>
                <a:gd name="T106" fmla="*/ 54 w 711"/>
                <a:gd name="T107" fmla="*/ 25 h 982"/>
                <a:gd name="T108" fmla="*/ 46 w 711"/>
                <a:gd name="T109" fmla="*/ 27 h 982"/>
                <a:gd name="T110" fmla="*/ 35 w 711"/>
                <a:gd name="T111" fmla="*/ 40 h 982"/>
                <a:gd name="T112" fmla="*/ 20 w 711"/>
                <a:gd name="T113" fmla="*/ 44 h 9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11"/>
                <a:gd name="T172" fmla="*/ 0 h 982"/>
                <a:gd name="T173" fmla="*/ 711 w 711"/>
                <a:gd name="T174" fmla="*/ 982 h 98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11" h="982">
                  <a:moveTo>
                    <a:pt x="77" y="173"/>
                  </a:moveTo>
                  <a:lnTo>
                    <a:pt x="27" y="219"/>
                  </a:lnTo>
                  <a:lnTo>
                    <a:pt x="61" y="270"/>
                  </a:lnTo>
                  <a:lnTo>
                    <a:pt x="81" y="344"/>
                  </a:lnTo>
                  <a:lnTo>
                    <a:pt x="55" y="392"/>
                  </a:lnTo>
                  <a:lnTo>
                    <a:pt x="22" y="415"/>
                  </a:lnTo>
                  <a:lnTo>
                    <a:pt x="0" y="486"/>
                  </a:lnTo>
                  <a:lnTo>
                    <a:pt x="51" y="539"/>
                  </a:lnTo>
                  <a:lnTo>
                    <a:pt x="61" y="624"/>
                  </a:lnTo>
                  <a:lnTo>
                    <a:pt x="102" y="650"/>
                  </a:lnTo>
                  <a:lnTo>
                    <a:pt x="120" y="716"/>
                  </a:lnTo>
                  <a:lnTo>
                    <a:pt x="92" y="783"/>
                  </a:lnTo>
                  <a:lnTo>
                    <a:pt x="96" y="840"/>
                  </a:lnTo>
                  <a:lnTo>
                    <a:pt x="128" y="860"/>
                  </a:lnTo>
                  <a:lnTo>
                    <a:pt x="197" y="833"/>
                  </a:lnTo>
                  <a:lnTo>
                    <a:pt x="224" y="858"/>
                  </a:lnTo>
                  <a:lnTo>
                    <a:pt x="185" y="927"/>
                  </a:lnTo>
                  <a:lnTo>
                    <a:pt x="155" y="961"/>
                  </a:lnTo>
                  <a:lnTo>
                    <a:pt x="183" y="982"/>
                  </a:lnTo>
                  <a:lnTo>
                    <a:pt x="327" y="923"/>
                  </a:lnTo>
                  <a:lnTo>
                    <a:pt x="382" y="949"/>
                  </a:lnTo>
                  <a:lnTo>
                    <a:pt x="403" y="888"/>
                  </a:lnTo>
                  <a:lnTo>
                    <a:pt x="398" y="833"/>
                  </a:lnTo>
                  <a:lnTo>
                    <a:pt x="425" y="726"/>
                  </a:lnTo>
                  <a:lnTo>
                    <a:pt x="459" y="677"/>
                  </a:lnTo>
                  <a:lnTo>
                    <a:pt x="457" y="628"/>
                  </a:lnTo>
                  <a:lnTo>
                    <a:pt x="476" y="604"/>
                  </a:lnTo>
                  <a:lnTo>
                    <a:pt x="462" y="569"/>
                  </a:lnTo>
                  <a:lnTo>
                    <a:pt x="468" y="518"/>
                  </a:lnTo>
                  <a:lnTo>
                    <a:pt x="525" y="496"/>
                  </a:lnTo>
                  <a:lnTo>
                    <a:pt x="535" y="423"/>
                  </a:lnTo>
                  <a:lnTo>
                    <a:pt x="539" y="368"/>
                  </a:lnTo>
                  <a:lnTo>
                    <a:pt x="569" y="346"/>
                  </a:lnTo>
                  <a:lnTo>
                    <a:pt x="602" y="346"/>
                  </a:lnTo>
                  <a:lnTo>
                    <a:pt x="653" y="317"/>
                  </a:lnTo>
                  <a:lnTo>
                    <a:pt x="697" y="297"/>
                  </a:lnTo>
                  <a:lnTo>
                    <a:pt x="697" y="256"/>
                  </a:lnTo>
                  <a:lnTo>
                    <a:pt x="711" y="254"/>
                  </a:lnTo>
                  <a:lnTo>
                    <a:pt x="697" y="193"/>
                  </a:lnTo>
                  <a:lnTo>
                    <a:pt x="620" y="134"/>
                  </a:lnTo>
                  <a:lnTo>
                    <a:pt x="638" y="73"/>
                  </a:lnTo>
                  <a:lnTo>
                    <a:pt x="612" y="57"/>
                  </a:lnTo>
                  <a:lnTo>
                    <a:pt x="535" y="55"/>
                  </a:lnTo>
                  <a:lnTo>
                    <a:pt x="506" y="20"/>
                  </a:lnTo>
                  <a:lnTo>
                    <a:pt x="447" y="81"/>
                  </a:lnTo>
                  <a:lnTo>
                    <a:pt x="407" y="67"/>
                  </a:lnTo>
                  <a:lnTo>
                    <a:pt x="439" y="28"/>
                  </a:lnTo>
                  <a:lnTo>
                    <a:pt x="417" y="0"/>
                  </a:lnTo>
                  <a:lnTo>
                    <a:pt x="384" y="14"/>
                  </a:lnTo>
                  <a:lnTo>
                    <a:pt x="348" y="59"/>
                  </a:lnTo>
                  <a:lnTo>
                    <a:pt x="331" y="55"/>
                  </a:lnTo>
                  <a:lnTo>
                    <a:pt x="301" y="81"/>
                  </a:lnTo>
                  <a:lnTo>
                    <a:pt x="250" y="61"/>
                  </a:lnTo>
                  <a:lnTo>
                    <a:pt x="214" y="98"/>
                  </a:lnTo>
                  <a:lnTo>
                    <a:pt x="183" y="108"/>
                  </a:lnTo>
                  <a:lnTo>
                    <a:pt x="140" y="159"/>
                  </a:lnTo>
                  <a:lnTo>
                    <a:pt x="77" y="173"/>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5" name="Freeform 119"/>
            <p:cNvSpPr/>
            <p:nvPr/>
          </p:nvSpPr>
          <p:spPr bwMode="gray">
            <a:xfrm>
              <a:off x="3477" y="2497"/>
              <a:ext cx="361" cy="447"/>
            </a:xfrm>
            <a:custGeom>
              <a:avLst/>
              <a:gdLst>
                <a:gd name="T0" fmla="*/ 19 w 722"/>
                <a:gd name="T1" fmla="*/ 148 h 894"/>
                <a:gd name="T2" fmla="*/ 23 w 722"/>
                <a:gd name="T3" fmla="*/ 155 h 894"/>
                <a:gd name="T4" fmla="*/ 34 w 722"/>
                <a:gd name="T5" fmla="*/ 163 h 894"/>
                <a:gd name="T6" fmla="*/ 42 w 722"/>
                <a:gd name="T7" fmla="*/ 163 h 894"/>
                <a:gd name="T8" fmla="*/ 50 w 722"/>
                <a:gd name="T9" fmla="*/ 168 h 894"/>
                <a:gd name="T10" fmla="*/ 50 w 722"/>
                <a:gd name="T11" fmla="*/ 192 h 894"/>
                <a:gd name="T12" fmla="*/ 58 w 722"/>
                <a:gd name="T13" fmla="*/ 202 h 894"/>
                <a:gd name="T14" fmla="*/ 62 w 722"/>
                <a:gd name="T15" fmla="*/ 217 h 894"/>
                <a:gd name="T16" fmla="*/ 67 w 722"/>
                <a:gd name="T17" fmla="*/ 218 h 894"/>
                <a:gd name="T18" fmla="*/ 76 w 722"/>
                <a:gd name="T19" fmla="*/ 207 h 894"/>
                <a:gd name="T20" fmla="*/ 85 w 722"/>
                <a:gd name="T21" fmla="*/ 204 h 894"/>
                <a:gd name="T22" fmla="*/ 90 w 722"/>
                <a:gd name="T23" fmla="*/ 211 h 894"/>
                <a:gd name="T24" fmla="*/ 82 w 722"/>
                <a:gd name="T25" fmla="*/ 220 h 894"/>
                <a:gd name="T26" fmla="*/ 91 w 722"/>
                <a:gd name="T27" fmla="*/ 224 h 894"/>
                <a:gd name="T28" fmla="*/ 106 w 722"/>
                <a:gd name="T29" fmla="*/ 209 h 894"/>
                <a:gd name="T30" fmla="*/ 113 w 722"/>
                <a:gd name="T31" fmla="*/ 217 h 894"/>
                <a:gd name="T32" fmla="*/ 133 w 722"/>
                <a:gd name="T33" fmla="*/ 218 h 894"/>
                <a:gd name="T34" fmla="*/ 140 w 722"/>
                <a:gd name="T35" fmla="*/ 222 h 894"/>
                <a:gd name="T36" fmla="*/ 154 w 722"/>
                <a:gd name="T37" fmla="*/ 207 h 894"/>
                <a:gd name="T38" fmla="*/ 162 w 722"/>
                <a:gd name="T39" fmla="*/ 188 h 894"/>
                <a:gd name="T40" fmla="*/ 169 w 722"/>
                <a:gd name="T41" fmla="*/ 178 h 894"/>
                <a:gd name="T42" fmla="*/ 176 w 722"/>
                <a:gd name="T43" fmla="*/ 175 h 894"/>
                <a:gd name="T44" fmla="*/ 171 w 722"/>
                <a:gd name="T45" fmla="*/ 164 h 894"/>
                <a:gd name="T46" fmla="*/ 181 w 722"/>
                <a:gd name="T47" fmla="*/ 151 h 894"/>
                <a:gd name="T48" fmla="*/ 180 w 722"/>
                <a:gd name="T49" fmla="*/ 141 h 894"/>
                <a:gd name="T50" fmla="*/ 173 w 722"/>
                <a:gd name="T51" fmla="*/ 142 h 894"/>
                <a:gd name="T52" fmla="*/ 162 w 722"/>
                <a:gd name="T53" fmla="*/ 138 h 894"/>
                <a:gd name="T54" fmla="*/ 150 w 722"/>
                <a:gd name="T55" fmla="*/ 142 h 894"/>
                <a:gd name="T56" fmla="*/ 147 w 722"/>
                <a:gd name="T57" fmla="*/ 127 h 894"/>
                <a:gd name="T58" fmla="*/ 134 w 722"/>
                <a:gd name="T59" fmla="*/ 120 h 894"/>
                <a:gd name="T60" fmla="*/ 131 w 722"/>
                <a:gd name="T61" fmla="*/ 108 h 894"/>
                <a:gd name="T62" fmla="*/ 138 w 722"/>
                <a:gd name="T63" fmla="*/ 97 h 894"/>
                <a:gd name="T64" fmla="*/ 124 w 722"/>
                <a:gd name="T65" fmla="*/ 83 h 894"/>
                <a:gd name="T66" fmla="*/ 108 w 722"/>
                <a:gd name="T67" fmla="*/ 63 h 894"/>
                <a:gd name="T68" fmla="*/ 109 w 722"/>
                <a:gd name="T69" fmla="*/ 47 h 894"/>
                <a:gd name="T70" fmla="*/ 101 w 722"/>
                <a:gd name="T71" fmla="*/ 42 h 894"/>
                <a:gd name="T72" fmla="*/ 93 w 722"/>
                <a:gd name="T73" fmla="*/ 44 h 894"/>
                <a:gd name="T74" fmla="*/ 90 w 722"/>
                <a:gd name="T75" fmla="*/ 35 h 894"/>
                <a:gd name="T76" fmla="*/ 73 w 722"/>
                <a:gd name="T77" fmla="*/ 34 h 894"/>
                <a:gd name="T78" fmla="*/ 77 w 722"/>
                <a:gd name="T79" fmla="*/ 12 h 894"/>
                <a:gd name="T80" fmla="*/ 69 w 722"/>
                <a:gd name="T81" fmla="*/ 15 h 894"/>
                <a:gd name="T82" fmla="*/ 53 w 722"/>
                <a:gd name="T83" fmla="*/ 0 h 894"/>
                <a:gd name="T84" fmla="*/ 45 w 722"/>
                <a:gd name="T85" fmla="*/ 4 h 894"/>
                <a:gd name="T86" fmla="*/ 40 w 722"/>
                <a:gd name="T87" fmla="*/ 16 h 894"/>
                <a:gd name="T88" fmla="*/ 35 w 722"/>
                <a:gd name="T89" fmla="*/ 17 h 894"/>
                <a:gd name="T90" fmla="*/ 38 w 722"/>
                <a:gd name="T91" fmla="*/ 26 h 894"/>
                <a:gd name="T92" fmla="*/ 51 w 722"/>
                <a:gd name="T93" fmla="*/ 30 h 894"/>
                <a:gd name="T94" fmla="*/ 55 w 722"/>
                <a:gd name="T95" fmla="*/ 46 h 894"/>
                <a:gd name="T96" fmla="*/ 42 w 722"/>
                <a:gd name="T97" fmla="*/ 54 h 894"/>
                <a:gd name="T98" fmla="*/ 28 w 722"/>
                <a:gd name="T99" fmla="*/ 42 h 894"/>
                <a:gd name="T100" fmla="*/ 17 w 722"/>
                <a:gd name="T101" fmla="*/ 49 h 894"/>
                <a:gd name="T102" fmla="*/ 22 w 722"/>
                <a:gd name="T103" fmla="*/ 62 h 894"/>
                <a:gd name="T104" fmla="*/ 12 w 722"/>
                <a:gd name="T105" fmla="*/ 71 h 894"/>
                <a:gd name="T106" fmla="*/ 13 w 722"/>
                <a:gd name="T107" fmla="*/ 84 h 894"/>
                <a:gd name="T108" fmla="*/ 0 w 722"/>
                <a:gd name="T109" fmla="*/ 88 h 894"/>
                <a:gd name="T110" fmla="*/ 11 w 722"/>
                <a:gd name="T111" fmla="*/ 96 h 894"/>
                <a:gd name="T112" fmla="*/ 24 w 722"/>
                <a:gd name="T113" fmla="*/ 112 h 894"/>
                <a:gd name="T114" fmla="*/ 40 w 722"/>
                <a:gd name="T115" fmla="*/ 103 h 894"/>
                <a:gd name="T116" fmla="*/ 44 w 722"/>
                <a:gd name="T117" fmla="*/ 118 h 894"/>
                <a:gd name="T118" fmla="*/ 43 w 722"/>
                <a:gd name="T119" fmla="*/ 134 h 894"/>
                <a:gd name="T120" fmla="*/ 24 w 722"/>
                <a:gd name="T121" fmla="*/ 144 h 894"/>
                <a:gd name="T122" fmla="*/ 19 w 722"/>
                <a:gd name="T123" fmla="*/ 148 h 8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22"/>
                <a:gd name="T187" fmla="*/ 0 h 894"/>
                <a:gd name="T188" fmla="*/ 722 w 722"/>
                <a:gd name="T189" fmla="*/ 894 h 8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22" h="894">
                  <a:moveTo>
                    <a:pt x="74" y="591"/>
                  </a:moveTo>
                  <a:lnTo>
                    <a:pt x="94" y="620"/>
                  </a:lnTo>
                  <a:lnTo>
                    <a:pt x="133" y="652"/>
                  </a:lnTo>
                  <a:lnTo>
                    <a:pt x="165" y="650"/>
                  </a:lnTo>
                  <a:lnTo>
                    <a:pt x="202" y="669"/>
                  </a:lnTo>
                  <a:lnTo>
                    <a:pt x="202" y="766"/>
                  </a:lnTo>
                  <a:lnTo>
                    <a:pt x="234" y="807"/>
                  </a:lnTo>
                  <a:lnTo>
                    <a:pt x="250" y="868"/>
                  </a:lnTo>
                  <a:lnTo>
                    <a:pt x="267" y="872"/>
                  </a:lnTo>
                  <a:lnTo>
                    <a:pt x="303" y="827"/>
                  </a:lnTo>
                  <a:lnTo>
                    <a:pt x="338" y="815"/>
                  </a:lnTo>
                  <a:lnTo>
                    <a:pt x="358" y="841"/>
                  </a:lnTo>
                  <a:lnTo>
                    <a:pt x="326" y="878"/>
                  </a:lnTo>
                  <a:lnTo>
                    <a:pt x="366" y="894"/>
                  </a:lnTo>
                  <a:lnTo>
                    <a:pt x="425" y="833"/>
                  </a:lnTo>
                  <a:lnTo>
                    <a:pt x="454" y="868"/>
                  </a:lnTo>
                  <a:lnTo>
                    <a:pt x="531" y="870"/>
                  </a:lnTo>
                  <a:lnTo>
                    <a:pt x="557" y="886"/>
                  </a:lnTo>
                  <a:lnTo>
                    <a:pt x="616" y="825"/>
                  </a:lnTo>
                  <a:lnTo>
                    <a:pt x="645" y="752"/>
                  </a:lnTo>
                  <a:lnTo>
                    <a:pt x="673" y="709"/>
                  </a:lnTo>
                  <a:lnTo>
                    <a:pt x="704" y="697"/>
                  </a:lnTo>
                  <a:lnTo>
                    <a:pt x="683" y="654"/>
                  </a:lnTo>
                  <a:lnTo>
                    <a:pt x="722" y="604"/>
                  </a:lnTo>
                  <a:lnTo>
                    <a:pt x="720" y="563"/>
                  </a:lnTo>
                  <a:lnTo>
                    <a:pt x="689" y="567"/>
                  </a:lnTo>
                  <a:lnTo>
                    <a:pt x="647" y="551"/>
                  </a:lnTo>
                  <a:lnTo>
                    <a:pt x="598" y="567"/>
                  </a:lnTo>
                  <a:lnTo>
                    <a:pt x="588" y="508"/>
                  </a:lnTo>
                  <a:lnTo>
                    <a:pt x="533" y="482"/>
                  </a:lnTo>
                  <a:lnTo>
                    <a:pt x="521" y="429"/>
                  </a:lnTo>
                  <a:lnTo>
                    <a:pt x="549" y="386"/>
                  </a:lnTo>
                  <a:lnTo>
                    <a:pt x="496" y="331"/>
                  </a:lnTo>
                  <a:lnTo>
                    <a:pt x="431" y="252"/>
                  </a:lnTo>
                  <a:lnTo>
                    <a:pt x="435" y="185"/>
                  </a:lnTo>
                  <a:lnTo>
                    <a:pt x="403" y="166"/>
                  </a:lnTo>
                  <a:lnTo>
                    <a:pt x="374" y="173"/>
                  </a:lnTo>
                  <a:lnTo>
                    <a:pt x="358" y="138"/>
                  </a:lnTo>
                  <a:lnTo>
                    <a:pt x="291" y="136"/>
                  </a:lnTo>
                  <a:lnTo>
                    <a:pt x="305" y="47"/>
                  </a:lnTo>
                  <a:lnTo>
                    <a:pt x="273" y="61"/>
                  </a:lnTo>
                  <a:lnTo>
                    <a:pt x="214" y="0"/>
                  </a:lnTo>
                  <a:lnTo>
                    <a:pt x="177" y="16"/>
                  </a:lnTo>
                  <a:lnTo>
                    <a:pt x="157" y="63"/>
                  </a:lnTo>
                  <a:lnTo>
                    <a:pt x="137" y="67"/>
                  </a:lnTo>
                  <a:lnTo>
                    <a:pt x="149" y="101"/>
                  </a:lnTo>
                  <a:lnTo>
                    <a:pt x="204" y="122"/>
                  </a:lnTo>
                  <a:lnTo>
                    <a:pt x="222" y="183"/>
                  </a:lnTo>
                  <a:lnTo>
                    <a:pt x="167" y="215"/>
                  </a:lnTo>
                  <a:lnTo>
                    <a:pt x="114" y="166"/>
                  </a:lnTo>
                  <a:lnTo>
                    <a:pt x="67" y="195"/>
                  </a:lnTo>
                  <a:lnTo>
                    <a:pt x="86" y="250"/>
                  </a:lnTo>
                  <a:lnTo>
                    <a:pt x="49" y="282"/>
                  </a:lnTo>
                  <a:lnTo>
                    <a:pt x="53" y="335"/>
                  </a:lnTo>
                  <a:lnTo>
                    <a:pt x="0" y="349"/>
                  </a:lnTo>
                  <a:lnTo>
                    <a:pt x="43" y="384"/>
                  </a:lnTo>
                  <a:lnTo>
                    <a:pt x="98" y="447"/>
                  </a:lnTo>
                  <a:lnTo>
                    <a:pt x="157" y="410"/>
                  </a:lnTo>
                  <a:lnTo>
                    <a:pt x="175" y="473"/>
                  </a:lnTo>
                  <a:lnTo>
                    <a:pt x="171" y="536"/>
                  </a:lnTo>
                  <a:lnTo>
                    <a:pt x="96" y="575"/>
                  </a:lnTo>
                  <a:lnTo>
                    <a:pt x="74" y="591"/>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6" name="Freeform 120"/>
            <p:cNvSpPr/>
            <p:nvPr/>
          </p:nvSpPr>
          <p:spPr bwMode="gray">
            <a:xfrm>
              <a:off x="3477" y="2497"/>
              <a:ext cx="361" cy="447"/>
            </a:xfrm>
            <a:custGeom>
              <a:avLst/>
              <a:gdLst>
                <a:gd name="T0" fmla="*/ 19 w 722"/>
                <a:gd name="T1" fmla="*/ 148 h 894"/>
                <a:gd name="T2" fmla="*/ 23 w 722"/>
                <a:gd name="T3" fmla="*/ 155 h 894"/>
                <a:gd name="T4" fmla="*/ 34 w 722"/>
                <a:gd name="T5" fmla="*/ 163 h 894"/>
                <a:gd name="T6" fmla="*/ 42 w 722"/>
                <a:gd name="T7" fmla="*/ 163 h 894"/>
                <a:gd name="T8" fmla="*/ 50 w 722"/>
                <a:gd name="T9" fmla="*/ 168 h 894"/>
                <a:gd name="T10" fmla="*/ 50 w 722"/>
                <a:gd name="T11" fmla="*/ 192 h 894"/>
                <a:gd name="T12" fmla="*/ 58 w 722"/>
                <a:gd name="T13" fmla="*/ 202 h 894"/>
                <a:gd name="T14" fmla="*/ 62 w 722"/>
                <a:gd name="T15" fmla="*/ 217 h 894"/>
                <a:gd name="T16" fmla="*/ 67 w 722"/>
                <a:gd name="T17" fmla="*/ 218 h 894"/>
                <a:gd name="T18" fmla="*/ 76 w 722"/>
                <a:gd name="T19" fmla="*/ 207 h 894"/>
                <a:gd name="T20" fmla="*/ 85 w 722"/>
                <a:gd name="T21" fmla="*/ 204 h 894"/>
                <a:gd name="T22" fmla="*/ 90 w 722"/>
                <a:gd name="T23" fmla="*/ 211 h 894"/>
                <a:gd name="T24" fmla="*/ 82 w 722"/>
                <a:gd name="T25" fmla="*/ 220 h 894"/>
                <a:gd name="T26" fmla="*/ 91 w 722"/>
                <a:gd name="T27" fmla="*/ 224 h 894"/>
                <a:gd name="T28" fmla="*/ 106 w 722"/>
                <a:gd name="T29" fmla="*/ 209 h 894"/>
                <a:gd name="T30" fmla="*/ 113 w 722"/>
                <a:gd name="T31" fmla="*/ 217 h 894"/>
                <a:gd name="T32" fmla="*/ 133 w 722"/>
                <a:gd name="T33" fmla="*/ 218 h 894"/>
                <a:gd name="T34" fmla="*/ 140 w 722"/>
                <a:gd name="T35" fmla="*/ 222 h 894"/>
                <a:gd name="T36" fmla="*/ 154 w 722"/>
                <a:gd name="T37" fmla="*/ 207 h 894"/>
                <a:gd name="T38" fmla="*/ 162 w 722"/>
                <a:gd name="T39" fmla="*/ 188 h 894"/>
                <a:gd name="T40" fmla="*/ 169 w 722"/>
                <a:gd name="T41" fmla="*/ 178 h 894"/>
                <a:gd name="T42" fmla="*/ 176 w 722"/>
                <a:gd name="T43" fmla="*/ 175 h 894"/>
                <a:gd name="T44" fmla="*/ 171 w 722"/>
                <a:gd name="T45" fmla="*/ 164 h 894"/>
                <a:gd name="T46" fmla="*/ 181 w 722"/>
                <a:gd name="T47" fmla="*/ 151 h 894"/>
                <a:gd name="T48" fmla="*/ 180 w 722"/>
                <a:gd name="T49" fmla="*/ 141 h 894"/>
                <a:gd name="T50" fmla="*/ 173 w 722"/>
                <a:gd name="T51" fmla="*/ 142 h 894"/>
                <a:gd name="T52" fmla="*/ 162 w 722"/>
                <a:gd name="T53" fmla="*/ 138 h 894"/>
                <a:gd name="T54" fmla="*/ 150 w 722"/>
                <a:gd name="T55" fmla="*/ 142 h 894"/>
                <a:gd name="T56" fmla="*/ 147 w 722"/>
                <a:gd name="T57" fmla="*/ 127 h 894"/>
                <a:gd name="T58" fmla="*/ 134 w 722"/>
                <a:gd name="T59" fmla="*/ 120 h 894"/>
                <a:gd name="T60" fmla="*/ 131 w 722"/>
                <a:gd name="T61" fmla="*/ 108 h 894"/>
                <a:gd name="T62" fmla="*/ 138 w 722"/>
                <a:gd name="T63" fmla="*/ 97 h 894"/>
                <a:gd name="T64" fmla="*/ 124 w 722"/>
                <a:gd name="T65" fmla="*/ 83 h 894"/>
                <a:gd name="T66" fmla="*/ 108 w 722"/>
                <a:gd name="T67" fmla="*/ 63 h 894"/>
                <a:gd name="T68" fmla="*/ 109 w 722"/>
                <a:gd name="T69" fmla="*/ 47 h 894"/>
                <a:gd name="T70" fmla="*/ 101 w 722"/>
                <a:gd name="T71" fmla="*/ 42 h 894"/>
                <a:gd name="T72" fmla="*/ 93 w 722"/>
                <a:gd name="T73" fmla="*/ 44 h 894"/>
                <a:gd name="T74" fmla="*/ 90 w 722"/>
                <a:gd name="T75" fmla="*/ 35 h 894"/>
                <a:gd name="T76" fmla="*/ 73 w 722"/>
                <a:gd name="T77" fmla="*/ 34 h 894"/>
                <a:gd name="T78" fmla="*/ 77 w 722"/>
                <a:gd name="T79" fmla="*/ 12 h 894"/>
                <a:gd name="T80" fmla="*/ 69 w 722"/>
                <a:gd name="T81" fmla="*/ 15 h 894"/>
                <a:gd name="T82" fmla="*/ 53 w 722"/>
                <a:gd name="T83" fmla="*/ 0 h 894"/>
                <a:gd name="T84" fmla="*/ 45 w 722"/>
                <a:gd name="T85" fmla="*/ 4 h 894"/>
                <a:gd name="T86" fmla="*/ 40 w 722"/>
                <a:gd name="T87" fmla="*/ 16 h 894"/>
                <a:gd name="T88" fmla="*/ 35 w 722"/>
                <a:gd name="T89" fmla="*/ 17 h 894"/>
                <a:gd name="T90" fmla="*/ 38 w 722"/>
                <a:gd name="T91" fmla="*/ 26 h 894"/>
                <a:gd name="T92" fmla="*/ 51 w 722"/>
                <a:gd name="T93" fmla="*/ 30 h 894"/>
                <a:gd name="T94" fmla="*/ 55 w 722"/>
                <a:gd name="T95" fmla="*/ 46 h 894"/>
                <a:gd name="T96" fmla="*/ 42 w 722"/>
                <a:gd name="T97" fmla="*/ 54 h 894"/>
                <a:gd name="T98" fmla="*/ 28 w 722"/>
                <a:gd name="T99" fmla="*/ 42 h 894"/>
                <a:gd name="T100" fmla="*/ 17 w 722"/>
                <a:gd name="T101" fmla="*/ 49 h 894"/>
                <a:gd name="T102" fmla="*/ 22 w 722"/>
                <a:gd name="T103" fmla="*/ 62 h 894"/>
                <a:gd name="T104" fmla="*/ 12 w 722"/>
                <a:gd name="T105" fmla="*/ 71 h 894"/>
                <a:gd name="T106" fmla="*/ 13 w 722"/>
                <a:gd name="T107" fmla="*/ 84 h 894"/>
                <a:gd name="T108" fmla="*/ 0 w 722"/>
                <a:gd name="T109" fmla="*/ 88 h 894"/>
                <a:gd name="T110" fmla="*/ 11 w 722"/>
                <a:gd name="T111" fmla="*/ 96 h 894"/>
                <a:gd name="T112" fmla="*/ 24 w 722"/>
                <a:gd name="T113" fmla="*/ 112 h 894"/>
                <a:gd name="T114" fmla="*/ 40 w 722"/>
                <a:gd name="T115" fmla="*/ 103 h 894"/>
                <a:gd name="T116" fmla="*/ 44 w 722"/>
                <a:gd name="T117" fmla="*/ 118 h 894"/>
                <a:gd name="T118" fmla="*/ 43 w 722"/>
                <a:gd name="T119" fmla="*/ 134 h 894"/>
                <a:gd name="T120" fmla="*/ 24 w 722"/>
                <a:gd name="T121" fmla="*/ 144 h 894"/>
                <a:gd name="T122" fmla="*/ 19 w 722"/>
                <a:gd name="T123" fmla="*/ 148 h 8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22"/>
                <a:gd name="T187" fmla="*/ 0 h 894"/>
                <a:gd name="T188" fmla="*/ 722 w 722"/>
                <a:gd name="T189" fmla="*/ 894 h 8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22" h="894">
                  <a:moveTo>
                    <a:pt x="74" y="591"/>
                  </a:moveTo>
                  <a:lnTo>
                    <a:pt x="94" y="620"/>
                  </a:lnTo>
                  <a:lnTo>
                    <a:pt x="133" y="652"/>
                  </a:lnTo>
                  <a:lnTo>
                    <a:pt x="165" y="650"/>
                  </a:lnTo>
                  <a:lnTo>
                    <a:pt x="202" y="669"/>
                  </a:lnTo>
                  <a:lnTo>
                    <a:pt x="202" y="766"/>
                  </a:lnTo>
                  <a:lnTo>
                    <a:pt x="234" y="807"/>
                  </a:lnTo>
                  <a:lnTo>
                    <a:pt x="250" y="868"/>
                  </a:lnTo>
                  <a:lnTo>
                    <a:pt x="267" y="872"/>
                  </a:lnTo>
                  <a:lnTo>
                    <a:pt x="303" y="827"/>
                  </a:lnTo>
                  <a:lnTo>
                    <a:pt x="338" y="815"/>
                  </a:lnTo>
                  <a:lnTo>
                    <a:pt x="358" y="841"/>
                  </a:lnTo>
                  <a:lnTo>
                    <a:pt x="326" y="878"/>
                  </a:lnTo>
                  <a:lnTo>
                    <a:pt x="366" y="894"/>
                  </a:lnTo>
                  <a:lnTo>
                    <a:pt x="425" y="833"/>
                  </a:lnTo>
                  <a:lnTo>
                    <a:pt x="454" y="868"/>
                  </a:lnTo>
                  <a:lnTo>
                    <a:pt x="531" y="870"/>
                  </a:lnTo>
                  <a:lnTo>
                    <a:pt x="557" y="886"/>
                  </a:lnTo>
                  <a:lnTo>
                    <a:pt x="616" y="825"/>
                  </a:lnTo>
                  <a:lnTo>
                    <a:pt x="645" y="752"/>
                  </a:lnTo>
                  <a:lnTo>
                    <a:pt x="673" y="709"/>
                  </a:lnTo>
                  <a:lnTo>
                    <a:pt x="704" y="697"/>
                  </a:lnTo>
                  <a:lnTo>
                    <a:pt x="683" y="654"/>
                  </a:lnTo>
                  <a:lnTo>
                    <a:pt x="722" y="604"/>
                  </a:lnTo>
                  <a:lnTo>
                    <a:pt x="720" y="563"/>
                  </a:lnTo>
                  <a:lnTo>
                    <a:pt x="689" y="567"/>
                  </a:lnTo>
                  <a:lnTo>
                    <a:pt x="647" y="551"/>
                  </a:lnTo>
                  <a:lnTo>
                    <a:pt x="598" y="567"/>
                  </a:lnTo>
                  <a:lnTo>
                    <a:pt x="588" y="508"/>
                  </a:lnTo>
                  <a:lnTo>
                    <a:pt x="533" y="482"/>
                  </a:lnTo>
                  <a:lnTo>
                    <a:pt x="521" y="429"/>
                  </a:lnTo>
                  <a:lnTo>
                    <a:pt x="549" y="386"/>
                  </a:lnTo>
                  <a:lnTo>
                    <a:pt x="496" y="331"/>
                  </a:lnTo>
                  <a:lnTo>
                    <a:pt x="431" y="252"/>
                  </a:lnTo>
                  <a:lnTo>
                    <a:pt x="435" y="185"/>
                  </a:lnTo>
                  <a:lnTo>
                    <a:pt x="403" y="166"/>
                  </a:lnTo>
                  <a:lnTo>
                    <a:pt x="374" y="173"/>
                  </a:lnTo>
                  <a:lnTo>
                    <a:pt x="358" y="138"/>
                  </a:lnTo>
                  <a:lnTo>
                    <a:pt x="291" y="136"/>
                  </a:lnTo>
                  <a:lnTo>
                    <a:pt x="305" y="47"/>
                  </a:lnTo>
                  <a:lnTo>
                    <a:pt x="273" y="61"/>
                  </a:lnTo>
                  <a:lnTo>
                    <a:pt x="214" y="0"/>
                  </a:lnTo>
                  <a:lnTo>
                    <a:pt x="177" y="16"/>
                  </a:lnTo>
                  <a:lnTo>
                    <a:pt x="157" y="63"/>
                  </a:lnTo>
                  <a:lnTo>
                    <a:pt x="137" y="67"/>
                  </a:lnTo>
                  <a:lnTo>
                    <a:pt x="149" y="101"/>
                  </a:lnTo>
                  <a:lnTo>
                    <a:pt x="204" y="122"/>
                  </a:lnTo>
                  <a:lnTo>
                    <a:pt x="222" y="183"/>
                  </a:lnTo>
                  <a:lnTo>
                    <a:pt x="167" y="215"/>
                  </a:lnTo>
                  <a:lnTo>
                    <a:pt x="114" y="166"/>
                  </a:lnTo>
                  <a:lnTo>
                    <a:pt x="67" y="195"/>
                  </a:lnTo>
                  <a:lnTo>
                    <a:pt x="86" y="250"/>
                  </a:lnTo>
                  <a:lnTo>
                    <a:pt x="49" y="282"/>
                  </a:lnTo>
                  <a:lnTo>
                    <a:pt x="53" y="335"/>
                  </a:lnTo>
                  <a:lnTo>
                    <a:pt x="0" y="349"/>
                  </a:lnTo>
                  <a:lnTo>
                    <a:pt x="43" y="384"/>
                  </a:lnTo>
                  <a:lnTo>
                    <a:pt x="98" y="447"/>
                  </a:lnTo>
                  <a:lnTo>
                    <a:pt x="157" y="410"/>
                  </a:lnTo>
                  <a:lnTo>
                    <a:pt x="175" y="473"/>
                  </a:lnTo>
                  <a:lnTo>
                    <a:pt x="171" y="536"/>
                  </a:lnTo>
                  <a:lnTo>
                    <a:pt x="96" y="575"/>
                  </a:lnTo>
                  <a:lnTo>
                    <a:pt x="74" y="591"/>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7" name="Freeform 121"/>
            <p:cNvSpPr/>
            <p:nvPr/>
          </p:nvSpPr>
          <p:spPr bwMode="gray">
            <a:xfrm>
              <a:off x="3034" y="2686"/>
              <a:ext cx="568" cy="356"/>
            </a:xfrm>
            <a:custGeom>
              <a:avLst/>
              <a:gdLst>
                <a:gd name="T0" fmla="*/ 40 w 1136"/>
                <a:gd name="T1" fmla="*/ 51 h 713"/>
                <a:gd name="T2" fmla="*/ 52 w 1136"/>
                <a:gd name="T3" fmla="*/ 64 h 713"/>
                <a:gd name="T4" fmla="*/ 58 w 1136"/>
                <a:gd name="T5" fmla="*/ 104 h 713"/>
                <a:gd name="T6" fmla="*/ 35 w 1136"/>
                <a:gd name="T7" fmla="*/ 118 h 713"/>
                <a:gd name="T8" fmla="*/ 0 w 1136"/>
                <a:gd name="T9" fmla="*/ 129 h 713"/>
                <a:gd name="T10" fmla="*/ 20 w 1136"/>
                <a:gd name="T11" fmla="*/ 167 h 713"/>
                <a:gd name="T12" fmla="*/ 40 w 1136"/>
                <a:gd name="T13" fmla="*/ 162 h 713"/>
                <a:gd name="T14" fmla="*/ 80 w 1136"/>
                <a:gd name="T15" fmla="*/ 153 h 713"/>
                <a:gd name="T16" fmla="*/ 76 w 1136"/>
                <a:gd name="T17" fmla="*/ 136 h 713"/>
                <a:gd name="T18" fmla="*/ 115 w 1136"/>
                <a:gd name="T19" fmla="*/ 138 h 713"/>
                <a:gd name="T20" fmla="*/ 147 w 1136"/>
                <a:gd name="T21" fmla="*/ 149 h 713"/>
                <a:gd name="T22" fmla="*/ 170 w 1136"/>
                <a:gd name="T23" fmla="*/ 142 h 713"/>
                <a:gd name="T24" fmla="*/ 189 w 1136"/>
                <a:gd name="T25" fmla="*/ 138 h 713"/>
                <a:gd name="T26" fmla="*/ 196 w 1136"/>
                <a:gd name="T27" fmla="*/ 160 h 713"/>
                <a:gd name="T28" fmla="*/ 221 w 1136"/>
                <a:gd name="T29" fmla="*/ 152 h 713"/>
                <a:gd name="T30" fmla="*/ 247 w 1136"/>
                <a:gd name="T31" fmla="*/ 135 h 713"/>
                <a:gd name="T32" fmla="*/ 264 w 1136"/>
                <a:gd name="T33" fmla="*/ 124 h 713"/>
                <a:gd name="T34" fmla="*/ 284 w 1136"/>
                <a:gd name="T35" fmla="*/ 122 h 713"/>
                <a:gd name="T36" fmla="*/ 272 w 1136"/>
                <a:gd name="T37" fmla="*/ 97 h 713"/>
                <a:gd name="T38" fmla="*/ 263 w 1136"/>
                <a:gd name="T39" fmla="*/ 68 h 713"/>
                <a:gd name="T40" fmla="*/ 245 w 1136"/>
                <a:gd name="T41" fmla="*/ 60 h 713"/>
                <a:gd name="T42" fmla="*/ 225 w 1136"/>
                <a:gd name="T43" fmla="*/ 59 h 713"/>
                <a:gd name="T44" fmla="*/ 196 w 1136"/>
                <a:gd name="T45" fmla="*/ 50 h 713"/>
                <a:gd name="T46" fmla="*/ 186 w 1136"/>
                <a:gd name="T47" fmla="*/ 24 h 713"/>
                <a:gd name="T48" fmla="*/ 157 w 1136"/>
                <a:gd name="T49" fmla="*/ 26 h 713"/>
                <a:gd name="T50" fmla="*/ 107 w 1136"/>
                <a:gd name="T51" fmla="*/ 21 h 713"/>
                <a:gd name="T52" fmla="*/ 71 w 1136"/>
                <a:gd name="T53" fmla="*/ 6 h 713"/>
                <a:gd name="T54" fmla="*/ 50 w 1136"/>
                <a:gd name="T55" fmla="*/ 4 h 713"/>
                <a:gd name="T56" fmla="*/ 43 w 1136"/>
                <a:gd name="T57" fmla="*/ 2 h 713"/>
                <a:gd name="T58" fmla="*/ 35 w 1136"/>
                <a:gd name="T59" fmla="*/ 1 h 713"/>
                <a:gd name="T60" fmla="*/ 34 w 1136"/>
                <a:gd name="T61" fmla="*/ 2 h 713"/>
                <a:gd name="T62" fmla="*/ 31 w 1136"/>
                <a:gd name="T63" fmla="*/ 7 h 713"/>
                <a:gd name="T64" fmla="*/ 29 w 1136"/>
                <a:gd name="T65" fmla="*/ 9 h 713"/>
                <a:gd name="T66" fmla="*/ 54 w 1136"/>
                <a:gd name="T67" fmla="*/ 24 h 713"/>
                <a:gd name="T68" fmla="*/ 33 w 1136"/>
                <a:gd name="T69" fmla="*/ 42 h 7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36"/>
                <a:gd name="T106" fmla="*/ 0 h 713"/>
                <a:gd name="T107" fmla="*/ 1136 w 1136"/>
                <a:gd name="T108" fmla="*/ 713 h 7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36" h="713">
                  <a:moveTo>
                    <a:pt x="130" y="169"/>
                  </a:moveTo>
                  <a:lnTo>
                    <a:pt x="159" y="205"/>
                  </a:lnTo>
                  <a:lnTo>
                    <a:pt x="157" y="258"/>
                  </a:lnTo>
                  <a:lnTo>
                    <a:pt x="208" y="256"/>
                  </a:lnTo>
                  <a:lnTo>
                    <a:pt x="236" y="331"/>
                  </a:lnTo>
                  <a:lnTo>
                    <a:pt x="234" y="417"/>
                  </a:lnTo>
                  <a:lnTo>
                    <a:pt x="183" y="425"/>
                  </a:lnTo>
                  <a:lnTo>
                    <a:pt x="140" y="474"/>
                  </a:lnTo>
                  <a:lnTo>
                    <a:pt x="33" y="482"/>
                  </a:lnTo>
                  <a:lnTo>
                    <a:pt x="0" y="516"/>
                  </a:lnTo>
                  <a:lnTo>
                    <a:pt x="23" y="591"/>
                  </a:lnTo>
                  <a:lnTo>
                    <a:pt x="82" y="671"/>
                  </a:lnTo>
                  <a:lnTo>
                    <a:pt x="134" y="713"/>
                  </a:lnTo>
                  <a:lnTo>
                    <a:pt x="161" y="648"/>
                  </a:lnTo>
                  <a:lnTo>
                    <a:pt x="220" y="596"/>
                  </a:lnTo>
                  <a:lnTo>
                    <a:pt x="319" y="612"/>
                  </a:lnTo>
                  <a:lnTo>
                    <a:pt x="332" y="585"/>
                  </a:lnTo>
                  <a:lnTo>
                    <a:pt x="303" y="545"/>
                  </a:lnTo>
                  <a:lnTo>
                    <a:pt x="372" y="528"/>
                  </a:lnTo>
                  <a:lnTo>
                    <a:pt x="460" y="555"/>
                  </a:lnTo>
                  <a:lnTo>
                    <a:pt x="531" y="559"/>
                  </a:lnTo>
                  <a:lnTo>
                    <a:pt x="588" y="598"/>
                  </a:lnTo>
                  <a:lnTo>
                    <a:pt x="649" y="563"/>
                  </a:lnTo>
                  <a:lnTo>
                    <a:pt x="681" y="569"/>
                  </a:lnTo>
                  <a:lnTo>
                    <a:pt x="687" y="600"/>
                  </a:lnTo>
                  <a:lnTo>
                    <a:pt x="758" y="553"/>
                  </a:lnTo>
                  <a:lnTo>
                    <a:pt x="791" y="587"/>
                  </a:lnTo>
                  <a:lnTo>
                    <a:pt x="785" y="640"/>
                  </a:lnTo>
                  <a:lnTo>
                    <a:pt x="832" y="654"/>
                  </a:lnTo>
                  <a:lnTo>
                    <a:pt x="884" y="608"/>
                  </a:lnTo>
                  <a:lnTo>
                    <a:pt x="947" y="594"/>
                  </a:lnTo>
                  <a:lnTo>
                    <a:pt x="988" y="543"/>
                  </a:lnTo>
                  <a:lnTo>
                    <a:pt x="1019" y="533"/>
                  </a:lnTo>
                  <a:lnTo>
                    <a:pt x="1055" y="496"/>
                  </a:lnTo>
                  <a:lnTo>
                    <a:pt x="1108" y="516"/>
                  </a:lnTo>
                  <a:lnTo>
                    <a:pt x="1136" y="490"/>
                  </a:lnTo>
                  <a:lnTo>
                    <a:pt x="1122" y="431"/>
                  </a:lnTo>
                  <a:lnTo>
                    <a:pt x="1088" y="388"/>
                  </a:lnTo>
                  <a:lnTo>
                    <a:pt x="1088" y="291"/>
                  </a:lnTo>
                  <a:lnTo>
                    <a:pt x="1051" y="272"/>
                  </a:lnTo>
                  <a:lnTo>
                    <a:pt x="1019" y="274"/>
                  </a:lnTo>
                  <a:lnTo>
                    <a:pt x="980" y="242"/>
                  </a:lnTo>
                  <a:lnTo>
                    <a:pt x="960" y="213"/>
                  </a:lnTo>
                  <a:lnTo>
                    <a:pt x="901" y="236"/>
                  </a:lnTo>
                  <a:lnTo>
                    <a:pt x="836" y="187"/>
                  </a:lnTo>
                  <a:lnTo>
                    <a:pt x="783" y="203"/>
                  </a:lnTo>
                  <a:lnTo>
                    <a:pt x="748" y="160"/>
                  </a:lnTo>
                  <a:lnTo>
                    <a:pt x="744" y="98"/>
                  </a:lnTo>
                  <a:lnTo>
                    <a:pt x="677" y="126"/>
                  </a:lnTo>
                  <a:lnTo>
                    <a:pt x="628" y="106"/>
                  </a:lnTo>
                  <a:lnTo>
                    <a:pt x="514" y="124"/>
                  </a:lnTo>
                  <a:lnTo>
                    <a:pt x="427" y="87"/>
                  </a:lnTo>
                  <a:lnTo>
                    <a:pt x="329" y="0"/>
                  </a:lnTo>
                  <a:lnTo>
                    <a:pt x="283" y="24"/>
                  </a:lnTo>
                  <a:lnTo>
                    <a:pt x="205" y="18"/>
                  </a:lnTo>
                  <a:lnTo>
                    <a:pt x="201" y="16"/>
                  </a:lnTo>
                  <a:lnTo>
                    <a:pt x="187" y="14"/>
                  </a:lnTo>
                  <a:lnTo>
                    <a:pt x="171" y="10"/>
                  </a:lnTo>
                  <a:lnTo>
                    <a:pt x="153" y="6"/>
                  </a:lnTo>
                  <a:lnTo>
                    <a:pt x="140" y="4"/>
                  </a:lnTo>
                  <a:lnTo>
                    <a:pt x="136" y="4"/>
                  </a:lnTo>
                  <a:lnTo>
                    <a:pt x="134" y="8"/>
                  </a:lnTo>
                  <a:lnTo>
                    <a:pt x="130" y="18"/>
                  </a:lnTo>
                  <a:lnTo>
                    <a:pt x="124" y="28"/>
                  </a:lnTo>
                  <a:lnTo>
                    <a:pt x="120" y="36"/>
                  </a:lnTo>
                  <a:lnTo>
                    <a:pt x="118" y="39"/>
                  </a:lnTo>
                  <a:lnTo>
                    <a:pt x="181" y="79"/>
                  </a:lnTo>
                  <a:lnTo>
                    <a:pt x="216" y="98"/>
                  </a:lnTo>
                  <a:lnTo>
                    <a:pt x="151" y="140"/>
                  </a:lnTo>
                  <a:lnTo>
                    <a:pt x="130" y="169"/>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8" name="Freeform 122"/>
            <p:cNvSpPr/>
            <p:nvPr/>
          </p:nvSpPr>
          <p:spPr bwMode="gray">
            <a:xfrm>
              <a:off x="3034" y="2686"/>
              <a:ext cx="568" cy="356"/>
            </a:xfrm>
            <a:custGeom>
              <a:avLst/>
              <a:gdLst>
                <a:gd name="T0" fmla="*/ 40 w 1136"/>
                <a:gd name="T1" fmla="*/ 51 h 713"/>
                <a:gd name="T2" fmla="*/ 52 w 1136"/>
                <a:gd name="T3" fmla="*/ 64 h 713"/>
                <a:gd name="T4" fmla="*/ 58 w 1136"/>
                <a:gd name="T5" fmla="*/ 104 h 713"/>
                <a:gd name="T6" fmla="*/ 35 w 1136"/>
                <a:gd name="T7" fmla="*/ 118 h 713"/>
                <a:gd name="T8" fmla="*/ 0 w 1136"/>
                <a:gd name="T9" fmla="*/ 129 h 713"/>
                <a:gd name="T10" fmla="*/ 20 w 1136"/>
                <a:gd name="T11" fmla="*/ 167 h 713"/>
                <a:gd name="T12" fmla="*/ 40 w 1136"/>
                <a:gd name="T13" fmla="*/ 162 h 713"/>
                <a:gd name="T14" fmla="*/ 80 w 1136"/>
                <a:gd name="T15" fmla="*/ 153 h 713"/>
                <a:gd name="T16" fmla="*/ 76 w 1136"/>
                <a:gd name="T17" fmla="*/ 136 h 713"/>
                <a:gd name="T18" fmla="*/ 115 w 1136"/>
                <a:gd name="T19" fmla="*/ 138 h 713"/>
                <a:gd name="T20" fmla="*/ 147 w 1136"/>
                <a:gd name="T21" fmla="*/ 149 h 713"/>
                <a:gd name="T22" fmla="*/ 170 w 1136"/>
                <a:gd name="T23" fmla="*/ 142 h 713"/>
                <a:gd name="T24" fmla="*/ 189 w 1136"/>
                <a:gd name="T25" fmla="*/ 138 h 713"/>
                <a:gd name="T26" fmla="*/ 196 w 1136"/>
                <a:gd name="T27" fmla="*/ 160 h 713"/>
                <a:gd name="T28" fmla="*/ 221 w 1136"/>
                <a:gd name="T29" fmla="*/ 152 h 713"/>
                <a:gd name="T30" fmla="*/ 247 w 1136"/>
                <a:gd name="T31" fmla="*/ 135 h 713"/>
                <a:gd name="T32" fmla="*/ 264 w 1136"/>
                <a:gd name="T33" fmla="*/ 124 h 713"/>
                <a:gd name="T34" fmla="*/ 284 w 1136"/>
                <a:gd name="T35" fmla="*/ 122 h 713"/>
                <a:gd name="T36" fmla="*/ 272 w 1136"/>
                <a:gd name="T37" fmla="*/ 97 h 713"/>
                <a:gd name="T38" fmla="*/ 263 w 1136"/>
                <a:gd name="T39" fmla="*/ 68 h 713"/>
                <a:gd name="T40" fmla="*/ 245 w 1136"/>
                <a:gd name="T41" fmla="*/ 60 h 713"/>
                <a:gd name="T42" fmla="*/ 225 w 1136"/>
                <a:gd name="T43" fmla="*/ 59 h 713"/>
                <a:gd name="T44" fmla="*/ 196 w 1136"/>
                <a:gd name="T45" fmla="*/ 50 h 713"/>
                <a:gd name="T46" fmla="*/ 186 w 1136"/>
                <a:gd name="T47" fmla="*/ 24 h 713"/>
                <a:gd name="T48" fmla="*/ 157 w 1136"/>
                <a:gd name="T49" fmla="*/ 26 h 713"/>
                <a:gd name="T50" fmla="*/ 107 w 1136"/>
                <a:gd name="T51" fmla="*/ 21 h 713"/>
                <a:gd name="T52" fmla="*/ 71 w 1136"/>
                <a:gd name="T53" fmla="*/ 6 h 713"/>
                <a:gd name="T54" fmla="*/ 50 w 1136"/>
                <a:gd name="T55" fmla="*/ 4 h 713"/>
                <a:gd name="T56" fmla="*/ 43 w 1136"/>
                <a:gd name="T57" fmla="*/ 2 h 713"/>
                <a:gd name="T58" fmla="*/ 35 w 1136"/>
                <a:gd name="T59" fmla="*/ 1 h 713"/>
                <a:gd name="T60" fmla="*/ 34 w 1136"/>
                <a:gd name="T61" fmla="*/ 2 h 713"/>
                <a:gd name="T62" fmla="*/ 31 w 1136"/>
                <a:gd name="T63" fmla="*/ 7 h 713"/>
                <a:gd name="T64" fmla="*/ 29 w 1136"/>
                <a:gd name="T65" fmla="*/ 9 h 713"/>
                <a:gd name="T66" fmla="*/ 54 w 1136"/>
                <a:gd name="T67" fmla="*/ 24 h 713"/>
                <a:gd name="T68" fmla="*/ 33 w 1136"/>
                <a:gd name="T69" fmla="*/ 42 h 7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36"/>
                <a:gd name="T106" fmla="*/ 0 h 713"/>
                <a:gd name="T107" fmla="*/ 1136 w 1136"/>
                <a:gd name="T108" fmla="*/ 713 h 7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36" h="713">
                  <a:moveTo>
                    <a:pt x="130" y="169"/>
                  </a:moveTo>
                  <a:lnTo>
                    <a:pt x="159" y="205"/>
                  </a:lnTo>
                  <a:lnTo>
                    <a:pt x="157" y="258"/>
                  </a:lnTo>
                  <a:lnTo>
                    <a:pt x="208" y="256"/>
                  </a:lnTo>
                  <a:lnTo>
                    <a:pt x="236" y="331"/>
                  </a:lnTo>
                  <a:lnTo>
                    <a:pt x="234" y="417"/>
                  </a:lnTo>
                  <a:lnTo>
                    <a:pt x="183" y="425"/>
                  </a:lnTo>
                  <a:lnTo>
                    <a:pt x="140" y="474"/>
                  </a:lnTo>
                  <a:lnTo>
                    <a:pt x="33" y="482"/>
                  </a:lnTo>
                  <a:lnTo>
                    <a:pt x="0" y="516"/>
                  </a:lnTo>
                  <a:lnTo>
                    <a:pt x="23" y="591"/>
                  </a:lnTo>
                  <a:lnTo>
                    <a:pt x="82" y="671"/>
                  </a:lnTo>
                  <a:lnTo>
                    <a:pt x="134" y="713"/>
                  </a:lnTo>
                  <a:lnTo>
                    <a:pt x="161" y="648"/>
                  </a:lnTo>
                  <a:lnTo>
                    <a:pt x="220" y="596"/>
                  </a:lnTo>
                  <a:lnTo>
                    <a:pt x="319" y="612"/>
                  </a:lnTo>
                  <a:lnTo>
                    <a:pt x="332" y="585"/>
                  </a:lnTo>
                  <a:lnTo>
                    <a:pt x="303" y="545"/>
                  </a:lnTo>
                  <a:lnTo>
                    <a:pt x="372" y="528"/>
                  </a:lnTo>
                  <a:lnTo>
                    <a:pt x="460" y="555"/>
                  </a:lnTo>
                  <a:lnTo>
                    <a:pt x="531" y="559"/>
                  </a:lnTo>
                  <a:lnTo>
                    <a:pt x="588" y="598"/>
                  </a:lnTo>
                  <a:lnTo>
                    <a:pt x="649" y="563"/>
                  </a:lnTo>
                  <a:lnTo>
                    <a:pt x="681" y="569"/>
                  </a:lnTo>
                  <a:lnTo>
                    <a:pt x="687" y="600"/>
                  </a:lnTo>
                  <a:lnTo>
                    <a:pt x="758" y="553"/>
                  </a:lnTo>
                  <a:lnTo>
                    <a:pt x="791" y="587"/>
                  </a:lnTo>
                  <a:lnTo>
                    <a:pt x="785" y="640"/>
                  </a:lnTo>
                  <a:lnTo>
                    <a:pt x="832" y="654"/>
                  </a:lnTo>
                  <a:lnTo>
                    <a:pt x="884" y="608"/>
                  </a:lnTo>
                  <a:lnTo>
                    <a:pt x="947" y="594"/>
                  </a:lnTo>
                  <a:lnTo>
                    <a:pt x="988" y="543"/>
                  </a:lnTo>
                  <a:lnTo>
                    <a:pt x="1019" y="533"/>
                  </a:lnTo>
                  <a:lnTo>
                    <a:pt x="1055" y="496"/>
                  </a:lnTo>
                  <a:lnTo>
                    <a:pt x="1108" y="516"/>
                  </a:lnTo>
                  <a:lnTo>
                    <a:pt x="1136" y="490"/>
                  </a:lnTo>
                  <a:lnTo>
                    <a:pt x="1122" y="431"/>
                  </a:lnTo>
                  <a:lnTo>
                    <a:pt x="1088" y="388"/>
                  </a:lnTo>
                  <a:lnTo>
                    <a:pt x="1088" y="291"/>
                  </a:lnTo>
                  <a:lnTo>
                    <a:pt x="1051" y="272"/>
                  </a:lnTo>
                  <a:lnTo>
                    <a:pt x="1019" y="274"/>
                  </a:lnTo>
                  <a:lnTo>
                    <a:pt x="980" y="242"/>
                  </a:lnTo>
                  <a:lnTo>
                    <a:pt x="960" y="213"/>
                  </a:lnTo>
                  <a:lnTo>
                    <a:pt x="901" y="236"/>
                  </a:lnTo>
                  <a:lnTo>
                    <a:pt x="836" y="187"/>
                  </a:lnTo>
                  <a:lnTo>
                    <a:pt x="783" y="203"/>
                  </a:lnTo>
                  <a:lnTo>
                    <a:pt x="748" y="160"/>
                  </a:lnTo>
                  <a:lnTo>
                    <a:pt x="744" y="98"/>
                  </a:lnTo>
                  <a:lnTo>
                    <a:pt x="677" y="126"/>
                  </a:lnTo>
                  <a:lnTo>
                    <a:pt x="628" y="106"/>
                  </a:lnTo>
                  <a:lnTo>
                    <a:pt x="514" y="124"/>
                  </a:lnTo>
                  <a:lnTo>
                    <a:pt x="427" y="87"/>
                  </a:lnTo>
                  <a:lnTo>
                    <a:pt x="329" y="0"/>
                  </a:lnTo>
                  <a:lnTo>
                    <a:pt x="283" y="24"/>
                  </a:lnTo>
                  <a:lnTo>
                    <a:pt x="205" y="18"/>
                  </a:lnTo>
                  <a:lnTo>
                    <a:pt x="201" y="16"/>
                  </a:lnTo>
                  <a:lnTo>
                    <a:pt x="187" y="14"/>
                  </a:lnTo>
                  <a:lnTo>
                    <a:pt x="171" y="10"/>
                  </a:lnTo>
                  <a:lnTo>
                    <a:pt x="153" y="6"/>
                  </a:lnTo>
                  <a:lnTo>
                    <a:pt x="140" y="4"/>
                  </a:lnTo>
                  <a:lnTo>
                    <a:pt x="136" y="4"/>
                  </a:lnTo>
                  <a:lnTo>
                    <a:pt x="134" y="8"/>
                  </a:lnTo>
                  <a:lnTo>
                    <a:pt x="130" y="18"/>
                  </a:lnTo>
                  <a:lnTo>
                    <a:pt x="124" y="28"/>
                  </a:lnTo>
                  <a:lnTo>
                    <a:pt x="120" y="36"/>
                  </a:lnTo>
                  <a:lnTo>
                    <a:pt x="118" y="39"/>
                  </a:lnTo>
                  <a:lnTo>
                    <a:pt x="181" y="79"/>
                  </a:lnTo>
                  <a:lnTo>
                    <a:pt x="216" y="98"/>
                  </a:lnTo>
                  <a:lnTo>
                    <a:pt x="151" y="140"/>
                  </a:lnTo>
                  <a:lnTo>
                    <a:pt x="130" y="169"/>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99" name="Freeform 123"/>
            <p:cNvSpPr/>
            <p:nvPr/>
          </p:nvSpPr>
          <p:spPr bwMode="gray">
            <a:xfrm>
              <a:off x="3140" y="2406"/>
              <a:ext cx="448" cy="398"/>
            </a:xfrm>
            <a:custGeom>
              <a:avLst/>
              <a:gdLst>
                <a:gd name="T0" fmla="*/ 0 w 896"/>
                <a:gd name="T1" fmla="*/ 84 h 797"/>
                <a:gd name="T2" fmla="*/ 7 w 896"/>
                <a:gd name="T3" fmla="*/ 100 h 797"/>
                <a:gd name="T4" fmla="*/ 17 w 896"/>
                <a:gd name="T5" fmla="*/ 115 h 797"/>
                <a:gd name="T6" fmla="*/ 30 w 896"/>
                <a:gd name="T7" fmla="*/ 127 h 797"/>
                <a:gd name="T8" fmla="*/ 29 w 896"/>
                <a:gd name="T9" fmla="*/ 140 h 797"/>
                <a:gd name="T10" fmla="*/ 53 w 896"/>
                <a:gd name="T11" fmla="*/ 162 h 797"/>
                <a:gd name="T12" fmla="*/ 76 w 896"/>
                <a:gd name="T13" fmla="*/ 171 h 797"/>
                <a:gd name="T14" fmla="*/ 104 w 896"/>
                <a:gd name="T15" fmla="*/ 166 h 797"/>
                <a:gd name="T16" fmla="*/ 116 w 896"/>
                <a:gd name="T17" fmla="*/ 171 h 797"/>
                <a:gd name="T18" fmla="*/ 133 w 896"/>
                <a:gd name="T19" fmla="*/ 164 h 797"/>
                <a:gd name="T20" fmla="*/ 134 w 896"/>
                <a:gd name="T21" fmla="*/ 180 h 797"/>
                <a:gd name="T22" fmla="*/ 143 w 896"/>
                <a:gd name="T23" fmla="*/ 191 h 797"/>
                <a:gd name="T24" fmla="*/ 156 w 896"/>
                <a:gd name="T25" fmla="*/ 187 h 797"/>
                <a:gd name="T26" fmla="*/ 173 w 896"/>
                <a:gd name="T27" fmla="*/ 199 h 797"/>
                <a:gd name="T28" fmla="*/ 188 w 896"/>
                <a:gd name="T29" fmla="*/ 194 h 797"/>
                <a:gd name="T30" fmla="*/ 193 w 896"/>
                <a:gd name="T31" fmla="*/ 189 h 797"/>
                <a:gd name="T32" fmla="*/ 212 w 896"/>
                <a:gd name="T33" fmla="*/ 179 h 797"/>
                <a:gd name="T34" fmla="*/ 213 w 896"/>
                <a:gd name="T35" fmla="*/ 163 h 797"/>
                <a:gd name="T36" fmla="*/ 208 w 896"/>
                <a:gd name="T37" fmla="*/ 148 h 797"/>
                <a:gd name="T38" fmla="*/ 194 w 896"/>
                <a:gd name="T39" fmla="*/ 157 h 797"/>
                <a:gd name="T40" fmla="*/ 180 w 896"/>
                <a:gd name="T41" fmla="*/ 141 h 797"/>
                <a:gd name="T42" fmla="*/ 170 w 896"/>
                <a:gd name="T43" fmla="*/ 133 h 797"/>
                <a:gd name="T44" fmla="*/ 182 w 896"/>
                <a:gd name="T45" fmla="*/ 129 h 797"/>
                <a:gd name="T46" fmla="*/ 181 w 896"/>
                <a:gd name="T47" fmla="*/ 116 h 797"/>
                <a:gd name="T48" fmla="*/ 190 w 896"/>
                <a:gd name="T49" fmla="*/ 108 h 797"/>
                <a:gd name="T50" fmla="*/ 186 w 896"/>
                <a:gd name="T51" fmla="*/ 94 h 797"/>
                <a:gd name="T52" fmla="*/ 197 w 896"/>
                <a:gd name="T53" fmla="*/ 87 h 797"/>
                <a:gd name="T54" fmla="*/ 211 w 896"/>
                <a:gd name="T55" fmla="*/ 99 h 797"/>
                <a:gd name="T56" fmla="*/ 224 w 896"/>
                <a:gd name="T57" fmla="*/ 91 h 797"/>
                <a:gd name="T58" fmla="*/ 219 w 896"/>
                <a:gd name="T59" fmla="*/ 75 h 797"/>
                <a:gd name="T60" fmla="*/ 206 w 896"/>
                <a:gd name="T61" fmla="*/ 71 h 797"/>
                <a:gd name="T62" fmla="*/ 203 w 896"/>
                <a:gd name="T63" fmla="*/ 62 h 797"/>
                <a:gd name="T64" fmla="*/ 182 w 896"/>
                <a:gd name="T65" fmla="*/ 66 h 797"/>
                <a:gd name="T66" fmla="*/ 169 w 896"/>
                <a:gd name="T67" fmla="*/ 53 h 797"/>
                <a:gd name="T68" fmla="*/ 157 w 896"/>
                <a:gd name="T69" fmla="*/ 53 h 797"/>
                <a:gd name="T70" fmla="*/ 156 w 896"/>
                <a:gd name="T71" fmla="*/ 41 h 797"/>
                <a:gd name="T72" fmla="*/ 173 w 896"/>
                <a:gd name="T73" fmla="*/ 20 h 797"/>
                <a:gd name="T74" fmla="*/ 171 w 896"/>
                <a:gd name="T75" fmla="*/ 3 h 797"/>
                <a:gd name="T76" fmla="*/ 153 w 896"/>
                <a:gd name="T77" fmla="*/ 6 h 797"/>
                <a:gd name="T78" fmla="*/ 112 w 896"/>
                <a:gd name="T79" fmla="*/ 0 h 797"/>
                <a:gd name="T80" fmla="*/ 110 w 896"/>
                <a:gd name="T81" fmla="*/ 32 h 797"/>
                <a:gd name="T82" fmla="*/ 89 w 896"/>
                <a:gd name="T83" fmla="*/ 49 h 797"/>
                <a:gd name="T84" fmla="*/ 72 w 896"/>
                <a:gd name="T85" fmla="*/ 52 h 797"/>
                <a:gd name="T86" fmla="*/ 42 w 896"/>
                <a:gd name="T87" fmla="*/ 71 h 797"/>
                <a:gd name="T88" fmla="*/ 25 w 896"/>
                <a:gd name="T89" fmla="*/ 79 h 797"/>
                <a:gd name="T90" fmla="*/ 0 w 896"/>
                <a:gd name="T91" fmla="*/ 84 h 7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896"/>
                <a:gd name="T139" fmla="*/ 0 h 797"/>
                <a:gd name="T140" fmla="*/ 896 w 896"/>
                <a:gd name="T141" fmla="*/ 797 h 7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896" h="797">
                  <a:moveTo>
                    <a:pt x="0" y="339"/>
                  </a:moveTo>
                  <a:lnTo>
                    <a:pt x="28" y="402"/>
                  </a:lnTo>
                  <a:lnTo>
                    <a:pt x="65" y="463"/>
                  </a:lnTo>
                  <a:lnTo>
                    <a:pt x="120" y="510"/>
                  </a:lnTo>
                  <a:lnTo>
                    <a:pt x="117" y="561"/>
                  </a:lnTo>
                  <a:lnTo>
                    <a:pt x="211" y="648"/>
                  </a:lnTo>
                  <a:lnTo>
                    <a:pt x="302" y="685"/>
                  </a:lnTo>
                  <a:lnTo>
                    <a:pt x="416" y="667"/>
                  </a:lnTo>
                  <a:lnTo>
                    <a:pt x="465" y="687"/>
                  </a:lnTo>
                  <a:lnTo>
                    <a:pt x="532" y="659"/>
                  </a:lnTo>
                  <a:lnTo>
                    <a:pt x="536" y="721"/>
                  </a:lnTo>
                  <a:lnTo>
                    <a:pt x="571" y="764"/>
                  </a:lnTo>
                  <a:lnTo>
                    <a:pt x="624" y="748"/>
                  </a:lnTo>
                  <a:lnTo>
                    <a:pt x="689" y="797"/>
                  </a:lnTo>
                  <a:lnTo>
                    <a:pt x="750" y="776"/>
                  </a:lnTo>
                  <a:lnTo>
                    <a:pt x="772" y="756"/>
                  </a:lnTo>
                  <a:lnTo>
                    <a:pt x="845" y="719"/>
                  </a:lnTo>
                  <a:lnTo>
                    <a:pt x="851" y="654"/>
                  </a:lnTo>
                  <a:lnTo>
                    <a:pt x="831" y="595"/>
                  </a:lnTo>
                  <a:lnTo>
                    <a:pt x="774" y="630"/>
                  </a:lnTo>
                  <a:lnTo>
                    <a:pt x="717" y="567"/>
                  </a:lnTo>
                  <a:lnTo>
                    <a:pt x="678" y="534"/>
                  </a:lnTo>
                  <a:lnTo>
                    <a:pt x="727" y="518"/>
                  </a:lnTo>
                  <a:lnTo>
                    <a:pt x="723" y="465"/>
                  </a:lnTo>
                  <a:lnTo>
                    <a:pt x="760" y="433"/>
                  </a:lnTo>
                  <a:lnTo>
                    <a:pt x="743" y="378"/>
                  </a:lnTo>
                  <a:lnTo>
                    <a:pt x="788" y="349"/>
                  </a:lnTo>
                  <a:lnTo>
                    <a:pt x="841" y="398"/>
                  </a:lnTo>
                  <a:lnTo>
                    <a:pt x="896" y="366"/>
                  </a:lnTo>
                  <a:lnTo>
                    <a:pt x="876" y="303"/>
                  </a:lnTo>
                  <a:lnTo>
                    <a:pt x="823" y="284"/>
                  </a:lnTo>
                  <a:lnTo>
                    <a:pt x="811" y="250"/>
                  </a:lnTo>
                  <a:lnTo>
                    <a:pt x="727" y="266"/>
                  </a:lnTo>
                  <a:lnTo>
                    <a:pt x="676" y="213"/>
                  </a:lnTo>
                  <a:lnTo>
                    <a:pt x="626" y="215"/>
                  </a:lnTo>
                  <a:lnTo>
                    <a:pt x="622" y="165"/>
                  </a:lnTo>
                  <a:lnTo>
                    <a:pt x="691" y="83"/>
                  </a:lnTo>
                  <a:lnTo>
                    <a:pt x="683" y="12"/>
                  </a:lnTo>
                  <a:lnTo>
                    <a:pt x="609" y="26"/>
                  </a:lnTo>
                  <a:lnTo>
                    <a:pt x="445" y="0"/>
                  </a:lnTo>
                  <a:lnTo>
                    <a:pt x="437" y="130"/>
                  </a:lnTo>
                  <a:lnTo>
                    <a:pt x="353" y="197"/>
                  </a:lnTo>
                  <a:lnTo>
                    <a:pt x="288" y="209"/>
                  </a:lnTo>
                  <a:lnTo>
                    <a:pt x="168" y="286"/>
                  </a:lnTo>
                  <a:lnTo>
                    <a:pt x="97" y="317"/>
                  </a:lnTo>
                  <a:lnTo>
                    <a:pt x="0" y="339"/>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100" name="Freeform 124"/>
            <p:cNvSpPr/>
            <p:nvPr/>
          </p:nvSpPr>
          <p:spPr bwMode="gray">
            <a:xfrm>
              <a:off x="3140" y="2406"/>
              <a:ext cx="448" cy="398"/>
            </a:xfrm>
            <a:custGeom>
              <a:avLst/>
              <a:gdLst>
                <a:gd name="T0" fmla="*/ 0 w 896"/>
                <a:gd name="T1" fmla="*/ 84 h 797"/>
                <a:gd name="T2" fmla="*/ 7 w 896"/>
                <a:gd name="T3" fmla="*/ 100 h 797"/>
                <a:gd name="T4" fmla="*/ 17 w 896"/>
                <a:gd name="T5" fmla="*/ 115 h 797"/>
                <a:gd name="T6" fmla="*/ 30 w 896"/>
                <a:gd name="T7" fmla="*/ 127 h 797"/>
                <a:gd name="T8" fmla="*/ 29 w 896"/>
                <a:gd name="T9" fmla="*/ 140 h 797"/>
                <a:gd name="T10" fmla="*/ 53 w 896"/>
                <a:gd name="T11" fmla="*/ 162 h 797"/>
                <a:gd name="T12" fmla="*/ 76 w 896"/>
                <a:gd name="T13" fmla="*/ 171 h 797"/>
                <a:gd name="T14" fmla="*/ 104 w 896"/>
                <a:gd name="T15" fmla="*/ 166 h 797"/>
                <a:gd name="T16" fmla="*/ 116 w 896"/>
                <a:gd name="T17" fmla="*/ 171 h 797"/>
                <a:gd name="T18" fmla="*/ 133 w 896"/>
                <a:gd name="T19" fmla="*/ 164 h 797"/>
                <a:gd name="T20" fmla="*/ 134 w 896"/>
                <a:gd name="T21" fmla="*/ 180 h 797"/>
                <a:gd name="T22" fmla="*/ 143 w 896"/>
                <a:gd name="T23" fmla="*/ 191 h 797"/>
                <a:gd name="T24" fmla="*/ 156 w 896"/>
                <a:gd name="T25" fmla="*/ 187 h 797"/>
                <a:gd name="T26" fmla="*/ 173 w 896"/>
                <a:gd name="T27" fmla="*/ 199 h 797"/>
                <a:gd name="T28" fmla="*/ 188 w 896"/>
                <a:gd name="T29" fmla="*/ 194 h 797"/>
                <a:gd name="T30" fmla="*/ 193 w 896"/>
                <a:gd name="T31" fmla="*/ 189 h 797"/>
                <a:gd name="T32" fmla="*/ 212 w 896"/>
                <a:gd name="T33" fmla="*/ 179 h 797"/>
                <a:gd name="T34" fmla="*/ 213 w 896"/>
                <a:gd name="T35" fmla="*/ 163 h 797"/>
                <a:gd name="T36" fmla="*/ 208 w 896"/>
                <a:gd name="T37" fmla="*/ 148 h 797"/>
                <a:gd name="T38" fmla="*/ 194 w 896"/>
                <a:gd name="T39" fmla="*/ 157 h 797"/>
                <a:gd name="T40" fmla="*/ 180 w 896"/>
                <a:gd name="T41" fmla="*/ 141 h 797"/>
                <a:gd name="T42" fmla="*/ 170 w 896"/>
                <a:gd name="T43" fmla="*/ 133 h 797"/>
                <a:gd name="T44" fmla="*/ 182 w 896"/>
                <a:gd name="T45" fmla="*/ 129 h 797"/>
                <a:gd name="T46" fmla="*/ 181 w 896"/>
                <a:gd name="T47" fmla="*/ 116 h 797"/>
                <a:gd name="T48" fmla="*/ 190 w 896"/>
                <a:gd name="T49" fmla="*/ 108 h 797"/>
                <a:gd name="T50" fmla="*/ 186 w 896"/>
                <a:gd name="T51" fmla="*/ 94 h 797"/>
                <a:gd name="T52" fmla="*/ 197 w 896"/>
                <a:gd name="T53" fmla="*/ 87 h 797"/>
                <a:gd name="T54" fmla="*/ 211 w 896"/>
                <a:gd name="T55" fmla="*/ 99 h 797"/>
                <a:gd name="T56" fmla="*/ 224 w 896"/>
                <a:gd name="T57" fmla="*/ 91 h 797"/>
                <a:gd name="T58" fmla="*/ 219 w 896"/>
                <a:gd name="T59" fmla="*/ 75 h 797"/>
                <a:gd name="T60" fmla="*/ 206 w 896"/>
                <a:gd name="T61" fmla="*/ 71 h 797"/>
                <a:gd name="T62" fmla="*/ 203 w 896"/>
                <a:gd name="T63" fmla="*/ 62 h 797"/>
                <a:gd name="T64" fmla="*/ 182 w 896"/>
                <a:gd name="T65" fmla="*/ 66 h 797"/>
                <a:gd name="T66" fmla="*/ 169 w 896"/>
                <a:gd name="T67" fmla="*/ 53 h 797"/>
                <a:gd name="T68" fmla="*/ 157 w 896"/>
                <a:gd name="T69" fmla="*/ 53 h 797"/>
                <a:gd name="T70" fmla="*/ 156 w 896"/>
                <a:gd name="T71" fmla="*/ 41 h 797"/>
                <a:gd name="T72" fmla="*/ 173 w 896"/>
                <a:gd name="T73" fmla="*/ 20 h 797"/>
                <a:gd name="T74" fmla="*/ 171 w 896"/>
                <a:gd name="T75" fmla="*/ 3 h 797"/>
                <a:gd name="T76" fmla="*/ 153 w 896"/>
                <a:gd name="T77" fmla="*/ 6 h 797"/>
                <a:gd name="T78" fmla="*/ 112 w 896"/>
                <a:gd name="T79" fmla="*/ 0 h 797"/>
                <a:gd name="T80" fmla="*/ 110 w 896"/>
                <a:gd name="T81" fmla="*/ 32 h 797"/>
                <a:gd name="T82" fmla="*/ 89 w 896"/>
                <a:gd name="T83" fmla="*/ 49 h 797"/>
                <a:gd name="T84" fmla="*/ 72 w 896"/>
                <a:gd name="T85" fmla="*/ 52 h 797"/>
                <a:gd name="T86" fmla="*/ 42 w 896"/>
                <a:gd name="T87" fmla="*/ 71 h 797"/>
                <a:gd name="T88" fmla="*/ 25 w 896"/>
                <a:gd name="T89" fmla="*/ 79 h 797"/>
                <a:gd name="T90" fmla="*/ 0 w 896"/>
                <a:gd name="T91" fmla="*/ 84 h 7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896"/>
                <a:gd name="T139" fmla="*/ 0 h 797"/>
                <a:gd name="T140" fmla="*/ 896 w 896"/>
                <a:gd name="T141" fmla="*/ 797 h 7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896" h="797">
                  <a:moveTo>
                    <a:pt x="0" y="339"/>
                  </a:moveTo>
                  <a:lnTo>
                    <a:pt x="28" y="402"/>
                  </a:lnTo>
                  <a:lnTo>
                    <a:pt x="65" y="463"/>
                  </a:lnTo>
                  <a:lnTo>
                    <a:pt x="120" y="510"/>
                  </a:lnTo>
                  <a:lnTo>
                    <a:pt x="117" y="561"/>
                  </a:lnTo>
                  <a:lnTo>
                    <a:pt x="211" y="648"/>
                  </a:lnTo>
                  <a:lnTo>
                    <a:pt x="302" y="685"/>
                  </a:lnTo>
                  <a:lnTo>
                    <a:pt x="416" y="667"/>
                  </a:lnTo>
                  <a:lnTo>
                    <a:pt x="465" y="687"/>
                  </a:lnTo>
                  <a:lnTo>
                    <a:pt x="532" y="659"/>
                  </a:lnTo>
                  <a:lnTo>
                    <a:pt x="536" y="721"/>
                  </a:lnTo>
                  <a:lnTo>
                    <a:pt x="571" y="764"/>
                  </a:lnTo>
                  <a:lnTo>
                    <a:pt x="624" y="748"/>
                  </a:lnTo>
                  <a:lnTo>
                    <a:pt x="689" y="797"/>
                  </a:lnTo>
                  <a:lnTo>
                    <a:pt x="750" y="776"/>
                  </a:lnTo>
                  <a:lnTo>
                    <a:pt x="772" y="756"/>
                  </a:lnTo>
                  <a:lnTo>
                    <a:pt x="845" y="719"/>
                  </a:lnTo>
                  <a:lnTo>
                    <a:pt x="851" y="654"/>
                  </a:lnTo>
                  <a:lnTo>
                    <a:pt x="831" y="595"/>
                  </a:lnTo>
                  <a:lnTo>
                    <a:pt x="774" y="630"/>
                  </a:lnTo>
                  <a:lnTo>
                    <a:pt x="717" y="567"/>
                  </a:lnTo>
                  <a:lnTo>
                    <a:pt x="678" y="534"/>
                  </a:lnTo>
                  <a:lnTo>
                    <a:pt x="727" y="518"/>
                  </a:lnTo>
                  <a:lnTo>
                    <a:pt x="723" y="465"/>
                  </a:lnTo>
                  <a:lnTo>
                    <a:pt x="760" y="433"/>
                  </a:lnTo>
                  <a:lnTo>
                    <a:pt x="743" y="378"/>
                  </a:lnTo>
                  <a:lnTo>
                    <a:pt x="788" y="349"/>
                  </a:lnTo>
                  <a:lnTo>
                    <a:pt x="841" y="398"/>
                  </a:lnTo>
                  <a:lnTo>
                    <a:pt x="896" y="366"/>
                  </a:lnTo>
                  <a:lnTo>
                    <a:pt x="876" y="303"/>
                  </a:lnTo>
                  <a:lnTo>
                    <a:pt x="823" y="284"/>
                  </a:lnTo>
                  <a:lnTo>
                    <a:pt x="811" y="250"/>
                  </a:lnTo>
                  <a:lnTo>
                    <a:pt x="727" y="266"/>
                  </a:lnTo>
                  <a:lnTo>
                    <a:pt x="676" y="213"/>
                  </a:lnTo>
                  <a:lnTo>
                    <a:pt x="626" y="215"/>
                  </a:lnTo>
                  <a:lnTo>
                    <a:pt x="622" y="165"/>
                  </a:lnTo>
                  <a:lnTo>
                    <a:pt x="691" y="83"/>
                  </a:lnTo>
                  <a:lnTo>
                    <a:pt x="683" y="12"/>
                  </a:lnTo>
                  <a:lnTo>
                    <a:pt x="609" y="26"/>
                  </a:lnTo>
                  <a:lnTo>
                    <a:pt x="445" y="0"/>
                  </a:lnTo>
                  <a:lnTo>
                    <a:pt x="437" y="130"/>
                  </a:lnTo>
                  <a:lnTo>
                    <a:pt x="353" y="197"/>
                  </a:lnTo>
                  <a:lnTo>
                    <a:pt x="288" y="209"/>
                  </a:lnTo>
                  <a:lnTo>
                    <a:pt x="168" y="286"/>
                  </a:lnTo>
                  <a:lnTo>
                    <a:pt x="97" y="317"/>
                  </a:lnTo>
                  <a:lnTo>
                    <a:pt x="0" y="339"/>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101" name="Freeform 125"/>
            <p:cNvSpPr/>
            <p:nvPr/>
          </p:nvSpPr>
          <p:spPr bwMode="gray">
            <a:xfrm>
              <a:off x="3128" y="2050"/>
              <a:ext cx="251" cy="526"/>
            </a:xfrm>
            <a:custGeom>
              <a:avLst/>
              <a:gdLst>
                <a:gd name="T0" fmla="*/ 7 w 502"/>
                <a:gd name="T1" fmla="*/ 236 h 1051"/>
                <a:gd name="T2" fmla="*/ 6 w 502"/>
                <a:gd name="T3" fmla="*/ 263 h 1051"/>
                <a:gd name="T4" fmla="*/ 30 w 502"/>
                <a:gd name="T5" fmla="*/ 257 h 1051"/>
                <a:gd name="T6" fmla="*/ 48 w 502"/>
                <a:gd name="T7" fmla="*/ 250 h 1051"/>
                <a:gd name="T8" fmla="*/ 78 w 502"/>
                <a:gd name="T9" fmla="*/ 230 h 1051"/>
                <a:gd name="T10" fmla="*/ 94 w 502"/>
                <a:gd name="T11" fmla="*/ 228 h 1051"/>
                <a:gd name="T12" fmla="*/ 115 w 502"/>
                <a:gd name="T13" fmla="*/ 210 h 1051"/>
                <a:gd name="T14" fmla="*/ 117 w 502"/>
                <a:gd name="T15" fmla="*/ 178 h 1051"/>
                <a:gd name="T16" fmla="*/ 108 w 502"/>
                <a:gd name="T17" fmla="*/ 169 h 1051"/>
                <a:gd name="T18" fmla="*/ 109 w 502"/>
                <a:gd name="T19" fmla="*/ 159 h 1051"/>
                <a:gd name="T20" fmla="*/ 115 w 502"/>
                <a:gd name="T21" fmla="*/ 150 h 1051"/>
                <a:gd name="T22" fmla="*/ 114 w 502"/>
                <a:gd name="T23" fmla="*/ 142 h 1051"/>
                <a:gd name="T24" fmla="*/ 121 w 502"/>
                <a:gd name="T25" fmla="*/ 126 h 1051"/>
                <a:gd name="T26" fmla="*/ 118 w 502"/>
                <a:gd name="T27" fmla="*/ 109 h 1051"/>
                <a:gd name="T28" fmla="*/ 99 w 502"/>
                <a:gd name="T29" fmla="*/ 99 h 1051"/>
                <a:gd name="T30" fmla="*/ 100 w 502"/>
                <a:gd name="T31" fmla="*/ 81 h 1051"/>
                <a:gd name="T32" fmla="*/ 108 w 502"/>
                <a:gd name="T33" fmla="*/ 74 h 1051"/>
                <a:gd name="T34" fmla="*/ 109 w 502"/>
                <a:gd name="T35" fmla="*/ 64 h 1051"/>
                <a:gd name="T36" fmla="*/ 119 w 502"/>
                <a:gd name="T37" fmla="*/ 60 h 1051"/>
                <a:gd name="T38" fmla="*/ 126 w 502"/>
                <a:gd name="T39" fmla="*/ 43 h 1051"/>
                <a:gd name="T40" fmla="*/ 119 w 502"/>
                <a:gd name="T41" fmla="*/ 31 h 1051"/>
                <a:gd name="T42" fmla="*/ 110 w 502"/>
                <a:gd name="T43" fmla="*/ 26 h 1051"/>
                <a:gd name="T44" fmla="*/ 111 w 502"/>
                <a:gd name="T45" fmla="*/ 16 h 1051"/>
                <a:gd name="T46" fmla="*/ 121 w 502"/>
                <a:gd name="T47" fmla="*/ 11 h 1051"/>
                <a:gd name="T48" fmla="*/ 114 w 502"/>
                <a:gd name="T49" fmla="*/ 0 h 1051"/>
                <a:gd name="T50" fmla="*/ 87 w 502"/>
                <a:gd name="T51" fmla="*/ 11 h 1051"/>
                <a:gd name="T52" fmla="*/ 72 w 502"/>
                <a:gd name="T53" fmla="*/ 11 h 1051"/>
                <a:gd name="T54" fmla="*/ 50 w 502"/>
                <a:gd name="T55" fmla="*/ 19 h 1051"/>
                <a:gd name="T56" fmla="*/ 38 w 502"/>
                <a:gd name="T57" fmla="*/ 49 h 1051"/>
                <a:gd name="T58" fmla="*/ 19 w 502"/>
                <a:gd name="T59" fmla="*/ 56 h 1051"/>
                <a:gd name="T60" fmla="*/ 19 w 502"/>
                <a:gd name="T61" fmla="*/ 73 h 1051"/>
                <a:gd name="T62" fmla="*/ 12 w 502"/>
                <a:gd name="T63" fmla="*/ 104 h 1051"/>
                <a:gd name="T64" fmla="*/ 0 w 502"/>
                <a:gd name="T65" fmla="*/ 117 h 1051"/>
                <a:gd name="T66" fmla="*/ 13 w 502"/>
                <a:gd name="T67" fmla="*/ 139 h 1051"/>
                <a:gd name="T68" fmla="*/ 4 w 502"/>
                <a:gd name="T69" fmla="*/ 164 h 1051"/>
                <a:gd name="T70" fmla="*/ 9 w 502"/>
                <a:gd name="T71" fmla="*/ 198 h 1051"/>
                <a:gd name="T72" fmla="*/ 15 w 502"/>
                <a:gd name="T73" fmla="*/ 220 h 1051"/>
                <a:gd name="T74" fmla="*/ 7 w 502"/>
                <a:gd name="T75" fmla="*/ 236 h 105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02"/>
                <a:gd name="T115" fmla="*/ 0 h 1051"/>
                <a:gd name="T116" fmla="*/ 502 w 502"/>
                <a:gd name="T117" fmla="*/ 1051 h 105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02" h="1051">
                  <a:moveTo>
                    <a:pt x="25" y="942"/>
                  </a:moveTo>
                  <a:lnTo>
                    <a:pt x="23" y="1051"/>
                  </a:lnTo>
                  <a:lnTo>
                    <a:pt x="120" y="1027"/>
                  </a:lnTo>
                  <a:lnTo>
                    <a:pt x="191" y="998"/>
                  </a:lnTo>
                  <a:lnTo>
                    <a:pt x="311" y="919"/>
                  </a:lnTo>
                  <a:lnTo>
                    <a:pt x="376" y="909"/>
                  </a:lnTo>
                  <a:lnTo>
                    <a:pt x="460" y="840"/>
                  </a:lnTo>
                  <a:lnTo>
                    <a:pt x="468" y="712"/>
                  </a:lnTo>
                  <a:lnTo>
                    <a:pt x="429" y="675"/>
                  </a:lnTo>
                  <a:lnTo>
                    <a:pt x="433" y="635"/>
                  </a:lnTo>
                  <a:lnTo>
                    <a:pt x="460" y="600"/>
                  </a:lnTo>
                  <a:lnTo>
                    <a:pt x="454" y="565"/>
                  </a:lnTo>
                  <a:lnTo>
                    <a:pt x="484" y="504"/>
                  </a:lnTo>
                  <a:lnTo>
                    <a:pt x="470" y="433"/>
                  </a:lnTo>
                  <a:lnTo>
                    <a:pt x="395" y="395"/>
                  </a:lnTo>
                  <a:lnTo>
                    <a:pt x="397" y="324"/>
                  </a:lnTo>
                  <a:lnTo>
                    <a:pt x="429" y="293"/>
                  </a:lnTo>
                  <a:lnTo>
                    <a:pt x="435" y="254"/>
                  </a:lnTo>
                  <a:lnTo>
                    <a:pt x="476" y="240"/>
                  </a:lnTo>
                  <a:lnTo>
                    <a:pt x="502" y="169"/>
                  </a:lnTo>
                  <a:lnTo>
                    <a:pt x="476" y="122"/>
                  </a:lnTo>
                  <a:lnTo>
                    <a:pt x="437" y="104"/>
                  </a:lnTo>
                  <a:lnTo>
                    <a:pt x="441" y="61"/>
                  </a:lnTo>
                  <a:lnTo>
                    <a:pt x="484" y="41"/>
                  </a:lnTo>
                  <a:lnTo>
                    <a:pt x="454" y="0"/>
                  </a:lnTo>
                  <a:lnTo>
                    <a:pt x="348" y="43"/>
                  </a:lnTo>
                  <a:lnTo>
                    <a:pt x="285" y="43"/>
                  </a:lnTo>
                  <a:lnTo>
                    <a:pt x="199" y="74"/>
                  </a:lnTo>
                  <a:lnTo>
                    <a:pt x="151" y="193"/>
                  </a:lnTo>
                  <a:lnTo>
                    <a:pt x="73" y="222"/>
                  </a:lnTo>
                  <a:lnTo>
                    <a:pt x="73" y="291"/>
                  </a:lnTo>
                  <a:lnTo>
                    <a:pt x="45" y="415"/>
                  </a:lnTo>
                  <a:lnTo>
                    <a:pt x="0" y="468"/>
                  </a:lnTo>
                  <a:lnTo>
                    <a:pt x="51" y="555"/>
                  </a:lnTo>
                  <a:lnTo>
                    <a:pt x="14" y="655"/>
                  </a:lnTo>
                  <a:lnTo>
                    <a:pt x="33" y="789"/>
                  </a:lnTo>
                  <a:lnTo>
                    <a:pt x="57" y="877"/>
                  </a:lnTo>
                  <a:lnTo>
                    <a:pt x="25" y="942"/>
                  </a:lnTo>
                  <a:close/>
                </a:path>
              </a:pathLst>
            </a:custGeom>
            <a:grpFill/>
            <a:ln w="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102" name="Freeform 126"/>
            <p:cNvSpPr/>
            <p:nvPr/>
          </p:nvSpPr>
          <p:spPr bwMode="gray">
            <a:xfrm>
              <a:off x="3128" y="2050"/>
              <a:ext cx="251" cy="526"/>
            </a:xfrm>
            <a:custGeom>
              <a:avLst/>
              <a:gdLst>
                <a:gd name="T0" fmla="*/ 7 w 502"/>
                <a:gd name="T1" fmla="*/ 236 h 1051"/>
                <a:gd name="T2" fmla="*/ 6 w 502"/>
                <a:gd name="T3" fmla="*/ 263 h 1051"/>
                <a:gd name="T4" fmla="*/ 30 w 502"/>
                <a:gd name="T5" fmla="*/ 257 h 1051"/>
                <a:gd name="T6" fmla="*/ 48 w 502"/>
                <a:gd name="T7" fmla="*/ 250 h 1051"/>
                <a:gd name="T8" fmla="*/ 78 w 502"/>
                <a:gd name="T9" fmla="*/ 230 h 1051"/>
                <a:gd name="T10" fmla="*/ 94 w 502"/>
                <a:gd name="T11" fmla="*/ 228 h 1051"/>
                <a:gd name="T12" fmla="*/ 115 w 502"/>
                <a:gd name="T13" fmla="*/ 210 h 1051"/>
                <a:gd name="T14" fmla="*/ 117 w 502"/>
                <a:gd name="T15" fmla="*/ 178 h 1051"/>
                <a:gd name="T16" fmla="*/ 108 w 502"/>
                <a:gd name="T17" fmla="*/ 169 h 1051"/>
                <a:gd name="T18" fmla="*/ 109 w 502"/>
                <a:gd name="T19" fmla="*/ 159 h 1051"/>
                <a:gd name="T20" fmla="*/ 115 w 502"/>
                <a:gd name="T21" fmla="*/ 150 h 1051"/>
                <a:gd name="T22" fmla="*/ 114 w 502"/>
                <a:gd name="T23" fmla="*/ 142 h 1051"/>
                <a:gd name="T24" fmla="*/ 121 w 502"/>
                <a:gd name="T25" fmla="*/ 126 h 1051"/>
                <a:gd name="T26" fmla="*/ 118 w 502"/>
                <a:gd name="T27" fmla="*/ 109 h 1051"/>
                <a:gd name="T28" fmla="*/ 99 w 502"/>
                <a:gd name="T29" fmla="*/ 99 h 1051"/>
                <a:gd name="T30" fmla="*/ 100 w 502"/>
                <a:gd name="T31" fmla="*/ 81 h 1051"/>
                <a:gd name="T32" fmla="*/ 108 w 502"/>
                <a:gd name="T33" fmla="*/ 74 h 1051"/>
                <a:gd name="T34" fmla="*/ 109 w 502"/>
                <a:gd name="T35" fmla="*/ 64 h 1051"/>
                <a:gd name="T36" fmla="*/ 119 w 502"/>
                <a:gd name="T37" fmla="*/ 60 h 1051"/>
                <a:gd name="T38" fmla="*/ 126 w 502"/>
                <a:gd name="T39" fmla="*/ 43 h 1051"/>
                <a:gd name="T40" fmla="*/ 119 w 502"/>
                <a:gd name="T41" fmla="*/ 31 h 1051"/>
                <a:gd name="T42" fmla="*/ 110 w 502"/>
                <a:gd name="T43" fmla="*/ 26 h 1051"/>
                <a:gd name="T44" fmla="*/ 111 w 502"/>
                <a:gd name="T45" fmla="*/ 16 h 1051"/>
                <a:gd name="T46" fmla="*/ 121 w 502"/>
                <a:gd name="T47" fmla="*/ 11 h 1051"/>
                <a:gd name="T48" fmla="*/ 114 w 502"/>
                <a:gd name="T49" fmla="*/ 0 h 1051"/>
                <a:gd name="T50" fmla="*/ 87 w 502"/>
                <a:gd name="T51" fmla="*/ 11 h 1051"/>
                <a:gd name="T52" fmla="*/ 72 w 502"/>
                <a:gd name="T53" fmla="*/ 11 h 1051"/>
                <a:gd name="T54" fmla="*/ 50 w 502"/>
                <a:gd name="T55" fmla="*/ 19 h 1051"/>
                <a:gd name="T56" fmla="*/ 38 w 502"/>
                <a:gd name="T57" fmla="*/ 49 h 1051"/>
                <a:gd name="T58" fmla="*/ 19 w 502"/>
                <a:gd name="T59" fmla="*/ 56 h 1051"/>
                <a:gd name="T60" fmla="*/ 19 w 502"/>
                <a:gd name="T61" fmla="*/ 73 h 1051"/>
                <a:gd name="T62" fmla="*/ 12 w 502"/>
                <a:gd name="T63" fmla="*/ 104 h 1051"/>
                <a:gd name="T64" fmla="*/ 0 w 502"/>
                <a:gd name="T65" fmla="*/ 117 h 1051"/>
                <a:gd name="T66" fmla="*/ 13 w 502"/>
                <a:gd name="T67" fmla="*/ 139 h 1051"/>
                <a:gd name="T68" fmla="*/ 4 w 502"/>
                <a:gd name="T69" fmla="*/ 164 h 1051"/>
                <a:gd name="T70" fmla="*/ 9 w 502"/>
                <a:gd name="T71" fmla="*/ 198 h 1051"/>
                <a:gd name="T72" fmla="*/ 15 w 502"/>
                <a:gd name="T73" fmla="*/ 220 h 1051"/>
                <a:gd name="T74" fmla="*/ 7 w 502"/>
                <a:gd name="T75" fmla="*/ 236 h 105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02"/>
                <a:gd name="T115" fmla="*/ 0 h 1051"/>
                <a:gd name="T116" fmla="*/ 502 w 502"/>
                <a:gd name="T117" fmla="*/ 1051 h 105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02" h="1051">
                  <a:moveTo>
                    <a:pt x="25" y="942"/>
                  </a:moveTo>
                  <a:lnTo>
                    <a:pt x="23" y="1051"/>
                  </a:lnTo>
                  <a:lnTo>
                    <a:pt x="120" y="1027"/>
                  </a:lnTo>
                  <a:lnTo>
                    <a:pt x="191" y="998"/>
                  </a:lnTo>
                  <a:lnTo>
                    <a:pt x="311" y="919"/>
                  </a:lnTo>
                  <a:lnTo>
                    <a:pt x="376" y="909"/>
                  </a:lnTo>
                  <a:lnTo>
                    <a:pt x="460" y="840"/>
                  </a:lnTo>
                  <a:lnTo>
                    <a:pt x="468" y="712"/>
                  </a:lnTo>
                  <a:lnTo>
                    <a:pt x="429" y="675"/>
                  </a:lnTo>
                  <a:lnTo>
                    <a:pt x="433" y="635"/>
                  </a:lnTo>
                  <a:lnTo>
                    <a:pt x="460" y="600"/>
                  </a:lnTo>
                  <a:lnTo>
                    <a:pt x="454" y="565"/>
                  </a:lnTo>
                  <a:lnTo>
                    <a:pt x="484" y="504"/>
                  </a:lnTo>
                  <a:lnTo>
                    <a:pt x="470" y="433"/>
                  </a:lnTo>
                  <a:lnTo>
                    <a:pt x="395" y="395"/>
                  </a:lnTo>
                  <a:lnTo>
                    <a:pt x="397" y="324"/>
                  </a:lnTo>
                  <a:lnTo>
                    <a:pt x="429" y="293"/>
                  </a:lnTo>
                  <a:lnTo>
                    <a:pt x="435" y="254"/>
                  </a:lnTo>
                  <a:lnTo>
                    <a:pt x="476" y="240"/>
                  </a:lnTo>
                  <a:lnTo>
                    <a:pt x="502" y="169"/>
                  </a:lnTo>
                  <a:lnTo>
                    <a:pt x="476" y="122"/>
                  </a:lnTo>
                  <a:lnTo>
                    <a:pt x="437" y="104"/>
                  </a:lnTo>
                  <a:lnTo>
                    <a:pt x="441" y="61"/>
                  </a:lnTo>
                  <a:lnTo>
                    <a:pt x="484" y="41"/>
                  </a:lnTo>
                  <a:lnTo>
                    <a:pt x="454" y="0"/>
                  </a:lnTo>
                  <a:lnTo>
                    <a:pt x="348" y="43"/>
                  </a:lnTo>
                  <a:lnTo>
                    <a:pt x="285" y="43"/>
                  </a:lnTo>
                  <a:lnTo>
                    <a:pt x="199" y="74"/>
                  </a:lnTo>
                  <a:lnTo>
                    <a:pt x="151" y="193"/>
                  </a:lnTo>
                  <a:lnTo>
                    <a:pt x="73" y="222"/>
                  </a:lnTo>
                  <a:lnTo>
                    <a:pt x="73" y="291"/>
                  </a:lnTo>
                  <a:lnTo>
                    <a:pt x="45" y="415"/>
                  </a:lnTo>
                  <a:lnTo>
                    <a:pt x="0" y="468"/>
                  </a:lnTo>
                  <a:lnTo>
                    <a:pt x="51" y="555"/>
                  </a:lnTo>
                  <a:lnTo>
                    <a:pt x="14" y="655"/>
                  </a:lnTo>
                  <a:lnTo>
                    <a:pt x="33" y="789"/>
                  </a:lnTo>
                  <a:lnTo>
                    <a:pt x="57" y="877"/>
                  </a:lnTo>
                  <a:lnTo>
                    <a:pt x="25" y="942"/>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103" name="Freeform 127"/>
            <p:cNvSpPr/>
            <p:nvPr/>
          </p:nvSpPr>
          <p:spPr bwMode="gray">
            <a:xfrm>
              <a:off x="2736" y="2154"/>
              <a:ext cx="464" cy="664"/>
            </a:xfrm>
            <a:custGeom>
              <a:avLst/>
              <a:gdLst>
                <a:gd name="T0" fmla="*/ 2 w 929"/>
                <a:gd name="T1" fmla="*/ 106 h 1329"/>
                <a:gd name="T2" fmla="*/ 21 w 929"/>
                <a:gd name="T3" fmla="*/ 126 h 1329"/>
                <a:gd name="T4" fmla="*/ 31 w 929"/>
                <a:gd name="T5" fmla="*/ 148 h 1329"/>
                <a:gd name="T6" fmla="*/ 26 w 929"/>
                <a:gd name="T7" fmla="*/ 170 h 1329"/>
                <a:gd name="T8" fmla="*/ 43 w 929"/>
                <a:gd name="T9" fmla="*/ 183 h 1329"/>
                <a:gd name="T10" fmla="*/ 68 w 929"/>
                <a:gd name="T11" fmla="*/ 187 h 1329"/>
                <a:gd name="T12" fmla="*/ 79 w 929"/>
                <a:gd name="T13" fmla="*/ 172 h 1329"/>
                <a:gd name="T14" fmla="*/ 78 w 929"/>
                <a:gd name="T15" fmla="*/ 153 h 1329"/>
                <a:gd name="T16" fmla="*/ 72 w 929"/>
                <a:gd name="T17" fmla="*/ 108 h 1329"/>
                <a:gd name="T18" fmla="*/ 92 w 929"/>
                <a:gd name="T19" fmla="*/ 113 h 1329"/>
                <a:gd name="T20" fmla="*/ 109 w 929"/>
                <a:gd name="T21" fmla="*/ 126 h 1329"/>
                <a:gd name="T22" fmla="*/ 143 w 929"/>
                <a:gd name="T23" fmla="*/ 150 h 1329"/>
                <a:gd name="T24" fmla="*/ 140 w 929"/>
                <a:gd name="T25" fmla="*/ 174 h 1329"/>
                <a:gd name="T26" fmla="*/ 112 w 929"/>
                <a:gd name="T27" fmla="*/ 189 h 1329"/>
                <a:gd name="T28" fmla="*/ 99 w 929"/>
                <a:gd name="T29" fmla="*/ 204 h 1329"/>
                <a:gd name="T30" fmla="*/ 71 w 929"/>
                <a:gd name="T31" fmla="*/ 199 h 1329"/>
                <a:gd name="T32" fmla="*/ 65 w 929"/>
                <a:gd name="T33" fmla="*/ 222 h 1329"/>
                <a:gd name="T34" fmla="*/ 70 w 929"/>
                <a:gd name="T35" fmla="*/ 249 h 1329"/>
                <a:gd name="T36" fmla="*/ 48 w 929"/>
                <a:gd name="T37" fmla="*/ 267 h 1329"/>
                <a:gd name="T38" fmla="*/ 53 w 929"/>
                <a:gd name="T39" fmla="*/ 285 h 1329"/>
                <a:gd name="T40" fmla="*/ 63 w 929"/>
                <a:gd name="T41" fmla="*/ 304 h 1329"/>
                <a:gd name="T42" fmla="*/ 110 w 929"/>
                <a:gd name="T43" fmla="*/ 308 h 1329"/>
                <a:gd name="T44" fmla="*/ 142 w 929"/>
                <a:gd name="T45" fmla="*/ 313 h 1329"/>
                <a:gd name="T46" fmla="*/ 172 w 929"/>
                <a:gd name="T47" fmla="*/ 324 h 1329"/>
                <a:gd name="T48" fmla="*/ 188 w 929"/>
                <a:gd name="T49" fmla="*/ 330 h 1329"/>
                <a:gd name="T50" fmla="*/ 181 w 929"/>
                <a:gd name="T51" fmla="*/ 308 h 1329"/>
                <a:gd name="T52" fmla="*/ 202 w 929"/>
                <a:gd name="T53" fmla="*/ 290 h 1329"/>
                <a:gd name="T54" fmla="*/ 178 w 929"/>
                <a:gd name="T55" fmla="*/ 276 h 1329"/>
                <a:gd name="T56" fmla="*/ 200 w 929"/>
                <a:gd name="T57" fmla="*/ 270 h 1329"/>
                <a:gd name="T58" fmla="*/ 231 w 929"/>
                <a:gd name="T59" fmla="*/ 266 h 1329"/>
                <a:gd name="T60" fmla="*/ 218 w 929"/>
                <a:gd name="T61" fmla="*/ 241 h 1329"/>
                <a:gd name="T62" fmla="*/ 202 w 929"/>
                <a:gd name="T63" fmla="*/ 211 h 1329"/>
                <a:gd name="T64" fmla="*/ 210 w 929"/>
                <a:gd name="T65" fmla="*/ 167 h 1329"/>
                <a:gd name="T66" fmla="*/ 200 w 929"/>
                <a:gd name="T67" fmla="*/ 112 h 1329"/>
                <a:gd name="T68" fmla="*/ 196 w 929"/>
                <a:gd name="T69" fmla="*/ 65 h 1329"/>
                <a:gd name="T70" fmla="*/ 214 w 929"/>
                <a:gd name="T71" fmla="*/ 21 h 1329"/>
                <a:gd name="T72" fmla="*/ 206 w 929"/>
                <a:gd name="T73" fmla="*/ 0 h 1329"/>
                <a:gd name="T74" fmla="*/ 182 w 929"/>
                <a:gd name="T75" fmla="*/ 10 h 1329"/>
                <a:gd name="T76" fmla="*/ 164 w 929"/>
                <a:gd name="T77" fmla="*/ 44 h 1329"/>
                <a:gd name="T78" fmla="*/ 129 w 929"/>
                <a:gd name="T79" fmla="*/ 87 h 1329"/>
                <a:gd name="T80" fmla="*/ 99 w 929"/>
                <a:gd name="T81" fmla="*/ 84 h 1329"/>
                <a:gd name="T82" fmla="*/ 74 w 929"/>
                <a:gd name="T83" fmla="*/ 70 h 1329"/>
                <a:gd name="T84" fmla="*/ 72 w 929"/>
                <a:gd name="T85" fmla="*/ 42 h 1329"/>
                <a:gd name="T86" fmla="*/ 68 w 929"/>
                <a:gd name="T87" fmla="*/ 18 h 1329"/>
                <a:gd name="T88" fmla="*/ 43 w 929"/>
                <a:gd name="T89" fmla="*/ 42 h 1329"/>
                <a:gd name="T90" fmla="*/ 26 w 929"/>
                <a:gd name="T91" fmla="*/ 90 h 13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29"/>
                <a:gd name="T139" fmla="*/ 0 h 1329"/>
                <a:gd name="T140" fmla="*/ 929 w 929"/>
                <a:gd name="T141" fmla="*/ 1329 h 13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29" h="1329">
                  <a:moveTo>
                    <a:pt x="0" y="406"/>
                  </a:moveTo>
                  <a:lnTo>
                    <a:pt x="8" y="425"/>
                  </a:lnTo>
                  <a:lnTo>
                    <a:pt x="36" y="461"/>
                  </a:lnTo>
                  <a:lnTo>
                    <a:pt x="87" y="504"/>
                  </a:lnTo>
                  <a:lnTo>
                    <a:pt x="85" y="538"/>
                  </a:lnTo>
                  <a:lnTo>
                    <a:pt x="124" y="595"/>
                  </a:lnTo>
                  <a:lnTo>
                    <a:pt x="107" y="636"/>
                  </a:lnTo>
                  <a:lnTo>
                    <a:pt x="107" y="681"/>
                  </a:lnTo>
                  <a:lnTo>
                    <a:pt x="150" y="697"/>
                  </a:lnTo>
                  <a:lnTo>
                    <a:pt x="174" y="732"/>
                  </a:lnTo>
                  <a:lnTo>
                    <a:pt x="239" y="762"/>
                  </a:lnTo>
                  <a:lnTo>
                    <a:pt x="272" y="748"/>
                  </a:lnTo>
                  <a:lnTo>
                    <a:pt x="278" y="705"/>
                  </a:lnTo>
                  <a:lnTo>
                    <a:pt x="317" y="689"/>
                  </a:lnTo>
                  <a:lnTo>
                    <a:pt x="335" y="648"/>
                  </a:lnTo>
                  <a:lnTo>
                    <a:pt x="315" y="612"/>
                  </a:lnTo>
                  <a:lnTo>
                    <a:pt x="264" y="593"/>
                  </a:lnTo>
                  <a:lnTo>
                    <a:pt x="288" y="435"/>
                  </a:lnTo>
                  <a:lnTo>
                    <a:pt x="319" y="451"/>
                  </a:lnTo>
                  <a:lnTo>
                    <a:pt x="370" y="453"/>
                  </a:lnTo>
                  <a:lnTo>
                    <a:pt x="372" y="484"/>
                  </a:lnTo>
                  <a:lnTo>
                    <a:pt x="439" y="504"/>
                  </a:lnTo>
                  <a:lnTo>
                    <a:pt x="563" y="559"/>
                  </a:lnTo>
                  <a:lnTo>
                    <a:pt x="575" y="603"/>
                  </a:lnTo>
                  <a:lnTo>
                    <a:pt x="550" y="646"/>
                  </a:lnTo>
                  <a:lnTo>
                    <a:pt x="561" y="697"/>
                  </a:lnTo>
                  <a:lnTo>
                    <a:pt x="557" y="750"/>
                  </a:lnTo>
                  <a:lnTo>
                    <a:pt x="449" y="758"/>
                  </a:lnTo>
                  <a:lnTo>
                    <a:pt x="449" y="807"/>
                  </a:lnTo>
                  <a:lnTo>
                    <a:pt x="396" y="819"/>
                  </a:lnTo>
                  <a:lnTo>
                    <a:pt x="349" y="793"/>
                  </a:lnTo>
                  <a:lnTo>
                    <a:pt x="286" y="797"/>
                  </a:lnTo>
                  <a:lnTo>
                    <a:pt x="288" y="851"/>
                  </a:lnTo>
                  <a:lnTo>
                    <a:pt x="260" y="890"/>
                  </a:lnTo>
                  <a:lnTo>
                    <a:pt x="305" y="921"/>
                  </a:lnTo>
                  <a:lnTo>
                    <a:pt x="282" y="998"/>
                  </a:lnTo>
                  <a:lnTo>
                    <a:pt x="292" y="1057"/>
                  </a:lnTo>
                  <a:lnTo>
                    <a:pt x="195" y="1071"/>
                  </a:lnTo>
                  <a:lnTo>
                    <a:pt x="211" y="1093"/>
                  </a:lnTo>
                  <a:lnTo>
                    <a:pt x="215" y="1142"/>
                  </a:lnTo>
                  <a:lnTo>
                    <a:pt x="191" y="1156"/>
                  </a:lnTo>
                  <a:lnTo>
                    <a:pt x="252" y="1217"/>
                  </a:lnTo>
                  <a:lnTo>
                    <a:pt x="345" y="1191"/>
                  </a:lnTo>
                  <a:lnTo>
                    <a:pt x="443" y="1232"/>
                  </a:lnTo>
                  <a:lnTo>
                    <a:pt x="506" y="1280"/>
                  </a:lnTo>
                  <a:lnTo>
                    <a:pt x="571" y="1254"/>
                  </a:lnTo>
                  <a:lnTo>
                    <a:pt x="642" y="1299"/>
                  </a:lnTo>
                  <a:lnTo>
                    <a:pt x="689" y="1299"/>
                  </a:lnTo>
                  <a:lnTo>
                    <a:pt x="691" y="1329"/>
                  </a:lnTo>
                  <a:lnTo>
                    <a:pt x="754" y="1323"/>
                  </a:lnTo>
                  <a:lnTo>
                    <a:pt x="756" y="1270"/>
                  </a:lnTo>
                  <a:lnTo>
                    <a:pt x="727" y="1234"/>
                  </a:lnTo>
                  <a:lnTo>
                    <a:pt x="748" y="1205"/>
                  </a:lnTo>
                  <a:lnTo>
                    <a:pt x="811" y="1163"/>
                  </a:lnTo>
                  <a:lnTo>
                    <a:pt x="776" y="1142"/>
                  </a:lnTo>
                  <a:lnTo>
                    <a:pt x="715" y="1104"/>
                  </a:lnTo>
                  <a:lnTo>
                    <a:pt x="733" y="1069"/>
                  </a:lnTo>
                  <a:lnTo>
                    <a:pt x="802" y="1083"/>
                  </a:lnTo>
                  <a:lnTo>
                    <a:pt x="880" y="1089"/>
                  </a:lnTo>
                  <a:lnTo>
                    <a:pt x="926" y="1065"/>
                  </a:lnTo>
                  <a:lnTo>
                    <a:pt x="929" y="1014"/>
                  </a:lnTo>
                  <a:lnTo>
                    <a:pt x="874" y="967"/>
                  </a:lnTo>
                  <a:lnTo>
                    <a:pt x="837" y="906"/>
                  </a:lnTo>
                  <a:lnTo>
                    <a:pt x="809" y="845"/>
                  </a:lnTo>
                  <a:lnTo>
                    <a:pt x="811" y="736"/>
                  </a:lnTo>
                  <a:lnTo>
                    <a:pt x="843" y="671"/>
                  </a:lnTo>
                  <a:lnTo>
                    <a:pt x="819" y="583"/>
                  </a:lnTo>
                  <a:lnTo>
                    <a:pt x="800" y="449"/>
                  </a:lnTo>
                  <a:lnTo>
                    <a:pt x="837" y="351"/>
                  </a:lnTo>
                  <a:lnTo>
                    <a:pt x="786" y="262"/>
                  </a:lnTo>
                  <a:lnTo>
                    <a:pt x="829" y="209"/>
                  </a:lnTo>
                  <a:lnTo>
                    <a:pt x="859" y="85"/>
                  </a:lnTo>
                  <a:lnTo>
                    <a:pt x="859" y="18"/>
                  </a:lnTo>
                  <a:lnTo>
                    <a:pt x="825" y="0"/>
                  </a:lnTo>
                  <a:lnTo>
                    <a:pt x="788" y="59"/>
                  </a:lnTo>
                  <a:lnTo>
                    <a:pt x="731" y="40"/>
                  </a:lnTo>
                  <a:lnTo>
                    <a:pt x="678" y="99"/>
                  </a:lnTo>
                  <a:lnTo>
                    <a:pt x="658" y="179"/>
                  </a:lnTo>
                  <a:lnTo>
                    <a:pt x="561" y="309"/>
                  </a:lnTo>
                  <a:lnTo>
                    <a:pt x="516" y="349"/>
                  </a:lnTo>
                  <a:lnTo>
                    <a:pt x="487" y="321"/>
                  </a:lnTo>
                  <a:lnTo>
                    <a:pt x="396" y="337"/>
                  </a:lnTo>
                  <a:lnTo>
                    <a:pt x="355" y="284"/>
                  </a:lnTo>
                  <a:lnTo>
                    <a:pt x="296" y="282"/>
                  </a:lnTo>
                  <a:lnTo>
                    <a:pt x="254" y="242"/>
                  </a:lnTo>
                  <a:lnTo>
                    <a:pt x="290" y="168"/>
                  </a:lnTo>
                  <a:lnTo>
                    <a:pt x="305" y="122"/>
                  </a:lnTo>
                  <a:lnTo>
                    <a:pt x="272" y="73"/>
                  </a:lnTo>
                  <a:lnTo>
                    <a:pt x="207" y="91"/>
                  </a:lnTo>
                  <a:lnTo>
                    <a:pt x="172" y="170"/>
                  </a:lnTo>
                  <a:lnTo>
                    <a:pt x="158" y="307"/>
                  </a:lnTo>
                  <a:lnTo>
                    <a:pt x="107" y="362"/>
                  </a:lnTo>
                  <a:lnTo>
                    <a:pt x="0" y="406"/>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sp>
          <p:nvSpPr>
            <p:cNvPr id="104" name="Freeform 128"/>
            <p:cNvSpPr/>
            <p:nvPr/>
          </p:nvSpPr>
          <p:spPr bwMode="gray">
            <a:xfrm>
              <a:off x="3987" y="3238"/>
              <a:ext cx="121" cy="305"/>
            </a:xfrm>
            <a:custGeom>
              <a:avLst/>
              <a:gdLst>
                <a:gd name="T0" fmla="*/ 43 w 242"/>
                <a:gd name="T1" fmla="*/ 1 h 610"/>
                <a:gd name="T2" fmla="*/ 39 w 242"/>
                <a:gd name="T3" fmla="*/ 6 h 610"/>
                <a:gd name="T4" fmla="*/ 33 w 242"/>
                <a:gd name="T5" fmla="*/ 11 h 610"/>
                <a:gd name="T6" fmla="*/ 28 w 242"/>
                <a:gd name="T7" fmla="*/ 16 h 610"/>
                <a:gd name="T8" fmla="*/ 22 w 242"/>
                <a:gd name="T9" fmla="*/ 24 h 610"/>
                <a:gd name="T10" fmla="*/ 19 w 242"/>
                <a:gd name="T11" fmla="*/ 30 h 610"/>
                <a:gd name="T12" fmla="*/ 16 w 242"/>
                <a:gd name="T13" fmla="*/ 37 h 610"/>
                <a:gd name="T14" fmla="*/ 11 w 242"/>
                <a:gd name="T15" fmla="*/ 47 h 610"/>
                <a:gd name="T16" fmla="*/ 5 w 242"/>
                <a:gd name="T17" fmla="*/ 58 h 610"/>
                <a:gd name="T18" fmla="*/ 1 w 242"/>
                <a:gd name="T19" fmla="*/ 67 h 610"/>
                <a:gd name="T20" fmla="*/ 1 w 242"/>
                <a:gd name="T21" fmla="*/ 77 h 610"/>
                <a:gd name="T22" fmla="*/ 4 w 242"/>
                <a:gd name="T23" fmla="*/ 88 h 610"/>
                <a:gd name="T24" fmla="*/ 5 w 242"/>
                <a:gd name="T25" fmla="*/ 99 h 610"/>
                <a:gd name="T26" fmla="*/ 3 w 242"/>
                <a:gd name="T27" fmla="*/ 108 h 610"/>
                <a:gd name="T28" fmla="*/ 6 w 242"/>
                <a:gd name="T29" fmla="*/ 114 h 610"/>
                <a:gd name="T30" fmla="*/ 15 w 242"/>
                <a:gd name="T31" fmla="*/ 119 h 610"/>
                <a:gd name="T32" fmla="*/ 22 w 242"/>
                <a:gd name="T33" fmla="*/ 129 h 610"/>
                <a:gd name="T34" fmla="*/ 28 w 242"/>
                <a:gd name="T35" fmla="*/ 135 h 610"/>
                <a:gd name="T36" fmla="*/ 33 w 242"/>
                <a:gd name="T37" fmla="*/ 139 h 610"/>
                <a:gd name="T38" fmla="*/ 35 w 242"/>
                <a:gd name="T39" fmla="*/ 146 h 610"/>
                <a:gd name="T40" fmla="*/ 37 w 242"/>
                <a:gd name="T41" fmla="*/ 152 h 610"/>
                <a:gd name="T42" fmla="*/ 41 w 242"/>
                <a:gd name="T43" fmla="*/ 152 h 610"/>
                <a:gd name="T44" fmla="*/ 42 w 242"/>
                <a:gd name="T45" fmla="*/ 146 h 610"/>
                <a:gd name="T46" fmla="*/ 42 w 242"/>
                <a:gd name="T47" fmla="*/ 135 h 610"/>
                <a:gd name="T48" fmla="*/ 45 w 242"/>
                <a:gd name="T49" fmla="*/ 123 h 610"/>
                <a:gd name="T50" fmla="*/ 51 w 242"/>
                <a:gd name="T51" fmla="*/ 114 h 610"/>
                <a:gd name="T52" fmla="*/ 55 w 242"/>
                <a:gd name="T53" fmla="*/ 103 h 610"/>
                <a:gd name="T54" fmla="*/ 57 w 242"/>
                <a:gd name="T55" fmla="*/ 86 h 610"/>
                <a:gd name="T56" fmla="*/ 58 w 242"/>
                <a:gd name="T57" fmla="*/ 66 h 610"/>
                <a:gd name="T58" fmla="*/ 58 w 242"/>
                <a:gd name="T59" fmla="*/ 51 h 610"/>
                <a:gd name="T60" fmla="*/ 60 w 242"/>
                <a:gd name="T61" fmla="*/ 39 h 610"/>
                <a:gd name="T62" fmla="*/ 60 w 242"/>
                <a:gd name="T63" fmla="*/ 28 h 610"/>
                <a:gd name="T64" fmla="*/ 56 w 242"/>
                <a:gd name="T65" fmla="*/ 19 h 610"/>
                <a:gd name="T66" fmla="*/ 52 w 242"/>
                <a:gd name="T67" fmla="*/ 10 h 610"/>
                <a:gd name="T68" fmla="*/ 47 w 242"/>
                <a:gd name="T69" fmla="*/ 2 h 610"/>
                <a:gd name="T70" fmla="*/ 44 w 242"/>
                <a:gd name="T71" fmla="*/ 0 h 61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2"/>
                <a:gd name="T109" fmla="*/ 0 h 610"/>
                <a:gd name="T110" fmla="*/ 242 w 242"/>
                <a:gd name="T111" fmla="*/ 610 h 61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2" h="610">
                  <a:moveTo>
                    <a:pt x="173" y="0"/>
                  </a:moveTo>
                  <a:lnTo>
                    <a:pt x="172" y="4"/>
                  </a:lnTo>
                  <a:lnTo>
                    <a:pt x="164" y="12"/>
                  </a:lnTo>
                  <a:lnTo>
                    <a:pt x="154" y="24"/>
                  </a:lnTo>
                  <a:lnTo>
                    <a:pt x="144" y="36"/>
                  </a:lnTo>
                  <a:lnTo>
                    <a:pt x="132" y="44"/>
                  </a:lnTo>
                  <a:lnTo>
                    <a:pt x="122" y="49"/>
                  </a:lnTo>
                  <a:lnTo>
                    <a:pt x="111" y="63"/>
                  </a:lnTo>
                  <a:lnTo>
                    <a:pt x="97" y="79"/>
                  </a:lnTo>
                  <a:lnTo>
                    <a:pt x="87" y="97"/>
                  </a:lnTo>
                  <a:lnTo>
                    <a:pt x="77" y="112"/>
                  </a:lnTo>
                  <a:lnTo>
                    <a:pt x="73" y="122"/>
                  </a:lnTo>
                  <a:lnTo>
                    <a:pt x="71" y="132"/>
                  </a:lnTo>
                  <a:lnTo>
                    <a:pt x="63" y="148"/>
                  </a:lnTo>
                  <a:lnTo>
                    <a:pt x="53" y="168"/>
                  </a:lnTo>
                  <a:lnTo>
                    <a:pt x="44" y="189"/>
                  </a:lnTo>
                  <a:lnTo>
                    <a:pt x="32" y="213"/>
                  </a:lnTo>
                  <a:lnTo>
                    <a:pt x="20" y="234"/>
                  </a:lnTo>
                  <a:lnTo>
                    <a:pt x="10" y="254"/>
                  </a:lnTo>
                  <a:lnTo>
                    <a:pt x="4" y="268"/>
                  </a:lnTo>
                  <a:lnTo>
                    <a:pt x="0" y="288"/>
                  </a:lnTo>
                  <a:lnTo>
                    <a:pt x="2" y="309"/>
                  </a:lnTo>
                  <a:lnTo>
                    <a:pt x="8" y="331"/>
                  </a:lnTo>
                  <a:lnTo>
                    <a:pt x="14" y="354"/>
                  </a:lnTo>
                  <a:lnTo>
                    <a:pt x="18" y="376"/>
                  </a:lnTo>
                  <a:lnTo>
                    <a:pt x="18" y="396"/>
                  </a:lnTo>
                  <a:lnTo>
                    <a:pt x="14" y="414"/>
                  </a:lnTo>
                  <a:lnTo>
                    <a:pt x="12" y="431"/>
                  </a:lnTo>
                  <a:lnTo>
                    <a:pt x="14" y="445"/>
                  </a:lnTo>
                  <a:lnTo>
                    <a:pt x="24" y="455"/>
                  </a:lnTo>
                  <a:lnTo>
                    <a:pt x="42" y="467"/>
                  </a:lnTo>
                  <a:lnTo>
                    <a:pt x="57" y="477"/>
                  </a:lnTo>
                  <a:lnTo>
                    <a:pt x="71" y="492"/>
                  </a:lnTo>
                  <a:lnTo>
                    <a:pt x="85" y="514"/>
                  </a:lnTo>
                  <a:lnTo>
                    <a:pt x="99" y="530"/>
                  </a:lnTo>
                  <a:lnTo>
                    <a:pt x="111" y="540"/>
                  </a:lnTo>
                  <a:lnTo>
                    <a:pt x="122" y="547"/>
                  </a:lnTo>
                  <a:lnTo>
                    <a:pt x="130" y="555"/>
                  </a:lnTo>
                  <a:lnTo>
                    <a:pt x="136" y="569"/>
                  </a:lnTo>
                  <a:lnTo>
                    <a:pt x="140" y="583"/>
                  </a:lnTo>
                  <a:lnTo>
                    <a:pt x="144" y="597"/>
                  </a:lnTo>
                  <a:lnTo>
                    <a:pt x="148" y="606"/>
                  </a:lnTo>
                  <a:lnTo>
                    <a:pt x="154" y="610"/>
                  </a:lnTo>
                  <a:lnTo>
                    <a:pt x="162" y="606"/>
                  </a:lnTo>
                  <a:lnTo>
                    <a:pt x="168" y="597"/>
                  </a:lnTo>
                  <a:lnTo>
                    <a:pt x="168" y="581"/>
                  </a:lnTo>
                  <a:lnTo>
                    <a:pt x="168" y="559"/>
                  </a:lnTo>
                  <a:lnTo>
                    <a:pt x="168" y="538"/>
                  </a:lnTo>
                  <a:lnTo>
                    <a:pt x="172" y="516"/>
                  </a:lnTo>
                  <a:lnTo>
                    <a:pt x="179" y="494"/>
                  </a:lnTo>
                  <a:lnTo>
                    <a:pt x="189" y="475"/>
                  </a:lnTo>
                  <a:lnTo>
                    <a:pt x="201" y="457"/>
                  </a:lnTo>
                  <a:lnTo>
                    <a:pt x="211" y="435"/>
                  </a:lnTo>
                  <a:lnTo>
                    <a:pt x="217" y="412"/>
                  </a:lnTo>
                  <a:lnTo>
                    <a:pt x="221" y="380"/>
                  </a:lnTo>
                  <a:lnTo>
                    <a:pt x="225" y="343"/>
                  </a:lnTo>
                  <a:lnTo>
                    <a:pt x="227" y="303"/>
                  </a:lnTo>
                  <a:lnTo>
                    <a:pt x="229" y="264"/>
                  </a:lnTo>
                  <a:lnTo>
                    <a:pt x="227" y="231"/>
                  </a:lnTo>
                  <a:lnTo>
                    <a:pt x="229" y="203"/>
                  </a:lnTo>
                  <a:lnTo>
                    <a:pt x="233" y="179"/>
                  </a:lnTo>
                  <a:lnTo>
                    <a:pt x="240" y="156"/>
                  </a:lnTo>
                  <a:lnTo>
                    <a:pt x="242" y="134"/>
                  </a:lnTo>
                  <a:lnTo>
                    <a:pt x="238" y="112"/>
                  </a:lnTo>
                  <a:lnTo>
                    <a:pt x="229" y="89"/>
                  </a:lnTo>
                  <a:lnTo>
                    <a:pt x="223" y="73"/>
                  </a:lnTo>
                  <a:lnTo>
                    <a:pt x="215" y="59"/>
                  </a:lnTo>
                  <a:lnTo>
                    <a:pt x="207" y="42"/>
                  </a:lnTo>
                  <a:lnTo>
                    <a:pt x="195" y="22"/>
                  </a:lnTo>
                  <a:lnTo>
                    <a:pt x="185" y="10"/>
                  </a:lnTo>
                  <a:lnTo>
                    <a:pt x="177" y="2"/>
                  </a:lnTo>
                  <a:lnTo>
                    <a:pt x="173" y="0"/>
                  </a:lnTo>
                </a:path>
              </a:pathLst>
            </a:custGeom>
            <a:grpFill/>
            <a:ln w="6350">
              <a:solidFill>
                <a:schemeClr val="bg1"/>
              </a:solidFill>
              <a:prstDash val="solid"/>
              <a:round/>
            </a:ln>
          </p:spPr>
          <p:txBody>
            <a:bodyPr/>
            <a:lstStyle/>
            <a:p>
              <a:pPr eaLnBrk="1" fontAlgn="auto" hangingPunct="1">
                <a:spcBef>
                  <a:spcPts val="0"/>
                </a:spcBef>
                <a:spcAft>
                  <a:spcPts val="0"/>
                </a:spcAft>
                <a:defRPr/>
              </a:pPr>
              <a:endParaRPr lang="zh-CN" altLang="en-US" kern="0">
                <a:solidFill>
                  <a:sysClr val="windowText" lastClr="000000"/>
                </a:solidFill>
                <a:ea typeface="微软雅黑" panose="020B0503020204020204" pitchFamily="34" charset="-122"/>
              </a:endParaRPr>
            </a:p>
          </p:txBody>
        </p:sp>
      </p:grpSp>
      <p:grpSp>
        <p:nvGrpSpPr>
          <p:cNvPr id="124" name="组合 123"/>
          <p:cNvGrpSpPr/>
          <p:nvPr/>
        </p:nvGrpSpPr>
        <p:grpSpPr bwMode="auto">
          <a:xfrm>
            <a:off x="885753" y="1486576"/>
            <a:ext cx="3348037" cy="4988589"/>
            <a:chOff x="6065500" y="5429491"/>
            <a:chExt cx="5331526" cy="1295393"/>
          </a:xfrm>
        </p:grpSpPr>
        <p:sp>
          <p:nvSpPr>
            <p:cNvPr id="125" name="圆角矩形 124"/>
            <p:cNvSpPr/>
            <p:nvPr/>
          </p:nvSpPr>
          <p:spPr>
            <a:xfrm>
              <a:off x="6065500" y="5429491"/>
              <a:ext cx="5331526" cy="1295393"/>
            </a:xfrm>
            <a:prstGeom prst="roundRect">
              <a:avLst/>
            </a:prstGeom>
            <a:noFill/>
            <a:ln>
              <a:solidFill>
                <a:srgbClr val="24C6DB"/>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6" name="矩形 96"/>
            <p:cNvSpPr>
              <a:spLocks noChangeArrowheads="1"/>
            </p:cNvSpPr>
            <p:nvPr/>
          </p:nvSpPr>
          <p:spPr bwMode="auto">
            <a:xfrm>
              <a:off x="6313359" y="5437719"/>
              <a:ext cx="4986935" cy="1254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00000"/>
                </a:lnSpc>
                <a:spcBef>
                  <a:spcPct val="0"/>
                </a:spcBef>
                <a:buFontTx/>
                <a:buNone/>
              </a:pPr>
              <a:r>
                <a:rPr lang="zh-CN" altLang="en-US" sz="2200" dirty="0">
                  <a:solidFill>
                    <a:schemeClr val="bg2">
                      <a:lumMod val="50000"/>
                    </a:schemeClr>
                  </a:solidFill>
                  <a:latin typeface="微软雅黑 Light" panose="020B0502040204020203" pitchFamily="34" charset="-122"/>
                  <a:ea typeface="微软雅黑 Light" panose="020B0502040204020203" pitchFamily="34" charset="-122"/>
                </a:rPr>
                <a:t>        北语已经为祖国</a:t>
              </a:r>
              <a:r>
                <a:rPr lang="zh-CN" altLang="zh-CN" sz="2200" dirty="0">
                  <a:solidFill>
                    <a:schemeClr val="bg2">
                      <a:lumMod val="50000"/>
                    </a:schemeClr>
                  </a:solidFill>
                  <a:latin typeface="微软雅黑 Light" panose="020B0502040204020203" pitchFamily="34" charset="-122"/>
                  <a:ea typeface="微软雅黑 Light" panose="020B0502040204020203" pitchFamily="34" charset="-122"/>
                </a:rPr>
                <a:t>培养了</a:t>
              </a:r>
              <a:r>
                <a:rPr lang="zh-CN" altLang="zh-CN" sz="2200" b="1" dirty="0">
                  <a:solidFill>
                    <a:srgbClr val="FF9933"/>
                  </a:solidFill>
                  <a:latin typeface="微软雅黑 Light" panose="020B0502040204020203" pitchFamily="34" charset="-122"/>
                  <a:ea typeface="微软雅黑 Light" panose="020B0502040204020203" pitchFamily="34" charset="-122"/>
                </a:rPr>
                <a:t>数以十万计的优秀人才</a:t>
              </a:r>
              <a:r>
                <a:rPr lang="zh-CN" altLang="zh-CN" sz="2200" dirty="0">
                  <a:solidFill>
                    <a:schemeClr val="bg2">
                      <a:lumMod val="50000"/>
                    </a:schemeClr>
                  </a:solidFill>
                  <a:latin typeface="微软雅黑 Light" panose="020B0502040204020203" pitchFamily="34" charset="-122"/>
                  <a:ea typeface="微软雅黑 Light" panose="020B0502040204020203" pitchFamily="34" charset="-122"/>
                </a:rPr>
                <a:t>，</a:t>
              </a:r>
              <a:r>
                <a:rPr lang="zh-CN" altLang="en-US" sz="2200" dirty="0">
                  <a:solidFill>
                    <a:schemeClr val="bg2">
                      <a:lumMod val="50000"/>
                    </a:schemeClr>
                  </a:solidFill>
                  <a:latin typeface="微软雅黑 Light" panose="020B0502040204020203" pitchFamily="34" charset="-122"/>
                  <a:ea typeface="微软雅黑 Light" panose="020B0502040204020203" pitchFamily="34" charset="-122"/>
                </a:rPr>
                <a:t>含</a:t>
              </a:r>
              <a:r>
                <a:rPr lang="zh-CN" altLang="en-US" sz="2200" b="1" dirty="0">
                  <a:solidFill>
                    <a:srgbClr val="FF9933"/>
                  </a:solidFill>
                  <a:latin typeface="微软雅黑 Light" panose="020B0502040204020203" pitchFamily="34" charset="-122"/>
                  <a:ea typeface="微软雅黑 Light" panose="020B0502040204020203" pitchFamily="34" charset="-122"/>
                </a:rPr>
                <a:t>本、硕</a:t>
              </a:r>
              <a:r>
                <a:rPr lang="zh-CN" altLang="en-US" sz="2200" b="1">
                  <a:solidFill>
                    <a:srgbClr val="FF9933"/>
                  </a:solidFill>
                  <a:latin typeface="微软雅黑 Light" panose="020B0502040204020203" pitchFamily="34" charset="-122"/>
                  <a:ea typeface="微软雅黑 Light" panose="020B0502040204020203" pitchFamily="34" charset="-122"/>
                </a:rPr>
                <a:t>、博、博士后</a:t>
              </a:r>
              <a:r>
                <a:rPr lang="zh-CN" altLang="en-US" sz="2200">
                  <a:solidFill>
                    <a:schemeClr val="bg2">
                      <a:lumMod val="50000"/>
                    </a:schemeClr>
                  </a:solidFill>
                  <a:latin typeface="微软雅黑 Light" panose="020B0502040204020203" pitchFamily="34" charset="-122"/>
                  <a:ea typeface="微软雅黑 Light" panose="020B0502040204020203" pitchFamily="34" charset="-122"/>
                </a:rPr>
                <a:t>各</a:t>
              </a:r>
              <a:r>
                <a:rPr lang="zh-CN" altLang="en-US" sz="2200" dirty="0">
                  <a:solidFill>
                    <a:schemeClr val="bg2">
                      <a:lumMod val="50000"/>
                    </a:schemeClr>
                  </a:solidFill>
                  <a:latin typeface="微软雅黑 Light" panose="020B0502040204020203" pitchFamily="34" charset="-122"/>
                  <a:ea typeface="微软雅黑 Light" panose="020B0502040204020203" pitchFamily="34" charset="-122"/>
                </a:rPr>
                <a:t>层次学历生及来校培训的</a:t>
              </a:r>
              <a:r>
                <a:rPr lang="zh-CN" altLang="zh-CN" sz="2200" dirty="0">
                  <a:solidFill>
                    <a:schemeClr val="bg2">
                      <a:lumMod val="50000"/>
                    </a:schemeClr>
                  </a:solidFill>
                  <a:latin typeface="微软雅黑 Light" panose="020B0502040204020203" pitchFamily="34" charset="-122"/>
                  <a:ea typeface="微软雅黑 Light" panose="020B0502040204020203" pitchFamily="34" charset="-122"/>
                </a:rPr>
                <a:t>公派留学人员，现在他们多已成为</a:t>
              </a:r>
              <a:r>
                <a:rPr lang="zh-CN" altLang="zh-CN" sz="2200" b="1" dirty="0">
                  <a:solidFill>
                    <a:srgbClr val="FF9933"/>
                  </a:solidFill>
                  <a:latin typeface="微软雅黑 Light" panose="020B0502040204020203" pitchFamily="34" charset="-122"/>
                  <a:ea typeface="微软雅黑 Light" panose="020B0502040204020203" pitchFamily="34" charset="-122"/>
                </a:rPr>
                <a:t>国家各个领域的栋梁</a:t>
              </a:r>
              <a:r>
                <a:rPr lang="zh-CN" altLang="zh-CN" sz="2200" dirty="0">
                  <a:solidFill>
                    <a:schemeClr val="bg2">
                      <a:lumMod val="50000"/>
                    </a:schemeClr>
                  </a:solidFill>
                  <a:latin typeface="微软雅黑 Light" panose="020B0502040204020203" pitchFamily="34" charset="-122"/>
                  <a:ea typeface="微软雅黑 Light" panose="020B0502040204020203" pitchFamily="34" charset="-122"/>
                </a:rPr>
                <a:t>。</a:t>
              </a:r>
              <a:endParaRPr lang="zh-CN" altLang="en-US" sz="2200" dirty="0">
                <a:solidFill>
                  <a:schemeClr val="bg2">
                    <a:lumMod val="50000"/>
                  </a:schemeClr>
                </a:solidFill>
                <a:latin typeface="微软雅黑 Light" panose="020B0502040204020203" pitchFamily="34" charset="-122"/>
                <a:ea typeface="微软雅黑 Light" panose="020B0502040204020203" pitchFamily="34" charset="-122"/>
              </a:endParaRPr>
            </a:p>
          </p:txBody>
        </p:sp>
      </p:grpSp>
      <p:pic>
        <p:nvPicPr>
          <p:cNvPr id="2" name="图片 1"/>
          <p:cNvPicPr>
            <a:picLocks noChangeAspect="1"/>
          </p:cNvPicPr>
          <p:nvPr/>
        </p:nvPicPr>
        <p:blipFill>
          <a:blip r:embed="rId1" cstate="print"/>
          <a:stretch>
            <a:fillRect/>
          </a:stretch>
        </p:blipFill>
        <p:spPr>
          <a:xfrm rot="334540">
            <a:off x="8500361" y="2424052"/>
            <a:ext cx="3504787" cy="3504787"/>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456723" y="1487874"/>
            <a:ext cx="3054190" cy="1458509"/>
            <a:chOff x="928274" y="2723985"/>
            <a:chExt cx="3054190" cy="1458509"/>
          </a:xfrm>
        </p:grpSpPr>
        <p:sp>
          <p:nvSpPr>
            <p:cNvPr id="157" name="文本框 156"/>
            <p:cNvSpPr txBox="1"/>
            <p:nvPr/>
          </p:nvSpPr>
          <p:spPr>
            <a:xfrm>
              <a:off x="928274" y="2723985"/>
              <a:ext cx="877163"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洪磊</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021697" cy="1023037"/>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外交部礼宾司 司长</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外交部 前发言人</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3" name="图片 12" descr="C:\Users\Administrator\Desktop\洪磊.jpg"/>
          <p:cNvPicPr/>
          <p:nvPr/>
        </p:nvPicPr>
        <p:blipFill>
          <a:blip r:embed="rId1"/>
          <a:srcRect/>
          <a:stretch>
            <a:fillRect/>
          </a:stretch>
        </p:blipFill>
        <p:spPr bwMode="auto">
          <a:xfrm>
            <a:off x="593909" y="1487874"/>
            <a:ext cx="6416084" cy="458635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009993" y="1487874"/>
            <a:ext cx="3527378" cy="1138421"/>
            <a:chOff x="928274" y="2723985"/>
            <a:chExt cx="3527378" cy="1138421"/>
          </a:xfrm>
        </p:grpSpPr>
        <p:sp>
          <p:nvSpPr>
            <p:cNvPr id="157" name="文本框 156"/>
            <p:cNvSpPr txBox="1"/>
            <p:nvPr/>
          </p:nvSpPr>
          <p:spPr>
            <a:xfrm>
              <a:off x="928274" y="2723985"/>
              <a:ext cx="877163"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马强</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494885" cy="702949"/>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中华人民共和国驻南苏丹共和国</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首任特命全权大使</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2" name="图片 1"/>
          <p:cNvPicPr>
            <a:picLocks noChangeAspect="1"/>
          </p:cNvPicPr>
          <p:nvPr/>
        </p:nvPicPr>
        <p:blipFill>
          <a:blip r:embed="rId1"/>
          <a:stretch>
            <a:fillRect/>
          </a:stretch>
        </p:blipFill>
        <p:spPr>
          <a:xfrm>
            <a:off x="1498822" y="1487874"/>
            <a:ext cx="4931080" cy="4466978"/>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081252" y="1487874"/>
            <a:ext cx="3586748" cy="1138421"/>
            <a:chOff x="928274" y="2723985"/>
            <a:chExt cx="3586748" cy="1138421"/>
          </a:xfrm>
        </p:grpSpPr>
        <p:sp>
          <p:nvSpPr>
            <p:cNvPr id="157" name="文本框 156"/>
            <p:cNvSpPr txBox="1"/>
            <p:nvPr/>
          </p:nvSpPr>
          <p:spPr>
            <a:xfrm>
              <a:off x="928274" y="2723985"/>
              <a:ext cx="877163"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周鼎</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554255" cy="702949"/>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中华人民共和国驻阿尔巴尼亚共和国</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特命全权大使</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4" name="图片 13" descr="C:\Users\Administrator\Desktop\周鼎.jpg"/>
          <p:cNvPicPr/>
          <p:nvPr/>
        </p:nvPicPr>
        <p:blipFill rotWithShape="1">
          <a:blip r:embed="rId1" cstate="hqprint"/>
          <a:srcRect/>
          <a:stretch>
            <a:fillRect/>
          </a:stretch>
        </p:blipFill>
        <p:spPr bwMode="auto">
          <a:xfrm>
            <a:off x="2594716" y="1487874"/>
            <a:ext cx="3793822" cy="4698472"/>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276350" y="1487874"/>
            <a:ext cx="3586748" cy="1488068"/>
            <a:chOff x="928274" y="2723985"/>
            <a:chExt cx="3586748" cy="1488068"/>
          </a:xfrm>
        </p:grpSpPr>
        <p:sp>
          <p:nvSpPr>
            <p:cNvPr id="157" name="文本框 156"/>
            <p:cNvSpPr txBox="1"/>
            <p:nvPr/>
          </p:nvSpPr>
          <p:spPr>
            <a:xfrm>
              <a:off x="928274" y="2723985"/>
              <a:ext cx="877163"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高峰</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554255"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商务部办公厅 副主任</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兼商务部新闻发言人</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3" name="图片 12" descr="C:\Users\Administrator\Desktop\高峰.jpg"/>
          <p:cNvPicPr/>
          <p:nvPr/>
        </p:nvPicPr>
        <p:blipFill>
          <a:blip r:embed="rId1"/>
          <a:srcRect/>
          <a:stretch>
            <a:fillRect/>
          </a:stretch>
        </p:blipFill>
        <p:spPr bwMode="auto">
          <a:xfrm>
            <a:off x="494552" y="1487874"/>
            <a:ext cx="6287247" cy="4335983"/>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276350" y="1487874"/>
            <a:ext cx="3586748" cy="818334"/>
            <a:chOff x="928274" y="2723985"/>
            <a:chExt cx="3586748" cy="818334"/>
          </a:xfrm>
        </p:grpSpPr>
        <p:sp>
          <p:nvSpPr>
            <p:cNvPr id="157" name="文本框 156"/>
            <p:cNvSpPr txBox="1"/>
            <p:nvPr/>
          </p:nvSpPr>
          <p:spPr>
            <a:xfrm>
              <a:off x="928274" y="2723985"/>
              <a:ext cx="1223412"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陈丽敏</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554255" cy="382862"/>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澳门特别行政区行政法务司 前司长</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4" name="图片 13" descr="C:\Users\Administrator\Desktop\陈丽敏.jpg"/>
          <p:cNvPicPr/>
          <p:nvPr/>
        </p:nvPicPr>
        <p:blipFill rotWithShape="1">
          <a:blip r:embed="rId1" cstate="hqprint"/>
          <a:srcRect/>
          <a:stretch>
            <a:fillRect/>
          </a:stretch>
        </p:blipFill>
        <p:spPr bwMode="auto">
          <a:xfrm>
            <a:off x="494552" y="1487874"/>
            <a:ext cx="6292613" cy="4384892"/>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276350" y="1487874"/>
            <a:ext cx="3586748" cy="1167980"/>
            <a:chOff x="928274" y="2723985"/>
            <a:chExt cx="3586748" cy="1167980"/>
          </a:xfrm>
        </p:grpSpPr>
        <p:sp>
          <p:nvSpPr>
            <p:cNvPr id="157" name="文本框 156"/>
            <p:cNvSpPr txBox="1"/>
            <p:nvPr/>
          </p:nvSpPr>
          <p:spPr>
            <a:xfrm>
              <a:off x="928274" y="2723985"/>
              <a:ext cx="877163"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钱彤</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554255"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新华社国内部外事室 主任</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高级记者</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3" name="图片 12" descr="3、钱彤，外国语学部英语学院1991届毕业生，同年进入新华社工作。1998年开始从事外事报道，曾随国家领导人胡锦涛、习近平等出访过几十个国家，多次参加采访访华外国领导人，报道国内外举办的多个国际大型会议。现任新华社国内部外事室主任、高级记者。"/>
          <p:cNvPicPr/>
          <p:nvPr/>
        </p:nvPicPr>
        <p:blipFill rotWithShape="1">
          <a:blip r:embed="rId1" cstate="hqprint"/>
          <a:srcRect r="4735"/>
          <a:stretch>
            <a:fillRect/>
          </a:stretch>
        </p:blipFill>
        <p:spPr>
          <a:xfrm>
            <a:off x="2931083" y="1610076"/>
            <a:ext cx="3728368" cy="4301836"/>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276350" y="1487874"/>
            <a:ext cx="3586748" cy="1488068"/>
            <a:chOff x="928274" y="2723985"/>
            <a:chExt cx="3586748" cy="1488068"/>
          </a:xfrm>
        </p:grpSpPr>
        <p:sp>
          <p:nvSpPr>
            <p:cNvPr id="157" name="文本框 156"/>
            <p:cNvSpPr txBox="1"/>
            <p:nvPr/>
          </p:nvSpPr>
          <p:spPr>
            <a:xfrm>
              <a:off x="928274" y="2723985"/>
              <a:ext cx="1223412"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季小军</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554255"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中央电视台 双语主持人</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2019</a:t>
              </a: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年度“金牌主播”</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4" name="图片 13" descr="4、季小军，外国语学部1994届英语专业毕业生。现任中央电视台双语主持人。2000年加盟中央电视台先后主持过《环球瞭望》、《央视新闻》、《今日中国》等栏目，并主持多次重大事件的直播，如：伊拉克战事直播、北京2008年奥运会标志揭幕仪式直播、神舟5号飞船返回直播等。2010年度获中央电视台“名优主持人”。"/>
          <p:cNvPicPr/>
          <p:nvPr/>
        </p:nvPicPr>
        <p:blipFill>
          <a:blip r:embed="rId1"/>
          <a:stretch>
            <a:fillRect/>
          </a:stretch>
        </p:blipFill>
        <p:spPr>
          <a:xfrm>
            <a:off x="1510446" y="1642365"/>
            <a:ext cx="5374443" cy="3904836"/>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276350" y="1487874"/>
            <a:ext cx="3586748" cy="1167980"/>
            <a:chOff x="928274" y="2723985"/>
            <a:chExt cx="3586748" cy="1167980"/>
          </a:xfrm>
        </p:grpSpPr>
        <p:sp>
          <p:nvSpPr>
            <p:cNvPr id="157" name="文本框 156"/>
            <p:cNvSpPr txBox="1"/>
            <p:nvPr/>
          </p:nvSpPr>
          <p:spPr>
            <a:xfrm>
              <a:off x="928274" y="2723985"/>
              <a:ext cx="1223412"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傅晓田</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554255"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凤凰卫视 双语主持人</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主持</a:t>
              </a:r>
              <a:r>
                <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风云对话</a:t>
              </a:r>
              <a:r>
                <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等节目</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3" name="图片 12" descr="5、傅晓田，外国语学部2006届毕业生。毕业后就读英国剑桥大学丘吉尔学院，获哲学硕士学位。2009年加入凤凰卫视，2011年两度前往利比亚进行战地报道。2014年起担任《风云对话》节目主持人，对话各国政要。"/>
          <p:cNvPicPr/>
          <p:nvPr/>
        </p:nvPicPr>
        <p:blipFill>
          <a:blip r:embed="rId1"/>
          <a:stretch>
            <a:fillRect/>
          </a:stretch>
        </p:blipFill>
        <p:spPr>
          <a:xfrm>
            <a:off x="1498822" y="1487874"/>
            <a:ext cx="5371996" cy="4316578"/>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中国</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校友</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156" name="组合 155"/>
          <p:cNvGrpSpPr/>
          <p:nvPr/>
        </p:nvGrpSpPr>
        <p:grpSpPr>
          <a:xfrm>
            <a:off x="7276350" y="1487874"/>
            <a:ext cx="3796018" cy="1488068"/>
            <a:chOff x="928274" y="2723985"/>
            <a:chExt cx="3796018" cy="1488068"/>
          </a:xfrm>
        </p:grpSpPr>
        <p:sp>
          <p:nvSpPr>
            <p:cNvPr id="157" name="文本框 156"/>
            <p:cNvSpPr txBox="1"/>
            <p:nvPr/>
          </p:nvSpPr>
          <p:spPr>
            <a:xfrm>
              <a:off x="928274" y="2723985"/>
              <a:ext cx="877163"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李波</a:t>
              </a:r>
              <a:endParaRPr lang="zh-CN" altLang="en-US" sz="2400" i="1" spc="300" dirty="0">
                <a:latin typeface="黑体" panose="02010609060101010101" pitchFamily="49" charset="-122"/>
                <a:ea typeface="黑体" panose="02010609060101010101" pitchFamily="49" charset="-122"/>
              </a:endParaRPr>
            </a:p>
          </p:txBody>
        </p:sp>
        <p:sp>
          <p:nvSpPr>
            <p:cNvPr id="158" name="文本框 157"/>
            <p:cNvSpPr txBox="1"/>
            <p:nvPr/>
          </p:nvSpPr>
          <p:spPr>
            <a:xfrm>
              <a:off x="960767" y="3159457"/>
              <a:ext cx="3763525"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华盛美伦（北京）教育咨询有限公司、</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宁夏固原市海星公益组织 法人</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向学校捐赠一百万元</a:t>
              </a:r>
              <a:endParaRPr lang="en-US" altLang="zh-CN" sz="1600" b="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pic>
        <p:nvPicPr>
          <p:cNvPr id="14" name="图片 13" descr="9、李波，外国语学部英语学院1010届毕业生，现任华盛美伦（北京）教育咨询有限公司法人，宁夏固原市海星公益组织法人；为学院捐赠了20万，设立了“英语之星“奖学金。"/>
          <p:cNvPicPr/>
          <p:nvPr/>
        </p:nvPicPr>
        <p:blipFill>
          <a:blip r:embed="rId1"/>
          <a:stretch>
            <a:fillRect/>
          </a:stretch>
        </p:blipFill>
        <p:spPr>
          <a:xfrm>
            <a:off x="1388146" y="1637705"/>
            <a:ext cx="4820019" cy="3312726"/>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23"/>
          <p:cNvSpPr/>
          <p:nvPr/>
        </p:nvSpPr>
        <p:spPr>
          <a:xfrm>
            <a:off x="4106866" y="566685"/>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5408544" y="1945098"/>
            <a:ext cx="5474803" cy="1440443"/>
            <a:chOff x="928274" y="2723985"/>
            <a:chExt cx="5474803" cy="1440443"/>
          </a:xfrm>
        </p:grpSpPr>
        <p:sp>
          <p:nvSpPr>
            <p:cNvPr id="19" name="文本框 18"/>
            <p:cNvSpPr txBox="1"/>
            <p:nvPr/>
          </p:nvSpPr>
          <p:spPr>
            <a:xfrm>
              <a:off x="928274" y="2723985"/>
              <a:ext cx="156966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服务多数</a:t>
              </a:r>
              <a:endParaRPr lang="zh-CN" altLang="en-US" sz="2400" i="1" spc="300" dirty="0">
                <a:latin typeface="黑体" panose="02010609060101010101" pitchFamily="49" charset="-122"/>
                <a:ea typeface="黑体" panose="02010609060101010101" pitchFamily="49" charset="-122"/>
              </a:endParaRPr>
            </a:p>
          </p:txBody>
        </p:sp>
        <p:sp>
          <p:nvSpPr>
            <p:cNvPr id="20" name="文本框 19"/>
            <p:cNvSpPr txBox="1"/>
            <p:nvPr/>
          </p:nvSpPr>
          <p:spPr>
            <a:xfrm>
              <a:off x="960766" y="3111832"/>
              <a:ext cx="5442311"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春秋季</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双选会</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，企业专场</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招聘会</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公务员</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培训讲座</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，求职、考研和出国</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经验分享会</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就业、创业类</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课程</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，企业嘉年华，职场</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训练营</a:t>
              </a: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21" name="组合 20"/>
          <p:cNvGrpSpPr/>
          <p:nvPr/>
        </p:nvGrpSpPr>
        <p:grpSpPr>
          <a:xfrm>
            <a:off x="5332510" y="5056443"/>
            <a:ext cx="5331599" cy="1120355"/>
            <a:chOff x="928274" y="2723985"/>
            <a:chExt cx="5331599" cy="1120355"/>
          </a:xfrm>
        </p:grpSpPr>
        <p:sp>
          <p:nvSpPr>
            <p:cNvPr id="22" name="文本框 21"/>
            <p:cNvSpPr txBox="1"/>
            <p:nvPr/>
          </p:nvSpPr>
          <p:spPr>
            <a:xfrm>
              <a:off x="928274" y="2723985"/>
              <a:ext cx="156966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关注特殊</a:t>
              </a:r>
              <a:endParaRPr lang="zh-CN" altLang="en-US" sz="2400" i="1" spc="300" dirty="0">
                <a:latin typeface="黑体" panose="02010609060101010101" pitchFamily="49" charset="-122"/>
                <a:ea typeface="黑体" panose="02010609060101010101" pitchFamily="49" charset="-122"/>
              </a:endParaRPr>
            </a:p>
          </p:txBody>
        </p:sp>
        <p:sp>
          <p:nvSpPr>
            <p:cNvPr id="23" name="文本框 22"/>
            <p:cNvSpPr txBox="1"/>
            <p:nvPr/>
          </p:nvSpPr>
          <p:spPr>
            <a:xfrm>
              <a:off x="960767" y="3111832"/>
              <a:ext cx="5299106"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拔尖人才</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，优秀创业团队</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就业困难</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，家庭经济困难学生</a:t>
              </a: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24" name="组合 23"/>
          <p:cNvGrpSpPr/>
          <p:nvPr/>
        </p:nvGrpSpPr>
        <p:grpSpPr>
          <a:xfrm>
            <a:off x="5882845" y="3628650"/>
            <a:ext cx="5299106" cy="1120355"/>
            <a:chOff x="960767" y="2723985"/>
            <a:chExt cx="5299106" cy="1120355"/>
          </a:xfrm>
        </p:grpSpPr>
        <p:sp>
          <p:nvSpPr>
            <p:cNvPr id="25" name="文本框 24"/>
            <p:cNvSpPr txBox="1"/>
            <p:nvPr/>
          </p:nvSpPr>
          <p:spPr>
            <a:xfrm>
              <a:off x="1005218" y="2723985"/>
              <a:ext cx="156966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高端引领</a:t>
              </a:r>
              <a:endParaRPr lang="zh-CN" altLang="en-US" sz="2400" i="1" spc="300" dirty="0">
                <a:latin typeface="黑体" panose="02010609060101010101" pitchFamily="49" charset="-122"/>
                <a:ea typeface="黑体" panose="02010609060101010101" pitchFamily="49" charset="-122"/>
              </a:endParaRPr>
            </a:p>
          </p:txBody>
        </p:sp>
        <p:sp>
          <p:nvSpPr>
            <p:cNvPr id="26" name="文本框 25"/>
            <p:cNvSpPr txBox="1"/>
            <p:nvPr/>
          </p:nvSpPr>
          <p:spPr>
            <a:xfrm>
              <a:off x="960767" y="3111832"/>
              <a:ext cx="5299106"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国际组织</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人才训练营，</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外交人才</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训练营</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国际组织、部委和企事业单位</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推荐实习</a:t>
              </a: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5" name="组合 4"/>
          <p:cNvGrpSpPr/>
          <p:nvPr/>
        </p:nvGrpSpPr>
        <p:grpSpPr>
          <a:xfrm>
            <a:off x="1423535" y="2226004"/>
            <a:ext cx="4122738" cy="3636150"/>
            <a:chOff x="1423535" y="2226004"/>
            <a:chExt cx="4122738" cy="3636150"/>
          </a:xfrm>
        </p:grpSpPr>
        <p:sp>
          <p:nvSpPr>
            <p:cNvPr id="4" name="椭圆 3"/>
            <p:cNvSpPr/>
            <p:nvPr/>
          </p:nvSpPr>
          <p:spPr>
            <a:xfrm>
              <a:off x="1423535" y="2348038"/>
              <a:ext cx="3392082" cy="3392082"/>
            </a:xfrm>
            <a:prstGeom prst="ellipse">
              <a:avLst/>
            </a:prstGeom>
            <a:no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5" name="Group 5"/>
            <p:cNvGrpSpPr/>
            <p:nvPr/>
          </p:nvGrpSpPr>
          <p:grpSpPr>
            <a:xfrm>
              <a:off x="4021124" y="2226004"/>
              <a:ext cx="1035878" cy="1035878"/>
              <a:chOff x="935038" y="968375"/>
              <a:chExt cx="4152900" cy="4152900"/>
            </a:xfrm>
          </p:grpSpPr>
          <p:sp>
            <p:nvSpPr>
              <p:cNvPr id="36" name="椭圆 35"/>
              <p:cNvSpPr/>
              <p:nvPr/>
            </p:nvSpPr>
            <p:spPr>
              <a:xfrm>
                <a:off x="935038" y="968375"/>
                <a:ext cx="4152900" cy="4152900"/>
              </a:xfrm>
              <a:prstGeom prst="ellipse">
                <a:avLst/>
              </a:pr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7" name="Oval 7"/>
              <p:cNvSpPr/>
              <p:nvPr/>
            </p:nvSpPr>
            <p:spPr>
              <a:xfrm>
                <a:off x="2059999" y="2130151"/>
                <a:ext cx="1902983" cy="1829351"/>
              </a:xfrm>
              <a:custGeom>
                <a:avLst/>
                <a:gdLst>
                  <a:gd name="connsiteX0" fmla="*/ 241391 w 516922"/>
                  <a:gd name="connsiteY0" fmla="*/ 466920 h 496921"/>
                  <a:gd name="connsiteX1" fmla="*/ 374792 w 516922"/>
                  <a:gd name="connsiteY1" fmla="*/ 466920 h 496921"/>
                  <a:gd name="connsiteX2" fmla="*/ 394157 w 516922"/>
                  <a:gd name="connsiteY2" fmla="*/ 492438 h 496921"/>
                  <a:gd name="connsiteX3" fmla="*/ 241391 w 516922"/>
                  <a:gd name="connsiteY3" fmla="*/ 492438 h 496921"/>
                  <a:gd name="connsiteX4" fmla="*/ 45175 w 516922"/>
                  <a:gd name="connsiteY4" fmla="*/ 266910 h 496921"/>
                  <a:gd name="connsiteX5" fmla="*/ 178975 w 516922"/>
                  <a:gd name="connsiteY5" fmla="*/ 266910 h 496921"/>
                  <a:gd name="connsiteX6" fmla="*/ 178975 w 516922"/>
                  <a:gd name="connsiteY6" fmla="*/ 312085 h 496921"/>
                  <a:gd name="connsiteX7" fmla="*/ 45175 w 516922"/>
                  <a:gd name="connsiteY7" fmla="*/ 312085 h 496921"/>
                  <a:gd name="connsiteX8" fmla="*/ 45175 w 516922"/>
                  <a:gd name="connsiteY8" fmla="*/ 167939 h 496921"/>
                  <a:gd name="connsiteX9" fmla="*/ 178975 w 516922"/>
                  <a:gd name="connsiteY9" fmla="*/ 167939 h 496921"/>
                  <a:gd name="connsiteX10" fmla="*/ 178975 w 516922"/>
                  <a:gd name="connsiteY10" fmla="*/ 213114 h 496921"/>
                  <a:gd name="connsiteX11" fmla="*/ 45175 w 516922"/>
                  <a:gd name="connsiteY11" fmla="*/ 213114 h 496921"/>
                  <a:gd name="connsiteX12" fmla="*/ 254150 w 516922"/>
                  <a:gd name="connsiteY12" fmla="*/ 92418 h 496921"/>
                  <a:gd name="connsiteX13" fmla="*/ 497537 w 516922"/>
                  <a:gd name="connsiteY13" fmla="*/ 92418 h 496921"/>
                  <a:gd name="connsiteX14" fmla="*/ 516922 w 516922"/>
                  <a:gd name="connsiteY14" fmla="*/ 111788 h 496921"/>
                  <a:gd name="connsiteX15" fmla="*/ 516922 w 516922"/>
                  <a:gd name="connsiteY15" fmla="*/ 402340 h 496921"/>
                  <a:gd name="connsiteX16" fmla="*/ 497537 w 516922"/>
                  <a:gd name="connsiteY16" fmla="*/ 421710 h 496921"/>
                  <a:gd name="connsiteX17" fmla="*/ 359690 w 516922"/>
                  <a:gd name="connsiteY17" fmla="*/ 421710 h 496921"/>
                  <a:gd name="connsiteX18" fmla="*/ 359690 w 516922"/>
                  <a:gd name="connsiteY18" fmla="*/ 458298 h 496921"/>
                  <a:gd name="connsiteX19" fmla="*/ 254150 w 516922"/>
                  <a:gd name="connsiteY19" fmla="*/ 458298 h 496921"/>
                  <a:gd name="connsiteX20" fmla="*/ 254150 w 516922"/>
                  <a:gd name="connsiteY20" fmla="*/ 382970 h 496921"/>
                  <a:gd name="connsiteX21" fmla="*/ 478152 w 516922"/>
                  <a:gd name="connsiteY21" fmla="*/ 382970 h 496921"/>
                  <a:gd name="connsiteX22" fmla="*/ 478152 w 516922"/>
                  <a:gd name="connsiteY22" fmla="*/ 131158 h 496921"/>
                  <a:gd name="connsiteX23" fmla="*/ 254150 w 516922"/>
                  <a:gd name="connsiteY23" fmla="*/ 131158 h 496921"/>
                  <a:gd name="connsiteX24" fmla="*/ 45175 w 516922"/>
                  <a:gd name="connsiteY24" fmla="*/ 75176 h 496921"/>
                  <a:gd name="connsiteX25" fmla="*/ 178975 w 516922"/>
                  <a:gd name="connsiteY25" fmla="*/ 75176 h 496921"/>
                  <a:gd name="connsiteX26" fmla="*/ 178975 w 516922"/>
                  <a:gd name="connsiteY26" fmla="*/ 120351 h 496921"/>
                  <a:gd name="connsiteX27" fmla="*/ 45175 w 516922"/>
                  <a:gd name="connsiteY27" fmla="*/ 120351 h 496921"/>
                  <a:gd name="connsiteX28" fmla="*/ 28019 w 516922"/>
                  <a:gd name="connsiteY28" fmla="*/ 27965 h 496921"/>
                  <a:gd name="connsiteX29" fmla="*/ 28019 w 516922"/>
                  <a:gd name="connsiteY29" fmla="*/ 466805 h 496921"/>
                  <a:gd name="connsiteX30" fmla="*/ 196130 w 516922"/>
                  <a:gd name="connsiteY30" fmla="*/ 466805 h 496921"/>
                  <a:gd name="connsiteX31" fmla="*/ 196130 w 516922"/>
                  <a:gd name="connsiteY31" fmla="*/ 27965 h 496921"/>
                  <a:gd name="connsiteX32" fmla="*/ 28019 w 516922"/>
                  <a:gd name="connsiteY32" fmla="*/ 0 h 496921"/>
                  <a:gd name="connsiteX33" fmla="*/ 196130 w 516922"/>
                  <a:gd name="connsiteY33" fmla="*/ 0 h 496921"/>
                  <a:gd name="connsiteX34" fmla="*/ 224149 w 516922"/>
                  <a:gd name="connsiteY34" fmla="*/ 27965 h 496921"/>
                  <a:gd name="connsiteX35" fmla="*/ 224149 w 516922"/>
                  <a:gd name="connsiteY35" fmla="*/ 466805 h 496921"/>
                  <a:gd name="connsiteX36" fmla="*/ 196130 w 516922"/>
                  <a:gd name="connsiteY36" fmla="*/ 496921 h 496921"/>
                  <a:gd name="connsiteX37" fmla="*/ 28019 w 516922"/>
                  <a:gd name="connsiteY37" fmla="*/ 496921 h 496921"/>
                  <a:gd name="connsiteX38" fmla="*/ 0 w 516922"/>
                  <a:gd name="connsiteY38" fmla="*/ 466805 h 496921"/>
                  <a:gd name="connsiteX39" fmla="*/ 0 w 516922"/>
                  <a:gd name="connsiteY39" fmla="*/ 27965 h 496921"/>
                  <a:gd name="connsiteX40" fmla="*/ 28019 w 516922"/>
                  <a:gd name="connsiteY40" fmla="*/ 0 h 496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16922" h="496921">
                    <a:moveTo>
                      <a:pt x="241391" y="466920"/>
                    </a:moveTo>
                    <a:lnTo>
                      <a:pt x="374792" y="466920"/>
                    </a:lnTo>
                    <a:lnTo>
                      <a:pt x="394157" y="492438"/>
                    </a:lnTo>
                    <a:lnTo>
                      <a:pt x="241391" y="492438"/>
                    </a:lnTo>
                    <a:close/>
                    <a:moveTo>
                      <a:pt x="45175" y="266910"/>
                    </a:moveTo>
                    <a:lnTo>
                      <a:pt x="178975" y="266910"/>
                    </a:lnTo>
                    <a:lnTo>
                      <a:pt x="178975" y="312085"/>
                    </a:lnTo>
                    <a:lnTo>
                      <a:pt x="45175" y="312085"/>
                    </a:lnTo>
                    <a:close/>
                    <a:moveTo>
                      <a:pt x="45175" y="167939"/>
                    </a:moveTo>
                    <a:lnTo>
                      <a:pt x="178975" y="167939"/>
                    </a:lnTo>
                    <a:lnTo>
                      <a:pt x="178975" y="213114"/>
                    </a:lnTo>
                    <a:lnTo>
                      <a:pt x="45175" y="213114"/>
                    </a:lnTo>
                    <a:close/>
                    <a:moveTo>
                      <a:pt x="254150" y="92418"/>
                    </a:moveTo>
                    <a:lnTo>
                      <a:pt x="497537" y="92418"/>
                    </a:lnTo>
                    <a:cubicBezTo>
                      <a:pt x="508307" y="92418"/>
                      <a:pt x="516922" y="101027"/>
                      <a:pt x="516922" y="111788"/>
                    </a:cubicBezTo>
                    <a:lnTo>
                      <a:pt x="516922" y="402340"/>
                    </a:lnTo>
                    <a:cubicBezTo>
                      <a:pt x="516922" y="413101"/>
                      <a:pt x="508307" y="421710"/>
                      <a:pt x="497537" y="421710"/>
                    </a:cubicBezTo>
                    <a:lnTo>
                      <a:pt x="359690" y="421710"/>
                    </a:lnTo>
                    <a:lnTo>
                      <a:pt x="359690" y="458298"/>
                    </a:lnTo>
                    <a:lnTo>
                      <a:pt x="254150" y="458298"/>
                    </a:lnTo>
                    <a:lnTo>
                      <a:pt x="254150" y="382970"/>
                    </a:lnTo>
                    <a:lnTo>
                      <a:pt x="478152" y="382970"/>
                    </a:lnTo>
                    <a:lnTo>
                      <a:pt x="478152" y="131158"/>
                    </a:lnTo>
                    <a:lnTo>
                      <a:pt x="254150" y="131158"/>
                    </a:lnTo>
                    <a:close/>
                    <a:moveTo>
                      <a:pt x="45175" y="75176"/>
                    </a:moveTo>
                    <a:lnTo>
                      <a:pt x="178975" y="75176"/>
                    </a:lnTo>
                    <a:lnTo>
                      <a:pt x="178975" y="120351"/>
                    </a:lnTo>
                    <a:lnTo>
                      <a:pt x="45175" y="120351"/>
                    </a:lnTo>
                    <a:close/>
                    <a:moveTo>
                      <a:pt x="28019" y="27965"/>
                    </a:moveTo>
                    <a:lnTo>
                      <a:pt x="28019" y="466805"/>
                    </a:lnTo>
                    <a:lnTo>
                      <a:pt x="196130" y="466805"/>
                    </a:lnTo>
                    <a:lnTo>
                      <a:pt x="196130" y="27965"/>
                    </a:lnTo>
                    <a:close/>
                    <a:moveTo>
                      <a:pt x="28019" y="0"/>
                    </a:moveTo>
                    <a:lnTo>
                      <a:pt x="196130" y="0"/>
                    </a:lnTo>
                    <a:cubicBezTo>
                      <a:pt x="211217" y="0"/>
                      <a:pt x="224149" y="12907"/>
                      <a:pt x="224149" y="27965"/>
                    </a:cubicBezTo>
                    <a:lnTo>
                      <a:pt x="224149" y="466805"/>
                    </a:lnTo>
                    <a:cubicBezTo>
                      <a:pt x="224149" y="484014"/>
                      <a:pt x="211217" y="496921"/>
                      <a:pt x="196130" y="496921"/>
                    </a:cubicBezTo>
                    <a:lnTo>
                      <a:pt x="28019" y="496921"/>
                    </a:lnTo>
                    <a:cubicBezTo>
                      <a:pt x="12932" y="496921"/>
                      <a:pt x="0" y="484014"/>
                      <a:pt x="0" y="466805"/>
                    </a:cubicBezTo>
                    <a:lnTo>
                      <a:pt x="0" y="27965"/>
                    </a:lnTo>
                    <a:cubicBezTo>
                      <a:pt x="0" y="12907"/>
                      <a:pt x="12932" y="0"/>
                      <a:pt x="28019" y="0"/>
                    </a:cubicBezTo>
                    <a:close/>
                  </a:path>
                </a:pathLst>
              </a:cu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i="1"/>
              </a:p>
            </p:txBody>
          </p:sp>
        </p:grpSp>
        <p:grpSp>
          <p:nvGrpSpPr>
            <p:cNvPr id="41" name="Group 9"/>
            <p:cNvGrpSpPr/>
            <p:nvPr/>
          </p:nvGrpSpPr>
          <p:grpSpPr>
            <a:xfrm>
              <a:off x="4021124" y="4826276"/>
              <a:ext cx="1035878" cy="1035878"/>
              <a:chOff x="935038" y="968375"/>
              <a:chExt cx="4152900" cy="4152900"/>
            </a:xfrm>
          </p:grpSpPr>
          <p:sp>
            <p:nvSpPr>
              <p:cNvPr id="42" name="椭圆 41"/>
              <p:cNvSpPr/>
              <p:nvPr/>
            </p:nvSpPr>
            <p:spPr>
              <a:xfrm>
                <a:off x="935038" y="968375"/>
                <a:ext cx="4152900" cy="4152900"/>
              </a:xfrm>
              <a:prstGeom prst="ellipse">
                <a:avLst/>
              </a:pr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3" name="Oval 11"/>
              <p:cNvSpPr/>
              <p:nvPr/>
            </p:nvSpPr>
            <p:spPr>
              <a:xfrm>
                <a:off x="2217474" y="2093335"/>
                <a:ext cx="1588031" cy="1902983"/>
              </a:xfrm>
              <a:custGeom>
                <a:avLst/>
                <a:gdLst>
                  <a:gd name="connsiteX0" fmla="*/ 234347 w 506307"/>
                  <a:gd name="connsiteY0" fmla="*/ 379219 h 606722"/>
                  <a:gd name="connsiteX1" fmla="*/ 271960 w 506307"/>
                  <a:gd name="connsiteY1" fmla="*/ 379219 h 606722"/>
                  <a:gd name="connsiteX2" fmla="*/ 278451 w 506307"/>
                  <a:gd name="connsiteY2" fmla="*/ 385705 h 606722"/>
                  <a:gd name="connsiteX3" fmla="*/ 278451 w 506307"/>
                  <a:gd name="connsiteY3" fmla="*/ 448520 h 606722"/>
                  <a:gd name="connsiteX4" fmla="*/ 271960 w 506307"/>
                  <a:gd name="connsiteY4" fmla="*/ 455006 h 606722"/>
                  <a:gd name="connsiteX5" fmla="*/ 234347 w 506307"/>
                  <a:gd name="connsiteY5" fmla="*/ 455006 h 606722"/>
                  <a:gd name="connsiteX6" fmla="*/ 227856 w 506307"/>
                  <a:gd name="connsiteY6" fmla="*/ 448520 h 606722"/>
                  <a:gd name="connsiteX7" fmla="*/ 227856 w 506307"/>
                  <a:gd name="connsiteY7" fmla="*/ 385705 h 606722"/>
                  <a:gd name="connsiteX8" fmla="*/ 234347 w 506307"/>
                  <a:gd name="connsiteY8" fmla="*/ 379219 h 606722"/>
                  <a:gd name="connsiteX9" fmla="*/ 234331 w 506307"/>
                  <a:gd name="connsiteY9" fmla="*/ 328645 h 606722"/>
                  <a:gd name="connsiteX10" fmla="*/ 177194 w 506307"/>
                  <a:gd name="connsiteY10" fmla="*/ 385700 h 606722"/>
                  <a:gd name="connsiteX11" fmla="*/ 177194 w 506307"/>
                  <a:gd name="connsiteY11" fmla="*/ 448532 h 606722"/>
                  <a:gd name="connsiteX12" fmla="*/ 234331 w 506307"/>
                  <a:gd name="connsiteY12" fmla="*/ 505587 h 606722"/>
                  <a:gd name="connsiteX13" fmla="*/ 271977 w 506307"/>
                  <a:gd name="connsiteY13" fmla="*/ 505587 h 606722"/>
                  <a:gd name="connsiteX14" fmla="*/ 329113 w 506307"/>
                  <a:gd name="connsiteY14" fmla="*/ 448532 h 606722"/>
                  <a:gd name="connsiteX15" fmla="*/ 329113 w 506307"/>
                  <a:gd name="connsiteY15" fmla="*/ 385700 h 606722"/>
                  <a:gd name="connsiteX16" fmla="*/ 271977 w 506307"/>
                  <a:gd name="connsiteY16" fmla="*/ 328645 h 606722"/>
                  <a:gd name="connsiteX17" fmla="*/ 253109 w 506307"/>
                  <a:gd name="connsiteY17" fmla="*/ 0 h 606722"/>
                  <a:gd name="connsiteX18" fmla="*/ 430303 w 506307"/>
                  <a:gd name="connsiteY18" fmla="*/ 176942 h 606722"/>
                  <a:gd name="connsiteX19" fmla="*/ 430303 w 506307"/>
                  <a:gd name="connsiteY19" fmla="*/ 252749 h 606722"/>
                  <a:gd name="connsiteX20" fmla="*/ 480943 w 506307"/>
                  <a:gd name="connsiteY20" fmla="*/ 252749 h 606722"/>
                  <a:gd name="connsiteX21" fmla="*/ 506307 w 506307"/>
                  <a:gd name="connsiteY21" fmla="*/ 278077 h 606722"/>
                  <a:gd name="connsiteX22" fmla="*/ 506307 w 506307"/>
                  <a:gd name="connsiteY22" fmla="*/ 581394 h 606722"/>
                  <a:gd name="connsiteX23" fmla="*/ 480943 w 506307"/>
                  <a:gd name="connsiteY23" fmla="*/ 606722 h 606722"/>
                  <a:gd name="connsiteX24" fmla="*/ 25275 w 506307"/>
                  <a:gd name="connsiteY24" fmla="*/ 606722 h 606722"/>
                  <a:gd name="connsiteX25" fmla="*/ 0 w 506307"/>
                  <a:gd name="connsiteY25" fmla="*/ 581394 h 606722"/>
                  <a:gd name="connsiteX26" fmla="*/ 0 w 506307"/>
                  <a:gd name="connsiteY26" fmla="*/ 278077 h 606722"/>
                  <a:gd name="connsiteX27" fmla="*/ 25275 w 506307"/>
                  <a:gd name="connsiteY27" fmla="*/ 252749 h 606722"/>
                  <a:gd name="connsiteX28" fmla="*/ 379753 w 506307"/>
                  <a:gd name="connsiteY28" fmla="*/ 252749 h 606722"/>
                  <a:gd name="connsiteX29" fmla="*/ 379753 w 506307"/>
                  <a:gd name="connsiteY29" fmla="*/ 176942 h 606722"/>
                  <a:gd name="connsiteX30" fmla="*/ 253109 w 506307"/>
                  <a:gd name="connsiteY30" fmla="*/ 50568 h 606722"/>
                  <a:gd name="connsiteX31" fmla="*/ 126554 w 506307"/>
                  <a:gd name="connsiteY31" fmla="*/ 176942 h 606722"/>
                  <a:gd name="connsiteX32" fmla="*/ 101279 w 506307"/>
                  <a:gd name="connsiteY32" fmla="*/ 202270 h 606722"/>
                  <a:gd name="connsiteX33" fmla="*/ 75915 w 506307"/>
                  <a:gd name="connsiteY33" fmla="*/ 176942 h 606722"/>
                  <a:gd name="connsiteX34" fmla="*/ 253109 w 506307"/>
                  <a:gd name="connsiteY3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6307" h="606722">
                    <a:moveTo>
                      <a:pt x="234347" y="379219"/>
                    </a:moveTo>
                    <a:lnTo>
                      <a:pt x="271960" y="379219"/>
                    </a:lnTo>
                    <a:cubicBezTo>
                      <a:pt x="275517" y="379219"/>
                      <a:pt x="278451" y="382062"/>
                      <a:pt x="278451" y="385705"/>
                    </a:cubicBezTo>
                    <a:lnTo>
                      <a:pt x="278451" y="448520"/>
                    </a:lnTo>
                    <a:cubicBezTo>
                      <a:pt x="278451" y="452074"/>
                      <a:pt x="275517" y="455006"/>
                      <a:pt x="271960" y="455006"/>
                    </a:cubicBezTo>
                    <a:lnTo>
                      <a:pt x="234347" y="455006"/>
                    </a:lnTo>
                    <a:cubicBezTo>
                      <a:pt x="230791" y="455006"/>
                      <a:pt x="227856" y="452074"/>
                      <a:pt x="227856" y="448520"/>
                    </a:cubicBezTo>
                    <a:lnTo>
                      <a:pt x="227856" y="385705"/>
                    </a:lnTo>
                    <a:cubicBezTo>
                      <a:pt x="227856" y="382062"/>
                      <a:pt x="230791" y="379219"/>
                      <a:pt x="234347" y="379219"/>
                    </a:cubicBezTo>
                    <a:close/>
                    <a:moveTo>
                      <a:pt x="234331" y="328645"/>
                    </a:moveTo>
                    <a:cubicBezTo>
                      <a:pt x="202825" y="328645"/>
                      <a:pt x="177194" y="354240"/>
                      <a:pt x="177194" y="385700"/>
                    </a:cubicBezTo>
                    <a:lnTo>
                      <a:pt x="177194" y="448532"/>
                    </a:lnTo>
                    <a:cubicBezTo>
                      <a:pt x="177194" y="479992"/>
                      <a:pt x="202825" y="505587"/>
                      <a:pt x="234331" y="505587"/>
                    </a:cubicBezTo>
                    <a:lnTo>
                      <a:pt x="271977" y="505587"/>
                    </a:lnTo>
                    <a:cubicBezTo>
                      <a:pt x="303482" y="505587"/>
                      <a:pt x="329113" y="479992"/>
                      <a:pt x="329113" y="448532"/>
                    </a:cubicBezTo>
                    <a:lnTo>
                      <a:pt x="329113" y="385700"/>
                    </a:lnTo>
                    <a:cubicBezTo>
                      <a:pt x="329113" y="354240"/>
                      <a:pt x="303482" y="328645"/>
                      <a:pt x="271977" y="328645"/>
                    </a:cubicBezTo>
                    <a:close/>
                    <a:moveTo>
                      <a:pt x="253109" y="0"/>
                    </a:moveTo>
                    <a:cubicBezTo>
                      <a:pt x="350829" y="0"/>
                      <a:pt x="430303" y="79362"/>
                      <a:pt x="430303" y="176942"/>
                    </a:cubicBezTo>
                    <a:lnTo>
                      <a:pt x="430303" y="252749"/>
                    </a:lnTo>
                    <a:lnTo>
                      <a:pt x="480943" y="252749"/>
                    </a:lnTo>
                    <a:cubicBezTo>
                      <a:pt x="494916" y="252749"/>
                      <a:pt x="506307" y="264124"/>
                      <a:pt x="506307" y="278077"/>
                    </a:cubicBezTo>
                    <a:lnTo>
                      <a:pt x="506307" y="581394"/>
                    </a:lnTo>
                    <a:cubicBezTo>
                      <a:pt x="506307" y="595435"/>
                      <a:pt x="494916" y="606722"/>
                      <a:pt x="480943" y="606722"/>
                    </a:cubicBezTo>
                    <a:lnTo>
                      <a:pt x="25275" y="606722"/>
                    </a:lnTo>
                    <a:cubicBezTo>
                      <a:pt x="11302" y="606722"/>
                      <a:pt x="0" y="595435"/>
                      <a:pt x="0" y="581394"/>
                    </a:cubicBezTo>
                    <a:lnTo>
                      <a:pt x="0" y="278077"/>
                    </a:lnTo>
                    <a:cubicBezTo>
                      <a:pt x="0" y="264124"/>
                      <a:pt x="11302" y="252749"/>
                      <a:pt x="25275" y="252749"/>
                    </a:cubicBezTo>
                    <a:lnTo>
                      <a:pt x="379753" y="252749"/>
                    </a:lnTo>
                    <a:lnTo>
                      <a:pt x="379753" y="176942"/>
                    </a:lnTo>
                    <a:cubicBezTo>
                      <a:pt x="379753" y="107267"/>
                      <a:pt x="322972" y="50568"/>
                      <a:pt x="253109" y="50568"/>
                    </a:cubicBezTo>
                    <a:cubicBezTo>
                      <a:pt x="183335" y="50568"/>
                      <a:pt x="126554" y="107267"/>
                      <a:pt x="126554" y="176942"/>
                    </a:cubicBezTo>
                    <a:cubicBezTo>
                      <a:pt x="126554" y="190895"/>
                      <a:pt x="115252" y="202270"/>
                      <a:pt x="101279" y="202270"/>
                    </a:cubicBezTo>
                    <a:cubicBezTo>
                      <a:pt x="87306" y="202270"/>
                      <a:pt x="75915" y="190895"/>
                      <a:pt x="75915" y="176942"/>
                    </a:cubicBezTo>
                    <a:cubicBezTo>
                      <a:pt x="75915" y="79362"/>
                      <a:pt x="155389" y="0"/>
                      <a:pt x="253109" y="0"/>
                    </a:cubicBezTo>
                    <a:close/>
                  </a:path>
                </a:pathLst>
              </a:cu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i="1"/>
              </a:p>
            </p:txBody>
          </p:sp>
        </p:grpSp>
        <p:grpSp>
          <p:nvGrpSpPr>
            <p:cNvPr id="38" name="Group 12"/>
            <p:cNvGrpSpPr/>
            <p:nvPr/>
          </p:nvGrpSpPr>
          <p:grpSpPr>
            <a:xfrm>
              <a:off x="4510395" y="3526140"/>
              <a:ext cx="1035878" cy="1035878"/>
              <a:chOff x="2896560" y="968375"/>
              <a:chExt cx="4152900" cy="4152900"/>
            </a:xfrm>
          </p:grpSpPr>
          <p:sp>
            <p:nvSpPr>
              <p:cNvPr id="39" name="椭圆 38"/>
              <p:cNvSpPr/>
              <p:nvPr/>
            </p:nvSpPr>
            <p:spPr>
              <a:xfrm>
                <a:off x="2896560" y="968375"/>
                <a:ext cx="4152900" cy="4152900"/>
              </a:xfrm>
              <a:prstGeom prst="ellipse">
                <a:avLst/>
              </a:pr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0" name="Oval 14"/>
              <p:cNvSpPr/>
              <p:nvPr/>
            </p:nvSpPr>
            <p:spPr>
              <a:xfrm>
                <a:off x="4021519" y="2167575"/>
                <a:ext cx="1902982" cy="1754503"/>
              </a:xfrm>
              <a:custGeom>
                <a:avLst/>
                <a:gdLst>
                  <a:gd name="connsiteX0" fmla="*/ 469488 w 578320"/>
                  <a:gd name="connsiteY0" fmla="*/ 312166 h 533197"/>
                  <a:gd name="connsiteX1" fmla="*/ 523904 w 578320"/>
                  <a:gd name="connsiteY1" fmla="*/ 363740 h 533197"/>
                  <a:gd name="connsiteX2" fmla="*/ 523904 w 578320"/>
                  <a:gd name="connsiteY2" fmla="*/ 376634 h 533197"/>
                  <a:gd name="connsiteX3" fmla="*/ 527594 w 578320"/>
                  <a:gd name="connsiteY3" fmla="*/ 391369 h 533197"/>
                  <a:gd name="connsiteX4" fmla="*/ 512837 w 578320"/>
                  <a:gd name="connsiteY4" fmla="*/ 411630 h 533197"/>
                  <a:gd name="connsiteX5" fmla="*/ 498080 w 578320"/>
                  <a:gd name="connsiteY5" fmla="*/ 440180 h 533197"/>
                  <a:gd name="connsiteX6" fmla="*/ 529438 w 578320"/>
                  <a:gd name="connsiteY6" fmla="*/ 475176 h 533197"/>
                  <a:gd name="connsiteX7" fmla="*/ 578320 w 578320"/>
                  <a:gd name="connsiteY7" fmla="*/ 518462 h 533197"/>
                  <a:gd name="connsiteX8" fmla="*/ 485168 w 578320"/>
                  <a:gd name="connsiteY8" fmla="*/ 533197 h 533197"/>
                  <a:gd name="connsiteX9" fmla="*/ 477789 w 578320"/>
                  <a:gd name="connsiteY9" fmla="*/ 486228 h 533197"/>
                  <a:gd name="connsiteX10" fmla="*/ 481478 w 578320"/>
                  <a:gd name="connsiteY10" fmla="*/ 479781 h 533197"/>
                  <a:gd name="connsiteX11" fmla="*/ 480556 w 578320"/>
                  <a:gd name="connsiteY11" fmla="*/ 477939 h 533197"/>
                  <a:gd name="connsiteX12" fmla="*/ 471333 w 578320"/>
                  <a:gd name="connsiteY12" fmla="*/ 466888 h 533197"/>
                  <a:gd name="connsiteX13" fmla="*/ 467644 w 578320"/>
                  <a:gd name="connsiteY13" fmla="*/ 466888 h 533197"/>
                  <a:gd name="connsiteX14" fmla="*/ 458421 w 578320"/>
                  <a:gd name="connsiteY14" fmla="*/ 477939 h 533197"/>
                  <a:gd name="connsiteX15" fmla="*/ 458421 w 578320"/>
                  <a:gd name="connsiteY15" fmla="*/ 479781 h 533197"/>
                  <a:gd name="connsiteX16" fmla="*/ 462110 w 578320"/>
                  <a:gd name="connsiteY16" fmla="*/ 486228 h 533197"/>
                  <a:gd name="connsiteX17" fmla="*/ 454732 w 578320"/>
                  <a:gd name="connsiteY17" fmla="*/ 533197 h 533197"/>
                  <a:gd name="connsiteX18" fmla="*/ 361579 w 578320"/>
                  <a:gd name="connsiteY18" fmla="*/ 518462 h 533197"/>
                  <a:gd name="connsiteX19" fmla="*/ 409539 w 578320"/>
                  <a:gd name="connsiteY19" fmla="*/ 475176 h 533197"/>
                  <a:gd name="connsiteX20" fmla="*/ 440897 w 578320"/>
                  <a:gd name="connsiteY20" fmla="*/ 440180 h 533197"/>
                  <a:gd name="connsiteX21" fmla="*/ 427063 w 578320"/>
                  <a:gd name="connsiteY21" fmla="*/ 411630 h 533197"/>
                  <a:gd name="connsiteX22" fmla="*/ 411383 w 578320"/>
                  <a:gd name="connsiteY22" fmla="*/ 391369 h 533197"/>
                  <a:gd name="connsiteX23" fmla="*/ 415995 w 578320"/>
                  <a:gd name="connsiteY23" fmla="*/ 376634 h 533197"/>
                  <a:gd name="connsiteX24" fmla="*/ 415995 w 578320"/>
                  <a:gd name="connsiteY24" fmla="*/ 363740 h 533197"/>
                  <a:gd name="connsiteX25" fmla="*/ 469488 w 578320"/>
                  <a:gd name="connsiteY25" fmla="*/ 312166 h 533197"/>
                  <a:gd name="connsiteX26" fmla="*/ 107909 w 578320"/>
                  <a:gd name="connsiteY26" fmla="*/ 312166 h 533197"/>
                  <a:gd name="connsiteX27" fmla="*/ 162325 w 578320"/>
                  <a:gd name="connsiteY27" fmla="*/ 363740 h 533197"/>
                  <a:gd name="connsiteX28" fmla="*/ 162325 w 578320"/>
                  <a:gd name="connsiteY28" fmla="*/ 376634 h 533197"/>
                  <a:gd name="connsiteX29" fmla="*/ 166937 w 578320"/>
                  <a:gd name="connsiteY29" fmla="*/ 391369 h 533197"/>
                  <a:gd name="connsiteX30" fmla="*/ 151257 w 578320"/>
                  <a:gd name="connsiteY30" fmla="*/ 411630 h 533197"/>
                  <a:gd name="connsiteX31" fmla="*/ 137423 w 578320"/>
                  <a:gd name="connsiteY31" fmla="*/ 440180 h 533197"/>
                  <a:gd name="connsiteX32" fmla="*/ 167859 w 578320"/>
                  <a:gd name="connsiteY32" fmla="*/ 475176 h 533197"/>
                  <a:gd name="connsiteX33" fmla="*/ 216741 w 578320"/>
                  <a:gd name="connsiteY33" fmla="*/ 518462 h 533197"/>
                  <a:gd name="connsiteX34" fmla="*/ 123588 w 578320"/>
                  <a:gd name="connsiteY34" fmla="*/ 533197 h 533197"/>
                  <a:gd name="connsiteX35" fmla="*/ 116210 w 578320"/>
                  <a:gd name="connsiteY35" fmla="*/ 486228 h 533197"/>
                  <a:gd name="connsiteX36" fmla="*/ 119899 w 578320"/>
                  <a:gd name="connsiteY36" fmla="*/ 479781 h 533197"/>
                  <a:gd name="connsiteX37" fmla="*/ 119899 w 578320"/>
                  <a:gd name="connsiteY37" fmla="*/ 477939 h 533197"/>
                  <a:gd name="connsiteX38" fmla="*/ 109754 w 578320"/>
                  <a:gd name="connsiteY38" fmla="*/ 466888 h 533197"/>
                  <a:gd name="connsiteX39" fmla="*/ 106987 w 578320"/>
                  <a:gd name="connsiteY39" fmla="*/ 466888 h 533197"/>
                  <a:gd name="connsiteX40" fmla="*/ 96842 w 578320"/>
                  <a:gd name="connsiteY40" fmla="*/ 477939 h 533197"/>
                  <a:gd name="connsiteX41" fmla="*/ 96842 w 578320"/>
                  <a:gd name="connsiteY41" fmla="*/ 479781 h 533197"/>
                  <a:gd name="connsiteX42" fmla="*/ 100531 w 578320"/>
                  <a:gd name="connsiteY42" fmla="*/ 486228 h 533197"/>
                  <a:gd name="connsiteX43" fmla="*/ 93152 w 578320"/>
                  <a:gd name="connsiteY43" fmla="*/ 533197 h 533197"/>
                  <a:gd name="connsiteX44" fmla="*/ 0 w 578320"/>
                  <a:gd name="connsiteY44" fmla="*/ 518462 h 533197"/>
                  <a:gd name="connsiteX45" fmla="*/ 48882 w 578320"/>
                  <a:gd name="connsiteY45" fmla="*/ 475176 h 533197"/>
                  <a:gd name="connsiteX46" fmla="*/ 79318 w 578320"/>
                  <a:gd name="connsiteY46" fmla="*/ 440180 h 533197"/>
                  <a:gd name="connsiteX47" fmla="*/ 65483 w 578320"/>
                  <a:gd name="connsiteY47" fmla="*/ 411630 h 533197"/>
                  <a:gd name="connsiteX48" fmla="*/ 49804 w 578320"/>
                  <a:gd name="connsiteY48" fmla="*/ 391369 h 533197"/>
                  <a:gd name="connsiteX49" fmla="*/ 54416 w 578320"/>
                  <a:gd name="connsiteY49" fmla="*/ 376634 h 533197"/>
                  <a:gd name="connsiteX50" fmla="*/ 54416 w 578320"/>
                  <a:gd name="connsiteY50" fmla="*/ 363740 h 533197"/>
                  <a:gd name="connsiteX51" fmla="*/ 107909 w 578320"/>
                  <a:gd name="connsiteY51" fmla="*/ 312166 h 533197"/>
                  <a:gd name="connsiteX52" fmla="*/ 288717 w 578320"/>
                  <a:gd name="connsiteY52" fmla="*/ 237601 h 533197"/>
                  <a:gd name="connsiteX53" fmla="*/ 303485 w 578320"/>
                  <a:gd name="connsiteY53" fmla="*/ 252338 h 533197"/>
                  <a:gd name="connsiteX54" fmla="*/ 303485 w 578320"/>
                  <a:gd name="connsiteY54" fmla="*/ 331547 h 533197"/>
                  <a:gd name="connsiteX55" fmla="*/ 384708 w 578320"/>
                  <a:gd name="connsiteY55" fmla="*/ 398782 h 533197"/>
                  <a:gd name="connsiteX56" fmla="*/ 386554 w 578320"/>
                  <a:gd name="connsiteY56" fmla="*/ 419045 h 533197"/>
                  <a:gd name="connsiteX57" fmla="*/ 375478 w 578320"/>
                  <a:gd name="connsiteY57" fmla="*/ 423650 h 533197"/>
                  <a:gd name="connsiteX58" fmla="*/ 366248 w 578320"/>
                  <a:gd name="connsiteY58" fmla="*/ 420887 h 533197"/>
                  <a:gd name="connsiteX59" fmla="*/ 288717 w 578320"/>
                  <a:gd name="connsiteY59" fmla="*/ 356415 h 533197"/>
                  <a:gd name="connsiteX60" fmla="*/ 212108 w 578320"/>
                  <a:gd name="connsiteY60" fmla="*/ 420887 h 533197"/>
                  <a:gd name="connsiteX61" fmla="*/ 191802 w 578320"/>
                  <a:gd name="connsiteY61" fmla="*/ 419045 h 533197"/>
                  <a:gd name="connsiteX62" fmla="*/ 193648 w 578320"/>
                  <a:gd name="connsiteY62" fmla="*/ 398782 h 533197"/>
                  <a:gd name="connsiteX63" fmla="*/ 274872 w 578320"/>
                  <a:gd name="connsiteY63" fmla="*/ 331547 h 533197"/>
                  <a:gd name="connsiteX64" fmla="*/ 274872 w 578320"/>
                  <a:gd name="connsiteY64" fmla="*/ 252338 h 533197"/>
                  <a:gd name="connsiteX65" fmla="*/ 288717 w 578320"/>
                  <a:gd name="connsiteY65" fmla="*/ 237601 h 533197"/>
                  <a:gd name="connsiteX66" fmla="*/ 288699 w 578320"/>
                  <a:gd name="connsiteY66" fmla="*/ 0 h 533197"/>
                  <a:gd name="connsiteX67" fmla="*/ 343115 w 578320"/>
                  <a:gd name="connsiteY67" fmla="*/ 50653 h 533197"/>
                  <a:gd name="connsiteX68" fmla="*/ 343115 w 578320"/>
                  <a:gd name="connsiteY68" fmla="*/ 63546 h 533197"/>
                  <a:gd name="connsiteX69" fmla="*/ 346805 w 578320"/>
                  <a:gd name="connsiteY69" fmla="*/ 78282 h 533197"/>
                  <a:gd name="connsiteX70" fmla="*/ 332048 w 578320"/>
                  <a:gd name="connsiteY70" fmla="*/ 98543 h 533197"/>
                  <a:gd name="connsiteX71" fmla="*/ 318213 w 578320"/>
                  <a:gd name="connsiteY71" fmla="*/ 127093 h 533197"/>
                  <a:gd name="connsiteX72" fmla="*/ 348649 w 578320"/>
                  <a:gd name="connsiteY72" fmla="*/ 163010 h 533197"/>
                  <a:gd name="connsiteX73" fmla="*/ 397531 w 578320"/>
                  <a:gd name="connsiteY73" fmla="*/ 206295 h 533197"/>
                  <a:gd name="connsiteX74" fmla="*/ 304379 w 578320"/>
                  <a:gd name="connsiteY74" fmla="*/ 220110 h 533197"/>
                  <a:gd name="connsiteX75" fmla="*/ 297000 w 578320"/>
                  <a:gd name="connsiteY75" fmla="*/ 173141 h 533197"/>
                  <a:gd name="connsiteX76" fmla="*/ 300689 w 578320"/>
                  <a:gd name="connsiteY76" fmla="*/ 167615 h 533197"/>
                  <a:gd name="connsiteX77" fmla="*/ 300689 w 578320"/>
                  <a:gd name="connsiteY77" fmla="*/ 164852 h 533197"/>
                  <a:gd name="connsiteX78" fmla="*/ 290544 w 578320"/>
                  <a:gd name="connsiteY78" fmla="*/ 154722 h 533197"/>
                  <a:gd name="connsiteX79" fmla="*/ 287777 w 578320"/>
                  <a:gd name="connsiteY79" fmla="*/ 154722 h 533197"/>
                  <a:gd name="connsiteX80" fmla="*/ 277632 w 578320"/>
                  <a:gd name="connsiteY80" fmla="*/ 164852 h 533197"/>
                  <a:gd name="connsiteX81" fmla="*/ 277632 w 578320"/>
                  <a:gd name="connsiteY81" fmla="*/ 167615 h 533197"/>
                  <a:gd name="connsiteX82" fmla="*/ 281321 w 578320"/>
                  <a:gd name="connsiteY82" fmla="*/ 173141 h 533197"/>
                  <a:gd name="connsiteX83" fmla="*/ 273943 w 578320"/>
                  <a:gd name="connsiteY83" fmla="*/ 221031 h 533197"/>
                  <a:gd name="connsiteX84" fmla="*/ 180790 w 578320"/>
                  <a:gd name="connsiteY84" fmla="*/ 206295 h 533197"/>
                  <a:gd name="connsiteX85" fmla="*/ 228750 w 578320"/>
                  <a:gd name="connsiteY85" fmla="*/ 163010 h 533197"/>
                  <a:gd name="connsiteX86" fmla="*/ 260108 w 578320"/>
                  <a:gd name="connsiteY86" fmla="*/ 127093 h 533197"/>
                  <a:gd name="connsiteX87" fmla="*/ 246274 w 578320"/>
                  <a:gd name="connsiteY87" fmla="*/ 98543 h 533197"/>
                  <a:gd name="connsiteX88" fmla="*/ 230594 w 578320"/>
                  <a:gd name="connsiteY88" fmla="*/ 78282 h 533197"/>
                  <a:gd name="connsiteX89" fmla="*/ 235206 w 578320"/>
                  <a:gd name="connsiteY89" fmla="*/ 63546 h 533197"/>
                  <a:gd name="connsiteX90" fmla="*/ 235206 w 578320"/>
                  <a:gd name="connsiteY90" fmla="*/ 50653 h 533197"/>
                  <a:gd name="connsiteX91" fmla="*/ 288699 w 578320"/>
                  <a:gd name="connsiteY91" fmla="*/ 0 h 53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578320" h="533197">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i="1"/>
              </a:p>
            </p:txBody>
          </p:sp>
        </p:grpSp>
        <p:sp>
          <p:nvSpPr>
            <p:cNvPr id="2" name="椭圆 1"/>
            <p:cNvSpPr/>
            <p:nvPr/>
          </p:nvSpPr>
          <p:spPr>
            <a:xfrm>
              <a:off x="1639642" y="2564144"/>
              <a:ext cx="2959869" cy="2959870"/>
            </a:xfrm>
            <a:prstGeom prst="ellipse">
              <a:avLst/>
            </a:prstGeom>
            <a:solidFill>
              <a:schemeClr val="bg2"/>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3" name="椭圆 2"/>
            <p:cNvSpPr/>
            <p:nvPr/>
          </p:nvSpPr>
          <p:spPr>
            <a:xfrm>
              <a:off x="2048095" y="2972598"/>
              <a:ext cx="2142962" cy="2142963"/>
            </a:xfrm>
            <a:prstGeom prst="ellipse">
              <a:avLst/>
            </a:pr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29" name="文本框 28"/>
            <p:cNvSpPr txBox="1"/>
            <p:nvPr/>
          </p:nvSpPr>
          <p:spPr>
            <a:xfrm>
              <a:off x="2166780" y="4118923"/>
              <a:ext cx="1915909" cy="830997"/>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个性化发展</a:t>
              </a:r>
              <a:endParaRPr lang="en-US" altLang="zh-CN" sz="2400" i="1" spc="300" dirty="0">
                <a:latin typeface="黑体" panose="02010609060101010101" pitchFamily="49" charset="-122"/>
                <a:ea typeface="黑体" panose="02010609060101010101" pitchFamily="49" charset="-122"/>
              </a:endParaRPr>
            </a:p>
            <a:p>
              <a:pPr algn="ctr"/>
              <a:r>
                <a:rPr lang="zh-CN" altLang="en-US" sz="2400" i="1" spc="300" dirty="0">
                  <a:latin typeface="黑体" panose="02010609060101010101" pitchFamily="49" charset="-122"/>
                  <a:ea typeface="黑体" panose="02010609060101010101" pitchFamily="49" charset="-122"/>
                </a:rPr>
                <a:t>路径</a:t>
              </a:r>
              <a:endParaRPr lang="zh-CN" altLang="en-US" sz="2400" i="1" spc="300" dirty="0">
                <a:latin typeface="黑体" panose="02010609060101010101" pitchFamily="49" charset="-122"/>
                <a:ea typeface="黑体" panose="02010609060101010101" pitchFamily="49" charset="-122"/>
              </a:endParaRPr>
            </a:p>
          </p:txBody>
        </p:sp>
        <p:sp>
          <p:nvSpPr>
            <p:cNvPr id="34" name="Oval 30"/>
            <p:cNvSpPr/>
            <p:nvPr/>
          </p:nvSpPr>
          <p:spPr>
            <a:xfrm>
              <a:off x="2865286" y="3431710"/>
              <a:ext cx="508581" cy="525600"/>
            </a:xfrm>
            <a:custGeom>
              <a:avLst/>
              <a:gdLst>
                <a:gd name="T0" fmla="*/ 743 w 743"/>
                <a:gd name="T1" fmla="*/ 27 h 769"/>
                <a:gd name="T2" fmla="*/ 736 w 743"/>
                <a:gd name="T3" fmla="*/ 8 h 769"/>
                <a:gd name="T4" fmla="*/ 717 w 743"/>
                <a:gd name="T5" fmla="*/ 0 h 769"/>
                <a:gd name="T6" fmla="*/ 599 w 743"/>
                <a:gd name="T7" fmla="*/ 0 h 769"/>
                <a:gd name="T8" fmla="*/ 591 w 743"/>
                <a:gd name="T9" fmla="*/ 1 h 769"/>
                <a:gd name="T10" fmla="*/ 569 w 743"/>
                <a:gd name="T11" fmla="*/ 1 h 769"/>
                <a:gd name="T12" fmla="*/ 555 w 743"/>
                <a:gd name="T13" fmla="*/ 2 h 769"/>
                <a:gd name="T14" fmla="*/ 184 w 743"/>
                <a:gd name="T15" fmla="*/ 2 h 769"/>
                <a:gd name="T16" fmla="*/ 171 w 743"/>
                <a:gd name="T17" fmla="*/ 1 h 769"/>
                <a:gd name="T18" fmla="*/ 152 w 743"/>
                <a:gd name="T19" fmla="*/ 1 h 769"/>
                <a:gd name="T20" fmla="*/ 144 w 743"/>
                <a:gd name="T21" fmla="*/ 0 h 769"/>
                <a:gd name="T22" fmla="*/ 26 w 743"/>
                <a:gd name="T23" fmla="*/ 0 h 769"/>
                <a:gd name="T24" fmla="*/ 8 w 743"/>
                <a:gd name="T25" fmla="*/ 8 h 769"/>
                <a:gd name="T26" fmla="*/ 0 w 743"/>
                <a:gd name="T27" fmla="*/ 27 h 769"/>
                <a:gd name="T28" fmla="*/ 118 w 743"/>
                <a:gd name="T29" fmla="*/ 266 h 769"/>
                <a:gd name="T30" fmla="*/ 118 w 743"/>
                <a:gd name="T31" fmla="*/ 267 h 769"/>
                <a:gd name="T32" fmla="*/ 118 w 743"/>
                <a:gd name="T33" fmla="*/ 270 h 769"/>
                <a:gd name="T34" fmla="*/ 342 w 743"/>
                <a:gd name="T35" fmla="*/ 511 h 769"/>
                <a:gd name="T36" fmla="*/ 342 w 743"/>
                <a:gd name="T37" fmla="*/ 713 h 769"/>
                <a:gd name="T38" fmla="*/ 242 w 743"/>
                <a:gd name="T39" fmla="*/ 713 h 769"/>
                <a:gd name="T40" fmla="*/ 228 w 743"/>
                <a:gd name="T41" fmla="*/ 727 h 769"/>
                <a:gd name="T42" fmla="*/ 228 w 743"/>
                <a:gd name="T43" fmla="*/ 756 h 769"/>
                <a:gd name="T44" fmla="*/ 242 w 743"/>
                <a:gd name="T45" fmla="*/ 769 h 769"/>
                <a:gd name="T46" fmla="*/ 498 w 743"/>
                <a:gd name="T47" fmla="*/ 769 h 769"/>
                <a:gd name="T48" fmla="*/ 511 w 743"/>
                <a:gd name="T49" fmla="*/ 756 h 769"/>
                <a:gd name="T50" fmla="*/ 511 w 743"/>
                <a:gd name="T51" fmla="*/ 727 h 769"/>
                <a:gd name="T52" fmla="*/ 498 w 743"/>
                <a:gd name="T53" fmla="*/ 713 h 769"/>
                <a:gd name="T54" fmla="*/ 398 w 743"/>
                <a:gd name="T55" fmla="*/ 713 h 769"/>
                <a:gd name="T56" fmla="*/ 398 w 743"/>
                <a:gd name="T57" fmla="*/ 511 h 769"/>
                <a:gd name="T58" fmla="*/ 621 w 743"/>
                <a:gd name="T59" fmla="*/ 279 h 769"/>
                <a:gd name="T60" fmla="*/ 623 w 743"/>
                <a:gd name="T61" fmla="*/ 271 h 769"/>
                <a:gd name="T62" fmla="*/ 623 w 743"/>
                <a:gd name="T63" fmla="*/ 266 h 769"/>
                <a:gd name="T64" fmla="*/ 743 w 743"/>
                <a:gd name="T65" fmla="*/ 27 h 769"/>
                <a:gd name="T66" fmla="*/ 370 w 743"/>
                <a:gd name="T67" fmla="*/ 457 h 769"/>
                <a:gd name="T68" fmla="*/ 174 w 743"/>
                <a:gd name="T69" fmla="*/ 261 h 769"/>
                <a:gd name="T70" fmla="*/ 174 w 743"/>
                <a:gd name="T71" fmla="*/ 58 h 769"/>
                <a:gd name="T72" fmla="*/ 566 w 743"/>
                <a:gd name="T73" fmla="*/ 58 h 769"/>
                <a:gd name="T74" fmla="*/ 566 w 743"/>
                <a:gd name="T75" fmla="*/ 261 h 769"/>
                <a:gd name="T76" fmla="*/ 370 w 743"/>
                <a:gd name="T77" fmla="*/ 457 h 769"/>
                <a:gd name="T78" fmla="*/ 118 w 743"/>
                <a:gd name="T79" fmla="*/ 209 h 769"/>
                <a:gd name="T80" fmla="*/ 55 w 743"/>
                <a:gd name="T81" fmla="*/ 53 h 769"/>
                <a:gd name="T82" fmla="*/ 118 w 743"/>
                <a:gd name="T83" fmla="*/ 53 h 769"/>
                <a:gd name="T84" fmla="*/ 118 w 743"/>
                <a:gd name="T85" fmla="*/ 209 h 769"/>
                <a:gd name="T86" fmla="*/ 626 w 743"/>
                <a:gd name="T87" fmla="*/ 209 h 769"/>
                <a:gd name="T88" fmla="*/ 626 w 743"/>
                <a:gd name="T89" fmla="*/ 53 h 769"/>
                <a:gd name="T90" fmla="*/ 688 w 743"/>
                <a:gd name="T91" fmla="*/ 53 h 769"/>
                <a:gd name="T92" fmla="*/ 626 w 743"/>
                <a:gd name="T93" fmla="*/ 209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43" h="769">
                  <a:moveTo>
                    <a:pt x="743" y="27"/>
                  </a:moveTo>
                  <a:cubicBezTo>
                    <a:pt x="743" y="20"/>
                    <a:pt x="741" y="13"/>
                    <a:pt x="736" y="8"/>
                  </a:cubicBezTo>
                  <a:cubicBezTo>
                    <a:pt x="731" y="3"/>
                    <a:pt x="724" y="0"/>
                    <a:pt x="717" y="0"/>
                  </a:cubicBezTo>
                  <a:lnTo>
                    <a:pt x="599" y="0"/>
                  </a:lnTo>
                  <a:cubicBezTo>
                    <a:pt x="596" y="0"/>
                    <a:pt x="594" y="0"/>
                    <a:pt x="591" y="1"/>
                  </a:cubicBezTo>
                  <a:lnTo>
                    <a:pt x="569" y="1"/>
                  </a:lnTo>
                  <a:cubicBezTo>
                    <a:pt x="565" y="1"/>
                    <a:pt x="560" y="1"/>
                    <a:pt x="555" y="2"/>
                  </a:cubicBezTo>
                  <a:lnTo>
                    <a:pt x="184" y="2"/>
                  </a:lnTo>
                  <a:cubicBezTo>
                    <a:pt x="179" y="1"/>
                    <a:pt x="175" y="1"/>
                    <a:pt x="171" y="1"/>
                  </a:cubicBezTo>
                  <a:lnTo>
                    <a:pt x="152" y="1"/>
                  </a:lnTo>
                  <a:cubicBezTo>
                    <a:pt x="149" y="0"/>
                    <a:pt x="147" y="0"/>
                    <a:pt x="144" y="0"/>
                  </a:cubicBezTo>
                  <a:lnTo>
                    <a:pt x="26" y="0"/>
                  </a:lnTo>
                  <a:cubicBezTo>
                    <a:pt x="19" y="0"/>
                    <a:pt x="13" y="3"/>
                    <a:pt x="8" y="8"/>
                  </a:cubicBezTo>
                  <a:cubicBezTo>
                    <a:pt x="2" y="13"/>
                    <a:pt x="0" y="20"/>
                    <a:pt x="0" y="27"/>
                  </a:cubicBezTo>
                  <a:cubicBezTo>
                    <a:pt x="0" y="36"/>
                    <a:pt x="3" y="239"/>
                    <a:pt x="118" y="266"/>
                  </a:cubicBezTo>
                  <a:lnTo>
                    <a:pt x="118" y="267"/>
                  </a:lnTo>
                  <a:cubicBezTo>
                    <a:pt x="118" y="268"/>
                    <a:pt x="118" y="269"/>
                    <a:pt x="118" y="270"/>
                  </a:cubicBezTo>
                  <a:cubicBezTo>
                    <a:pt x="123" y="394"/>
                    <a:pt x="220" y="497"/>
                    <a:pt x="342" y="511"/>
                  </a:cubicBezTo>
                  <a:lnTo>
                    <a:pt x="342" y="713"/>
                  </a:lnTo>
                  <a:lnTo>
                    <a:pt x="242" y="713"/>
                  </a:lnTo>
                  <a:cubicBezTo>
                    <a:pt x="234" y="713"/>
                    <a:pt x="228" y="719"/>
                    <a:pt x="228" y="727"/>
                  </a:cubicBezTo>
                  <a:lnTo>
                    <a:pt x="228" y="756"/>
                  </a:lnTo>
                  <a:cubicBezTo>
                    <a:pt x="228" y="763"/>
                    <a:pt x="234" y="769"/>
                    <a:pt x="242" y="769"/>
                  </a:cubicBezTo>
                  <a:lnTo>
                    <a:pt x="498" y="769"/>
                  </a:lnTo>
                  <a:cubicBezTo>
                    <a:pt x="505" y="769"/>
                    <a:pt x="511" y="763"/>
                    <a:pt x="511" y="756"/>
                  </a:cubicBezTo>
                  <a:lnTo>
                    <a:pt x="511" y="727"/>
                  </a:lnTo>
                  <a:cubicBezTo>
                    <a:pt x="511" y="719"/>
                    <a:pt x="505" y="713"/>
                    <a:pt x="498" y="713"/>
                  </a:cubicBezTo>
                  <a:lnTo>
                    <a:pt x="398" y="713"/>
                  </a:lnTo>
                  <a:lnTo>
                    <a:pt x="398" y="511"/>
                  </a:lnTo>
                  <a:cubicBezTo>
                    <a:pt x="519" y="498"/>
                    <a:pt x="612" y="401"/>
                    <a:pt x="621" y="279"/>
                  </a:cubicBezTo>
                  <a:cubicBezTo>
                    <a:pt x="622" y="277"/>
                    <a:pt x="623" y="274"/>
                    <a:pt x="623" y="271"/>
                  </a:cubicBezTo>
                  <a:lnTo>
                    <a:pt x="623" y="266"/>
                  </a:lnTo>
                  <a:cubicBezTo>
                    <a:pt x="740" y="242"/>
                    <a:pt x="743" y="36"/>
                    <a:pt x="743" y="27"/>
                  </a:cubicBezTo>
                  <a:close/>
                  <a:moveTo>
                    <a:pt x="370" y="457"/>
                  </a:moveTo>
                  <a:cubicBezTo>
                    <a:pt x="262" y="457"/>
                    <a:pt x="174" y="369"/>
                    <a:pt x="174" y="261"/>
                  </a:cubicBezTo>
                  <a:lnTo>
                    <a:pt x="174" y="58"/>
                  </a:lnTo>
                  <a:lnTo>
                    <a:pt x="566" y="58"/>
                  </a:lnTo>
                  <a:lnTo>
                    <a:pt x="566" y="261"/>
                  </a:lnTo>
                  <a:cubicBezTo>
                    <a:pt x="566" y="369"/>
                    <a:pt x="478" y="457"/>
                    <a:pt x="370" y="457"/>
                  </a:cubicBezTo>
                  <a:close/>
                  <a:moveTo>
                    <a:pt x="118" y="209"/>
                  </a:moveTo>
                  <a:cubicBezTo>
                    <a:pt x="73" y="184"/>
                    <a:pt x="59" y="98"/>
                    <a:pt x="55" y="53"/>
                  </a:cubicBezTo>
                  <a:lnTo>
                    <a:pt x="118" y="53"/>
                  </a:lnTo>
                  <a:lnTo>
                    <a:pt x="118" y="209"/>
                  </a:lnTo>
                  <a:close/>
                  <a:moveTo>
                    <a:pt x="626" y="209"/>
                  </a:moveTo>
                  <a:lnTo>
                    <a:pt x="626" y="53"/>
                  </a:lnTo>
                  <a:lnTo>
                    <a:pt x="688" y="53"/>
                  </a:lnTo>
                  <a:cubicBezTo>
                    <a:pt x="684" y="98"/>
                    <a:pt x="670" y="184"/>
                    <a:pt x="626" y="209"/>
                  </a:cubicBezTo>
                  <a:close/>
                </a:path>
              </a:pathLst>
            </a:cu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31" name="组合 30"/>
          <p:cNvGrpSpPr/>
          <p:nvPr/>
        </p:nvGrpSpPr>
        <p:grpSpPr>
          <a:xfrm>
            <a:off x="494553" y="150818"/>
            <a:ext cx="6106714" cy="1125795"/>
            <a:chOff x="494553" y="150818"/>
            <a:chExt cx="6106714" cy="1125795"/>
          </a:xfrm>
        </p:grpSpPr>
        <p:grpSp>
          <p:nvGrpSpPr>
            <p:cNvPr id="44" name="组合 43"/>
            <p:cNvGrpSpPr/>
            <p:nvPr/>
          </p:nvGrpSpPr>
          <p:grpSpPr>
            <a:xfrm>
              <a:off x="494553" y="321393"/>
              <a:ext cx="5744845" cy="955220"/>
              <a:chOff x="494553" y="321393"/>
              <a:chExt cx="5744845" cy="955220"/>
            </a:xfrm>
          </p:grpSpPr>
          <p:sp>
            <p:nvSpPr>
              <p:cNvPr id="46" name="文本框 4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7" name="文本框 4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5"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指导服务</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体系</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left)">
                                      <p:cBhvr>
                                        <p:cTn id="14" dur="500"/>
                                        <p:tgtEl>
                                          <p:spTgt spid="18"/>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left)">
                                      <p:cBhvr>
                                        <p:cTn id="18" dur="500"/>
                                        <p:tgtEl>
                                          <p:spTgt spid="24"/>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任意多边形: 形状 23"/>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形状 26"/>
          <p:cNvSpPr/>
          <p:nvPr/>
        </p:nvSpPr>
        <p:spPr>
          <a:xfrm>
            <a:off x="7259312" y="3923183"/>
            <a:ext cx="3694067" cy="1526787"/>
          </a:xfrm>
          <a:custGeom>
            <a:avLst/>
            <a:gdLst>
              <a:gd name="connsiteX0" fmla="*/ 751192 w 4103661"/>
              <a:gd name="connsiteY0" fmla="*/ 0 h 1696075"/>
              <a:gd name="connsiteX1" fmla="*/ 841430 w 4103661"/>
              <a:gd name="connsiteY1" fmla="*/ 0 h 1696075"/>
              <a:gd name="connsiteX2" fmla="*/ 1049585 w 4103661"/>
              <a:gd name="connsiteY2" fmla="*/ 0 h 1696075"/>
              <a:gd name="connsiteX3" fmla="*/ 1114301 w 4103661"/>
              <a:gd name="connsiteY3" fmla="*/ 0 h 1696075"/>
              <a:gd name="connsiteX4" fmla="*/ 1550246 w 4103661"/>
              <a:gd name="connsiteY4" fmla="*/ 0 h 1696075"/>
              <a:gd name="connsiteX5" fmla="*/ 1719747 w 4103661"/>
              <a:gd name="connsiteY5" fmla="*/ 0 h 1696075"/>
              <a:gd name="connsiteX6" fmla="*/ 1815415 w 4103661"/>
              <a:gd name="connsiteY6" fmla="*/ 0 h 1696075"/>
              <a:gd name="connsiteX7" fmla="*/ 2023571 w 4103661"/>
              <a:gd name="connsiteY7" fmla="*/ 0 h 1696075"/>
              <a:gd name="connsiteX8" fmla="*/ 2459515 w 4103661"/>
              <a:gd name="connsiteY8" fmla="*/ 0 h 1696075"/>
              <a:gd name="connsiteX9" fmla="*/ 2524231 w 4103661"/>
              <a:gd name="connsiteY9" fmla="*/ 0 h 1696075"/>
              <a:gd name="connsiteX10" fmla="*/ 2693731 w 4103661"/>
              <a:gd name="connsiteY10" fmla="*/ 0 h 1696075"/>
              <a:gd name="connsiteX11" fmla="*/ 3129676 w 4103661"/>
              <a:gd name="connsiteY11" fmla="*/ 0 h 1696075"/>
              <a:gd name="connsiteX12" fmla="*/ 3433500 w 4103661"/>
              <a:gd name="connsiteY12" fmla="*/ 0 h 1696075"/>
              <a:gd name="connsiteX13" fmla="*/ 4103661 w 4103661"/>
              <a:gd name="connsiteY13" fmla="*/ 0 h 1696075"/>
              <a:gd name="connsiteX14" fmla="*/ 3352469 w 4103661"/>
              <a:gd name="connsiteY14" fmla="*/ 1696075 h 1696075"/>
              <a:gd name="connsiteX15" fmla="*/ 0 w 4103661"/>
              <a:gd name="connsiteY15" fmla="*/ 1696075 h 1696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03661" h="1696075">
                <a:moveTo>
                  <a:pt x="751192" y="0"/>
                </a:moveTo>
                <a:lnTo>
                  <a:pt x="841430" y="0"/>
                </a:lnTo>
                <a:lnTo>
                  <a:pt x="1049585" y="0"/>
                </a:lnTo>
                <a:lnTo>
                  <a:pt x="1114301" y="0"/>
                </a:lnTo>
                <a:lnTo>
                  <a:pt x="1550246" y="0"/>
                </a:lnTo>
                <a:lnTo>
                  <a:pt x="1719747" y="0"/>
                </a:lnTo>
                <a:lnTo>
                  <a:pt x="1815415" y="0"/>
                </a:lnTo>
                <a:lnTo>
                  <a:pt x="2023571" y="0"/>
                </a:lnTo>
                <a:lnTo>
                  <a:pt x="2459515" y="0"/>
                </a:lnTo>
                <a:lnTo>
                  <a:pt x="2524231" y="0"/>
                </a:lnTo>
                <a:lnTo>
                  <a:pt x="2693731" y="0"/>
                </a:lnTo>
                <a:lnTo>
                  <a:pt x="3129676" y="0"/>
                </a:lnTo>
                <a:lnTo>
                  <a:pt x="3433500" y="0"/>
                </a:lnTo>
                <a:lnTo>
                  <a:pt x="4103661" y="0"/>
                </a:lnTo>
                <a:lnTo>
                  <a:pt x="3352469" y="1696075"/>
                </a:lnTo>
                <a:lnTo>
                  <a:pt x="0" y="1696075"/>
                </a:lnTo>
                <a:close/>
              </a:path>
            </a:pathLst>
          </a:custGeom>
          <a:gradFill>
            <a:gsLst>
              <a:gs pos="9000">
                <a:srgbClr val="F5F5F5"/>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i="1"/>
          </a:p>
        </p:txBody>
      </p:sp>
      <p:sp>
        <p:nvSpPr>
          <p:cNvPr id="2" name="任意多边形: 形状 1"/>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p:cNvSpPr/>
          <p:nvPr/>
        </p:nvSpPr>
        <p:spPr>
          <a:xfrm>
            <a:off x="3669125" y="2365303"/>
            <a:ext cx="7392575" cy="2311921"/>
          </a:xfrm>
          <a:custGeom>
            <a:avLst/>
            <a:gdLst>
              <a:gd name="connsiteX0" fmla="*/ 1023950 w 7392575"/>
              <a:gd name="connsiteY0" fmla="*/ 0 h 2311921"/>
              <a:gd name="connsiteX1" fmla="*/ 1990138 w 7392575"/>
              <a:gd name="connsiteY1" fmla="*/ 0 h 2311921"/>
              <a:gd name="connsiteX2" fmla="*/ 2351589 w 7392575"/>
              <a:gd name="connsiteY2" fmla="*/ 0 h 2311921"/>
              <a:gd name="connsiteX3" fmla="*/ 2945826 w 7392575"/>
              <a:gd name="connsiteY3" fmla="*/ 0 h 2311921"/>
              <a:gd name="connsiteX4" fmla="*/ 3229563 w 7392575"/>
              <a:gd name="connsiteY4" fmla="*/ 0 h 2311921"/>
              <a:gd name="connsiteX5" fmla="*/ 3317777 w 7392575"/>
              <a:gd name="connsiteY5" fmla="*/ 0 h 2311921"/>
              <a:gd name="connsiteX6" fmla="*/ 3912014 w 7392575"/>
              <a:gd name="connsiteY6" fmla="*/ 0 h 2311921"/>
              <a:gd name="connsiteX7" fmla="*/ 4143060 w 7392575"/>
              <a:gd name="connsiteY7" fmla="*/ 0 h 2311921"/>
              <a:gd name="connsiteX8" fmla="*/ 4273465 w 7392575"/>
              <a:gd name="connsiteY8" fmla="*/ 0 h 2311921"/>
              <a:gd name="connsiteX9" fmla="*/ 4557203 w 7392575"/>
              <a:gd name="connsiteY9" fmla="*/ 0 h 2311921"/>
              <a:gd name="connsiteX10" fmla="*/ 5151439 w 7392575"/>
              <a:gd name="connsiteY10" fmla="*/ 0 h 2311921"/>
              <a:gd name="connsiteX11" fmla="*/ 5239653 w 7392575"/>
              <a:gd name="connsiteY11" fmla="*/ 0 h 2311921"/>
              <a:gd name="connsiteX12" fmla="*/ 5470699 w 7392575"/>
              <a:gd name="connsiteY12" fmla="*/ 0 h 2311921"/>
              <a:gd name="connsiteX13" fmla="*/ 6064935 w 7392575"/>
              <a:gd name="connsiteY13" fmla="*/ 0 h 2311921"/>
              <a:gd name="connsiteX14" fmla="*/ 6479079 w 7392575"/>
              <a:gd name="connsiteY14" fmla="*/ 0 h 2311921"/>
              <a:gd name="connsiteX15" fmla="*/ 7392575 w 7392575"/>
              <a:gd name="connsiteY15" fmla="*/ 0 h 2311921"/>
              <a:gd name="connsiteX16" fmla="*/ 6368625 w 7392575"/>
              <a:gd name="connsiteY16" fmla="*/ 2311921 h 2311921"/>
              <a:gd name="connsiteX17" fmla="*/ 0 w 7392575"/>
              <a:gd name="connsiteY17" fmla="*/ 2311921 h 231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92575" h="2311921">
                <a:moveTo>
                  <a:pt x="1023950" y="0"/>
                </a:moveTo>
                <a:lnTo>
                  <a:pt x="1990138" y="0"/>
                </a:lnTo>
                <a:lnTo>
                  <a:pt x="2351589" y="0"/>
                </a:lnTo>
                <a:lnTo>
                  <a:pt x="2945826" y="0"/>
                </a:lnTo>
                <a:lnTo>
                  <a:pt x="3229563" y="0"/>
                </a:lnTo>
                <a:lnTo>
                  <a:pt x="3317777" y="0"/>
                </a:lnTo>
                <a:lnTo>
                  <a:pt x="3912014" y="0"/>
                </a:lnTo>
                <a:lnTo>
                  <a:pt x="4143060" y="0"/>
                </a:lnTo>
                <a:lnTo>
                  <a:pt x="4273465" y="0"/>
                </a:lnTo>
                <a:lnTo>
                  <a:pt x="4557203" y="0"/>
                </a:lnTo>
                <a:lnTo>
                  <a:pt x="5151439" y="0"/>
                </a:lnTo>
                <a:lnTo>
                  <a:pt x="5239653" y="0"/>
                </a:lnTo>
                <a:lnTo>
                  <a:pt x="5470699" y="0"/>
                </a:lnTo>
                <a:lnTo>
                  <a:pt x="6064935" y="0"/>
                </a:lnTo>
                <a:lnTo>
                  <a:pt x="6479079" y="0"/>
                </a:lnTo>
                <a:lnTo>
                  <a:pt x="7392575" y="0"/>
                </a:lnTo>
                <a:lnTo>
                  <a:pt x="6368625" y="2311921"/>
                </a:lnTo>
                <a:lnTo>
                  <a:pt x="0" y="2311921"/>
                </a:lnTo>
                <a:close/>
              </a:path>
            </a:pathLst>
          </a:custGeom>
          <a:solidFill>
            <a:srgbClr val="242424"/>
          </a:solidFill>
          <a:ln>
            <a:noFill/>
          </a:ln>
          <a:effectLst>
            <a:outerShdw blurRad="546100" dist="5461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i="1"/>
          </a:p>
        </p:txBody>
      </p:sp>
      <p:pic>
        <p:nvPicPr>
          <p:cNvPr id="31" name="图片 30"/>
          <p:cNvPicPr>
            <a:picLocks noChangeAspect="1"/>
          </p:cNvPicPr>
          <p:nvPr/>
        </p:nvPicPr>
        <p:blipFill>
          <a:blip r:embed="rId1"/>
          <a:stretch>
            <a:fillRect/>
          </a:stretch>
        </p:blipFill>
        <p:spPr>
          <a:xfrm flipH="1">
            <a:off x="1229665" y="2839274"/>
            <a:ext cx="4554416" cy="3154747"/>
          </a:xfrm>
          <a:prstGeom prst="rect">
            <a:avLst/>
          </a:prstGeom>
        </p:spPr>
      </p:pic>
      <p:grpSp>
        <p:nvGrpSpPr>
          <p:cNvPr id="3" name="组合 2"/>
          <p:cNvGrpSpPr/>
          <p:nvPr/>
        </p:nvGrpSpPr>
        <p:grpSpPr>
          <a:xfrm>
            <a:off x="5892402" y="2736009"/>
            <a:ext cx="3718254" cy="502940"/>
            <a:chOff x="5892402" y="2736009"/>
            <a:chExt cx="3718254" cy="502940"/>
          </a:xfrm>
        </p:grpSpPr>
        <p:cxnSp>
          <p:nvCxnSpPr>
            <p:cNvPr id="15" name="直接连接符 14"/>
            <p:cNvCxnSpPr/>
            <p:nvPr/>
          </p:nvCxnSpPr>
          <p:spPr>
            <a:xfrm>
              <a:off x="5958194" y="3238949"/>
              <a:ext cx="359474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958194" y="3238949"/>
              <a:ext cx="3165928" cy="0"/>
            </a:xfrm>
            <a:prstGeom prst="line">
              <a:avLst/>
            </a:prstGeom>
            <a:ln w="28575">
              <a:solidFill>
                <a:srgbClr val="45BDD6"/>
              </a:solidFill>
              <a:tailEnd type="oval" w="lg" len="lg"/>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420104" y="2764112"/>
              <a:ext cx="1190552" cy="411844"/>
            </a:xfrm>
            <a:prstGeom prst="rect">
              <a:avLst/>
            </a:prstGeom>
            <a:noFill/>
          </p:spPr>
          <p:txBody>
            <a:bodyPr wrap="square" rtlCol="0">
              <a:spAutoFit/>
              <a:scene3d>
                <a:camera prst="orthographicFront"/>
                <a:lightRig rig="threePt" dir="t"/>
              </a:scene3d>
              <a:sp3d contourW="12700"/>
            </a:bodyPr>
            <a:lstStyle/>
            <a:p>
              <a:pPr algn="r">
                <a:lnSpc>
                  <a:spcPct val="130000"/>
                </a:lnSpc>
              </a:pPr>
              <a:r>
                <a:rPr lang="en-US" altLang="zh-CN" i="1" dirty="0">
                  <a:solidFill>
                    <a:schemeClr val="bg1"/>
                  </a:solidFill>
                  <a:latin typeface="3ds" panose="02000503020000020004" pitchFamily="2" charset="0"/>
                  <a:ea typeface="黑体" panose="02010609060101010101" pitchFamily="49" charset="-122"/>
                  <a:cs typeface="Angsana New" panose="02020603050405020304" pitchFamily="18" charset="-34"/>
                </a:rPr>
                <a:t>~ 95%</a:t>
              </a:r>
              <a:endParaRPr lang="en-US" altLang="zh-CN" i="1" dirty="0">
                <a:solidFill>
                  <a:schemeClr val="bg1"/>
                </a:solidFill>
                <a:latin typeface="3ds" panose="02000503020000020004" pitchFamily="2" charset="0"/>
                <a:ea typeface="黑体" panose="02010609060101010101" pitchFamily="49" charset="-122"/>
                <a:cs typeface="Angsana New" panose="02020603050405020304" pitchFamily="18" charset="-34"/>
              </a:endParaRPr>
            </a:p>
          </p:txBody>
        </p:sp>
        <p:sp>
          <p:nvSpPr>
            <p:cNvPr id="19" name="文本框 18"/>
            <p:cNvSpPr txBox="1"/>
            <p:nvPr/>
          </p:nvSpPr>
          <p:spPr>
            <a:xfrm flipH="1">
              <a:off x="5892402" y="2736009"/>
              <a:ext cx="2108269" cy="461665"/>
            </a:xfrm>
            <a:prstGeom prst="rect">
              <a:avLst/>
            </a:prstGeom>
            <a:noFill/>
          </p:spPr>
          <p:txBody>
            <a:bodyPr wrap="none" rtlCol="0">
              <a:spAutoFit/>
              <a:scene3d>
                <a:camera prst="orthographicFront"/>
                <a:lightRig rig="threePt" dir="t"/>
              </a:scene3d>
              <a:sp3d contourW="12700"/>
            </a:bodyPr>
            <a:lstStyle/>
            <a:p>
              <a:r>
                <a:rPr lang="zh-CN" altLang="en-US" sz="2400" i="1" spc="600" dirty="0">
                  <a:solidFill>
                    <a:schemeClr val="bg1"/>
                  </a:solidFill>
                  <a:latin typeface="黑体" panose="02010609060101010101" pitchFamily="49" charset="-122"/>
                  <a:ea typeface="黑体" panose="02010609060101010101" pitchFamily="49" charset="-122"/>
                </a:rPr>
                <a:t>整体就业率</a:t>
              </a:r>
              <a:endParaRPr lang="zh-CN" altLang="en-US" sz="2400" i="1" spc="600" dirty="0">
                <a:solidFill>
                  <a:schemeClr val="bg1"/>
                </a:solidFill>
                <a:latin typeface="黑体" panose="02010609060101010101" pitchFamily="49" charset="-122"/>
                <a:ea typeface="黑体" panose="02010609060101010101" pitchFamily="49" charset="-122"/>
              </a:endParaRPr>
            </a:p>
          </p:txBody>
        </p:sp>
      </p:grpSp>
      <p:sp>
        <p:nvSpPr>
          <p:cNvPr id="21" name="Oval 20"/>
          <p:cNvSpPr/>
          <p:nvPr/>
        </p:nvSpPr>
        <p:spPr>
          <a:xfrm>
            <a:off x="5321392" y="2847282"/>
            <a:ext cx="415968" cy="415008"/>
          </a:xfrm>
          <a:custGeom>
            <a:avLst/>
            <a:gdLst>
              <a:gd name="T0" fmla="*/ 4473 w 4646"/>
              <a:gd name="T1" fmla="*/ 173 h 4643"/>
              <a:gd name="T2" fmla="*/ 3844 w 4646"/>
              <a:gd name="T3" fmla="*/ 173 h 4643"/>
              <a:gd name="T4" fmla="*/ 2904 w 4646"/>
              <a:gd name="T5" fmla="*/ 1113 h 4643"/>
              <a:gd name="T6" fmla="*/ 1383 w 4646"/>
              <a:gd name="T7" fmla="*/ 596 h 4643"/>
              <a:gd name="T8" fmla="*/ 1318 w 4646"/>
              <a:gd name="T9" fmla="*/ 597 h 4643"/>
              <a:gd name="T10" fmla="*/ 622 w 4646"/>
              <a:gd name="T11" fmla="*/ 868 h 4643"/>
              <a:gd name="T12" fmla="*/ 583 w 4646"/>
              <a:gd name="T13" fmla="*/ 891 h 4643"/>
              <a:gd name="T14" fmla="*/ 583 w 4646"/>
              <a:gd name="T15" fmla="*/ 1024 h 4643"/>
              <a:gd name="T16" fmla="*/ 583 w 4646"/>
              <a:gd name="T17" fmla="*/ 1025 h 4643"/>
              <a:gd name="T18" fmla="*/ 598 w 4646"/>
              <a:gd name="T19" fmla="*/ 1037 h 4643"/>
              <a:gd name="T20" fmla="*/ 2031 w 4646"/>
              <a:gd name="T21" fmla="*/ 1987 h 4643"/>
              <a:gd name="T22" fmla="*/ 1061 w 4646"/>
              <a:gd name="T23" fmla="*/ 2957 h 4643"/>
              <a:gd name="T24" fmla="*/ 453 w 4646"/>
              <a:gd name="T25" fmla="*/ 2750 h 4643"/>
              <a:gd name="T26" fmla="*/ 418 w 4646"/>
              <a:gd name="T27" fmla="*/ 2751 h 4643"/>
              <a:gd name="T28" fmla="*/ 42 w 4646"/>
              <a:gd name="T29" fmla="*/ 2897 h 4643"/>
              <a:gd name="T30" fmla="*/ 20 w 4646"/>
              <a:gd name="T31" fmla="*/ 2911 h 4643"/>
              <a:gd name="T32" fmla="*/ 20 w 4646"/>
              <a:gd name="T33" fmla="*/ 2982 h 4643"/>
              <a:gd name="T34" fmla="*/ 20 w 4646"/>
              <a:gd name="T35" fmla="*/ 2982 h 4643"/>
              <a:gd name="T36" fmla="*/ 28 w 4646"/>
              <a:gd name="T37" fmla="*/ 2989 h 4643"/>
              <a:gd name="T38" fmla="*/ 748 w 4646"/>
              <a:gd name="T39" fmla="*/ 3466 h 4643"/>
              <a:gd name="T40" fmla="*/ 878 w 4646"/>
              <a:gd name="T41" fmla="*/ 3768 h 4643"/>
              <a:gd name="T42" fmla="*/ 1180 w 4646"/>
              <a:gd name="T43" fmla="*/ 3898 h 4643"/>
              <a:gd name="T44" fmla="*/ 1657 w 4646"/>
              <a:gd name="T45" fmla="*/ 4618 h 4643"/>
              <a:gd name="T46" fmla="*/ 1705 w 4646"/>
              <a:gd name="T47" fmla="*/ 4641 h 4643"/>
              <a:gd name="T48" fmla="*/ 1747 w 4646"/>
              <a:gd name="T49" fmla="*/ 4608 h 4643"/>
              <a:gd name="T50" fmla="*/ 1895 w 4646"/>
              <a:gd name="T51" fmla="*/ 4228 h 4643"/>
              <a:gd name="T52" fmla="*/ 1896 w 4646"/>
              <a:gd name="T53" fmla="*/ 4193 h 4643"/>
              <a:gd name="T54" fmla="*/ 1689 w 4646"/>
              <a:gd name="T55" fmla="*/ 3585 h 4643"/>
              <a:gd name="T56" fmla="*/ 2659 w 4646"/>
              <a:gd name="T57" fmla="*/ 2615 h 4643"/>
              <a:gd name="T58" fmla="*/ 3609 w 4646"/>
              <a:gd name="T59" fmla="*/ 4048 h 4643"/>
              <a:gd name="T60" fmla="*/ 3698 w 4646"/>
              <a:gd name="T61" fmla="*/ 4090 h 4643"/>
              <a:gd name="T62" fmla="*/ 3776 w 4646"/>
              <a:gd name="T63" fmla="*/ 4030 h 4643"/>
              <a:gd name="T64" fmla="*/ 4049 w 4646"/>
              <a:gd name="T65" fmla="*/ 3328 h 4643"/>
              <a:gd name="T66" fmla="*/ 4050 w 4646"/>
              <a:gd name="T67" fmla="*/ 3263 h 4643"/>
              <a:gd name="T68" fmla="*/ 3533 w 4646"/>
              <a:gd name="T69" fmla="*/ 1742 h 4643"/>
              <a:gd name="T70" fmla="*/ 4473 w 4646"/>
              <a:gd name="T71" fmla="*/ 802 h 4643"/>
              <a:gd name="T72" fmla="*/ 4473 w 4646"/>
              <a:gd name="T73" fmla="*/ 173 h 4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646" h="4643">
                <a:moveTo>
                  <a:pt x="4473" y="173"/>
                </a:moveTo>
                <a:cubicBezTo>
                  <a:pt x="4299" y="0"/>
                  <a:pt x="4018" y="0"/>
                  <a:pt x="3844" y="173"/>
                </a:cubicBezTo>
                <a:lnTo>
                  <a:pt x="2904" y="1113"/>
                </a:lnTo>
                <a:lnTo>
                  <a:pt x="1383" y="596"/>
                </a:lnTo>
                <a:cubicBezTo>
                  <a:pt x="1362" y="589"/>
                  <a:pt x="1339" y="589"/>
                  <a:pt x="1318" y="597"/>
                </a:cubicBezTo>
                <a:lnTo>
                  <a:pt x="622" y="868"/>
                </a:lnTo>
                <a:cubicBezTo>
                  <a:pt x="608" y="872"/>
                  <a:pt x="595" y="880"/>
                  <a:pt x="583" y="891"/>
                </a:cubicBezTo>
                <a:cubicBezTo>
                  <a:pt x="547" y="928"/>
                  <a:pt x="546" y="987"/>
                  <a:pt x="583" y="1024"/>
                </a:cubicBezTo>
                <a:cubicBezTo>
                  <a:pt x="583" y="1024"/>
                  <a:pt x="583" y="1024"/>
                  <a:pt x="583" y="1025"/>
                </a:cubicBezTo>
                <a:cubicBezTo>
                  <a:pt x="588" y="1029"/>
                  <a:pt x="593" y="1033"/>
                  <a:pt x="598" y="1037"/>
                </a:cubicBezTo>
                <a:lnTo>
                  <a:pt x="2031" y="1987"/>
                </a:lnTo>
                <a:lnTo>
                  <a:pt x="1061" y="2957"/>
                </a:lnTo>
                <a:lnTo>
                  <a:pt x="453" y="2750"/>
                </a:lnTo>
                <a:cubicBezTo>
                  <a:pt x="441" y="2746"/>
                  <a:pt x="429" y="2747"/>
                  <a:pt x="418" y="2751"/>
                </a:cubicBezTo>
                <a:lnTo>
                  <a:pt x="42" y="2897"/>
                </a:lnTo>
                <a:cubicBezTo>
                  <a:pt x="32" y="2901"/>
                  <a:pt x="26" y="2905"/>
                  <a:pt x="20" y="2911"/>
                </a:cubicBezTo>
                <a:cubicBezTo>
                  <a:pt x="0" y="2931"/>
                  <a:pt x="0" y="2962"/>
                  <a:pt x="20" y="2982"/>
                </a:cubicBezTo>
                <a:cubicBezTo>
                  <a:pt x="20" y="2982"/>
                  <a:pt x="20" y="2982"/>
                  <a:pt x="20" y="2982"/>
                </a:cubicBezTo>
                <a:cubicBezTo>
                  <a:pt x="22" y="2985"/>
                  <a:pt x="25" y="2987"/>
                  <a:pt x="28" y="2989"/>
                </a:cubicBezTo>
                <a:lnTo>
                  <a:pt x="748" y="3466"/>
                </a:lnTo>
                <a:cubicBezTo>
                  <a:pt x="751" y="3576"/>
                  <a:pt x="794" y="3684"/>
                  <a:pt x="878" y="3768"/>
                </a:cubicBezTo>
                <a:cubicBezTo>
                  <a:pt x="962" y="3852"/>
                  <a:pt x="1070" y="3895"/>
                  <a:pt x="1180" y="3898"/>
                </a:cubicBezTo>
                <a:lnTo>
                  <a:pt x="1657" y="4618"/>
                </a:lnTo>
                <a:cubicBezTo>
                  <a:pt x="1668" y="4634"/>
                  <a:pt x="1686" y="4643"/>
                  <a:pt x="1705" y="4641"/>
                </a:cubicBezTo>
                <a:cubicBezTo>
                  <a:pt x="1724" y="4639"/>
                  <a:pt x="1741" y="4626"/>
                  <a:pt x="1747" y="4608"/>
                </a:cubicBezTo>
                <a:lnTo>
                  <a:pt x="1895" y="4228"/>
                </a:lnTo>
                <a:cubicBezTo>
                  <a:pt x="1899" y="4217"/>
                  <a:pt x="1900" y="4205"/>
                  <a:pt x="1896" y="4193"/>
                </a:cubicBezTo>
                <a:lnTo>
                  <a:pt x="1689" y="3585"/>
                </a:lnTo>
                <a:lnTo>
                  <a:pt x="2659" y="2615"/>
                </a:lnTo>
                <a:lnTo>
                  <a:pt x="3609" y="4048"/>
                </a:lnTo>
                <a:cubicBezTo>
                  <a:pt x="3629" y="4077"/>
                  <a:pt x="3663" y="4093"/>
                  <a:pt x="3698" y="4090"/>
                </a:cubicBezTo>
                <a:cubicBezTo>
                  <a:pt x="3733" y="4086"/>
                  <a:pt x="3763" y="4063"/>
                  <a:pt x="3776" y="4030"/>
                </a:cubicBezTo>
                <a:lnTo>
                  <a:pt x="4049" y="3328"/>
                </a:lnTo>
                <a:cubicBezTo>
                  <a:pt x="4057" y="3307"/>
                  <a:pt x="4058" y="3284"/>
                  <a:pt x="4050" y="3263"/>
                </a:cubicBezTo>
                <a:lnTo>
                  <a:pt x="3533" y="1742"/>
                </a:lnTo>
                <a:lnTo>
                  <a:pt x="4473" y="802"/>
                </a:lnTo>
                <a:cubicBezTo>
                  <a:pt x="4646" y="628"/>
                  <a:pt x="4646" y="347"/>
                  <a:pt x="4473" y="173"/>
                </a:cubicBezTo>
                <a:close/>
              </a:path>
            </a:pathLst>
          </a:custGeom>
          <a:solidFill>
            <a:srgbClr val="24C6D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22" name="组合 21"/>
          <p:cNvGrpSpPr/>
          <p:nvPr/>
        </p:nvGrpSpPr>
        <p:grpSpPr>
          <a:xfrm>
            <a:off x="494553" y="150818"/>
            <a:ext cx="6106714" cy="1125795"/>
            <a:chOff x="494553" y="150818"/>
            <a:chExt cx="6106714" cy="1125795"/>
          </a:xfrm>
        </p:grpSpPr>
        <p:grpSp>
          <p:nvGrpSpPr>
            <p:cNvPr id="25" name="组合 24"/>
            <p:cNvGrpSpPr/>
            <p:nvPr/>
          </p:nvGrpSpPr>
          <p:grpSpPr>
            <a:xfrm>
              <a:off x="494553" y="321393"/>
              <a:ext cx="5744845" cy="955220"/>
              <a:chOff x="494553" y="321393"/>
              <a:chExt cx="5744845" cy="955220"/>
            </a:xfrm>
          </p:grpSpPr>
          <p:sp>
            <p:nvSpPr>
              <p:cNvPr id="28" name="文本框 27"/>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29" name="文本框 28"/>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26"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整体</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就业率</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
        <p:nvSpPr>
          <p:cNvPr id="5" name="矩形 4"/>
          <p:cNvSpPr/>
          <p:nvPr/>
        </p:nvSpPr>
        <p:spPr>
          <a:xfrm>
            <a:off x="5189832" y="3336597"/>
            <a:ext cx="4874351" cy="876202"/>
          </a:xfrm>
          <a:prstGeom prst="rect">
            <a:avLst/>
          </a:prstGeom>
        </p:spPr>
        <p:txBody>
          <a:bodyPr wrap="square">
            <a:spAutoFit/>
          </a:bodyPr>
          <a:lstStyle/>
          <a:p>
            <a:pPr>
              <a:lnSpc>
                <a:spcPct val="150000"/>
              </a:lnSpc>
            </a:pP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          近年学校就业率保持稳定，本科毕业生以</a:t>
            </a:r>
            <a:r>
              <a:rPr lang="zh-CN" altLang="en-US"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直接就业、出国境深造、国内深造</a:t>
            </a:r>
            <a:r>
              <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为主。</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1000"/>
                                        <p:tgtEl>
                                          <p:spTgt spid="23"/>
                                        </p:tgtEl>
                                      </p:cBhvr>
                                    </p:animEffect>
                                    <p:anim calcmode="lin" valueType="num">
                                      <p:cBhvr>
                                        <p:cTn id="14" dur="1000" fill="hold"/>
                                        <p:tgtEl>
                                          <p:spTgt spid="23"/>
                                        </p:tgtEl>
                                        <p:attrNameLst>
                                          <p:attrName>ppt_x</p:attrName>
                                        </p:attrNameLst>
                                      </p:cBhvr>
                                      <p:tavLst>
                                        <p:tav tm="0">
                                          <p:val>
                                            <p:strVal val="#ppt_x"/>
                                          </p:val>
                                        </p:tav>
                                        <p:tav tm="100000">
                                          <p:val>
                                            <p:strVal val="#ppt_x"/>
                                          </p:val>
                                        </p:tav>
                                      </p:tavLst>
                                    </p:anim>
                                    <p:anim calcmode="lin" valueType="num">
                                      <p:cBhvr>
                                        <p:cTn id="15" dur="1000" fill="hold"/>
                                        <p:tgtEl>
                                          <p:spTgt spid="23"/>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1" grpId="0" animBg="1"/>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任意多边形: 形状 32"/>
          <p:cNvSpPr/>
          <p:nvPr/>
        </p:nvSpPr>
        <p:spPr>
          <a:xfrm>
            <a:off x="4113032"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447822" y="2679719"/>
            <a:ext cx="2484438" cy="1135857"/>
            <a:chOff x="928274" y="2723985"/>
            <a:chExt cx="2484438" cy="1135857"/>
          </a:xfrm>
        </p:grpSpPr>
        <p:sp>
          <p:nvSpPr>
            <p:cNvPr id="3" name="文本框 2"/>
            <p:cNvSpPr txBox="1"/>
            <p:nvPr/>
          </p:nvSpPr>
          <p:spPr>
            <a:xfrm>
              <a:off x="928274" y="2723985"/>
              <a:ext cx="877163"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深造</a:t>
              </a:r>
              <a:endParaRPr lang="zh-CN" altLang="en-US" sz="2400" i="1" spc="300" dirty="0">
                <a:latin typeface="黑体" panose="02010609060101010101" pitchFamily="49" charset="-122"/>
                <a:ea typeface="黑体" panose="02010609060101010101" pitchFamily="49" charset="-122"/>
              </a:endParaRPr>
            </a:p>
          </p:txBody>
        </p:sp>
        <p:sp>
          <p:nvSpPr>
            <p:cNvPr id="4" name="文本框 3"/>
            <p:cNvSpPr txBox="1"/>
            <p:nvPr/>
          </p:nvSpPr>
          <p:spPr>
            <a:xfrm>
              <a:off x="960768" y="3159457"/>
              <a:ext cx="2451944" cy="700385"/>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北语学子的身影遍布</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国内外知名学府和科研机构</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15" name="组合 14"/>
          <p:cNvGrpSpPr/>
          <p:nvPr/>
        </p:nvGrpSpPr>
        <p:grpSpPr>
          <a:xfrm>
            <a:off x="6733610" y="4533022"/>
            <a:ext cx="4227994" cy="1115115"/>
            <a:chOff x="6733610" y="4533022"/>
            <a:chExt cx="4227994" cy="1115115"/>
          </a:xfrm>
        </p:grpSpPr>
        <p:cxnSp>
          <p:nvCxnSpPr>
            <p:cNvPr id="5" name="直接连接符 4"/>
            <p:cNvCxnSpPr/>
            <p:nvPr/>
          </p:nvCxnSpPr>
          <p:spPr>
            <a:xfrm>
              <a:off x="6799402" y="4895662"/>
              <a:ext cx="4143382" cy="0"/>
            </a:xfrm>
            <a:prstGeom prst="line">
              <a:avLst/>
            </a:prstGeom>
            <a:ln w="28575">
              <a:solidFill>
                <a:srgbClr val="242424"/>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799402" y="4895662"/>
              <a:ext cx="1519650" cy="0"/>
            </a:xfrm>
            <a:prstGeom prst="line">
              <a:avLst/>
            </a:prstGeom>
            <a:ln w="28575">
              <a:solidFill>
                <a:srgbClr val="45BDD6"/>
              </a:solidFill>
              <a:tailEnd type="oval" w="lg" len="lg"/>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9771052" y="4533022"/>
              <a:ext cx="1190552" cy="338554"/>
            </a:xfrm>
            <a:prstGeom prst="rect">
              <a:avLst/>
            </a:prstGeom>
            <a:noFill/>
          </p:spPr>
          <p:txBody>
            <a:bodyPr wrap="square" rtlCol="0">
              <a:spAutoFit/>
              <a:scene3d>
                <a:camera prst="orthographicFront"/>
                <a:lightRig rig="threePt" dir="t"/>
              </a:scene3d>
              <a:sp3d contourW="12700"/>
            </a:bodyPr>
            <a:lstStyle/>
            <a:p>
              <a:pPr algn="r"/>
              <a:r>
                <a:rPr lang="en-US" altLang="zh-CN" sz="1600" i="1" dirty="0">
                  <a:solidFill>
                    <a:schemeClr val="tx1">
                      <a:lumMod val="85000"/>
                      <a:lumOff val="15000"/>
                    </a:schemeClr>
                  </a:solidFill>
                  <a:latin typeface="3ds" panose="02000503020000020004" pitchFamily="2" charset="0"/>
                  <a:ea typeface="黑体" panose="02010609060101010101" pitchFamily="49" charset="-122"/>
                  <a:cs typeface="Angsana New" panose="02020603050405020304" pitchFamily="18" charset="-34"/>
                </a:rPr>
                <a:t>30%</a:t>
              </a:r>
              <a:endParaRPr lang="en-US" altLang="zh-CN" sz="1600" i="1" dirty="0">
                <a:solidFill>
                  <a:schemeClr val="tx1">
                    <a:lumMod val="85000"/>
                    <a:lumOff val="15000"/>
                  </a:schemeClr>
                </a:solidFill>
                <a:latin typeface="3ds" panose="02000503020000020004" pitchFamily="2" charset="0"/>
                <a:ea typeface="黑体" panose="02010609060101010101" pitchFamily="49" charset="-122"/>
                <a:cs typeface="Angsana New" panose="02020603050405020304" pitchFamily="18" charset="-34"/>
              </a:endParaRPr>
            </a:p>
          </p:txBody>
        </p:sp>
        <p:sp>
          <p:nvSpPr>
            <p:cNvPr id="8" name="文本框 7"/>
            <p:cNvSpPr txBox="1"/>
            <p:nvPr/>
          </p:nvSpPr>
          <p:spPr>
            <a:xfrm flipH="1">
              <a:off x="6733610" y="4533022"/>
              <a:ext cx="1159292" cy="338554"/>
            </a:xfrm>
            <a:prstGeom prst="rect">
              <a:avLst/>
            </a:prstGeom>
            <a:noFill/>
          </p:spPr>
          <p:txBody>
            <a:bodyPr wrap="none" rtlCol="0">
              <a:spAutoFit/>
              <a:scene3d>
                <a:camera prst="orthographicFront"/>
                <a:lightRig rig="threePt" dir="t"/>
              </a:scene3d>
              <a:sp3d contourW="12700"/>
            </a:bodyPr>
            <a:lstStyle/>
            <a:p>
              <a:r>
                <a:rPr lang="zh-CN" altLang="en-US" sz="1600" i="1" spc="300" dirty="0">
                  <a:solidFill>
                    <a:schemeClr val="tx1">
                      <a:lumMod val="85000"/>
                      <a:lumOff val="15000"/>
                    </a:schemeClr>
                  </a:solidFill>
                  <a:latin typeface="黑体" panose="02010609060101010101" pitchFamily="49" charset="-122"/>
                  <a:ea typeface="黑体" panose="02010609060101010101" pitchFamily="49" charset="-122"/>
                </a:rPr>
                <a:t>出国深造</a:t>
              </a:r>
              <a:endParaRPr lang="zh-CN" altLang="en-US" sz="1600" i="1" spc="300" dirty="0">
                <a:solidFill>
                  <a:schemeClr val="tx1">
                    <a:lumMod val="85000"/>
                    <a:lumOff val="15000"/>
                  </a:schemeClr>
                </a:solidFill>
                <a:latin typeface="黑体" panose="02010609060101010101" pitchFamily="49" charset="-122"/>
                <a:ea typeface="黑体" panose="02010609060101010101" pitchFamily="49" charset="-122"/>
              </a:endParaRPr>
            </a:p>
          </p:txBody>
        </p:sp>
        <p:cxnSp>
          <p:nvCxnSpPr>
            <p:cNvPr id="9" name="直接连接符 8"/>
            <p:cNvCxnSpPr/>
            <p:nvPr/>
          </p:nvCxnSpPr>
          <p:spPr>
            <a:xfrm>
              <a:off x="6799402" y="5648137"/>
              <a:ext cx="4143382" cy="0"/>
            </a:xfrm>
            <a:prstGeom prst="line">
              <a:avLst/>
            </a:prstGeom>
            <a:ln w="28575">
              <a:solidFill>
                <a:srgbClr val="242424"/>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799402" y="5648137"/>
              <a:ext cx="963059" cy="0"/>
            </a:xfrm>
            <a:prstGeom prst="line">
              <a:avLst/>
            </a:prstGeom>
            <a:ln w="28575">
              <a:solidFill>
                <a:srgbClr val="45BDD6"/>
              </a:solidFill>
              <a:tailEnd type="oval" w="lg" len="lg"/>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9770165" y="5285497"/>
              <a:ext cx="1191439" cy="338554"/>
            </a:xfrm>
            <a:prstGeom prst="rect">
              <a:avLst/>
            </a:prstGeom>
            <a:noFill/>
          </p:spPr>
          <p:txBody>
            <a:bodyPr wrap="square" rtlCol="0">
              <a:spAutoFit/>
              <a:scene3d>
                <a:camera prst="orthographicFront"/>
                <a:lightRig rig="threePt" dir="t"/>
              </a:scene3d>
              <a:sp3d contourW="12700"/>
            </a:bodyPr>
            <a:lstStyle/>
            <a:p>
              <a:pPr algn="r"/>
              <a:r>
                <a:rPr lang="en-US" altLang="zh-CN" sz="1600" i="1" dirty="0">
                  <a:solidFill>
                    <a:schemeClr val="tx1">
                      <a:lumMod val="85000"/>
                      <a:lumOff val="15000"/>
                    </a:schemeClr>
                  </a:solidFill>
                  <a:latin typeface="3ds" panose="02000503020000020004" pitchFamily="2" charset="0"/>
                  <a:ea typeface="黑体" panose="02010609060101010101" pitchFamily="49" charset="-122"/>
                  <a:cs typeface="Angsana New" panose="02020603050405020304" pitchFamily="18" charset="-34"/>
                </a:rPr>
                <a:t>20%</a:t>
              </a:r>
              <a:endParaRPr lang="en-US" altLang="zh-CN" sz="1600" i="1" dirty="0">
                <a:solidFill>
                  <a:schemeClr val="tx1">
                    <a:lumMod val="85000"/>
                    <a:lumOff val="15000"/>
                  </a:schemeClr>
                </a:solidFill>
                <a:latin typeface="3ds" panose="02000503020000020004" pitchFamily="2" charset="0"/>
                <a:ea typeface="黑体" panose="02010609060101010101" pitchFamily="49" charset="-122"/>
                <a:cs typeface="Angsana New" panose="02020603050405020304" pitchFamily="18" charset="-34"/>
              </a:endParaRPr>
            </a:p>
          </p:txBody>
        </p:sp>
        <p:sp>
          <p:nvSpPr>
            <p:cNvPr id="12" name="文本框 11"/>
            <p:cNvSpPr txBox="1"/>
            <p:nvPr/>
          </p:nvSpPr>
          <p:spPr>
            <a:xfrm flipH="1">
              <a:off x="6733610" y="5285497"/>
              <a:ext cx="1159292" cy="338554"/>
            </a:xfrm>
            <a:prstGeom prst="rect">
              <a:avLst/>
            </a:prstGeom>
            <a:noFill/>
          </p:spPr>
          <p:txBody>
            <a:bodyPr wrap="none" rtlCol="0">
              <a:spAutoFit/>
              <a:scene3d>
                <a:camera prst="orthographicFront"/>
                <a:lightRig rig="threePt" dir="t"/>
              </a:scene3d>
              <a:sp3d contourW="12700"/>
            </a:bodyPr>
            <a:lstStyle/>
            <a:p>
              <a:r>
                <a:rPr lang="zh-CN" altLang="en-US" sz="1600" i="1" spc="300" dirty="0">
                  <a:solidFill>
                    <a:schemeClr val="tx1">
                      <a:lumMod val="85000"/>
                      <a:lumOff val="15000"/>
                    </a:schemeClr>
                  </a:solidFill>
                  <a:latin typeface="黑体" panose="02010609060101010101" pitchFamily="49" charset="-122"/>
                  <a:ea typeface="黑体" panose="02010609060101010101" pitchFamily="49" charset="-122"/>
                </a:rPr>
                <a:t>国内深造</a:t>
              </a:r>
              <a:endParaRPr lang="zh-CN" altLang="en-US" sz="1600" i="1" spc="300" dirty="0">
                <a:solidFill>
                  <a:schemeClr val="tx1">
                    <a:lumMod val="85000"/>
                    <a:lumOff val="15000"/>
                  </a:schemeClr>
                </a:solidFill>
                <a:latin typeface="黑体" panose="02010609060101010101" pitchFamily="49" charset="-122"/>
                <a:ea typeface="黑体" panose="02010609060101010101" pitchFamily="49" charset="-122"/>
              </a:endParaRPr>
            </a:p>
          </p:txBody>
        </p:sp>
      </p:grpSp>
      <p:sp>
        <p:nvSpPr>
          <p:cNvPr id="14" name="任意多边形: 形状 13"/>
          <p:cNvSpPr/>
          <p:nvPr/>
        </p:nvSpPr>
        <p:spPr>
          <a:xfrm>
            <a:off x="6932968" y="2254789"/>
            <a:ext cx="1274725" cy="1274724"/>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solidFill>
            <a:srgbClr val="24C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flipH="1">
            <a:off x="1259740" y="2679719"/>
            <a:ext cx="2484438" cy="1808155"/>
            <a:chOff x="928274" y="2723985"/>
            <a:chExt cx="2484438" cy="1808155"/>
          </a:xfrm>
        </p:grpSpPr>
        <p:sp>
          <p:nvSpPr>
            <p:cNvPr id="30" name="文本框 29"/>
            <p:cNvSpPr txBox="1"/>
            <p:nvPr/>
          </p:nvSpPr>
          <p:spPr>
            <a:xfrm>
              <a:off x="928274" y="2723985"/>
              <a:ext cx="877163" cy="461665"/>
            </a:xfrm>
            <a:prstGeom prst="rect">
              <a:avLst/>
            </a:prstGeom>
            <a:noFill/>
          </p:spPr>
          <p:txBody>
            <a:bodyPr wrap="none" rtlCol="0">
              <a:spAutoFit/>
              <a:scene3d>
                <a:camera prst="orthographicFront"/>
                <a:lightRig rig="threePt" dir="t"/>
              </a:scene3d>
              <a:sp3d contourW="12700"/>
            </a:bodyPr>
            <a:lstStyle/>
            <a:p>
              <a:pPr algn="r"/>
              <a:r>
                <a:rPr lang="zh-CN" altLang="en-US" sz="2400" i="1" spc="300" dirty="0">
                  <a:latin typeface="黑体" panose="02010609060101010101" pitchFamily="49" charset="-122"/>
                  <a:ea typeface="黑体" panose="02010609060101010101" pitchFamily="49" charset="-122"/>
                </a:rPr>
                <a:t>就业</a:t>
              </a:r>
              <a:endParaRPr lang="zh-CN" altLang="en-US" sz="2400" i="1" spc="300" dirty="0">
                <a:latin typeface="黑体" panose="02010609060101010101" pitchFamily="49" charset="-122"/>
                <a:ea typeface="黑体" panose="02010609060101010101" pitchFamily="49" charset="-122"/>
              </a:endParaRPr>
            </a:p>
          </p:txBody>
        </p:sp>
        <p:sp>
          <p:nvSpPr>
            <p:cNvPr id="31" name="文本框 30"/>
            <p:cNvSpPr txBox="1"/>
            <p:nvPr/>
          </p:nvSpPr>
          <p:spPr>
            <a:xfrm>
              <a:off x="960768" y="3159457"/>
              <a:ext cx="2451944" cy="1372683"/>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从事</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外交外事外贸类、中外文化交流类、语言教育类、信息技术类，以及金融经济类</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的工作</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16" name="组合 15"/>
          <p:cNvGrpSpPr/>
          <p:nvPr/>
        </p:nvGrpSpPr>
        <p:grpSpPr>
          <a:xfrm>
            <a:off x="1259740" y="5268122"/>
            <a:ext cx="4227994" cy="362640"/>
            <a:chOff x="1230396" y="4533022"/>
            <a:chExt cx="4227994" cy="362640"/>
          </a:xfrm>
        </p:grpSpPr>
        <p:cxnSp>
          <p:nvCxnSpPr>
            <p:cNvPr id="19" name="直接连接符 18"/>
            <p:cNvCxnSpPr/>
            <p:nvPr/>
          </p:nvCxnSpPr>
          <p:spPr>
            <a:xfrm flipH="1">
              <a:off x="1249216" y="4895662"/>
              <a:ext cx="4143382" cy="0"/>
            </a:xfrm>
            <a:prstGeom prst="line">
              <a:avLst/>
            </a:prstGeom>
            <a:ln w="28575">
              <a:solidFill>
                <a:srgbClr val="242424"/>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3366975" y="4895662"/>
              <a:ext cx="2025623" cy="0"/>
            </a:xfrm>
            <a:prstGeom prst="line">
              <a:avLst/>
            </a:prstGeom>
            <a:ln w="28575">
              <a:solidFill>
                <a:srgbClr val="45BDD6"/>
              </a:solidFill>
              <a:tailEnd type="oval" w="lg" len="lg"/>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flipH="1">
              <a:off x="1230396" y="4533022"/>
              <a:ext cx="1190552" cy="338554"/>
            </a:xfrm>
            <a:prstGeom prst="rect">
              <a:avLst/>
            </a:prstGeom>
            <a:noFill/>
          </p:spPr>
          <p:txBody>
            <a:bodyPr wrap="square" rtlCol="0">
              <a:spAutoFit/>
              <a:scene3d>
                <a:camera prst="orthographicFront"/>
                <a:lightRig rig="threePt" dir="t"/>
              </a:scene3d>
              <a:sp3d contourW="12700"/>
            </a:bodyPr>
            <a:lstStyle/>
            <a:p>
              <a:r>
                <a:rPr lang="en-US" altLang="zh-CN" sz="1600" i="1" dirty="0">
                  <a:solidFill>
                    <a:schemeClr val="tx1">
                      <a:lumMod val="85000"/>
                      <a:lumOff val="15000"/>
                    </a:schemeClr>
                  </a:solidFill>
                  <a:latin typeface="3ds" panose="02000503020000020004" pitchFamily="2" charset="0"/>
                  <a:ea typeface="黑体" panose="02010609060101010101" pitchFamily="49" charset="-122"/>
                  <a:cs typeface="Angsana New" panose="02020603050405020304" pitchFamily="18" charset="-34"/>
                </a:rPr>
                <a:t>50%</a:t>
              </a:r>
              <a:endParaRPr lang="en-US" altLang="zh-CN" sz="1600" i="1" dirty="0">
                <a:solidFill>
                  <a:schemeClr val="tx1">
                    <a:lumMod val="85000"/>
                    <a:lumOff val="15000"/>
                  </a:schemeClr>
                </a:solidFill>
                <a:latin typeface="3ds" panose="02000503020000020004" pitchFamily="2" charset="0"/>
                <a:ea typeface="黑体" panose="02010609060101010101" pitchFamily="49" charset="-122"/>
                <a:cs typeface="Angsana New" panose="02020603050405020304" pitchFamily="18" charset="-34"/>
              </a:endParaRPr>
            </a:p>
          </p:txBody>
        </p:sp>
        <p:sp>
          <p:nvSpPr>
            <p:cNvPr id="22" name="文本框 21"/>
            <p:cNvSpPr txBox="1"/>
            <p:nvPr/>
          </p:nvSpPr>
          <p:spPr>
            <a:xfrm>
              <a:off x="4299098" y="4533022"/>
              <a:ext cx="1159292" cy="338554"/>
            </a:xfrm>
            <a:prstGeom prst="rect">
              <a:avLst/>
            </a:prstGeom>
            <a:noFill/>
          </p:spPr>
          <p:txBody>
            <a:bodyPr wrap="none" rtlCol="0">
              <a:spAutoFit/>
              <a:scene3d>
                <a:camera prst="orthographicFront"/>
                <a:lightRig rig="threePt" dir="t"/>
              </a:scene3d>
              <a:sp3d contourW="12700"/>
            </a:bodyPr>
            <a:lstStyle/>
            <a:p>
              <a:r>
                <a:rPr lang="zh-CN" altLang="en-US" sz="1600" i="1" spc="300" dirty="0">
                  <a:solidFill>
                    <a:schemeClr val="tx1">
                      <a:lumMod val="85000"/>
                      <a:lumOff val="15000"/>
                    </a:schemeClr>
                  </a:solidFill>
                  <a:latin typeface="黑体" panose="02010609060101010101" pitchFamily="49" charset="-122"/>
                  <a:ea typeface="黑体" panose="02010609060101010101" pitchFamily="49" charset="-122"/>
                </a:rPr>
                <a:t>直接就业</a:t>
              </a:r>
              <a:endParaRPr lang="zh-CN" altLang="en-US" sz="1600" i="1" spc="300" dirty="0">
                <a:solidFill>
                  <a:schemeClr val="tx1">
                    <a:lumMod val="85000"/>
                    <a:lumOff val="15000"/>
                  </a:schemeClr>
                </a:solidFill>
                <a:latin typeface="黑体" panose="02010609060101010101" pitchFamily="49" charset="-122"/>
                <a:ea typeface="黑体" panose="02010609060101010101" pitchFamily="49" charset="-122"/>
              </a:endParaRPr>
            </a:p>
          </p:txBody>
        </p:sp>
      </p:grpSp>
      <p:sp>
        <p:nvSpPr>
          <p:cNvPr id="28" name="任意多边形: 形状 27"/>
          <p:cNvSpPr/>
          <p:nvPr/>
        </p:nvSpPr>
        <p:spPr>
          <a:xfrm flipH="1">
            <a:off x="3984307" y="2254789"/>
            <a:ext cx="1274725" cy="1274724"/>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solidFill>
            <a:srgbClr val="24C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28"/>
          <p:cNvSpPr/>
          <p:nvPr/>
        </p:nvSpPr>
        <p:spPr>
          <a:xfrm flipH="1">
            <a:off x="6239398" y="2104077"/>
            <a:ext cx="1977093" cy="1977092"/>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blipFill>
            <a:blip r:embed="rId1"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494553" y="150818"/>
            <a:ext cx="6106714" cy="1125795"/>
            <a:chOff x="494553" y="150818"/>
            <a:chExt cx="6106714" cy="1125795"/>
          </a:xfrm>
        </p:grpSpPr>
        <p:grpSp>
          <p:nvGrpSpPr>
            <p:cNvPr id="38" name="组合 37"/>
            <p:cNvGrpSpPr/>
            <p:nvPr/>
          </p:nvGrpSpPr>
          <p:grpSpPr>
            <a:xfrm>
              <a:off x="494553" y="321393"/>
              <a:ext cx="5744845" cy="955220"/>
              <a:chOff x="494553" y="321393"/>
              <a:chExt cx="5744845" cy="955220"/>
            </a:xfrm>
          </p:grpSpPr>
          <p:sp>
            <p:nvSpPr>
              <p:cNvPr id="40" name="文本框 39"/>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生涯</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发展</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1" name="文本框 40"/>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9" name="矩形 36"/>
            <p:cNvSpPr>
              <a:spLocks noChangeArrowheads="1"/>
            </p:cNvSpPr>
            <p:nvPr/>
          </p:nvSpPr>
          <p:spPr bwMode="auto">
            <a:xfrm>
              <a:off x="2997643" y="150818"/>
              <a:ext cx="3603624"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就业、</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深造</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
        <p:nvSpPr>
          <p:cNvPr id="13" name="任意多边形: 形状 12"/>
          <p:cNvSpPr/>
          <p:nvPr/>
        </p:nvSpPr>
        <p:spPr>
          <a:xfrm>
            <a:off x="4007977" y="2100855"/>
            <a:ext cx="1977093" cy="1977092"/>
          </a:xfrm>
          <a:custGeom>
            <a:avLst/>
            <a:gdLst>
              <a:gd name="connsiteX0" fmla="*/ 2849523 w 5699045"/>
              <a:gd name="connsiteY0" fmla="*/ 0 h 5699044"/>
              <a:gd name="connsiteX1" fmla="*/ 3178251 w 5699045"/>
              <a:gd name="connsiteY1" fmla="*/ 136163 h 5699044"/>
              <a:gd name="connsiteX2" fmla="*/ 5562882 w 5699045"/>
              <a:gd name="connsiteY2" fmla="*/ 2520795 h 5699044"/>
              <a:gd name="connsiteX3" fmla="*/ 5562882 w 5699045"/>
              <a:gd name="connsiteY3" fmla="*/ 3178250 h 5699044"/>
              <a:gd name="connsiteX4" fmla="*/ 3178251 w 5699045"/>
              <a:gd name="connsiteY4" fmla="*/ 5562881 h 5699044"/>
              <a:gd name="connsiteX5" fmla="*/ 2520796 w 5699045"/>
              <a:gd name="connsiteY5" fmla="*/ 5562881 h 5699044"/>
              <a:gd name="connsiteX6" fmla="*/ 136164 w 5699045"/>
              <a:gd name="connsiteY6" fmla="*/ 3178250 h 5699044"/>
              <a:gd name="connsiteX7" fmla="*/ 136164 w 5699045"/>
              <a:gd name="connsiteY7" fmla="*/ 2520795 h 5699044"/>
              <a:gd name="connsiteX8" fmla="*/ 2520796 w 5699045"/>
              <a:gd name="connsiteY8" fmla="*/ 136163 h 5699044"/>
              <a:gd name="connsiteX9" fmla="*/ 2849523 w 5699045"/>
              <a:gd name="connsiteY9" fmla="*/ 0 h 569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9045" h="5699044">
                <a:moveTo>
                  <a:pt x="2849523" y="0"/>
                </a:moveTo>
                <a:cubicBezTo>
                  <a:pt x="2968499" y="0"/>
                  <a:pt x="3087475" y="45388"/>
                  <a:pt x="3178251" y="136163"/>
                </a:cubicBezTo>
                <a:lnTo>
                  <a:pt x="5562882" y="2520795"/>
                </a:lnTo>
                <a:cubicBezTo>
                  <a:pt x="5744433" y="2702346"/>
                  <a:pt x="5744433" y="2996699"/>
                  <a:pt x="5562882" y="3178250"/>
                </a:cubicBezTo>
                <a:lnTo>
                  <a:pt x="3178251" y="5562881"/>
                </a:lnTo>
                <a:cubicBezTo>
                  <a:pt x="2996700" y="5744432"/>
                  <a:pt x="2702347" y="5744432"/>
                  <a:pt x="2520796" y="5562881"/>
                </a:cubicBezTo>
                <a:lnTo>
                  <a:pt x="136164" y="3178250"/>
                </a:lnTo>
                <a:cubicBezTo>
                  <a:pt x="-45387" y="2996699"/>
                  <a:pt x="-45387" y="2702346"/>
                  <a:pt x="136164" y="2520795"/>
                </a:cubicBezTo>
                <a:lnTo>
                  <a:pt x="2520796" y="136163"/>
                </a:lnTo>
                <a:cubicBezTo>
                  <a:pt x="2611571" y="45388"/>
                  <a:pt x="2730547" y="0"/>
                  <a:pt x="2849523" y="0"/>
                </a:cubicBezTo>
                <a:close/>
              </a:path>
            </a:pathLst>
          </a:custGeom>
          <a:blipFill>
            <a:blip r:embed="rId2"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p:cTn id="17" dur="500" fill="hold"/>
                                        <p:tgtEl>
                                          <p:spTgt spid="28"/>
                                        </p:tgtEl>
                                        <p:attrNameLst>
                                          <p:attrName>ppt_w</p:attrName>
                                        </p:attrNameLst>
                                      </p:cBhvr>
                                      <p:tavLst>
                                        <p:tav tm="0">
                                          <p:val>
                                            <p:fltVal val="0"/>
                                          </p:val>
                                        </p:tav>
                                        <p:tav tm="100000">
                                          <p:val>
                                            <p:strVal val="#ppt_w"/>
                                          </p:val>
                                        </p:tav>
                                      </p:tavLst>
                                    </p:anim>
                                    <p:anim calcmode="lin" valueType="num">
                                      <p:cBhvr>
                                        <p:cTn id="18" dur="500" fill="hold"/>
                                        <p:tgtEl>
                                          <p:spTgt spid="28"/>
                                        </p:tgtEl>
                                        <p:attrNameLst>
                                          <p:attrName>ppt_h</p:attrName>
                                        </p:attrNameLst>
                                      </p:cBhvr>
                                      <p:tavLst>
                                        <p:tav tm="0">
                                          <p:val>
                                            <p:fltVal val="0"/>
                                          </p:val>
                                        </p:tav>
                                        <p:tav tm="100000">
                                          <p:val>
                                            <p:strVal val="#ppt_h"/>
                                          </p:val>
                                        </p:tav>
                                      </p:tavLst>
                                    </p:anim>
                                    <p:animEffect transition="in" filter="fade">
                                      <p:cBhvr>
                                        <p:cTn id="19" dur="500"/>
                                        <p:tgtEl>
                                          <p:spTgt spid="2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p:cTn id="22" dur="500" fill="hold"/>
                                        <p:tgtEl>
                                          <p:spTgt spid="29"/>
                                        </p:tgtEl>
                                        <p:attrNameLst>
                                          <p:attrName>ppt_w</p:attrName>
                                        </p:attrNameLst>
                                      </p:cBhvr>
                                      <p:tavLst>
                                        <p:tav tm="0">
                                          <p:val>
                                            <p:fltVal val="0"/>
                                          </p:val>
                                        </p:tav>
                                        <p:tav tm="100000">
                                          <p:val>
                                            <p:strVal val="#ppt_w"/>
                                          </p:val>
                                        </p:tav>
                                      </p:tavLst>
                                    </p:anim>
                                    <p:anim calcmode="lin" valueType="num">
                                      <p:cBhvr>
                                        <p:cTn id="23" dur="500" fill="hold"/>
                                        <p:tgtEl>
                                          <p:spTgt spid="29"/>
                                        </p:tgtEl>
                                        <p:attrNameLst>
                                          <p:attrName>ppt_h</p:attrName>
                                        </p:attrNameLst>
                                      </p:cBhvr>
                                      <p:tavLst>
                                        <p:tav tm="0">
                                          <p:val>
                                            <p:fltVal val="0"/>
                                          </p:val>
                                        </p:tav>
                                        <p:tav tm="100000">
                                          <p:val>
                                            <p:strVal val="#ppt_h"/>
                                          </p:val>
                                        </p:tav>
                                      </p:tavLst>
                                    </p:anim>
                                    <p:animEffect transition="in" filter="fade">
                                      <p:cBhvr>
                                        <p:cTn id="24" dur="500"/>
                                        <p:tgtEl>
                                          <p:spTgt spid="29"/>
                                        </p:tgtEl>
                                      </p:cBhvr>
                                    </p:animEffect>
                                  </p:childTnLst>
                                </p:cTn>
                              </p:par>
                            </p:childTnLst>
                          </p:cTn>
                        </p:par>
                        <p:par>
                          <p:cTn id="25" fill="hold">
                            <p:stCondLst>
                              <p:cond delay="500"/>
                            </p:stCondLst>
                            <p:childTnLst>
                              <p:par>
                                <p:cTn id="26" presetID="2" presetClass="entr" presetSubtype="2"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1+#ppt_w/2"/>
                                          </p:val>
                                        </p:tav>
                                        <p:tav tm="100000">
                                          <p:val>
                                            <p:strVal val="#ppt_x"/>
                                          </p:val>
                                        </p:tav>
                                      </p:tavLst>
                                    </p:anim>
                                    <p:anim calcmode="lin" valueType="num">
                                      <p:cBhvr additive="base">
                                        <p:cTn id="29" dur="500" fill="hold"/>
                                        <p:tgtEl>
                                          <p:spTgt spid="2"/>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500" fill="hold"/>
                                        <p:tgtEl>
                                          <p:spTgt spid="18"/>
                                        </p:tgtEl>
                                        <p:attrNameLst>
                                          <p:attrName>ppt_x</p:attrName>
                                        </p:attrNameLst>
                                      </p:cBhvr>
                                      <p:tavLst>
                                        <p:tav tm="0">
                                          <p:val>
                                            <p:strVal val="0-#ppt_w/2"/>
                                          </p:val>
                                        </p:tav>
                                        <p:tav tm="100000">
                                          <p:val>
                                            <p:strVal val="#ppt_x"/>
                                          </p:val>
                                        </p:tav>
                                      </p:tavLst>
                                    </p:anim>
                                    <p:anim calcmode="lin" valueType="num">
                                      <p:cBhvr additive="base">
                                        <p:cTn id="33" dur="500" fill="hold"/>
                                        <p:tgtEl>
                                          <p:spTgt spid="18"/>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par>
                                <p:cTn id="38" presetID="22" presetClass="entr" presetSubtype="2"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right)">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8" grpId="0" animBg="1"/>
      <p:bldP spid="29" grpId="0" bldLvl="0" animBg="1"/>
      <p:bldP spid="13"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0" y="0"/>
            <a:ext cx="12192000" cy="9809965"/>
          </a:xfrm>
          <a:prstGeom prst="rect">
            <a:avLst/>
          </a:prstGeom>
        </p:spPr>
      </p:pic>
      <p:sp>
        <p:nvSpPr>
          <p:cNvPr id="5" name="矩形 4"/>
          <p:cNvSpPr/>
          <p:nvPr/>
        </p:nvSpPr>
        <p:spPr>
          <a:xfrm>
            <a:off x="-53786" y="304696"/>
            <a:ext cx="12299569" cy="6858000"/>
          </a:xfrm>
          <a:prstGeom prst="rect">
            <a:avLst/>
          </a:prstGeom>
          <a:gradFill>
            <a:gsLst>
              <a:gs pos="0">
                <a:srgbClr val="15234F">
                  <a:alpha val="0"/>
                </a:srgbClr>
              </a:gs>
              <a:gs pos="100000">
                <a:srgbClr val="15234F">
                  <a:alpha val="9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2867596" y="0"/>
            <a:ext cx="6241670" cy="5016500"/>
          </a:xfrm>
          <a:custGeom>
            <a:avLst/>
            <a:gdLst>
              <a:gd name="connsiteX0" fmla="*/ 2221808 w 6241670"/>
              <a:gd name="connsiteY0" fmla="*/ 0 h 5016500"/>
              <a:gd name="connsiteX1" fmla="*/ 3679362 w 6241670"/>
              <a:gd name="connsiteY1" fmla="*/ 0 h 5016500"/>
              <a:gd name="connsiteX2" fmla="*/ 4784116 w 6241670"/>
              <a:gd name="connsiteY2" fmla="*/ 0 h 5016500"/>
              <a:gd name="connsiteX3" fmla="*/ 6241670 w 6241670"/>
              <a:gd name="connsiteY3" fmla="*/ 0 h 5016500"/>
              <a:gd name="connsiteX4" fmla="*/ 4019862 w 6241670"/>
              <a:gd name="connsiteY4" fmla="*/ 5016500 h 5016500"/>
              <a:gd name="connsiteX5" fmla="*/ 2562308 w 6241670"/>
              <a:gd name="connsiteY5" fmla="*/ 5016500 h 5016500"/>
              <a:gd name="connsiteX6" fmla="*/ 1457554 w 6241670"/>
              <a:gd name="connsiteY6" fmla="*/ 5016500 h 5016500"/>
              <a:gd name="connsiteX7" fmla="*/ 0 w 6241670"/>
              <a:gd name="connsiteY7" fmla="*/ 5016500 h 501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1670" h="5016500">
                <a:moveTo>
                  <a:pt x="2221808" y="0"/>
                </a:moveTo>
                <a:lnTo>
                  <a:pt x="3679362" y="0"/>
                </a:lnTo>
                <a:lnTo>
                  <a:pt x="4784116" y="0"/>
                </a:lnTo>
                <a:lnTo>
                  <a:pt x="6241670" y="0"/>
                </a:lnTo>
                <a:lnTo>
                  <a:pt x="4019862" y="5016500"/>
                </a:lnTo>
                <a:lnTo>
                  <a:pt x="2562308" y="5016500"/>
                </a:lnTo>
                <a:lnTo>
                  <a:pt x="1457554" y="5016500"/>
                </a:lnTo>
                <a:lnTo>
                  <a:pt x="0" y="5016500"/>
                </a:lnTo>
                <a:close/>
              </a:path>
            </a:pathLst>
          </a:custGeom>
          <a:gradFill>
            <a:gsLst>
              <a:gs pos="900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p:nvSpPr>
        <p:spPr>
          <a:xfrm>
            <a:off x="1681814" y="0"/>
            <a:ext cx="1984909" cy="245089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gradFill>
            <a:gsLst>
              <a:gs pos="25800">
                <a:srgbClr val="45BDD6">
                  <a:alpha val="57000"/>
                </a:srgbClr>
              </a:gs>
              <a:gs pos="0">
                <a:srgbClr val="45BDD6"/>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064933" y="3068846"/>
            <a:ext cx="6062133" cy="1107996"/>
          </a:xfrm>
          <a:prstGeom prst="rect">
            <a:avLst/>
          </a:prstGeom>
          <a:noFill/>
        </p:spPr>
        <p:txBody>
          <a:bodyPr wrap="square" rtlCol="0">
            <a:spAutoFit/>
            <a:scene3d>
              <a:camera prst="orthographicFront"/>
              <a:lightRig rig="threePt" dir="t"/>
            </a:scene3d>
            <a:sp3d contourW="12700"/>
          </a:bodyPr>
          <a:lstStyle/>
          <a:p>
            <a:pPr algn="ctr"/>
            <a:r>
              <a:rPr lang="en-US" altLang="zh-CN"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05.</a:t>
            </a:r>
            <a:r>
              <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招生政策</a:t>
            </a:r>
            <a:endParaRPr lang="zh-CN" altLang="en-US" sz="66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6" name="Oval 1"/>
          <p:cNvSpPr/>
          <p:nvPr/>
        </p:nvSpPr>
        <p:spPr>
          <a:xfrm flipH="1">
            <a:off x="342899"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Oval 13"/>
          <p:cNvSpPr/>
          <p:nvPr/>
        </p:nvSpPr>
        <p:spPr>
          <a:xfrm>
            <a:off x="825498"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任意多边形: 形状 22"/>
          <p:cNvSpPr/>
          <p:nvPr/>
        </p:nvSpPr>
        <p:spPr>
          <a:xfrm>
            <a:off x="-1365869" y="-643354"/>
            <a:ext cx="2423829" cy="2992854"/>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任意多边形: 形状 23"/>
          <p:cNvSpPr/>
          <p:nvPr/>
        </p:nvSpPr>
        <p:spPr>
          <a:xfrm>
            <a:off x="10907445" y="4626578"/>
            <a:ext cx="2569110" cy="3172242"/>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任意多边形: 形状 26"/>
          <p:cNvSpPr/>
          <p:nvPr/>
        </p:nvSpPr>
        <p:spPr>
          <a:xfrm>
            <a:off x="7905841" y="5052194"/>
            <a:ext cx="1967489" cy="1905405"/>
          </a:xfrm>
          <a:custGeom>
            <a:avLst/>
            <a:gdLst>
              <a:gd name="connsiteX0" fmla="*/ 876588 w 2043689"/>
              <a:gd name="connsiteY0" fmla="*/ 0 h 1979200"/>
              <a:gd name="connsiteX1" fmla="*/ 1317378 w 2043689"/>
              <a:gd name="connsiteY1" fmla="*/ 0 h 1979200"/>
              <a:gd name="connsiteX2" fmla="*/ 1602899 w 2043689"/>
              <a:gd name="connsiteY2" fmla="*/ 0 h 1979200"/>
              <a:gd name="connsiteX3" fmla="*/ 2043689 w 2043689"/>
              <a:gd name="connsiteY3" fmla="*/ 0 h 1979200"/>
              <a:gd name="connsiteX4" fmla="*/ 1167101 w 2043689"/>
              <a:gd name="connsiteY4" fmla="*/ 1979200 h 1979200"/>
              <a:gd name="connsiteX5" fmla="*/ 726311 w 2043689"/>
              <a:gd name="connsiteY5" fmla="*/ 1979200 h 1979200"/>
              <a:gd name="connsiteX6" fmla="*/ 440790 w 2043689"/>
              <a:gd name="connsiteY6" fmla="*/ 1979200 h 1979200"/>
              <a:gd name="connsiteX7" fmla="*/ 0 w 2043689"/>
              <a:gd name="connsiteY7" fmla="*/ 1979200 h 197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3689" h="1979200">
                <a:moveTo>
                  <a:pt x="876588" y="0"/>
                </a:moveTo>
                <a:lnTo>
                  <a:pt x="1317378" y="0"/>
                </a:lnTo>
                <a:lnTo>
                  <a:pt x="1602899" y="0"/>
                </a:lnTo>
                <a:lnTo>
                  <a:pt x="2043689" y="0"/>
                </a:lnTo>
                <a:lnTo>
                  <a:pt x="1167101" y="1979200"/>
                </a:lnTo>
                <a:lnTo>
                  <a:pt x="726311" y="1979200"/>
                </a:lnTo>
                <a:lnTo>
                  <a:pt x="440790" y="1979200"/>
                </a:lnTo>
                <a:lnTo>
                  <a:pt x="0" y="1979200"/>
                </a:lnTo>
                <a:close/>
              </a:path>
            </a:pathLst>
          </a:custGeom>
          <a:gradFill>
            <a:gsLst>
              <a:gs pos="0">
                <a:srgbClr val="45BDD6">
                  <a:alpha val="72000"/>
                </a:srgbClr>
              </a:gs>
              <a:gs pos="100000">
                <a:srgbClr val="45BDD6">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0-#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500" fill="hold"/>
                                        <p:tgtEl>
                                          <p:spTgt spid="27"/>
                                        </p:tgtEl>
                                        <p:attrNameLst>
                                          <p:attrName>ppt_x</p:attrName>
                                        </p:attrNameLst>
                                      </p:cBhvr>
                                      <p:tavLst>
                                        <p:tav tm="0">
                                          <p:val>
                                            <p:strVal val="#ppt_x"/>
                                          </p:val>
                                        </p:tav>
                                        <p:tav tm="100000">
                                          <p:val>
                                            <p:strVal val="#ppt_x"/>
                                          </p:val>
                                        </p:tav>
                                      </p:tavLst>
                                    </p:anim>
                                    <p:anim calcmode="lin" valueType="num">
                                      <p:cBhvr additive="base">
                                        <p:cTn id="21" dur="500" fill="hold"/>
                                        <p:tgtEl>
                                          <p:spTgt spid="27"/>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up)">
                                      <p:cBhvr>
                                        <p:cTn id="25" dur="500"/>
                                        <p:tgtEl>
                                          <p:spTgt spid="22"/>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8" grpId="0" animBg="1"/>
      <p:bldP spid="13" grpId="0"/>
      <p:bldP spid="23" grpId="0" animBg="1"/>
      <p:bldP spid="24" grpId="0" animBg="1"/>
      <p:bldP spid="2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任意多边形: 形状 16"/>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616642" y="1728146"/>
            <a:ext cx="3326606" cy="1117366"/>
            <a:chOff x="1498822" y="2237011"/>
            <a:chExt cx="3326606" cy="1117366"/>
          </a:xfrm>
        </p:grpSpPr>
        <p:grpSp>
          <p:nvGrpSpPr>
            <p:cNvPr id="16" name="组合 15"/>
            <p:cNvGrpSpPr/>
            <p:nvPr/>
          </p:nvGrpSpPr>
          <p:grpSpPr>
            <a:xfrm>
              <a:off x="1498822" y="2237011"/>
              <a:ext cx="3326606" cy="1117366"/>
              <a:chOff x="1905794" y="2443386"/>
              <a:chExt cx="3326606" cy="1117366"/>
            </a:xfrm>
          </p:grpSpPr>
          <p:sp>
            <p:nvSpPr>
              <p:cNvPr id="11" name="椭圆 10"/>
              <p:cNvSpPr/>
              <p:nvPr/>
            </p:nvSpPr>
            <p:spPr>
              <a:xfrm>
                <a:off x="1905794" y="2443386"/>
                <a:ext cx="1117365" cy="1117366"/>
              </a:xfrm>
              <a:prstGeom prst="ellipse">
                <a:avLst/>
              </a:prstGeom>
              <a:solidFill>
                <a:srgbClr val="24C6DB"/>
              </a:solidFill>
              <a:ln w="3810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5"/>
              <p:cNvSpPr/>
              <p:nvPr/>
            </p:nvSpPr>
            <p:spPr>
              <a:xfrm>
                <a:off x="2584194" y="2722729"/>
                <a:ext cx="2648206" cy="558683"/>
              </a:xfrm>
              <a:prstGeom prst="roundRect">
                <a:avLst>
                  <a:gd name="adj" fmla="val 50000"/>
                </a:avLst>
              </a:pr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13" name="椭圆 12"/>
              <p:cNvSpPr/>
              <p:nvPr/>
            </p:nvSpPr>
            <p:spPr>
              <a:xfrm>
                <a:off x="2016696" y="2554288"/>
                <a:ext cx="895562" cy="895562"/>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45"/>
              <p:cNvSpPr txBox="1"/>
              <p:nvPr/>
            </p:nvSpPr>
            <p:spPr>
              <a:xfrm>
                <a:off x="2171768" y="2740460"/>
                <a:ext cx="620683"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rgbClr val="24C6DB"/>
                    </a:solidFill>
                    <a:latin typeface="3ds" panose="02000503020000020004" pitchFamily="2" charset="0"/>
                    <a:ea typeface="微软雅黑" panose="020B0503020204020204" pitchFamily="34" charset="-122"/>
                    <a:cs typeface="Arial" panose="020B0604020202020204" pitchFamily="34" charset="0"/>
                  </a:rPr>
                  <a:t>01</a:t>
                </a:r>
                <a:endParaRPr lang="zh-CN" altLang="en-US" sz="2800" b="1" dirty="0">
                  <a:solidFill>
                    <a:srgbClr val="24C6DB"/>
                  </a:solidFill>
                  <a:latin typeface="3ds" panose="02000503020000020004" pitchFamily="2" charset="0"/>
                  <a:ea typeface="微软雅黑" panose="020B0503020204020204" pitchFamily="34" charset="-122"/>
                  <a:cs typeface="Arial" panose="020B0604020202020204" pitchFamily="34" charset="0"/>
                </a:endParaRPr>
              </a:p>
            </p:txBody>
          </p:sp>
        </p:grpSp>
        <p:sp>
          <p:nvSpPr>
            <p:cNvPr id="20" name="文本框 19"/>
            <p:cNvSpPr txBox="1"/>
            <p:nvPr/>
          </p:nvSpPr>
          <p:spPr>
            <a:xfrm>
              <a:off x="2670208" y="2579547"/>
              <a:ext cx="1915909"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微软雅黑" panose="020B0503020204020204" pitchFamily="34" charset="-122"/>
                  <a:ea typeface="微软雅黑" panose="020B0503020204020204" pitchFamily="34" charset="-122"/>
                </a:rPr>
                <a:t>外国语学部</a:t>
              </a:r>
              <a:endParaRPr lang="zh-CN" altLang="en-US" sz="2400" i="1" spc="300" dirty="0">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4565708" y="1728146"/>
            <a:ext cx="4291970" cy="1117366"/>
            <a:chOff x="1498822" y="2237011"/>
            <a:chExt cx="4291970" cy="1117366"/>
          </a:xfrm>
        </p:grpSpPr>
        <p:grpSp>
          <p:nvGrpSpPr>
            <p:cNvPr id="24" name="组合 23"/>
            <p:cNvGrpSpPr/>
            <p:nvPr/>
          </p:nvGrpSpPr>
          <p:grpSpPr>
            <a:xfrm>
              <a:off x="1498822" y="2237011"/>
              <a:ext cx="4291970" cy="1117366"/>
              <a:chOff x="1905794" y="2443386"/>
              <a:chExt cx="4291970" cy="1117366"/>
            </a:xfrm>
          </p:grpSpPr>
          <p:sp>
            <p:nvSpPr>
              <p:cNvPr id="28" name="椭圆 27"/>
              <p:cNvSpPr/>
              <p:nvPr/>
            </p:nvSpPr>
            <p:spPr>
              <a:xfrm>
                <a:off x="1905794" y="2443386"/>
                <a:ext cx="1117365" cy="1117366"/>
              </a:xfrm>
              <a:prstGeom prst="ellipse">
                <a:avLst/>
              </a:prstGeom>
              <a:solidFill>
                <a:srgbClr val="FF9933"/>
              </a:solidFill>
              <a:ln w="3810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圆角矩形 15"/>
              <p:cNvSpPr/>
              <p:nvPr/>
            </p:nvSpPr>
            <p:spPr>
              <a:xfrm>
                <a:off x="2584194" y="2722729"/>
                <a:ext cx="3613570" cy="558683"/>
              </a:xfrm>
              <a:prstGeom prst="roundRect">
                <a:avLst>
                  <a:gd name="adj" fmla="val 50000"/>
                </a:avLst>
              </a:pr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30" name="椭圆 29"/>
              <p:cNvSpPr/>
              <p:nvPr/>
            </p:nvSpPr>
            <p:spPr>
              <a:xfrm>
                <a:off x="2016696" y="2554288"/>
                <a:ext cx="895562" cy="895562"/>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extBox 45"/>
              <p:cNvSpPr txBox="1"/>
              <p:nvPr/>
            </p:nvSpPr>
            <p:spPr>
              <a:xfrm>
                <a:off x="2171768" y="2740460"/>
                <a:ext cx="620683"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rgbClr val="FF9933"/>
                    </a:solidFill>
                    <a:latin typeface="3ds" panose="02000503020000020004" pitchFamily="2" charset="0"/>
                    <a:ea typeface="微软雅黑" panose="020B0503020204020204" pitchFamily="34" charset="-122"/>
                    <a:cs typeface="Arial" panose="020B0604020202020204" pitchFamily="34" charset="0"/>
                  </a:rPr>
                  <a:t>02</a:t>
                </a:r>
                <a:endParaRPr lang="zh-CN" altLang="en-US" sz="2800" b="1" dirty="0">
                  <a:solidFill>
                    <a:srgbClr val="FF9933"/>
                  </a:solidFill>
                  <a:latin typeface="3ds" panose="02000503020000020004" pitchFamily="2" charset="0"/>
                  <a:ea typeface="微软雅黑" panose="020B0503020204020204" pitchFamily="34" charset="-122"/>
                  <a:cs typeface="Arial" panose="020B0604020202020204" pitchFamily="34" charset="0"/>
                </a:endParaRPr>
              </a:p>
            </p:txBody>
          </p:sp>
        </p:grpSp>
        <p:sp>
          <p:nvSpPr>
            <p:cNvPr id="26" name="文本框 25"/>
            <p:cNvSpPr txBox="1"/>
            <p:nvPr/>
          </p:nvSpPr>
          <p:spPr>
            <a:xfrm>
              <a:off x="2670208" y="2579547"/>
              <a:ext cx="2954655"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微软雅黑" panose="020B0503020204020204" pitchFamily="34" charset="-122"/>
                  <a:ea typeface="微软雅黑" panose="020B0503020204020204" pitchFamily="34" charset="-122"/>
                </a:rPr>
                <a:t>人文社会科学学部</a:t>
              </a:r>
              <a:endParaRPr lang="zh-CN" altLang="en-US" sz="2400" i="1" spc="300" dirty="0">
                <a:latin typeface="微软雅黑" panose="020B0503020204020204" pitchFamily="34" charset="-122"/>
                <a:ea typeface="微软雅黑" panose="020B0503020204020204" pitchFamily="34" charset="-122"/>
              </a:endParaRPr>
            </a:p>
          </p:txBody>
        </p:sp>
      </p:grpSp>
      <p:sp>
        <p:nvSpPr>
          <p:cNvPr id="33" name="椭圆 32"/>
          <p:cNvSpPr/>
          <p:nvPr/>
        </p:nvSpPr>
        <p:spPr>
          <a:xfrm>
            <a:off x="9619740" y="321393"/>
            <a:ext cx="1975148" cy="1921064"/>
          </a:xfrm>
          <a:prstGeom prst="ellipse">
            <a:avLst/>
          </a:prstGeom>
          <a:blipFill>
            <a:blip r:embed="rId1" cstate="hqprint">
              <a:extLst>
                <a:ext uri="{BEBA8EAE-BF5A-486C-A8C5-ECC9F3942E4B}">
                  <a14:imgProps xmlns:a14="http://schemas.microsoft.com/office/drawing/2010/main">
                    <a14:imgLayer r:embed="rId2">
                      <a14:imgEffect>
                        <a14:saturation sat="33000"/>
                      </a14:imgEffect>
                    </a14:imgLayer>
                  </a14:imgProps>
                </a:ext>
              </a:extLst>
            </a:blip>
            <a:stretch>
              <a:fillRect l="-39385" t="-29202" r="-59543" b="2"/>
            </a:stretch>
          </a:blipFill>
          <a:ln w="5715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9453811" y="1653353"/>
            <a:ext cx="1177870" cy="1192159"/>
          </a:xfrm>
          <a:prstGeom prst="ellipse">
            <a:avLst/>
          </a:prstGeom>
          <a:blipFill>
            <a:blip r:embed="rId3" cstate="hqprint"/>
            <a:stretch>
              <a:fillRect/>
            </a:stretch>
          </a:blipFill>
          <a:ln w="5715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494553" y="150818"/>
            <a:ext cx="6344398" cy="1125795"/>
            <a:chOff x="494553" y="150818"/>
            <a:chExt cx="6344398" cy="1125795"/>
          </a:xfrm>
        </p:grpSpPr>
        <p:grpSp>
          <p:nvGrpSpPr>
            <p:cNvPr id="38" name="组合 37"/>
            <p:cNvGrpSpPr/>
            <p:nvPr/>
          </p:nvGrpSpPr>
          <p:grpSpPr>
            <a:xfrm>
              <a:off x="494553" y="321393"/>
              <a:ext cx="5744845" cy="955220"/>
              <a:chOff x="494553" y="321393"/>
              <a:chExt cx="5744845" cy="955220"/>
            </a:xfrm>
          </p:grpSpPr>
          <p:sp>
            <p:nvSpPr>
              <p:cNvPr id="40" name="文本框 39"/>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1" name="文本框 40"/>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9" name="矩形 36"/>
            <p:cNvSpPr>
              <a:spLocks noChangeArrowheads="1"/>
            </p:cNvSpPr>
            <p:nvPr/>
          </p:nvSpPr>
          <p:spPr bwMode="auto">
            <a:xfrm>
              <a:off x="2997642" y="150818"/>
              <a:ext cx="384130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学部院系、</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专业设置</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42" name="组合 41"/>
          <p:cNvGrpSpPr/>
          <p:nvPr/>
        </p:nvGrpSpPr>
        <p:grpSpPr>
          <a:xfrm>
            <a:off x="616642" y="3186143"/>
            <a:ext cx="3581312" cy="1117366"/>
            <a:chOff x="1498822" y="2237011"/>
            <a:chExt cx="3481678" cy="1117366"/>
          </a:xfrm>
        </p:grpSpPr>
        <p:grpSp>
          <p:nvGrpSpPr>
            <p:cNvPr id="43" name="组合 42"/>
            <p:cNvGrpSpPr/>
            <p:nvPr/>
          </p:nvGrpSpPr>
          <p:grpSpPr>
            <a:xfrm>
              <a:off x="1498822" y="2237011"/>
              <a:ext cx="3481678" cy="1117366"/>
              <a:chOff x="1905794" y="2443386"/>
              <a:chExt cx="3481678" cy="1117366"/>
            </a:xfrm>
          </p:grpSpPr>
          <p:sp>
            <p:nvSpPr>
              <p:cNvPr id="45" name="椭圆 44"/>
              <p:cNvSpPr/>
              <p:nvPr/>
            </p:nvSpPr>
            <p:spPr>
              <a:xfrm>
                <a:off x="1905794" y="2443386"/>
                <a:ext cx="1117365" cy="1117366"/>
              </a:xfrm>
              <a:prstGeom prst="ellipse">
                <a:avLst/>
              </a:prstGeom>
              <a:solidFill>
                <a:srgbClr val="92D050"/>
              </a:solidFill>
              <a:ln w="3810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15"/>
              <p:cNvSpPr/>
              <p:nvPr/>
            </p:nvSpPr>
            <p:spPr>
              <a:xfrm>
                <a:off x="2584193" y="2722729"/>
                <a:ext cx="2803279" cy="558683"/>
              </a:xfrm>
              <a:prstGeom prst="roundRect">
                <a:avLst>
                  <a:gd name="adj" fmla="val 50000"/>
                </a:avLst>
              </a:pr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47" name="椭圆 46"/>
              <p:cNvSpPr/>
              <p:nvPr/>
            </p:nvSpPr>
            <p:spPr>
              <a:xfrm>
                <a:off x="2016696" y="2554288"/>
                <a:ext cx="895562" cy="895562"/>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TextBox 45"/>
              <p:cNvSpPr txBox="1"/>
              <p:nvPr/>
            </p:nvSpPr>
            <p:spPr>
              <a:xfrm>
                <a:off x="2171768" y="2740460"/>
                <a:ext cx="603415"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rgbClr val="92D050"/>
                    </a:solidFill>
                    <a:latin typeface="3ds" panose="02000503020000020004" pitchFamily="2" charset="0"/>
                    <a:ea typeface="微软雅黑" panose="020B0503020204020204" pitchFamily="34" charset="-122"/>
                    <a:cs typeface="Arial" panose="020B0604020202020204" pitchFamily="34" charset="0"/>
                  </a:rPr>
                  <a:t>03</a:t>
                </a:r>
                <a:endParaRPr lang="zh-CN" altLang="en-US" sz="2800" b="1" dirty="0">
                  <a:solidFill>
                    <a:srgbClr val="92D050"/>
                  </a:solidFill>
                  <a:latin typeface="3ds" panose="02000503020000020004" pitchFamily="2" charset="0"/>
                  <a:ea typeface="微软雅黑" panose="020B0503020204020204" pitchFamily="34" charset="-122"/>
                  <a:cs typeface="Arial" panose="020B0604020202020204" pitchFamily="34" charset="0"/>
                </a:endParaRPr>
              </a:p>
            </p:txBody>
          </p:sp>
        </p:grpSp>
        <p:sp>
          <p:nvSpPr>
            <p:cNvPr id="44" name="文本框 43"/>
            <p:cNvSpPr txBox="1"/>
            <p:nvPr/>
          </p:nvSpPr>
          <p:spPr>
            <a:xfrm>
              <a:off x="2671723" y="2579547"/>
              <a:ext cx="2262158"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微软雅黑" panose="020B0503020204020204" pitchFamily="34" charset="-122"/>
                  <a:ea typeface="微软雅黑" panose="020B0503020204020204" pitchFamily="34" charset="-122"/>
                </a:rPr>
                <a:t>信息科学学院</a:t>
              </a:r>
              <a:endParaRPr lang="zh-CN" altLang="en-US" sz="2400" i="1" spc="300" dirty="0">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4565708" y="3186143"/>
            <a:ext cx="2553189" cy="1117366"/>
            <a:chOff x="1498822" y="2237011"/>
            <a:chExt cx="2553189" cy="1117366"/>
          </a:xfrm>
        </p:grpSpPr>
        <p:grpSp>
          <p:nvGrpSpPr>
            <p:cNvPr id="50" name="组合 49"/>
            <p:cNvGrpSpPr/>
            <p:nvPr/>
          </p:nvGrpSpPr>
          <p:grpSpPr>
            <a:xfrm>
              <a:off x="1498822" y="2237011"/>
              <a:ext cx="2553189" cy="1117366"/>
              <a:chOff x="1905794" y="2443386"/>
              <a:chExt cx="2553189" cy="1117366"/>
            </a:xfrm>
          </p:grpSpPr>
          <p:sp>
            <p:nvSpPr>
              <p:cNvPr id="52" name="椭圆 51"/>
              <p:cNvSpPr/>
              <p:nvPr/>
            </p:nvSpPr>
            <p:spPr>
              <a:xfrm>
                <a:off x="1905794" y="2443386"/>
                <a:ext cx="1117365" cy="1117366"/>
              </a:xfrm>
              <a:prstGeom prst="ellipse">
                <a:avLst/>
              </a:prstGeom>
              <a:solidFill>
                <a:srgbClr val="242424"/>
              </a:solidFill>
              <a:ln w="3810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圆角矩形 15"/>
              <p:cNvSpPr/>
              <p:nvPr/>
            </p:nvSpPr>
            <p:spPr>
              <a:xfrm>
                <a:off x="2584194" y="2722729"/>
                <a:ext cx="1874789" cy="558683"/>
              </a:xfrm>
              <a:prstGeom prst="roundRect">
                <a:avLst>
                  <a:gd name="adj" fmla="val 50000"/>
                </a:avLst>
              </a:pr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54" name="椭圆 53"/>
              <p:cNvSpPr/>
              <p:nvPr/>
            </p:nvSpPr>
            <p:spPr>
              <a:xfrm>
                <a:off x="2016696" y="2554288"/>
                <a:ext cx="895562" cy="895562"/>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TextBox 45"/>
              <p:cNvSpPr txBox="1"/>
              <p:nvPr/>
            </p:nvSpPr>
            <p:spPr>
              <a:xfrm>
                <a:off x="2171768" y="2740460"/>
                <a:ext cx="620683"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tx1">
                        <a:lumMod val="85000"/>
                        <a:lumOff val="15000"/>
                      </a:schemeClr>
                    </a:solidFill>
                    <a:latin typeface="3ds" panose="02000503020000020004" pitchFamily="2" charset="0"/>
                    <a:ea typeface="微软雅黑" panose="020B0503020204020204" pitchFamily="34" charset="-122"/>
                    <a:cs typeface="Arial" panose="020B0604020202020204" pitchFamily="34" charset="0"/>
                  </a:rPr>
                  <a:t>04</a:t>
                </a:r>
                <a:endParaRPr lang="zh-CN" altLang="en-US" sz="2800" b="1" dirty="0">
                  <a:solidFill>
                    <a:schemeClr val="tx1">
                      <a:lumMod val="85000"/>
                      <a:lumOff val="15000"/>
                    </a:schemeClr>
                  </a:solidFill>
                  <a:latin typeface="3ds" panose="02000503020000020004" pitchFamily="2" charset="0"/>
                  <a:ea typeface="微软雅黑" panose="020B0503020204020204" pitchFamily="34" charset="-122"/>
                  <a:cs typeface="Arial" panose="020B0604020202020204" pitchFamily="34" charset="0"/>
                </a:endParaRPr>
              </a:p>
            </p:txBody>
          </p:sp>
        </p:grpSp>
        <p:sp>
          <p:nvSpPr>
            <p:cNvPr id="51" name="文本框 50"/>
            <p:cNvSpPr txBox="1"/>
            <p:nvPr/>
          </p:nvSpPr>
          <p:spPr>
            <a:xfrm>
              <a:off x="2670208" y="2579547"/>
              <a:ext cx="1223412"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微软雅黑" panose="020B0503020204020204" pitchFamily="34" charset="-122"/>
                  <a:ea typeface="微软雅黑" panose="020B0503020204020204" pitchFamily="34" charset="-122"/>
                </a:rPr>
                <a:t>商学院</a:t>
              </a:r>
              <a:endParaRPr lang="zh-CN" altLang="en-US" sz="2400" i="1" spc="300" dirty="0">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616642" y="4548388"/>
            <a:ext cx="3581312" cy="1117366"/>
            <a:chOff x="1498822" y="2237011"/>
            <a:chExt cx="3481678" cy="1117366"/>
          </a:xfrm>
        </p:grpSpPr>
        <p:grpSp>
          <p:nvGrpSpPr>
            <p:cNvPr id="57" name="组合 56"/>
            <p:cNvGrpSpPr/>
            <p:nvPr/>
          </p:nvGrpSpPr>
          <p:grpSpPr>
            <a:xfrm>
              <a:off x="1498822" y="2237011"/>
              <a:ext cx="3481678" cy="1117366"/>
              <a:chOff x="1905794" y="2443386"/>
              <a:chExt cx="3481678" cy="1117366"/>
            </a:xfrm>
          </p:grpSpPr>
          <p:sp>
            <p:nvSpPr>
              <p:cNvPr id="59" name="椭圆 58"/>
              <p:cNvSpPr/>
              <p:nvPr/>
            </p:nvSpPr>
            <p:spPr>
              <a:xfrm>
                <a:off x="1905794" y="2443386"/>
                <a:ext cx="1117365" cy="1117366"/>
              </a:xfrm>
              <a:prstGeom prst="ellipse">
                <a:avLst/>
              </a:prstGeom>
              <a:solidFill>
                <a:schemeClr val="accent1"/>
              </a:solidFill>
              <a:ln w="3810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圆角矩形 15"/>
              <p:cNvSpPr/>
              <p:nvPr/>
            </p:nvSpPr>
            <p:spPr>
              <a:xfrm>
                <a:off x="2584193" y="2722729"/>
                <a:ext cx="2803279" cy="558683"/>
              </a:xfrm>
              <a:prstGeom prst="roundRect">
                <a:avLst>
                  <a:gd name="adj" fmla="val 50000"/>
                </a:avLst>
              </a:pr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61" name="椭圆 60"/>
              <p:cNvSpPr/>
              <p:nvPr/>
            </p:nvSpPr>
            <p:spPr>
              <a:xfrm>
                <a:off x="2016696" y="2554288"/>
                <a:ext cx="895562" cy="895562"/>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TextBox 45"/>
              <p:cNvSpPr txBox="1"/>
              <p:nvPr/>
            </p:nvSpPr>
            <p:spPr>
              <a:xfrm>
                <a:off x="2171768" y="2740460"/>
                <a:ext cx="603415"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1"/>
                    </a:solidFill>
                    <a:latin typeface="3ds" panose="02000503020000020004" pitchFamily="2" charset="0"/>
                    <a:ea typeface="微软雅黑" panose="020B0503020204020204" pitchFamily="34" charset="-122"/>
                    <a:cs typeface="Arial" panose="020B0604020202020204" pitchFamily="34" charset="0"/>
                  </a:rPr>
                  <a:t>06</a:t>
                </a:r>
                <a:endParaRPr lang="zh-CN" altLang="en-US" sz="2800" b="1" dirty="0">
                  <a:solidFill>
                    <a:schemeClr val="accent1"/>
                  </a:solidFill>
                  <a:latin typeface="3ds" panose="02000503020000020004" pitchFamily="2" charset="0"/>
                  <a:ea typeface="微软雅黑" panose="020B0503020204020204" pitchFamily="34" charset="-122"/>
                  <a:cs typeface="Arial" panose="020B0604020202020204" pitchFamily="34" charset="0"/>
                </a:endParaRPr>
              </a:p>
            </p:txBody>
          </p:sp>
        </p:grpSp>
        <p:sp>
          <p:nvSpPr>
            <p:cNvPr id="58" name="文本框 57"/>
            <p:cNvSpPr txBox="1"/>
            <p:nvPr/>
          </p:nvSpPr>
          <p:spPr>
            <a:xfrm>
              <a:off x="2671723" y="2579547"/>
              <a:ext cx="2199224"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微软雅黑" panose="020B0503020204020204" pitchFamily="34" charset="-122"/>
                  <a:ea typeface="微软雅黑" panose="020B0503020204020204" pitchFamily="34" charset="-122"/>
                </a:rPr>
                <a:t>语言康复学院</a:t>
              </a:r>
              <a:endParaRPr lang="zh-CN" altLang="en-US" sz="2400" i="1" spc="300" dirty="0">
                <a:latin typeface="微软雅黑" panose="020B0503020204020204" pitchFamily="34" charset="-122"/>
                <a:ea typeface="微软雅黑" panose="020B0503020204020204" pitchFamily="34" charset="-122"/>
              </a:endParaRPr>
            </a:p>
          </p:txBody>
        </p:sp>
      </p:grpSp>
      <p:grpSp>
        <p:nvGrpSpPr>
          <p:cNvPr id="63" name="组合 62"/>
          <p:cNvGrpSpPr/>
          <p:nvPr/>
        </p:nvGrpSpPr>
        <p:grpSpPr>
          <a:xfrm>
            <a:off x="4565708" y="4548388"/>
            <a:ext cx="3015375" cy="1117366"/>
            <a:chOff x="1498822" y="2237011"/>
            <a:chExt cx="3015375" cy="1117366"/>
          </a:xfrm>
        </p:grpSpPr>
        <p:grpSp>
          <p:nvGrpSpPr>
            <p:cNvPr id="64" name="组合 63"/>
            <p:cNvGrpSpPr/>
            <p:nvPr/>
          </p:nvGrpSpPr>
          <p:grpSpPr>
            <a:xfrm>
              <a:off x="1498822" y="2237011"/>
              <a:ext cx="3015375" cy="1117366"/>
              <a:chOff x="1905794" y="2443386"/>
              <a:chExt cx="3015375" cy="1117366"/>
            </a:xfrm>
          </p:grpSpPr>
          <p:sp>
            <p:nvSpPr>
              <p:cNvPr id="66" name="椭圆 65"/>
              <p:cNvSpPr/>
              <p:nvPr/>
            </p:nvSpPr>
            <p:spPr>
              <a:xfrm>
                <a:off x="1905794" y="2443386"/>
                <a:ext cx="1117365" cy="1117366"/>
              </a:xfrm>
              <a:prstGeom prst="ellipse">
                <a:avLst/>
              </a:prstGeom>
              <a:solidFill>
                <a:schemeClr val="accent2">
                  <a:lumMod val="75000"/>
                </a:schemeClr>
              </a:solidFill>
              <a:ln w="3810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圆角矩形 15"/>
              <p:cNvSpPr/>
              <p:nvPr/>
            </p:nvSpPr>
            <p:spPr>
              <a:xfrm>
                <a:off x="2584194" y="2722729"/>
                <a:ext cx="2336975" cy="558683"/>
              </a:xfrm>
              <a:prstGeom prst="roundRect">
                <a:avLst>
                  <a:gd name="adj" fmla="val 50000"/>
                </a:avLst>
              </a:pr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68" name="椭圆 67"/>
              <p:cNvSpPr/>
              <p:nvPr/>
            </p:nvSpPr>
            <p:spPr>
              <a:xfrm>
                <a:off x="2016696" y="2554288"/>
                <a:ext cx="895562" cy="895562"/>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TextBox 45"/>
              <p:cNvSpPr txBox="1"/>
              <p:nvPr/>
            </p:nvSpPr>
            <p:spPr>
              <a:xfrm>
                <a:off x="2171768" y="2740460"/>
                <a:ext cx="620683"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2">
                        <a:lumMod val="75000"/>
                      </a:schemeClr>
                    </a:solidFill>
                    <a:latin typeface="3ds" panose="02000503020000020004" pitchFamily="2" charset="0"/>
                    <a:ea typeface="微软雅黑" panose="020B0503020204020204" pitchFamily="34" charset="-122"/>
                    <a:cs typeface="Arial" panose="020B0604020202020204" pitchFamily="34" charset="0"/>
                  </a:rPr>
                  <a:t>07</a:t>
                </a:r>
                <a:endParaRPr lang="zh-CN" altLang="en-US" sz="2800" b="1" dirty="0">
                  <a:solidFill>
                    <a:schemeClr val="accent2">
                      <a:lumMod val="75000"/>
                    </a:schemeClr>
                  </a:solidFill>
                  <a:latin typeface="3ds" panose="02000503020000020004" pitchFamily="2" charset="0"/>
                  <a:ea typeface="微软雅黑" panose="020B0503020204020204" pitchFamily="34" charset="-122"/>
                  <a:cs typeface="Arial" panose="020B0604020202020204" pitchFamily="34" charset="0"/>
                </a:endParaRPr>
              </a:p>
            </p:txBody>
          </p:sp>
        </p:grpSp>
        <p:sp>
          <p:nvSpPr>
            <p:cNvPr id="65" name="文本框 64"/>
            <p:cNvSpPr txBox="1"/>
            <p:nvPr/>
          </p:nvSpPr>
          <p:spPr>
            <a:xfrm>
              <a:off x="2670208" y="2579547"/>
              <a:ext cx="156966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微软雅黑" panose="020B0503020204020204" pitchFamily="34" charset="-122"/>
                  <a:ea typeface="微软雅黑" panose="020B0503020204020204" pitchFamily="34" charset="-122"/>
                </a:rPr>
                <a:t>语言学系</a:t>
              </a:r>
              <a:endParaRPr lang="zh-CN" altLang="en-US" sz="2400" i="1" spc="300" dirty="0">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7581083" y="3200828"/>
            <a:ext cx="2862185" cy="1117366"/>
            <a:chOff x="1498822" y="2237011"/>
            <a:chExt cx="2862185" cy="1117366"/>
          </a:xfrm>
        </p:grpSpPr>
        <p:grpSp>
          <p:nvGrpSpPr>
            <p:cNvPr id="71" name="组合 70"/>
            <p:cNvGrpSpPr/>
            <p:nvPr/>
          </p:nvGrpSpPr>
          <p:grpSpPr>
            <a:xfrm>
              <a:off x="1498822" y="2237011"/>
              <a:ext cx="2862185" cy="1117366"/>
              <a:chOff x="1905794" y="2443386"/>
              <a:chExt cx="2862185" cy="1117366"/>
            </a:xfrm>
          </p:grpSpPr>
          <p:sp>
            <p:nvSpPr>
              <p:cNvPr id="73" name="椭圆 72"/>
              <p:cNvSpPr/>
              <p:nvPr/>
            </p:nvSpPr>
            <p:spPr>
              <a:xfrm>
                <a:off x="1905794" y="2443386"/>
                <a:ext cx="1117365" cy="1117366"/>
              </a:xfrm>
              <a:prstGeom prst="ellipse">
                <a:avLst/>
              </a:prstGeom>
              <a:solidFill>
                <a:srgbClr val="FF66CC"/>
              </a:solidFill>
              <a:ln w="3810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圆角矩形 15"/>
              <p:cNvSpPr/>
              <p:nvPr/>
            </p:nvSpPr>
            <p:spPr>
              <a:xfrm>
                <a:off x="2584194" y="2722729"/>
                <a:ext cx="2183785" cy="558683"/>
              </a:xfrm>
              <a:prstGeom prst="roundRect">
                <a:avLst>
                  <a:gd name="adj" fmla="val 50000"/>
                </a:avLst>
              </a:prstGeom>
              <a:solidFill>
                <a:schemeClr val="bg1"/>
              </a:solidFill>
              <a:ln>
                <a:noFill/>
              </a:ln>
              <a:effectLst>
                <a:outerShdw blurRad="546100" dist="190500" dir="66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i="1"/>
              </a:p>
            </p:txBody>
          </p:sp>
          <p:sp>
            <p:nvSpPr>
              <p:cNvPr id="75" name="椭圆 74"/>
              <p:cNvSpPr/>
              <p:nvPr/>
            </p:nvSpPr>
            <p:spPr>
              <a:xfrm>
                <a:off x="2016696" y="2554288"/>
                <a:ext cx="895562" cy="895562"/>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TextBox 45"/>
              <p:cNvSpPr txBox="1"/>
              <p:nvPr/>
            </p:nvSpPr>
            <p:spPr>
              <a:xfrm>
                <a:off x="2171768" y="2740460"/>
                <a:ext cx="620683"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rgbClr val="FF66CC"/>
                    </a:solidFill>
                    <a:latin typeface="3ds" panose="02000503020000020004" pitchFamily="2" charset="0"/>
                    <a:ea typeface="微软雅黑" panose="020B0503020204020204" pitchFamily="34" charset="-122"/>
                    <a:cs typeface="Arial" panose="020B0604020202020204" pitchFamily="34" charset="0"/>
                  </a:rPr>
                  <a:t>05</a:t>
                </a:r>
                <a:endParaRPr lang="zh-CN" altLang="en-US" sz="2800" b="1" dirty="0">
                  <a:solidFill>
                    <a:srgbClr val="FF66CC"/>
                  </a:solidFill>
                  <a:latin typeface="3ds" panose="02000503020000020004" pitchFamily="2" charset="0"/>
                  <a:ea typeface="微软雅黑" panose="020B0503020204020204" pitchFamily="34" charset="-122"/>
                  <a:cs typeface="Arial" panose="020B0604020202020204" pitchFamily="34" charset="0"/>
                </a:endParaRPr>
              </a:p>
            </p:txBody>
          </p:sp>
        </p:grpSp>
        <p:sp>
          <p:nvSpPr>
            <p:cNvPr id="72" name="文本框 71"/>
            <p:cNvSpPr txBox="1"/>
            <p:nvPr/>
          </p:nvSpPr>
          <p:spPr>
            <a:xfrm>
              <a:off x="2670208" y="2579547"/>
              <a:ext cx="156966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微软雅黑" panose="020B0503020204020204" pitchFamily="34" charset="-122"/>
                  <a:ea typeface="微软雅黑" panose="020B0503020204020204" pitchFamily="34" charset="-122"/>
                </a:rPr>
                <a:t>艺术学院</a:t>
              </a:r>
              <a:endParaRPr lang="zh-CN" altLang="en-US" sz="2400" i="1" spc="300" dirty="0">
                <a:latin typeface="微软雅黑" panose="020B0503020204020204" pitchFamily="34" charset="-122"/>
                <a:ea typeface="微软雅黑" panose="020B0503020204020204" pitchFamily="34" charset="-122"/>
              </a:endParaRPr>
            </a:p>
          </p:txBody>
        </p:sp>
      </p:grpSp>
      <p:sp>
        <p:nvSpPr>
          <p:cNvPr id="84" name="文本框 83"/>
          <p:cNvSpPr txBox="1">
            <a:spLocks noChangeArrowheads="1"/>
          </p:cNvSpPr>
          <p:nvPr/>
        </p:nvSpPr>
        <p:spPr bwMode="auto">
          <a:xfrm>
            <a:off x="5683073" y="5990293"/>
            <a:ext cx="61360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3200" i="1" dirty="0">
                <a:solidFill>
                  <a:srgbClr val="FF9933"/>
                </a:solidFill>
                <a:latin typeface="黑体" panose="02010609060101010101" pitchFamily="49" charset="-122"/>
                <a:ea typeface="黑体" panose="02010609060101010101" pitchFamily="49" charset="-122"/>
              </a:rPr>
              <a:t>7</a:t>
            </a:r>
            <a:r>
              <a:rPr lang="zh-CN" altLang="en-US" sz="3200" i="1" dirty="0">
                <a:solidFill>
                  <a:schemeClr val="bg2">
                    <a:lumMod val="50000"/>
                  </a:schemeClr>
                </a:solidFill>
                <a:latin typeface="黑体" panose="02010609060101010101" pitchFamily="49" charset="-122"/>
                <a:ea typeface="黑体" panose="02010609060101010101" pitchFamily="49" charset="-122"/>
              </a:rPr>
              <a:t>大培养单位 </a:t>
            </a:r>
            <a:r>
              <a:rPr lang="en-US" altLang="zh-CN" sz="3200" i="1" dirty="0">
                <a:solidFill>
                  <a:srgbClr val="FF9933"/>
                </a:solidFill>
                <a:latin typeface="黑体" panose="02010609060101010101" pitchFamily="49" charset="-122"/>
                <a:ea typeface="黑体" panose="02010609060101010101" pitchFamily="49" charset="-122"/>
              </a:rPr>
              <a:t>34</a:t>
            </a:r>
            <a:r>
              <a:rPr lang="zh-CN" altLang="en-US" sz="3200" i="1" dirty="0">
                <a:solidFill>
                  <a:schemeClr val="bg2">
                    <a:lumMod val="50000"/>
                  </a:schemeClr>
                </a:solidFill>
                <a:latin typeface="黑体" panose="02010609060101010101" pitchFamily="49" charset="-122"/>
                <a:ea typeface="黑体" panose="02010609060101010101" pitchFamily="49" charset="-122"/>
              </a:rPr>
              <a:t>个招生专业方向</a:t>
            </a:r>
            <a:endParaRPr lang="en-US" altLang="zh-CN" sz="3200" i="1" dirty="0">
              <a:solidFill>
                <a:schemeClr val="bg2">
                  <a:lumMod val="50000"/>
                </a:schemeClr>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1000"/>
                                        <p:tgtEl>
                                          <p:spTgt spid="42"/>
                                        </p:tgtEl>
                                      </p:cBhvr>
                                    </p:animEffect>
                                    <p:anim calcmode="lin" valueType="num">
                                      <p:cBhvr>
                                        <p:cTn id="18" dur="1000" fill="hold"/>
                                        <p:tgtEl>
                                          <p:spTgt spid="42"/>
                                        </p:tgtEl>
                                        <p:attrNameLst>
                                          <p:attrName>ppt_x</p:attrName>
                                        </p:attrNameLst>
                                      </p:cBhvr>
                                      <p:tavLst>
                                        <p:tav tm="0">
                                          <p:val>
                                            <p:strVal val="#ppt_x"/>
                                          </p:val>
                                        </p:tav>
                                        <p:tav tm="100000">
                                          <p:val>
                                            <p:strVal val="#ppt_x"/>
                                          </p:val>
                                        </p:tav>
                                      </p:tavLst>
                                    </p:anim>
                                    <p:anim calcmode="lin" valueType="num">
                                      <p:cBhvr>
                                        <p:cTn id="19" dur="1000" fill="hold"/>
                                        <p:tgtEl>
                                          <p:spTgt spid="4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1000"/>
                                        <p:tgtEl>
                                          <p:spTgt spid="49"/>
                                        </p:tgtEl>
                                      </p:cBhvr>
                                    </p:animEffect>
                                    <p:anim calcmode="lin" valueType="num">
                                      <p:cBhvr>
                                        <p:cTn id="23" dur="1000" fill="hold"/>
                                        <p:tgtEl>
                                          <p:spTgt spid="49"/>
                                        </p:tgtEl>
                                        <p:attrNameLst>
                                          <p:attrName>ppt_x</p:attrName>
                                        </p:attrNameLst>
                                      </p:cBhvr>
                                      <p:tavLst>
                                        <p:tav tm="0">
                                          <p:val>
                                            <p:strVal val="#ppt_x"/>
                                          </p:val>
                                        </p:tav>
                                        <p:tav tm="100000">
                                          <p:val>
                                            <p:strVal val="#ppt_x"/>
                                          </p:val>
                                        </p:tav>
                                      </p:tavLst>
                                    </p:anim>
                                    <p:anim calcmode="lin" valueType="num">
                                      <p:cBhvr>
                                        <p:cTn id="24" dur="1000" fill="hold"/>
                                        <p:tgtEl>
                                          <p:spTgt spid="4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1000"/>
                                        <p:tgtEl>
                                          <p:spTgt spid="56"/>
                                        </p:tgtEl>
                                      </p:cBhvr>
                                    </p:animEffect>
                                    <p:anim calcmode="lin" valueType="num">
                                      <p:cBhvr>
                                        <p:cTn id="28" dur="1000" fill="hold"/>
                                        <p:tgtEl>
                                          <p:spTgt spid="56"/>
                                        </p:tgtEl>
                                        <p:attrNameLst>
                                          <p:attrName>ppt_x</p:attrName>
                                        </p:attrNameLst>
                                      </p:cBhvr>
                                      <p:tavLst>
                                        <p:tav tm="0">
                                          <p:val>
                                            <p:strVal val="#ppt_x"/>
                                          </p:val>
                                        </p:tav>
                                        <p:tav tm="100000">
                                          <p:val>
                                            <p:strVal val="#ppt_x"/>
                                          </p:val>
                                        </p:tav>
                                      </p:tavLst>
                                    </p:anim>
                                    <p:anim calcmode="lin" valueType="num">
                                      <p:cBhvr>
                                        <p:cTn id="29" dur="1000" fill="hold"/>
                                        <p:tgtEl>
                                          <p:spTgt spid="5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fade">
                                      <p:cBhvr>
                                        <p:cTn id="32" dur="1000"/>
                                        <p:tgtEl>
                                          <p:spTgt spid="63"/>
                                        </p:tgtEl>
                                      </p:cBhvr>
                                    </p:animEffect>
                                    <p:anim calcmode="lin" valueType="num">
                                      <p:cBhvr>
                                        <p:cTn id="33" dur="1000" fill="hold"/>
                                        <p:tgtEl>
                                          <p:spTgt spid="63"/>
                                        </p:tgtEl>
                                        <p:attrNameLst>
                                          <p:attrName>ppt_x</p:attrName>
                                        </p:attrNameLst>
                                      </p:cBhvr>
                                      <p:tavLst>
                                        <p:tav tm="0">
                                          <p:val>
                                            <p:strVal val="#ppt_x"/>
                                          </p:val>
                                        </p:tav>
                                        <p:tav tm="100000">
                                          <p:val>
                                            <p:strVal val="#ppt_x"/>
                                          </p:val>
                                        </p:tav>
                                      </p:tavLst>
                                    </p:anim>
                                    <p:anim calcmode="lin" valueType="num">
                                      <p:cBhvr>
                                        <p:cTn id="34" dur="1000" fill="hold"/>
                                        <p:tgtEl>
                                          <p:spTgt spid="6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1000"/>
                                        <p:tgtEl>
                                          <p:spTgt spid="70"/>
                                        </p:tgtEl>
                                      </p:cBhvr>
                                    </p:animEffect>
                                    <p:anim calcmode="lin" valueType="num">
                                      <p:cBhvr>
                                        <p:cTn id="38" dur="1000" fill="hold"/>
                                        <p:tgtEl>
                                          <p:spTgt spid="70"/>
                                        </p:tgtEl>
                                        <p:attrNameLst>
                                          <p:attrName>ppt_x</p:attrName>
                                        </p:attrNameLst>
                                      </p:cBhvr>
                                      <p:tavLst>
                                        <p:tav tm="0">
                                          <p:val>
                                            <p:strVal val="#ppt_x"/>
                                          </p:val>
                                        </p:tav>
                                        <p:tav tm="100000">
                                          <p:val>
                                            <p:strVal val="#ppt_x"/>
                                          </p:val>
                                        </p:tav>
                                      </p:tavLst>
                                    </p:anim>
                                    <p:anim calcmode="lin" valueType="num">
                                      <p:cBhvr>
                                        <p:cTn id="39"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7774162" y="1122010"/>
          <a:ext cx="3738388" cy="5423187"/>
        </p:xfrm>
        <a:graphic>
          <a:graphicData uri="http://schemas.openxmlformats.org/drawingml/2006/table">
            <a:tbl>
              <a:tblPr>
                <a:tableStyleId>{18603FDC-E32A-4AB5-989C-0864C3EAD2B8}</a:tableStyleId>
              </a:tblPr>
              <a:tblGrid>
                <a:gridCol w="1348295"/>
                <a:gridCol w="2390093"/>
              </a:tblGrid>
              <a:tr h="319011">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专业代码</a:t>
                      </a:r>
                      <a:endParaRPr lang="zh-CN" altLang="en-US" sz="1600" b="1"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专业方向</a:t>
                      </a:r>
                      <a:endParaRPr lang="zh-CN" altLang="en-US" sz="1600" b="1"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050201</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英语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050201</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英语</a:t>
                      </a:r>
                      <a:r>
                        <a:rPr lang="en-US" altLang="zh-CN" sz="1600" u="none" strike="noStrike" dirty="0">
                          <a:effectLst/>
                          <a:latin typeface="微软雅黑 Light" panose="020B0502040204020203" pitchFamily="34" charset="-122"/>
                          <a:ea typeface="微软雅黑 Light" panose="020B0502040204020203" pitchFamily="34" charset="-122"/>
                        </a:rPr>
                        <a:t>(</a:t>
                      </a:r>
                      <a:r>
                        <a:rPr lang="zh-CN" altLang="en-US" sz="1600" u="none" strike="noStrike" dirty="0">
                          <a:effectLst/>
                          <a:latin typeface="微软雅黑 Light" panose="020B0502040204020203" pitchFamily="34" charset="-122"/>
                          <a:ea typeface="微软雅黑 Light" panose="020B0502040204020203" pitchFamily="34" charset="-122"/>
                        </a:rPr>
                        <a:t>英西复语</a:t>
                      </a:r>
                      <a:r>
                        <a:rPr lang="en-US" altLang="zh-CN" sz="1600" u="none" strike="noStrike" dirty="0">
                          <a:effectLst/>
                          <a:latin typeface="微软雅黑 Light" panose="020B0502040204020203" pitchFamily="34" charset="-122"/>
                          <a:ea typeface="微软雅黑 Light" panose="020B0502040204020203" pitchFamily="34" charset="-122"/>
                        </a:rPr>
                        <a:t>)</a:t>
                      </a:r>
                      <a:endParaRPr lang="en-US" altLang="zh-CN"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050205</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西班牙语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050204</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法语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050203</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德语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050207</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日语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050207</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日语</a:t>
                      </a:r>
                      <a:r>
                        <a:rPr lang="en-US" altLang="zh-CN" sz="1600" u="none" strike="noStrike" dirty="0">
                          <a:effectLst/>
                          <a:latin typeface="微软雅黑 Light" panose="020B0502040204020203" pitchFamily="34" charset="-122"/>
                          <a:ea typeface="微软雅黑 Light" panose="020B0502040204020203" pitchFamily="34" charset="-122"/>
                        </a:rPr>
                        <a:t>(</a:t>
                      </a:r>
                      <a:r>
                        <a:rPr lang="zh-CN" altLang="en-US" sz="1600" u="none" strike="noStrike" dirty="0">
                          <a:effectLst/>
                          <a:latin typeface="微软雅黑 Light" panose="020B0502040204020203" pitchFamily="34" charset="-122"/>
                          <a:ea typeface="微软雅黑 Light" panose="020B0502040204020203" pitchFamily="34" charset="-122"/>
                        </a:rPr>
                        <a:t>日英复语</a:t>
                      </a:r>
                      <a:r>
                        <a:rPr lang="en-US" altLang="zh-CN" sz="1600" u="none" strike="noStrike" dirty="0">
                          <a:effectLst/>
                          <a:latin typeface="微软雅黑 Light" panose="020B0502040204020203" pitchFamily="34" charset="-122"/>
                          <a:ea typeface="微软雅黑 Light" panose="020B0502040204020203" pitchFamily="34" charset="-122"/>
                        </a:rPr>
                        <a:t>)</a:t>
                      </a:r>
                      <a:endParaRPr lang="en-US" altLang="zh-CN"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050209</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朝鲜语</a:t>
                      </a:r>
                      <a:r>
                        <a:rPr lang="en-US" altLang="zh-CN" sz="1600" u="none" strike="noStrike" dirty="0">
                          <a:effectLst/>
                          <a:latin typeface="微软雅黑 Light" panose="020B0502040204020203" pitchFamily="34" charset="-122"/>
                          <a:ea typeface="微软雅黑 Light" panose="020B0502040204020203" pitchFamily="34" charset="-122"/>
                        </a:rPr>
                        <a:t>(</a:t>
                      </a:r>
                      <a:r>
                        <a:rPr lang="zh-CN" altLang="en-US" sz="1600" u="none" strike="noStrike" dirty="0">
                          <a:effectLst/>
                          <a:latin typeface="微软雅黑 Light" panose="020B0502040204020203" pitchFamily="34" charset="-122"/>
                          <a:ea typeface="微软雅黑 Light" panose="020B0502040204020203" pitchFamily="34" charset="-122"/>
                        </a:rPr>
                        <a:t>韩国语</a:t>
                      </a:r>
                      <a:r>
                        <a:rPr lang="en-US" altLang="zh-CN" sz="1600" u="none" strike="noStrike" dirty="0">
                          <a:effectLst/>
                          <a:latin typeface="微软雅黑 Light" panose="020B0502040204020203" pitchFamily="34" charset="-122"/>
                          <a:ea typeface="微软雅黑 Light" panose="020B0502040204020203" pitchFamily="34" charset="-122"/>
                        </a:rPr>
                        <a:t>)</a:t>
                      </a:r>
                      <a:endParaRPr lang="en-US" altLang="zh-CN"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050206</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阿拉伯语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050235</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土耳其语（土英复语）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050238</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意大利语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050202</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俄语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050232</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葡萄牙语</a:t>
                      </a:r>
                      <a:endParaRPr lang="zh-CN" altLang="en-US"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050261</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翻译</a:t>
                      </a:r>
                      <a:r>
                        <a:rPr lang="en-US" altLang="zh-CN" sz="1600" u="none" strike="noStrike" dirty="0">
                          <a:effectLst/>
                          <a:latin typeface="微软雅黑 Light" panose="020B0502040204020203" pitchFamily="34" charset="-122"/>
                          <a:ea typeface="微软雅黑 Light" panose="020B0502040204020203" pitchFamily="34" charset="-122"/>
                        </a:rPr>
                        <a:t>(</a:t>
                      </a:r>
                      <a:r>
                        <a:rPr lang="zh-CN" altLang="en-US" sz="1600" u="none" strike="noStrike" dirty="0">
                          <a:effectLst/>
                          <a:latin typeface="微软雅黑 Light" panose="020B0502040204020203" pitchFamily="34" charset="-122"/>
                          <a:ea typeface="微软雅黑 Light" panose="020B0502040204020203" pitchFamily="34" charset="-122"/>
                        </a:rPr>
                        <a:t>英语</a:t>
                      </a:r>
                      <a:r>
                        <a:rPr lang="en-US" altLang="zh-CN" sz="1600" u="none" strike="noStrike" dirty="0">
                          <a:effectLst/>
                          <a:latin typeface="微软雅黑 Light" panose="020B0502040204020203" pitchFamily="34" charset="-122"/>
                          <a:ea typeface="微软雅黑 Light" panose="020B0502040204020203" pitchFamily="34" charset="-122"/>
                        </a:rPr>
                        <a:t>)</a:t>
                      </a:r>
                      <a:endParaRPr lang="en-US" altLang="zh-CN"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050261</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翻译</a:t>
                      </a:r>
                      <a:r>
                        <a:rPr lang="en-US" altLang="zh-CN" sz="1600" u="none" strike="noStrike" dirty="0">
                          <a:effectLst/>
                          <a:latin typeface="微软雅黑 Light" panose="020B0502040204020203" pitchFamily="34" charset="-122"/>
                          <a:ea typeface="微软雅黑 Light" panose="020B0502040204020203" pitchFamily="34" charset="-122"/>
                        </a:rPr>
                        <a:t>(</a:t>
                      </a:r>
                      <a:r>
                        <a:rPr lang="zh-CN" altLang="en-US" sz="1600" u="none" strike="noStrike" dirty="0">
                          <a:effectLst/>
                          <a:latin typeface="微软雅黑 Light" panose="020B0502040204020203" pitchFamily="34" charset="-122"/>
                          <a:ea typeface="微软雅黑 Light" panose="020B0502040204020203" pitchFamily="34" charset="-122"/>
                        </a:rPr>
                        <a:t>本地化</a:t>
                      </a:r>
                      <a:r>
                        <a:rPr lang="en-US" altLang="zh-CN" sz="1600" u="none" strike="noStrike" dirty="0">
                          <a:effectLst/>
                          <a:latin typeface="微软雅黑 Light" panose="020B0502040204020203" pitchFamily="34" charset="-122"/>
                          <a:ea typeface="微软雅黑 Light" panose="020B0502040204020203" pitchFamily="34" charset="-122"/>
                        </a:rPr>
                        <a:t>)</a:t>
                      </a:r>
                      <a:endParaRPr lang="en-US" altLang="zh-CN"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r>
              <a:tr h="319011">
                <a:tc>
                  <a:txBody>
                    <a:bodyPr/>
                    <a:lstStyle/>
                    <a:p>
                      <a:pPr algn="ctr" fontAlgn="ctr"/>
                      <a:r>
                        <a:rPr lang="en-US" altLang="zh-CN" sz="1600" u="none" strike="noStrike" dirty="0">
                          <a:effectLst/>
                          <a:latin typeface="微软雅黑 Light" panose="020B0502040204020203" pitchFamily="34" charset="-122"/>
                          <a:ea typeface="微软雅黑 Light" panose="020B0502040204020203" pitchFamily="34" charset="-122"/>
                        </a:rPr>
                        <a:t>050261</a:t>
                      </a:r>
                      <a:endParaRPr lang="en-US" altLang="zh-CN" sz="1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c>
                  <a:txBody>
                    <a:bodyPr/>
                    <a:lstStyle/>
                    <a:p>
                      <a:pPr algn="ctr" fontAlgn="ctr"/>
                      <a:r>
                        <a:rPr lang="zh-CN" altLang="en-US" sz="1600" u="none" strike="noStrike" dirty="0">
                          <a:effectLst/>
                          <a:latin typeface="微软雅黑 Light" panose="020B0502040204020203" pitchFamily="34" charset="-122"/>
                          <a:ea typeface="微软雅黑 Light" panose="020B0502040204020203" pitchFamily="34" charset="-122"/>
                        </a:rPr>
                        <a:t>翻译</a:t>
                      </a:r>
                      <a:r>
                        <a:rPr lang="en-US" altLang="zh-CN" sz="1600" u="none" strike="noStrike" dirty="0">
                          <a:effectLst/>
                          <a:latin typeface="微软雅黑 Light" panose="020B0502040204020203" pitchFamily="34" charset="-122"/>
                          <a:ea typeface="微软雅黑 Light" panose="020B0502040204020203" pitchFamily="34" charset="-122"/>
                        </a:rPr>
                        <a:t>(</a:t>
                      </a:r>
                      <a:r>
                        <a:rPr lang="zh-CN" altLang="en-US" sz="1600" u="none" strike="noStrike" dirty="0">
                          <a:effectLst/>
                          <a:latin typeface="微软雅黑 Light" panose="020B0502040204020203" pitchFamily="34" charset="-122"/>
                          <a:ea typeface="微软雅黑 Light" panose="020B0502040204020203" pitchFamily="34" charset="-122"/>
                        </a:rPr>
                        <a:t>汉英法</a:t>
                      </a:r>
                      <a:r>
                        <a:rPr lang="en-US" altLang="zh-CN" sz="1600" u="none" strike="noStrike" dirty="0">
                          <a:effectLst/>
                          <a:latin typeface="微软雅黑 Light" panose="020B0502040204020203" pitchFamily="34" charset="-122"/>
                          <a:ea typeface="微软雅黑 Light" panose="020B0502040204020203" pitchFamily="34" charset="-122"/>
                        </a:rPr>
                        <a:t>)</a:t>
                      </a:r>
                      <a:endParaRPr lang="en-US" altLang="zh-CN" sz="1600" b="0" i="0" u="none" strike="noStrike" dirty="0">
                        <a:effectLst/>
                        <a:latin typeface="微软雅黑 Light" panose="020B0502040204020203" pitchFamily="34" charset="-122"/>
                        <a:ea typeface="微软雅黑 Light" panose="020B0502040204020203" pitchFamily="34" charset="-122"/>
                      </a:endParaRPr>
                    </a:p>
                  </a:txBody>
                  <a:tcPr marL="6094" marR="6094" marT="6094" marB="0" anchor="ctr">
                    <a:solidFill>
                      <a:srgbClr val="FF9933"/>
                    </a:solidFill>
                  </a:tcPr>
                </a:tc>
              </a:tr>
            </a:tbl>
          </a:graphicData>
        </a:graphic>
      </p:graphicFrame>
      <p:sp>
        <p:nvSpPr>
          <p:cNvPr id="4" name="文本框 3"/>
          <p:cNvSpPr txBox="1"/>
          <p:nvPr/>
        </p:nvSpPr>
        <p:spPr>
          <a:xfrm>
            <a:off x="1431758" y="2249904"/>
            <a:ext cx="3116179" cy="3513221"/>
          </a:xfrm>
          <a:prstGeom prst="rect">
            <a:avLst/>
          </a:prstGeom>
          <a:noFill/>
        </p:spPr>
        <p:txBody>
          <a:bodyPr wrap="square" rtlCol="0">
            <a:spAutoFit/>
          </a:bodyPr>
          <a:lstStyle/>
          <a:p>
            <a:endParaRPr lang="zh-CN" altLang="en-US" dirty="0"/>
          </a:p>
        </p:txBody>
      </p:sp>
      <p:sp>
        <p:nvSpPr>
          <p:cNvPr id="6" name="文本框 5"/>
          <p:cNvSpPr txBox="1"/>
          <p:nvPr/>
        </p:nvSpPr>
        <p:spPr>
          <a:xfrm>
            <a:off x="859468" y="1502195"/>
            <a:ext cx="6336670" cy="4801314"/>
          </a:xfrm>
          <a:prstGeom prst="rect">
            <a:avLst/>
          </a:prstGeom>
          <a:noFill/>
        </p:spPr>
        <p:txBody>
          <a:bodyPr wrap="square" rtlCol="0">
            <a:spAutoFit/>
          </a:bodyPr>
          <a:lstStyle/>
          <a:p>
            <a:pPr>
              <a:lnSpc>
                <a:spcPct val="150000"/>
              </a:lnSpc>
            </a:pPr>
            <a:r>
              <a:rPr lang="zh-CN" altLang="en-US" dirty="0">
                <a:latin typeface="+mn-ea"/>
                <a:ea typeface="+mn-ea"/>
              </a:rPr>
              <a:t>    </a:t>
            </a:r>
            <a:r>
              <a:rPr lang="zh-CN" altLang="en-US" sz="2000" dirty="0">
                <a:latin typeface="微软雅黑 Light" panose="020B0502040204020203" pitchFamily="34" charset="-122"/>
                <a:ea typeface="微软雅黑 Light" panose="020B0502040204020203" pitchFamily="34" charset="-122"/>
              </a:rPr>
              <a:t>学部下设</a:t>
            </a:r>
            <a:r>
              <a:rPr lang="zh-CN" altLang="en-US" sz="2000" b="1" dirty="0">
                <a:solidFill>
                  <a:srgbClr val="FF9933"/>
                </a:solidFill>
                <a:latin typeface="微软雅黑 Light" panose="020B0502040204020203" pitchFamily="34" charset="-122"/>
                <a:ea typeface="微软雅黑 Light" panose="020B0502040204020203" pitchFamily="34" charset="-122"/>
              </a:rPr>
              <a:t>英语学院、高级翻译学院、应用外语学院、东方语言文化学院、西方语言文化学院和中东学院</a:t>
            </a:r>
            <a:r>
              <a:rPr lang="zh-CN" altLang="en-US" sz="2000" dirty="0">
                <a:latin typeface="微软雅黑 Light" panose="020B0502040204020203" pitchFamily="34" charset="-122"/>
                <a:ea typeface="微软雅黑 Light" panose="020B0502040204020203" pitchFamily="34" charset="-122"/>
              </a:rPr>
              <a:t>，拥有</a:t>
            </a:r>
            <a:r>
              <a:rPr lang="zh-CN" altLang="en-US" sz="2000" b="1" dirty="0">
                <a:solidFill>
                  <a:srgbClr val="FF9933"/>
                </a:solidFill>
                <a:latin typeface="微软雅黑 Light" panose="020B0502040204020203" pitchFamily="34" charset="-122"/>
                <a:ea typeface="微软雅黑 Light" panose="020B0502040204020203" pitchFamily="34" charset="-122"/>
              </a:rPr>
              <a:t>外国语言文学一级学科博士点、博士后流动站</a:t>
            </a:r>
            <a:r>
              <a:rPr lang="zh-CN" altLang="en-US" sz="2000" dirty="0">
                <a:latin typeface="微软雅黑 Light" panose="020B0502040204020203" pitchFamily="34" charset="-122"/>
                <a:ea typeface="微软雅黑 Light" panose="020B0502040204020203" pitchFamily="34" charset="-122"/>
              </a:rPr>
              <a:t>。</a:t>
            </a:r>
            <a:endParaRPr lang="en-US" altLang="zh-CN" sz="2000" dirty="0">
              <a:latin typeface="微软雅黑 Light" panose="020B0502040204020203" pitchFamily="34" charset="-122"/>
              <a:ea typeface="微软雅黑 Light" panose="020B0502040204020203" pitchFamily="34" charset="-122"/>
            </a:endParaRPr>
          </a:p>
          <a:p>
            <a:pPr marL="800100" lvl="1" indent="-342900">
              <a:lnSpc>
                <a:spcPct val="150000"/>
              </a:lnSpc>
              <a:buFont typeface="Wingdings" panose="05000000000000000000" pitchFamily="2" charset="2"/>
              <a:buChar char="ü"/>
            </a:pPr>
            <a:r>
              <a:rPr lang="zh-CN" altLang="en-US" b="1" dirty="0">
                <a:latin typeface="微软雅黑 Light" panose="020B0502040204020203" pitchFamily="34" charset="-122"/>
                <a:ea typeface="微软雅黑 Light" panose="020B0502040204020203" pitchFamily="34" charset="-122"/>
              </a:rPr>
              <a:t>双万专业：</a:t>
            </a:r>
            <a:endParaRPr lang="en-US" altLang="zh-CN" b="1" dirty="0">
              <a:latin typeface="微软雅黑 Light" panose="020B0502040204020203" pitchFamily="34" charset="-122"/>
              <a:ea typeface="微软雅黑 Light" panose="020B0502040204020203" pitchFamily="34" charset="-122"/>
            </a:endParaRPr>
          </a:p>
          <a:p>
            <a:pPr lvl="1">
              <a:lnSpc>
                <a:spcPct val="150000"/>
              </a:lnSpc>
            </a:pPr>
            <a:r>
              <a:rPr lang="zh-CN" altLang="en-US" dirty="0">
                <a:latin typeface="微软雅黑 Light" panose="020B0502040204020203" pitchFamily="34" charset="-122"/>
                <a:ea typeface="微软雅黑 Light" panose="020B0502040204020203" pitchFamily="34" charset="-122"/>
              </a:rPr>
              <a:t>英语、法语、阿拉伯语、翻译</a:t>
            </a:r>
            <a:endParaRPr lang="en-US" altLang="zh-CN" dirty="0">
              <a:latin typeface="微软雅黑 Light" panose="020B0502040204020203" pitchFamily="34" charset="-122"/>
              <a:ea typeface="微软雅黑 Light" panose="020B0502040204020203" pitchFamily="34" charset="-122"/>
            </a:endParaRPr>
          </a:p>
          <a:p>
            <a:pPr marL="800100" lvl="1" indent="-342900">
              <a:lnSpc>
                <a:spcPct val="150000"/>
              </a:lnSpc>
              <a:buFont typeface="Wingdings" panose="05000000000000000000" pitchFamily="2" charset="2"/>
              <a:buChar char="ü"/>
            </a:pPr>
            <a:r>
              <a:rPr lang="zh-CN" altLang="en-US" b="1" dirty="0">
                <a:latin typeface="微软雅黑 Light" panose="020B0502040204020203" pitchFamily="34" charset="-122"/>
                <a:ea typeface="微软雅黑 Light" panose="020B0502040204020203" pitchFamily="34" charset="-122"/>
              </a:rPr>
              <a:t>国家级特色专业：</a:t>
            </a:r>
            <a:endParaRPr lang="en-US" altLang="zh-CN" b="1" dirty="0">
              <a:latin typeface="微软雅黑 Light" panose="020B0502040204020203" pitchFamily="34" charset="-122"/>
              <a:ea typeface="微软雅黑 Light" panose="020B0502040204020203" pitchFamily="34" charset="-122"/>
            </a:endParaRPr>
          </a:p>
          <a:p>
            <a:pPr lvl="1">
              <a:lnSpc>
                <a:spcPct val="150000"/>
              </a:lnSpc>
            </a:pPr>
            <a:r>
              <a:rPr lang="zh-CN" altLang="en-US" dirty="0">
                <a:latin typeface="微软雅黑 Light" panose="020B0502040204020203" pitchFamily="34" charset="-122"/>
                <a:ea typeface="微软雅黑 Light" panose="020B0502040204020203" pitchFamily="34" charset="-122"/>
              </a:rPr>
              <a:t>英语、日语、阿拉伯语、法语</a:t>
            </a:r>
            <a:endParaRPr lang="en-US" altLang="zh-CN" dirty="0">
              <a:latin typeface="微软雅黑 Light" panose="020B0502040204020203" pitchFamily="34" charset="-122"/>
              <a:ea typeface="微软雅黑 Light" panose="020B0502040204020203" pitchFamily="34" charset="-122"/>
            </a:endParaRPr>
          </a:p>
          <a:p>
            <a:pPr marL="800100" lvl="1" indent="-342900">
              <a:lnSpc>
                <a:spcPct val="150000"/>
              </a:lnSpc>
              <a:buFont typeface="Wingdings" panose="05000000000000000000" pitchFamily="2" charset="2"/>
              <a:buChar char="ü"/>
            </a:pPr>
            <a:r>
              <a:rPr lang="zh-CN" altLang="en-US" b="1" dirty="0">
                <a:latin typeface="微软雅黑 Light" panose="020B0502040204020203" pitchFamily="34" charset="-122"/>
                <a:ea typeface="微软雅黑 Light" panose="020B0502040204020203" pitchFamily="34" charset="-122"/>
              </a:rPr>
              <a:t>北京市重点学科：</a:t>
            </a:r>
            <a:endParaRPr lang="en-US" altLang="zh-CN" b="1" dirty="0">
              <a:latin typeface="微软雅黑 Light" panose="020B0502040204020203" pitchFamily="34" charset="-122"/>
              <a:ea typeface="微软雅黑 Light" panose="020B0502040204020203" pitchFamily="34" charset="-122"/>
            </a:endParaRPr>
          </a:p>
          <a:p>
            <a:pPr lvl="1">
              <a:lnSpc>
                <a:spcPct val="150000"/>
              </a:lnSpc>
            </a:pPr>
            <a:r>
              <a:rPr lang="zh-CN" altLang="en-US" dirty="0">
                <a:latin typeface="微软雅黑 Light" panose="020B0502040204020203" pitchFamily="34" charset="-122"/>
                <a:ea typeface="微软雅黑 Light" panose="020B0502040204020203" pitchFamily="34" charset="-122"/>
              </a:rPr>
              <a:t>英语、日语</a:t>
            </a:r>
            <a:endParaRPr lang="en-US" altLang="zh-CN" dirty="0">
              <a:latin typeface="微软雅黑 Light" panose="020B0502040204020203" pitchFamily="34" charset="-122"/>
              <a:ea typeface="微软雅黑 Light" panose="020B0502040204020203" pitchFamily="34" charset="-122"/>
            </a:endParaRPr>
          </a:p>
          <a:p>
            <a:pPr marL="800100" lvl="1" indent="-342900">
              <a:lnSpc>
                <a:spcPct val="150000"/>
              </a:lnSpc>
              <a:buFont typeface="Wingdings" panose="05000000000000000000" pitchFamily="2" charset="2"/>
              <a:buChar char="ü"/>
            </a:pPr>
            <a:r>
              <a:rPr lang="zh-CN" altLang="en-US" b="1" dirty="0">
                <a:latin typeface="微软雅黑 Light" panose="020B0502040204020203" pitchFamily="34" charset="-122"/>
                <a:ea typeface="微软雅黑 Light" panose="020B0502040204020203" pitchFamily="34" charset="-122"/>
              </a:rPr>
              <a:t>高精尖学科：</a:t>
            </a:r>
            <a:endParaRPr lang="en-US" altLang="zh-CN" b="1" dirty="0">
              <a:latin typeface="微软雅黑 Light" panose="020B0502040204020203" pitchFamily="34" charset="-122"/>
              <a:ea typeface="微软雅黑 Light" panose="020B0502040204020203" pitchFamily="34" charset="-122"/>
            </a:endParaRPr>
          </a:p>
          <a:p>
            <a:pPr lvl="1">
              <a:lnSpc>
                <a:spcPct val="150000"/>
              </a:lnSpc>
            </a:pPr>
            <a:r>
              <a:rPr lang="zh-CN" altLang="en-US" dirty="0">
                <a:latin typeface="微软雅黑 Light" panose="020B0502040204020203" pitchFamily="34" charset="-122"/>
                <a:ea typeface="微软雅黑 Light" panose="020B0502040204020203" pitchFamily="34" charset="-122"/>
              </a:rPr>
              <a:t>国别区域学</a:t>
            </a:r>
            <a:endParaRPr lang="en-US" altLang="zh-CN" sz="1400" dirty="0">
              <a:latin typeface="微软雅黑 Light" panose="020B0502040204020203" pitchFamily="34" charset="-122"/>
              <a:ea typeface="微软雅黑 Light" panose="020B0502040204020203" pitchFamily="34" charset="-122"/>
            </a:endParaRPr>
          </a:p>
        </p:txBody>
      </p:sp>
      <p:grpSp>
        <p:nvGrpSpPr>
          <p:cNvPr id="11" name="组合 10"/>
          <p:cNvGrpSpPr/>
          <p:nvPr/>
        </p:nvGrpSpPr>
        <p:grpSpPr>
          <a:xfrm>
            <a:off x="494553" y="150818"/>
            <a:ext cx="6344398" cy="1125795"/>
            <a:chOff x="494553" y="150818"/>
            <a:chExt cx="6344398" cy="1125795"/>
          </a:xfrm>
        </p:grpSpPr>
        <p:grpSp>
          <p:nvGrpSpPr>
            <p:cNvPr id="12" name="组合 11"/>
            <p:cNvGrpSpPr/>
            <p:nvPr/>
          </p:nvGrpSpPr>
          <p:grpSpPr>
            <a:xfrm>
              <a:off x="494553" y="321393"/>
              <a:ext cx="5744845" cy="955220"/>
              <a:chOff x="494553" y="321393"/>
              <a:chExt cx="5744845" cy="955220"/>
            </a:xfrm>
          </p:grpSpPr>
          <p:sp>
            <p:nvSpPr>
              <p:cNvPr id="14" name="文本框 13"/>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15" name="文本框 14"/>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13" name="矩形 36"/>
            <p:cNvSpPr>
              <a:spLocks noChangeArrowheads="1"/>
            </p:cNvSpPr>
            <p:nvPr/>
          </p:nvSpPr>
          <p:spPr bwMode="auto">
            <a:xfrm>
              <a:off x="2997642" y="150818"/>
              <a:ext cx="3841309"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外国语学部</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05631" y="1470642"/>
            <a:ext cx="11293601" cy="1615827"/>
          </a:xfrm>
          <a:prstGeom prst="rect">
            <a:avLst/>
          </a:prstGeom>
          <a:noFill/>
        </p:spPr>
        <p:txBody>
          <a:bodyPr wrap="square" rtlCol="0">
            <a:spAutoFit/>
          </a:bodyPr>
          <a:lstStyle/>
          <a:p>
            <a:pPr>
              <a:lnSpc>
                <a:spcPct val="150000"/>
              </a:lnSpc>
            </a:pPr>
            <a:r>
              <a:rPr lang="zh-CN" altLang="en-US" sz="2200" dirty="0">
                <a:latin typeface="+mn-ea"/>
                <a:ea typeface="+mn-ea"/>
              </a:rPr>
              <a:t>    </a:t>
            </a:r>
            <a:r>
              <a:rPr lang="zh-CN" altLang="en-US" sz="2200" dirty="0">
                <a:latin typeface="微软雅黑 Light" panose="020B0502040204020203" pitchFamily="34" charset="-122"/>
                <a:ea typeface="微软雅黑 Light" panose="020B0502040204020203" pitchFamily="34" charset="-122"/>
              </a:rPr>
              <a:t>学部内设</a:t>
            </a:r>
            <a:r>
              <a:rPr lang="zh-CN" altLang="en-US" sz="2200" b="1" dirty="0">
                <a:solidFill>
                  <a:srgbClr val="FF9933"/>
                </a:solidFill>
                <a:latin typeface="微软雅黑 Light" panose="020B0502040204020203" pitchFamily="34" charset="-122"/>
                <a:ea typeface="微软雅黑 Light" panose="020B0502040204020203" pitchFamily="34" charset="-122"/>
              </a:rPr>
              <a:t>汉语教育学院、人文学院、国际关系学院和新闻传播学院</a:t>
            </a:r>
            <a:r>
              <a:rPr lang="zh-CN" altLang="en-US" sz="2200" dirty="0">
                <a:latin typeface="微软雅黑 Light" panose="020B0502040204020203" pitchFamily="34" charset="-122"/>
                <a:ea typeface="微软雅黑 Light" panose="020B0502040204020203" pitchFamily="34" charset="-122"/>
              </a:rPr>
              <a:t>；内设</a:t>
            </a:r>
            <a:r>
              <a:rPr lang="en-US" altLang="zh-CN" sz="2200" dirty="0">
                <a:latin typeface="微软雅黑 Light" panose="020B0502040204020203" pitchFamily="34" charset="-122"/>
                <a:ea typeface="微软雅黑 Light" panose="020B0502040204020203" pitchFamily="34" charset="-122"/>
              </a:rPr>
              <a:t>7</a:t>
            </a:r>
            <a:r>
              <a:rPr lang="zh-CN" altLang="en-US" sz="2200" dirty="0">
                <a:latin typeface="微软雅黑 Light" panose="020B0502040204020203" pitchFamily="34" charset="-122"/>
                <a:ea typeface="微软雅黑 Light" panose="020B0502040204020203" pitchFamily="34" charset="-122"/>
              </a:rPr>
              <a:t>个研究机构，</a:t>
            </a:r>
            <a:r>
              <a:rPr lang="en-US" altLang="zh-CN" sz="2200" dirty="0">
                <a:latin typeface="微软雅黑 Light" panose="020B0502040204020203" pitchFamily="34" charset="-122"/>
                <a:ea typeface="微软雅黑 Light" panose="020B0502040204020203" pitchFamily="34" charset="-122"/>
              </a:rPr>
              <a:t>1</a:t>
            </a:r>
            <a:r>
              <a:rPr lang="zh-CN" altLang="en-US" sz="2200" dirty="0">
                <a:latin typeface="微软雅黑 Light" panose="020B0502040204020203" pitchFamily="34" charset="-122"/>
                <a:ea typeface="微软雅黑 Light" panose="020B0502040204020203" pitchFamily="34" charset="-122"/>
              </a:rPr>
              <a:t>个省部级社科研究基地“北京文献语言与传承研究基地”。现有</a:t>
            </a:r>
            <a:r>
              <a:rPr lang="en-US" altLang="zh-CN" sz="2200" b="1" dirty="0">
                <a:solidFill>
                  <a:srgbClr val="FF9933"/>
                </a:solidFill>
                <a:latin typeface="微软雅黑 Light" panose="020B0502040204020203" pitchFamily="34" charset="-122"/>
                <a:ea typeface="微软雅黑 Light" panose="020B0502040204020203" pitchFamily="34" charset="-122"/>
              </a:rPr>
              <a:t>1</a:t>
            </a:r>
            <a:r>
              <a:rPr lang="zh-CN" altLang="en-US" sz="2200" b="1" dirty="0">
                <a:solidFill>
                  <a:srgbClr val="FF9933"/>
                </a:solidFill>
                <a:latin typeface="微软雅黑 Light" panose="020B0502040204020203" pitchFamily="34" charset="-122"/>
                <a:ea typeface="微软雅黑 Light" panose="020B0502040204020203" pitchFamily="34" charset="-122"/>
              </a:rPr>
              <a:t>个北京市优秀教学团队、</a:t>
            </a:r>
            <a:r>
              <a:rPr lang="en-US" altLang="zh-CN" sz="2200" b="1" dirty="0">
                <a:solidFill>
                  <a:srgbClr val="FF9933"/>
                </a:solidFill>
                <a:latin typeface="微软雅黑 Light" panose="020B0502040204020203" pitchFamily="34" charset="-122"/>
                <a:ea typeface="微软雅黑 Light" panose="020B0502040204020203" pitchFamily="34" charset="-122"/>
              </a:rPr>
              <a:t>1</a:t>
            </a:r>
            <a:r>
              <a:rPr lang="zh-CN" altLang="en-US" sz="2200" b="1" dirty="0">
                <a:solidFill>
                  <a:srgbClr val="FF9933"/>
                </a:solidFill>
                <a:latin typeface="微软雅黑 Light" panose="020B0502040204020203" pitchFamily="34" charset="-122"/>
                <a:ea typeface="微软雅黑 Light" panose="020B0502040204020203" pitchFamily="34" charset="-122"/>
              </a:rPr>
              <a:t>个国家级优秀教学团队、</a:t>
            </a:r>
            <a:r>
              <a:rPr lang="en-US" altLang="zh-CN" sz="2200" b="1" dirty="0">
                <a:solidFill>
                  <a:srgbClr val="FF9933"/>
                </a:solidFill>
                <a:latin typeface="微软雅黑 Light" panose="020B0502040204020203" pitchFamily="34" charset="-122"/>
                <a:ea typeface="微软雅黑 Light" panose="020B0502040204020203" pitchFamily="34" charset="-122"/>
              </a:rPr>
              <a:t>1</a:t>
            </a:r>
            <a:r>
              <a:rPr lang="zh-CN" altLang="en-US" sz="2200" b="1" dirty="0">
                <a:solidFill>
                  <a:srgbClr val="FF9933"/>
                </a:solidFill>
                <a:latin typeface="微软雅黑 Light" panose="020B0502040204020203" pitchFamily="34" charset="-122"/>
                <a:ea typeface="微软雅黑 Light" panose="020B0502040204020203" pitchFamily="34" charset="-122"/>
              </a:rPr>
              <a:t>个全国高校黄大年式教师团队</a:t>
            </a:r>
            <a:r>
              <a:rPr lang="zh-CN" altLang="en-US" sz="2200" dirty="0">
                <a:latin typeface="微软雅黑 Light" panose="020B0502040204020203" pitchFamily="34" charset="-122"/>
                <a:ea typeface="微软雅黑 Light" panose="020B0502040204020203" pitchFamily="34" charset="-122"/>
              </a:rPr>
              <a:t>。</a:t>
            </a:r>
            <a:endParaRPr lang="en-US" altLang="zh-CN" sz="2200" b="1" dirty="0">
              <a:latin typeface="微软雅黑 Light" panose="020B0502040204020203" pitchFamily="34" charset="-122"/>
              <a:ea typeface="微软雅黑 Light" panose="020B0502040204020203" pitchFamily="34" charset="-122"/>
            </a:endParaRPr>
          </a:p>
        </p:txBody>
      </p:sp>
      <p:graphicFrame>
        <p:nvGraphicFramePr>
          <p:cNvPr id="7" name="表格 6"/>
          <p:cNvGraphicFramePr>
            <a:graphicFrameLocks noGrp="1"/>
          </p:cNvGraphicFramePr>
          <p:nvPr/>
        </p:nvGraphicFramePr>
        <p:xfrm>
          <a:off x="7695168" y="3114491"/>
          <a:ext cx="3722709" cy="3517218"/>
        </p:xfrm>
        <a:graphic>
          <a:graphicData uri="http://schemas.openxmlformats.org/drawingml/2006/table">
            <a:tbl>
              <a:tblPr>
                <a:tableStyleId>{638B1855-1B75-4FBE-930C-398BA8C253C6}</a:tableStyleId>
              </a:tblPr>
              <a:tblGrid>
                <a:gridCol w="1179243"/>
                <a:gridCol w="2543466"/>
              </a:tblGrid>
              <a:tr h="521351">
                <a:tc>
                  <a:txBody>
                    <a:bodyPr/>
                    <a:lstStyle/>
                    <a:p>
                      <a:pPr algn="ctr" fontAlgn="ctr"/>
                      <a:r>
                        <a:rPr lang="zh-CN" altLang="en-US" sz="1800" b="1" u="none" strike="noStrike" dirty="0">
                          <a:effectLst/>
                          <a:latin typeface="微软雅黑 Light" panose="020B0502040204020203" pitchFamily="34" charset="-122"/>
                          <a:ea typeface="微软雅黑 Light" panose="020B0502040204020203" pitchFamily="34" charset="-122"/>
                        </a:rPr>
                        <a:t>专业代码</a:t>
                      </a:r>
                      <a:endParaRPr lang="zh-CN" altLang="en-US" sz="1800" b="1" i="0" u="none" strike="noStrike" dirty="0">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800" b="1" u="none" strike="noStrike" dirty="0">
                          <a:effectLst/>
                          <a:latin typeface="微软雅黑 Light" panose="020B0502040204020203" pitchFamily="34" charset="-122"/>
                          <a:ea typeface="微软雅黑 Light" panose="020B0502040204020203" pitchFamily="34" charset="-122"/>
                        </a:rPr>
                        <a:t>专业名称</a:t>
                      </a:r>
                      <a:endParaRPr lang="zh-CN" altLang="en-US" sz="1800" b="1" i="0" u="none" strike="noStrike" dirty="0">
                        <a:effectLst/>
                        <a:latin typeface="微软雅黑 Light" panose="020B0502040204020203" pitchFamily="34" charset="-122"/>
                        <a:ea typeface="微软雅黑 Light" panose="020B0502040204020203" pitchFamily="34" charset="-122"/>
                      </a:endParaRPr>
                    </a:p>
                  </a:txBody>
                  <a:tcPr marL="6350" marR="6350" marT="6350" marB="0" anchor="ctr"/>
                </a:tc>
              </a:tr>
              <a:tr h="521351">
                <a:tc>
                  <a:txBody>
                    <a:bodyPr/>
                    <a:lstStyle/>
                    <a:p>
                      <a:pPr algn="ctr" fontAlgn="ctr"/>
                      <a:r>
                        <a:rPr lang="en-US" altLang="zh-CN" sz="1800" u="none" strike="noStrike" dirty="0">
                          <a:effectLst/>
                          <a:latin typeface="微软雅黑 Light" panose="020B0502040204020203" pitchFamily="34" charset="-122"/>
                          <a:ea typeface="微软雅黑 Light" panose="020B0502040204020203" pitchFamily="34" charset="-122"/>
                        </a:rPr>
                        <a:t>050103</a:t>
                      </a:r>
                      <a:endParaRPr lang="en-US" altLang="zh-CN" sz="18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c>
                  <a:txBody>
                    <a:bodyPr/>
                    <a:lstStyle/>
                    <a:p>
                      <a:pPr algn="ctr" fontAlgn="ctr"/>
                      <a:r>
                        <a:rPr lang="zh-CN" altLang="en-US" sz="1800" u="none" strike="noStrike" dirty="0">
                          <a:effectLst/>
                          <a:latin typeface="微软雅黑 Light" panose="020B0502040204020203" pitchFamily="34" charset="-122"/>
                          <a:ea typeface="微软雅黑 Light" panose="020B0502040204020203" pitchFamily="34" charset="-122"/>
                        </a:rPr>
                        <a:t>汉语国际教育</a:t>
                      </a:r>
                      <a:endParaRPr lang="zh-CN" altLang="en-US" sz="1800" b="0" i="0" u="none" strike="noStrike" dirty="0">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r>
              <a:tr h="521351">
                <a:tc>
                  <a:txBody>
                    <a:bodyPr/>
                    <a:lstStyle/>
                    <a:p>
                      <a:pPr algn="ctr" fontAlgn="ctr"/>
                      <a:r>
                        <a:rPr lang="en-US" altLang="zh-CN" sz="1800" u="none" strike="noStrike" dirty="0">
                          <a:effectLst/>
                          <a:latin typeface="微软雅黑 Light" panose="020B0502040204020203" pitchFamily="34" charset="-122"/>
                          <a:ea typeface="微软雅黑 Light" panose="020B0502040204020203" pitchFamily="34" charset="-122"/>
                        </a:rPr>
                        <a:t>050101</a:t>
                      </a:r>
                      <a:endParaRPr lang="en-US" altLang="zh-CN" sz="18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c>
                  <a:txBody>
                    <a:bodyPr/>
                    <a:lstStyle/>
                    <a:p>
                      <a:pPr algn="ctr" fontAlgn="ctr"/>
                      <a:r>
                        <a:rPr lang="zh-CN" altLang="en-US" sz="1800" u="none" strike="noStrike" dirty="0">
                          <a:effectLst/>
                          <a:latin typeface="微软雅黑 Light" panose="020B0502040204020203" pitchFamily="34" charset="-122"/>
                          <a:ea typeface="微软雅黑 Light" panose="020B0502040204020203" pitchFamily="34" charset="-122"/>
                        </a:rPr>
                        <a:t>汉语言文学</a:t>
                      </a:r>
                      <a:endParaRPr lang="zh-CN" altLang="en-US" sz="1800" b="0" i="0" u="none" strike="noStrike" dirty="0">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r>
              <a:tr h="521351">
                <a:tc>
                  <a:txBody>
                    <a:bodyPr/>
                    <a:lstStyle/>
                    <a:p>
                      <a:pPr algn="ctr" fontAlgn="ctr"/>
                      <a:r>
                        <a:rPr lang="en-US" altLang="zh-CN" sz="1800" u="none" strike="noStrike">
                          <a:effectLst/>
                          <a:latin typeface="微软雅黑 Light" panose="020B0502040204020203" pitchFamily="34" charset="-122"/>
                          <a:ea typeface="微软雅黑 Light" panose="020B0502040204020203" pitchFamily="34" charset="-122"/>
                        </a:rPr>
                        <a:t>030202</a:t>
                      </a:r>
                      <a:endParaRPr lang="en-US" altLang="zh-CN" sz="1800" b="0" i="0" u="none" strike="noStrike">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800" u="none" strike="noStrike" dirty="0">
                          <a:effectLst/>
                          <a:latin typeface="微软雅黑 Light" panose="020B0502040204020203" pitchFamily="34" charset="-122"/>
                          <a:ea typeface="微软雅黑 Light" panose="020B0502040204020203" pitchFamily="34" charset="-122"/>
                        </a:rPr>
                        <a:t>国际政治</a:t>
                      </a:r>
                      <a:endParaRPr lang="zh-CN" altLang="en-US" sz="1800" b="0" i="0" u="none" strike="noStrike" dirty="0">
                        <a:effectLst/>
                        <a:latin typeface="微软雅黑 Light" panose="020B0502040204020203" pitchFamily="34" charset="-122"/>
                        <a:ea typeface="微软雅黑 Light" panose="020B0502040204020203" pitchFamily="34" charset="-122"/>
                      </a:endParaRPr>
                    </a:p>
                  </a:txBody>
                  <a:tcPr marL="6350" marR="6350" marT="6350" marB="0" anchor="ctr"/>
                </a:tc>
              </a:tr>
              <a:tr h="521351">
                <a:tc>
                  <a:txBody>
                    <a:bodyPr/>
                    <a:lstStyle/>
                    <a:p>
                      <a:pPr algn="ctr" fontAlgn="ctr"/>
                      <a:r>
                        <a:rPr lang="en-US" altLang="zh-CN" sz="1800" u="none" strike="noStrike" dirty="0">
                          <a:effectLst/>
                          <a:latin typeface="微软雅黑 Light" panose="020B0502040204020203" pitchFamily="34" charset="-122"/>
                          <a:ea typeface="微软雅黑 Light" panose="020B0502040204020203" pitchFamily="34" charset="-122"/>
                        </a:rPr>
                        <a:t>050301</a:t>
                      </a:r>
                      <a:endParaRPr lang="en-US" altLang="zh-CN" sz="18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800" u="none" strike="noStrike" dirty="0">
                          <a:effectLst/>
                          <a:latin typeface="微软雅黑 Light" panose="020B0502040204020203" pitchFamily="34" charset="-122"/>
                          <a:ea typeface="微软雅黑 Light" panose="020B0502040204020203" pitchFamily="34" charset="-122"/>
                        </a:rPr>
                        <a:t>新闻学</a:t>
                      </a:r>
                      <a:r>
                        <a:rPr lang="en-US" altLang="zh-CN" sz="1800" u="none" strike="noStrike" dirty="0">
                          <a:effectLst/>
                          <a:latin typeface="微软雅黑 Light" panose="020B0502040204020203" pitchFamily="34" charset="-122"/>
                          <a:ea typeface="微软雅黑 Light" panose="020B0502040204020203" pitchFamily="34" charset="-122"/>
                        </a:rPr>
                        <a:t>(</a:t>
                      </a:r>
                      <a:r>
                        <a:rPr lang="zh-CN" altLang="en-US" sz="1800" u="none" strike="noStrike" dirty="0">
                          <a:effectLst/>
                          <a:latin typeface="微软雅黑 Light" panose="020B0502040204020203" pitchFamily="34" charset="-122"/>
                          <a:ea typeface="微软雅黑 Light" panose="020B0502040204020203" pitchFamily="34" charset="-122"/>
                        </a:rPr>
                        <a:t>国际新闻传播</a:t>
                      </a:r>
                      <a:r>
                        <a:rPr lang="en-US" altLang="zh-CN" sz="1800" u="none" strike="noStrike" dirty="0">
                          <a:effectLst/>
                          <a:latin typeface="微软雅黑 Light" panose="020B0502040204020203" pitchFamily="34" charset="-122"/>
                          <a:ea typeface="微软雅黑 Light" panose="020B0502040204020203" pitchFamily="34" charset="-122"/>
                        </a:rPr>
                        <a:t>)</a:t>
                      </a:r>
                      <a:endParaRPr lang="en-US" altLang="zh-CN" sz="1800" b="0" i="0" u="none" strike="noStrike" dirty="0">
                        <a:effectLst/>
                        <a:latin typeface="微软雅黑 Light" panose="020B0502040204020203" pitchFamily="34" charset="-122"/>
                        <a:ea typeface="微软雅黑 Light" panose="020B0502040204020203" pitchFamily="34" charset="-122"/>
                      </a:endParaRPr>
                    </a:p>
                  </a:txBody>
                  <a:tcPr marL="6350" marR="6350" marT="6350" marB="0" anchor="ctr"/>
                </a:tc>
              </a:tr>
              <a:tr h="476354">
                <a:tc>
                  <a:txBody>
                    <a:bodyPr/>
                    <a:lstStyle/>
                    <a:p>
                      <a:pPr algn="ctr" fontAlgn="ctr"/>
                      <a:r>
                        <a:rPr lang="en-US" sz="1800" u="none" strike="noStrike" dirty="0">
                          <a:effectLst/>
                          <a:latin typeface="微软雅黑 Light" panose="020B0502040204020203" pitchFamily="34" charset="-122"/>
                          <a:ea typeface="微软雅黑 Light" panose="020B0502040204020203" pitchFamily="34" charset="-122"/>
                        </a:rPr>
                        <a:t>030204T</a:t>
                      </a:r>
                      <a:endParaRPr lang="en-US" sz="18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800" u="none" strike="noStrike" dirty="0">
                          <a:effectLst/>
                          <a:latin typeface="微软雅黑 Light" panose="020B0502040204020203" pitchFamily="34" charset="-122"/>
                          <a:ea typeface="微软雅黑 Light" panose="020B0502040204020203" pitchFamily="34" charset="-122"/>
                        </a:rPr>
                        <a:t>国际事务与国际关系</a:t>
                      </a:r>
                      <a:endParaRPr lang="zh-CN" altLang="en-US" sz="1800" b="0" i="0" u="none" strike="noStrike" dirty="0">
                        <a:effectLst/>
                        <a:latin typeface="微软雅黑 Light" panose="020B0502040204020203" pitchFamily="34" charset="-122"/>
                        <a:ea typeface="微软雅黑 Light" panose="020B0502040204020203" pitchFamily="34" charset="-122"/>
                      </a:endParaRPr>
                    </a:p>
                  </a:txBody>
                  <a:tcPr marL="6350" marR="6350" marT="6350" marB="0" anchor="ctr"/>
                </a:tc>
              </a:tr>
              <a:tr h="434109">
                <a:tc>
                  <a:txBody>
                    <a:bodyPr/>
                    <a:lstStyle/>
                    <a:p>
                      <a:pPr algn="ctr" fontAlgn="ctr"/>
                      <a:r>
                        <a:rPr lang="en-US" sz="1800" u="none" strike="noStrike" kern="1200" dirty="0">
                          <a:solidFill>
                            <a:schemeClr val="lt1"/>
                          </a:solidFill>
                          <a:effectLst/>
                          <a:latin typeface="微软雅黑 Light" panose="020B0502040204020203" pitchFamily="34" charset="-122"/>
                          <a:ea typeface="微软雅黑 Light" panose="020B0502040204020203" pitchFamily="34" charset="-122"/>
                          <a:cs typeface="+mn-cs"/>
                        </a:rPr>
                        <a:t>050306T</a:t>
                      </a:r>
                      <a:endParaRPr lang="zh-CN" altLang="en-US" sz="1800" u="none" strike="noStrike" kern="1200" dirty="0">
                        <a:solidFill>
                          <a:schemeClr val="lt1"/>
                        </a:solidFill>
                        <a:effectLst/>
                        <a:latin typeface="微软雅黑 Light" panose="020B0502040204020203" pitchFamily="34" charset="-122"/>
                        <a:ea typeface="微软雅黑 Light" panose="020B0502040204020203" pitchFamily="34" charset="-122"/>
                        <a:cs typeface="+mn-cs"/>
                      </a:endParaRPr>
                    </a:p>
                  </a:txBody>
                  <a:tcPr marL="6350" marR="6350" marT="6350" marB="0" anchor="ctr">
                    <a:solidFill>
                      <a:srgbClr val="FF9933"/>
                    </a:solidFill>
                  </a:tcPr>
                </a:tc>
                <a:tc>
                  <a:txBody>
                    <a:bodyPr/>
                    <a:lstStyle/>
                    <a:p>
                      <a:pPr algn="ctr" fontAlgn="ctr"/>
                      <a:r>
                        <a:rPr lang="zh-CN" altLang="en-US" sz="1800" u="none" strike="noStrike" kern="1200" dirty="0">
                          <a:solidFill>
                            <a:schemeClr val="lt1"/>
                          </a:solidFill>
                          <a:effectLst/>
                          <a:latin typeface="微软雅黑 Light" panose="020B0502040204020203" pitchFamily="34" charset="-122"/>
                          <a:ea typeface="微软雅黑 Light" panose="020B0502040204020203" pitchFamily="34" charset="-122"/>
                          <a:cs typeface="+mn-cs"/>
                        </a:rPr>
                        <a:t>网络与新媒体</a:t>
                      </a:r>
                      <a:endParaRPr lang="zh-CN" altLang="en-US" sz="1800" u="none" strike="noStrike" kern="1200" dirty="0">
                        <a:solidFill>
                          <a:schemeClr val="lt1"/>
                        </a:solidFill>
                        <a:effectLst/>
                        <a:latin typeface="微软雅黑 Light" panose="020B0502040204020203" pitchFamily="34" charset="-122"/>
                        <a:ea typeface="微软雅黑 Light" panose="020B0502040204020203" pitchFamily="34" charset="-122"/>
                        <a:cs typeface="+mn-cs"/>
                      </a:endParaRPr>
                    </a:p>
                  </a:txBody>
                  <a:tcPr marL="6350" marR="6350" marT="6350" marB="0" anchor="ctr">
                    <a:solidFill>
                      <a:srgbClr val="FF9933"/>
                    </a:solidFill>
                  </a:tcPr>
                </a:tc>
              </a:tr>
            </a:tbl>
          </a:graphicData>
        </a:graphic>
      </p:graphicFrame>
      <p:sp>
        <p:nvSpPr>
          <p:cNvPr id="8" name="矩形 7"/>
          <p:cNvSpPr/>
          <p:nvPr/>
        </p:nvSpPr>
        <p:spPr>
          <a:xfrm>
            <a:off x="605631" y="3114491"/>
            <a:ext cx="6096000" cy="2104872"/>
          </a:xfrm>
          <a:prstGeom prst="rect">
            <a:avLst/>
          </a:prstGeom>
        </p:spPr>
        <p:txBody>
          <a:bodyPr>
            <a:spAutoFit/>
          </a:bodyPr>
          <a:lstStyle/>
          <a:p>
            <a:pPr marL="342900" indent="-342900">
              <a:lnSpc>
                <a:spcPct val="150000"/>
              </a:lnSpc>
              <a:buFont typeface="Wingdings" panose="05000000000000000000" pitchFamily="2" charset="2"/>
              <a:buChar char="ü"/>
            </a:pPr>
            <a:r>
              <a:rPr lang="zh-CN" altLang="en-US" b="1" dirty="0">
                <a:latin typeface="微软雅黑 Light" panose="020B0502040204020203" pitchFamily="34" charset="-122"/>
                <a:ea typeface="微软雅黑 Light" panose="020B0502040204020203" pitchFamily="34" charset="-122"/>
              </a:rPr>
              <a:t>双万专业、国家级特色专业、北京市重点科学：</a:t>
            </a:r>
            <a:endParaRPr lang="en-US" altLang="zh-CN" b="1" dirty="0">
              <a:latin typeface="微软雅黑 Light" panose="020B0502040204020203" pitchFamily="34" charset="-122"/>
              <a:ea typeface="微软雅黑 Light" panose="020B0502040204020203" pitchFamily="34" charset="-122"/>
            </a:endParaRPr>
          </a:p>
          <a:p>
            <a:pPr>
              <a:lnSpc>
                <a:spcPct val="150000"/>
              </a:lnSpc>
            </a:pPr>
            <a:r>
              <a:rPr lang="zh-CN" altLang="en-US" dirty="0">
                <a:latin typeface="微软雅黑 Light" panose="020B0502040204020203" pitchFamily="34" charset="-122"/>
                <a:ea typeface="微软雅黑 Light" panose="020B0502040204020203" pitchFamily="34" charset="-122"/>
              </a:rPr>
              <a:t>汉语国际教育、汉语言文学</a:t>
            </a:r>
            <a:endParaRPr lang="en-US" altLang="zh-CN" dirty="0">
              <a:latin typeface="微软雅黑 Light" panose="020B0502040204020203" pitchFamily="34" charset="-122"/>
              <a:ea typeface="微软雅黑 Light" panose="020B0502040204020203" pitchFamily="34" charset="-122"/>
            </a:endParaRPr>
          </a:p>
          <a:p>
            <a:pPr marL="342900" indent="-342900">
              <a:lnSpc>
                <a:spcPct val="150000"/>
              </a:lnSpc>
              <a:buFont typeface="Wingdings" panose="05000000000000000000" pitchFamily="2" charset="2"/>
              <a:buChar char="ü"/>
            </a:pPr>
            <a:r>
              <a:rPr lang="zh-CN" altLang="en-US" b="1" dirty="0">
                <a:latin typeface="微软雅黑 Light" panose="020B0502040204020203" pitchFamily="34" charset="-122"/>
                <a:ea typeface="微软雅黑 Light" panose="020B0502040204020203" pitchFamily="34" charset="-122"/>
              </a:rPr>
              <a:t>高精尖学科：</a:t>
            </a:r>
            <a:endParaRPr lang="en-US" altLang="zh-CN" b="1" dirty="0">
              <a:latin typeface="微软雅黑 Light" panose="020B0502040204020203" pitchFamily="34" charset="-122"/>
              <a:ea typeface="微软雅黑 Light" panose="020B0502040204020203" pitchFamily="34" charset="-122"/>
            </a:endParaRPr>
          </a:p>
          <a:p>
            <a:pPr>
              <a:lnSpc>
                <a:spcPct val="150000"/>
              </a:lnSpc>
            </a:pPr>
            <a:r>
              <a:rPr lang="zh-CN" altLang="en-US" dirty="0">
                <a:latin typeface="微软雅黑 Light" panose="020B0502040204020203" pitchFamily="34" charset="-122"/>
                <a:ea typeface="微软雅黑 Light" panose="020B0502040204020203" pitchFamily="34" charset="-122"/>
              </a:rPr>
              <a:t>中国语言文学</a:t>
            </a:r>
            <a:endParaRPr lang="en-US" altLang="zh-CN" dirty="0">
              <a:latin typeface="微软雅黑 Light" panose="020B0502040204020203" pitchFamily="34" charset="-122"/>
              <a:ea typeface="微软雅黑 Light" panose="020B0502040204020203" pitchFamily="34" charset="-122"/>
            </a:endParaRPr>
          </a:p>
          <a:p>
            <a:pPr marL="342900" indent="-342900">
              <a:lnSpc>
                <a:spcPct val="150000"/>
              </a:lnSpc>
              <a:buFont typeface="Wingdings" panose="05000000000000000000" pitchFamily="2" charset="2"/>
              <a:buChar char="ü"/>
            </a:pPr>
            <a:r>
              <a:rPr lang="zh-CN" altLang="en-US" b="1" dirty="0">
                <a:latin typeface="微软雅黑 Light" panose="020B0502040204020203" pitchFamily="34" charset="-122"/>
                <a:ea typeface="微软雅黑 Light" panose="020B0502040204020203" pitchFamily="34" charset="-122"/>
              </a:rPr>
              <a:t>教育部首批“三全育人”综合改革试点</a:t>
            </a:r>
            <a:endParaRPr lang="en-US" altLang="zh-CN" b="1" dirty="0">
              <a:latin typeface="微软雅黑 Light" panose="020B0502040204020203" pitchFamily="34" charset="-122"/>
              <a:ea typeface="微软雅黑 Light" panose="020B0502040204020203" pitchFamily="34" charset="-122"/>
            </a:endParaRPr>
          </a:p>
        </p:txBody>
      </p:sp>
      <p:pic>
        <p:nvPicPr>
          <p:cNvPr id="11" name="Picture 3" descr="D:\历年招生\12招生\12招生简章\2012招生简章各学院汇总（改）\2012人文招生简章\用在招生简章中的照片\梁晓声教授在指导学生.JPG"/>
          <p:cNvPicPr>
            <a:picLocks noChangeAspect="1" noChangeArrowheads="1"/>
          </p:cNvPicPr>
          <p:nvPr/>
        </p:nvPicPr>
        <p:blipFill>
          <a:blip r:embed="rId1"/>
          <a:srcRect/>
          <a:stretch>
            <a:fillRect/>
          </a:stretch>
        </p:blipFill>
        <p:spPr bwMode="auto">
          <a:xfrm rot="21310010">
            <a:off x="791976" y="5486812"/>
            <a:ext cx="1619250" cy="1079500"/>
          </a:xfrm>
          <a:prstGeom prst="rect">
            <a:avLst/>
          </a:prstGeom>
          <a:noFill/>
          <a:ln cmpd="dbl">
            <a:solidFill>
              <a:schemeClr val="tx1"/>
            </a:solidFill>
          </a:ln>
          <a:effectLst>
            <a:outerShdw blurRad="50800" dist="38100" dir="2700000" algn="tl" rotWithShape="0">
              <a:prstClr val="black">
                <a:alpha val="40000"/>
              </a:prstClr>
            </a:outerShdw>
          </a:effectLst>
        </p:spPr>
      </p:pic>
      <p:pic>
        <p:nvPicPr>
          <p:cNvPr id="13" name="Picture 2" descr="D:\历年招生\12招生\12招生简章\2012招生简章各学院汇总（改）\2012人文招生简章\用在招生简章中的照片\人文学院学生参加学校歌咏比赛.JPG"/>
          <p:cNvPicPr>
            <a:picLocks noChangeAspect="1" noChangeArrowheads="1"/>
          </p:cNvPicPr>
          <p:nvPr/>
        </p:nvPicPr>
        <p:blipFill>
          <a:blip r:embed="rId2"/>
          <a:srcRect/>
          <a:stretch>
            <a:fillRect/>
          </a:stretch>
        </p:blipFill>
        <p:spPr bwMode="auto">
          <a:xfrm rot="21266680">
            <a:off x="2785033" y="5487675"/>
            <a:ext cx="1439862" cy="1079500"/>
          </a:xfrm>
          <a:prstGeom prst="rect">
            <a:avLst/>
          </a:prstGeom>
          <a:noFill/>
          <a:ln cmpd="dbl">
            <a:solidFill>
              <a:schemeClr val="tx1"/>
            </a:solidFill>
          </a:ln>
          <a:effectLst>
            <a:outerShdw blurRad="50800" dist="38100" dir="2700000" algn="tl" rotWithShape="0">
              <a:prstClr val="black">
                <a:alpha val="40000"/>
              </a:prstClr>
            </a:outerShdw>
          </a:effectLst>
        </p:spPr>
      </p:pic>
      <p:pic>
        <p:nvPicPr>
          <p:cNvPr id="14" name="Picture 4" descr="D:\历年招生\12招生\12招生简章\2012招生简章各学院汇总（改）\2012人文招生简章\用在招生简章中的照片\人文知识竞赛.JPG"/>
          <p:cNvPicPr>
            <a:picLocks noChangeAspect="1" noChangeArrowheads="1"/>
          </p:cNvPicPr>
          <p:nvPr/>
        </p:nvPicPr>
        <p:blipFill>
          <a:blip r:embed="rId3"/>
          <a:srcRect/>
          <a:stretch>
            <a:fillRect/>
          </a:stretch>
        </p:blipFill>
        <p:spPr bwMode="auto">
          <a:xfrm rot="21314642">
            <a:off x="4598070" y="5485783"/>
            <a:ext cx="1619250" cy="1079500"/>
          </a:xfrm>
          <a:prstGeom prst="rect">
            <a:avLst/>
          </a:prstGeom>
          <a:noFill/>
          <a:ln cmpd="dbl">
            <a:solidFill>
              <a:schemeClr val="tx1"/>
            </a:solidFill>
          </a:ln>
          <a:effectLst>
            <a:outerShdw blurRad="50800" dist="38100" dir="2700000" algn="tl" rotWithShape="0">
              <a:prstClr val="black">
                <a:alpha val="40000"/>
              </a:prstClr>
            </a:outerShdw>
          </a:effectLst>
        </p:spPr>
      </p:pic>
      <p:grpSp>
        <p:nvGrpSpPr>
          <p:cNvPr id="15" name="组合 14"/>
          <p:cNvGrpSpPr/>
          <p:nvPr/>
        </p:nvGrpSpPr>
        <p:grpSpPr>
          <a:xfrm>
            <a:off x="494553" y="150818"/>
            <a:ext cx="6344398" cy="1125795"/>
            <a:chOff x="494553" y="150818"/>
            <a:chExt cx="6344398" cy="1125795"/>
          </a:xfrm>
        </p:grpSpPr>
        <p:grpSp>
          <p:nvGrpSpPr>
            <p:cNvPr id="16" name="组合 15"/>
            <p:cNvGrpSpPr/>
            <p:nvPr/>
          </p:nvGrpSpPr>
          <p:grpSpPr>
            <a:xfrm>
              <a:off x="494553" y="321393"/>
              <a:ext cx="5744845" cy="955220"/>
              <a:chOff x="494553" y="321393"/>
              <a:chExt cx="5744845" cy="955220"/>
            </a:xfrm>
          </p:grpSpPr>
          <p:sp>
            <p:nvSpPr>
              <p:cNvPr id="18" name="文本框 17"/>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19" name="文本框 18"/>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17" name="矩形 36"/>
            <p:cNvSpPr>
              <a:spLocks noChangeArrowheads="1"/>
            </p:cNvSpPr>
            <p:nvPr/>
          </p:nvSpPr>
          <p:spPr bwMode="auto">
            <a:xfrm>
              <a:off x="2997642" y="150818"/>
              <a:ext cx="3841309"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人文社会科学学部</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53243" y="1430227"/>
            <a:ext cx="11081545" cy="2862322"/>
          </a:xfrm>
          <a:prstGeom prst="rect">
            <a:avLst/>
          </a:prstGeom>
          <a:noFill/>
        </p:spPr>
        <p:txBody>
          <a:bodyPr wrap="square" rtlCol="0">
            <a:spAutoFit/>
          </a:bodyPr>
          <a:lstStyle/>
          <a:p>
            <a:pPr>
              <a:lnSpc>
                <a:spcPct val="150000"/>
              </a:lnSpc>
            </a:pPr>
            <a:r>
              <a:rPr lang="zh-CN" altLang="en-US" sz="2400" dirty="0">
                <a:latin typeface="微软雅黑 Light" panose="020B0502040204020203" pitchFamily="34" charset="-122"/>
                <a:ea typeface="微软雅黑 Light" panose="020B0502040204020203" pitchFamily="34" charset="-122"/>
              </a:rPr>
              <a:t>    汉语国际教育专业被誉为是北京语言大学的</a:t>
            </a:r>
            <a:r>
              <a:rPr lang="zh-CN" altLang="en-US" sz="2400" b="1" dirty="0">
                <a:solidFill>
                  <a:srgbClr val="FF0000"/>
                </a:solidFill>
                <a:latin typeface="微软雅黑 Light" panose="020B0502040204020203" pitchFamily="34" charset="-122"/>
                <a:ea typeface="微软雅黑 Light" panose="020B0502040204020203" pitchFamily="34" charset="-122"/>
              </a:rPr>
              <a:t>王牌专业</a:t>
            </a:r>
            <a:r>
              <a:rPr lang="zh-CN" altLang="en-US" sz="2400" dirty="0">
                <a:latin typeface="微软雅黑 Light" panose="020B0502040204020203" pitchFamily="34" charset="-122"/>
                <a:ea typeface="微软雅黑 Light" panose="020B0502040204020203" pitchFamily="34" charset="-122"/>
              </a:rPr>
              <a:t>。学校是国内从事汉语国际教育和中华文化教育</a:t>
            </a:r>
            <a:r>
              <a:rPr lang="zh-CN" altLang="en-US" sz="2400" b="1" dirty="0">
                <a:solidFill>
                  <a:srgbClr val="FF9933"/>
                </a:solidFill>
                <a:latin typeface="微软雅黑 Light" panose="020B0502040204020203" pitchFamily="34" charset="-122"/>
                <a:ea typeface="微软雅黑 Light" panose="020B0502040204020203" pitchFamily="34" charset="-122"/>
              </a:rPr>
              <a:t>历史最长、规模最大、师资力量最雄厚</a:t>
            </a:r>
            <a:r>
              <a:rPr lang="zh-CN" altLang="en-US" sz="2400" dirty="0">
                <a:latin typeface="微软雅黑 Light" panose="020B0502040204020203" pitchFamily="34" charset="-122"/>
                <a:ea typeface="微软雅黑 Light" panose="020B0502040204020203" pitchFamily="34" charset="-122"/>
              </a:rPr>
              <a:t>的高校。同时还拥有</a:t>
            </a:r>
            <a:r>
              <a:rPr lang="zh-CN" altLang="en-US" sz="2400" b="1" dirty="0">
                <a:solidFill>
                  <a:srgbClr val="FF9933"/>
                </a:solidFill>
                <a:latin typeface="微软雅黑 Light" panose="020B0502040204020203" pitchFamily="34" charset="-122"/>
                <a:ea typeface="微软雅黑 Light" panose="020B0502040204020203" pitchFamily="34" charset="-122"/>
              </a:rPr>
              <a:t>中国唯一一个对外汉语教学领域设立的国家级重点研究基地</a:t>
            </a:r>
            <a:r>
              <a:rPr lang="en-US" altLang="zh-CN" sz="2400" b="1" dirty="0">
                <a:solidFill>
                  <a:srgbClr val="FF9933"/>
                </a:solidFill>
                <a:latin typeface="微软雅黑 Light" panose="020B0502040204020203" pitchFamily="34" charset="-122"/>
                <a:ea typeface="微软雅黑 Light" panose="020B0502040204020203" pitchFamily="34" charset="-122"/>
              </a:rPr>
              <a:t>——</a:t>
            </a:r>
            <a:r>
              <a:rPr lang="zh-CN" altLang="en-US" sz="2400" b="1" dirty="0">
                <a:solidFill>
                  <a:srgbClr val="FF9933"/>
                </a:solidFill>
                <a:latin typeface="微软雅黑 Light" panose="020B0502040204020203" pitchFamily="34" charset="-122"/>
                <a:ea typeface="微软雅黑 Light" panose="020B0502040204020203" pitchFamily="34" charset="-122"/>
              </a:rPr>
              <a:t>汉语国际教育研究院</a:t>
            </a:r>
            <a:r>
              <a:rPr lang="zh-CN" altLang="en-US" sz="2400" dirty="0">
                <a:latin typeface="微软雅黑 Light" panose="020B0502040204020203" pitchFamily="34" charset="-122"/>
                <a:ea typeface="微软雅黑 Light" panose="020B0502040204020203" pitchFamily="34" charset="-122"/>
              </a:rPr>
              <a:t>，这也是</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教育部人文社会科学百所重点研究基地</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。该专业教师团队被评为“全国高校黄大年式教师团队”。</a:t>
            </a:r>
            <a:endParaRPr lang="en-US" altLang="zh-CN" sz="2400" b="1" dirty="0">
              <a:latin typeface="微软雅黑 Light" panose="020B0502040204020203" pitchFamily="34" charset="-122"/>
              <a:ea typeface="微软雅黑 Light" panose="020B0502040204020203" pitchFamily="34" charset="-122"/>
            </a:endParaRPr>
          </a:p>
        </p:txBody>
      </p:sp>
      <p:graphicFrame>
        <p:nvGraphicFramePr>
          <p:cNvPr id="2" name="图示 1"/>
          <p:cNvGraphicFramePr/>
          <p:nvPr/>
        </p:nvGraphicFramePr>
        <p:xfrm>
          <a:off x="2302035" y="4056953"/>
          <a:ext cx="7583959" cy="246310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10" name="组合 9"/>
          <p:cNvGrpSpPr/>
          <p:nvPr/>
        </p:nvGrpSpPr>
        <p:grpSpPr>
          <a:xfrm>
            <a:off x="494553" y="150818"/>
            <a:ext cx="9702392" cy="1125795"/>
            <a:chOff x="494553" y="150818"/>
            <a:chExt cx="9702392" cy="1125795"/>
          </a:xfrm>
        </p:grpSpPr>
        <p:grpSp>
          <p:nvGrpSpPr>
            <p:cNvPr id="12" name="组合 11"/>
            <p:cNvGrpSpPr/>
            <p:nvPr/>
          </p:nvGrpSpPr>
          <p:grpSpPr>
            <a:xfrm>
              <a:off x="494553" y="321393"/>
              <a:ext cx="5744845" cy="955220"/>
              <a:chOff x="494553" y="321393"/>
              <a:chExt cx="5744845" cy="955220"/>
            </a:xfrm>
          </p:grpSpPr>
          <p:sp>
            <p:nvSpPr>
              <p:cNvPr id="14" name="文本框 13"/>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15" name="文本框 14"/>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13" name="矩形 36"/>
            <p:cNvSpPr>
              <a:spLocks noChangeArrowheads="1"/>
            </p:cNvSpPr>
            <p:nvPr/>
          </p:nvSpPr>
          <p:spPr bwMode="auto">
            <a:xfrm>
              <a:off x="2997642" y="150818"/>
              <a:ext cx="7199303"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a:t>
              </a:r>
              <a:r>
                <a:rPr lang="zh-CN" altLang="en-US" sz="2400" b="1" i="1" spc="300" dirty="0">
                  <a:solidFill>
                    <a:srgbClr val="24C6DB"/>
                  </a:solidFill>
                  <a:latin typeface="黑体" panose="02010609060101010101" pitchFamily="49" charset="-122"/>
                  <a:ea typeface="黑体" panose="02010609060101010101" pitchFamily="49" charset="-122"/>
                </a:rPr>
                <a:t>人文社会科学学部、</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汉语国际教育</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63503" y="1891034"/>
            <a:ext cx="4856706" cy="1754326"/>
          </a:xfrm>
          <a:prstGeom prst="rect">
            <a:avLst/>
          </a:prstGeom>
          <a:noFill/>
        </p:spPr>
        <p:txBody>
          <a:bodyPr wrap="square" rtlCol="0">
            <a:spAutoFit/>
          </a:bodyPr>
          <a:lstStyle/>
          <a:p>
            <a:pPr>
              <a:lnSpc>
                <a:spcPct val="150000"/>
              </a:lnSpc>
            </a:pPr>
            <a:r>
              <a:rPr lang="zh-CN" altLang="en-US" sz="2400" dirty="0">
                <a:latin typeface="微软雅黑 Light" panose="020B0502040204020203" pitchFamily="34" charset="-122"/>
                <a:ea typeface="微软雅黑 Light" panose="020B0502040204020203" pitchFamily="34" charset="-122"/>
              </a:rPr>
              <a:t>    在软科</a:t>
            </a:r>
            <a:r>
              <a:rPr lang="en-US" altLang="zh-CN" sz="2400" dirty="0">
                <a:latin typeface="微软雅黑 Light" panose="020B0502040204020203" pitchFamily="34" charset="-122"/>
                <a:ea typeface="微软雅黑 Light" panose="020B0502040204020203" pitchFamily="34" charset="-122"/>
              </a:rPr>
              <a:t>2019</a:t>
            </a:r>
            <a:r>
              <a:rPr lang="zh-CN" altLang="en-US" sz="2400" dirty="0">
                <a:latin typeface="微软雅黑 Light" panose="020B0502040204020203" pitchFamily="34" charset="-122"/>
                <a:ea typeface="微软雅黑 Light" panose="020B0502040204020203" pitchFamily="34" charset="-122"/>
              </a:rPr>
              <a:t>中国最好学科排名中，北语的</a:t>
            </a:r>
            <a:r>
              <a:rPr lang="zh-CN" altLang="en-US" sz="2400" b="1" dirty="0">
                <a:solidFill>
                  <a:srgbClr val="FF9933"/>
                </a:solidFill>
                <a:latin typeface="微软雅黑 Light" panose="020B0502040204020203" pitchFamily="34" charset="-122"/>
                <a:ea typeface="微软雅黑 Light" panose="020B0502040204020203" pitchFamily="34" charset="-122"/>
              </a:rPr>
              <a:t>中国语言文学排名全国高校第</a:t>
            </a:r>
            <a:r>
              <a:rPr lang="en-US" altLang="zh-CN" sz="2400" b="1" dirty="0">
                <a:solidFill>
                  <a:srgbClr val="FF9933"/>
                </a:solidFill>
                <a:latin typeface="微软雅黑 Light" panose="020B0502040204020203" pitchFamily="34" charset="-122"/>
                <a:ea typeface="微软雅黑 Light" panose="020B0502040204020203" pitchFamily="34" charset="-122"/>
              </a:rPr>
              <a:t>11</a:t>
            </a:r>
            <a:r>
              <a:rPr lang="zh-CN" altLang="en-US" sz="2400" b="1" dirty="0">
                <a:solidFill>
                  <a:srgbClr val="FF9933"/>
                </a:solidFill>
                <a:latin typeface="微软雅黑 Light" panose="020B0502040204020203" pitchFamily="34" charset="-122"/>
                <a:ea typeface="微软雅黑 Light" panose="020B0502040204020203" pitchFamily="34" charset="-122"/>
              </a:rPr>
              <a:t>位，位列全国前</a:t>
            </a:r>
            <a:r>
              <a:rPr lang="en-US" altLang="zh-CN" sz="2400" b="1" dirty="0">
                <a:solidFill>
                  <a:srgbClr val="FF9933"/>
                </a:solidFill>
                <a:latin typeface="微软雅黑 Light" panose="020B0502040204020203" pitchFamily="34" charset="-122"/>
                <a:ea typeface="微软雅黑 Light" panose="020B0502040204020203" pitchFamily="34" charset="-122"/>
              </a:rPr>
              <a:t>6%</a:t>
            </a:r>
            <a:r>
              <a:rPr lang="zh-CN" altLang="en-US" sz="2400" dirty="0">
                <a:latin typeface="微软雅黑 Light" panose="020B0502040204020203" pitchFamily="34" charset="-122"/>
                <a:ea typeface="微软雅黑 Light" panose="020B0502040204020203" pitchFamily="34" charset="-122"/>
              </a:rPr>
              <a:t>。</a:t>
            </a:r>
            <a:endParaRPr lang="en-US" altLang="zh-CN" sz="2400" b="1" dirty="0">
              <a:latin typeface="微软雅黑 Light" panose="020B0502040204020203" pitchFamily="34" charset="-122"/>
              <a:ea typeface="微软雅黑 Light" panose="020B0502040204020203" pitchFamily="34"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20025" y="3093121"/>
            <a:ext cx="4879114" cy="3148591"/>
          </a:xfrm>
          <a:prstGeom prst="rect">
            <a:avLst/>
          </a:prstGeom>
          <a:ln>
            <a:noFill/>
          </a:ln>
          <a:effectLst>
            <a:outerShdw blurRad="292100" dist="139700" dir="2700000" algn="tl" rotWithShape="0">
              <a:srgbClr val="333333">
                <a:alpha val="65000"/>
              </a:srgbClr>
            </a:outerShdw>
          </a:effectLst>
        </p:spPr>
      </p:pic>
      <p:grpSp>
        <p:nvGrpSpPr>
          <p:cNvPr id="11" name="组合 10"/>
          <p:cNvGrpSpPr/>
          <p:nvPr/>
        </p:nvGrpSpPr>
        <p:grpSpPr>
          <a:xfrm>
            <a:off x="494553" y="150818"/>
            <a:ext cx="9702392" cy="1125795"/>
            <a:chOff x="494553" y="150818"/>
            <a:chExt cx="9702392" cy="1125795"/>
          </a:xfrm>
        </p:grpSpPr>
        <p:grpSp>
          <p:nvGrpSpPr>
            <p:cNvPr id="12" name="组合 11"/>
            <p:cNvGrpSpPr/>
            <p:nvPr/>
          </p:nvGrpSpPr>
          <p:grpSpPr>
            <a:xfrm>
              <a:off x="494553" y="321393"/>
              <a:ext cx="5744845" cy="955220"/>
              <a:chOff x="494553" y="321393"/>
              <a:chExt cx="5744845" cy="955220"/>
            </a:xfrm>
          </p:grpSpPr>
          <p:sp>
            <p:nvSpPr>
              <p:cNvPr id="14" name="文本框 13"/>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15" name="文本框 14"/>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13" name="矩形 36"/>
            <p:cNvSpPr>
              <a:spLocks noChangeArrowheads="1"/>
            </p:cNvSpPr>
            <p:nvPr/>
          </p:nvSpPr>
          <p:spPr bwMode="auto">
            <a:xfrm>
              <a:off x="2997642" y="150818"/>
              <a:ext cx="719930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a:t>
              </a:r>
              <a:r>
                <a:rPr lang="zh-CN" altLang="en-US" sz="2400" b="1" i="1" spc="300" dirty="0">
                  <a:solidFill>
                    <a:srgbClr val="24C6DB"/>
                  </a:solidFill>
                  <a:latin typeface="黑体" panose="02010609060101010101" pitchFamily="49" charset="-122"/>
                  <a:ea typeface="黑体" panose="02010609060101010101" pitchFamily="49" charset="-122"/>
                </a:rPr>
                <a:t>人文社会科学学部、</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汉语言文学</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05631" y="1470642"/>
            <a:ext cx="10906919" cy="1477328"/>
          </a:xfrm>
          <a:prstGeom prst="rect">
            <a:avLst/>
          </a:prstGeom>
          <a:noFill/>
        </p:spPr>
        <p:txBody>
          <a:bodyPr wrap="square" rtlCol="0">
            <a:spAutoFit/>
          </a:bodyPr>
          <a:lstStyle/>
          <a:p>
            <a:pPr>
              <a:lnSpc>
                <a:spcPct val="150000"/>
              </a:lnSpc>
            </a:pPr>
            <a:r>
              <a:rPr lang="zh-CN" altLang="en-US" sz="2000" dirty="0">
                <a:latin typeface="+mn-ea"/>
                <a:ea typeface="+mn-ea"/>
              </a:rPr>
              <a:t>    </a:t>
            </a:r>
            <a:r>
              <a:rPr lang="zh-CN" altLang="en-US" sz="2000" dirty="0">
                <a:latin typeface="微软雅黑 Light" panose="020B0502040204020203" pitchFamily="34" charset="-122"/>
                <a:ea typeface="微软雅黑 Light" panose="020B0502040204020203" pitchFamily="34" charset="-122"/>
              </a:rPr>
              <a:t>信息科学学院依托北京语言大学文理融合、中外融合的国际化特色，培养专业基础扎实、外语能力强，熟悉人工智能，</a:t>
            </a:r>
            <a:r>
              <a:rPr lang="zh-CN" altLang="en-US" sz="2000" b="1" dirty="0">
                <a:solidFill>
                  <a:srgbClr val="FF9933"/>
                </a:solidFill>
                <a:latin typeface="微软雅黑 Light" panose="020B0502040204020203" pitchFamily="34" charset="-122"/>
                <a:ea typeface="微软雅黑 Light" panose="020B0502040204020203" pitchFamily="34" charset="-122"/>
              </a:rPr>
              <a:t>特别是语言智能前沿知识</a:t>
            </a:r>
            <a:r>
              <a:rPr lang="zh-CN" altLang="en-US" sz="2000" dirty="0">
                <a:latin typeface="微软雅黑 Light" panose="020B0502040204020203" pitchFamily="34" charset="-122"/>
                <a:ea typeface="微软雅黑 Light" panose="020B0502040204020203" pitchFamily="34" charset="-122"/>
              </a:rPr>
              <a:t>，具有信息处理基本素养的通用人才。</a:t>
            </a:r>
            <a:r>
              <a:rPr lang="en-US" altLang="zh-CN" sz="2000" dirty="0">
                <a:latin typeface="微软雅黑 Light" panose="020B0502040204020203" pitchFamily="34" charset="-122"/>
                <a:ea typeface="微软雅黑 Light" panose="020B0502040204020203" pitchFamily="34" charset="-122"/>
              </a:rPr>
              <a:t>2018</a:t>
            </a:r>
            <a:r>
              <a:rPr lang="zh-CN" altLang="en-US" sz="2000" dirty="0">
                <a:latin typeface="微软雅黑 Light" panose="020B0502040204020203" pitchFamily="34" charset="-122"/>
                <a:ea typeface="微软雅黑 Light" panose="020B0502040204020203" pitchFamily="34" charset="-122"/>
              </a:rPr>
              <a:t>年起，学院采用大类招生的方式，毕业可获得工学学士学位。</a:t>
            </a:r>
            <a:endParaRPr lang="en-US" altLang="zh-CN" sz="2000" b="1" dirty="0">
              <a:latin typeface="微软雅黑 Light" panose="020B0502040204020203" pitchFamily="34" charset="-122"/>
              <a:ea typeface="微软雅黑 Light" panose="020B0502040204020203" pitchFamily="34" charset="-122"/>
            </a:endParaRPr>
          </a:p>
        </p:txBody>
      </p:sp>
      <p:sp>
        <p:nvSpPr>
          <p:cNvPr id="8" name="矩形 7"/>
          <p:cNvSpPr/>
          <p:nvPr/>
        </p:nvSpPr>
        <p:spPr>
          <a:xfrm>
            <a:off x="1174169" y="3068740"/>
            <a:ext cx="5245387" cy="1938992"/>
          </a:xfrm>
          <a:prstGeom prst="rect">
            <a:avLst/>
          </a:prstGeom>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微软雅黑 Light" panose="020B0502040204020203" pitchFamily="34" charset="-122"/>
                <a:ea typeface="微软雅黑 Light" panose="020B0502040204020203" pitchFamily="34" charset="-122"/>
              </a:rPr>
              <a:t>大类分流专业：</a:t>
            </a:r>
            <a:endParaRPr lang="en-US" altLang="zh-CN" sz="2000" b="1"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计算机科学与技术、信息管理与信息系统、数字媒体技术、</a:t>
            </a:r>
            <a:r>
              <a:rPr lang="zh-CN" altLang="en-US" sz="2000" b="1" dirty="0">
                <a:solidFill>
                  <a:srgbClr val="FF9933"/>
                </a:solidFill>
                <a:latin typeface="微软雅黑 Light" panose="020B0502040204020203" pitchFamily="34" charset="-122"/>
                <a:ea typeface="微软雅黑 Light" panose="020B0502040204020203" pitchFamily="34" charset="-122"/>
              </a:rPr>
              <a:t>计算机科学与技术（语言智能与技术实验班）</a:t>
            </a:r>
            <a:r>
              <a:rPr lang="zh-CN" altLang="en-US" sz="2000" dirty="0">
                <a:latin typeface="微软雅黑 Light" panose="020B0502040204020203" pitchFamily="34" charset="-122"/>
                <a:ea typeface="微软雅黑 Light" panose="020B0502040204020203" pitchFamily="34" charset="-122"/>
              </a:rPr>
              <a:t>。</a:t>
            </a:r>
            <a:endParaRPr lang="en-US" altLang="zh-CN" sz="2000" dirty="0">
              <a:latin typeface="微软雅黑 Light" panose="020B0502040204020203" pitchFamily="34" charset="-122"/>
              <a:ea typeface="微软雅黑 Light" panose="020B0502040204020203" pitchFamily="34" charset="-122"/>
            </a:endParaRPr>
          </a:p>
        </p:txBody>
      </p:sp>
      <p:graphicFrame>
        <p:nvGraphicFramePr>
          <p:cNvPr id="2" name="表格 1"/>
          <p:cNvGraphicFramePr>
            <a:graphicFrameLocks noGrp="1"/>
          </p:cNvGraphicFramePr>
          <p:nvPr/>
        </p:nvGraphicFramePr>
        <p:xfrm>
          <a:off x="8034684" y="3259355"/>
          <a:ext cx="3251200" cy="1364856"/>
        </p:xfrm>
        <a:graphic>
          <a:graphicData uri="http://schemas.openxmlformats.org/drawingml/2006/table">
            <a:tbl>
              <a:tblPr>
                <a:tableStyleId>{D113A9D2-9D6B-4929-AA2D-F23B5EE8CBE7}</a:tableStyleId>
              </a:tblPr>
              <a:tblGrid>
                <a:gridCol w="1287379"/>
                <a:gridCol w="1963821"/>
              </a:tblGrid>
              <a:tr h="682428">
                <a:tc>
                  <a:txBody>
                    <a:bodyPr/>
                    <a:lstStyle/>
                    <a:p>
                      <a:pPr algn="ctr" fontAlgn="ctr"/>
                      <a:r>
                        <a:rPr lang="zh-CN" altLang="en-US" sz="1600" b="1" u="none" strike="noStrike" dirty="0">
                          <a:solidFill>
                            <a:schemeClr val="tx1"/>
                          </a:solidFill>
                          <a:effectLst/>
                          <a:latin typeface="微软雅黑 Light" panose="020B0502040204020203" pitchFamily="34" charset="-122"/>
                          <a:ea typeface="微软雅黑 Light" panose="020B0502040204020203" pitchFamily="34" charset="-122"/>
                        </a:rPr>
                        <a:t>专业代码</a:t>
                      </a:r>
                      <a:endParaRPr lang="zh-CN" altLang="en-US" sz="1600" b="1"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24C6DB"/>
                    </a:solidFill>
                  </a:tcPr>
                </a:tc>
                <a:tc>
                  <a:txBody>
                    <a:bodyPr/>
                    <a:lstStyle/>
                    <a:p>
                      <a:pPr algn="ctr" fontAlgn="ctr"/>
                      <a:r>
                        <a:rPr lang="zh-CN" altLang="en-US" sz="1600" b="1" u="none" strike="noStrike" dirty="0">
                          <a:solidFill>
                            <a:schemeClr val="tx1"/>
                          </a:solidFill>
                          <a:effectLst/>
                          <a:latin typeface="微软雅黑 Light" panose="020B0502040204020203" pitchFamily="34" charset="-122"/>
                          <a:ea typeface="微软雅黑 Light" panose="020B0502040204020203" pitchFamily="34" charset="-122"/>
                        </a:rPr>
                        <a:t>专业名称</a:t>
                      </a:r>
                      <a:endParaRPr lang="zh-CN" altLang="en-US" sz="1600" b="1"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24C6DB"/>
                    </a:solidFill>
                  </a:tcPr>
                </a:tc>
              </a:tr>
              <a:tr h="682428">
                <a:tc>
                  <a:txBody>
                    <a:bodyPr/>
                    <a:lstStyle/>
                    <a:p>
                      <a:pPr algn="ctr" fontAlgn="ctr"/>
                      <a:r>
                        <a:rPr lang="en-US" altLang="zh-CN" sz="1600" u="none" strike="noStrike" dirty="0">
                          <a:solidFill>
                            <a:schemeClr val="tx1"/>
                          </a:solidFill>
                          <a:effectLst/>
                          <a:latin typeface="微软雅黑 Light" panose="020B0502040204020203" pitchFamily="34" charset="-122"/>
                          <a:ea typeface="微软雅黑 Light" panose="020B0502040204020203" pitchFamily="34" charset="-122"/>
                        </a:rPr>
                        <a:t>0809</a:t>
                      </a:r>
                      <a:endParaRPr lang="en-US" altLang="zh-CN"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24C6DB"/>
                    </a:solidFill>
                  </a:tcPr>
                </a:tc>
                <a:tc>
                  <a:txBody>
                    <a:bodyPr/>
                    <a:lstStyle/>
                    <a:p>
                      <a:pPr algn="ctr" fontAlgn="ctr"/>
                      <a:r>
                        <a:rPr lang="zh-CN" altLang="en-US" sz="1600" u="none" strike="noStrike" dirty="0">
                          <a:solidFill>
                            <a:schemeClr val="tx1"/>
                          </a:solidFill>
                          <a:effectLst/>
                          <a:latin typeface="微软雅黑 Light" panose="020B0502040204020203" pitchFamily="34" charset="-122"/>
                          <a:ea typeface="微软雅黑 Light" panose="020B0502040204020203" pitchFamily="34" charset="-122"/>
                        </a:rPr>
                        <a:t>计算机类</a:t>
                      </a:r>
                      <a:endParaRPr lang="zh-CN" altLang="en-US"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24C6DB"/>
                    </a:solidFill>
                  </a:tcPr>
                </a:tc>
              </a:tr>
            </a:tbl>
          </a:graphicData>
        </a:graphic>
      </p:graphicFrame>
      <p:pic>
        <p:nvPicPr>
          <p:cNvPr id="11" name="Picture 4" descr="D:\历年招生\12招生\12招生简章\2012招生简章各学院汇总（改）\2012信科招生简章\信科学生活动\师生趣味运动会.JPG"/>
          <p:cNvPicPr>
            <a:picLocks noChangeAspect="1" noChangeArrowheads="1"/>
          </p:cNvPicPr>
          <p:nvPr/>
        </p:nvPicPr>
        <p:blipFill>
          <a:blip r:embed="rId1"/>
          <a:srcRect/>
          <a:stretch>
            <a:fillRect/>
          </a:stretch>
        </p:blipFill>
        <p:spPr bwMode="auto">
          <a:xfrm>
            <a:off x="5526435" y="5007732"/>
            <a:ext cx="1919287" cy="1439862"/>
          </a:xfrm>
          <a:prstGeom prst="rect">
            <a:avLst/>
          </a:prstGeom>
          <a:noFill/>
          <a:ln cmpd="dbl">
            <a:solidFill>
              <a:schemeClr val="tx1"/>
            </a:solidFill>
          </a:ln>
          <a:effectLst>
            <a:outerShdw blurRad="50800" dist="38100" dir="2700000" algn="tl" rotWithShape="0">
              <a:prstClr val="black">
                <a:alpha val="40000"/>
              </a:prstClr>
            </a:outerShdw>
          </a:effectLst>
        </p:spPr>
      </p:pic>
      <p:pic>
        <p:nvPicPr>
          <p:cNvPr id="13" name="Picture 3" descr="D:\历年招生\12招生\12招生简章\2012招生简章各学院汇总（改）\2012信科招生简章\信科学生活动\文科计算机大赛.JPG"/>
          <p:cNvPicPr>
            <a:picLocks noChangeAspect="1" noChangeArrowheads="1"/>
          </p:cNvPicPr>
          <p:nvPr/>
        </p:nvPicPr>
        <p:blipFill>
          <a:blip r:embed="rId2"/>
          <a:srcRect/>
          <a:stretch>
            <a:fillRect/>
          </a:stretch>
        </p:blipFill>
        <p:spPr bwMode="auto">
          <a:xfrm>
            <a:off x="7445722" y="5007732"/>
            <a:ext cx="1920875" cy="1439862"/>
          </a:xfrm>
          <a:prstGeom prst="rect">
            <a:avLst/>
          </a:prstGeom>
          <a:noFill/>
          <a:ln cmpd="dbl">
            <a:solidFill>
              <a:schemeClr val="tx1"/>
            </a:solidFill>
          </a:ln>
          <a:effectLst>
            <a:outerShdw blurRad="50800" dist="38100" dir="2700000" algn="tl" rotWithShape="0">
              <a:prstClr val="black">
                <a:alpha val="40000"/>
              </a:prstClr>
            </a:outerShdw>
          </a:effectLst>
        </p:spPr>
      </p:pic>
      <p:pic>
        <p:nvPicPr>
          <p:cNvPr id="14" name="Picture 2" descr="D:\历年招生\12招生\12招生简章\2012招生简章各学院汇总（改）\2012信科招生简章\信科学生活动\技术培训.JPG"/>
          <p:cNvPicPr>
            <a:picLocks noChangeAspect="1" noChangeArrowheads="1"/>
          </p:cNvPicPr>
          <p:nvPr/>
        </p:nvPicPr>
        <p:blipFill>
          <a:blip r:embed="rId3"/>
          <a:srcRect/>
          <a:stretch>
            <a:fillRect/>
          </a:stretch>
        </p:blipFill>
        <p:spPr bwMode="auto">
          <a:xfrm>
            <a:off x="9366597" y="5007732"/>
            <a:ext cx="1919287" cy="1439863"/>
          </a:xfrm>
          <a:prstGeom prst="rect">
            <a:avLst/>
          </a:prstGeom>
          <a:noFill/>
          <a:ln cmpd="dbl">
            <a:solidFill>
              <a:schemeClr val="tx1"/>
            </a:solidFill>
          </a:ln>
          <a:effectLst>
            <a:outerShdw blurRad="50800" dist="38100" dir="2700000" algn="tl" rotWithShape="0">
              <a:prstClr val="black">
                <a:alpha val="40000"/>
              </a:prstClr>
            </a:outerShdw>
          </a:effectLst>
        </p:spPr>
      </p:pic>
      <p:grpSp>
        <p:nvGrpSpPr>
          <p:cNvPr id="15" name="组合 14"/>
          <p:cNvGrpSpPr/>
          <p:nvPr/>
        </p:nvGrpSpPr>
        <p:grpSpPr>
          <a:xfrm>
            <a:off x="494553" y="150818"/>
            <a:ext cx="9702392" cy="1125795"/>
            <a:chOff x="494553" y="150818"/>
            <a:chExt cx="9702392" cy="1125795"/>
          </a:xfrm>
        </p:grpSpPr>
        <p:grpSp>
          <p:nvGrpSpPr>
            <p:cNvPr id="16" name="组合 15"/>
            <p:cNvGrpSpPr/>
            <p:nvPr/>
          </p:nvGrpSpPr>
          <p:grpSpPr>
            <a:xfrm>
              <a:off x="494553" y="321393"/>
              <a:ext cx="5744845" cy="955220"/>
              <a:chOff x="494553" y="321393"/>
              <a:chExt cx="5744845" cy="955220"/>
            </a:xfrm>
          </p:grpSpPr>
          <p:sp>
            <p:nvSpPr>
              <p:cNvPr id="18" name="文本框 17"/>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19" name="文本框 18"/>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17" name="矩形 36"/>
            <p:cNvSpPr>
              <a:spLocks noChangeArrowheads="1"/>
            </p:cNvSpPr>
            <p:nvPr/>
          </p:nvSpPr>
          <p:spPr bwMode="auto">
            <a:xfrm>
              <a:off x="2997642" y="150818"/>
              <a:ext cx="719930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信息科学学院</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0-#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0-#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950118" y="1531797"/>
            <a:ext cx="10562432" cy="1938992"/>
          </a:xfrm>
          <a:prstGeom prst="rect">
            <a:avLst/>
          </a:prstGeom>
          <a:noFill/>
        </p:spPr>
        <p:txBody>
          <a:bodyPr wrap="square" rtlCol="0">
            <a:spAutoFit/>
          </a:bodyPr>
          <a:lstStyle/>
          <a:p>
            <a:pPr>
              <a:lnSpc>
                <a:spcPct val="150000"/>
              </a:lnSpc>
            </a:pPr>
            <a:r>
              <a:rPr lang="zh-CN" altLang="en-US" sz="2000" dirty="0">
                <a:latin typeface="微软雅黑 Light" panose="020B0502040204020203" pitchFamily="34" charset="-122"/>
                <a:ea typeface="微软雅黑 Light" panose="020B0502040204020203" pitchFamily="34" charset="-122"/>
              </a:rPr>
              <a:t>    学院以培养“专业领先、外语突出、面向国际、协调发展”的国际化、复合型、应用型人才为目标，</a:t>
            </a:r>
            <a:r>
              <a:rPr lang="zh-CN" altLang="en-US" sz="2000" b="1" dirty="0">
                <a:solidFill>
                  <a:srgbClr val="FF9933"/>
                </a:solidFill>
                <a:latin typeface="微软雅黑 Light" panose="020B0502040204020203" pitchFamily="34" charset="-122"/>
                <a:ea typeface="微软雅黑 Light" panose="020B0502040204020203" pitchFamily="34" charset="-122"/>
              </a:rPr>
              <a:t>以双语讲授专业课为教学特色</a:t>
            </a:r>
            <a:r>
              <a:rPr lang="zh-CN" altLang="en-US" sz="2000" dirty="0">
                <a:latin typeface="微软雅黑 Light" panose="020B0502040204020203" pitchFamily="34" charset="-122"/>
                <a:ea typeface="微软雅黑 Light" panose="020B0502040204020203" pitchFamily="34" charset="-122"/>
              </a:rPr>
              <a:t>。学院设有区域经济研究中心、金融研究所、</a:t>
            </a:r>
            <a:r>
              <a:rPr lang="en-US" altLang="zh-CN" sz="2000" dirty="0" err="1">
                <a:latin typeface="微软雅黑 Light" panose="020B0502040204020203" pitchFamily="34" charset="-122"/>
                <a:ea typeface="微软雅黑 Light" panose="020B0502040204020203" pitchFamily="34" charset="-122"/>
              </a:rPr>
              <a:t>MPAcc</a:t>
            </a:r>
            <a:r>
              <a:rPr lang="zh-CN" altLang="en-US" sz="2000" dirty="0">
                <a:latin typeface="微软雅黑 Light" panose="020B0502040204020203" pitchFamily="34" charset="-122"/>
                <a:ea typeface="微软雅黑 Light" panose="020B0502040204020203" pitchFamily="34" charset="-122"/>
              </a:rPr>
              <a:t>中心以及商务培训中心，拥有多媒体金融实验室、</a:t>
            </a:r>
            <a:r>
              <a:rPr lang="en-US" altLang="zh-CN" sz="2000" dirty="0">
                <a:latin typeface="微软雅黑 Light" panose="020B0502040204020203" pitchFamily="34" charset="-122"/>
                <a:ea typeface="微软雅黑 Light" panose="020B0502040204020203" pitchFamily="34" charset="-122"/>
              </a:rPr>
              <a:t>ERP</a:t>
            </a:r>
            <a:r>
              <a:rPr lang="zh-CN" altLang="en-US" sz="2000" dirty="0">
                <a:latin typeface="微软雅黑 Light" panose="020B0502040204020203" pitchFamily="34" charset="-122"/>
                <a:ea typeface="微软雅黑 Light" panose="020B0502040204020203" pitchFamily="34" charset="-122"/>
              </a:rPr>
              <a:t>实验室、智能财经实验室和国际贸易实验室。</a:t>
            </a:r>
            <a:endParaRPr lang="en-US" altLang="zh-CN" sz="2000" b="1" dirty="0">
              <a:latin typeface="微软雅黑 Light" panose="020B0502040204020203" pitchFamily="34" charset="-122"/>
              <a:ea typeface="微软雅黑 Light" panose="020B0502040204020203" pitchFamily="34" charset="-122"/>
            </a:endParaRPr>
          </a:p>
        </p:txBody>
      </p:sp>
      <p:sp>
        <p:nvSpPr>
          <p:cNvPr id="8" name="矩形 7"/>
          <p:cNvSpPr/>
          <p:nvPr/>
        </p:nvSpPr>
        <p:spPr>
          <a:xfrm>
            <a:off x="1024248" y="3534248"/>
            <a:ext cx="4575189" cy="1431161"/>
          </a:xfrm>
          <a:prstGeom prst="rect">
            <a:avLst/>
          </a:prstGeom>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微软雅黑 Light" panose="020B0502040204020203" pitchFamily="34" charset="-122"/>
                <a:ea typeface="微软雅黑 Light" panose="020B0502040204020203" pitchFamily="34" charset="-122"/>
              </a:rPr>
              <a:t>外语</a:t>
            </a:r>
            <a:r>
              <a:rPr lang="en-US" altLang="zh-CN" sz="2000" b="1" dirty="0">
                <a:latin typeface="微软雅黑 Light" panose="020B0502040204020203" pitchFamily="34" charset="-122"/>
                <a:ea typeface="微软雅黑 Light" panose="020B0502040204020203" pitchFamily="34" charset="-122"/>
              </a:rPr>
              <a:t>+</a:t>
            </a:r>
            <a:r>
              <a:rPr lang="zh-CN" altLang="en-US" sz="2000" b="1" dirty="0">
                <a:latin typeface="微软雅黑 Light" panose="020B0502040204020203" pitchFamily="34" charset="-122"/>
                <a:ea typeface="微软雅黑 Light" panose="020B0502040204020203" pitchFamily="34" charset="-122"/>
              </a:rPr>
              <a:t>专业，培养国际化人才</a:t>
            </a:r>
            <a:endParaRPr lang="en-US" altLang="zh-CN" sz="2000" b="1" dirty="0">
              <a:latin typeface="微软雅黑 Light" panose="020B0502040204020203" pitchFamily="34" charset="-122"/>
              <a:ea typeface="微软雅黑 Light" panose="020B0502040204020203" pitchFamily="34" charset="-122"/>
            </a:endParaRPr>
          </a:p>
          <a:p>
            <a:pPr>
              <a:lnSpc>
                <a:spcPct val="150000"/>
              </a:lnSpc>
            </a:pPr>
            <a:r>
              <a:rPr lang="en-US" altLang="zh-CN" sz="2000" b="1" dirty="0">
                <a:latin typeface="微软雅黑 Light" panose="020B0502040204020203" pitchFamily="34" charset="-122"/>
                <a:ea typeface="微软雅黑 Light" panose="020B0502040204020203" pitchFamily="34" charset="-122"/>
              </a:rPr>
              <a:t>  </a:t>
            </a:r>
            <a:r>
              <a:rPr lang="zh-CN" altLang="en-US" dirty="0">
                <a:latin typeface="微软雅黑 Light" panose="020B0502040204020203" pitchFamily="34" charset="-122"/>
                <a:ea typeface="微软雅黑 Light" panose="020B0502040204020203" pitchFamily="34" charset="-122"/>
              </a:rPr>
              <a:t>双语课程占</a:t>
            </a:r>
            <a:r>
              <a:rPr lang="en-US" altLang="zh-CN" dirty="0">
                <a:latin typeface="微软雅黑 Light" panose="020B0502040204020203" pitchFamily="34" charset="-122"/>
                <a:ea typeface="微软雅黑 Light" panose="020B0502040204020203" pitchFamily="34" charset="-122"/>
              </a:rPr>
              <a:t>70%</a:t>
            </a:r>
            <a:r>
              <a:rPr lang="zh-CN" altLang="en-US" dirty="0">
                <a:latin typeface="微软雅黑 Light" panose="020B0502040204020203" pitchFamily="34" charset="-122"/>
                <a:ea typeface="微软雅黑 Light" panose="020B0502040204020203" pitchFamily="34" charset="-122"/>
              </a:rPr>
              <a:t>以上，本科阶段参加英语专四、专八通过率高。</a:t>
            </a:r>
            <a:endParaRPr lang="en-US" altLang="zh-CN" dirty="0">
              <a:latin typeface="微软雅黑 Light" panose="020B0502040204020203" pitchFamily="34" charset="-122"/>
              <a:ea typeface="微软雅黑 Light" panose="020B0502040204020203" pitchFamily="34" charset="-122"/>
            </a:endParaRPr>
          </a:p>
        </p:txBody>
      </p:sp>
      <p:graphicFrame>
        <p:nvGraphicFramePr>
          <p:cNvPr id="4" name="表格 3"/>
          <p:cNvGraphicFramePr>
            <a:graphicFrameLocks noGrp="1"/>
          </p:cNvGraphicFramePr>
          <p:nvPr/>
        </p:nvGraphicFramePr>
        <p:xfrm>
          <a:off x="6375036" y="3470789"/>
          <a:ext cx="5137514" cy="3126519"/>
        </p:xfrm>
        <a:graphic>
          <a:graphicData uri="http://schemas.openxmlformats.org/drawingml/2006/table">
            <a:tbl>
              <a:tblPr>
                <a:tableStyleId>{18603FDC-E32A-4AB5-989C-0864C3EAD2B8}</a:tableStyleId>
              </a:tblPr>
              <a:tblGrid>
                <a:gridCol w="2089258"/>
                <a:gridCol w="3048256"/>
              </a:tblGrid>
              <a:tr h="438993">
                <a:tc>
                  <a:txBody>
                    <a:bodyPr/>
                    <a:lstStyle/>
                    <a:p>
                      <a:pPr algn="ctr" fontAlgn="ctr"/>
                      <a:r>
                        <a:rPr lang="zh-CN" altLang="en-US" sz="1600" b="1" u="none" strike="noStrike" dirty="0">
                          <a:solidFill>
                            <a:schemeClr val="tx1"/>
                          </a:solidFill>
                          <a:effectLst/>
                          <a:latin typeface="微软雅黑 Light" panose="020B0502040204020203" pitchFamily="34" charset="-122"/>
                          <a:ea typeface="微软雅黑 Light" panose="020B0502040204020203" pitchFamily="34" charset="-122"/>
                        </a:rPr>
                        <a:t>专业代码</a:t>
                      </a:r>
                      <a:endParaRPr lang="zh-CN" altLang="en-US" sz="1600" b="1"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600" b="1" u="none" strike="noStrike" dirty="0">
                          <a:solidFill>
                            <a:schemeClr val="tx1"/>
                          </a:solidFill>
                          <a:effectLst/>
                          <a:latin typeface="微软雅黑 Light" panose="020B0502040204020203" pitchFamily="34" charset="-122"/>
                          <a:ea typeface="微软雅黑 Light" panose="020B0502040204020203" pitchFamily="34" charset="-122"/>
                        </a:rPr>
                        <a:t>专业名称</a:t>
                      </a:r>
                      <a:endParaRPr lang="zh-CN" altLang="en-US" sz="1600" b="1"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r>
              <a:tr h="438993">
                <a:tc>
                  <a:txBody>
                    <a:bodyPr/>
                    <a:lstStyle/>
                    <a:p>
                      <a:pPr algn="ctr" fontAlgn="ctr"/>
                      <a:r>
                        <a:rPr lang="en-US" sz="1600" u="none" strike="noStrike" dirty="0">
                          <a:solidFill>
                            <a:schemeClr val="tx1"/>
                          </a:solidFill>
                          <a:effectLst/>
                          <a:latin typeface="微软雅黑 Light" panose="020B0502040204020203" pitchFamily="34" charset="-122"/>
                          <a:ea typeface="微软雅黑 Light" panose="020B0502040204020203" pitchFamily="34" charset="-122"/>
                        </a:rPr>
                        <a:t>020301K</a:t>
                      </a:r>
                      <a:endParaRPr lang="en-US"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c>
                  <a:txBody>
                    <a:bodyPr/>
                    <a:lstStyle/>
                    <a:p>
                      <a:pPr algn="ctr" fontAlgn="ctr"/>
                      <a:r>
                        <a:rPr lang="zh-CN" altLang="en-US" sz="1600" u="none" strike="noStrike" dirty="0">
                          <a:solidFill>
                            <a:schemeClr val="tx1"/>
                          </a:solidFill>
                          <a:effectLst/>
                          <a:latin typeface="微软雅黑 Light" panose="020B0502040204020203" pitchFamily="34" charset="-122"/>
                          <a:ea typeface="微软雅黑 Light" panose="020B0502040204020203" pitchFamily="34" charset="-122"/>
                        </a:rPr>
                        <a:t>金融学</a:t>
                      </a:r>
                      <a:endParaRPr lang="zh-CN" altLang="en-US"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r>
              <a:tr h="438993">
                <a:tc>
                  <a:txBody>
                    <a:bodyPr/>
                    <a:lstStyle/>
                    <a:p>
                      <a:pPr algn="ctr" fontAlgn="ctr"/>
                      <a:r>
                        <a:rPr lang="en-US" sz="1600" u="none" strike="noStrike">
                          <a:solidFill>
                            <a:schemeClr val="tx1"/>
                          </a:solidFill>
                          <a:effectLst/>
                          <a:latin typeface="微软雅黑 Light" panose="020B0502040204020203" pitchFamily="34" charset="-122"/>
                          <a:ea typeface="微软雅黑 Light" panose="020B0502040204020203" pitchFamily="34" charset="-122"/>
                        </a:rPr>
                        <a:t>020301K</a:t>
                      </a:r>
                      <a:endParaRPr lang="en-US" sz="1600" b="0" i="0" u="none" strike="noStrike">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600" u="none" strike="noStrike" dirty="0">
                          <a:solidFill>
                            <a:schemeClr val="tx1"/>
                          </a:solidFill>
                          <a:effectLst/>
                          <a:latin typeface="微软雅黑 Light" panose="020B0502040204020203" pitchFamily="34" charset="-122"/>
                          <a:ea typeface="微软雅黑 Light" panose="020B0502040204020203" pitchFamily="34" charset="-122"/>
                        </a:rPr>
                        <a:t>金融学</a:t>
                      </a:r>
                      <a:r>
                        <a:rPr lang="en-US" altLang="zh-CN" sz="1600" u="none" strike="noStrike" dirty="0">
                          <a:solidFill>
                            <a:schemeClr val="tx1"/>
                          </a:solidFill>
                          <a:effectLst/>
                          <a:latin typeface="微软雅黑 Light" panose="020B0502040204020203" pitchFamily="34" charset="-122"/>
                          <a:ea typeface="微软雅黑 Light" panose="020B0502040204020203" pitchFamily="34" charset="-122"/>
                        </a:rPr>
                        <a:t>(</a:t>
                      </a:r>
                      <a:r>
                        <a:rPr lang="zh-CN" altLang="en-US" sz="1600" u="none" strike="noStrike" dirty="0">
                          <a:solidFill>
                            <a:schemeClr val="tx1"/>
                          </a:solidFill>
                          <a:effectLst/>
                          <a:latin typeface="微软雅黑 Light" panose="020B0502040204020203" pitchFamily="34" charset="-122"/>
                          <a:ea typeface="微软雅黑 Light" panose="020B0502040204020203" pitchFamily="34" charset="-122"/>
                        </a:rPr>
                        <a:t>宏观经济核算与分析</a:t>
                      </a:r>
                      <a:r>
                        <a:rPr lang="en-US" altLang="zh-CN" sz="1600" u="none" strike="noStrike" dirty="0">
                          <a:solidFill>
                            <a:schemeClr val="tx1"/>
                          </a:solidFill>
                          <a:effectLst/>
                          <a:latin typeface="微软雅黑 Light" panose="020B0502040204020203" pitchFamily="34" charset="-122"/>
                          <a:ea typeface="微软雅黑 Light" panose="020B0502040204020203" pitchFamily="34" charset="-122"/>
                        </a:rPr>
                        <a:t>)</a:t>
                      </a:r>
                      <a:endParaRPr lang="en-US" altLang="zh-CN"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r>
              <a:tr h="438993">
                <a:tc>
                  <a:txBody>
                    <a:bodyPr/>
                    <a:lstStyle/>
                    <a:p>
                      <a:pPr algn="ctr" fontAlgn="ctr"/>
                      <a:r>
                        <a:rPr lang="en-US" sz="1600" u="none" strike="noStrike" dirty="0">
                          <a:solidFill>
                            <a:schemeClr val="tx1"/>
                          </a:solidFill>
                          <a:effectLst/>
                          <a:latin typeface="微软雅黑 Light" panose="020B0502040204020203" pitchFamily="34" charset="-122"/>
                          <a:ea typeface="微软雅黑 Light" panose="020B0502040204020203" pitchFamily="34" charset="-122"/>
                        </a:rPr>
                        <a:t>120203K</a:t>
                      </a:r>
                      <a:endParaRPr lang="en-US"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600" u="none" strike="noStrike" dirty="0">
                          <a:solidFill>
                            <a:schemeClr val="tx1"/>
                          </a:solidFill>
                          <a:effectLst/>
                          <a:latin typeface="微软雅黑 Light" panose="020B0502040204020203" pitchFamily="34" charset="-122"/>
                          <a:ea typeface="微软雅黑 Light" panose="020B0502040204020203" pitchFamily="34" charset="-122"/>
                        </a:rPr>
                        <a:t>会计学</a:t>
                      </a:r>
                      <a:endParaRPr lang="zh-CN" altLang="en-US"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r>
              <a:tr h="438993">
                <a:tc>
                  <a:txBody>
                    <a:bodyPr/>
                    <a:lstStyle/>
                    <a:p>
                      <a:pPr algn="ctr" fontAlgn="ctr"/>
                      <a:r>
                        <a:rPr lang="en-US" altLang="zh-CN" sz="1600" u="none" strike="noStrike" dirty="0">
                          <a:solidFill>
                            <a:schemeClr val="tx1"/>
                          </a:solidFill>
                          <a:effectLst/>
                          <a:latin typeface="微软雅黑 Light" panose="020B0502040204020203" pitchFamily="34" charset="-122"/>
                          <a:ea typeface="微软雅黑 Light" panose="020B0502040204020203" pitchFamily="34" charset="-122"/>
                        </a:rPr>
                        <a:t>020401</a:t>
                      </a:r>
                      <a:endParaRPr lang="en-US" altLang="zh-CN"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c>
                  <a:txBody>
                    <a:bodyPr/>
                    <a:lstStyle/>
                    <a:p>
                      <a:pPr algn="ctr" fontAlgn="ctr"/>
                      <a:r>
                        <a:rPr lang="zh-CN" altLang="en-US" sz="1600" u="none" strike="noStrike" dirty="0">
                          <a:solidFill>
                            <a:schemeClr val="tx1"/>
                          </a:solidFill>
                          <a:effectLst/>
                          <a:latin typeface="微软雅黑 Light" panose="020B0502040204020203" pitchFamily="34" charset="-122"/>
                          <a:ea typeface="微软雅黑 Light" panose="020B0502040204020203" pitchFamily="34" charset="-122"/>
                        </a:rPr>
                        <a:t>国际经济与贸易</a:t>
                      </a:r>
                      <a:endParaRPr lang="zh-CN" altLang="en-US"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r>
              <a:tr h="452628">
                <a:tc>
                  <a:txBody>
                    <a:bodyPr/>
                    <a:lstStyle/>
                    <a:p>
                      <a:pPr algn="ctr" fontAlgn="ctr"/>
                      <a:r>
                        <a:rPr lang="en-US" altLang="zh-CN" sz="1600" u="none" strike="noStrike" dirty="0">
                          <a:solidFill>
                            <a:schemeClr val="tx1"/>
                          </a:solidFill>
                          <a:effectLst/>
                          <a:latin typeface="微软雅黑 Light" panose="020B0502040204020203" pitchFamily="34" charset="-122"/>
                          <a:ea typeface="微软雅黑 Light" panose="020B0502040204020203" pitchFamily="34" charset="-122"/>
                        </a:rPr>
                        <a:t>120206</a:t>
                      </a:r>
                      <a:endParaRPr lang="en-US" altLang="zh-CN"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600" u="none" strike="noStrike" dirty="0">
                          <a:solidFill>
                            <a:schemeClr val="tx1"/>
                          </a:solidFill>
                          <a:effectLst/>
                          <a:latin typeface="微软雅黑 Light" panose="020B0502040204020203" pitchFamily="34" charset="-122"/>
                          <a:ea typeface="微软雅黑 Light" panose="020B0502040204020203" pitchFamily="34" charset="-122"/>
                        </a:rPr>
                        <a:t>人力资源管理</a:t>
                      </a:r>
                      <a:endParaRPr lang="zh-CN" altLang="en-US"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r>
              <a:tr h="478926">
                <a:tc>
                  <a:txBody>
                    <a:bodyPr/>
                    <a:lstStyle/>
                    <a:p>
                      <a:pPr algn="ctr" fontAlgn="ctr"/>
                      <a:r>
                        <a:rPr lang="en-US" altLang="zh-CN" sz="1600" b="0" i="0" u="none" strike="noStrike" dirty="0">
                          <a:solidFill>
                            <a:schemeClr val="tx1"/>
                          </a:solidFill>
                          <a:effectLst/>
                          <a:latin typeface="微软雅黑 Light" panose="020B0502040204020203" pitchFamily="34" charset="-122"/>
                          <a:ea typeface="微软雅黑 Light" panose="020B0502040204020203" pitchFamily="34" charset="-122"/>
                        </a:rPr>
                        <a:t>120204</a:t>
                      </a:r>
                      <a:endParaRPr lang="en-US" altLang="zh-CN"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c>
                  <a:txBody>
                    <a:bodyPr/>
                    <a:lstStyle/>
                    <a:p>
                      <a:pPr algn="ctr" fontAlgn="ctr"/>
                      <a:r>
                        <a:rPr lang="zh-CN" altLang="en-US" sz="1600" b="0" i="0" u="none" strike="noStrike" dirty="0">
                          <a:solidFill>
                            <a:schemeClr val="tx1"/>
                          </a:solidFill>
                          <a:effectLst/>
                          <a:latin typeface="微软雅黑 Light" panose="020B0502040204020203" pitchFamily="34" charset="-122"/>
                          <a:ea typeface="微软雅黑 Light" panose="020B0502040204020203" pitchFamily="34" charset="-122"/>
                        </a:rPr>
                        <a:t>财务管理</a:t>
                      </a:r>
                      <a:endParaRPr lang="zh-CN" altLang="en-US" sz="1600" b="0"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FF9933"/>
                    </a:solidFill>
                  </a:tcPr>
                </a:tc>
              </a:tr>
            </a:tbl>
          </a:graphicData>
        </a:graphic>
      </p:graphicFrame>
      <p:pic>
        <p:nvPicPr>
          <p:cNvPr id="11" name="Picture 2" descr="D:\历年招生\12招生\12招生简章\2012招生简章各学院汇总（改）\国际商学院\照片\实验课堂.jpg"/>
          <p:cNvPicPr>
            <a:picLocks noChangeAspect="1" noChangeArrowheads="1"/>
          </p:cNvPicPr>
          <p:nvPr/>
        </p:nvPicPr>
        <p:blipFill>
          <a:blip r:embed="rId1"/>
          <a:srcRect/>
          <a:stretch>
            <a:fillRect/>
          </a:stretch>
        </p:blipFill>
        <p:spPr bwMode="auto">
          <a:xfrm rot="21133535">
            <a:off x="1100813" y="5214744"/>
            <a:ext cx="1890713" cy="1260475"/>
          </a:xfrm>
          <a:prstGeom prst="rect">
            <a:avLst/>
          </a:prstGeom>
          <a:noFill/>
          <a:ln cmpd="dbl">
            <a:solidFill>
              <a:schemeClr val="tx1"/>
            </a:solidFill>
          </a:ln>
          <a:effectLst>
            <a:outerShdw blurRad="50800" dist="38100" dir="2700000" algn="tl" rotWithShape="0">
              <a:prstClr val="black">
                <a:alpha val="40000"/>
              </a:prstClr>
            </a:outerShdw>
          </a:effectLst>
        </p:spPr>
      </p:pic>
      <p:pic>
        <p:nvPicPr>
          <p:cNvPr id="13" name="Picture 4" descr="D:\历年招生\12招生\12招生简章\2012招生简章各学院汇总（改）\国际商学院\照片\国际商学院成立十周年庆典大会.jpg"/>
          <p:cNvPicPr>
            <a:picLocks noChangeAspect="1" noChangeArrowheads="1"/>
          </p:cNvPicPr>
          <p:nvPr/>
        </p:nvPicPr>
        <p:blipFill>
          <a:blip r:embed="rId2"/>
          <a:srcRect l="2895"/>
          <a:stretch>
            <a:fillRect/>
          </a:stretch>
        </p:blipFill>
        <p:spPr bwMode="auto">
          <a:xfrm rot="21194922">
            <a:off x="3475101" y="5168328"/>
            <a:ext cx="1835150" cy="1260475"/>
          </a:xfrm>
          <a:prstGeom prst="rect">
            <a:avLst/>
          </a:prstGeom>
          <a:noFill/>
          <a:ln cmpd="dbl">
            <a:solidFill>
              <a:schemeClr val="tx1"/>
            </a:solidFill>
          </a:ln>
          <a:effectLst>
            <a:outerShdw blurRad="50800" dist="38100" dir="2700000" algn="tl" rotWithShape="0">
              <a:prstClr val="black">
                <a:alpha val="40000"/>
              </a:prstClr>
            </a:outerShdw>
          </a:effectLst>
        </p:spPr>
      </p:pic>
      <p:grpSp>
        <p:nvGrpSpPr>
          <p:cNvPr id="14" name="组合 13"/>
          <p:cNvGrpSpPr/>
          <p:nvPr/>
        </p:nvGrpSpPr>
        <p:grpSpPr>
          <a:xfrm>
            <a:off x="494553" y="150818"/>
            <a:ext cx="9702392" cy="1125795"/>
            <a:chOff x="494553" y="150818"/>
            <a:chExt cx="9702392" cy="1125795"/>
          </a:xfrm>
        </p:grpSpPr>
        <p:grpSp>
          <p:nvGrpSpPr>
            <p:cNvPr id="15" name="组合 14"/>
            <p:cNvGrpSpPr/>
            <p:nvPr/>
          </p:nvGrpSpPr>
          <p:grpSpPr>
            <a:xfrm>
              <a:off x="494553" y="321393"/>
              <a:ext cx="5744845" cy="955220"/>
              <a:chOff x="494553" y="321393"/>
              <a:chExt cx="5744845" cy="955220"/>
            </a:xfrm>
          </p:grpSpPr>
          <p:sp>
            <p:nvSpPr>
              <p:cNvPr id="17" name="文本框 16"/>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18" name="文本框 17"/>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16" name="矩形 36"/>
            <p:cNvSpPr>
              <a:spLocks noChangeArrowheads="1"/>
            </p:cNvSpPr>
            <p:nvPr/>
          </p:nvSpPr>
          <p:spPr bwMode="auto">
            <a:xfrm>
              <a:off x="2997642" y="150818"/>
              <a:ext cx="7199303"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商学院</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1+#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320169" y="1554502"/>
            <a:ext cx="10023079" cy="1938992"/>
          </a:xfrm>
          <a:prstGeom prst="rect">
            <a:avLst/>
          </a:prstGeom>
          <a:noFill/>
        </p:spPr>
        <p:txBody>
          <a:bodyPr wrap="square" rtlCol="0">
            <a:spAutoFit/>
          </a:bodyPr>
          <a:lstStyle/>
          <a:p>
            <a:pPr>
              <a:lnSpc>
                <a:spcPct val="150000"/>
              </a:lnSpc>
            </a:pPr>
            <a:r>
              <a:rPr lang="zh-CN" altLang="en-US" sz="2000" dirty="0">
                <a:latin typeface="微软雅黑 Light" panose="020B0502040204020203" pitchFamily="34" charset="-122"/>
                <a:ea typeface="微软雅黑 Light" panose="020B0502040204020203" pitchFamily="34" charset="-122"/>
              </a:rPr>
              <a:t>    学院以“传承、传播、交流”为宗旨</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以国际艺术教育与传播为特色</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以培养高素质复合型艺术才为目标</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是一个</a:t>
            </a:r>
            <a:r>
              <a:rPr lang="zh-CN" altLang="en-US" sz="2000" b="1" dirty="0">
                <a:solidFill>
                  <a:srgbClr val="FF9933"/>
                </a:solidFill>
                <a:latin typeface="微软雅黑 Light" panose="020B0502040204020203" pitchFamily="34" charset="-122"/>
                <a:ea typeface="微软雅黑 Light" panose="020B0502040204020203" pitchFamily="34" charset="-122"/>
              </a:rPr>
              <a:t>国际化鲜明、教学成效突出、对外交流频繁</a:t>
            </a:r>
            <a:r>
              <a:rPr lang="zh-CN" altLang="en-US" sz="2000" dirty="0">
                <a:latin typeface="微软雅黑 Light" panose="020B0502040204020203" pitchFamily="34" charset="-122"/>
                <a:ea typeface="微软雅黑 Light" panose="020B0502040204020203" pitchFamily="34" charset="-122"/>
              </a:rPr>
              <a:t>的艺术教育研究单位。艺术学院目前设有绘画、书法学、音乐学</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音乐国际教育与传播</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三个本科专业</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面向国内外招收中外学生。</a:t>
            </a:r>
            <a:endParaRPr lang="en-US" altLang="zh-CN" sz="2000" dirty="0">
              <a:latin typeface="微软雅黑 Light" panose="020B0502040204020203" pitchFamily="34" charset="-122"/>
              <a:ea typeface="微软雅黑 Light" panose="020B0502040204020203" pitchFamily="34" charset="-122"/>
            </a:endParaRPr>
          </a:p>
        </p:txBody>
      </p:sp>
      <p:sp>
        <p:nvSpPr>
          <p:cNvPr id="8" name="矩形 7"/>
          <p:cNvSpPr/>
          <p:nvPr/>
        </p:nvSpPr>
        <p:spPr>
          <a:xfrm>
            <a:off x="1320170" y="3567395"/>
            <a:ext cx="8832015" cy="1384995"/>
          </a:xfrm>
          <a:prstGeom prst="rect">
            <a:avLst/>
          </a:prstGeom>
        </p:spPr>
        <p:txBody>
          <a:bodyPr wrap="square">
            <a:spAutoFit/>
          </a:bodyPr>
          <a:lstStyle/>
          <a:p>
            <a:pPr marL="342900" indent="-342900">
              <a:lnSpc>
                <a:spcPct val="150000"/>
              </a:lnSpc>
              <a:buFont typeface="Wingdings" panose="05000000000000000000" pitchFamily="2" charset="2"/>
              <a:buChar char="ü"/>
            </a:pPr>
            <a:r>
              <a:rPr lang="zh-CN" altLang="en-US" sz="2000" b="1" dirty="0">
                <a:latin typeface="微软雅黑 Light" panose="020B0502040204020203" pitchFamily="34" charset="-122"/>
                <a:ea typeface="微软雅黑 Light" panose="020B0502040204020203" pitchFamily="34" charset="-122"/>
              </a:rPr>
              <a:t>外语</a:t>
            </a:r>
            <a:r>
              <a:rPr lang="en-US" altLang="zh-CN" sz="2000" b="1" dirty="0">
                <a:latin typeface="微软雅黑 Light" panose="020B0502040204020203" pitchFamily="34" charset="-122"/>
                <a:ea typeface="微软雅黑 Light" panose="020B0502040204020203" pitchFamily="34" charset="-122"/>
              </a:rPr>
              <a:t>+</a:t>
            </a:r>
            <a:r>
              <a:rPr lang="zh-CN" altLang="en-US" sz="2000" b="1" dirty="0">
                <a:latin typeface="微软雅黑 Light" panose="020B0502040204020203" pitchFamily="34" charset="-122"/>
                <a:ea typeface="微软雅黑 Light" panose="020B0502040204020203" pitchFamily="34" charset="-122"/>
              </a:rPr>
              <a:t>专业，高端复合型艺术人才</a:t>
            </a:r>
            <a:endParaRPr lang="en-US" altLang="zh-CN" sz="2000" b="1" dirty="0">
              <a:latin typeface="微软雅黑 Light" panose="020B0502040204020203" pitchFamily="34" charset="-122"/>
              <a:ea typeface="微软雅黑 Light" panose="020B0502040204020203" pitchFamily="34" charset="-122"/>
            </a:endParaRPr>
          </a:p>
          <a:p>
            <a:pPr>
              <a:lnSpc>
                <a:spcPct val="150000"/>
              </a:lnSpc>
            </a:pPr>
            <a:r>
              <a:rPr lang="zh-CN" altLang="en-US" dirty="0">
                <a:latin typeface="微软雅黑 Light" panose="020B0502040204020203" pitchFamily="34" charset="-122"/>
                <a:ea typeface="微软雅黑 Light" panose="020B0502040204020203" pitchFamily="34" charset="-122"/>
              </a:rPr>
              <a:t>    对学生进行中国传统艺术素质的培养</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建立了一套适应时代需求</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又有中国文化特色的专业课程体系。</a:t>
            </a:r>
            <a:endParaRPr lang="en-US" altLang="zh-CN" dirty="0">
              <a:latin typeface="微软雅黑 Light" panose="020B0502040204020203" pitchFamily="34" charset="-122"/>
              <a:ea typeface="微软雅黑 Light" panose="020B0502040204020203" pitchFamily="34" charset="-122"/>
            </a:endParaRPr>
          </a:p>
        </p:txBody>
      </p:sp>
      <p:graphicFrame>
        <p:nvGraphicFramePr>
          <p:cNvPr id="4" name="表格 3"/>
          <p:cNvGraphicFramePr>
            <a:graphicFrameLocks noGrp="1"/>
          </p:cNvGraphicFramePr>
          <p:nvPr/>
        </p:nvGraphicFramePr>
        <p:xfrm>
          <a:off x="3884709" y="4797980"/>
          <a:ext cx="4719077" cy="1674560"/>
        </p:xfrm>
        <a:graphic>
          <a:graphicData uri="http://schemas.openxmlformats.org/drawingml/2006/table">
            <a:tbl>
              <a:tblPr>
                <a:tableStyleId>{638B1855-1B75-4FBE-930C-398BA8C253C6}</a:tableStyleId>
              </a:tblPr>
              <a:tblGrid>
                <a:gridCol w="1685364"/>
                <a:gridCol w="3033713"/>
              </a:tblGrid>
              <a:tr h="418640">
                <a:tc>
                  <a:txBody>
                    <a:bodyPr/>
                    <a:lstStyle/>
                    <a:p>
                      <a:pPr algn="ctr" fontAlgn="ctr"/>
                      <a:r>
                        <a:rPr lang="zh-CN" altLang="en-US" sz="1600" b="1" u="none" strike="noStrike" dirty="0">
                          <a:effectLst/>
                          <a:latin typeface="微软雅黑 Light" panose="020B0502040204020203" pitchFamily="34" charset="-122"/>
                          <a:ea typeface="微软雅黑 Light" panose="020B0502040204020203" pitchFamily="34" charset="-122"/>
                        </a:rPr>
                        <a:t>专业代码</a:t>
                      </a:r>
                      <a:endParaRPr lang="zh-CN" altLang="en-US" sz="1600" b="1" i="0" u="none" strike="noStrike" dirty="0">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600" b="1" u="none" strike="noStrike" dirty="0">
                          <a:effectLst/>
                          <a:latin typeface="微软雅黑 Light" panose="020B0502040204020203" pitchFamily="34" charset="-122"/>
                          <a:ea typeface="微软雅黑 Light" panose="020B0502040204020203" pitchFamily="34" charset="-122"/>
                        </a:rPr>
                        <a:t>专业方向</a:t>
                      </a:r>
                      <a:endParaRPr lang="zh-CN" altLang="en-US" sz="1600" b="1" i="0" u="none" strike="noStrike" dirty="0">
                        <a:effectLst/>
                        <a:latin typeface="微软雅黑 Light" panose="020B0502040204020203" pitchFamily="34" charset="-122"/>
                        <a:ea typeface="微软雅黑 Light" panose="020B0502040204020203" pitchFamily="34" charset="-122"/>
                      </a:endParaRPr>
                    </a:p>
                  </a:txBody>
                  <a:tcPr marL="6350" marR="6350" marT="6350" marB="0" anchor="ctr"/>
                </a:tc>
              </a:tr>
              <a:tr h="418640">
                <a:tc>
                  <a:txBody>
                    <a:bodyPr/>
                    <a:lstStyle/>
                    <a:p>
                      <a:pPr marL="0" algn="ctr" defTabSz="914400" rtl="0" eaLnBrk="1" fontAlgn="ctr" latinLnBrk="0" hangingPunct="1">
                        <a:spcAft>
                          <a:spcPts val="0"/>
                        </a:spcAft>
                      </a:pPr>
                      <a:r>
                        <a:rPr lang="en-US" sz="1600" u="none" strike="noStrike" kern="1200" dirty="0">
                          <a:effectLst/>
                          <a:latin typeface="微软雅黑 Light" panose="020B0502040204020203" pitchFamily="34" charset="-122"/>
                          <a:ea typeface="微软雅黑 Light" panose="020B0502040204020203" pitchFamily="34" charset="-122"/>
                        </a:rPr>
                        <a:t>130402</a:t>
                      </a:r>
                      <a:endParaRPr lang="zh-CN" sz="1600" u="none" strike="noStrike" kern="1200" dirty="0">
                        <a:solidFill>
                          <a:schemeClr val="dk1"/>
                        </a:solidFill>
                        <a:effectLst/>
                        <a:latin typeface="微软雅黑 Light" panose="020B0502040204020203" pitchFamily="34" charset="-122"/>
                        <a:ea typeface="微软雅黑 Light" panose="020B0502040204020203" pitchFamily="34" charset="-122"/>
                        <a:cs typeface="+mn-cs"/>
                      </a:endParaRPr>
                    </a:p>
                  </a:txBody>
                  <a:tcPr marL="68580" marR="68580" marT="0" marB="0" anchor="ctr"/>
                </a:tc>
                <a:tc>
                  <a:txBody>
                    <a:bodyPr/>
                    <a:lstStyle/>
                    <a:p>
                      <a:pPr marL="0" algn="ctr" defTabSz="914400" rtl="0" eaLnBrk="1" fontAlgn="ctr" latinLnBrk="0" hangingPunct="1">
                        <a:spcAft>
                          <a:spcPts val="0"/>
                        </a:spcAft>
                      </a:pPr>
                      <a:r>
                        <a:rPr lang="zh-CN" sz="1600" u="none" strike="noStrike" kern="1200" dirty="0">
                          <a:effectLst/>
                          <a:latin typeface="微软雅黑 Light" panose="020B0502040204020203" pitchFamily="34" charset="-122"/>
                          <a:ea typeface="微软雅黑 Light" panose="020B0502040204020203" pitchFamily="34" charset="-122"/>
                        </a:rPr>
                        <a:t>绘画</a:t>
                      </a:r>
                      <a:endParaRPr lang="zh-CN" sz="1600" u="none" strike="noStrike" kern="1200" dirty="0">
                        <a:solidFill>
                          <a:schemeClr val="dk1"/>
                        </a:solidFill>
                        <a:effectLst/>
                        <a:latin typeface="微软雅黑 Light" panose="020B0502040204020203" pitchFamily="34" charset="-122"/>
                        <a:ea typeface="微软雅黑 Light" panose="020B0502040204020203" pitchFamily="34" charset="-122"/>
                        <a:cs typeface="+mn-cs"/>
                      </a:endParaRPr>
                    </a:p>
                  </a:txBody>
                  <a:tcPr marL="68580" marR="68580" marT="0" marB="0" anchor="ctr"/>
                </a:tc>
              </a:tr>
              <a:tr h="418640">
                <a:tc>
                  <a:txBody>
                    <a:bodyPr/>
                    <a:lstStyle/>
                    <a:p>
                      <a:pPr marL="0" algn="ctr" defTabSz="914400" rtl="0" eaLnBrk="1" fontAlgn="ctr" latinLnBrk="0" hangingPunct="1">
                        <a:spcAft>
                          <a:spcPts val="0"/>
                        </a:spcAft>
                      </a:pPr>
                      <a:r>
                        <a:rPr lang="en-US" sz="1600" u="none" strike="noStrike" kern="1200" dirty="0">
                          <a:effectLst/>
                          <a:latin typeface="微软雅黑 Light" panose="020B0502040204020203" pitchFamily="34" charset="-122"/>
                          <a:ea typeface="微软雅黑 Light" panose="020B0502040204020203" pitchFamily="34" charset="-122"/>
                        </a:rPr>
                        <a:t>130405T</a:t>
                      </a:r>
                      <a:endParaRPr lang="zh-CN" sz="1600" u="none" strike="noStrike" kern="1200" dirty="0">
                        <a:solidFill>
                          <a:schemeClr val="dk1"/>
                        </a:solidFill>
                        <a:effectLst/>
                        <a:latin typeface="微软雅黑 Light" panose="020B0502040204020203" pitchFamily="34" charset="-122"/>
                        <a:ea typeface="微软雅黑 Light" panose="020B0502040204020203" pitchFamily="34" charset="-122"/>
                        <a:cs typeface="+mn-cs"/>
                      </a:endParaRPr>
                    </a:p>
                  </a:txBody>
                  <a:tcPr marL="68580" marR="68580" marT="0" marB="0" anchor="ctr"/>
                </a:tc>
                <a:tc>
                  <a:txBody>
                    <a:bodyPr/>
                    <a:lstStyle/>
                    <a:p>
                      <a:pPr marL="0" algn="ctr" defTabSz="914400" rtl="0" eaLnBrk="1" fontAlgn="ctr" latinLnBrk="0" hangingPunct="1">
                        <a:spcAft>
                          <a:spcPts val="0"/>
                        </a:spcAft>
                      </a:pPr>
                      <a:r>
                        <a:rPr lang="zh-CN" sz="1600" u="none" strike="noStrike" kern="1200" dirty="0">
                          <a:effectLst/>
                          <a:latin typeface="微软雅黑 Light" panose="020B0502040204020203" pitchFamily="34" charset="-122"/>
                          <a:ea typeface="微软雅黑 Light" panose="020B0502040204020203" pitchFamily="34" charset="-122"/>
                        </a:rPr>
                        <a:t>书法学</a:t>
                      </a:r>
                      <a:endParaRPr lang="zh-CN" sz="1600" u="none" strike="noStrike" kern="1200" dirty="0">
                        <a:solidFill>
                          <a:schemeClr val="dk1"/>
                        </a:solidFill>
                        <a:effectLst/>
                        <a:latin typeface="微软雅黑 Light" panose="020B0502040204020203" pitchFamily="34" charset="-122"/>
                        <a:ea typeface="微软雅黑 Light" panose="020B0502040204020203" pitchFamily="34" charset="-122"/>
                        <a:cs typeface="+mn-cs"/>
                      </a:endParaRPr>
                    </a:p>
                  </a:txBody>
                  <a:tcPr marL="68580" marR="68580" marT="0" marB="0" anchor="ctr"/>
                </a:tc>
              </a:tr>
              <a:tr h="418640">
                <a:tc>
                  <a:txBody>
                    <a:bodyPr/>
                    <a:lstStyle/>
                    <a:p>
                      <a:pPr marL="0" algn="ctr" defTabSz="914400" rtl="0" eaLnBrk="1" fontAlgn="ctr" latinLnBrk="0" hangingPunct="1">
                        <a:spcAft>
                          <a:spcPts val="0"/>
                        </a:spcAft>
                      </a:pPr>
                      <a:r>
                        <a:rPr lang="en-US" sz="1600" u="none" strike="noStrike" kern="1200">
                          <a:effectLst/>
                          <a:latin typeface="微软雅黑 Light" panose="020B0502040204020203" pitchFamily="34" charset="-122"/>
                          <a:ea typeface="微软雅黑 Light" panose="020B0502040204020203" pitchFamily="34" charset="-122"/>
                        </a:rPr>
                        <a:t>130202</a:t>
                      </a:r>
                      <a:endParaRPr lang="zh-CN" sz="1600" u="none" strike="noStrike" kern="1200">
                        <a:solidFill>
                          <a:schemeClr val="dk1"/>
                        </a:solidFill>
                        <a:effectLst/>
                        <a:latin typeface="微软雅黑 Light" panose="020B0502040204020203" pitchFamily="34" charset="-122"/>
                        <a:ea typeface="微软雅黑 Light" panose="020B0502040204020203" pitchFamily="34" charset="-122"/>
                        <a:cs typeface="+mn-cs"/>
                      </a:endParaRPr>
                    </a:p>
                  </a:txBody>
                  <a:tcPr marL="68580" marR="68580" marT="0" marB="0" anchor="ctr"/>
                </a:tc>
                <a:tc>
                  <a:txBody>
                    <a:bodyPr/>
                    <a:lstStyle/>
                    <a:p>
                      <a:pPr marL="0" algn="ctr" defTabSz="914400" rtl="0" eaLnBrk="1" fontAlgn="ctr" latinLnBrk="0" hangingPunct="1">
                        <a:spcAft>
                          <a:spcPts val="0"/>
                        </a:spcAft>
                      </a:pPr>
                      <a:r>
                        <a:rPr lang="zh-CN" sz="1600" u="none" strike="noStrike" kern="1200" dirty="0">
                          <a:effectLst/>
                          <a:latin typeface="微软雅黑 Light" panose="020B0502040204020203" pitchFamily="34" charset="-122"/>
                          <a:ea typeface="微软雅黑 Light" panose="020B0502040204020203" pitchFamily="34" charset="-122"/>
                        </a:rPr>
                        <a:t>音乐学</a:t>
                      </a:r>
                      <a:r>
                        <a:rPr lang="en-US" sz="1600" u="none" strike="noStrike" kern="1200" dirty="0">
                          <a:effectLst/>
                          <a:latin typeface="微软雅黑 Light" panose="020B0502040204020203" pitchFamily="34" charset="-122"/>
                          <a:ea typeface="微软雅黑 Light" panose="020B0502040204020203" pitchFamily="34" charset="-122"/>
                        </a:rPr>
                        <a:t>(</a:t>
                      </a:r>
                      <a:r>
                        <a:rPr lang="zh-CN" sz="1600" u="none" strike="noStrike" kern="1200" dirty="0">
                          <a:effectLst/>
                          <a:latin typeface="微软雅黑 Light" panose="020B0502040204020203" pitchFamily="34" charset="-122"/>
                          <a:ea typeface="微软雅黑 Light" panose="020B0502040204020203" pitchFamily="34" charset="-122"/>
                        </a:rPr>
                        <a:t>音乐国际教育与传播</a:t>
                      </a:r>
                      <a:r>
                        <a:rPr lang="en-US" sz="1600" u="none" strike="noStrike" kern="1200" dirty="0">
                          <a:effectLst/>
                          <a:latin typeface="微软雅黑 Light" panose="020B0502040204020203" pitchFamily="34" charset="-122"/>
                          <a:ea typeface="微软雅黑 Light" panose="020B0502040204020203" pitchFamily="34" charset="-122"/>
                        </a:rPr>
                        <a:t>)</a:t>
                      </a:r>
                      <a:endParaRPr lang="zh-CN" sz="1600" u="none" strike="noStrike" kern="1200" dirty="0">
                        <a:solidFill>
                          <a:schemeClr val="dk1"/>
                        </a:solidFill>
                        <a:effectLst/>
                        <a:latin typeface="微软雅黑 Light" panose="020B0502040204020203" pitchFamily="34" charset="-122"/>
                        <a:ea typeface="微软雅黑 Light" panose="020B0502040204020203" pitchFamily="34" charset="-122"/>
                        <a:cs typeface="+mn-cs"/>
                      </a:endParaRPr>
                    </a:p>
                  </a:txBody>
                  <a:tcPr marL="68580" marR="68580" marT="0" marB="0" anchor="ctr"/>
                </a:tc>
              </a:tr>
            </a:tbl>
          </a:graphicData>
        </a:graphic>
      </p:graphicFrame>
      <p:pic>
        <p:nvPicPr>
          <p:cNvPr id="11" name="Picture 14" descr="X:\11宣传ppt\宣传材料\ppt图片\图片19.jpg"/>
          <p:cNvPicPr>
            <a:picLocks noChangeAspect="1" noChangeArrowheads="1"/>
          </p:cNvPicPr>
          <p:nvPr/>
        </p:nvPicPr>
        <p:blipFill>
          <a:blip r:embed="rId1"/>
          <a:srcRect/>
          <a:stretch>
            <a:fillRect/>
          </a:stretch>
        </p:blipFill>
        <p:spPr bwMode="auto">
          <a:xfrm>
            <a:off x="8782474" y="4797980"/>
            <a:ext cx="2560774" cy="1708282"/>
          </a:xfrm>
          <a:prstGeom prst="rect">
            <a:avLst/>
          </a:prstGeom>
          <a:noFill/>
          <a:ln w="9525" cmpd="sng">
            <a:solidFill>
              <a:schemeClr val="tx1"/>
            </a:solidFill>
            <a:miter lim="800000"/>
            <a:headEnd/>
            <a:tailEnd/>
          </a:ln>
          <a:effectLst>
            <a:outerShdw blurRad="50800" dist="38100" dir="2700000" algn="tl" rotWithShape="0">
              <a:prstClr val="black">
                <a:alpha val="40000"/>
              </a:prstClr>
            </a:outerShdw>
          </a:effectLst>
        </p:spPr>
      </p:pic>
      <p:grpSp>
        <p:nvGrpSpPr>
          <p:cNvPr id="13" name="组合 12"/>
          <p:cNvGrpSpPr/>
          <p:nvPr/>
        </p:nvGrpSpPr>
        <p:grpSpPr>
          <a:xfrm>
            <a:off x="494553" y="150818"/>
            <a:ext cx="9702392" cy="1125795"/>
            <a:chOff x="494553" y="150818"/>
            <a:chExt cx="9702392" cy="1125795"/>
          </a:xfrm>
        </p:grpSpPr>
        <p:grpSp>
          <p:nvGrpSpPr>
            <p:cNvPr id="14" name="组合 13"/>
            <p:cNvGrpSpPr/>
            <p:nvPr/>
          </p:nvGrpSpPr>
          <p:grpSpPr>
            <a:xfrm>
              <a:off x="494553" y="321393"/>
              <a:ext cx="5744845" cy="955220"/>
              <a:chOff x="494553" y="321393"/>
              <a:chExt cx="5744845" cy="955220"/>
            </a:xfrm>
          </p:grpSpPr>
          <p:sp>
            <p:nvSpPr>
              <p:cNvPr id="16" name="文本框 1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17" name="文本框 1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15" name="矩形 36"/>
            <p:cNvSpPr>
              <a:spLocks noChangeArrowheads="1"/>
            </p:cNvSpPr>
            <p:nvPr/>
          </p:nvSpPr>
          <p:spPr bwMode="auto">
            <a:xfrm>
              <a:off x="2997642" y="150818"/>
              <a:ext cx="7199303"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a:t>
              </a:r>
              <a:r>
                <a:rPr lang="zh-CN" altLang="en-US" sz="2400" b="1" i="1" spc="300" dirty="0">
                  <a:solidFill>
                    <a:srgbClr val="24C6DB"/>
                  </a:solidFill>
                  <a:latin typeface="黑体" panose="02010609060101010101" pitchFamily="49" charset="-122"/>
                  <a:ea typeface="黑体" panose="02010609060101010101" pitchFamily="49" charset="-122"/>
                </a:rPr>
                <a:t> 艺术学院</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1419" y="1627643"/>
            <a:ext cx="10076657" cy="1938992"/>
          </a:xfrm>
          <a:prstGeom prst="rect">
            <a:avLst/>
          </a:prstGeom>
          <a:noFill/>
        </p:spPr>
        <p:txBody>
          <a:bodyPr wrap="square" rtlCol="0">
            <a:spAutoFit/>
          </a:bodyPr>
          <a:lstStyle/>
          <a:p>
            <a:pPr>
              <a:lnSpc>
                <a:spcPct val="150000"/>
              </a:lnSpc>
            </a:pPr>
            <a:r>
              <a:rPr lang="zh-CN" altLang="en-US" sz="2000" dirty="0">
                <a:latin typeface="微软雅黑 Light" panose="020B0502040204020203" pitchFamily="34" charset="-122"/>
                <a:ea typeface="微软雅黑 Light" panose="020B0502040204020203" pitchFamily="34" charset="-122"/>
              </a:rPr>
              <a:t>    语言康复学院学院下设语言病理与脑科学研究所、语言障碍与脑科学</a:t>
            </a:r>
            <a:r>
              <a:rPr lang="en-US" altLang="zh-CN" sz="2000" dirty="0">
                <a:latin typeface="微软雅黑 Light" panose="020B0502040204020203" pitchFamily="34" charset="-122"/>
                <a:ea typeface="微软雅黑 Light" panose="020B0502040204020203" pitchFamily="34" charset="-122"/>
              </a:rPr>
              <a:t>MEG</a:t>
            </a:r>
            <a:r>
              <a:rPr lang="zh-CN" altLang="en-US" sz="2000" dirty="0">
                <a:latin typeface="微软雅黑 Light" panose="020B0502040204020203" pitchFamily="34" charset="-122"/>
                <a:ea typeface="微软雅黑 Light" panose="020B0502040204020203" pitchFamily="34" charset="-122"/>
              </a:rPr>
              <a:t>实验室两个实体研究机构和语言听力康复中心、自闭症研究中心、儿童认知语言发展中心三个科研中心。</a:t>
            </a:r>
            <a:r>
              <a:rPr lang="en-US" altLang="zh-CN" sz="2000" b="1" dirty="0">
                <a:solidFill>
                  <a:srgbClr val="FF9933"/>
                </a:solidFill>
                <a:latin typeface="微软雅黑 Light" panose="020B0502040204020203" pitchFamily="34" charset="-122"/>
                <a:ea typeface="微软雅黑 Light" panose="020B0502040204020203" pitchFamily="34" charset="-122"/>
              </a:rPr>
              <a:t>2017</a:t>
            </a:r>
            <a:r>
              <a:rPr lang="zh-CN" altLang="en-US" sz="2000" b="1" dirty="0">
                <a:solidFill>
                  <a:srgbClr val="FF9933"/>
                </a:solidFill>
                <a:latin typeface="微软雅黑 Light" panose="020B0502040204020203" pitchFamily="34" charset="-122"/>
                <a:ea typeface="微软雅黑 Light" panose="020B0502040204020203" pitchFamily="34" charset="-122"/>
              </a:rPr>
              <a:t>年加入“中俄美国际孤独症联盟”，是该联盟对儿童语言认知和脑机制问题研究在中国的重要科研基地。</a:t>
            </a:r>
            <a:endParaRPr lang="en-US" altLang="zh-CN" sz="2000" b="1" dirty="0">
              <a:solidFill>
                <a:srgbClr val="FF9933"/>
              </a:solidFill>
              <a:latin typeface="微软雅黑 Light" panose="020B0502040204020203" pitchFamily="34" charset="-122"/>
              <a:ea typeface="微软雅黑 Light" panose="020B0502040204020203" pitchFamily="34" charset="-122"/>
            </a:endParaRPr>
          </a:p>
        </p:txBody>
      </p:sp>
      <p:graphicFrame>
        <p:nvGraphicFramePr>
          <p:cNvPr id="4" name="表格 3"/>
          <p:cNvGraphicFramePr>
            <a:graphicFrameLocks noGrp="1"/>
          </p:cNvGraphicFramePr>
          <p:nvPr/>
        </p:nvGraphicFramePr>
        <p:xfrm>
          <a:off x="6143812" y="3303556"/>
          <a:ext cx="4955597" cy="975804"/>
        </p:xfrm>
        <a:graphic>
          <a:graphicData uri="http://schemas.openxmlformats.org/drawingml/2006/table">
            <a:tbl>
              <a:tblPr>
                <a:tableStyleId>{327F97BB-C833-4FB7-BDE5-3F7075034690}</a:tableStyleId>
              </a:tblPr>
              <a:tblGrid>
                <a:gridCol w="1830713"/>
                <a:gridCol w="3124884"/>
              </a:tblGrid>
              <a:tr h="487902">
                <a:tc>
                  <a:txBody>
                    <a:bodyPr/>
                    <a:lstStyle/>
                    <a:p>
                      <a:pPr algn="ctr" fontAlgn="ctr"/>
                      <a:r>
                        <a:rPr lang="zh-CN" altLang="en-US" sz="1600" b="1" u="none" strike="noStrike" dirty="0">
                          <a:solidFill>
                            <a:schemeClr val="tx1"/>
                          </a:solidFill>
                          <a:effectLst/>
                          <a:latin typeface="微软雅黑 Light" panose="020B0502040204020203" pitchFamily="34" charset="-122"/>
                          <a:ea typeface="微软雅黑 Light" panose="020B0502040204020203" pitchFamily="34" charset="-122"/>
                        </a:rPr>
                        <a:t>专业代码</a:t>
                      </a:r>
                      <a:endParaRPr lang="zh-CN" altLang="en-US" sz="1600" b="1"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1600" b="1" u="none" strike="noStrike" dirty="0">
                          <a:solidFill>
                            <a:schemeClr val="tx1"/>
                          </a:solidFill>
                          <a:effectLst/>
                          <a:latin typeface="微软雅黑 Light" panose="020B0502040204020203" pitchFamily="34" charset="-122"/>
                          <a:ea typeface="微软雅黑 Light" panose="020B0502040204020203" pitchFamily="34" charset="-122"/>
                        </a:rPr>
                        <a:t>专业名称</a:t>
                      </a:r>
                      <a:endParaRPr lang="zh-CN" altLang="en-US" sz="1600" b="1" i="0" u="none" strike="noStrike" dirty="0">
                        <a:solidFill>
                          <a:schemeClr val="tx1"/>
                        </a:solidFill>
                        <a:effectLst/>
                        <a:latin typeface="微软雅黑 Light" panose="020B0502040204020203" pitchFamily="34" charset="-122"/>
                        <a:ea typeface="微软雅黑 Light" panose="020B0502040204020203" pitchFamily="34" charset="-122"/>
                      </a:endParaRPr>
                    </a:p>
                  </a:txBody>
                  <a:tcPr marL="6350" marR="6350" marT="6350" marB="0" anchor="ctr"/>
                </a:tc>
              </a:tr>
              <a:tr h="487902">
                <a:tc>
                  <a:txBody>
                    <a:bodyPr/>
                    <a:lstStyle/>
                    <a:p>
                      <a:pPr marL="0" algn="ctr" defTabSz="914400" rtl="0" eaLnBrk="1" fontAlgn="ctr" latinLnBrk="0" hangingPunct="1">
                        <a:spcAft>
                          <a:spcPts val="0"/>
                        </a:spcAft>
                      </a:pPr>
                      <a:r>
                        <a:rPr lang="en-US" sz="1600" u="none" strike="noStrike" kern="1200" dirty="0">
                          <a:solidFill>
                            <a:schemeClr val="tx1"/>
                          </a:solidFill>
                          <a:effectLst/>
                          <a:latin typeface="微软雅黑 Light" panose="020B0502040204020203" pitchFamily="34" charset="-122"/>
                          <a:ea typeface="微软雅黑 Light" panose="020B0502040204020203" pitchFamily="34" charset="-122"/>
                        </a:rPr>
                        <a:t>040108</a:t>
                      </a:r>
                      <a:endParaRPr lang="zh-CN" sz="1600" u="none" strike="noStrike" kern="1200" dirty="0">
                        <a:solidFill>
                          <a:schemeClr val="tx1"/>
                        </a:solidFill>
                        <a:effectLst/>
                        <a:latin typeface="微软雅黑 Light" panose="020B0502040204020203" pitchFamily="34" charset="-122"/>
                        <a:ea typeface="微软雅黑 Light" panose="020B0502040204020203" pitchFamily="34" charset="-122"/>
                        <a:cs typeface="+mn-cs"/>
                      </a:endParaRPr>
                    </a:p>
                  </a:txBody>
                  <a:tcPr marL="68580" marR="68580" marT="0" marB="0" anchor="ctr"/>
                </a:tc>
                <a:tc>
                  <a:txBody>
                    <a:bodyPr/>
                    <a:lstStyle/>
                    <a:p>
                      <a:pPr marL="0" algn="ctr" defTabSz="914400" rtl="0" eaLnBrk="1" fontAlgn="ctr" latinLnBrk="0" hangingPunct="1">
                        <a:spcAft>
                          <a:spcPts val="0"/>
                        </a:spcAft>
                      </a:pPr>
                      <a:r>
                        <a:rPr lang="zh-CN" sz="1600" u="none" strike="noStrike" kern="1200" dirty="0">
                          <a:solidFill>
                            <a:schemeClr val="tx1"/>
                          </a:solidFill>
                          <a:effectLst/>
                          <a:latin typeface="微软雅黑 Light" panose="020B0502040204020203" pitchFamily="34" charset="-122"/>
                          <a:ea typeface="微软雅黑 Light" panose="020B0502040204020203" pitchFamily="34" charset="-122"/>
                        </a:rPr>
                        <a:t>特殊教育</a:t>
                      </a:r>
                      <a:r>
                        <a:rPr lang="en-US" sz="1600" u="none" strike="noStrike" kern="1200" dirty="0">
                          <a:solidFill>
                            <a:schemeClr val="tx1"/>
                          </a:solidFill>
                          <a:effectLst/>
                          <a:latin typeface="微软雅黑 Light" panose="020B0502040204020203" pitchFamily="34" charset="-122"/>
                          <a:ea typeface="微软雅黑 Light" panose="020B0502040204020203" pitchFamily="34" charset="-122"/>
                        </a:rPr>
                        <a:t>(</a:t>
                      </a:r>
                      <a:r>
                        <a:rPr lang="zh-CN" sz="1600" u="none" strike="noStrike" kern="1200" dirty="0">
                          <a:solidFill>
                            <a:schemeClr val="tx1"/>
                          </a:solidFill>
                          <a:effectLst/>
                          <a:latin typeface="微软雅黑 Light" panose="020B0502040204020203" pitchFamily="34" charset="-122"/>
                          <a:ea typeface="微软雅黑 Light" panose="020B0502040204020203" pitchFamily="34" charset="-122"/>
                        </a:rPr>
                        <a:t>言语听觉科学</a:t>
                      </a:r>
                      <a:r>
                        <a:rPr lang="en-US" sz="1600" u="none" strike="noStrike" kern="1200" dirty="0">
                          <a:solidFill>
                            <a:schemeClr val="tx1"/>
                          </a:solidFill>
                          <a:effectLst/>
                          <a:latin typeface="微软雅黑 Light" panose="020B0502040204020203" pitchFamily="34" charset="-122"/>
                          <a:ea typeface="微软雅黑 Light" panose="020B0502040204020203" pitchFamily="34" charset="-122"/>
                        </a:rPr>
                        <a:t>)</a:t>
                      </a:r>
                      <a:endParaRPr lang="zh-CN" sz="1600" u="none" strike="noStrike" kern="1200" dirty="0">
                        <a:solidFill>
                          <a:schemeClr val="tx1"/>
                        </a:solidFill>
                        <a:effectLst/>
                        <a:latin typeface="微软雅黑 Light" panose="020B0502040204020203" pitchFamily="34" charset="-122"/>
                        <a:ea typeface="微软雅黑 Light" panose="020B0502040204020203" pitchFamily="34" charset="-122"/>
                        <a:cs typeface="+mn-cs"/>
                      </a:endParaRPr>
                    </a:p>
                  </a:txBody>
                  <a:tcPr marL="68580" marR="68580" marT="0" marB="0" anchor="ctr"/>
                </a:tc>
              </a:tr>
            </a:tbl>
          </a:graphicData>
        </a:graphic>
      </p:graphicFrame>
      <p:sp>
        <p:nvSpPr>
          <p:cNvPr id="11" name="矩形 10"/>
          <p:cNvSpPr/>
          <p:nvPr/>
        </p:nvSpPr>
        <p:spPr>
          <a:xfrm>
            <a:off x="1191419" y="3746013"/>
            <a:ext cx="4468968" cy="2862322"/>
          </a:xfrm>
          <a:prstGeom prst="rect">
            <a:avLst/>
          </a:prstGeom>
        </p:spPr>
        <p:txBody>
          <a:bodyPr wrap="square">
            <a:spAutoFit/>
          </a:bodyPr>
          <a:lstStyle/>
          <a:p>
            <a:pPr marL="342900" indent="-342900">
              <a:lnSpc>
                <a:spcPct val="150000"/>
              </a:lnSpc>
              <a:buFont typeface="Wingdings" panose="05000000000000000000" pitchFamily="2" charset="2"/>
              <a:buChar char="ü"/>
            </a:pPr>
            <a:r>
              <a:rPr lang="zh-CN" altLang="en-US" sz="2000" dirty="0">
                <a:latin typeface="微软雅黑 Light" panose="020B0502040204020203" pitchFamily="34" charset="-122"/>
                <a:ea typeface="微软雅黑 Light" panose="020B0502040204020203" pitchFamily="34" charset="-122"/>
              </a:rPr>
              <a:t>国内第一个儿童脑磁图实验室</a:t>
            </a:r>
            <a:endParaRPr lang="en-US" altLang="zh-CN" sz="2000" dirty="0">
              <a:latin typeface="微软雅黑 Light" panose="020B0502040204020203" pitchFamily="34" charset="-122"/>
              <a:ea typeface="微软雅黑 Light" panose="020B0502040204020203" pitchFamily="34" charset="-122"/>
            </a:endParaRPr>
          </a:p>
          <a:p>
            <a:pPr marL="342900" indent="-342900">
              <a:lnSpc>
                <a:spcPct val="150000"/>
              </a:lnSpc>
              <a:buFont typeface="Wingdings" panose="05000000000000000000" pitchFamily="2" charset="2"/>
              <a:buChar char="ü"/>
            </a:pPr>
            <a:r>
              <a:rPr lang="zh-CN" altLang="en-US" sz="2000" dirty="0">
                <a:latin typeface="微软雅黑 Light" panose="020B0502040204020203" pitchFamily="34" charset="-122"/>
                <a:ea typeface="微软雅黑 Light" panose="020B0502040204020203" pitchFamily="34" charset="-122"/>
              </a:rPr>
              <a:t>与美国北卡罗来纳州中央大学联合培养硕士生</a:t>
            </a:r>
            <a:endParaRPr lang="en-US" altLang="zh-CN" sz="2000" dirty="0">
              <a:latin typeface="微软雅黑 Light" panose="020B0502040204020203" pitchFamily="34" charset="-122"/>
              <a:ea typeface="微软雅黑 Light" panose="020B0502040204020203" pitchFamily="34" charset="-122"/>
            </a:endParaRPr>
          </a:p>
          <a:p>
            <a:pPr marL="342900" indent="-342900">
              <a:lnSpc>
                <a:spcPct val="150000"/>
              </a:lnSpc>
              <a:buFont typeface="Wingdings" panose="05000000000000000000" pitchFamily="2" charset="2"/>
              <a:buChar char="ü"/>
            </a:pPr>
            <a:r>
              <a:rPr lang="zh-CN" altLang="en-US" sz="2000" dirty="0">
                <a:latin typeface="微软雅黑 Light" panose="020B0502040204020203" pitchFamily="34" charset="-122"/>
                <a:ea typeface="微软雅黑 Light" panose="020B0502040204020203" pitchFamily="34" charset="-122"/>
              </a:rPr>
              <a:t>与澳大利亚、美国、荷兰、日本等国际知名大学开展学术合作交流</a:t>
            </a:r>
            <a:endParaRPr lang="en-US" altLang="zh-CN" sz="2000" dirty="0">
              <a:latin typeface="微软雅黑 Light" panose="020B0502040204020203" pitchFamily="34" charset="-122"/>
              <a:ea typeface="微软雅黑 Light" panose="020B0502040204020203" pitchFamily="34" charset="-122"/>
            </a:endParaRPr>
          </a:p>
          <a:p>
            <a:pPr marL="342900" indent="-342900">
              <a:lnSpc>
                <a:spcPct val="150000"/>
              </a:lnSpc>
              <a:buFont typeface="Wingdings" panose="05000000000000000000" pitchFamily="2" charset="2"/>
              <a:buChar char="ü"/>
            </a:pPr>
            <a:endParaRPr lang="en-US" altLang="zh-CN" sz="2000" dirty="0">
              <a:latin typeface="+mn-ea"/>
            </a:endParaRPr>
          </a:p>
        </p:txBody>
      </p:sp>
      <p:pic>
        <p:nvPicPr>
          <p:cNvPr id="1032" name="Picture 8" descr="嘉宾致辞"/>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43812" y="4497833"/>
            <a:ext cx="2611535" cy="173928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34" name="Picture 10" descr="http://news.blcu.edu.cn/__local/D/9B/FA/1EB76B93C75B70DE67E4B09201E_08D73D44_8F7C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55347" y="4479532"/>
            <a:ext cx="2344062" cy="175758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13" name="组合 12"/>
          <p:cNvGrpSpPr/>
          <p:nvPr/>
        </p:nvGrpSpPr>
        <p:grpSpPr>
          <a:xfrm>
            <a:off x="494553" y="150818"/>
            <a:ext cx="9702392" cy="1125795"/>
            <a:chOff x="494553" y="150818"/>
            <a:chExt cx="9702392" cy="1125795"/>
          </a:xfrm>
        </p:grpSpPr>
        <p:grpSp>
          <p:nvGrpSpPr>
            <p:cNvPr id="14" name="组合 13"/>
            <p:cNvGrpSpPr/>
            <p:nvPr/>
          </p:nvGrpSpPr>
          <p:grpSpPr>
            <a:xfrm>
              <a:off x="494553" y="321393"/>
              <a:ext cx="5744845" cy="955220"/>
              <a:chOff x="494553" y="321393"/>
              <a:chExt cx="5744845" cy="955220"/>
            </a:xfrm>
          </p:grpSpPr>
          <p:sp>
            <p:nvSpPr>
              <p:cNvPr id="16" name="文本框 1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17" name="文本框 1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15" name="矩形 36"/>
            <p:cNvSpPr>
              <a:spLocks noChangeArrowheads="1"/>
            </p:cNvSpPr>
            <p:nvPr/>
          </p:nvSpPr>
          <p:spPr bwMode="auto">
            <a:xfrm>
              <a:off x="2997642" y="150818"/>
              <a:ext cx="7199303" cy="83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a:t>
              </a:r>
              <a:r>
                <a:rPr lang="zh-CN" altLang="en-US" sz="2400" b="1" i="1" spc="300" dirty="0">
                  <a:solidFill>
                    <a:srgbClr val="24C6DB"/>
                  </a:solidFill>
                  <a:latin typeface="黑体" panose="02010609060101010101" pitchFamily="49" charset="-122"/>
                  <a:ea typeface="黑体" panose="02010609060101010101" pitchFamily="49" charset="-122"/>
                </a:rPr>
                <a:t> 语言康复学院</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76338" y="1523860"/>
            <a:ext cx="9725025" cy="1477328"/>
          </a:xfrm>
          <a:prstGeom prst="rect">
            <a:avLst/>
          </a:prstGeom>
          <a:noFill/>
        </p:spPr>
        <p:txBody>
          <a:bodyPr wrap="square" rtlCol="0">
            <a:spAutoFit/>
          </a:bodyPr>
          <a:lstStyle/>
          <a:p>
            <a:pPr>
              <a:lnSpc>
                <a:spcPct val="150000"/>
              </a:lnSpc>
            </a:pPr>
            <a:r>
              <a:rPr lang="zh-CN" altLang="en-US" sz="2000" dirty="0">
                <a:solidFill>
                  <a:srgbClr val="222222"/>
                </a:solidFill>
                <a:latin typeface="微软雅黑 Light" panose="020B0502040204020203" pitchFamily="34" charset="-122"/>
                <a:ea typeface="微软雅黑 Light" panose="020B0502040204020203" pitchFamily="34" charset="-122"/>
              </a:rPr>
              <a:t>    自建校之日起，北语就把</a:t>
            </a:r>
            <a:r>
              <a:rPr lang="zh-CN" altLang="en-US" sz="2000" dirty="0">
                <a:latin typeface="微软雅黑 Light" panose="020B0502040204020203" pitchFamily="34" charset="-122"/>
                <a:ea typeface="微软雅黑 Light" panose="020B0502040204020203" pitchFamily="34" charset="-122"/>
              </a:rPr>
              <a:t>建设语言学相关学科</a:t>
            </a:r>
            <a:r>
              <a:rPr lang="zh-CN" altLang="en-US" sz="2000" dirty="0">
                <a:solidFill>
                  <a:srgbClr val="222222"/>
                </a:solidFill>
                <a:latin typeface="微软雅黑 Light" panose="020B0502040204020203" pitchFamily="34" charset="-122"/>
                <a:ea typeface="微软雅黑 Light" panose="020B0502040204020203" pitchFamily="34" charset="-122"/>
              </a:rPr>
              <a:t>作为自己的办学目标，</a:t>
            </a:r>
            <a:r>
              <a:rPr lang="en-US" altLang="zh-CN" sz="2000" dirty="0">
                <a:solidFill>
                  <a:srgbClr val="222222"/>
                </a:solidFill>
                <a:latin typeface="微软雅黑 Light" panose="020B0502040204020203" pitchFamily="34" charset="-122"/>
                <a:ea typeface="微软雅黑 Light" panose="020B0502040204020203" pitchFamily="34" charset="-122"/>
              </a:rPr>
              <a:t>2018</a:t>
            </a:r>
            <a:r>
              <a:rPr lang="zh-CN" altLang="en-US" sz="2000" dirty="0">
                <a:solidFill>
                  <a:srgbClr val="222222"/>
                </a:solidFill>
                <a:latin typeface="微软雅黑 Light" panose="020B0502040204020203" pitchFamily="34" charset="-122"/>
                <a:ea typeface="微软雅黑 Light" panose="020B0502040204020203" pitchFamily="34" charset="-122"/>
              </a:rPr>
              <a:t>年</a:t>
            </a:r>
            <a:r>
              <a:rPr lang="en-US" altLang="zh-CN" sz="2000" dirty="0">
                <a:solidFill>
                  <a:srgbClr val="222222"/>
                </a:solidFill>
                <a:latin typeface="微软雅黑 Light" panose="020B0502040204020203" pitchFamily="34" charset="-122"/>
                <a:ea typeface="微软雅黑 Light" panose="020B0502040204020203" pitchFamily="34" charset="-122"/>
              </a:rPr>
              <a:t>10</a:t>
            </a:r>
            <a:r>
              <a:rPr lang="zh-CN" altLang="en-US" sz="2000" dirty="0">
                <a:solidFill>
                  <a:srgbClr val="222222"/>
                </a:solidFill>
                <a:latin typeface="微软雅黑 Light" panose="020B0502040204020203" pitchFamily="34" charset="-122"/>
                <a:ea typeface="微软雅黑 Light" panose="020B0502040204020203" pitchFamily="34" charset="-122"/>
              </a:rPr>
              <a:t>月</a:t>
            </a:r>
            <a:r>
              <a:rPr lang="en-US" altLang="zh-CN" sz="2000" dirty="0">
                <a:solidFill>
                  <a:srgbClr val="222222"/>
                </a:solidFill>
                <a:latin typeface="微软雅黑 Light" panose="020B0502040204020203" pitchFamily="34" charset="-122"/>
                <a:ea typeface="微软雅黑 Light" panose="020B0502040204020203" pitchFamily="34" charset="-122"/>
              </a:rPr>
              <a:t>29</a:t>
            </a:r>
            <a:r>
              <a:rPr lang="zh-CN" altLang="en-US" sz="2000" dirty="0">
                <a:solidFill>
                  <a:srgbClr val="222222"/>
                </a:solidFill>
                <a:latin typeface="微软雅黑 Light" panose="020B0502040204020203" pitchFamily="34" charset="-122"/>
                <a:ea typeface="微软雅黑 Light" panose="020B0502040204020203" pitchFamily="34" charset="-122"/>
              </a:rPr>
              <a:t>日，</a:t>
            </a:r>
            <a:r>
              <a:rPr lang="zh-CN" altLang="en-US" sz="2000" b="1" dirty="0">
                <a:solidFill>
                  <a:srgbClr val="FF9933"/>
                </a:solidFill>
                <a:latin typeface="微软雅黑 Light" panose="020B0502040204020203" pitchFamily="34" charset="-122"/>
                <a:ea typeface="微软雅黑 Light" panose="020B0502040204020203" pitchFamily="34" charset="-122"/>
              </a:rPr>
              <a:t>北语在国内率先成立语言学系， </a:t>
            </a:r>
            <a:r>
              <a:rPr lang="en-US" altLang="zh-CN" sz="2000" b="1" dirty="0">
                <a:solidFill>
                  <a:srgbClr val="FF9933"/>
                </a:solidFill>
                <a:latin typeface="微软雅黑 Light" panose="020B0502040204020203" pitchFamily="34" charset="-122"/>
                <a:ea typeface="微软雅黑 Light" panose="020B0502040204020203" pitchFamily="34" charset="-122"/>
              </a:rPr>
              <a:t>“</a:t>
            </a:r>
            <a:r>
              <a:rPr lang="zh-CN" altLang="en-US" sz="2000" b="1" dirty="0">
                <a:solidFill>
                  <a:srgbClr val="FF9933"/>
                </a:solidFill>
                <a:latin typeface="微软雅黑 Light" panose="020B0502040204020203" pitchFamily="34" charset="-122"/>
                <a:ea typeface="微软雅黑 Light" panose="020B0502040204020203" pitchFamily="34" charset="-122"/>
              </a:rPr>
              <a:t>语言学</a:t>
            </a:r>
            <a:r>
              <a:rPr lang="en-US" altLang="zh-CN" sz="2000" b="1" dirty="0">
                <a:solidFill>
                  <a:srgbClr val="FF9933"/>
                </a:solidFill>
                <a:latin typeface="微软雅黑 Light" panose="020B0502040204020203" pitchFamily="34" charset="-122"/>
                <a:ea typeface="微软雅黑 Light" panose="020B0502040204020203" pitchFamily="34" charset="-122"/>
              </a:rPr>
              <a:t>”</a:t>
            </a:r>
            <a:r>
              <a:rPr lang="zh-CN" altLang="en-US" sz="2000" b="1">
                <a:solidFill>
                  <a:srgbClr val="FF9933"/>
                </a:solidFill>
                <a:latin typeface="微软雅黑 Light" panose="020B0502040204020203" pitchFamily="34" charset="-122"/>
                <a:ea typeface="微软雅黑 Light" panose="020B0502040204020203" pitchFamily="34" charset="-122"/>
              </a:rPr>
              <a:t>专业成为</a:t>
            </a:r>
            <a:r>
              <a:rPr lang="zh-CN" altLang="en-US" sz="2000" b="1" dirty="0">
                <a:solidFill>
                  <a:srgbClr val="FF9933"/>
                </a:solidFill>
                <a:latin typeface="微软雅黑 Light" panose="020B0502040204020203" pitchFamily="34" charset="-122"/>
                <a:ea typeface="微软雅黑 Light" panose="020B0502040204020203" pitchFamily="34" charset="-122"/>
              </a:rPr>
              <a:t>国家首批</a:t>
            </a:r>
            <a:r>
              <a:rPr lang="en-US" altLang="zh-CN" sz="2000" b="1" dirty="0">
                <a:solidFill>
                  <a:srgbClr val="FF9933"/>
                </a:solidFill>
                <a:latin typeface="微软雅黑 Light" panose="020B0502040204020203" pitchFamily="34" charset="-122"/>
                <a:ea typeface="微软雅黑 Light" panose="020B0502040204020203" pitchFamily="34" charset="-122"/>
              </a:rPr>
              <a:t>“</a:t>
            </a:r>
            <a:r>
              <a:rPr lang="zh-CN" altLang="en-US" sz="2000" b="1" dirty="0">
                <a:solidFill>
                  <a:srgbClr val="FF9933"/>
                </a:solidFill>
                <a:latin typeface="微软雅黑 Light" panose="020B0502040204020203" pitchFamily="34" charset="-122"/>
                <a:ea typeface="微软雅黑 Light" panose="020B0502040204020203" pitchFamily="34" charset="-122"/>
              </a:rPr>
              <a:t>语言学</a:t>
            </a:r>
            <a:r>
              <a:rPr lang="en-US" altLang="zh-CN" sz="2000" b="1" dirty="0">
                <a:solidFill>
                  <a:srgbClr val="FF9933"/>
                </a:solidFill>
                <a:latin typeface="微软雅黑 Light" panose="020B0502040204020203" pitchFamily="34" charset="-122"/>
                <a:ea typeface="微软雅黑 Light" panose="020B0502040204020203" pitchFamily="34" charset="-122"/>
              </a:rPr>
              <a:t>”</a:t>
            </a:r>
            <a:r>
              <a:rPr lang="zh-CN" altLang="en-US" sz="2000" b="1" dirty="0">
                <a:solidFill>
                  <a:srgbClr val="FF9933"/>
                </a:solidFill>
                <a:latin typeface="微软雅黑 Light" panose="020B0502040204020203" pitchFamily="34" charset="-122"/>
                <a:ea typeface="微软雅黑 Light" panose="020B0502040204020203" pitchFamily="34" charset="-122"/>
              </a:rPr>
              <a:t>本科专业</a:t>
            </a:r>
            <a:r>
              <a:rPr lang="zh-CN" altLang="en-US" sz="2000" dirty="0">
                <a:solidFill>
                  <a:srgbClr val="222222"/>
                </a:solidFill>
                <a:latin typeface="微软雅黑 Light" panose="020B0502040204020203" pitchFamily="34" charset="-122"/>
                <a:ea typeface="微软雅黑 Light" panose="020B0502040204020203" pitchFamily="34" charset="-122"/>
              </a:rPr>
              <a:t>。语言学设置于“外国语言文学”一级学科下，毕业可授予文学学士学位。</a:t>
            </a:r>
            <a:endParaRPr lang="zh-CN" altLang="en-US" sz="2000" dirty="0">
              <a:latin typeface="微软雅黑 Light" panose="020B0502040204020203" pitchFamily="34" charset="-122"/>
              <a:ea typeface="微软雅黑 Light" panose="020B0502040204020203" pitchFamily="34" charset="-122"/>
            </a:endParaRPr>
          </a:p>
        </p:txBody>
      </p:sp>
      <p:sp>
        <p:nvSpPr>
          <p:cNvPr id="8" name="矩形 7"/>
          <p:cNvSpPr/>
          <p:nvPr/>
        </p:nvSpPr>
        <p:spPr>
          <a:xfrm>
            <a:off x="1299837" y="3863919"/>
            <a:ext cx="5653278" cy="1886607"/>
          </a:xfrm>
          <a:prstGeom prst="rect">
            <a:avLst/>
          </a:prstGeom>
        </p:spPr>
        <p:txBody>
          <a:bodyPr wrap="square">
            <a:spAutoFit/>
          </a:bodyPr>
          <a:lstStyle/>
          <a:p>
            <a:pPr marL="342900" indent="-342900">
              <a:lnSpc>
                <a:spcPct val="150000"/>
              </a:lnSpc>
              <a:buFont typeface="Wingdings" panose="05000000000000000000" pitchFamily="2" charset="2"/>
              <a:buChar char="ü"/>
            </a:pPr>
            <a:r>
              <a:rPr lang="zh-CN" altLang="en-US" sz="2000" dirty="0">
                <a:latin typeface="微软雅黑 Light" panose="020B0502040204020203" pitchFamily="34" charset="-122"/>
                <a:ea typeface="微软雅黑 Light" panose="020B0502040204020203" pitchFamily="34" charset="-122"/>
              </a:rPr>
              <a:t>“语言认知科学引智中心”成员单位</a:t>
            </a:r>
            <a:endParaRPr lang="en-US" altLang="zh-CN" sz="2000" dirty="0">
              <a:latin typeface="微软雅黑 Light" panose="020B0502040204020203" pitchFamily="34" charset="-122"/>
              <a:ea typeface="微软雅黑 Light" panose="020B0502040204020203" pitchFamily="34" charset="-122"/>
            </a:endParaRPr>
          </a:p>
          <a:p>
            <a:pPr marL="342900" indent="-342900">
              <a:lnSpc>
                <a:spcPct val="150000"/>
              </a:lnSpc>
              <a:buFont typeface="Wingdings" panose="05000000000000000000" pitchFamily="2" charset="2"/>
              <a:buChar char="ü"/>
            </a:pPr>
            <a:r>
              <a:rPr lang="zh-CN" altLang="en-US" sz="2000" dirty="0">
                <a:latin typeface="微软雅黑 Light" panose="020B0502040204020203" pitchFamily="34" charset="-122"/>
                <a:ea typeface="微软雅黑 Light" panose="020B0502040204020203" pitchFamily="34" charset="-122"/>
              </a:rPr>
              <a:t>本硕博一体化人才培养体系</a:t>
            </a:r>
            <a:endParaRPr lang="en-US" altLang="zh-CN" sz="2000" dirty="0">
              <a:latin typeface="微软雅黑 Light" panose="020B0502040204020203" pitchFamily="34" charset="-122"/>
              <a:ea typeface="微软雅黑 Light" panose="020B0502040204020203" pitchFamily="34" charset="-122"/>
            </a:endParaRPr>
          </a:p>
          <a:p>
            <a:pPr marL="342900" indent="-342900">
              <a:lnSpc>
                <a:spcPct val="150000"/>
              </a:lnSpc>
              <a:buFont typeface="Wingdings" panose="05000000000000000000" pitchFamily="2" charset="2"/>
              <a:buChar char="ü"/>
            </a:pPr>
            <a:r>
              <a:rPr lang="zh-CN" altLang="en-US" sz="2000" dirty="0">
                <a:latin typeface="微软雅黑 Light" panose="020B0502040204020203" pitchFamily="34" charset="-122"/>
                <a:ea typeface="微软雅黑 Light" panose="020B0502040204020203" pitchFamily="34" charset="-122"/>
              </a:rPr>
              <a:t>专业化、年轻化、国际化师资队伍</a:t>
            </a:r>
            <a:endParaRPr lang="en-US" altLang="zh-CN" sz="2000" dirty="0">
              <a:latin typeface="微软雅黑 Light" panose="020B0502040204020203" pitchFamily="34" charset="-122"/>
              <a:ea typeface="微软雅黑 Light" panose="020B0502040204020203" pitchFamily="34" charset="-122"/>
            </a:endParaRPr>
          </a:p>
          <a:p>
            <a:pPr marL="342900" indent="-342900">
              <a:lnSpc>
                <a:spcPct val="150000"/>
              </a:lnSpc>
              <a:buFont typeface="Wingdings" panose="05000000000000000000" pitchFamily="2" charset="2"/>
              <a:buChar char="ü"/>
            </a:pPr>
            <a:r>
              <a:rPr lang="zh-CN" altLang="en-US" sz="2000" dirty="0">
                <a:latin typeface="微软雅黑 Light" panose="020B0502040204020203" pitchFamily="34" charset="-122"/>
                <a:ea typeface="微软雅黑 Light" panose="020B0502040204020203" pitchFamily="34" charset="-122"/>
              </a:rPr>
              <a:t>“导师制”：学业和生涯发展指导</a:t>
            </a:r>
            <a:endParaRPr lang="en-US" altLang="zh-CN" sz="2000" dirty="0">
              <a:latin typeface="微软雅黑 Light" panose="020B0502040204020203" pitchFamily="34" charset="-122"/>
              <a:ea typeface="微软雅黑 Light" panose="020B0502040204020203" pitchFamily="34" charset="-122"/>
            </a:endParaRPr>
          </a:p>
        </p:txBody>
      </p:sp>
      <p:sp>
        <p:nvSpPr>
          <p:cNvPr id="9" name="矩形 8"/>
          <p:cNvSpPr/>
          <p:nvPr/>
        </p:nvSpPr>
        <p:spPr>
          <a:xfrm>
            <a:off x="6400800" y="3173900"/>
            <a:ext cx="4360056" cy="646331"/>
          </a:xfrm>
          <a:prstGeom prst="rect">
            <a:avLst/>
          </a:prstGeom>
          <a:solidFill>
            <a:srgbClr val="3890C2"/>
          </a:solidFill>
        </p:spPr>
        <p:style>
          <a:lnRef idx="0">
            <a:schemeClr val="accent4"/>
          </a:lnRef>
          <a:fillRef idx="3">
            <a:schemeClr val="accent4"/>
          </a:fillRef>
          <a:effectRef idx="3">
            <a:schemeClr val="accent4"/>
          </a:effectRef>
          <a:fontRef idx="minor">
            <a:schemeClr val="lt1"/>
          </a:fontRef>
        </p:style>
        <p:txBody>
          <a:bodyPr wrap="square">
            <a:spAutoFit/>
          </a:bodyPr>
          <a:lstStyle/>
          <a:p>
            <a:r>
              <a:rPr lang="zh-CN" altLang="en-US" b="1" dirty="0">
                <a:solidFill>
                  <a:srgbClr val="000000"/>
                </a:solidFill>
                <a:latin typeface="微软雅黑 Light" panose="020B0502040204020203" pitchFamily="34" charset="-122"/>
                <a:ea typeface="微软雅黑 Light" panose="020B0502040204020203" pitchFamily="34" charset="-122"/>
              </a:rPr>
              <a:t>专业代码	专业名称	</a:t>
            </a:r>
            <a:endParaRPr lang="zh-CN" altLang="en-US" b="1" dirty="0">
              <a:solidFill>
                <a:srgbClr val="000000"/>
              </a:solidFill>
              <a:latin typeface="微软雅黑 Light" panose="020B0502040204020203" pitchFamily="34" charset="-122"/>
              <a:ea typeface="微软雅黑 Light" panose="020B0502040204020203" pitchFamily="34" charset="-122"/>
            </a:endParaRPr>
          </a:p>
          <a:p>
            <a:r>
              <a:rPr lang="en-US" altLang="zh-CN" dirty="0">
                <a:solidFill>
                  <a:srgbClr val="000000"/>
                </a:solidFill>
                <a:latin typeface="微软雅黑 Light" panose="020B0502040204020203" pitchFamily="34" charset="-122"/>
                <a:ea typeface="微软雅黑 Light" panose="020B0502040204020203" pitchFamily="34" charset="-122"/>
              </a:rPr>
              <a:t>0502100T	</a:t>
            </a:r>
            <a:r>
              <a:rPr lang="zh-CN" altLang="en-US" dirty="0">
                <a:solidFill>
                  <a:srgbClr val="000000"/>
                </a:solidFill>
                <a:latin typeface="微软雅黑 Light" panose="020B0502040204020203" pitchFamily="34" charset="-122"/>
                <a:ea typeface="微软雅黑 Light" panose="020B0502040204020203" pitchFamily="34" charset="-122"/>
              </a:rPr>
              <a:t>语言学</a:t>
            </a:r>
            <a:r>
              <a:rPr lang="zh-CN" altLang="en-US" dirty="0">
                <a:solidFill>
                  <a:srgbClr val="000000"/>
                </a:solidFill>
                <a:latin typeface="宋体" panose="02010600030101010101" pitchFamily="2" charset="-122"/>
              </a:rPr>
              <a:t>	</a:t>
            </a:r>
            <a:endParaRPr lang="zh-CN" altLang="en-US" dirty="0">
              <a:solidFill>
                <a:srgbClr val="000000"/>
              </a:solidFill>
              <a:latin typeface="宋体" panose="02010600030101010101" pitchFamily="2" charset="-122"/>
            </a:endParaRPr>
          </a:p>
        </p:txBody>
      </p:sp>
      <p:pic>
        <p:nvPicPr>
          <p:cNvPr id="11" name="Picture 4" descr="揭牌仪式_副本"/>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00800" y="4068706"/>
            <a:ext cx="4360056" cy="23544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13" name="组合 12"/>
          <p:cNvGrpSpPr/>
          <p:nvPr/>
        </p:nvGrpSpPr>
        <p:grpSpPr>
          <a:xfrm>
            <a:off x="494553" y="150818"/>
            <a:ext cx="9702392" cy="1125795"/>
            <a:chOff x="494553" y="150818"/>
            <a:chExt cx="9702392" cy="1125795"/>
          </a:xfrm>
        </p:grpSpPr>
        <p:grpSp>
          <p:nvGrpSpPr>
            <p:cNvPr id="14" name="组合 13"/>
            <p:cNvGrpSpPr/>
            <p:nvPr/>
          </p:nvGrpSpPr>
          <p:grpSpPr>
            <a:xfrm>
              <a:off x="494553" y="321393"/>
              <a:ext cx="5744845" cy="955220"/>
              <a:chOff x="494553" y="321393"/>
              <a:chExt cx="5744845" cy="955220"/>
            </a:xfrm>
          </p:grpSpPr>
          <p:sp>
            <p:nvSpPr>
              <p:cNvPr id="16" name="文本框 15"/>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17" name="文本框 16"/>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15" name="矩形 36"/>
            <p:cNvSpPr>
              <a:spLocks noChangeArrowheads="1"/>
            </p:cNvSpPr>
            <p:nvPr/>
          </p:nvSpPr>
          <p:spPr bwMode="auto">
            <a:xfrm>
              <a:off x="2997642" y="150818"/>
              <a:ext cx="719930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语言学系</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任意多边形: 形状 1"/>
          <p:cNvSpPr/>
          <p:nvPr/>
        </p:nvSpPr>
        <p:spPr>
          <a:xfrm>
            <a:off x="2097070" y="2545011"/>
            <a:ext cx="3463960" cy="542925"/>
          </a:xfrm>
          <a:custGeom>
            <a:avLst/>
            <a:gdLst>
              <a:gd name="connsiteX0" fmla="*/ 622247 w 8963760"/>
              <a:gd name="connsiteY0" fmla="*/ 0 h 1404938"/>
              <a:gd name="connsiteX1" fmla="*/ 8963760 w 8963760"/>
              <a:gd name="connsiteY1" fmla="*/ 0 h 1404938"/>
              <a:gd name="connsiteX2" fmla="*/ 8341513 w 8963760"/>
              <a:gd name="connsiteY2" fmla="*/ 1404938 h 1404938"/>
              <a:gd name="connsiteX3" fmla="*/ 0 w 8963760"/>
              <a:gd name="connsiteY3" fmla="*/ 1404938 h 1404938"/>
            </a:gdLst>
            <a:ahLst/>
            <a:cxnLst>
              <a:cxn ang="0">
                <a:pos x="connsiteX0" y="connsiteY0"/>
              </a:cxn>
              <a:cxn ang="0">
                <a:pos x="connsiteX1" y="connsiteY1"/>
              </a:cxn>
              <a:cxn ang="0">
                <a:pos x="connsiteX2" y="connsiteY2"/>
              </a:cxn>
              <a:cxn ang="0">
                <a:pos x="connsiteX3" y="connsiteY3"/>
              </a:cxn>
            </a:cxnLst>
            <a:rect l="l" t="t" r="r" b="b"/>
            <a:pathLst>
              <a:path w="8963760" h="1404938">
                <a:moveTo>
                  <a:pt x="622247" y="0"/>
                </a:moveTo>
                <a:lnTo>
                  <a:pt x="8963760" y="0"/>
                </a:lnTo>
                <a:lnTo>
                  <a:pt x="8341513" y="1404938"/>
                </a:lnTo>
                <a:lnTo>
                  <a:pt x="0" y="1404938"/>
                </a:lnTo>
                <a:close/>
              </a:path>
            </a:pathLst>
          </a:custGeom>
          <a:solidFill>
            <a:srgbClr val="24C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p:nvSpPr>
        <p:spPr>
          <a:xfrm>
            <a:off x="6683435" y="3176039"/>
            <a:ext cx="3463960" cy="542925"/>
          </a:xfrm>
          <a:custGeom>
            <a:avLst/>
            <a:gdLst>
              <a:gd name="connsiteX0" fmla="*/ 622247 w 8963760"/>
              <a:gd name="connsiteY0" fmla="*/ 0 h 1404938"/>
              <a:gd name="connsiteX1" fmla="*/ 8963760 w 8963760"/>
              <a:gd name="connsiteY1" fmla="*/ 0 h 1404938"/>
              <a:gd name="connsiteX2" fmla="*/ 8341513 w 8963760"/>
              <a:gd name="connsiteY2" fmla="*/ 1404938 h 1404938"/>
              <a:gd name="connsiteX3" fmla="*/ 0 w 8963760"/>
              <a:gd name="connsiteY3" fmla="*/ 1404938 h 1404938"/>
            </a:gdLst>
            <a:ahLst/>
            <a:cxnLst>
              <a:cxn ang="0">
                <a:pos x="connsiteX0" y="connsiteY0"/>
              </a:cxn>
              <a:cxn ang="0">
                <a:pos x="connsiteX1" y="connsiteY1"/>
              </a:cxn>
              <a:cxn ang="0">
                <a:pos x="connsiteX2" y="connsiteY2"/>
              </a:cxn>
              <a:cxn ang="0">
                <a:pos x="connsiteX3" y="connsiteY3"/>
              </a:cxn>
            </a:cxnLst>
            <a:rect l="l" t="t" r="r" b="b"/>
            <a:pathLst>
              <a:path w="8963760" h="1404938">
                <a:moveTo>
                  <a:pt x="622247" y="0"/>
                </a:moveTo>
                <a:lnTo>
                  <a:pt x="8963760" y="0"/>
                </a:lnTo>
                <a:lnTo>
                  <a:pt x="8341513" y="1404938"/>
                </a:lnTo>
                <a:lnTo>
                  <a:pt x="0" y="1404938"/>
                </a:lnTo>
                <a:close/>
              </a:path>
            </a:pathLst>
          </a:custGeom>
          <a:solidFill>
            <a:srgbClr val="3890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p:cNvSpPr/>
          <p:nvPr/>
        </p:nvSpPr>
        <p:spPr>
          <a:xfrm>
            <a:off x="2097070" y="4351792"/>
            <a:ext cx="3463960" cy="542925"/>
          </a:xfrm>
          <a:custGeom>
            <a:avLst/>
            <a:gdLst>
              <a:gd name="connsiteX0" fmla="*/ 622247 w 8963760"/>
              <a:gd name="connsiteY0" fmla="*/ 0 h 1404938"/>
              <a:gd name="connsiteX1" fmla="*/ 8963760 w 8963760"/>
              <a:gd name="connsiteY1" fmla="*/ 0 h 1404938"/>
              <a:gd name="connsiteX2" fmla="*/ 8341513 w 8963760"/>
              <a:gd name="connsiteY2" fmla="*/ 1404938 h 1404938"/>
              <a:gd name="connsiteX3" fmla="*/ 0 w 8963760"/>
              <a:gd name="connsiteY3" fmla="*/ 1404938 h 1404938"/>
            </a:gdLst>
            <a:ahLst/>
            <a:cxnLst>
              <a:cxn ang="0">
                <a:pos x="connsiteX0" y="connsiteY0"/>
              </a:cxn>
              <a:cxn ang="0">
                <a:pos x="connsiteX1" y="connsiteY1"/>
              </a:cxn>
              <a:cxn ang="0">
                <a:pos x="connsiteX2" y="connsiteY2"/>
              </a:cxn>
              <a:cxn ang="0">
                <a:pos x="connsiteX3" y="connsiteY3"/>
              </a:cxn>
            </a:cxnLst>
            <a:rect l="l" t="t" r="r" b="b"/>
            <a:pathLst>
              <a:path w="8963760" h="1404938">
                <a:moveTo>
                  <a:pt x="622247" y="0"/>
                </a:moveTo>
                <a:lnTo>
                  <a:pt x="8963760" y="0"/>
                </a:lnTo>
                <a:lnTo>
                  <a:pt x="8341513" y="1404938"/>
                </a:lnTo>
                <a:lnTo>
                  <a:pt x="0" y="1404938"/>
                </a:lnTo>
                <a:close/>
              </a:path>
            </a:pathLst>
          </a:custGeom>
          <a:solidFill>
            <a:srgbClr val="3890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p:cNvSpPr/>
          <p:nvPr/>
        </p:nvSpPr>
        <p:spPr>
          <a:xfrm>
            <a:off x="6630970" y="5257725"/>
            <a:ext cx="3463960" cy="542925"/>
          </a:xfrm>
          <a:custGeom>
            <a:avLst/>
            <a:gdLst>
              <a:gd name="connsiteX0" fmla="*/ 622247 w 8963760"/>
              <a:gd name="connsiteY0" fmla="*/ 0 h 1404938"/>
              <a:gd name="connsiteX1" fmla="*/ 8963760 w 8963760"/>
              <a:gd name="connsiteY1" fmla="*/ 0 h 1404938"/>
              <a:gd name="connsiteX2" fmla="*/ 8341513 w 8963760"/>
              <a:gd name="connsiteY2" fmla="*/ 1404938 h 1404938"/>
              <a:gd name="connsiteX3" fmla="*/ 0 w 8963760"/>
              <a:gd name="connsiteY3" fmla="*/ 1404938 h 1404938"/>
            </a:gdLst>
            <a:ahLst/>
            <a:cxnLst>
              <a:cxn ang="0">
                <a:pos x="connsiteX0" y="connsiteY0"/>
              </a:cxn>
              <a:cxn ang="0">
                <a:pos x="connsiteX1" y="connsiteY1"/>
              </a:cxn>
              <a:cxn ang="0">
                <a:pos x="connsiteX2" y="connsiteY2"/>
              </a:cxn>
              <a:cxn ang="0">
                <a:pos x="connsiteX3" y="connsiteY3"/>
              </a:cxn>
            </a:cxnLst>
            <a:rect l="l" t="t" r="r" b="b"/>
            <a:pathLst>
              <a:path w="8963760" h="1404938">
                <a:moveTo>
                  <a:pt x="622247" y="0"/>
                </a:moveTo>
                <a:lnTo>
                  <a:pt x="8963760" y="0"/>
                </a:lnTo>
                <a:lnTo>
                  <a:pt x="8341513" y="1404938"/>
                </a:lnTo>
                <a:lnTo>
                  <a:pt x="0" y="1404938"/>
                </a:lnTo>
                <a:close/>
              </a:path>
            </a:pathLst>
          </a:custGeom>
          <a:solidFill>
            <a:srgbClr val="24C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flipH="1">
            <a:off x="2967276" y="2585641"/>
            <a:ext cx="1723549" cy="461665"/>
          </a:xfrm>
          <a:prstGeom prst="rect">
            <a:avLst/>
          </a:prstGeom>
          <a:noFill/>
        </p:spPr>
        <p:txBody>
          <a:bodyPr wrap="none" rtlCol="0">
            <a:spAutoFit/>
            <a:scene3d>
              <a:camera prst="orthographicFront"/>
              <a:lightRig rig="threePt" dir="t"/>
            </a:scene3d>
            <a:sp3d contourW="12700"/>
          </a:bodyPr>
          <a:lstStyle/>
          <a:p>
            <a:r>
              <a:rPr lang="zh-CN" altLang="en-US" sz="2400" i="1" spc="600" dirty="0">
                <a:solidFill>
                  <a:schemeClr val="bg1"/>
                </a:solidFill>
                <a:latin typeface="黑体" panose="02010609060101010101" pitchFamily="49" charset="-122"/>
                <a:ea typeface="黑体" panose="02010609060101010101" pitchFamily="49" charset="-122"/>
              </a:rPr>
              <a:t>提前批次</a:t>
            </a:r>
            <a:endParaRPr lang="zh-CN" altLang="en-US" sz="2400" i="1" spc="600" dirty="0">
              <a:solidFill>
                <a:schemeClr val="bg1"/>
              </a:solidFill>
              <a:latin typeface="黑体" panose="02010609060101010101" pitchFamily="49" charset="-122"/>
              <a:ea typeface="黑体" panose="02010609060101010101" pitchFamily="49" charset="-122"/>
            </a:endParaRPr>
          </a:p>
        </p:txBody>
      </p:sp>
      <p:sp>
        <p:nvSpPr>
          <p:cNvPr id="10" name="文本框 9"/>
          <p:cNvSpPr txBox="1"/>
          <p:nvPr/>
        </p:nvSpPr>
        <p:spPr>
          <a:xfrm flipH="1">
            <a:off x="2967276" y="4392421"/>
            <a:ext cx="1723549" cy="461665"/>
          </a:xfrm>
          <a:prstGeom prst="rect">
            <a:avLst/>
          </a:prstGeom>
          <a:noFill/>
        </p:spPr>
        <p:txBody>
          <a:bodyPr wrap="none" rtlCol="0">
            <a:spAutoFit/>
            <a:scene3d>
              <a:camera prst="orthographicFront"/>
              <a:lightRig rig="threePt" dir="t"/>
            </a:scene3d>
            <a:sp3d contourW="12700"/>
          </a:bodyPr>
          <a:lstStyle/>
          <a:p>
            <a:r>
              <a:rPr lang="zh-CN" altLang="en-US" sz="2400" i="1" spc="600" dirty="0">
                <a:solidFill>
                  <a:schemeClr val="bg1"/>
                </a:solidFill>
                <a:latin typeface="黑体" panose="02010609060101010101" pitchFamily="49" charset="-122"/>
                <a:ea typeface="黑体" panose="02010609060101010101" pitchFamily="49" charset="-122"/>
              </a:rPr>
              <a:t>特殊类型</a:t>
            </a:r>
            <a:endParaRPr lang="zh-CN" altLang="en-US" sz="2400" i="1" spc="600" dirty="0">
              <a:solidFill>
                <a:schemeClr val="bg1"/>
              </a:solidFill>
              <a:latin typeface="黑体" panose="02010609060101010101" pitchFamily="49" charset="-122"/>
              <a:ea typeface="黑体" panose="02010609060101010101" pitchFamily="49" charset="-122"/>
            </a:endParaRPr>
          </a:p>
        </p:txBody>
      </p:sp>
      <p:sp>
        <p:nvSpPr>
          <p:cNvPr id="11" name="文本框 10"/>
          <p:cNvSpPr txBox="1"/>
          <p:nvPr/>
        </p:nvSpPr>
        <p:spPr>
          <a:xfrm flipH="1">
            <a:off x="6891416" y="3202837"/>
            <a:ext cx="3262432" cy="461665"/>
          </a:xfrm>
          <a:prstGeom prst="rect">
            <a:avLst/>
          </a:prstGeom>
          <a:noFill/>
        </p:spPr>
        <p:txBody>
          <a:bodyPr wrap="none" rtlCol="0">
            <a:spAutoFit/>
            <a:scene3d>
              <a:camera prst="orthographicFront"/>
              <a:lightRig rig="threePt" dir="t"/>
            </a:scene3d>
            <a:sp3d contourW="12700"/>
          </a:bodyPr>
          <a:lstStyle/>
          <a:p>
            <a:r>
              <a:rPr lang="zh-CN" altLang="en-US" sz="2400" i="1" spc="600" dirty="0">
                <a:solidFill>
                  <a:schemeClr val="bg1"/>
                </a:solidFill>
                <a:latin typeface="黑体" panose="02010609060101010101" pitchFamily="49" charset="-122"/>
                <a:ea typeface="黑体" panose="02010609060101010101" pitchFamily="49" charset="-122"/>
              </a:rPr>
              <a:t>普通本科（一批）</a:t>
            </a:r>
            <a:endParaRPr lang="zh-CN" altLang="en-US" sz="2400" i="1" spc="600" dirty="0">
              <a:solidFill>
                <a:schemeClr val="bg1"/>
              </a:solidFill>
              <a:latin typeface="黑体" panose="02010609060101010101" pitchFamily="49" charset="-122"/>
              <a:ea typeface="黑体" panose="02010609060101010101" pitchFamily="49" charset="-122"/>
            </a:endParaRPr>
          </a:p>
        </p:txBody>
      </p:sp>
      <p:sp>
        <p:nvSpPr>
          <p:cNvPr id="12" name="文本框 11"/>
          <p:cNvSpPr txBox="1"/>
          <p:nvPr/>
        </p:nvSpPr>
        <p:spPr>
          <a:xfrm flipH="1">
            <a:off x="7501175" y="5298354"/>
            <a:ext cx="1723549" cy="461665"/>
          </a:xfrm>
          <a:prstGeom prst="rect">
            <a:avLst/>
          </a:prstGeom>
          <a:noFill/>
        </p:spPr>
        <p:txBody>
          <a:bodyPr wrap="none" rtlCol="0">
            <a:spAutoFit/>
            <a:scene3d>
              <a:camera prst="orthographicFront"/>
              <a:lightRig rig="threePt" dir="t"/>
            </a:scene3d>
            <a:sp3d contourW="12700"/>
          </a:bodyPr>
          <a:lstStyle/>
          <a:p>
            <a:r>
              <a:rPr lang="zh-CN" altLang="en-US" sz="2400" i="1" spc="600" dirty="0">
                <a:solidFill>
                  <a:schemeClr val="bg1"/>
                </a:solidFill>
                <a:latin typeface="黑体" panose="02010609060101010101" pitchFamily="49" charset="-122"/>
                <a:ea typeface="黑体" panose="02010609060101010101" pitchFamily="49" charset="-122"/>
              </a:rPr>
              <a:t>国家专项</a:t>
            </a:r>
            <a:endParaRPr lang="zh-CN" altLang="en-US" sz="2400" i="1" spc="600" dirty="0">
              <a:solidFill>
                <a:schemeClr val="bg1"/>
              </a:solidFill>
              <a:latin typeface="黑体" panose="02010609060101010101" pitchFamily="49" charset="-122"/>
              <a:ea typeface="黑体" panose="02010609060101010101" pitchFamily="49" charset="-122"/>
            </a:endParaRPr>
          </a:p>
        </p:txBody>
      </p:sp>
      <p:sp>
        <p:nvSpPr>
          <p:cNvPr id="13" name="文本框 12"/>
          <p:cNvSpPr txBox="1"/>
          <p:nvPr/>
        </p:nvSpPr>
        <p:spPr>
          <a:xfrm>
            <a:off x="2068494" y="3214290"/>
            <a:ext cx="3435302" cy="732508"/>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招生规模约 </a:t>
            </a:r>
            <a:r>
              <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300</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人</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小语种专业</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不需校考，文理兼收</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，直接填报志愿</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
        <p:nvSpPr>
          <p:cNvPr id="14" name="文本框 13"/>
          <p:cNvSpPr txBox="1"/>
          <p:nvPr/>
        </p:nvSpPr>
        <p:spPr>
          <a:xfrm>
            <a:off x="2068494" y="5020056"/>
            <a:ext cx="3284555"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招生规模约 </a:t>
            </a:r>
            <a:r>
              <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100</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人</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外语类保送、艺术类、志行计划</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预科生、民族班和港澳台等</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
        <p:nvSpPr>
          <p:cNvPr id="15" name="文本框 14"/>
          <p:cNvSpPr txBox="1"/>
          <p:nvPr/>
        </p:nvSpPr>
        <p:spPr>
          <a:xfrm>
            <a:off x="6361233" y="3843107"/>
            <a:ext cx="3903894" cy="1052596"/>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招生规模约 </a:t>
            </a:r>
            <a:r>
              <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600</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人，</a:t>
            </a:r>
            <a:r>
              <a:rPr lang="zh-CN" altLang="en-US" sz="1600" dirty="0">
                <a:solidFill>
                  <a:schemeClr val="bg2">
                    <a:lumMod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多数专业</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文理兼收</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gn="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英语、翻译、复语、汉语国际教育、</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gn="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计算机类、金融、语言学</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等其他</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全部专业</a:t>
            </a:r>
            <a:endPar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sp>
        <p:nvSpPr>
          <p:cNvPr id="16" name="文本框 15"/>
          <p:cNvSpPr txBox="1"/>
          <p:nvPr/>
        </p:nvSpPr>
        <p:spPr>
          <a:xfrm>
            <a:off x="6611920" y="5918693"/>
            <a:ext cx="3452262" cy="732508"/>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招生规模约 </a:t>
            </a:r>
            <a:r>
              <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80</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人</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gn="r">
              <a:lnSpc>
                <a:spcPct val="130000"/>
              </a:lnSpc>
            </a:pP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符合条件的</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农村偏远地区</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考生</a:t>
            </a:r>
            <a:endParaRPr lang="zh-CN" altLang="en-US" sz="16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cxnSp>
        <p:nvCxnSpPr>
          <p:cNvPr id="18" name="直接连接符 17"/>
          <p:cNvCxnSpPr/>
          <p:nvPr/>
        </p:nvCxnSpPr>
        <p:spPr>
          <a:xfrm>
            <a:off x="6096000" y="2219793"/>
            <a:ext cx="0" cy="4078514"/>
          </a:xfrm>
          <a:prstGeom prst="line">
            <a:avLst/>
          </a:prstGeom>
          <a:ln w="12700" cap="rnd">
            <a:solidFill>
              <a:schemeClr val="bg1">
                <a:lumMod val="85000"/>
              </a:schemeClr>
            </a:solidFill>
            <a:prstDash val="sysDash"/>
            <a:round/>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5899970" y="2620442"/>
            <a:ext cx="392060" cy="392060"/>
            <a:chOff x="5852984" y="2167585"/>
            <a:chExt cx="486034" cy="486034"/>
          </a:xfrm>
        </p:grpSpPr>
        <p:sp>
          <p:nvSpPr>
            <p:cNvPr id="19" name="泪滴形 18"/>
            <p:cNvSpPr/>
            <p:nvPr/>
          </p:nvSpPr>
          <p:spPr>
            <a:xfrm rot="8100000">
              <a:off x="5852984" y="2167585"/>
              <a:ext cx="486034" cy="486034"/>
            </a:xfrm>
            <a:prstGeom prst="teardrop">
              <a:avLst/>
            </a:prstGeom>
            <a:solidFill>
              <a:srgbClr val="24C6DB"/>
            </a:solidFill>
            <a:ln w="3810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0" name="椭圆 19"/>
            <p:cNvSpPr/>
            <p:nvPr/>
          </p:nvSpPr>
          <p:spPr>
            <a:xfrm>
              <a:off x="6001431" y="2316032"/>
              <a:ext cx="189140" cy="1891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5899970" y="3521290"/>
            <a:ext cx="392060" cy="392060"/>
            <a:chOff x="5852984" y="2167585"/>
            <a:chExt cx="486034" cy="486034"/>
          </a:xfrm>
        </p:grpSpPr>
        <p:sp>
          <p:nvSpPr>
            <p:cNvPr id="23" name="泪滴形 22"/>
            <p:cNvSpPr/>
            <p:nvPr/>
          </p:nvSpPr>
          <p:spPr>
            <a:xfrm rot="8100000">
              <a:off x="5852984" y="2167585"/>
              <a:ext cx="486034" cy="486034"/>
            </a:xfrm>
            <a:prstGeom prst="teardrop">
              <a:avLst/>
            </a:prstGeom>
            <a:solidFill>
              <a:srgbClr val="3890C2"/>
            </a:solidFill>
            <a:ln w="3810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4" name="椭圆 23"/>
            <p:cNvSpPr/>
            <p:nvPr/>
          </p:nvSpPr>
          <p:spPr>
            <a:xfrm>
              <a:off x="6001431" y="2316032"/>
              <a:ext cx="189140" cy="1891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5899970" y="4427223"/>
            <a:ext cx="392060" cy="392060"/>
            <a:chOff x="5852984" y="2167585"/>
            <a:chExt cx="486034" cy="486034"/>
          </a:xfrm>
        </p:grpSpPr>
        <p:sp>
          <p:nvSpPr>
            <p:cNvPr id="26" name="泪滴形 25"/>
            <p:cNvSpPr/>
            <p:nvPr/>
          </p:nvSpPr>
          <p:spPr>
            <a:xfrm rot="8100000">
              <a:off x="5852984" y="2167585"/>
              <a:ext cx="486034" cy="486034"/>
            </a:xfrm>
            <a:prstGeom prst="teardrop">
              <a:avLst/>
            </a:prstGeom>
            <a:solidFill>
              <a:srgbClr val="24C6DB"/>
            </a:solidFill>
            <a:ln w="3810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7" name="椭圆 26"/>
            <p:cNvSpPr/>
            <p:nvPr/>
          </p:nvSpPr>
          <p:spPr>
            <a:xfrm>
              <a:off x="6001431" y="2316032"/>
              <a:ext cx="189140" cy="1891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5899970" y="5333156"/>
            <a:ext cx="392060" cy="392060"/>
            <a:chOff x="5852984" y="2167585"/>
            <a:chExt cx="486034" cy="486034"/>
          </a:xfrm>
        </p:grpSpPr>
        <p:sp>
          <p:nvSpPr>
            <p:cNvPr id="29" name="泪滴形 28"/>
            <p:cNvSpPr/>
            <p:nvPr/>
          </p:nvSpPr>
          <p:spPr>
            <a:xfrm rot="8100000">
              <a:off x="5852984" y="2167585"/>
              <a:ext cx="486034" cy="486034"/>
            </a:xfrm>
            <a:prstGeom prst="teardrop">
              <a:avLst/>
            </a:prstGeom>
            <a:solidFill>
              <a:srgbClr val="3890C2"/>
            </a:solidFill>
            <a:ln w="38100">
              <a:solidFill>
                <a:schemeClr val="bg1"/>
              </a:solidFill>
            </a:ln>
            <a:effectLst>
              <a:outerShdw blurRad="101600" dist="381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0" name="椭圆 29"/>
            <p:cNvSpPr/>
            <p:nvPr/>
          </p:nvSpPr>
          <p:spPr>
            <a:xfrm>
              <a:off x="6001431" y="2316032"/>
              <a:ext cx="189140" cy="1891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494553" y="150818"/>
            <a:ext cx="6344398" cy="1125795"/>
            <a:chOff x="494553" y="150818"/>
            <a:chExt cx="6344398" cy="1125795"/>
          </a:xfrm>
        </p:grpSpPr>
        <p:grpSp>
          <p:nvGrpSpPr>
            <p:cNvPr id="42" name="组合 41"/>
            <p:cNvGrpSpPr/>
            <p:nvPr/>
          </p:nvGrpSpPr>
          <p:grpSpPr>
            <a:xfrm>
              <a:off x="494553" y="321393"/>
              <a:ext cx="5744845" cy="955220"/>
              <a:chOff x="494553" y="321393"/>
              <a:chExt cx="5744845" cy="955220"/>
            </a:xfrm>
          </p:grpSpPr>
          <p:sp>
            <p:nvSpPr>
              <p:cNvPr id="44" name="文本框 43"/>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5" name="文本框 44"/>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3" name="矩形 36"/>
            <p:cNvSpPr>
              <a:spLocks noChangeArrowheads="1"/>
            </p:cNvSpPr>
            <p:nvPr/>
          </p:nvSpPr>
          <p:spPr bwMode="auto">
            <a:xfrm>
              <a:off x="2997642" y="150818"/>
              <a:ext cx="384130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招生计划、</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录取批次</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
        <p:nvSpPr>
          <p:cNvPr id="47" name="任意多边形: 形状 2"/>
          <p:cNvSpPr/>
          <p:nvPr/>
        </p:nvSpPr>
        <p:spPr>
          <a:xfrm>
            <a:off x="4507418" y="1580112"/>
            <a:ext cx="3463960" cy="542925"/>
          </a:xfrm>
          <a:custGeom>
            <a:avLst/>
            <a:gdLst>
              <a:gd name="connsiteX0" fmla="*/ 622247 w 8963760"/>
              <a:gd name="connsiteY0" fmla="*/ 0 h 1404938"/>
              <a:gd name="connsiteX1" fmla="*/ 8963760 w 8963760"/>
              <a:gd name="connsiteY1" fmla="*/ 0 h 1404938"/>
              <a:gd name="connsiteX2" fmla="*/ 8341513 w 8963760"/>
              <a:gd name="connsiteY2" fmla="*/ 1404938 h 1404938"/>
              <a:gd name="connsiteX3" fmla="*/ 0 w 8963760"/>
              <a:gd name="connsiteY3" fmla="*/ 1404938 h 1404938"/>
            </a:gdLst>
            <a:ahLst/>
            <a:cxnLst>
              <a:cxn ang="0">
                <a:pos x="connsiteX0" y="connsiteY0"/>
              </a:cxn>
              <a:cxn ang="0">
                <a:pos x="connsiteX1" y="connsiteY1"/>
              </a:cxn>
              <a:cxn ang="0">
                <a:pos x="connsiteX2" y="connsiteY2"/>
              </a:cxn>
              <a:cxn ang="0">
                <a:pos x="connsiteX3" y="connsiteY3"/>
              </a:cxn>
            </a:cxnLst>
            <a:rect l="l" t="t" r="r" b="b"/>
            <a:pathLst>
              <a:path w="8963760" h="1404938">
                <a:moveTo>
                  <a:pt x="622247" y="0"/>
                </a:moveTo>
                <a:lnTo>
                  <a:pt x="8963760" y="0"/>
                </a:lnTo>
                <a:lnTo>
                  <a:pt x="8341513" y="1404938"/>
                </a:lnTo>
                <a:lnTo>
                  <a:pt x="0" y="1404938"/>
                </a:lnTo>
                <a:close/>
              </a:path>
            </a:pathLst>
          </a:custGeom>
          <a:solidFill>
            <a:srgbClr val="3890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flipH="1">
            <a:off x="4694744" y="1630703"/>
            <a:ext cx="3089307" cy="461665"/>
          </a:xfrm>
          <a:prstGeom prst="rect">
            <a:avLst/>
          </a:prstGeom>
          <a:noFill/>
        </p:spPr>
        <p:txBody>
          <a:bodyPr wrap="none" rtlCol="0">
            <a:spAutoFit/>
            <a:scene3d>
              <a:camera prst="orthographicFront"/>
              <a:lightRig rig="threePt" dir="t"/>
            </a:scene3d>
            <a:sp3d contourW="12700"/>
          </a:bodyPr>
          <a:lstStyle/>
          <a:p>
            <a:r>
              <a:rPr lang="zh-CN" altLang="en-US" sz="2400" i="1" spc="600" dirty="0">
                <a:solidFill>
                  <a:schemeClr val="bg1"/>
                </a:solidFill>
                <a:latin typeface="黑体" panose="02010609060101010101" pitchFamily="49" charset="-122"/>
                <a:ea typeface="黑体" panose="02010609060101010101" pitchFamily="49" charset="-122"/>
              </a:rPr>
              <a:t>计划规模</a:t>
            </a:r>
            <a:r>
              <a:rPr lang="en-US" altLang="zh-CN" sz="2400" i="1" spc="600" dirty="0">
                <a:solidFill>
                  <a:schemeClr val="bg1"/>
                </a:solidFill>
                <a:latin typeface="黑体" panose="02010609060101010101" pitchFamily="49" charset="-122"/>
                <a:ea typeface="黑体" panose="02010609060101010101" pitchFamily="49" charset="-122"/>
              </a:rPr>
              <a:t>1155</a:t>
            </a:r>
            <a:r>
              <a:rPr lang="zh-CN" altLang="en-US" sz="2400" i="1" spc="600" dirty="0">
                <a:solidFill>
                  <a:schemeClr val="bg1"/>
                </a:solidFill>
                <a:latin typeface="黑体" panose="02010609060101010101" pitchFamily="49" charset="-122"/>
                <a:ea typeface="黑体" panose="02010609060101010101" pitchFamily="49" charset="-122"/>
              </a:rPr>
              <a:t>人</a:t>
            </a:r>
            <a:endParaRPr lang="zh-CN" altLang="en-US" sz="2400" i="1" spc="600" dirty="0">
              <a:solidFill>
                <a:schemeClr val="bg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500" fill="hold"/>
                                        <p:tgtEl>
                                          <p:spTgt spid="28"/>
                                        </p:tgtEl>
                                        <p:attrNameLst>
                                          <p:attrName>ppt_x</p:attrName>
                                        </p:attrNameLst>
                                      </p:cBhvr>
                                      <p:tavLst>
                                        <p:tav tm="0">
                                          <p:val>
                                            <p:strVal val="#ppt_x"/>
                                          </p:val>
                                        </p:tav>
                                        <p:tav tm="100000">
                                          <p:val>
                                            <p:strVal val="#ppt_x"/>
                                          </p:val>
                                        </p:tav>
                                      </p:tavLst>
                                    </p:anim>
                                    <p:anim calcmode="lin" valueType="num">
                                      <p:cBhvr additive="base">
                                        <p:cTn id="24" dur="500" fill="hold"/>
                                        <p:tgtEl>
                                          <p:spTgt spid="28"/>
                                        </p:tgtEl>
                                        <p:attrNameLst>
                                          <p:attrName>ppt_y</p:attrName>
                                        </p:attrNameLst>
                                      </p:cBhvr>
                                      <p:tavLst>
                                        <p:tav tm="0">
                                          <p:val>
                                            <p:strVal val="1+#ppt_h/2"/>
                                          </p:val>
                                        </p:tav>
                                        <p:tav tm="100000">
                                          <p:val>
                                            <p:strVal val="#ppt_y"/>
                                          </p:val>
                                        </p:tav>
                                      </p:tavLst>
                                    </p:anim>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animEffect transition="in" filter="fade">
                                      <p:cBhvr>
                                        <p:cTn id="34" dur="500"/>
                                        <p:tgtEl>
                                          <p:spTgt spid="2"/>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p:cTn id="42" dur="500" fill="hold"/>
                                        <p:tgtEl>
                                          <p:spTgt spid="3"/>
                                        </p:tgtEl>
                                        <p:attrNameLst>
                                          <p:attrName>ppt_w</p:attrName>
                                        </p:attrNameLst>
                                      </p:cBhvr>
                                      <p:tavLst>
                                        <p:tav tm="0">
                                          <p:val>
                                            <p:fltVal val="0"/>
                                          </p:val>
                                        </p:tav>
                                        <p:tav tm="100000">
                                          <p:val>
                                            <p:strVal val="#ppt_w"/>
                                          </p:val>
                                        </p:tav>
                                      </p:tavLst>
                                    </p:anim>
                                    <p:anim calcmode="lin" valueType="num">
                                      <p:cBhvr>
                                        <p:cTn id="43" dur="500" fill="hold"/>
                                        <p:tgtEl>
                                          <p:spTgt spid="3"/>
                                        </p:tgtEl>
                                        <p:attrNameLst>
                                          <p:attrName>ppt_h</p:attrName>
                                        </p:attrNameLst>
                                      </p:cBhvr>
                                      <p:tavLst>
                                        <p:tav tm="0">
                                          <p:val>
                                            <p:fltVal val="0"/>
                                          </p:val>
                                        </p:tav>
                                        <p:tav tm="100000">
                                          <p:val>
                                            <p:strVal val="#ppt_h"/>
                                          </p:val>
                                        </p:tav>
                                      </p:tavLst>
                                    </p:anim>
                                    <p:animEffect transition="in" filter="fade">
                                      <p:cBhvr>
                                        <p:cTn id="44" dur="500"/>
                                        <p:tgtEl>
                                          <p:spTgt spid="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animEffect transition="in" filter="fade">
                                      <p:cBhvr>
                                        <p:cTn id="49" dur="500"/>
                                        <p:tgtEl>
                                          <p:spTgt spid="10"/>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6"/>
                                        </p:tgtEl>
                                        <p:attrNameLst>
                                          <p:attrName>style.visibility</p:attrName>
                                        </p:attrNameLst>
                                      </p:cBhvr>
                                      <p:to>
                                        <p:strVal val="visible"/>
                                      </p:to>
                                    </p:set>
                                    <p:anim calcmode="lin" valueType="num">
                                      <p:cBhvr>
                                        <p:cTn id="52" dur="500" fill="hold"/>
                                        <p:tgtEl>
                                          <p:spTgt spid="6"/>
                                        </p:tgtEl>
                                        <p:attrNameLst>
                                          <p:attrName>ppt_w</p:attrName>
                                        </p:attrNameLst>
                                      </p:cBhvr>
                                      <p:tavLst>
                                        <p:tav tm="0">
                                          <p:val>
                                            <p:fltVal val="0"/>
                                          </p:val>
                                        </p:tav>
                                        <p:tav tm="100000">
                                          <p:val>
                                            <p:strVal val="#ppt_w"/>
                                          </p:val>
                                        </p:tav>
                                      </p:tavLst>
                                    </p:anim>
                                    <p:anim calcmode="lin" valueType="num">
                                      <p:cBhvr>
                                        <p:cTn id="53" dur="500" fill="hold"/>
                                        <p:tgtEl>
                                          <p:spTgt spid="6"/>
                                        </p:tgtEl>
                                        <p:attrNameLst>
                                          <p:attrName>ppt_h</p:attrName>
                                        </p:attrNameLst>
                                      </p:cBhvr>
                                      <p:tavLst>
                                        <p:tav tm="0">
                                          <p:val>
                                            <p:fltVal val="0"/>
                                          </p:val>
                                        </p:tav>
                                        <p:tav tm="100000">
                                          <p:val>
                                            <p:strVal val="#ppt_h"/>
                                          </p:val>
                                        </p:tav>
                                      </p:tavLst>
                                    </p:anim>
                                    <p:animEffect transition="in" filter="fade">
                                      <p:cBhvr>
                                        <p:cTn id="54" dur="500"/>
                                        <p:tgtEl>
                                          <p:spTgt spid="6"/>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7"/>
                                        </p:tgtEl>
                                        <p:attrNameLst>
                                          <p:attrName>style.visibility</p:attrName>
                                        </p:attrNameLst>
                                      </p:cBhvr>
                                      <p:to>
                                        <p:strVal val="visible"/>
                                      </p:to>
                                    </p:set>
                                    <p:anim calcmode="lin" valueType="num">
                                      <p:cBhvr>
                                        <p:cTn id="62" dur="500" fill="hold"/>
                                        <p:tgtEl>
                                          <p:spTgt spid="7"/>
                                        </p:tgtEl>
                                        <p:attrNameLst>
                                          <p:attrName>ppt_w</p:attrName>
                                        </p:attrNameLst>
                                      </p:cBhvr>
                                      <p:tavLst>
                                        <p:tav tm="0">
                                          <p:val>
                                            <p:fltVal val="0"/>
                                          </p:val>
                                        </p:tav>
                                        <p:tav tm="100000">
                                          <p:val>
                                            <p:strVal val="#ppt_w"/>
                                          </p:val>
                                        </p:tav>
                                      </p:tavLst>
                                    </p:anim>
                                    <p:anim calcmode="lin" valueType="num">
                                      <p:cBhvr>
                                        <p:cTn id="63" dur="500" fill="hold"/>
                                        <p:tgtEl>
                                          <p:spTgt spid="7"/>
                                        </p:tgtEl>
                                        <p:attrNameLst>
                                          <p:attrName>ppt_h</p:attrName>
                                        </p:attrNameLst>
                                      </p:cBhvr>
                                      <p:tavLst>
                                        <p:tav tm="0">
                                          <p:val>
                                            <p:fltVal val="0"/>
                                          </p:val>
                                        </p:tav>
                                        <p:tav tm="100000">
                                          <p:val>
                                            <p:strVal val="#ppt_h"/>
                                          </p:val>
                                        </p:tav>
                                      </p:tavLst>
                                    </p:anim>
                                    <p:animEffect transition="in" filter="fade">
                                      <p:cBhvr>
                                        <p:cTn id="64" dur="500"/>
                                        <p:tgtEl>
                                          <p:spTgt spid="7"/>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left)">
                                      <p:cBhvr>
                                        <p:cTn id="67" dur="500"/>
                                        <p:tgtEl>
                                          <p:spTgt spid="13"/>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wipe(left)">
                                      <p:cBhvr>
                                        <p:cTn id="73" dur="500"/>
                                        <p:tgtEl>
                                          <p:spTgt spid="14"/>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wipe(left)">
                                      <p:cBhvr>
                                        <p:cTn id="7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p:bldP spid="10" grpId="0"/>
      <p:bldP spid="11" grpId="0"/>
      <p:bldP spid="12" grpId="0"/>
      <p:bldP spid="13" grpId="0"/>
      <p:bldP spid="14" grpId="0"/>
      <p:bldP spid="15" grpId="0"/>
      <p:bldP spid="1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214121" y="1785252"/>
            <a:ext cx="1657350" cy="165735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709171" y="3625165"/>
            <a:ext cx="1234429" cy="1234429"/>
          </a:xfrm>
          <a:prstGeom prst="rect">
            <a:avLst/>
          </a:prstGeom>
          <a:solidFill>
            <a:srgbClr val="6F9F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214121" y="3625165"/>
            <a:ext cx="1062979" cy="1062979"/>
          </a:xfrm>
          <a:prstGeom prst="rect">
            <a:avLst/>
          </a:prstGeom>
          <a:solidFill>
            <a:srgbClr val="24C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257800" y="2756802"/>
            <a:ext cx="685800" cy="685800"/>
          </a:xfrm>
          <a:prstGeom prst="rect">
            <a:avLst/>
          </a:prstGeom>
          <a:solidFill>
            <a:srgbClr val="9BAF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362680" y="4470113"/>
            <a:ext cx="361950" cy="361950"/>
          </a:xfrm>
          <a:prstGeom prst="rect">
            <a:avLst/>
          </a:prstGeom>
          <a:solidFill>
            <a:srgbClr val="6486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705147" y="2172731"/>
            <a:ext cx="521642" cy="52164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6214121" y="1910530"/>
            <a:ext cx="1657350" cy="1446550"/>
          </a:xfrm>
          <a:prstGeom prst="rect">
            <a:avLst/>
          </a:prstGeom>
          <a:noFill/>
        </p:spPr>
        <p:txBody>
          <a:bodyPr wrap="square" rtlCol="0">
            <a:spAutoFit/>
          </a:bodyPr>
          <a:lstStyle/>
          <a:p>
            <a:pPr algn="ctr"/>
            <a:r>
              <a:rPr lang="en-US" altLang="zh-CN" sz="8600" dirty="0">
                <a:solidFill>
                  <a:schemeClr val="bg1"/>
                </a:solidFill>
                <a:latin typeface="微软雅黑" panose="020B0503020204020204" pitchFamily="34" charset="-122"/>
              </a:rPr>
              <a:t>01</a:t>
            </a:r>
            <a:endParaRPr lang="zh-CN" altLang="en-US" sz="8600" dirty="0">
              <a:solidFill>
                <a:schemeClr val="bg1"/>
              </a:solidFill>
              <a:latin typeface="微软雅黑" panose="020B0503020204020204" pitchFamily="34" charset="-122"/>
            </a:endParaRPr>
          </a:p>
        </p:txBody>
      </p:sp>
      <p:sp>
        <p:nvSpPr>
          <p:cNvPr id="28" name="文本框 27"/>
          <p:cNvSpPr txBox="1"/>
          <p:nvPr/>
        </p:nvSpPr>
        <p:spPr>
          <a:xfrm>
            <a:off x="4525296" y="3599043"/>
            <a:ext cx="1602177" cy="1323439"/>
          </a:xfrm>
          <a:prstGeom prst="rect">
            <a:avLst/>
          </a:prstGeom>
          <a:noFill/>
        </p:spPr>
        <p:txBody>
          <a:bodyPr wrap="square" rtlCol="0">
            <a:spAutoFit/>
          </a:bodyPr>
          <a:lstStyle/>
          <a:p>
            <a:pPr algn="ctr"/>
            <a:r>
              <a:rPr lang="en-US" altLang="zh-CN" sz="8000" dirty="0">
                <a:solidFill>
                  <a:schemeClr val="bg1"/>
                </a:solidFill>
                <a:latin typeface="微软雅黑" panose="020B0503020204020204" pitchFamily="34" charset="-122"/>
              </a:rPr>
              <a:t>03</a:t>
            </a:r>
            <a:endParaRPr lang="zh-CN" altLang="en-US" sz="8000" dirty="0">
              <a:solidFill>
                <a:schemeClr val="bg1"/>
              </a:solidFill>
              <a:latin typeface="微软雅黑" panose="020B0503020204020204" pitchFamily="34" charset="-122"/>
            </a:endParaRPr>
          </a:p>
        </p:txBody>
      </p:sp>
      <p:sp>
        <p:nvSpPr>
          <p:cNvPr id="29" name="文本框 28"/>
          <p:cNvSpPr txBox="1"/>
          <p:nvPr/>
        </p:nvSpPr>
        <p:spPr>
          <a:xfrm>
            <a:off x="6154159" y="3668334"/>
            <a:ext cx="1196352" cy="1015663"/>
          </a:xfrm>
          <a:prstGeom prst="rect">
            <a:avLst/>
          </a:prstGeom>
          <a:noFill/>
        </p:spPr>
        <p:txBody>
          <a:bodyPr wrap="square" rtlCol="0">
            <a:spAutoFit/>
          </a:bodyPr>
          <a:lstStyle/>
          <a:p>
            <a:pPr algn="ctr"/>
            <a:r>
              <a:rPr lang="en-US" altLang="zh-CN" sz="6000" dirty="0">
                <a:solidFill>
                  <a:schemeClr val="bg1"/>
                </a:solidFill>
                <a:latin typeface="微软雅黑" panose="020B0503020204020204" pitchFamily="34" charset="-122"/>
              </a:rPr>
              <a:t>02</a:t>
            </a:r>
            <a:endParaRPr lang="zh-CN" altLang="en-US" sz="6000" dirty="0">
              <a:solidFill>
                <a:schemeClr val="bg1"/>
              </a:solidFill>
              <a:latin typeface="微软雅黑" panose="020B0503020204020204" pitchFamily="34" charset="-122"/>
            </a:endParaRPr>
          </a:p>
        </p:txBody>
      </p:sp>
      <p:sp>
        <p:nvSpPr>
          <p:cNvPr id="30" name="文本框 29"/>
          <p:cNvSpPr txBox="1"/>
          <p:nvPr/>
        </p:nvSpPr>
        <p:spPr>
          <a:xfrm>
            <a:off x="5073927" y="2723978"/>
            <a:ext cx="1053546" cy="769441"/>
          </a:xfrm>
          <a:prstGeom prst="rect">
            <a:avLst/>
          </a:prstGeom>
          <a:noFill/>
        </p:spPr>
        <p:txBody>
          <a:bodyPr wrap="square" rtlCol="0">
            <a:spAutoFit/>
          </a:bodyPr>
          <a:lstStyle/>
          <a:p>
            <a:pPr algn="ctr"/>
            <a:r>
              <a:rPr lang="en-US" altLang="zh-CN" sz="4400" dirty="0">
                <a:solidFill>
                  <a:schemeClr val="bg1"/>
                </a:solidFill>
                <a:latin typeface="微软雅黑" panose="020B0503020204020204" pitchFamily="34" charset="-122"/>
              </a:rPr>
              <a:t>04</a:t>
            </a:r>
            <a:endParaRPr lang="zh-CN" altLang="en-US" sz="4400" dirty="0">
              <a:solidFill>
                <a:schemeClr val="bg1"/>
              </a:solidFill>
              <a:latin typeface="微软雅黑" panose="020B0503020204020204" pitchFamily="34" charset="-122"/>
            </a:endParaRPr>
          </a:p>
        </p:txBody>
      </p:sp>
      <p:grpSp>
        <p:nvGrpSpPr>
          <p:cNvPr id="26" name="组合 25"/>
          <p:cNvGrpSpPr/>
          <p:nvPr/>
        </p:nvGrpSpPr>
        <p:grpSpPr>
          <a:xfrm>
            <a:off x="494553" y="150818"/>
            <a:ext cx="7313230" cy="1125795"/>
            <a:chOff x="494553" y="150818"/>
            <a:chExt cx="7313230" cy="1125795"/>
          </a:xfrm>
        </p:grpSpPr>
        <p:grpSp>
          <p:nvGrpSpPr>
            <p:cNvPr id="39" name="组合 38"/>
            <p:cNvGrpSpPr/>
            <p:nvPr/>
          </p:nvGrpSpPr>
          <p:grpSpPr>
            <a:xfrm>
              <a:off x="494553" y="321393"/>
              <a:ext cx="5744845" cy="955220"/>
              <a:chOff x="494553" y="321393"/>
              <a:chExt cx="5744845" cy="955220"/>
            </a:xfrm>
          </p:grpSpPr>
          <p:sp>
            <p:nvSpPr>
              <p:cNvPr id="41" name="文本框 40"/>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2" name="文本框 41"/>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0" name="矩形 36"/>
            <p:cNvSpPr>
              <a:spLocks noChangeArrowheads="1"/>
            </p:cNvSpPr>
            <p:nvPr/>
          </p:nvSpPr>
          <p:spPr bwMode="auto">
            <a:xfrm>
              <a:off x="2997643" y="150818"/>
              <a:ext cx="4810140"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录取政策，</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优势专业</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pSp>
        <p:nvGrpSpPr>
          <p:cNvPr id="43" name="组合 42"/>
          <p:cNvGrpSpPr/>
          <p:nvPr/>
        </p:nvGrpSpPr>
        <p:grpSpPr>
          <a:xfrm>
            <a:off x="8058675" y="849130"/>
            <a:ext cx="3998763" cy="4291673"/>
            <a:chOff x="928274" y="2723985"/>
            <a:chExt cx="5474803" cy="4291673"/>
          </a:xfrm>
        </p:grpSpPr>
        <p:sp>
          <p:nvSpPr>
            <p:cNvPr id="44" name="文本框 43"/>
            <p:cNvSpPr txBox="1"/>
            <p:nvPr/>
          </p:nvSpPr>
          <p:spPr>
            <a:xfrm>
              <a:off x="928274" y="2723985"/>
              <a:ext cx="2331216"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录取规则</a:t>
              </a:r>
              <a:endParaRPr lang="zh-CN" altLang="en-US" sz="2400" i="1" spc="300" dirty="0">
                <a:latin typeface="黑体" panose="02010609060101010101" pitchFamily="49" charset="-122"/>
                <a:ea typeface="黑体" panose="02010609060101010101" pitchFamily="49" charset="-122"/>
              </a:endParaRPr>
            </a:p>
          </p:txBody>
        </p:sp>
        <p:sp>
          <p:nvSpPr>
            <p:cNvPr id="45" name="文本框 44"/>
            <p:cNvSpPr txBox="1"/>
            <p:nvPr/>
          </p:nvSpPr>
          <p:spPr>
            <a:xfrm>
              <a:off x="960765" y="3111832"/>
              <a:ext cx="5442312" cy="390382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调档比例：</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平行志愿</a:t>
              </a: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105%</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以内进档，服从专业调剂不退档；顺序志愿</a:t>
              </a: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120%</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以内进档</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分专业时：</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同等条件下，参考加分和单科成绩，不设级差</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政策加分：</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不超过</a:t>
              </a: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20</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分，加分进档、实分分专业</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新高考选考科目：</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多数专业不限，计算机类限物理，语言学为物、化、生任一门</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其他要求：</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高考口试合格（除艺术、计算机和汉语言文学）；提前、本一批无高考单科成绩要求</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            </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46" name="组合 45"/>
          <p:cNvGrpSpPr/>
          <p:nvPr/>
        </p:nvGrpSpPr>
        <p:grpSpPr>
          <a:xfrm>
            <a:off x="6500577" y="4957433"/>
            <a:ext cx="4834245" cy="1440443"/>
            <a:chOff x="928274" y="2723985"/>
            <a:chExt cx="7179687" cy="1440443"/>
          </a:xfrm>
        </p:grpSpPr>
        <p:sp>
          <p:nvSpPr>
            <p:cNvPr id="47" name="文本框 46"/>
            <p:cNvSpPr txBox="1"/>
            <p:nvPr/>
          </p:nvSpPr>
          <p:spPr>
            <a:xfrm>
              <a:off x="928274" y="2723985"/>
              <a:ext cx="2331216"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新增专业</a:t>
              </a:r>
              <a:endParaRPr lang="zh-CN" altLang="en-US" sz="2400" i="1" spc="300" dirty="0">
                <a:latin typeface="黑体" panose="02010609060101010101" pitchFamily="49" charset="-122"/>
                <a:ea typeface="黑体" panose="02010609060101010101" pitchFamily="49" charset="-122"/>
              </a:endParaRPr>
            </a:p>
          </p:txBody>
        </p:sp>
        <p:sp>
          <p:nvSpPr>
            <p:cNvPr id="48" name="文本框 47"/>
            <p:cNvSpPr txBox="1"/>
            <p:nvPr/>
          </p:nvSpPr>
          <p:spPr>
            <a:xfrm>
              <a:off x="960765" y="3111832"/>
              <a:ext cx="7147196"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2019</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年：</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语言学、金融学（宏观经济核算与分析）</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en-US" altLang="zh-CN"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2020</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年：</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网络与新媒体；</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nSpc>
                  <a:spcPct val="130000"/>
                </a:lnSpc>
              </a:pP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              </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土耳其语</a:t>
              </a: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土英复语</a:t>
              </a:r>
              <a:r>
                <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、财务管理 恢复招生</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49" name="组合 48"/>
          <p:cNvGrpSpPr/>
          <p:nvPr/>
        </p:nvGrpSpPr>
        <p:grpSpPr>
          <a:xfrm>
            <a:off x="1594847" y="5069023"/>
            <a:ext cx="3998764" cy="1461642"/>
            <a:chOff x="634278" y="2771645"/>
            <a:chExt cx="5938853" cy="1461642"/>
          </a:xfrm>
        </p:grpSpPr>
        <p:sp>
          <p:nvSpPr>
            <p:cNvPr id="50" name="文本框 49"/>
            <p:cNvSpPr txBox="1"/>
            <p:nvPr/>
          </p:nvSpPr>
          <p:spPr>
            <a:xfrm>
              <a:off x="4023079" y="2771645"/>
              <a:ext cx="2331215"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大类招生</a:t>
              </a:r>
              <a:endParaRPr lang="zh-CN" altLang="en-US" sz="2400" i="1" spc="300" dirty="0">
                <a:latin typeface="黑体" panose="02010609060101010101" pitchFamily="49" charset="-122"/>
                <a:ea typeface="黑体" panose="02010609060101010101" pitchFamily="49" charset="-122"/>
              </a:endParaRPr>
            </a:p>
          </p:txBody>
        </p:sp>
        <p:sp>
          <p:nvSpPr>
            <p:cNvPr id="51" name="文本框 50"/>
            <p:cNvSpPr txBox="1"/>
            <p:nvPr/>
          </p:nvSpPr>
          <p:spPr>
            <a:xfrm>
              <a:off x="634278" y="3180691"/>
              <a:ext cx="5938853" cy="1052596"/>
            </a:xfrm>
            <a:prstGeom prst="rect">
              <a:avLst/>
            </a:prstGeom>
            <a:noFill/>
          </p:spPr>
          <p:txBody>
            <a:bodyPr wrap="square" rtlCol="0">
              <a:spAutoFit/>
              <a:scene3d>
                <a:camera prst="orthographicFront"/>
                <a:lightRig rig="threePt" dir="t"/>
              </a:scene3d>
              <a:sp3d contourW="12700"/>
            </a:bodyPr>
            <a:lstStyle/>
            <a:p>
              <a:pPr>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计算机类</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，分流专业：计算机科学与技术、信息管理与信息系统、数字媒体技术、计算机科学与技术</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（语言智能与技术实验班）</a:t>
              </a:r>
              <a:endPar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52" name="组合 51"/>
          <p:cNvGrpSpPr/>
          <p:nvPr/>
        </p:nvGrpSpPr>
        <p:grpSpPr>
          <a:xfrm>
            <a:off x="435889" y="1889392"/>
            <a:ext cx="4258684" cy="3333286"/>
            <a:chOff x="549768" y="2715568"/>
            <a:chExt cx="5335850" cy="3333286"/>
          </a:xfrm>
        </p:grpSpPr>
        <p:sp>
          <p:nvSpPr>
            <p:cNvPr id="53" name="文本框 52"/>
            <p:cNvSpPr txBox="1"/>
            <p:nvPr/>
          </p:nvSpPr>
          <p:spPr>
            <a:xfrm>
              <a:off x="2392115" y="2715568"/>
              <a:ext cx="3493503" cy="461665"/>
            </a:xfrm>
            <a:prstGeom prst="rect">
              <a:avLst/>
            </a:prstGeom>
            <a:noFill/>
          </p:spPr>
          <p:txBody>
            <a:bodyPr wrap="squar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优势专业、学科</a:t>
              </a:r>
              <a:endParaRPr lang="zh-CN" altLang="en-US" sz="2400" i="1" spc="300" dirty="0">
                <a:latin typeface="黑体" panose="02010609060101010101" pitchFamily="49" charset="-122"/>
                <a:ea typeface="黑体" panose="02010609060101010101" pitchFamily="49" charset="-122"/>
              </a:endParaRPr>
            </a:p>
          </p:txBody>
        </p:sp>
        <p:sp>
          <p:nvSpPr>
            <p:cNvPr id="54" name="文本框 53"/>
            <p:cNvSpPr txBox="1"/>
            <p:nvPr/>
          </p:nvSpPr>
          <p:spPr>
            <a:xfrm>
              <a:off x="549768" y="3111832"/>
              <a:ext cx="5208792" cy="2937022"/>
            </a:xfrm>
            <a:prstGeom prst="rect">
              <a:avLst/>
            </a:prstGeom>
            <a:noFill/>
          </p:spPr>
          <p:txBody>
            <a:bodyPr wrap="square" rtlCol="0">
              <a:spAutoFit/>
              <a:scene3d>
                <a:camera prst="orthographicFront"/>
                <a:lightRig rig="threePt" dir="t"/>
              </a:scene3d>
              <a:sp3d contourW="12700"/>
            </a:bodyPr>
            <a:lstStyle/>
            <a:p>
              <a:pPr marL="0" lvl="1">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双万专业：</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汉语国际教育、汉语言文学、英语、法语、阿拉伯语、翻译</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marL="0" lvl="1">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国家级特色专业：</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汉语国际教育、汉语言、英语、汉语言文学、日语、阿拉伯语、法语</a:t>
              </a:r>
              <a:endParaRPr lang="en-US" altLang="zh-CN"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marL="0" lvl="1">
                <a:lnSpc>
                  <a:spcPct val="130000"/>
                </a:lnSpc>
              </a:pP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北京市特色专业：</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英语、日语、汉语国际教育、汉语言文学</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marL="0" lvl="1">
                <a:lnSpc>
                  <a:spcPct val="130000"/>
                </a:lnSpc>
              </a:pPr>
              <a:r>
                <a:rPr lang="zh-CN" altLang="en-US" sz="1600" b="1">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北京市高精尖</a:t>
              </a:r>
              <a:r>
                <a:rPr lang="zh-CN" altLang="en-US" sz="1600" b="1" dirty="0">
                  <a:solidFill>
                    <a:srgbClr val="FF9933"/>
                  </a:solidFill>
                  <a:latin typeface="微软雅黑 Light" panose="020B0502040204020203" pitchFamily="34" charset="-122"/>
                  <a:ea typeface="微软雅黑 Light" panose="020B0502040204020203" pitchFamily="34" charset="-122"/>
                  <a:cs typeface="Angsana New" panose="02020603050405020304" pitchFamily="18" charset="-34"/>
                </a:rPr>
                <a:t>学科：</a:t>
              </a:r>
              <a:r>
                <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国别区域学、中国语言文学</a:t>
              </a:r>
              <a:endParaRPr lang="zh-CN" altLang="en-US" sz="1600"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marL="0" lvl="1">
                <a:lnSpc>
                  <a:spcPct val="130000"/>
                </a:lnSpc>
              </a:pPr>
              <a:endParaRPr lang="zh-CN" altLang="en-US" sz="16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fill="hold"/>
                                        <p:tgtEl>
                                          <p:spTgt spid="28"/>
                                        </p:tgtEl>
                                        <p:attrNameLst>
                                          <p:attrName>ppt_x</p:attrName>
                                        </p:attrNameLst>
                                      </p:cBhvr>
                                      <p:tavLst>
                                        <p:tav tm="0">
                                          <p:val>
                                            <p:strVal val="#ppt_x"/>
                                          </p:val>
                                        </p:tav>
                                        <p:tav tm="100000">
                                          <p:val>
                                            <p:strVal val="#ppt_x"/>
                                          </p:val>
                                        </p:tav>
                                      </p:tavLst>
                                    </p:anim>
                                    <p:anim calcmode="lin" valueType="num">
                                      <p:cBhvr additive="base">
                                        <p:cTn id="36" dur="500" fill="hold"/>
                                        <p:tgtEl>
                                          <p:spTgt spid="28"/>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fill="hold"/>
                                        <p:tgtEl>
                                          <p:spTgt spid="29"/>
                                        </p:tgtEl>
                                        <p:attrNameLst>
                                          <p:attrName>ppt_x</p:attrName>
                                        </p:attrNameLst>
                                      </p:cBhvr>
                                      <p:tavLst>
                                        <p:tav tm="0">
                                          <p:val>
                                            <p:strVal val="#ppt_x"/>
                                          </p:val>
                                        </p:tav>
                                        <p:tav tm="100000">
                                          <p:val>
                                            <p:strVal val="#ppt_x"/>
                                          </p:val>
                                        </p:tav>
                                      </p:tavLst>
                                    </p:anim>
                                    <p:anim calcmode="lin" valueType="num">
                                      <p:cBhvr additive="base">
                                        <p:cTn id="40" dur="500" fill="hold"/>
                                        <p:tgtEl>
                                          <p:spTgt spid="29"/>
                                        </p:tgtEl>
                                        <p:attrNameLst>
                                          <p:attrName>ppt_y</p:attrName>
                                        </p:attrNameLst>
                                      </p:cBhvr>
                                      <p:tavLst>
                                        <p:tav tm="0">
                                          <p:val>
                                            <p:strVal val="0-#ppt_h/2"/>
                                          </p:val>
                                        </p:tav>
                                        <p:tav tm="100000">
                                          <p:val>
                                            <p:strVal val="#ppt_y"/>
                                          </p:val>
                                        </p:tav>
                                      </p:tavLst>
                                    </p:anim>
                                  </p:childTnLst>
                                </p:cTn>
                              </p:par>
                              <p:par>
                                <p:cTn id="41" presetID="2" presetClass="entr" presetSubtype="1"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ppt_x"/>
                                          </p:val>
                                        </p:tav>
                                        <p:tav tm="100000">
                                          <p:val>
                                            <p:strVal val="#ppt_x"/>
                                          </p:val>
                                        </p:tav>
                                      </p:tavLst>
                                    </p:anim>
                                    <p:anim calcmode="lin" valueType="num">
                                      <p:cBhvr additive="base">
                                        <p:cTn id="44" dur="500" fill="hold"/>
                                        <p:tgtEl>
                                          <p:spTgt spid="30"/>
                                        </p:tgtEl>
                                        <p:attrNameLst>
                                          <p:attrName>ppt_y</p:attrName>
                                        </p:attrNameLst>
                                      </p:cBhvr>
                                      <p:tavLst>
                                        <p:tav tm="0">
                                          <p:val>
                                            <p:strVal val="0-#ppt_h/2"/>
                                          </p:val>
                                        </p:tav>
                                        <p:tav tm="100000">
                                          <p:val>
                                            <p:strVal val="#ppt_y"/>
                                          </p:val>
                                        </p:tav>
                                      </p:tavLst>
                                    </p:anim>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wipe(left)">
                                      <p:cBhvr>
                                        <p:cTn id="48" dur="500"/>
                                        <p:tgtEl>
                                          <p:spTgt spid="43"/>
                                        </p:tgtEl>
                                      </p:cBhvr>
                                    </p:animEffect>
                                  </p:childTnLst>
                                </p:cTn>
                              </p:par>
                            </p:childTnLst>
                          </p:cTn>
                        </p:par>
                        <p:par>
                          <p:cTn id="49" fill="hold">
                            <p:stCondLst>
                              <p:cond delay="1000"/>
                            </p:stCondLst>
                            <p:childTnLst>
                              <p:par>
                                <p:cTn id="50" presetID="22" presetClass="entr" presetSubtype="8" fill="hold" nodeType="after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ipe(left)">
                                      <p:cBhvr>
                                        <p:cTn id="52" dur="500"/>
                                        <p:tgtEl>
                                          <p:spTgt spid="46"/>
                                        </p:tgtEl>
                                      </p:cBhvr>
                                    </p:animEffect>
                                  </p:childTnLst>
                                </p:cTn>
                              </p:par>
                            </p:childTnLst>
                          </p:cTn>
                        </p:par>
                        <p:par>
                          <p:cTn id="53" fill="hold">
                            <p:stCondLst>
                              <p:cond delay="1500"/>
                            </p:stCondLst>
                            <p:childTnLst>
                              <p:par>
                                <p:cTn id="54" presetID="22" presetClass="entr" presetSubtype="8" fill="hold" nodeType="after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wipe(left)">
                                      <p:cBhvr>
                                        <p:cTn id="56" dur="500"/>
                                        <p:tgtEl>
                                          <p:spTgt spid="49"/>
                                        </p:tgtEl>
                                      </p:cBhvr>
                                    </p:animEffect>
                                  </p:childTnLst>
                                </p:cTn>
                              </p:par>
                            </p:childTnLst>
                          </p:cTn>
                        </p:par>
                        <p:par>
                          <p:cTn id="57" fill="hold">
                            <p:stCondLst>
                              <p:cond delay="2000"/>
                            </p:stCondLst>
                            <p:childTnLst>
                              <p:par>
                                <p:cTn id="58" presetID="22" presetClass="entr" presetSubtype="8" fill="hold" nodeType="after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wipe(left)">
                                      <p:cBhvr>
                                        <p:cTn id="6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27" grpId="0"/>
      <p:bldP spid="28" grpId="0"/>
      <p:bldP spid="29" grpId="0"/>
      <p:bldP spid="30" grpId="0"/>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94553" y="150818"/>
            <a:ext cx="7313230" cy="1125795"/>
            <a:chOff x="494553" y="150818"/>
            <a:chExt cx="7313230" cy="1125795"/>
          </a:xfrm>
        </p:grpSpPr>
        <p:grpSp>
          <p:nvGrpSpPr>
            <p:cNvPr id="39" name="组合 38"/>
            <p:cNvGrpSpPr/>
            <p:nvPr/>
          </p:nvGrpSpPr>
          <p:grpSpPr>
            <a:xfrm>
              <a:off x="494553" y="321393"/>
              <a:ext cx="5744845" cy="955220"/>
              <a:chOff x="494553" y="321393"/>
              <a:chExt cx="5744845" cy="955220"/>
            </a:xfrm>
          </p:grpSpPr>
          <p:sp>
            <p:nvSpPr>
              <p:cNvPr id="41" name="文本框 40"/>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2" name="文本框 41"/>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0" name="矩形 36"/>
            <p:cNvSpPr>
              <a:spLocks noChangeArrowheads="1"/>
            </p:cNvSpPr>
            <p:nvPr/>
          </p:nvSpPr>
          <p:spPr bwMode="auto">
            <a:xfrm>
              <a:off x="2997643" y="150818"/>
              <a:ext cx="481014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浙江省，</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提前批次</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aphicFrame>
        <p:nvGraphicFramePr>
          <p:cNvPr id="2" name="表格 1"/>
          <p:cNvGraphicFramePr>
            <a:graphicFrameLocks noGrp="1"/>
          </p:cNvGraphicFramePr>
          <p:nvPr>
            <p:custDataLst>
              <p:tags r:id="rId1"/>
            </p:custDataLst>
          </p:nvPr>
        </p:nvGraphicFramePr>
        <p:xfrm>
          <a:off x="721895" y="1337059"/>
          <a:ext cx="10912642" cy="4871236"/>
        </p:xfrm>
        <a:graphic>
          <a:graphicData uri="http://schemas.openxmlformats.org/drawingml/2006/table">
            <a:tbl>
              <a:tblPr>
                <a:tableStyleId>{5C22544A-7EE6-4342-B048-85BDC9FD1C3A}</a:tableStyleId>
              </a:tblPr>
              <a:tblGrid>
                <a:gridCol w="1367765"/>
                <a:gridCol w="1367765"/>
                <a:gridCol w="2075230"/>
                <a:gridCol w="1061198"/>
                <a:gridCol w="1680228"/>
                <a:gridCol w="1680228"/>
                <a:gridCol w="1680228"/>
              </a:tblGrid>
              <a:tr h="565172">
                <a:tc>
                  <a:txBody>
                    <a:bodyPr/>
                    <a:lstStyle/>
                    <a:p>
                      <a:pPr algn="ctr" fontAlgn="ctr"/>
                      <a:r>
                        <a:rPr lang="zh-CN" altLang="en-US" sz="1200" u="none" strike="noStrike">
                          <a:effectLst/>
                        </a:rPr>
                        <a:t>省市名称</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科类名称</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专业名称</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控制线</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最低超线分</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平均超线分</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dirty="0">
                          <a:effectLst/>
                        </a:rPr>
                        <a:t>平均排名</a:t>
                      </a:r>
                      <a:endParaRPr lang="zh-CN" altLang="en-US" sz="1200" b="1" i="0" u="none" strike="noStrike" dirty="0">
                        <a:effectLst/>
                        <a:latin typeface="Calibri" panose="020F0502020204030204" pitchFamily="34" charset="0"/>
                      </a:endParaRPr>
                    </a:p>
                  </a:txBody>
                  <a:tcPr marL="9525" marR="9525" marT="9525" marB="0" anchor="ctr"/>
                </a:tc>
              </a:tr>
              <a:tr h="538258">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法语</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56</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56</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rowSpan="8">
                  <a:txBody>
                    <a:bodyPr/>
                    <a:lstStyle/>
                    <a:p>
                      <a:pPr algn="ctr" fontAlgn="ctr"/>
                      <a:r>
                        <a:rPr lang="en-US" altLang="zh-CN" sz="1400" b="0" i="0" u="none" strike="noStrike" dirty="0">
                          <a:effectLst/>
                          <a:latin typeface="黑体" panose="02010609060101010101" pitchFamily="49" charset="-122"/>
                          <a:ea typeface="黑体" panose="02010609060101010101" pitchFamily="49" charset="-122"/>
                        </a:rPr>
                        <a:t>11936</a:t>
                      </a:r>
                      <a:endParaRPr lang="en-US" altLang="zh-CN" sz="1400" b="0" i="0" u="none" strike="noStrike" dirty="0">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r>
              <a:tr h="538258">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西班牙语</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538258">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阿拉伯语</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538258">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日语</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52</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52</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538258">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cs typeface="黑体" panose="02010609060101010101" pitchFamily="49" charset="-122"/>
                        </a:rPr>
                        <a:t>朝鲜语(韩国语)</a:t>
                      </a:r>
                      <a:endParaRPr lang="zh-CN" altLang="en-US" sz="1100" b="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48</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48</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538258">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葡萄牙语</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538258">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cs typeface="黑体" panose="02010609060101010101" pitchFamily="49" charset="-122"/>
                        </a:rPr>
                        <a:t>土耳其语(土英复语)</a:t>
                      </a:r>
                      <a:endParaRPr lang="zh-CN" altLang="en-US" sz="1100" b="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48</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48</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538258">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意大利语</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51</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51</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任意多边形: 形状 44"/>
          <p:cNvSpPr/>
          <p:nvPr/>
        </p:nvSpPr>
        <p:spPr>
          <a:xfrm flipH="1">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5"/>
          <p:cNvSpPr/>
          <p:nvPr/>
        </p:nvSpPr>
        <p:spPr>
          <a:xfrm>
            <a:off x="4098321"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94553" y="150818"/>
            <a:ext cx="7313230" cy="1125795"/>
            <a:chOff x="494553" y="150818"/>
            <a:chExt cx="7313230" cy="1125795"/>
          </a:xfrm>
        </p:grpSpPr>
        <p:grpSp>
          <p:nvGrpSpPr>
            <p:cNvPr id="39" name="组合 38"/>
            <p:cNvGrpSpPr/>
            <p:nvPr/>
          </p:nvGrpSpPr>
          <p:grpSpPr>
            <a:xfrm>
              <a:off x="494553" y="321393"/>
              <a:ext cx="5744845" cy="955220"/>
              <a:chOff x="494553" y="321393"/>
              <a:chExt cx="5744845" cy="955220"/>
            </a:xfrm>
          </p:grpSpPr>
          <p:sp>
            <p:nvSpPr>
              <p:cNvPr id="41" name="文本框 40"/>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42" name="文本框 41"/>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40" name="矩形 36"/>
            <p:cNvSpPr>
              <a:spLocks noChangeArrowheads="1"/>
            </p:cNvSpPr>
            <p:nvPr/>
          </p:nvSpPr>
          <p:spPr bwMode="auto">
            <a:xfrm>
              <a:off x="2997643" y="150818"/>
              <a:ext cx="481014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浙江省，</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本科批次</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graphicFrame>
        <p:nvGraphicFramePr>
          <p:cNvPr id="2" name="表格 1"/>
          <p:cNvGraphicFramePr>
            <a:graphicFrameLocks noGrp="1"/>
          </p:cNvGraphicFramePr>
          <p:nvPr>
            <p:custDataLst>
              <p:tags r:id="rId1"/>
            </p:custDataLst>
          </p:nvPr>
        </p:nvGraphicFramePr>
        <p:xfrm>
          <a:off x="709864" y="1261415"/>
          <a:ext cx="10780295" cy="5067195"/>
        </p:xfrm>
        <a:graphic>
          <a:graphicData uri="http://schemas.openxmlformats.org/drawingml/2006/table">
            <a:tbl>
              <a:tblPr>
                <a:tableStyleId>{5C22544A-7EE6-4342-B048-85BDC9FD1C3A}</a:tableStyleId>
              </a:tblPr>
              <a:tblGrid>
                <a:gridCol w="1154143"/>
                <a:gridCol w="1154143"/>
                <a:gridCol w="3323137"/>
                <a:gridCol w="895457"/>
                <a:gridCol w="1417805"/>
                <a:gridCol w="1417805"/>
                <a:gridCol w="1417805"/>
              </a:tblGrid>
              <a:tr h="331500">
                <a:tc>
                  <a:txBody>
                    <a:bodyPr/>
                    <a:lstStyle/>
                    <a:p>
                      <a:pPr algn="ctr" fontAlgn="ctr"/>
                      <a:r>
                        <a:rPr lang="zh-CN" altLang="en-US" sz="1200" u="none" strike="noStrike">
                          <a:effectLst/>
                        </a:rPr>
                        <a:t>省市名称</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科类名称</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专业名称</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控制线</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最低超线分</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a:effectLst/>
                        </a:rPr>
                        <a:t>平均超线分</a:t>
                      </a:r>
                      <a:endParaRPr lang="zh-CN" altLang="en-US" sz="1200" b="1" i="0" u="none" strike="noStrike">
                        <a:effectLst/>
                        <a:latin typeface="Calibri" panose="020F0502020204030204" pitchFamily="34" charset="0"/>
                      </a:endParaRPr>
                    </a:p>
                  </a:txBody>
                  <a:tcPr marL="9525" marR="9525" marT="9525" marB="0" anchor="ctr"/>
                </a:tc>
                <a:tc>
                  <a:txBody>
                    <a:bodyPr/>
                    <a:lstStyle/>
                    <a:p>
                      <a:pPr algn="ctr" fontAlgn="ctr"/>
                      <a:r>
                        <a:rPr lang="zh-CN" altLang="en-US" sz="1200" u="none" strike="noStrike" dirty="0">
                          <a:effectLst/>
                        </a:rPr>
                        <a:t>平均排名</a:t>
                      </a:r>
                      <a:endParaRPr lang="zh-CN" altLang="en-US" sz="1200" b="1" i="0" u="none" strike="noStrike" dirty="0">
                        <a:effectLst/>
                        <a:latin typeface="Calibri" panose="020F0502020204030204" pitchFamily="34" charset="0"/>
                      </a:endParaRPr>
                    </a:p>
                  </a:txBody>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金融学</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47</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50</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rowSpan="15">
                  <a:txBody>
                    <a:bodyPr/>
                    <a:lstStyle/>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en-US" altLang="zh-CN" sz="1400" u="none" strike="noStrike" dirty="0">
                          <a:effectLst/>
                          <a:latin typeface="黑体" panose="02010609060101010101" pitchFamily="49" charset="-122"/>
                          <a:ea typeface="黑体" panose="02010609060101010101" pitchFamily="49" charset="-122"/>
                          <a:cs typeface="黑体" panose="02010609060101010101" pitchFamily="49" charset="-122"/>
                        </a:rPr>
                        <a:t>12661</a:t>
                      </a:r>
                      <a:r>
                        <a:rPr lang="zh-CN" altLang="en-US" sz="14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4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p>
                      <a:pPr algn="ctr" fontAlgn="ctr"/>
                      <a:r>
                        <a:rPr lang="zh-CN" altLang="en-US" sz="1100" u="none" strike="noStrike" dirty="0">
                          <a:effectLst/>
                          <a:latin typeface="黑体" panose="02010609060101010101" pitchFamily="49" charset="-122"/>
                          <a:ea typeface="黑体" panose="02010609060101010101" pitchFamily="49" charset="-122"/>
                          <a:cs typeface="黑体" panose="02010609060101010101" pitchFamily="49" charset="-122"/>
                        </a:rPr>
                        <a:t>　</a:t>
                      </a:r>
                      <a:endParaRPr lang="zh-CN" altLang="en-US" sz="1100" b="0" i="0" u="none" strike="noStrike" dirty="0">
                        <a:effectLst/>
                        <a:latin typeface="黑体" panose="02010609060101010101" pitchFamily="49" charset="-122"/>
                        <a:ea typeface="黑体" panose="02010609060101010101" pitchFamily="49" charset="-122"/>
                        <a:cs typeface="黑体" panose="02010609060101010101" pitchFamily="49" charset="-122"/>
                      </a:endParaRPr>
                    </a:p>
                  </a:txBody>
                  <a:tcPr marL="9525" marR="9525" marT="9525" marB="0" anchor="ctr">
                    <a:solidFill>
                      <a:schemeClr val="accent2"/>
                    </a:solidFill>
                  </a:tcP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cs typeface="黑体" panose="02010609060101010101" pitchFamily="49" charset="-122"/>
                        </a:rPr>
                        <a:t>金融学(宏观经济核算与分析）</a:t>
                      </a:r>
                      <a:endParaRPr lang="zh-CN" altLang="en-US" sz="1100" b="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46</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46</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国际经济与贸易</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51</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51</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国际政治</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51</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51</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国际事务与国际关系</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50</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50</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cs typeface="黑体" panose="02010609060101010101" pitchFamily="49" charset="-122"/>
                        </a:rPr>
                        <a:t>特殊教育(言语听觉科学)</a:t>
                      </a:r>
                      <a:endParaRPr lang="zh-CN" altLang="en-US" sz="1100" b="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39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39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汉语言文学</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55</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56</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汉语国际教育</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55</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英语</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58</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语言学</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52</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52</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cs typeface="黑体" panose="02010609060101010101" pitchFamily="49" charset="-122"/>
                        </a:rPr>
                        <a:t>翻译(本地化)</a:t>
                      </a:r>
                      <a:endParaRPr lang="zh-CN" altLang="en-US" sz="1100" b="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cs typeface="黑体" panose="02010609060101010101" pitchFamily="49" charset="-122"/>
                        </a:rPr>
                        <a:t>新闻学(国际新闻传播)</a:t>
                      </a:r>
                      <a:endParaRPr lang="zh-CN" altLang="en-US" sz="1100" b="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52</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52</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网络与新媒体</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52</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52</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计算机类</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27</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30</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r h="315713">
                <a:tc>
                  <a:txBody>
                    <a:bodyPr/>
                    <a:lstStyle/>
                    <a:p>
                      <a:pPr algn="ctr" fontAlgn="ctr"/>
                      <a:r>
                        <a:rPr lang="zh-CN" altLang="en-US" sz="1100" u="none" strike="noStrike">
                          <a:effectLst/>
                          <a:latin typeface="黑体" panose="02010609060101010101" pitchFamily="49" charset="-122"/>
                          <a:ea typeface="黑体" panose="02010609060101010101" pitchFamily="49" charset="-122"/>
                        </a:rPr>
                        <a:t>浙江省</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algn="ctr" fontAlgn="ctr"/>
                      <a:r>
                        <a:rPr lang="zh-CN" altLang="en-US" sz="1100" u="none" strike="noStrike">
                          <a:effectLst/>
                          <a:latin typeface="黑体" panose="02010609060101010101" pitchFamily="49" charset="-122"/>
                          <a:ea typeface="黑体" panose="02010609060101010101" pitchFamily="49" charset="-122"/>
                        </a:rPr>
                        <a:t>综合改革</a:t>
                      </a:r>
                      <a:endParaRPr lang="zh-CN" altLang="en-US" sz="1100" b="0" i="0" u="none" strike="noStrike">
                        <a:effectLst/>
                        <a:latin typeface="黑体" panose="02010609060101010101" pitchFamily="49" charset="-122"/>
                        <a:ea typeface="黑体" panose="02010609060101010101" pitchFamily="49" charset="-122"/>
                      </a:endParaRPr>
                    </a:p>
                  </a:txBody>
                  <a:tcPr marL="9525" marR="9525" marT="9525" marB="0" anchor="ctr">
                    <a:solidFill>
                      <a:schemeClr val="accent2"/>
                    </a:solidFill>
                  </a:tcPr>
                </a:tc>
                <a:tc>
                  <a:txBody>
                    <a:bodyPr/>
                    <a:lstStyle/>
                    <a:p>
                      <a:pPr indent="0" algn="ctr">
                        <a:buNone/>
                      </a:pPr>
                      <a:r>
                        <a:rPr lang="zh-CN" sz="1100" b="0">
                          <a:solidFill>
                            <a:srgbClr val="000000"/>
                          </a:solidFill>
                          <a:latin typeface="黑体" panose="02010609060101010101" pitchFamily="49" charset="-122"/>
                          <a:ea typeface="黑体" panose="02010609060101010101" pitchFamily="49" charset="-122"/>
                        </a:rPr>
                        <a:t>会计学</a:t>
                      </a:r>
                      <a:endParaRPr lang="zh-CN"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594</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a:txBody>
                    <a:bodyPr/>
                    <a:lstStyle/>
                    <a:p>
                      <a:pPr indent="0" algn="ctr">
                        <a:buNone/>
                      </a:pPr>
                      <a:r>
                        <a:rPr lang="en-US" sz="1100" b="0">
                          <a:solidFill>
                            <a:srgbClr val="000000"/>
                          </a:solidFill>
                          <a:latin typeface="黑体" panose="02010609060101010101" pitchFamily="49" charset="-122"/>
                          <a:ea typeface="黑体" panose="02010609060101010101" pitchFamily="49" charset="-122"/>
                        </a:rPr>
                        <a:t>49</a:t>
                      </a:r>
                      <a:endParaRPr lang="en-US" altLang="en-US" sz="1100" b="0">
                        <a:solidFill>
                          <a:srgbClr val="000000"/>
                        </a:solidFill>
                        <a:latin typeface="黑体" panose="02010609060101010101" pitchFamily="49" charset="-122"/>
                        <a:ea typeface="黑体" panose="02010609060101010101" pitchFamily="49" charset="-122"/>
                      </a:endParaRPr>
                    </a:p>
                  </a:txBody>
                  <a:tcPr marL="12700" marR="12700" marT="12700" vert="horz" anchor="ctr">
                    <a:solidFill>
                      <a:schemeClr val="accent2"/>
                    </a:solidFill>
                  </a:tcPr>
                </a:tc>
                <a:tc vMerge="1">
                  <a:tcPr marL="9525" marR="952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13"/>
          <p:cNvSpPr/>
          <p:nvPr/>
        </p:nvSpPr>
        <p:spPr>
          <a:xfrm>
            <a:off x="4414298" y="2513175"/>
            <a:ext cx="2997643" cy="1516795"/>
          </a:xfrm>
          <a:custGeom>
            <a:avLst/>
            <a:gdLst>
              <a:gd name="connsiteX0" fmla="*/ 796771 w 3555337"/>
              <a:gd name="connsiteY0" fmla="*/ 0 h 1798986"/>
              <a:gd name="connsiteX1" fmla="*/ 1354466 w 3555337"/>
              <a:gd name="connsiteY1" fmla="*/ 0 h 1798986"/>
              <a:gd name="connsiteX2" fmla="*/ 1437767 w 3555337"/>
              <a:gd name="connsiteY2" fmla="*/ 0 h 1798986"/>
              <a:gd name="connsiteX3" fmla="*/ 1715650 w 3555337"/>
              <a:gd name="connsiteY3" fmla="*/ 0 h 1798986"/>
              <a:gd name="connsiteX4" fmla="*/ 1995462 w 3555337"/>
              <a:gd name="connsiteY4" fmla="*/ 0 h 1798986"/>
              <a:gd name="connsiteX5" fmla="*/ 2078763 w 3555337"/>
              <a:gd name="connsiteY5" fmla="*/ 0 h 1798986"/>
              <a:gd name="connsiteX6" fmla="*/ 2273345 w 3555337"/>
              <a:gd name="connsiteY6" fmla="*/ 0 h 1798986"/>
              <a:gd name="connsiteX7" fmla="*/ 2356646 w 3555337"/>
              <a:gd name="connsiteY7" fmla="*/ 0 h 1798986"/>
              <a:gd name="connsiteX8" fmla="*/ 2636458 w 3555337"/>
              <a:gd name="connsiteY8" fmla="*/ 0 h 1798986"/>
              <a:gd name="connsiteX9" fmla="*/ 2914341 w 3555337"/>
              <a:gd name="connsiteY9" fmla="*/ 0 h 1798986"/>
              <a:gd name="connsiteX10" fmla="*/ 2997642 w 3555337"/>
              <a:gd name="connsiteY10" fmla="*/ 0 h 1798986"/>
              <a:gd name="connsiteX11" fmla="*/ 3555337 w 3555337"/>
              <a:gd name="connsiteY11" fmla="*/ 0 h 1798986"/>
              <a:gd name="connsiteX12" fmla="*/ 2758566 w 3555337"/>
              <a:gd name="connsiteY12" fmla="*/ 1798986 h 1798986"/>
              <a:gd name="connsiteX13" fmla="*/ 2200871 w 3555337"/>
              <a:gd name="connsiteY13" fmla="*/ 1798986 h 1798986"/>
              <a:gd name="connsiteX14" fmla="*/ 2117571 w 3555337"/>
              <a:gd name="connsiteY14" fmla="*/ 1798986 h 1798986"/>
              <a:gd name="connsiteX15" fmla="*/ 1839688 w 3555337"/>
              <a:gd name="connsiteY15" fmla="*/ 1798986 h 1798986"/>
              <a:gd name="connsiteX16" fmla="*/ 1559876 w 3555337"/>
              <a:gd name="connsiteY16" fmla="*/ 1798986 h 1798986"/>
              <a:gd name="connsiteX17" fmla="*/ 1476574 w 3555337"/>
              <a:gd name="connsiteY17" fmla="*/ 1798986 h 1798986"/>
              <a:gd name="connsiteX18" fmla="*/ 1281993 w 3555337"/>
              <a:gd name="connsiteY18" fmla="*/ 1798986 h 1798986"/>
              <a:gd name="connsiteX19" fmla="*/ 1198692 w 3555337"/>
              <a:gd name="connsiteY19" fmla="*/ 1798986 h 1798986"/>
              <a:gd name="connsiteX20" fmla="*/ 918879 w 3555337"/>
              <a:gd name="connsiteY20" fmla="*/ 1798986 h 1798986"/>
              <a:gd name="connsiteX21" fmla="*/ 640997 w 3555337"/>
              <a:gd name="connsiteY21" fmla="*/ 1798986 h 1798986"/>
              <a:gd name="connsiteX22" fmla="*/ 557695 w 3555337"/>
              <a:gd name="connsiteY22" fmla="*/ 1798986 h 1798986"/>
              <a:gd name="connsiteX23" fmla="*/ 0 w 3555337"/>
              <a:gd name="connsiteY23" fmla="*/ 1798986 h 179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337" h="1798986">
                <a:moveTo>
                  <a:pt x="796771" y="0"/>
                </a:moveTo>
                <a:lnTo>
                  <a:pt x="1354466" y="0"/>
                </a:lnTo>
                <a:lnTo>
                  <a:pt x="1437767" y="0"/>
                </a:lnTo>
                <a:lnTo>
                  <a:pt x="1715650" y="0"/>
                </a:lnTo>
                <a:lnTo>
                  <a:pt x="1995462" y="0"/>
                </a:lnTo>
                <a:lnTo>
                  <a:pt x="2078763" y="0"/>
                </a:lnTo>
                <a:lnTo>
                  <a:pt x="2273345" y="0"/>
                </a:lnTo>
                <a:lnTo>
                  <a:pt x="2356646" y="0"/>
                </a:lnTo>
                <a:lnTo>
                  <a:pt x="2636458" y="0"/>
                </a:lnTo>
                <a:lnTo>
                  <a:pt x="2914341" y="0"/>
                </a:lnTo>
                <a:lnTo>
                  <a:pt x="2997642" y="0"/>
                </a:lnTo>
                <a:lnTo>
                  <a:pt x="3555337" y="0"/>
                </a:lnTo>
                <a:lnTo>
                  <a:pt x="2758566" y="1798986"/>
                </a:lnTo>
                <a:lnTo>
                  <a:pt x="2200871" y="1798986"/>
                </a:lnTo>
                <a:lnTo>
                  <a:pt x="2117571" y="1798986"/>
                </a:lnTo>
                <a:lnTo>
                  <a:pt x="1839688" y="1798986"/>
                </a:lnTo>
                <a:lnTo>
                  <a:pt x="1559876" y="1798986"/>
                </a:lnTo>
                <a:lnTo>
                  <a:pt x="1476574" y="1798986"/>
                </a:lnTo>
                <a:lnTo>
                  <a:pt x="1281993" y="1798986"/>
                </a:lnTo>
                <a:lnTo>
                  <a:pt x="1198692" y="1798986"/>
                </a:lnTo>
                <a:lnTo>
                  <a:pt x="918879" y="1798986"/>
                </a:lnTo>
                <a:lnTo>
                  <a:pt x="640997" y="1798986"/>
                </a:lnTo>
                <a:lnTo>
                  <a:pt x="557695" y="1798986"/>
                </a:lnTo>
                <a:lnTo>
                  <a:pt x="0" y="1798986"/>
                </a:lnTo>
                <a:close/>
              </a:path>
            </a:pathLst>
          </a:cu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任意多边形: 形状 1"/>
          <p:cNvSpPr/>
          <p:nvPr/>
        </p:nvSpPr>
        <p:spPr>
          <a:xfrm>
            <a:off x="4113032" y="602351"/>
            <a:ext cx="5965862" cy="6255649"/>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p:nvSpPr>
        <p:spPr>
          <a:xfrm>
            <a:off x="1" y="0"/>
            <a:ext cx="2997642" cy="3143250"/>
          </a:xfrm>
          <a:custGeom>
            <a:avLst/>
            <a:gdLst>
              <a:gd name="connsiteX0" fmla="*/ 3037408 w 6540310"/>
              <a:gd name="connsiteY0" fmla="*/ 0 h 6858000"/>
              <a:gd name="connsiteX1" fmla="*/ 6540310 w 6540310"/>
              <a:gd name="connsiteY1" fmla="*/ 0 h 6858000"/>
              <a:gd name="connsiteX2" fmla="*/ 3502902 w 6540310"/>
              <a:gd name="connsiteY2" fmla="*/ 6858000 h 6858000"/>
              <a:gd name="connsiteX3" fmla="*/ 0 w 65403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540310" h="6858000">
                <a:moveTo>
                  <a:pt x="3037408" y="0"/>
                </a:moveTo>
                <a:lnTo>
                  <a:pt x="6540310" y="0"/>
                </a:lnTo>
                <a:lnTo>
                  <a:pt x="3502902" y="6858000"/>
                </a:lnTo>
                <a:lnTo>
                  <a:pt x="0" y="6858000"/>
                </a:lnTo>
                <a:close/>
              </a:path>
            </a:pathLst>
          </a:custGeom>
          <a:gradFill>
            <a:gsLst>
              <a:gs pos="9000">
                <a:srgbClr val="F5F5F5"/>
              </a:gs>
              <a:gs pos="100000">
                <a:srgbClr val="F5F5F5">
                  <a:alpha val="7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a:off x="1389620" y="2513175"/>
            <a:ext cx="2997643" cy="1516795"/>
          </a:xfrm>
          <a:custGeom>
            <a:avLst/>
            <a:gdLst>
              <a:gd name="connsiteX0" fmla="*/ 796771 w 3555337"/>
              <a:gd name="connsiteY0" fmla="*/ 0 h 1798986"/>
              <a:gd name="connsiteX1" fmla="*/ 1354466 w 3555337"/>
              <a:gd name="connsiteY1" fmla="*/ 0 h 1798986"/>
              <a:gd name="connsiteX2" fmla="*/ 1437767 w 3555337"/>
              <a:gd name="connsiteY2" fmla="*/ 0 h 1798986"/>
              <a:gd name="connsiteX3" fmla="*/ 1715650 w 3555337"/>
              <a:gd name="connsiteY3" fmla="*/ 0 h 1798986"/>
              <a:gd name="connsiteX4" fmla="*/ 1995462 w 3555337"/>
              <a:gd name="connsiteY4" fmla="*/ 0 h 1798986"/>
              <a:gd name="connsiteX5" fmla="*/ 2078763 w 3555337"/>
              <a:gd name="connsiteY5" fmla="*/ 0 h 1798986"/>
              <a:gd name="connsiteX6" fmla="*/ 2273345 w 3555337"/>
              <a:gd name="connsiteY6" fmla="*/ 0 h 1798986"/>
              <a:gd name="connsiteX7" fmla="*/ 2356646 w 3555337"/>
              <a:gd name="connsiteY7" fmla="*/ 0 h 1798986"/>
              <a:gd name="connsiteX8" fmla="*/ 2636458 w 3555337"/>
              <a:gd name="connsiteY8" fmla="*/ 0 h 1798986"/>
              <a:gd name="connsiteX9" fmla="*/ 2914341 w 3555337"/>
              <a:gd name="connsiteY9" fmla="*/ 0 h 1798986"/>
              <a:gd name="connsiteX10" fmla="*/ 2997642 w 3555337"/>
              <a:gd name="connsiteY10" fmla="*/ 0 h 1798986"/>
              <a:gd name="connsiteX11" fmla="*/ 3555337 w 3555337"/>
              <a:gd name="connsiteY11" fmla="*/ 0 h 1798986"/>
              <a:gd name="connsiteX12" fmla="*/ 2758566 w 3555337"/>
              <a:gd name="connsiteY12" fmla="*/ 1798986 h 1798986"/>
              <a:gd name="connsiteX13" fmla="*/ 2200871 w 3555337"/>
              <a:gd name="connsiteY13" fmla="*/ 1798986 h 1798986"/>
              <a:gd name="connsiteX14" fmla="*/ 2117571 w 3555337"/>
              <a:gd name="connsiteY14" fmla="*/ 1798986 h 1798986"/>
              <a:gd name="connsiteX15" fmla="*/ 1839688 w 3555337"/>
              <a:gd name="connsiteY15" fmla="*/ 1798986 h 1798986"/>
              <a:gd name="connsiteX16" fmla="*/ 1559876 w 3555337"/>
              <a:gd name="connsiteY16" fmla="*/ 1798986 h 1798986"/>
              <a:gd name="connsiteX17" fmla="*/ 1476574 w 3555337"/>
              <a:gd name="connsiteY17" fmla="*/ 1798986 h 1798986"/>
              <a:gd name="connsiteX18" fmla="*/ 1281993 w 3555337"/>
              <a:gd name="connsiteY18" fmla="*/ 1798986 h 1798986"/>
              <a:gd name="connsiteX19" fmla="*/ 1198692 w 3555337"/>
              <a:gd name="connsiteY19" fmla="*/ 1798986 h 1798986"/>
              <a:gd name="connsiteX20" fmla="*/ 918879 w 3555337"/>
              <a:gd name="connsiteY20" fmla="*/ 1798986 h 1798986"/>
              <a:gd name="connsiteX21" fmla="*/ 640997 w 3555337"/>
              <a:gd name="connsiteY21" fmla="*/ 1798986 h 1798986"/>
              <a:gd name="connsiteX22" fmla="*/ 557695 w 3555337"/>
              <a:gd name="connsiteY22" fmla="*/ 1798986 h 1798986"/>
              <a:gd name="connsiteX23" fmla="*/ 0 w 3555337"/>
              <a:gd name="connsiteY23" fmla="*/ 1798986 h 179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337" h="1798986">
                <a:moveTo>
                  <a:pt x="796771" y="0"/>
                </a:moveTo>
                <a:lnTo>
                  <a:pt x="1354466" y="0"/>
                </a:lnTo>
                <a:lnTo>
                  <a:pt x="1437767" y="0"/>
                </a:lnTo>
                <a:lnTo>
                  <a:pt x="1715650" y="0"/>
                </a:lnTo>
                <a:lnTo>
                  <a:pt x="1995462" y="0"/>
                </a:lnTo>
                <a:lnTo>
                  <a:pt x="2078763" y="0"/>
                </a:lnTo>
                <a:lnTo>
                  <a:pt x="2273345" y="0"/>
                </a:lnTo>
                <a:lnTo>
                  <a:pt x="2356646" y="0"/>
                </a:lnTo>
                <a:lnTo>
                  <a:pt x="2636458" y="0"/>
                </a:lnTo>
                <a:lnTo>
                  <a:pt x="2914341" y="0"/>
                </a:lnTo>
                <a:lnTo>
                  <a:pt x="2997642" y="0"/>
                </a:lnTo>
                <a:lnTo>
                  <a:pt x="3555337" y="0"/>
                </a:lnTo>
                <a:lnTo>
                  <a:pt x="2758566" y="1798986"/>
                </a:lnTo>
                <a:lnTo>
                  <a:pt x="2200871" y="1798986"/>
                </a:lnTo>
                <a:lnTo>
                  <a:pt x="2117571" y="1798986"/>
                </a:lnTo>
                <a:lnTo>
                  <a:pt x="1839688" y="1798986"/>
                </a:lnTo>
                <a:lnTo>
                  <a:pt x="1559876" y="1798986"/>
                </a:lnTo>
                <a:lnTo>
                  <a:pt x="1476574" y="1798986"/>
                </a:lnTo>
                <a:lnTo>
                  <a:pt x="1281993" y="1798986"/>
                </a:lnTo>
                <a:lnTo>
                  <a:pt x="1198692" y="1798986"/>
                </a:lnTo>
                <a:lnTo>
                  <a:pt x="918879" y="1798986"/>
                </a:lnTo>
                <a:lnTo>
                  <a:pt x="640997" y="1798986"/>
                </a:lnTo>
                <a:lnTo>
                  <a:pt x="557695" y="1798986"/>
                </a:lnTo>
                <a:lnTo>
                  <a:pt x="0" y="1798986"/>
                </a:lnTo>
                <a:close/>
              </a:path>
            </a:pathLst>
          </a:cu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任意多边形: 形状 14"/>
          <p:cNvSpPr/>
          <p:nvPr/>
        </p:nvSpPr>
        <p:spPr>
          <a:xfrm>
            <a:off x="7438975" y="2513175"/>
            <a:ext cx="2997643" cy="1516795"/>
          </a:xfrm>
          <a:custGeom>
            <a:avLst/>
            <a:gdLst>
              <a:gd name="connsiteX0" fmla="*/ 796771 w 3555337"/>
              <a:gd name="connsiteY0" fmla="*/ 0 h 1798986"/>
              <a:gd name="connsiteX1" fmla="*/ 1354466 w 3555337"/>
              <a:gd name="connsiteY1" fmla="*/ 0 h 1798986"/>
              <a:gd name="connsiteX2" fmla="*/ 1437767 w 3555337"/>
              <a:gd name="connsiteY2" fmla="*/ 0 h 1798986"/>
              <a:gd name="connsiteX3" fmla="*/ 1715650 w 3555337"/>
              <a:gd name="connsiteY3" fmla="*/ 0 h 1798986"/>
              <a:gd name="connsiteX4" fmla="*/ 1995462 w 3555337"/>
              <a:gd name="connsiteY4" fmla="*/ 0 h 1798986"/>
              <a:gd name="connsiteX5" fmla="*/ 2078763 w 3555337"/>
              <a:gd name="connsiteY5" fmla="*/ 0 h 1798986"/>
              <a:gd name="connsiteX6" fmla="*/ 2273345 w 3555337"/>
              <a:gd name="connsiteY6" fmla="*/ 0 h 1798986"/>
              <a:gd name="connsiteX7" fmla="*/ 2356646 w 3555337"/>
              <a:gd name="connsiteY7" fmla="*/ 0 h 1798986"/>
              <a:gd name="connsiteX8" fmla="*/ 2636458 w 3555337"/>
              <a:gd name="connsiteY8" fmla="*/ 0 h 1798986"/>
              <a:gd name="connsiteX9" fmla="*/ 2914341 w 3555337"/>
              <a:gd name="connsiteY9" fmla="*/ 0 h 1798986"/>
              <a:gd name="connsiteX10" fmla="*/ 2997642 w 3555337"/>
              <a:gd name="connsiteY10" fmla="*/ 0 h 1798986"/>
              <a:gd name="connsiteX11" fmla="*/ 3555337 w 3555337"/>
              <a:gd name="connsiteY11" fmla="*/ 0 h 1798986"/>
              <a:gd name="connsiteX12" fmla="*/ 2758566 w 3555337"/>
              <a:gd name="connsiteY12" fmla="*/ 1798986 h 1798986"/>
              <a:gd name="connsiteX13" fmla="*/ 2200871 w 3555337"/>
              <a:gd name="connsiteY13" fmla="*/ 1798986 h 1798986"/>
              <a:gd name="connsiteX14" fmla="*/ 2117571 w 3555337"/>
              <a:gd name="connsiteY14" fmla="*/ 1798986 h 1798986"/>
              <a:gd name="connsiteX15" fmla="*/ 1839688 w 3555337"/>
              <a:gd name="connsiteY15" fmla="*/ 1798986 h 1798986"/>
              <a:gd name="connsiteX16" fmla="*/ 1559876 w 3555337"/>
              <a:gd name="connsiteY16" fmla="*/ 1798986 h 1798986"/>
              <a:gd name="connsiteX17" fmla="*/ 1476574 w 3555337"/>
              <a:gd name="connsiteY17" fmla="*/ 1798986 h 1798986"/>
              <a:gd name="connsiteX18" fmla="*/ 1281993 w 3555337"/>
              <a:gd name="connsiteY18" fmla="*/ 1798986 h 1798986"/>
              <a:gd name="connsiteX19" fmla="*/ 1198692 w 3555337"/>
              <a:gd name="connsiteY19" fmla="*/ 1798986 h 1798986"/>
              <a:gd name="connsiteX20" fmla="*/ 918879 w 3555337"/>
              <a:gd name="connsiteY20" fmla="*/ 1798986 h 1798986"/>
              <a:gd name="connsiteX21" fmla="*/ 640997 w 3555337"/>
              <a:gd name="connsiteY21" fmla="*/ 1798986 h 1798986"/>
              <a:gd name="connsiteX22" fmla="*/ 557695 w 3555337"/>
              <a:gd name="connsiteY22" fmla="*/ 1798986 h 1798986"/>
              <a:gd name="connsiteX23" fmla="*/ 0 w 3555337"/>
              <a:gd name="connsiteY23" fmla="*/ 1798986 h 179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337" h="1798986">
                <a:moveTo>
                  <a:pt x="796771" y="0"/>
                </a:moveTo>
                <a:lnTo>
                  <a:pt x="1354466" y="0"/>
                </a:lnTo>
                <a:lnTo>
                  <a:pt x="1437767" y="0"/>
                </a:lnTo>
                <a:lnTo>
                  <a:pt x="1715650" y="0"/>
                </a:lnTo>
                <a:lnTo>
                  <a:pt x="1995462" y="0"/>
                </a:lnTo>
                <a:lnTo>
                  <a:pt x="2078763" y="0"/>
                </a:lnTo>
                <a:lnTo>
                  <a:pt x="2273345" y="0"/>
                </a:lnTo>
                <a:lnTo>
                  <a:pt x="2356646" y="0"/>
                </a:lnTo>
                <a:lnTo>
                  <a:pt x="2636458" y="0"/>
                </a:lnTo>
                <a:lnTo>
                  <a:pt x="2914341" y="0"/>
                </a:lnTo>
                <a:lnTo>
                  <a:pt x="2997642" y="0"/>
                </a:lnTo>
                <a:lnTo>
                  <a:pt x="3555337" y="0"/>
                </a:lnTo>
                <a:lnTo>
                  <a:pt x="2758566" y="1798986"/>
                </a:lnTo>
                <a:lnTo>
                  <a:pt x="2200871" y="1798986"/>
                </a:lnTo>
                <a:lnTo>
                  <a:pt x="2117571" y="1798986"/>
                </a:lnTo>
                <a:lnTo>
                  <a:pt x="1839688" y="1798986"/>
                </a:lnTo>
                <a:lnTo>
                  <a:pt x="1559876" y="1798986"/>
                </a:lnTo>
                <a:lnTo>
                  <a:pt x="1476574" y="1798986"/>
                </a:lnTo>
                <a:lnTo>
                  <a:pt x="1281993" y="1798986"/>
                </a:lnTo>
                <a:lnTo>
                  <a:pt x="1198692" y="1798986"/>
                </a:lnTo>
                <a:lnTo>
                  <a:pt x="918879" y="1798986"/>
                </a:lnTo>
                <a:lnTo>
                  <a:pt x="640997" y="1798986"/>
                </a:lnTo>
                <a:lnTo>
                  <a:pt x="557695" y="1798986"/>
                </a:lnTo>
                <a:lnTo>
                  <a:pt x="0" y="1798986"/>
                </a:lnTo>
                <a:close/>
              </a:path>
            </a:pathLst>
          </a:cu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任意多边形: 形状 9"/>
          <p:cNvSpPr/>
          <p:nvPr/>
        </p:nvSpPr>
        <p:spPr>
          <a:xfrm>
            <a:off x="1572500" y="2729147"/>
            <a:ext cx="2997643" cy="1516795"/>
          </a:xfrm>
          <a:custGeom>
            <a:avLst/>
            <a:gdLst>
              <a:gd name="connsiteX0" fmla="*/ 796771 w 3555337"/>
              <a:gd name="connsiteY0" fmla="*/ 0 h 1798986"/>
              <a:gd name="connsiteX1" fmla="*/ 1354466 w 3555337"/>
              <a:gd name="connsiteY1" fmla="*/ 0 h 1798986"/>
              <a:gd name="connsiteX2" fmla="*/ 1437767 w 3555337"/>
              <a:gd name="connsiteY2" fmla="*/ 0 h 1798986"/>
              <a:gd name="connsiteX3" fmla="*/ 1715650 w 3555337"/>
              <a:gd name="connsiteY3" fmla="*/ 0 h 1798986"/>
              <a:gd name="connsiteX4" fmla="*/ 1995462 w 3555337"/>
              <a:gd name="connsiteY4" fmla="*/ 0 h 1798986"/>
              <a:gd name="connsiteX5" fmla="*/ 2078763 w 3555337"/>
              <a:gd name="connsiteY5" fmla="*/ 0 h 1798986"/>
              <a:gd name="connsiteX6" fmla="*/ 2273345 w 3555337"/>
              <a:gd name="connsiteY6" fmla="*/ 0 h 1798986"/>
              <a:gd name="connsiteX7" fmla="*/ 2356646 w 3555337"/>
              <a:gd name="connsiteY7" fmla="*/ 0 h 1798986"/>
              <a:gd name="connsiteX8" fmla="*/ 2636458 w 3555337"/>
              <a:gd name="connsiteY8" fmla="*/ 0 h 1798986"/>
              <a:gd name="connsiteX9" fmla="*/ 2914341 w 3555337"/>
              <a:gd name="connsiteY9" fmla="*/ 0 h 1798986"/>
              <a:gd name="connsiteX10" fmla="*/ 2997642 w 3555337"/>
              <a:gd name="connsiteY10" fmla="*/ 0 h 1798986"/>
              <a:gd name="connsiteX11" fmla="*/ 3555337 w 3555337"/>
              <a:gd name="connsiteY11" fmla="*/ 0 h 1798986"/>
              <a:gd name="connsiteX12" fmla="*/ 2758566 w 3555337"/>
              <a:gd name="connsiteY12" fmla="*/ 1798986 h 1798986"/>
              <a:gd name="connsiteX13" fmla="*/ 2200871 w 3555337"/>
              <a:gd name="connsiteY13" fmla="*/ 1798986 h 1798986"/>
              <a:gd name="connsiteX14" fmla="*/ 2117571 w 3555337"/>
              <a:gd name="connsiteY14" fmla="*/ 1798986 h 1798986"/>
              <a:gd name="connsiteX15" fmla="*/ 1839688 w 3555337"/>
              <a:gd name="connsiteY15" fmla="*/ 1798986 h 1798986"/>
              <a:gd name="connsiteX16" fmla="*/ 1559876 w 3555337"/>
              <a:gd name="connsiteY16" fmla="*/ 1798986 h 1798986"/>
              <a:gd name="connsiteX17" fmla="*/ 1476574 w 3555337"/>
              <a:gd name="connsiteY17" fmla="*/ 1798986 h 1798986"/>
              <a:gd name="connsiteX18" fmla="*/ 1281993 w 3555337"/>
              <a:gd name="connsiteY18" fmla="*/ 1798986 h 1798986"/>
              <a:gd name="connsiteX19" fmla="*/ 1198692 w 3555337"/>
              <a:gd name="connsiteY19" fmla="*/ 1798986 h 1798986"/>
              <a:gd name="connsiteX20" fmla="*/ 918879 w 3555337"/>
              <a:gd name="connsiteY20" fmla="*/ 1798986 h 1798986"/>
              <a:gd name="connsiteX21" fmla="*/ 640997 w 3555337"/>
              <a:gd name="connsiteY21" fmla="*/ 1798986 h 1798986"/>
              <a:gd name="connsiteX22" fmla="*/ 557695 w 3555337"/>
              <a:gd name="connsiteY22" fmla="*/ 1798986 h 1798986"/>
              <a:gd name="connsiteX23" fmla="*/ 0 w 3555337"/>
              <a:gd name="connsiteY23" fmla="*/ 1798986 h 179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337" h="1798986">
                <a:moveTo>
                  <a:pt x="796771" y="0"/>
                </a:moveTo>
                <a:lnTo>
                  <a:pt x="1354466" y="0"/>
                </a:lnTo>
                <a:lnTo>
                  <a:pt x="1437767" y="0"/>
                </a:lnTo>
                <a:lnTo>
                  <a:pt x="1715650" y="0"/>
                </a:lnTo>
                <a:lnTo>
                  <a:pt x="1995462" y="0"/>
                </a:lnTo>
                <a:lnTo>
                  <a:pt x="2078763" y="0"/>
                </a:lnTo>
                <a:lnTo>
                  <a:pt x="2273345" y="0"/>
                </a:lnTo>
                <a:lnTo>
                  <a:pt x="2356646" y="0"/>
                </a:lnTo>
                <a:lnTo>
                  <a:pt x="2636458" y="0"/>
                </a:lnTo>
                <a:lnTo>
                  <a:pt x="2914341" y="0"/>
                </a:lnTo>
                <a:lnTo>
                  <a:pt x="2997642" y="0"/>
                </a:lnTo>
                <a:lnTo>
                  <a:pt x="3555337" y="0"/>
                </a:lnTo>
                <a:lnTo>
                  <a:pt x="2758566" y="1798986"/>
                </a:lnTo>
                <a:lnTo>
                  <a:pt x="2200871" y="1798986"/>
                </a:lnTo>
                <a:lnTo>
                  <a:pt x="2117571" y="1798986"/>
                </a:lnTo>
                <a:lnTo>
                  <a:pt x="1839688" y="1798986"/>
                </a:lnTo>
                <a:lnTo>
                  <a:pt x="1559876" y="1798986"/>
                </a:lnTo>
                <a:lnTo>
                  <a:pt x="1476574" y="1798986"/>
                </a:lnTo>
                <a:lnTo>
                  <a:pt x="1281993" y="1798986"/>
                </a:lnTo>
                <a:lnTo>
                  <a:pt x="1198692" y="1798986"/>
                </a:lnTo>
                <a:lnTo>
                  <a:pt x="918879" y="1798986"/>
                </a:lnTo>
                <a:lnTo>
                  <a:pt x="640997" y="1798986"/>
                </a:lnTo>
                <a:lnTo>
                  <a:pt x="557695" y="1798986"/>
                </a:lnTo>
                <a:lnTo>
                  <a:pt x="0" y="1798986"/>
                </a:lnTo>
                <a:close/>
              </a:path>
            </a:pathLst>
          </a:custGeom>
          <a:blipFill>
            <a:blip r:embed="rId1"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任意多边形: 形状 10"/>
          <p:cNvSpPr/>
          <p:nvPr/>
        </p:nvSpPr>
        <p:spPr>
          <a:xfrm>
            <a:off x="4597178" y="2729147"/>
            <a:ext cx="2997643" cy="1516795"/>
          </a:xfrm>
          <a:custGeom>
            <a:avLst/>
            <a:gdLst>
              <a:gd name="connsiteX0" fmla="*/ 796771 w 3555337"/>
              <a:gd name="connsiteY0" fmla="*/ 0 h 1798986"/>
              <a:gd name="connsiteX1" fmla="*/ 1354466 w 3555337"/>
              <a:gd name="connsiteY1" fmla="*/ 0 h 1798986"/>
              <a:gd name="connsiteX2" fmla="*/ 1437767 w 3555337"/>
              <a:gd name="connsiteY2" fmla="*/ 0 h 1798986"/>
              <a:gd name="connsiteX3" fmla="*/ 1715650 w 3555337"/>
              <a:gd name="connsiteY3" fmla="*/ 0 h 1798986"/>
              <a:gd name="connsiteX4" fmla="*/ 1995462 w 3555337"/>
              <a:gd name="connsiteY4" fmla="*/ 0 h 1798986"/>
              <a:gd name="connsiteX5" fmla="*/ 2078763 w 3555337"/>
              <a:gd name="connsiteY5" fmla="*/ 0 h 1798986"/>
              <a:gd name="connsiteX6" fmla="*/ 2273345 w 3555337"/>
              <a:gd name="connsiteY6" fmla="*/ 0 h 1798986"/>
              <a:gd name="connsiteX7" fmla="*/ 2356646 w 3555337"/>
              <a:gd name="connsiteY7" fmla="*/ 0 h 1798986"/>
              <a:gd name="connsiteX8" fmla="*/ 2636458 w 3555337"/>
              <a:gd name="connsiteY8" fmla="*/ 0 h 1798986"/>
              <a:gd name="connsiteX9" fmla="*/ 2914341 w 3555337"/>
              <a:gd name="connsiteY9" fmla="*/ 0 h 1798986"/>
              <a:gd name="connsiteX10" fmla="*/ 2997642 w 3555337"/>
              <a:gd name="connsiteY10" fmla="*/ 0 h 1798986"/>
              <a:gd name="connsiteX11" fmla="*/ 3555337 w 3555337"/>
              <a:gd name="connsiteY11" fmla="*/ 0 h 1798986"/>
              <a:gd name="connsiteX12" fmla="*/ 2758566 w 3555337"/>
              <a:gd name="connsiteY12" fmla="*/ 1798986 h 1798986"/>
              <a:gd name="connsiteX13" fmla="*/ 2200871 w 3555337"/>
              <a:gd name="connsiteY13" fmla="*/ 1798986 h 1798986"/>
              <a:gd name="connsiteX14" fmla="*/ 2117571 w 3555337"/>
              <a:gd name="connsiteY14" fmla="*/ 1798986 h 1798986"/>
              <a:gd name="connsiteX15" fmla="*/ 1839688 w 3555337"/>
              <a:gd name="connsiteY15" fmla="*/ 1798986 h 1798986"/>
              <a:gd name="connsiteX16" fmla="*/ 1559876 w 3555337"/>
              <a:gd name="connsiteY16" fmla="*/ 1798986 h 1798986"/>
              <a:gd name="connsiteX17" fmla="*/ 1476574 w 3555337"/>
              <a:gd name="connsiteY17" fmla="*/ 1798986 h 1798986"/>
              <a:gd name="connsiteX18" fmla="*/ 1281993 w 3555337"/>
              <a:gd name="connsiteY18" fmla="*/ 1798986 h 1798986"/>
              <a:gd name="connsiteX19" fmla="*/ 1198692 w 3555337"/>
              <a:gd name="connsiteY19" fmla="*/ 1798986 h 1798986"/>
              <a:gd name="connsiteX20" fmla="*/ 918879 w 3555337"/>
              <a:gd name="connsiteY20" fmla="*/ 1798986 h 1798986"/>
              <a:gd name="connsiteX21" fmla="*/ 640997 w 3555337"/>
              <a:gd name="connsiteY21" fmla="*/ 1798986 h 1798986"/>
              <a:gd name="connsiteX22" fmla="*/ 557695 w 3555337"/>
              <a:gd name="connsiteY22" fmla="*/ 1798986 h 1798986"/>
              <a:gd name="connsiteX23" fmla="*/ 0 w 3555337"/>
              <a:gd name="connsiteY23" fmla="*/ 1798986 h 179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337" h="1798986">
                <a:moveTo>
                  <a:pt x="796771" y="0"/>
                </a:moveTo>
                <a:lnTo>
                  <a:pt x="1354466" y="0"/>
                </a:lnTo>
                <a:lnTo>
                  <a:pt x="1437767" y="0"/>
                </a:lnTo>
                <a:lnTo>
                  <a:pt x="1715650" y="0"/>
                </a:lnTo>
                <a:lnTo>
                  <a:pt x="1995462" y="0"/>
                </a:lnTo>
                <a:lnTo>
                  <a:pt x="2078763" y="0"/>
                </a:lnTo>
                <a:lnTo>
                  <a:pt x="2273345" y="0"/>
                </a:lnTo>
                <a:lnTo>
                  <a:pt x="2356646" y="0"/>
                </a:lnTo>
                <a:lnTo>
                  <a:pt x="2636458" y="0"/>
                </a:lnTo>
                <a:lnTo>
                  <a:pt x="2914341" y="0"/>
                </a:lnTo>
                <a:lnTo>
                  <a:pt x="2997642" y="0"/>
                </a:lnTo>
                <a:lnTo>
                  <a:pt x="3555337" y="0"/>
                </a:lnTo>
                <a:lnTo>
                  <a:pt x="2758566" y="1798986"/>
                </a:lnTo>
                <a:lnTo>
                  <a:pt x="2200871" y="1798986"/>
                </a:lnTo>
                <a:lnTo>
                  <a:pt x="2117571" y="1798986"/>
                </a:lnTo>
                <a:lnTo>
                  <a:pt x="1839688" y="1798986"/>
                </a:lnTo>
                <a:lnTo>
                  <a:pt x="1559876" y="1798986"/>
                </a:lnTo>
                <a:lnTo>
                  <a:pt x="1476574" y="1798986"/>
                </a:lnTo>
                <a:lnTo>
                  <a:pt x="1281993" y="1798986"/>
                </a:lnTo>
                <a:lnTo>
                  <a:pt x="1198692" y="1798986"/>
                </a:lnTo>
                <a:lnTo>
                  <a:pt x="918879" y="1798986"/>
                </a:lnTo>
                <a:lnTo>
                  <a:pt x="640997" y="1798986"/>
                </a:lnTo>
                <a:lnTo>
                  <a:pt x="557695" y="1798986"/>
                </a:lnTo>
                <a:lnTo>
                  <a:pt x="0" y="1798986"/>
                </a:lnTo>
                <a:close/>
              </a:path>
            </a:pathLst>
          </a:custGeom>
          <a:blipFill>
            <a:blip r:embed="rId2"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 name="任意多边形: 形状 11"/>
          <p:cNvSpPr/>
          <p:nvPr/>
        </p:nvSpPr>
        <p:spPr>
          <a:xfrm>
            <a:off x="7621855" y="2729147"/>
            <a:ext cx="2997643" cy="1516795"/>
          </a:xfrm>
          <a:custGeom>
            <a:avLst/>
            <a:gdLst>
              <a:gd name="connsiteX0" fmla="*/ 796771 w 3555337"/>
              <a:gd name="connsiteY0" fmla="*/ 0 h 1798986"/>
              <a:gd name="connsiteX1" fmla="*/ 1354466 w 3555337"/>
              <a:gd name="connsiteY1" fmla="*/ 0 h 1798986"/>
              <a:gd name="connsiteX2" fmla="*/ 1437767 w 3555337"/>
              <a:gd name="connsiteY2" fmla="*/ 0 h 1798986"/>
              <a:gd name="connsiteX3" fmla="*/ 1715650 w 3555337"/>
              <a:gd name="connsiteY3" fmla="*/ 0 h 1798986"/>
              <a:gd name="connsiteX4" fmla="*/ 1995462 w 3555337"/>
              <a:gd name="connsiteY4" fmla="*/ 0 h 1798986"/>
              <a:gd name="connsiteX5" fmla="*/ 2078763 w 3555337"/>
              <a:gd name="connsiteY5" fmla="*/ 0 h 1798986"/>
              <a:gd name="connsiteX6" fmla="*/ 2273345 w 3555337"/>
              <a:gd name="connsiteY6" fmla="*/ 0 h 1798986"/>
              <a:gd name="connsiteX7" fmla="*/ 2356646 w 3555337"/>
              <a:gd name="connsiteY7" fmla="*/ 0 h 1798986"/>
              <a:gd name="connsiteX8" fmla="*/ 2636458 w 3555337"/>
              <a:gd name="connsiteY8" fmla="*/ 0 h 1798986"/>
              <a:gd name="connsiteX9" fmla="*/ 2914341 w 3555337"/>
              <a:gd name="connsiteY9" fmla="*/ 0 h 1798986"/>
              <a:gd name="connsiteX10" fmla="*/ 2997642 w 3555337"/>
              <a:gd name="connsiteY10" fmla="*/ 0 h 1798986"/>
              <a:gd name="connsiteX11" fmla="*/ 3555337 w 3555337"/>
              <a:gd name="connsiteY11" fmla="*/ 0 h 1798986"/>
              <a:gd name="connsiteX12" fmla="*/ 2758566 w 3555337"/>
              <a:gd name="connsiteY12" fmla="*/ 1798986 h 1798986"/>
              <a:gd name="connsiteX13" fmla="*/ 2200871 w 3555337"/>
              <a:gd name="connsiteY13" fmla="*/ 1798986 h 1798986"/>
              <a:gd name="connsiteX14" fmla="*/ 2117571 w 3555337"/>
              <a:gd name="connsiteY14" fmla="*/ 1798986 h 1798986"/>
              <a:gd name="connsiteX15" fmla="*/ 1839688 w 3555337"/>
              <a:gd name="connsiteY15" fmla="*/ 1798986 h 1798986"/>
              <a:gd name="connsiteX16" fmla="*/ 1559876 w 3555337"/>
              <a:gd name="connsiteY16" fmla="*/ 1798986 h 1798986"/>
              <a:gd name="connsiteX17" fmla="*/ 1476574 w 3555337"/>
              <a:gd name="connsiteY17" fmla="*/ 1798986 h 1798986"/>
              <a:gd name="connsiteX18" fmla="*/ 1281993 w 3555337"/>
              <a:gd name="connsiteY18" fmla="*/ 1798986 h 1798986"/>
              <a:gd name="connsiteX19" fmla="*/ 1198692 w 3555337"/>
              <a:gd name="connsiteY19" fmla="*/ 1798986 h 1798986"/>
              <a:gd name="connsiteX20" fmla="*/ 918879 w 3555337"/>
              <a:gd name="connsiteY20" fmla="*/ 1798986 h 1798986"/>
              <a:gd name="connsiteX21" fmla="*/ 640997 w 3555337"/>
              <a:gd name="connsiteY21" fmla="*/ 1798986 h 1798986"/>
              <a:gd name="connsiteX22" fmla="*/ 557695 w 3555337"/>
              <a:gd name="connsiteY22" fmla="*/ 1798986 h 1798986"/>
              <a:gd name="connsiteX23" fmla="*/ 0 w 3555337"/>
              <a:gd name="connsiteY23" fmla="*/ 1798986 h 179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337" h="1798986">
                <a:moveTo>
                  <a:pt x="796771" y="0"/>
                </a:moveTo>
                <a:lnTo>
                  <a:pt x="1354466" y="0"/>
                </a:lnTo>
                <a:lnTo>
                  <a:pt x="1437767" y="0"/>
                </a:lnTo>
                <a:lnTo>
                  <a:pt x="1715650" y="0"/>
                </a:lnTo>
                <a:lnTo>
                  <a:pt x="1995462" y="0"/>
                </a:lnTo>
                <a:lnTo>
                  <a:pt x="2078763" y="0"/>
                </a:lnTo>
                <a:lnTo>
                  <a:pt x="2273345" y="0"/>
                </a:lnTo>
                <a:lnTo>
                  <a:pt x="2356646" y="0"/>
                </a:lnTo>
                <a:lnTo>
                  <a:pt x="2636458" y="0"/>
                </a:lnTo>
                <a:lnTo>
                  <a:pt x="2914341" y="0"/>
                </a:lnTo>
                <a:lnTo>
                  <a:pt x="2997642" y="0"/>
                </a:lnTo>
                <a:lnTo>
                  <a:pt x="3555337" y="0"/>
                </a:lnTo>
                <a:lnTo>
                  <a:pt x="2758566" y="1798986"/>
                </a:lnTo>
                <a:lnTo>
                  <a:pt x="2200871" y="1798986"/>
                </a:lnTo>
                <a:lnTo>
                  <a:pt x="2117571" y="1798986"/>
                </a:lnTo>
                <a:lnTo>
                  <a:pt x="1839688" y="1798986"/>
                </a:lnTo>
                <a:lnTo>
                  <a:pt x="1559876" y="1798986"/>
                </a:lnTo>
                <a:lnTo>
                  <a:pt x="1476574" y="1798986"/>
                </a:lnTo>
                <a:lnTo>
                  <a:pt x="1281993" y="1798986"/>
                </a:lnTo>
                <a:lnTo>
                  <a:pt x="1198692" y="1798986"/>
                </a:lnTo>
                <a:lnTo>
                  <a:pt x="918879" y="1798986"/>
                </a:lnTo>
                <a:lnTo>
                  <a:pt x="640997" y="1798986"/>
                </a:lnTo>
                <a:lnTo>
                  <a:pt x="557695" y="1798986"/>
                </a:lnTo>
                <a:lnTo>
                  <a:pt x="0" y="1798986"/>
                </a:lnTo>
                <a:close/>
              </a:path>
            </a:pathLst>
          </a:custGeom>
          <a:blipFill>
            <a:blip r:embed="rId3" cstate="hq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16" name="组合 15"/>
          <p:cNvGrpSpPr/>
          <p:nvPr/>
        </p:nvGrpSpPr>
        <p:grpSpPr>
          <a:xfrm flipH="1">
            <a:off x="1507105" y="4568844"/>
            <a:ext cx="2484438" cy="1210556"/>
            <a:chOff x="928274" y="2723985"/>
            <a:chExt cx="2484438" cy="1210556"/>
          </a:xfrm>
        </p:grpSpPr>
        <p:sp>
          <p:nvSpPr>
            <p:cNvPr id="17" name="文本框 16"/>
            <p:cNvSpPr txBox="1"/>
            <p:nvPr/>
          </p:nvSpPr>
          <p:spPr>
            <a:xfrm>
              <a:off x="928274" y="2723985"/>
              <a:ext cx="1569661" cy="461665"/>
            </a:xfrm>
            <a:prstGeom prst="rect">
              <a:avLst/>
            </a:prstGeom>
            <a:noFill/>
          </p:spPr>
          <p:txBody>
            <a:bodyPr wrap="none" rtlCol="0">
              <a:spAutoFit/>
              <a:scene3d>
                <a:camera prst="orthographicFront"/>
                <a:lightRig rig="threePt" dir="t"/>
              </a:scene3d>
              <a:sp3d contourW="12700"/>
            </a:bodyPr>
            <a:lstStyle/>
            <a:p>
              <a:pPr algn="r"/>
              <a:r>
                <a:rPr lang="zh-CN" altLang="en-US" sz="2400" i="1" spc="300" dirty="0">
                  <a:latin typeface="黑体" panose="02010609060101010101" pitchFamily="49" charset="-122"/>
                  <a:ea typeface="黑体" panose="02010609060101010101" pitchFamily="49" charset="-122"/>
                </a:rPr>
                <a:t>联系电话</a:t>
              </a:r>
              <a:endParaRPr lang="zh-CN" altLang="en-US" sz="2400" i="1" spc="300" dirty="0">
                <a:latin typeface="黑体" panose="02010609060101010101" pitchFamily="49" charset="-122"/>
                <a:ea typeface="黑体" panose="02010609060101010101" pitchFamily="49" charset="-122"/>
              </a:endParaRPr>
            </a:p>
          </p:txBody>
        </p:sp>
        <p:sp>
          <p:nvSpPr>
            <p:cNvPr id="18" name="文本框 17"/>
            <p:cNvSpPr txBox="1"/>
            <p:nvPr/>
          </p:nvSpPr>
          <p:spPr>
            <a:xfrm>
              <a:off x="960768" y="3159457"/>
              <a:ext cx="2451944" cy="775084"/>
            </a:xfrm>
            <a:prstGeom prst="rect">
              <a:avLst/>
            </a:prstGeom>
            <a:noFill/>
          </p:spPr>
          <p:txBody>
            <a:bodyPr wrap="square" rtlCol="0">
              <a:spAutoFit/>
              <a:scene3d>
                <a:camera prst="orthographicFront"/>
                <a:lightRig rig="threePt" dir="t"/>
              </a:scene3d>
              <a:sp3d contourW="12700"/>
            </a:bodyPr>
            <a:lstStyle/>
            <a:p>
              <a:pPr algn="r">
                <a:lnSpc>
                  <a:spcPct val="130000"/>
                </a:lnSpc>
              </a:pPr>
              <a:r>
                <a:rPr lang="en-US" altLang="zh-CN"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010-82303943</a:t>
              </a:r>
              <a:endParaRPr lang="en-US" altLang="zh-CN"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gn="r">
                <a:lnSpc>
                  <a:spcPct val="130000"/>
                </a:lnSpc>
              </a:pPr>
              <a:r>
                <a:rPr lang="en-US" altLang="zh-CN"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010-82303135</a:t>
              </a:r>
              <a:endParaRPr lang="en-US" altLang="zh-CN"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21" name="组合 20"/>
          <p:cNvGrpSpPr/>
          <p:nvPr/>
        </p:nvGrpSpPr>
        <p:grpSpPr>
          <a:xfrm flipH="1">
            <a:off x="4273825" y="4568844"/>
            <a:ext cx="2773136" cy="1248002"/>
            <a:chOff x="928274" y="2723985"/>
            <a:chExt cx="2773136" cy="1248002"/>
          </a:xfrm>
        </p:grpSpPr>
        <p:sp>
          <p:nvSpPr>
            <p:cNvPr id="22" name="文本框 21"/>
            <p:cNvSpPr txBox="1"/>
            <p:nvPr/>
          </p:nvSpPr>
          <p:spPr>
            <a:xfrm>
              <a:off x="928274" y="2723985"/>
              <a:ext cx="191591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网站、邮箱</a:t>
              </a:r>
              <a:endParaRPr lang="zh-CN" altLang="en-US" sz="2400" i="1" spc="300" dirty="0">
                <a:latin typeface="黑体" panose="02010609060101010101" pitchFamily="49" charset="-122"/>
                <a:ea typeface="黑体" panose="02010609060101010101" pitchFamily="49" charset="-122"/>
              </a:endParaRPr>
            </a:p>
          </p:txBody>
        </p:sp>
        <p:sp>
          <p:nvSpPr>
            <p:cNvPr id="23" name="文本框 22"/>
            <p:cNvSpPr txBox="1"/>
            <p:nvPr/>
          </p:nvSpPr>
          <p:spPr>
            <a:xfrm>
              <a:off x="960769" y="3159457"/>
              <a:ext cx="2740641" cy="812530"/>
            </a:xfrm>
            <a:prstGeom prst="rect">
              <a:avLst/>
            </a:prstGeom>
            <a:noFill/>
          </p:spPr>
          <p:txBody>
            <a:bodyPr wrap="square" rtlCol="0">
              <a:spAutoFit/>
              <a:scene3d>
                <a:camera prst="orthographicFront"/>
                <a:lightRig rig="threePt" dir="t"/>
              </a:scene3d>
              <a:sp3d contourW="12700"/>
            </a:bodyPr>
            <a:lstStyle/>
            <a:p>
              <a:pPr algn="r">
                <a:lnSpc>
                  <a:spcPct val="130000"/>
                </a:lnSpc>
              </a:pPr>
              <a:r>
                <a:rPr lang="en-US" altLang="zh-CN"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zsb.blcu.edu.cn</a:t>
              </a:r>
              <a:endParaRPr lang="en-US" altLang="zh-CN"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gn="r">
                <a:lnSpc>
                  <a:spcPct val="130000"/>
                </a:lnSpc>
              </a:pPr>
              <a:r>
                <a:rPr lang="en-US" altLang="zh-CN"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zhaoban@blcu.edu.cn</a:t>
              </a:r>
              <a:endParaRPr lang="en-US" altLang="zh-CN"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25" name="组合 24"/>
          <p:cNvGrpSpPr/>
          <p:nvPr/>
        </p:nvGrpSpPr>
        <p:grpSpPr>
          <a:xfrm flipH="1">
            <a:off x="7265504" y="4568844"/>
            <a:ext cx="2803691" cy="1368035"/>
            <a:chOff x="928274" y="2723985"/>
            <a:chExt cx="2803691" cy="1368035"/>
          </a:xfrm>
        </p:grpSpPr>
        <p:sp>
          <p:nvSpPr>
            <p:cNvPr id="26" name="文本框 25"/>
            <p:cNvSpPr txBox="1"/>
            <p:nvPr/>
          </p:nvSpPr>
          <p:spPr>
            <a:xfrm>
              <a:off x="928274" y="2723985"/>
              <a:ext cx="1915910" cy="461665"/>
            </a:xfrm>
            <a:prstGeom prst="rect">
              <a:avLst/>
            </a:prstGeom>
            <a:noFill/>
          </p:spPr>
          <p:txBody>
            <a:bodyPr wrap="none" rtlCol="0">
              <a:spAutoFit/>
              <a:scene3d>
                <a:camera prst="orthographicFront"/>
                <a:lightRig rig="threePt" dir="t"/>
              </a:scene3d>
              <a:sp3d contourW="12700"/>
            </a:bodyPr>
            <a:lstStyle/>
            <a:p>
              <a:r>
                <a:rPr lang="zh-CN" altLang="en-US" sz="2400" i="1" spc="300" dirty="0">
                  <a:latin typeface="黑体" panose="02010609060101010101" pitchFamily="49" charset="-122"/>
                  <a:ea typeface="黑体" panose="02010609060101010101" pitchFamily="49" charset="-122"/>
                </a:rPr>
                <a:t>新媒体平台</a:t>
              </a:r>
              <a:endParaRPr lang="zh-CN" altLang="en-US" sz="2400" i="1" spc="300" dirty="0">
                <a:latin typeface="黑体" panose="02010609060101010101" pitchFamily="49" charset="-122"/>
                <a:ea typeface="黑体" panose="02010609060101010101" pitchFamily="49" charset="-122"/>
              </a:endParaRPr>
            </a:p>
          </p:txBody>
        </p:sp>
        <p:sp>
          <p:nvSpPr>
            <p:cNvPr id="27" name="文本框 26"/>
            <p:cNvSpPr txBox="1"/>
            <p:nvPr/>
          </p:nvSpPr>
          <p:spPr>
            <a:xfrm>
              <a:off x="960768" y="3159457"/>
              <a:ext cx="2771197" cy="932563"/>
            </a:xfrm>
            <a:prstGeom prst="rect">
              <a:avLst/>
            </a:prstGeom>
            <a:noFill/>
          </p:spPr>
          <p:txBody>
            <a:bodyPr wrap="square" rtlCol="0">
              <a:spAutoFit/>
              <a:scene3d>
                <a:camera prst="orthographicFront"/>
                <a:lightRig rig="threePt" dir="t"/>
              </a:scene3d>
              <a:sp3d contourW="12700"/>
            </a:bodyPr>
            <a:lstStyle/>
            <a:p>
              <a:pPr algn="r">
                <a:lnSpc>
                  <a:spcPct val="130000"/>
                </a:lnSpc>
              </a:pPr>
              <a:r>
                <a:rPr lang="zh-CN" altLang="en-US"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今日头条、微博、抖音、</a:t>
              </a:r>
              <a:r>
                <a:rPr lang="en-US" altLang="zh-CN"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B</a:t>
              </a:r>
              <a:r>
                <a:rPr lang="zh-CN" altLang="en-US"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站</a:t>
              </a:r>
              <a:endParaRPr lang="en-US" altLang="zh-CN"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gn="r">
                <a:lnSpc>
                  <a:spcPct val="130000"/>
                </a:lnSpc>
              </a:pPr>
              <a:r>
                <a:rPr lang="zh-CN" altLang="en-US"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微信：北语招生、爱北语</a:t>
              </a:r>
              <a:endParaRPr lang="en-US" altLang="zh-CN"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a:p>
              <a:pPr algn="r">
                <a:lnSpc>
                  <a:spcPct val="130000"/>
                </a:lnSpc>
              </a:pPr>
              <a:r>
                <a:rPr lang="en-US" altLang="zh-CN"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QQ</a:t>
              </a:r>
              <a:r>
                <a:rPr lang="zh-CN" altLang="en-US"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群</a:t>
              </a:r>
              <a:r>
                <a:rPr lang="en-US" altLang="zh-CN"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rPr>
                <a:t>: 431548361</a:t>
              </a:r>
              <a:endParaRPr lang="en-US" altLang="zh-CN" sz="1400" i="1" dirty="0">
                <a:solidFill>
                  <a:schemeClr val="tx1">
                    <a:lumMod val="50000"/>
                    <a:lumOff val="50000"/>
                  </a:schemeClr>
                </a:solidFill>
                <a:latin typeface="微软雅黑 Light" panose="020B0502040204020203" pitchFamily="34" charset="-122"/>
                <a:ea typeface="微软雅黑 Light" panose="020B0502040204020203" pitchFamily="34" charset="-122"/>
                <a:cs typeface="Angsana New" panose="02020603050405020304" pitchFamily="18" charset="-34"/>
              </a:endParaRPr>
            </a:p>
          </p:txBody>
        </p:sp>
      </p:grpSp>
      <p:grpSp>
        <p:nvGrpSpPr>
          <p:cNvPr id="28" name="组合 27"/>
          <p:cNvGrpSpPr/>
          <p:nvPr/>
        </p:nvGrpSpPr>
        <p:grpSpPr>
          <a:xfrm>
            <a:off x="494553" y="150818"/>
            <a:ext cx="7313230" cy="1125795"/>
            <a:chOff x="494553" y="150818"/>
            <a:chExt cx="7313230" cy="1125795"/>
          </a:xfrm>
        </p:grpSpPr>
        <p:grpSp>
          <p:nvGrpSpPr>
            <p:cNvPr id="29" name="组合 28"/>
            <p:cNvGrpSpPr/>
            <p:nvPr/>
          </p:nvGrpSpPr>
          <p:grpSpPr>
            <a:xfrm>
              <a:off x="494553" y="321393"/>
              <a:ext cx="5744845" cy="955220"/>
              <a:chOff x="494553" y="321393"/>
              <a:chExt cx="5744845" cy="955220"/>
            </a:xfrm>
          </p:grpSpPr>
          <p:sp>
            <p:nvSpPr>
              <p:cNvPr id="31" name="文本框 30"/>
              <p:cNvSpPr txBox="1"/>
              <p:nvPr/>
            </p:nvSpPr>
            <p:spPr>
              <a:xfrm flipH="1">
                <a:off x="494554" y="321393"/>
                <a:ext cx="2595582" cy="769441"/>
              </a:xfrm>
              <a:prstGeom prst="rect">
                <a:avLst/>
              </a:prstGeom>
              <a:noFill/>
            </p:spPr>
            <p:txBody>
              <a:bodyPr wrap="none" rtlCol="0">
                <a:spAutoFit/>
                <a:scene3d>
                  <a:camera prst="orthographicFront"/>
                  <a:lightRig rig="threePt" dir="t"/>
                </a:scene3d>
                <a:sp3d contourW="12700"/>
              </a:bodyPr>
              <a:lstStyle/>
              <a:p>
                <a:r>
                  <a:rPr lang="zh-CN" altLang="en-US" sz="4400" b="1" i="1" spc="300" dirty="0">
                    <a:solidFill>
                      <a:srgbClr val="24C6DB"/>
                    </a:solidFill>
                    <a:latin typeface="黑体" panose="02010609060101010101" pitchFamily="49" charset="-122"/>
                    <a:ea typeface="黑体" panose="02010609060101010101" pitchFamily="49" charset="-122"/>
                  </a:rPr>
                  <a:t>招生</a:t>
                </a:r>
                <a:r>
                  <a:rPr lang="zh-CN" altLang="en-US" sz="4400" b="1" i="1" spc="300" dirty="0">
                    <a:solidFill>
                      <a:schemeClr val="bg2">
                        <a:lumMod val="50000"/>
                      </a:schemeClr>
                    </a:solidFill>
                    <a:latin typeface="黑体" panose="02010609060101010101" pitchFamily="49" charset="-122"/>
                    <a:ea typeface="黑体" panose="02010609060101010101" pitchFamily="49" charset="-122"/>
                  </a:rPr>
                  <a:t>政策</a:t>
                </a:r>
                <a:endParaRPr lang="zh-CN" altLang="en-US" sz="4400" b="1" i="1" spc="300" dirty="0">
                  <a:solidFill>
                    <a:schemeClr val="bg2">
                      <a:lumMod val="50000"/>
                    </a:schemeClr>
                  </a:solidFill>
                  <a:latin typeface="黑体" panose="02010609060101010101" pitchFamily="49" charset="-122"/>
                  <a:ea typeface="黑体" panose="02010609060101010101" pitchFamily="49" charset="-122"/>
                </a:endParaRPr>
              </a:p>
            </p:txBody>
          </p:sp>
          <p:sp>
            <p:nvSpPr>
              <p:cNvPr id="32" name="文本框 31"/>
              <p:cNvSpPr txBox="1"/>
              <p:nvPr/>
            </p:nvSpPr>
            <p:spPr>
              <a:xfrm>
                <a:off x="494553" y="935814"/>
                <a:ext cx="5744845" cy="340799"/>
              </a:xfrm>
              <a:prstGeom prst="rect">
                <a:avLst/>
              </a:prstGeom>
              <a:noFill/>
            </p:spPr>
            <p:txBody>
              <a:bodyPr wrap="square" rtlCol="0">
                <a:spAutoFit/>
                <a:scene3d>
                  <a:camera prst="orthographicFront"/>
                  <a:lightRig rig="threePt" dir="t"/>
                </a:scene3d>
                <a:sp3d contourW="12700"/>
              </a:bodyPr>
              <a:lstStyle/>
              <a:p>
                <a:pPr>
                  <a:lnSpc>
                    <a:spcPct val="130000"/>
                  </a:lnSpc>
                </a:pPr>
                <a:r>
                  <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rPr>
                  <a:t>BEIJING  LANGUAGE  AND  CULTURE  UNIVERSITY</a:t>
                </a:r>
                <a:endParaRPr lang="en-US" altLang="zh-CN" sz="1400" i="1" dirty="0">
                  <a:solidFill>
                    <a:schemeClr val="tx1">
                      <a:lumMod val="50000"/>
                      <a:lumOff val="50000"/>
                    </a:schemeClr>
                  </a:solidFill>
                  <a:latin typeface="3ds" panose="02000503020000020004" pitchFamily="2" charset="0"/>
                  <a:ea typeface="黑体" panose="02010609060101010101" pitchFamily="49" charset="-122"/>
                  <a:cs typeface="Angsana New" panose="02020603050405020304" pitchFamily="18" charset="-34"/>
                </a:endParaRPr>
              </a:p>
            </p:txBody>
          </p:sp>
        </p:grpSp>
        <p:sp>
          <p:nvSpPr>
            <p:cNvPr id="30" name="矩形 36"/>
            <p:cNvSpPr>
              <a:spLocks noChangeArrowheads="1"/>
            </p:cNvSpPr>
            <p:nvPr/>
          </p:nvSpPr>
          <p:spPr bwMode="auto">
            <a:xfrm>
              <a:off x="2997643" y="150818"/>
              <a:ext cx="4810140" cy="8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250000"/>
                </a:lnSpc>
                <a:spcBef>
                  <a:spcPct val="0"/>
                </a:spcBef>
                <a:buFontTx/>
                <a:buNone/>
              </a:pPr>
              <a:r>
                <a:rPr lang="en-US" altLang="zh-CN" sz="2400" b="1" i="1" spc="300" dirty="0">
                  <a:solidFill>
                    <a:srgbClr val="24C6DB"/>
                  </a:solidFill>
                  <a:latin typeface="黑体" panose="02010609060101010101" pitchFamily="49" charset="-122"/>
                  <a:ea typeface="黑体" panose="02010609060101010101" pitchFamily="49" charset="-122"/>
                </a:rPr>
                <a:t>- </a:t>
              </a:r>
              <a:r>
                <a:rPr lang="zh-CN" altLang="en-US" sz="2400" b="1" i="1" spc="300" dirty="0">
                  <a:solidFill>
                    <a:srgbClr val="24C6DB"/>
                  </a:solidFill>
                  <a:latin typeface="黑体" panose="02010609060101010101" pitchFamily="49" charset="-122"/>
                  <a:ea typeface="黑体" panose="02010609060101010101" pitchFamily="49" charset="-122"/>
                </a:rPr>
                <a:t>联系</a:t>
              </a:r>
              <a:r>
                <a:rPr lang="zh-CN" altLang="en-US" sz="2400" b="1" i="1" spc="300" dirty="0">
                  <a:solidFill>
                    <a:schemeClr val="bg2">
                      <a:lumMod val="50000"/>
                    </a:schemeClr>
                  </a:solidFill>
                  <a:latin typeface="黑体" panose="02010609060101010101" pitchFamily="49" charset="-122"/>
                  <a:ea typeface="黑体" panose="02010609060101010101" pitchFamily="49" charset="-122"/>
                </a:rPr>
                <a:t>方式</a:t>
              </a:r>
              <a:endParaRPr lang="zh-CN" altLang="en-US" sz="2400" b="1" i="1" spc="300" dirty="0">
                <a:solidFill>
                  <a:schemeClr val="bg2">
                    <a:lumMod val="50000"/>
                  </a:schemeClr>
                </a:solidFill>
                <a:latin typeface="黑体" panose="02010609060101010101" pitchFamily="49" charset="-122"/>
                <a:ea typeface="黑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1+#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1+#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1+#ppt_w/2"/>
                                          </p:val>
                                        </p:tav>
                                        <p:tav tm="100000">
                                          <p:val>
                                            <p:strVal val="#ppt_x"/>
                                          </p:val>
                                        </p:tav>
                                      </p:tavLst>
                                    </p:anim>
                                    <p:anim calcmode="lin" valueType="num">
                                      <p:cBhvr additive="base">
                                        <p:cTn id="24" dur="50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2" presetClass="entr" presetSubtype="8"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0-#ppt_w/2"/>
                                          </p:val>
                                        </p:tav>
                                        <p:tav tm="100000">
                                          <p:val>
                                            <p:strVal val="#ppt_x"/>
                                          </p:val>
                                        </p:tav>
                                      </p:tavLst>
                                    </p:anim>
                                    <p:anim calcmode="lin" valueType="num">
                                      <p:cBhvr additive="base">
                                        <p:cTn id="33" dur="500" fill="hold"/>
                                        <p:tgtEl>
                                          <p:spTgt spid="16"/>
                                        </p:tgtEl>
                                        <p:attrNameLst>
                                          <p:attrName>ppt_y</p:attrName>
                                        </p:attrNameLst>
                                      </p:cBhvr>
                                      <p:tavLst>
                                        <p:tav tm="0">
                                          <p:val>
                                            <p:strVal val="#ppt_y"/>
                                          </p:val>
                                        </p:tav>
                                        <p:tav tm="100000">
                                          <p:val>
                                            <p:strVal val="#ppt_y"/>
                                          </p:val>
                                        </p:tav>
                                      </p:tavLst>
                                    </p:anim>
                                  </p:childTnLst>
                                </p:cTn>
                              </p:par>
                              <p:par>
                                <p:cTn id="34" presetID="2" presetClass="entr" presetSubtype="8"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additive="base">
                                        <p:cTn id="36" dur="500" fill="hold"/>
                                        <p:tgtEl>
                                          <p:spTgt spid="21"/>
                                        </p:tgtEl>
                                        <p:attrNameLst>
                                          <p:attrName>ppt_x</p:attrName>
                                        </p:attrNameLst>
                                      </p:cBhvr>
                                      <p:tavLst>
                                        <p:tav tm="0">
                                          <p:val>
                                            <p:strVal val="0-#ppt_w/2"/>
                                          </p:val>
                                        </p:tav>
                                        <p:tav tm="100000">
                                          <p:val>
                                            <p:strVal val="#ppt_x"/>
                                          </p:val>
                                        </p:tav>
                                      </p:tavLst>
                                    </p:anim>
                                    <p:anim calcmode="lin" valueType="num">
                                      <p:cBhvr additive="base">
                                        <p:cTn id="37" dur="500" fill="hold"/>
                                        <p:tgtEl>
                                          <p:spTgt spid="21"/>
                                        </p:tgtEl>
                                        <p:attrNameLst>
                                          <p:attrName>ppt_y</p:attrName>
                                        </p:attrNameLst>
                                      </p:cBhvr>
                                      <p:tavLst>
                                        <p:tav tm="0">
                                          <p:val>
                                            <p:strVal val="#ppt_y"/>
                                          </p:val>
                                        </p:tav>
                                        <p:tav tm="100000">
                                          <p:val>
                                            <p:strVal val="#ppt_y"/>
                                          </p:val>
                                        </p:tav>
                                      </p:tavLst>
                                    </p:anim>
                                  </p:childTnLst>
                                </p:cTn>
                              </p:par>
                              <p:par>
                                <p:cTn id="38" presetID="2" presetClass="entr" presetSubtype="8"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cBhvr additive="base">
                                        <p:cTn id="40" dur="500" fill="hold"/>
                                        <p:tgtEl>
                                          <p:spTgt spid="25"/>
                                        </p:tgtEl>
                                        <p:attrNameLst>
                                          <p:attrName>ppt_x</p:attrName>
                                        </p:attrNameLst>
                                      </p:cBhvr>
                                      <p:tavLst>
                                        <p:tav tm="0">
                                          <p:val>
                                            <p:strVal val="0-#ppt_w/2"/>
                                          </p:val>
                                        </p:tav>
                                        <p:tav tm="100000">
                                          <p:val>
                                            <p:strVal val="#ppt_x"/>
                                          </p:val>
                                        </p:tav>
                                      </p:tavLst>
                                    </p:anim>
                                    <p:anim calcmode="lin" valueType="num">
                                      <p:cBhvr additive="base">
                                        <p:cTn id="41"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15" grpId="0" animBg="1"/>
      <p:bldP spid="10" grpId="0" bldLvl="0" animBg="1"/>
      <p:bldP spid="11" grpId="0" bldLvl="0" animBg="1"/>
      <p:bldP spid="12"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519545"/>
            <a:ext cx="12192000" cy="7377545"/>
          </a:xfrm>
          <a:prstGeom prst="rect">
            <a:avLst/>
          </a:prstGeom>
        </p:spPr>
      </p:pic>
      <p:sp>
        <p:nvSpPr>
          <p:cNvPr id="5" name="矩形 4"/>
          <p:cNvSpPr/>
          <p:nvPr/>
        </p:nvSpPr>
        <p:spPr>
          <a:xfrm>
            <a:off x="0" y="0"/>
            <a:ext cx="12192000" cy="6858000"/>
          </a:xfrm>
          <a:prstGeom prst="rect">
            <a:avLst/>
          </a:prstGeom>
          <a:gradFill>
            <a:gsLst>
              <a:gs pos="0">
                <a:srgbClr val="15234F">
                  <a:alpha val="0"/>
                </a:srgbClr>
              </a:gs>
              <a:gs pos="100000">
                <a:srgbClr val="15234F">
                  <a:alpha val="9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2219860" y="-1193324"/>
            <a:ext cx="4734460" cy="5845933"/>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nvSpPr>
        <p:spPr>
          <a:xfrm>
            <a:off x="9698133" y="3110524"/>
            <a:ext cx="4563010" cy="5634237"/>
          </a:xfrm>
          <a:custGeom>
            <a:avLst/>
            <a:gdLst>
              <a:gd name="connsiteX0" fmla="*/ 1085500 w 1984909"/>
              <a:gd name="connsiteY0" fmla="*/ 0 h 2450892"/>
              <a:gd name="connsiteX1" fmla="*/ 1984909 w 1984909"/>
              <a:gd name="connsiteY1" fmla="*/ 0 h 2450892"/>
              <a:gd name="connsiteX2" fmla="*/ 899409 w 1984909"/>
              <a:gd name="connsiteY2" fmla="*/ 2450892 h 2450892"/>
              <a:gd name="connsiteX3" fmla="*/ 0 w 1984909"/>
              <a:gd name="connsiteY3" fmla="*/ 2450892 h 2450892"/>
            </a:gdLst>
            <a:ahLst/>
            <a:cxnLst>
              <a:cxn ang="0">
                <a:pos x="connsiteX0" y="connsiteY0"/>
              </a:cxn>
              <a:cxn ang="0">
                <a:pos x="connsiteX1" y="connsiteY1"/>
              </a:cxn>
              <a:cxn ang="0">
                <a:pos x="connsiteX2" y="connsiteY2"/>
              </a:cxn>
              <a:cxn ang="0">
                <a:pos x="connsiteX3" y="connsiteY3"/>
              </a:cxn>
            </a:cxnLst>
            <a:rect l="l" t="t" r="r" b="b"/>
            <a:pathLst>
              <a:path w="1984909" h="2450892">
                <a:moveTo>
                  <a:pt x="1085500" y="0"/>
                </a:moveTo>
                <a:lnTo>
                  <a:pt x="1984909" y="0"/>
                </a:lnTo>
                <a:lnTo>
                  <a:pt x="899409" y="2450892"/>
                </a:lnTo>
                <a:lnTo>
                  <a:pt x="0" y="2450892"/>
                </a:lnTo>
                <a:close/>
              </a:path>
            </a:pathLst>
          </a:custGeom>
          <a:gradFill>
            <a:gsLst>
              <a:gs pos="0">
                <a:srgbClr val="0070C0"/>
              </a:gs>
              <a:gs pos="100000">
                <a:srgbClr val="45BDD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751710" y="2723410"/>
            <a:ext cx="8709313" cy="1754326"/>
          </a:xfrm>
          <a:prstGeom prst="rect">
            <a:avLst/>
          </a:prstGeom>
          <a:noFill/>
        </p:spPr>
        <p:txBody>
          <a:bodyPr wrap="square" rtlCol="0">
            <a:spAutoFit/>
            <a:scene3d>
              <a:camera prst="orthographicFront"/>
              <a:lightRig rig="threePt" dir="t"/>
            </a:scene3d>
            <a:sp3d contourW="12700"/>
          </a:bodyPr>
          <a:lstStyle/>
          <a:p>
            <a:pPr algn="ctr"/>
            <a:r>
              <a:rPr lang="zh-CN" altLang="en-US" sz="54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加入北语“小联合国”</a:t>
            </a:r>
            <a:endParaRPr lang="en-US" altLang="zh-CN" sz="54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algn="ctr"/>
            <a:r>
              <a:rPr lang="zh-CN" altLang="en-US" sz="54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创造并分享世界多元文化</a:t>
            </a:r>
            <a:endParaRPr lang="zh-CN" altLang="en-US" sz="5400" i="1" spc="600"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9" name="文本框 18"/>
          <p:cNvSpPr txBox="1"/>
          <p:nvPr/>
        </p:nvSpPr>
        <p:spPr>
          <a:xfrm>
            <a:off x="3706091" y="5089583"/>
            <a:ext cx="4779818" cy="738664"/>
          </a:xfrm>
          <a:prstGeom prst="rect">
            <a:avLst/>
          </a:prstGeom>
          <a:noFill/>
        </p:spPr>
        <p:txBody>
          <a:bodyPr wrap="square" rtlCol="0">
            <a:spAutoFit/>
            <a:scene3d>
              <a:camera prst="orthographicFront"/>
              <a:lightRig rig="threePt" dir="t"/>
            </a:scene3d>
            <a:sp3d contourW="12700"/>
          </a:bodyPr>
          <a:lstStyle/>
          <a:p>
            <a:pPr algn="dist"/>
            <a:r>
              <a:rPr lang="zh-CN" altLang="en-US" sz="2400" i="1" spc="600" dirty="0">
                <a:solidFill>
                  <a:schemeClr val="bg1">
                    <a:lumMod val="85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北京语言大学招生办公室</a:t>
            </a:r>
            <a:endParaRPr lang="en-US" altLang="zh-CN" sz="2400" i="1" spc="600" dirty="0">
              <a:solidFill>
                <a:schemeClr val="bg1">
                  <a:lumMod val="85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algn="dist"/>
            <a:r>
              <a:rPr lang="en-US" altLang="zh-CN" i="1" spc="600" dirty="0">
                <a:solidFill>
                  <a:schemeClr val="bg1">
                    <a:lumMod val="85000"/>
                  </a:schemeClr>
                </a:solidFill>
                <a:effectLst>
                  <a:outerShdw blurRad="38100" dist="38100" dir="2700000" algn="tl">
                    <a:srgbClr val="000000">
                      <a:alpha val="43137"/>
                    </a:srgbClr>
                  </a:outerShdw>
                </a:effectLst>
                <a:latin typeface="3ds" panose="02000503020000020004" pitchFamily="2" charset="0"/>
                <a:ea typeface="黑体" panose="02010609060101010101" pitchFamily="49" charset="-122"/>
                <a:sym typeface="Arial" panose="020B0604020202020204" pitchFamily="34" charset="0"/>
              </a:rPr>
              <a:t>ZSB.BLCU.EDU.CN</a:t>
            </a:r>
            <a:endParaRPr lang="zh-CN" altLang="en-US" i="1" spc="600" dirty="0">
              <a:solidFill>
                <a:schemeClr val="bg1">
                  <a:lumMod val="85000"/>
                </a:schemeClr>
              </a:solidFill>
              <a:effectLst>
                <a:outerShdw blurRad="38100" dist="38100" dir="2700000" algn="tl">
                  <a:srgbClr val="000000">
                    <a:alpha val="43137"/>
                  </a:srgbClr>
                </a:outerShdw>
              </a:effectLst>
              <a:latin typeface="3ds" panose="02000503020000020004" pitchFamily="2" charset="0"/>
              <a:ea typeface="黑体" panose="02010609060101010101" pitchFamily="49" charset="-122"/>
            </a:endParaRPr>
          </a:p>
        </p:txBody>
      </p:sp>
      <p:sp>
        <p:nvSpPr>
          <p:cNvPr id="16" name="Oval 1"/>
          <p:cNvSpPr/>
          <p:nvPr/>
        </p:nvSpPr>
        <p:spPr>
          <a:xfrm flipH="1">
            <a:off x="342899"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i="1"/>
          </a:p>
        </p:txBody>
      </p:sp>
      <p:sp>
        <p:nvSpPr>
          <p:cNvPr id="17" name="Oval 13"/>
          <p:cNvSpPr/>
          <p:nvPr/>
        </p:nvSpPr>
        <p:spPr>
          <a:xfrm>
            <a:off x="825498" y="6286711"/>
            <a:ext cx="304800" cy="304376"/>
          </a:xfrm>
          <a:custGeom>
            <a:avLst/>
            <a:gdLst>
              <a:gd name="connsiteX0" fmla="*/ 206311 w 609050"/>
              <a:gd name="connsiteY0" fmla="*/ 155548 h 608203"/>
              <a:gd name="connsiteX1" fmla="*/ 458637 w 609050"/>
              <a:gd name="connsiteY1" fmla="*/ 286107 h 608203"/>
              <a:gd name="connsiteX2" fmla="*/ 469542 w 609050"/>
              <a:gd name="connsiteY2" fmla="*/ 304087 h 608203"/>
              <a:gd name="connsiteX3" fmla="*/ 458637 w 609050"/>
              <a:gd name="connsiteY3" fmla="*/ 322068 h 608203"/>
              <a:gd name="connsiteX4" fmla="*/ 206311 w 609050"/>
              <a:gd name="connsiteY4" fmla="*/ 452627 h 608203"/>
              <a:gd name="connsiteX5" fmla="*/ 186501 w 609050"/>
              <a:gd name="connsiteY5" fmla="*/ 451927 h 608203"/>
              <a:gd name="connsiteX6" fmla="*/ 176696 w 609050"/>
              <a:gd name="connsiteY6" fmla="*/ 434646 h 608203"/>
              <a:gd name="connsiteX7" fmla="*/ 176696 w 609050"/>
              <a:gd name="connsiteY7" fmla="*/ 173628 h 608203"/>
              <a:gd name="connsiteX8" fmla="*/ 186501 w 609050"/>
              <a:gd name="connsiteY8" fmla="*/ 156247 h 608203"/>
              <a:gd name="connsiteX9" fmla="*/ 206311 w 609050"/>
              <a:gd name="connsiteY9" fmla="*/ 155548 h 608203"/>
              <a:gd name="connsiteX10" fmla="*/ 304525 w 609050"/>
              <a:gd name="connsiteY10" fmla="*/ 60840 h 608203"/>
              <a:gd name="connsiteX11" fmla="*/ 60925 w 609050"/>
              <a:gd name="connsiteY11" fmla="*/ 304102 h 608203"/>
              <a:gd name="connsiteX12" fmla="*/ 304525 w 609050"/>
              <a:gd name="connsiteY12" fmla="*/ 547463 h 608203"/>
              <a:gd name="connsiteX13" fmla="*/ 548225 w 609050"/>
              <a:gd name="connsiteY13" fmla="*/ 304102 h 608203"/>
              <a:gd name="connsiteX14" fmla="*/ 304525 w 609050"/>
              <a:gd name="connsiteY14" fmla="*/ 60840 h 608203"/>
              <a:gd name="connsiteX15" fmla="*/ 304525 w 609050"/>
              <a:gd name="connsiteY15" fmla="*/ 0 h 608203"/>
              <a:gd name="connsiteX16" fmla="*/ 609050 w 609050"/>
              <a:gd name="connsiteY16" fmla="*/ 304102 h 608203"/>
              <a:gd name="connsiteX17" fmla="*/ 304525 w 609050"/>
              <a:gd name="connsiteY17" fmla="*/ 608203 h 608203"/>
              <a:gd name="connsiteX18" fmla="*/ 0 w 609050"/>
              <a:gd name="connsiteY18" fmla="*/ 304102 h 608203"/>
              <a:gd name="connsiteX19" fmla="*/ 304525 w 609050"/>
              <a:gd name="connsiteY19"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050" h="608203">
                <a:moveTo>
                  <a:pt x="206311" y="155548"/>
                </a:moveTo>
                <a:lnTo>
                  <a:pt x="458637" y="286107"/>
                </a:lnTo>
                <a:cubicBezTo>
                  <a:pt x="465340" y="289603"/>
                  <a:pt x="469542" y="296595"/>
                  <a:pt x="469542" y="304087"/>
                </a:cubicBezTo>
                <a:cubicBezTo>
                  <a:pt x="469542" y="311679"/>
                  <a:pt x="465340" y="318671"/>
                  <a:pt x="458637" y="322068"/>
                </a:cubicBezTo>
                <a:lnTo>
                  <a:pt x="206311" y="452627"/>
                </a:lnTo>
                <a:cubicBezTo>
                  <a:pt x="200008" y="455923"/>
                  <a:pt x="192504" y="455623"/>
                  <a:pt x="186501" y="451927"/>
                </a:cubicBezTo>
                <a:cubicBezTo>
                  <a:pt x="180398" y="448231"/>
                  <a:pt x="176696" y="441738"/>
                  <a:pt x="176696" y="434646"/>
                </a:cubicBezTo>
                <a:lnTo>
                  <a:pt x="176696" y="173628"/>
                </a:lnTo>
                <a:cubicBezTo>
                  <a:pt x="176696" y="166536"/>
                  <a:pt x="180398" y="159943"/>
                  <a:pt x="186501" y="156247"/>
                </a:cubicBezTo>
                <a:cubicBezTo>
                  <a:pt x="192504" y="152551"/>
                  <a:pt x="200008" y="152351"/>
                  <a:pt x="206311" y="155548"/>
                </a:cubicBezTo>
                <a:close/>
                <a:moveTo>
                  <a:pt x="304525" y="60840"/>
                </a:moveTo>
                <a:cubicBezTo>
                  <a:pt x="170170" y="60840"/>
                  <a:pt x="60925" y="169933"/>
                  <a:pt x="60925" y="304102"/>
                </a:cubicBezTo>
                <a:cubicBezTo>
                  <a:pt x="60925" y="438270"/>
                  <a:pt x="170170" y="547463"/>
                  <a:pt x="304525" y="547463"/>
                </a:cubicBezTo>
                <a:cubicBezTo>
                  <a:pt x="438880" y="547463"/>
                  <a:pt x="548225" y="438270"/>
                  <a:pt x="548225" y="304102"/>
                </a:cubicBezTo>
                <a:cubicBezTo>
                  <a:pt x="548225" y="169933"/>
                  <a:pt x="438880" y="60840"/>
                  <a:pt x="304525" y="60840"/>
                </a:cubicBezTo>
                <a:close/>
                <a:moveTo>
                  <a:pt x="304525" y="0"/>
                </a:moveTo>
                <a:cubicBezTo>
                  <a:pt x="472794" y="0"/>
                  <a:pt x="609050" y="136166"/>
                  <a:pt x="609050" y="304102"/>
                </a:cubicBezTo>
                <a:cubicBezTo>
                  <a:pt x="609050" y="472137"/>
                  <a:pt x="472794" y="608203"/>
                  <a:pt x="304525" y="608203"/>
                </a:cubicBezTo>
                <a:cubicBezTo>
                  <a:pt x="136356" y="608203"/>
                  <a:pt x="0" y="472137"/>
                  <a:pt x="0" y="304102"/>
                </a:cubicBezTo>
                <a:cubicBezTo>
                  <a:pt x="0" y="136166"/>
                  <a:pt x="136356" y="0"/>
                  <a:pt x="3045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i="1"/>
          </a:p>
        </p:txBody>
      </p:sp>
      <p:pic>
        <p:nvPicPr>
          <p:cNvPr id="14" name="图片 13"/>
          <p:cNvPicPr>
            <a:picLocks noChangeAspect="1"/>
          </p:cNvPicPr>
          <p:nvPr/>
        </p:nvPicPr>
        <p:blipFill>
          <a:blip r:embed="rId2"/>
          <a:stretch>
            <a:fillRect/>
          </a:stretch>
        </p:blipFill>
        <p:spPr>
          <a:xfrm>
            <a:off x="10458502" y="5151515"/>
            <a:ext cx="1395407" cy="1395407"/>
          </a:xfrm>
          <a:prstGeom prst="rect">
            <a:avLst/>
          </a:prstGeom>
          <a:ln w="228600" cap="sq" cmpd="thickThin">
            <a:solidFill>
              <a:srgbClr val="000000"/>
            </a:solidFill>
            <a:prstDash val="solid"/>
            <a:miter lim="800000"/>
            <a:headEnd/>
            <a:tailEnd/>
          </a:ln>
          <a:effectLst>
            <a:innerShdw blurRad="76200">
              <a:srgbClr val="000000"/>
            </a:innerShdw>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animEffect transition="in" filter="fade">
                                      <p:cBhvr>
                                        <p:cTn id="18" dur="500"/>
                                        <p:tgtEl>
                                          <p:spTgt spid="13"/>
                                        </p:tgtEl>
                                      </p:cBhvr>
                                    </p:animEffect>
                                  </p:childTnLst>
                                </p:cTn>
                              </p:par>
                            </p:childTnLst>
                          </p:cTn>
                        </p:par>
                        <p:par>
                          <p:cTn id="1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p:bldP spid="19" grpId="0"/>
    </p:bldLst>
  </p:timing>
</p:sld>
</file>

<file path=ppt/tags/tag1.xml><?xml version="1.0" encoding="utf-8"?>
<p:tagLst xmlns:p="http://schemas.openxmlformats.org/presentationml/2006/main">
  <p:tag name="KSO_WM_UNIT_TABLE_BEAUTIFY" val="smartTable{75c61e42-46d2-4946-816b-0d325f2b4a73}"/>
</p:tagLst>
</file>

<file path=ppt/tags/tag2.xml><?xml version="1.0" encoding="utf-8"?>
<p:tagLst xmlns:p="http://schemas.openxmlformats.org/presentationml/2006/main">
  <p:tag name="KSO_WM_UNIT_TABLE_BEAUTIFY" val="smartTable{9e9c508d-f2e5-4536-bfaa-714af329b108}"/>
</p:tagLst>
</file>

<file path=ppt/tags/tag3.xml><?xml version="1.0" encoding="utf-8"?>
<p:tagLst xmlns:p="http://schemas.openxmlformats.org/presentationml/2006/main">
  <p:tag name="ISPRING_SCORM_RATE_SLIDES" val="0"/>
  <p:tag name="ISPRING_SCORM_RATE_QUIZZES" val="0"/>
  <p:tag name="ISPRING_SCORM_PASSING_SCORE" val="0.000000"/>
  <p:tag name="ISPRING_ULTRA_SCORM_COURSE_ID" val="ACAC585B-CE7A-4C9E-BA1C-9E057EF0E1D9"/>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Repository"/>
  <p:tag name="ISPRING_OUTPUT_FOLDER" val="C:\Users\Administrator\Desktop\9月作品\04"/>
  <p:tag name="ISPRING_PRESENTATION_TITLE" val="蓝色大气项目计划书PPT模板"/>
  <p:tag name="ISPRING_FIRST_PUBLISH" val="1"/>
</p:tagLst>
</file>

<file path=ppt/theme/theme1.xml><?xml version="1.0" encoding="utf-8"?>
<a:theme xmlns:a="http://schemas.openxmlformats.org/drawingml/2006/main" name="Office 主题​​">
  <a:themeElements>
    <a:clrScheme name="自定义 233">
      <a:dk1>
        <a:sysClr val="windowText" lastClr="000000"/>
      </a:dk1>
      <a:lt1>
        <a:sysClr val="window" lastClr="FFFFFF"/>
      </a:lt1>
      <a:dk2>
        <a:srgbClr val="44546A"/>
      </a:dk2>
      <a:lt2>
        <a:srgbClr val="E7E6E6"/>
      </a:lt2>
      <a:accent1>
        <a:srgbClr val="F94341"/>
      </a:accent1>
      <a:accent2>
        <a:srgbClr val="0DC8DB"/>
      </a:accent2>
      <a:accent3>
        <a:srgbClr val="505069"/>
      </a:accent3>
      <a:accent4>
        <a:srgbClr val="F94341"/>
      </a:accent4>
      <a:accent5>
        <a:srgbClr val="0DC8DB"/>
      </a:accent5>
      <a:accent6>
        <a:srgbClr val="505069"/>
      </a:accent6>
      <a:hlink>
        <a:srgbClr val="F94341"/>
      </a:hlink>
      <a:folHlink>
        <a:srgbClr val="0DC8DB"/>
      </a:folHlink>
    </a:clrScheme>
    <a:fontScheme name="自定义 2">
      <a:majorFont>
        <a:latin typeface="Humanst521 BT"/>
        <a:ea typeface="字魂59号-创粗黑"/>
        <a:cs typeface=""/>
      </a:majorFont>
      <a:minorFont>
        <a:latin typeface="Humanst521 BT"/>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9547</Words>
  <Application>WPS 演示</Application>
  <PresentationFormat>宽屏</PresentationFormat>
  <Paragraphs>1576</Paragraphs>
  <Slides>70</Slides>
  <Notes>117</Notes>
  <HiddenSlides>49</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70</vt:i4>
      </vt:variant>
    </vt:vector>
  </HeadingPairs>
  <TitlesOfParts>
    <vt:vector size="87" baseType="lpstr">
      <vt:lpstr>Arial</vt:lpstr>
      <vt:lpstr>宋体</vt:lpstr>
      <vt:lpstr>Wingdings</vt:lpstr>
      <vt:lpstr>微软雅黑 Light</vt:lpstr>
      <vt:lpstr>黑体</vt:lpstr>
      <vt:lpstr>3ds</vt:lpstr>
      <vt:lpstr>NumberOnly</vt:lpstr>
      <vt:lpstr>Angsana New</vt:lpstr>
      <vt:lpstr>微软雅黑</vt:lpstr>
      <vt:lpstr>Calibri</vt:lpstr>
      <vt:lpstr>Humanst521 BT</vt:lpstr>
      <vt:lpstr>Segoe Print</vt:lpstr>
      <vt:lpstr>Arial Unicode MS</vt:lpstr>
      <vt:lpstr>Microsoft Sans Serif</vt:lpstr>
      <vt:lpstr>字魂59号-创粗黑</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蓝色大气项目计划书PPT模板</dc:title>
  <dc:creator>逆流的小鱼</dc:creator>
  <cp:lastModifiedBy>草家蜂蜜味萝卜</cp:lastModifiedBy>
  <cp:revision>725</cp:revision>
  <dcterms:created xsi:type="dcterms:W3CDTF">2019-06-26T07:14:00Z</dcterms:created>
  <dcterms:modified xsi:type="dcterms:W3CDTF">2021-01-17T02:29:36Z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