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264" r:id="rId2"/>
    <p:sldId id="257" r:id="rId3"/>
    <p:sldId id="260" r:id="rId4"/>
    <p:sldId id="261" r:id="rId5"/>
    <p:sldId id="283" r:id="rId6"/>
    <p:sldId id="278" r:id="rId7"/>
    <p:sldId id="279" r:id="rId8"/>
    <p:sldId id="280" r:id="rId9"/>
    <p:sldId id="284" r:id="rId10"/>
    <p:sldId id="263" r:id="rId11"/>
    <p:sldId id="258" r:id="rId12"/>
    <p:sldId id="262" r:id="rId13"/>
    <p:sldId id="285" r:id="rId14"/>
    <p:sldId id="269" r:id="rId15"/>
    <p:sldId id="291" r:id="rId16"/>
    <p:sldId id="270" r:id="rId17"/>
    <p:sldId id="271" r:id="rId18"/>
    <p:sldId id="287" r:id="rId19"/>
    <p:sldId id="288" r:id="rId20"/>
    <p:sldId id="290" r:id="rId21"/>
    <p:sldId id="294" r:id="rId22"/>
    <p:sldId id="292" r:id="rId23"/>
    <p:sldId id="293" r:id="rId24"/>
    <p:sldId id="295" r:id="rId25"/>
    <p:sldId id="296" r:id="rId26"/>
  </p:sldIdLst>
  <p:sldSz cx="12192000" cy="6858000"/>
  <p:notesSz cx="6858000" cy="9144000"/>
  <p:embeddedFontLst>
    <p:embeddedFont>
      <p:font typeface="等线" pitchFamily="2" charset="-122"/>
      <p:regular r:id="rId28"/>
      <p:bold r:id="rId29"/>
    </p:embeddedFont>
    <p:embeddedFont>
      <p:font typeface="张海山草泥马体" charset="-122"/>
      <p:regular r:id="rId30"/>
    </p:embeddedFont>
    <p:embeddedFont>
      <p:font typeface="微软雅黑" pitchFamily="34" charset="-122"/>
      <p:regular r:id="rId31"/>
      <p:bold r:id="rId32"/>
    </p:embeddedFont>
    <p:embeddedFont>
      <p:font typeface="张海山锐线体简" charset="-122"/>
      <p:regular r:id="rId33"/>
    </p:embeddedFont>
    <p:embeddedFont>
      <p:font typeface="Impact" pitchFamily="34" charset="0"/>
      <p:regular r:id="rId34"/>
    </p:embeddedFont>
    <p:embeddedFont>
      <p:font typeface="方正稚艺简体" charset="-122"/>
      <p:regular r:id="rId35"/>
    </p:embeddedFont>
    <p:embeddedFont>
      <p:font typeface="方正综艺简体" charset="-122"/>
      <p:regular r:id="rId36"/>
    </p:embeddedFont>
    <p:embeddedFont>
      <p:font typeface="黑体" pitchFamily="49" charset="-122"/>
      <p:regular r:id="rId37"/>
    </p:embeddedFont>
    <p:embeddedFont>
      <p:font typeface="Calibri" pitchFamily="34" charset="0"/>
      <p:regular r:id="rId38"/>
      <p:bold r:id="rId39"/>
      <p:italic r:id="rId40"/>
      <p:boldItalic r:id="rId41"/>
    </p:embeddedFont>
    <p:embeddedFont>
      <p:font typeface="等线 Light" pitchFamily="2" charset="-122"/>
      <p:regular r:id="rId4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63E60"/>
    <a:srgbClr val="F78D95"/>
    <a:srgbClr val="FF7C80"/>
    <a:srgbClr val="FF6699"/>
    <a:srgbClr val="44466C"/>
    <a:srgbClr val="BBD76A"/>
    <a:srgbClr val="4E507C"/>
    <a:srgbClr val="E38156"/>
    <a:srgbClr val="4A9189"/>
    <a:srgbClr val="F3D74E"/>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8098" autoAdjust="0"/>
    <p:restoredTop sz="94660"/>
  </p:normalViewPr>
  <p:slideViewPr>
    <p:cSldViewPr snapToGrid="0" showGuides="1">
      <p:cViewPr>
        <p:scale>
          <a:sx n="60" d="100"/>
          <a:sy n="60" d="100"/>
        </p:scale>
        <p:origin x="-1663" y="-816"/>
      </p:cViewPr>
      <p:guideLst>
        <p:guide orient="horz" pos="1188"/>
        <p:guide orient="horz" pos="1372"/>
        <p:guide orient="horz" pos="913"/>
        <p:guide orient="horz" pos="3141"/>
        <p:guide orient="horz" pos="2121"/>
        <p:guide orient="horz" pos="2004"/>
        <p:guide orient="horz" pos="2313"/>
        <p:guide pos="2955"/>
        <p:guide pos="2865"/>
        <p:guide pos="3077"/>
        <p:guide pos="5110"/>
        <p:guide pos="3839"/>
        <p:guide pos="4876"/>
        <p:guide pos="2887"/>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223567-81BE-4B6B-94EB-7F817C75ECC9}" type="datetimeFigureOut">
              <a:rPr lang="zh-CN" altLang="en-US" smtClean="0"/>
              <a:t>2021/1/24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F45EA59-E0D3-4E10-907D-D8682B4CFCC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第一部分">
    <p:bg>
      <p:bgPr>
        <a:solidFill>
          <a:srgbClr val="E38156"/>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二部分">
    <p:bg>
      <p:bgPr>
        <a:solidFill>
          <a:srgbClr val="FFA156"/>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rgbClr val="F3D74E"/>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rgbClr val="BBD76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五部分">
    <p:bg>
      <p:bgPr>
        <a:solidFill>
          <a:srgbClr val="4A9189"/>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六部分">
    <p:bg>
      <p:bgPr>
        <a:solidFill>
          <a:srgbClr val="4E507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第七部分">
    <p:bg>
      <p:bgPr>
        <a:solidFill>
          <a:srgbClr val="563E6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AE6E520-7BF2-4A10-B275-1DD31786609E}" type="datetimeFigureOut">
              <a:rPr lang="zh-CN" altLang="en-US" smtClean="0"/>
              <a:pPr/>
              <a:t>2021/1/24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3EBF1E4-F9F8-45BA-A25E-A9E2F024358C}"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AE6E520-7BF2-4A10-B275-1DD31786609E}" type="datetimeFigureOut">
              <a:rPr lang="zh-CN" altLang="en-US" smtClean="0"/>
              <a:pPr/>
              <a:t>2021/1/24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3EBF1E4-F9F8-45BA-A25E-A9E2F024358C}"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3AE6E520-7BF2-4A10-B275-1DD31786609E}" type="datetimeFigureOut">
              <a:rPr lang="zh-CN" altLang="en-US" smtClean="0"/>
              <a:pPr/>
              <a:t>2021/1/24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EBF1E4-F9F8-45BA-A25E-A9E2F024358C}"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3AE6E520-7BF2-4A10-B275-1DD31786609E}" type="datetimeFigureOut">
              <a:rPr lang="zh-CN" altLang="en-US" smtClean="0"/>
              <a:pPr/>
              <a:t>2021/1/24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EBF1E4-F9F8-45BA-A25E-A9E2F024358C}"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AE6E520-7BF2-4A10-B275-1DD31786609E}" type="datetimeFigureOut">
              <a:rPr lang="zh-CN" altLang="en-US" smtClean="0"/>
              <a:pPr/>
              <a:t>2021/1/24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EBF1E4-F9F8-45BA-A25E-A9E2F024358C}"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AE6E520-7BF2-4A10-B275-1DD31786609E}" type="datetimeFigureOut">
              <a:rPr lang="zh-CN" altLang="en-US" smtClean="0"/>
              <a:pPr/>
              <a:t>2021/1/24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EBF1E4-F9F8-45BA-A25E-A9E2F024358C}"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ADB29890-8F98-4293-BFAC-A3298A190480}" type="datetimeFigureOut">
              <a:rPr lang="zh-CN" altLang="en-US" smtClean="0"/>
              <a:pPr/>
              <a:t>2021/1/24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5D8862-CF45-4ECB-8633-579EF61FA62A}" type="slidenum">
              <a:rPr lang="zh-CN" altLang="en-US" smtClean="0"/>
              <a:pPr/>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B29890-8F98-4293-BFAC-A3298A190480}" type="datetimeFigureOut">
              <a:rPr lang="zh-CN" altLang="en-US" smtClean="0"/>
              <a:pPr/>
              <a:t>2021/1/24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5D8862-CF45-4ECB-8633-579EF61FA62A}"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E6E520-7BF2-4A10-B275-1DD31786609E}" type="datetimeFigureOut">
              <a:rPr lang="zh-CN" altLang="en-US" smtClean="0"/>
              <a:pPr/>
              <a:t>2021/1/24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EBF1E4-F9F8-45BA-A25E-A9E2F024358C}"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hdphoto" Target="../media/image40.wdp"/><Relationship Id="rId7" Type="http://schemas.microsoft.com/office/2007/relationships/hdphoto" Target="../media/image44.wdp"/><Relationship Id="rId12"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4.png"/><Relationship Id="rId11" Type="http://schemas.microsoft.com/office/2007/relationships/hdphoto" Target="../media/image48.wdp"/><Relationship Id="rId5" Type="http://schemas.microsoft.com/office/2007/relationships/hdphoto" Target="../media/image42.wdp"/><Relationship Id="rId10" Type="http://schemas.openxmlformats.org/officeDocument/2006/relationships/image" Target="NULL"/><Relationship Id="rId4" Type="http://schemas.openxmlformats.org/officeDocument/2006/relationships/image" Target="../media/image3.png"/><Relationship Id="rId9" Type="http://schemas.microsoft.com/office/2007/relationships/hdphoto" Target="../media/image46.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23.jpeg"/><Relationship Id="rId4" Type="http://schemas.openxmlformats.org/officeDocument/2006/relationships/image" Target="../media/image22.jpeg"/></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27.jpe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0"/>
            <a:ext cx="12192000" cy="3465513"/>
          </a:xfrm>
          <a:prstGeom prst="rect">
            <a:avLst/>
          </a:prstGeom>
          <a:solidFill>
            <a:srgbClr val="E381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96809" y="-1334524"/>
            <a:ext cx="6877050" cy="933450"/>
          </a:xfrm>
          <a:prstGeom prst="rect">
            <a:avLst/>
          </a:prstGeom>
        </p:spPr>
      </p:pic>
      <p:sp>
        <p:nvSpPr>
          <p:cNvPr id="6" name="文本框 5"/>
          <p:cNvSpPr txBox="1"/>
          <p:nvPr/>
        </p:nvSpPr>
        <p:spPr>
          <a:xfrm>
            <a:off x="2953657" y="3487994"/>
            <a:ext cx="6299200" cy="1446550"/>
          </a:xfrm>
          <a:prstGeom prst="rect">
            <a:avLst/>
          </a:prstGeom>
          <a:noFill/>
        </p:spPr>
        <p:txBody>
          <a:bodyPr wrap="square" rtlCol="0">
            <a:spAutoFit/>
          </a:bodyPr>
          <a:lstStyle/>
          <a:p>
            <a:pPr algn="ctr"/>
            <a:r>
              <a:rPr lang="zh-CN" altLang="en-US" sz="8800" dirty="0">
                <a:solidFill>
                  <a:schemeClr val="bg1"/>
                </a:solidFill>
                <a:latin typeface="张海山草泥马体" panose="02000000000000000000" pitchFamily="2" charset="-122"/>
                <a:ea typeface="张海山草泥马体" panose="02000000000000000000" pitchFamily="2" charset="-122"/>
              </a:rPr>
              <a:t>百年交大</a:t>
            </a:r>
          </a:p>
        </p:txBody>
      </p:sp>
      <p:sp>
        <p:nvSpPr>
          <p:cNvPr id="8" name="椭圆 7"/>
          <p:cNvSpPr/>
          <p:nvPr/>
        </p:nvSpPr>
        <p:spPr>
          <a:xfrm>
            <a:off x="5381813" y="1478885"/>
            <a:ext cx="1629697" cy="162969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4672005" y="0"/>
            <a:ext cx="0" cy="70294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4571993" y="1326017"/>
            <a:ext cx="200025" cy="200025"/>
            <a:chOff x="5529262" y="1326017"/>
            <a:chExt cx="200025" cy="200025"/>
          </a:xfrm>
        </p:grpSpPr>
        <p:sp>
          <p:nvSpPr>
            <p:cNvPr id="5" name="椭圆 4"/>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4571992" y="2713492"/>
            <a:ext cx="200025" cy="200025"/>
            <a:chOff x="5529262" y="1326017"/>
            <a:chExt cx="200025" cy="200025"/>
          </a:xfrm>
        </p:grpSpPr>
        <p:sp>
          <p:nvSpPr>
            <p:cNvPr id="8" name="椭圆 7"/>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p:cNvGrpSpPr/>
          <p:nvPr/>
        </p:nvGrpSpPr>
        <p:grpSpPr>
          <a:xfrm>
            <a:off x="4571991" y="4100967"/>
            <a:ext cx="200025" cy="200025"/>
            <a:chOff x="5529262" y="1326017"/>
            <a:chExt cx="200025" cy="200025"/>
          </a:xfrm>
        </p:grpSpPr>
        <p:sp>
          <p:nvSpPr>
            <p:cNvPr id="11" name="椭圆 10"/>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1135848" y="950257"/>
            <a:ext cx="3486150" cy="951543"/>
          </a:xfrm>
          <a:prstGeom prst="rect">
            <a:avLst/>
          </a:prstGeom>
          <a:noFill/>
        </p:spPr>
        <p:txBody>
          <a:bodyPr wrap="square" rtlCol="0">
            <a:spAutoFit/>
          </a:bodyPr>
          <a:lstStyle/>
          <a:p>
            <a:pPr algn="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1896</a:t>
            </a:r>
            <a:r>
              <a:rPr lang="zh-CN" altLang="en-US" sz="2400" dirty="0">
                <a:solidFill>
                  <a:schemeClr val="bg1"/>
                </a:solidFill>
                <a:latin typeface="张海山草泥马体" panose="02000000000000000000" pitchFamily="2" charset="-122"/>
                <a:ea typeface="张海山草泥马体" panose="02000000000000000000" pitchFamily="2" charset="-122"/>
              </a:rPr>
              <a:t>年</a:t>
            </a:r>
            <a:endParaRPr lang="en-US" altLang="zh-CN" sz="2400" dirty="0">
              <a:solidFill>
                <a:schemeClr val="bg1"/>
              </a:solidFill>
              <a:latin typeface="张海山草泥马体" panose="02000000000000000000" pitchFamily="2" charset="-122"/>
              <a:ea typeface="张海山草泥马体" panose="02000000000000000000" pitchFamily="2" charset="-122"/>
            </a:endParaRPr>
          </a:p>
          <a:p>
            <a:pPr algn="r">
              <a:lnSpc>
                <a:spcPct val="120000"/>
              </a:lnSpc>
            </a:pPr>
            <a:r>
              <a:rPr lang="zh-CN" altLang="en-US" sz="2400" dirty="0">
                <a:solidFill>
                  <a:schemeClr val="bg1"/>
                </a:solidFill>
                <a:latin typeface="张海山草泥马体" panose="02000000000000000000" pitchFamily="2" charset="-122"/>
                <a:ea typeface="张海山草泥马体" panose="02000000000000000000" pitchFamily="2" charset="-122"/>
              </a:rPr>
              <a:t>山海关北洋铁路官学堂</a:t>
            </a:r>
          </a:p>
        </p:txBody>
      </p:sp>
      <p:sp>
        <p:nvSpPr>
          <p:cNvPr id="13" name="文本框 12"/>
          <p:cNvSpPr txBox="1"/>
          <p:nvPr/>
        </p:nvSpPr>
        <p:spPr>
          <a:xfrm>
            <a:off x="4722009" y="2337733"/>
            <a:ext cx="4076700" cy="951543"/>
          </a:xfrm>
          <a:prstGeom prst="rect">
            <a:avLst/>
          </a:prstGeom>
          <a:noFill/>
        </p:spPr>
        <p:txBody>
          <a:bodyPr wrap="square" rtlCol="0">
            <a:spAutoFit/>
          </a:bodyPr>
          <a:lstStyle/>
          <a:p>
            <a:pP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1905</a:t>
            </a:r>
            <a:r>
              <a:rPr lang="zh-CN" altLang="zh-CN" sz="2400" dirty="0">
                <a:solidFill>
                  <a:schemeClr val="bg1"/>
                </a:solidFill>
                <a:latin typeface="张海山草泥马体" panose="02000000000000000000" pitchFamily="2" charset="-122"/>
                <a:ea typeface="张海山草泥马体" panose="02000000000000000000" pitchFamily="2" charset="-122"/>
              </a:rPr>
              <a:t>年</a:t>
            </a:r>
            <a:endParaRPr lang="en-US" altLang="zh-CN" sz="2400" dirty="0">
              <a:solidFill>
                <a:schemeClr val="bg1"/>
              </a:solidFill>
              <a:latin typeface="张海山草泥马体" panose="02000000000000000000" pitchFamily="2" charset="-122"/>
              <a:ea typeface="张海山草泥马体" panose="02000000000000000000" pitchFamily="2" charset="-122"/>
            </a:endParaRPr>
          </a:p>
          <a:p>
            <a:pPr>
              <a:lnSpc>
                <a:spcPct val="120000"/>
              </a:lnSpc>
            </a:pPr>
            <a:r>
              <a:rPr lang="zh-CN" altLang="zh-CN" sz="2400" dirty="0">
                <a:solidFill>
                  <a:schemeClr val="bg1"/>
                </a:solidFill>
                <a:latin typeface="张海山草泥马体" panose="02000000000000000000" pitchFamily="2" charset="-122"/>
                <a:ea typeface="张海山草泥马体" panose="02000000000000000000" pitchFamily="2" charset="-122"/>
              </a:rPr>
              <a:t>唐山</a:t>
            </a:r>
            <a:r>
              <a:rPr lang="en-US" altLang="zh-CN" sz="2400" dirty="0">
                <a:solidFill>
                  <a:schemeClr val="bg1"/>
                </a:solidFill>
                <a:latin typeface="张海山草泥马体" panose="02000000000000000000" pitchFamily="2" charset="-122"/>
                <a:ea typeface="张海山草泥马体" panose="02000000000000000000" pitchFamily="2" charset="-122"/>
              </a:rPr>
              <a:t>——</a:t>
            </a:r>
            <a:r>
              <a:rPr lang="zh-CN" altLang="zh-CN" sz="2400" dirty="0">
                <a:solidFill>
                  <a:schemeClr val="bg1"/>
                </a:solidFill>
                <a:latin typeface="张海山草泥马体" panose="02000000000000000000" pitchFamily="2" charset="-122"/>
                <a:ea typeface="张海山草泥马体" panose="02000000000000000000" pitchFamily="2" charset="-122"/>
              </a:rPr>
              <a:t>唐山铁路学堂</a:t>
            </a:r>
            <a:endParaRPr lang="zh-CN" altLang="en-US" sz="2400" dirty="0">
              <a:solidFill>
                <a:schemeClr val="bg1"/>
              </a:solidFill>
              <a:latin typeface="张海山草泥马体" panose="02000000000000000000" pitchFamily="2" charset="-122"/>
              <a:ea typeface="张海山草泥马体" panose="02000000000000000000" pitchFamily="2" charset="-122"/>
            </a:endParaRPr>
          </a:p>
        </p:txBody>
      </p:sp>
      <p:grpSp>
        <p:nvGrpSpPr>
          <p:cNvPr id="14" name="组合 13"/>
          <p:cNvGrpSpPr/>
          <p:nvPr/>
        </p:nvGrpSpPr>
        <p:grpSpPr>
          <a:xfrm>
            <a:off x="4571991" y="5488443"/>
            <a:ext cx="200025" cy="200025"/>
            <a:chOff x="5529262" y="1326017"/>
            <a:chExt cx="200025" cy="200025"/>
          </a:xfrm>
        </p:grpSpPr>
        <p:sp>
          <p:nvSpPr>
            <p:cNvPr id="15" name="椭圆 14"/>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文本框 16"/>
          <p:cNvSpPr txBox="1"/>
          <p:nvPr/>
        </p:nvSpPr>
        <p:spPr>
          <a:xfrm>
            <a:off x="1135849" y="3725209"/>
            <a:ext cx="3492498" cy="951543"/>
          </a:xfrm>
          <a:prstGeom prst="rect">
            <a:avLst/>
          </a:prstGeom>
          <a:noFill/>
        </p:spPr>
        <p:txBody>
          <a:bodyPr wrap="square" rtlCol="0">
            <a:spAutoFit/>
          </a:bodyPr>
          <a:lstStyle/>
          <a:p>
            <a:pPr algn="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1912</a:t>
            </a:r>
            <a:r>
              <a:rPr lang="zh-CN" altLang="en-US" sz="2400" dirty="0">
                <a:solidFill>
                  <a:schemeClr val="bg1"/>
                </a:solidFill>
                <a:latin typeface="张海山草泥马体" panose="02000000000000000000" pitchFamily="2" charset="-122"/>
                <a:ea typeface="张海山草泥马体" panose="02000000000000000000" pitchFamily="2" charset="-122"/>
              </a:rPr>
              <a:t>年</a:t>
            </a:r>
            <a:endParaRPr lang="en-US" altLang="zh-CN" sz="2400" dirty="0">
              <a:solidFill>
                <a:schemeClr val="bg1"/>
              </a:solidFill>
              <a:latin typeface="张海山草泥马体" panose="02000000000000000000" pitchFamily="2" charset="-122"/>
              <a:ea typeface="张海山草泥马体" panose="02000000000000000000" pitchFamily="2" charset="-122"/>
            </a:endParaRPr>
          </a:p>
          <a:p>
            <a:pPr algn="r">
              <a:lnSpc>
                <a:spcPct val="120000"/>
              </a:lnSpc>
            </a:pPr>
            <a:r>
              <a:rPr lang="zh-CN" altLang="en-US" sz="2400" dirty="0">
                <a:solidFill>
                  <a:schemeClr val="bg1"/>
                </a:solidFill>
                <a:latin typeface="张海山草泥马体" panose="02000000000000000000" pitchFamily="2" charset="-122"/>
                <a:ea typeface="张海山草泥马体" panose="02000000000000000000" pitchFamily="2" charset="-122"/>
              </a:rPr>
              <a:t>交通部唐山铁路学校</a:t>
            </a:r>
          </a:p>
        </p:txBody>
      </p:sp>
      <p:sp>
        <p:nvSpPr>
          <p:cNvPr id="18" name="文本框 17"/>
          <p:cNvSpPr txBox="1"/>
          <p:nvPr/>
        </p:nvSpPr>
        <p:spPr>
          <a:xfrm>
            <a:off x="4728364" y="4891084"/>
            <a:ext cx="3450436" cy="1394741"/>
          </a:xfrm>
          <a:prstGeom prst="rect">
            <a:avLst/>
          </a:prstGeom>
          <a:noFill/>
        </p:spPr>
        <p:txBody>
          <a:bodyPr wrap="square" rtlCol="0">
            <a:spAutoFit/>
          </a:bodyPr>
          <a:lstStyle/>
          <a:p>
            <a:pP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1937</a:t>
            </a:r>
            <a:r>
              <a:rPr lang="zh-CN" altLang="zh-CN" sz="2400" dirty="0">
                <a:solidFill>
                  <a:schemeClr val="bg1"/>
                </a:solidFill>
                <a:latin typeface="张海山草泥马体" panose="02000000000000000000" pitchFamily="2" charset="-122"/>
                <a:ea typeface="张海山草泥马体" panose="02000000000000000000" pitchFamily="2" charset="-122"/>
              </a:rPr>
              <a:t>年</a:t>
            </a:r>
            <a:endParaRPr lang="en-US" altLang="zh-CN" sz="2400" dirty="0">
              <a:solidFill>
                <a:schemeClr val="bg1"/>
              </a:solidFill>
              <a:latin typeface="张海山草泥马体" panose="02000000000000000000" pitchFamily="2" charset="-122"/>
              <a:ea typeface="张海山草泥马体" panose="02000000000000000000" pitchFamily="2" charset="-122"/>
            </a:endParaRPr>
          </a:p>
          <a:p>
            <a:pP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a:t>
            </a:r>
            <a:r>
              <a:rPr lang="zh-CN" altLang="zh-CN" sz="2400" dirty="0">
                <a:solidFill>
                  <a:schemeClr val="bg1"/>
                </a:solidFill>
                <a:latin typeface="张海山草泥马体" panose="02000000000000000000" pitchFamily="2" charset="-122"/>
                <a:ea typeface="张海山草泥马体" panose="02000000000000000000" pitchFamily="2" charset="-122"/>
              </a:rPr>
              <a:t>七七事变</a:t>
            </a:r>
            <a:r>
              <a:rPr lang="en-US" altLang="zh-CN" sz="2400" dirty="0">
                <a:solidFill>
                  <a:schemeClr val="bg1"/>
                </a:solidFill>
                <a:latin typeface="张海山草泥马体" panose="02000000000000000000" pitchFamily="2" charset="-122"/>
                <a:ea typeface="张海山草泥马体" panose="02000000000000000000" pitchFamily="2" charset="-122"/>
              </a:rPr>
              <a:t>”</a:t>
            </a:r>
            <a:r>
              <a:rPr lang="zh-CN" altLang="en-US" sz="2400" dirty="0">
                <a:solidFill>
                  <a:schemeClr val="bg1"/>
                </a:solidFill>
                <a:latin typeface="张海山草泥马体" panose="02000000000000000000" pitchFamily="2" charset="-122"/>
                <a:ea typeface="张海山草泥马体" panose="02000000000000000000" pitchFamily="2" charset="-122"/>
              </a:rPr>
              <a:t>后</a:t>
            </a:r>
            <a:endParaRPr lang="en-US" altLang="zh-CN" sz="2400" dirty="0">
              <a:solidFill>
                <a:schemeClr val="bg1"/>
              </a:solidFill>
              <a:latin typeface="张海山草泥马体" panose="02000000000000000000" pitchFamily="2" charset="-122"/>
              <a:ea typeface="张海山草泥马体" panose="02000000000000000000" pitchFamily="2" charset="-122"/>
            </a:endParaRPr>
          </a:p>
          <a:p>
            <a:pPr>
              <a:lnSpc>
                <a:spcPct val="120000"/>
              </a:lnSpc>
            </a:pPr>
            <a:r>
              <a:rPr lang="zh-CN" altLang="zh-CN" sz="2400" dirty="0">
                <a:solidFill>
                  <a:schemeClr val="bg1"/>
                </a:solidFill>
                <a:latin typeface="张海山草泥马体" panose="02000000000000000000" pitchFamily="2" charset="-122"/>
                <a:ea typeface="张海山草泥马体" panose="02000000000000000000" pitchFamily="2" charset="-122"/>
              </a:rPr>
              <a:t>年底在湖南湘潭复校</a:t>
            </a:r>
            <a:endParaRPr lang="zh-CN" altLang="en-US" sz="2400" dirty="0">
              <a:solidFill>
                <a:schemeClr val="bg1"/>
              </a:solidFill>
              <a:latin typeface="张海山草泥马体" panose="02000000000000000000" pitchFamily="2" charset="-122"/>
              <a:ea typeface="张海山草泥马体" panose="02000000000000000000" pitchFamily="2"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par>
                          <p:cTn id="11" fill="hold">
                            <p:stCondLst>
                              <p:cond delay="500"/>
                            </p:stCondLst>
                            <p:childTnLst>
                              <p:par>
                                <p:cTn id="12" presetID="42" presetClass="path" presetSubtype="0" accel="50000" decel="50000" fill="hold" nodeType="afterEffect">
                                  <p:stCondLst>
                                    <p:cond delay="0"/>
                                  </p:stCondLst>
                                  <p:childTnLst>
                                    <p:animMotion origin="layout" path="M -3.125E-6 -0.20787 L -3.125E-6 0.00047 " pathEditMode="relative" rAng="0" ptsTypes="AA">
                                      <p:cBhvr>
                                        <p:cTn id="13" dur="1000" fill="hold"/>
                                        <p:tgtEl>
                                          <p:spTgt spid="2"/>
                                        </p:tgtEl>
                                        <p:attrNameLst>
                                          <p:attrName>ppt_x</p:attrName>
                                          <p:attrName>ppt_y</p:attrName>
                                        </p:attrNameLst>
                                      </p:cBhvr>
                                      <p:rCtr x="0" y="10440"/>
                                    </p:animMotion>
                                  </p:childTnLst>
                                </p:cTn>
                              </p:par>
                              <p:par>
                                <p:cTn id="14" presetID="10" presetClass="entr" presetSubtype="0" fill="hold" grpId="0" nodeType="withEffect">
                                  <p:stCondLst>
                                    <p:cond delay="75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childTnLst>
                          </p:cTn>
                        </p:par>
                        <p:par>
                          <p:cTn id="17" fill="hold">
                            <p:stCondLst>
                              <p:cond delay="1500"/>
                            </p:stCondLst>
                            <p:childTnLst>
                              <p:par>
                                <p:cTn id="18" presetID="1"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500"/>
                            </p:stCondLst>
                            <p:childTnLst>
                              <p:par>
                                <p:cTn id="21" presetID="42" presetClass="path" presetSubtype="0" accel="50000" decel="50000" fill="hold" nodeType="afterEffect">
                                  <p:stCondLst>
                                    <p:cond delay="0"/>
                                  </p:stCondLst>
                                  <p:childTnLst>
                                    <p:animMotion origin="layout" path="M -3.125E-6 -0.20186 L -3.125E-6 -1.11111E-6 " pathEditMode="relative" rAng="0" ptsTypes="AA">
                                      <p:cBhvr>
                                        <p:cTn id="22" dur="1000" fill="hold"/>
                                        <p:tgtEl>
                                          <p:spTgt spid="7"/>
                                        </p:tgtEl>
                                        <p:attrNameLst>
                                          <p:attrName>ppt_x</p:attrName>
                                          <p:attrName>ppt_y</p:attrName>
                                        </p:attrNameLst>
                                      </p:cBhvr>
                                      <p:rCtr x="0" y="10139"/>
                                    </p:animMotion>
                                  </p:childTnLst>
                                </p:cTn>
                              </p:par>
                              <p:par>
                                <p:cTn id="23" presetID="10" presetClass="entr" presetSubtype="0" fill="hold" grpId="0" nodeType="withEffect">
                                  <p:stCondLst>
                                    <p:cond delay="75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950"/>
                                        <p:tgtEl>
                                          <p:spTgt spid="13"/>
                                        </p:tgtEl>
                                      </p:cBhvr>
                                    </p:animEffect>
                                  </p:childTnLst>
                                </p:cTn>
                              </p:par>
                            </p:childTnLst>
                          </p:cTn>
                        </p:par>
                        <p:par>
                          <p:cTn id="26" fill="hold">
                            <p:stCondLst>
                              <p:cond delay="2500"/>
                            </p:stCondLst>
                            <p:childTnLst>
                              <p:par>
                                <p:cTn id="27" presetID="1" presetClass="entr" presetSubtype="0"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par>
                          <p:cTn id="29" fill="hold">
                            <p:stCondLst>
                              <p:cond delay="2500"/>
                            </p:stCondLst>
                            <p:childTnLst>
                              <p:par>
                                <p:cTn id="30" presetID="42" presetClass="path" presetSubtype="0" accel="50000" decel="50000" fill="hold" nodeType="afterEffect">
                                  <p:stCondLst>
                                    <p:cond delay="0"/>
                                  </p:stCondLst>
                                  <p:childTnLst>
                                    <p:animMotion origin="layout" path="M -3.125E-6 -0.20231 L -3.125E-6 2.96296E-6 " pathEditMode="relative" rAng="0" ptsTypes="AA">
                                      <p:cBhvr>
                                        <p:cTn id="31" dur="1000" fill="hold"/>
                                        <p:tgtEl>
                                          <p:spTgt spid="10"/>
                                        </p:tgtEl>
                                        <p:attrNameLst>
                                          <p:attrName>ppt_x</p:attrName>
                                          <p:attrName>ppt_y</p:attrName>
                                        </p:attrNameLst>
                                      </p:cBhvr>
                                      <p:rCtr x="0" y="10093"/>
                                    </p:animMotion>
                                  </p:childTnLst>
                                </p:cTn>
                              </p:par>
                              <p:par>
                                <p:cTn id="32" presetID="10" presetClass="entr" presetSubtype="0" fill="hold" grpId="0" nodeType="withEffect">
                                  <p:stCondLst>
                                    <p:cond delay="75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1000"/>
                                        <p:tgtEl>
                                          <p:spTgt spid="17"/>
                                        </p:tgtEl>
                                      </p:cBhvr>
                                    </p:animEffect>
                                  </p:childTnLst>
                                </p:cTn>
                              </p:par>
                            </p:childTnLst>
                          </p:cTn>
                        </p:par>
                        <p:par>
                          <p:cTn id="35" fill="hold">
                            <p:stCondLst>
                              <p:cond delay="3500"/>
                            </p:stCondLst>
                            <p:childTnLst>
                              <p:par>
                                <p:cTn id="36" presetID="1" presetClass="entr" presetSubtype="0" fill="hold" nodeType="after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childTnLst>
                          </p:cTn>
                        </p:par>
                        <p:par>
                          <p:cTn id="38" fill="hold">
                            <p:stCondLst>
                              <p:cond delay="3500"/>
                            </p:stCondLst>
                            <p:childTnLst>
                              <p:par>
                                <p:cTn id="39" presetID="42" presetClass="path" presetSubtype="0" accel="50000" decel="50000" fill="hold" nodeType="afterEffect">
                                  <p:stCondLst>
                                    <p:cond delay="0"/>
                                  </p:stCondLst>
                                  <p:childTnLst>
                                    <p:animMotion origin="layout" path="M -3.125E-6 -0.20231 L -3.125E-6 1.11111E-6 " pathEditMode="relative" rAng="0" ptsTypes="AA">
                                      <p:cBhvr>
                                        <p:cTn id="40" dur="1000" fill="hold"/>
                                        <p:tgtEl>
                                          <p:spTgt spid="14"/>
                                        </p:tgtEl>
                                        <p:attrNameLst>
                                          <p:attrName>ppt_x</p:attrName>
                                          <p:attrName>ppt_y</p:attrName>
                                        </p:attrNameLst>
                                      </p:cBhvr>
                                      <p:rCtr x="0" y="10069"/>
                                    </p:animMotion>
                                  </p:childTnLst>
                                </p:cTn>
                              </p:par>
                              <p:par>
                                <p:cTn id="41" presetID="10" presetClass="entr" presetSubtype="0" fill="hold" grpId="0" nodeType="withEffect">
                                  <p:stCondLst>
                                    <p:cond delay="75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p:bldP spid="13" grpId="0"/>
      <p:bldP spid="17"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4672013" y="0"/>
            <a:ext cx="0" cy="1243013"/>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4672013" y="4486275"/>
            <a:ext cx="14288" cy="2628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4672013" y="1223964"/>
            <a:ext cx="3300412" cy="14287"/>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7958139" y="1223964"/>
            <a:ext cx="0" cy="3243262"/>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4672013" y="4486275"/>
            <a:ext cx="3300412"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4571991" y="4386262"/>
            <a:ext cx="200025" cy="200025"/>
            <a:chOff x="5529262" y="1326017"/>
            <a:chExt cx="200025" cy="200025"/>
          </a:xfrm>
        </p:grpSpPr>
        <p:sp>
          <p:nvSpPr>
            <p:cNvPr id="12" name="椭圆 11"/>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4571991" y="1142999"/>
            <a:ext cx="200025" cy="200025"/>
            <a:chOff x="5529262" y="1326017"/>
            <a:chExt cx="200025" cy="200025"/>
          </a:xfrm>
        </p:grpSpPr>
        <p:sp>
          <p:nvSpPr>
            <p:cNvPr id="22" name="椭圆 21"/>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7872412" y="1142999"/>
            <a:ext cx="200025" cy="200025"/>
            <a:chOff x="5529262" y="1326017"/>
            <a:chExt cx="200025" cy="200025"/>
          </a:xfrm>
        </p:grpSpPr>
        <p:sp>
          <p:nvSpPr>
            <p:cNvPr id="25" name="椭圆 24"/>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7872412" y="2762251"/>
            <a:ext cx="200025" cy="200025"/>
            <a:chOff x="5529262" y="1326017"/>
            <a:chExt cx="200025" cy="200025"/>
          </a:xfrm>
        </p:grpSpPr>
        <p:sp>
          <p:nvSpPr>
            <p:cNvPr id="28" name="椭圆 27"/>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29"/>
          <p:cNvGrpSpPr/>
          <p:nvPr/>
        </p:nvGrpSpPr>
        <p:grpSpPr>
          <a:xfrm>
            <a:off x="7872412" y="4367213"/>
            <a:ext cx="200025" cy="200025"/>
            <a:chOff x="5529262" y="1326017"/>
            <a:chExt cx="200025" cy="200025"/>
          </a:xfrm>
        </p:grpSpPr>
        <p:sp>
          <p:nvSpPr>
            <p:cNvPr id="31" name="椭圆 30"/>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1135852" y="755335"/>
            <a:ext cx="3486150" cy="951543"/>
          </a:xfrm>
          <a:prstGeom prst="rect">
            <a:avLst/>
          </a:prstGeom>
          <a:noFill/>
        </p:spPr>
        <p:txBody>
          <a:bodyPr wrap="square" rtlCol="0">
            <a:spAutoFit/>
          </a:bodyPr>
          <a:lstStyle/>
          <a:p>
            <a:pPr algn="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1938</a:t>
            </a:r>
            <a:r>
              <a:rPr lang="zh-CN" altLang="zh-CN" sz="2400" dirty="0">
                <a:solidFill>
                  <a:schemeClr val="bg1"/>
                </a:solidFill>
                <a:latin typeface="张海山草泥马体" panose="02000000000000000000" pitchFamily="2" charset="-122"/>
                <a:ea typeface="张海山草泥马体" panose="02000000000000000000" pitchFamily="2" charset="-122"/>
              </a:rPr>
              <a:t>年</a:t>
            </a:r>
            <a:r>
              <a:rPr lang="en-US" altLang="zh-CN" sz="2400" dirty="0">
                <a:solidFill>
                  <a:schemeClr val="bg1"/>
                </a:solidFill>
                <a:latin typeface="张海山草泥马体" panose="02000000000000000000" pitchFamily="2" charset="-122"/>
                <a:ea typeface="张海山草泥马体" panose="02000000000000000000" pitchFamily="2" charset="-122"/>
              </a:rPr>
              <a:t>5</a:t>
            </a:r>
            <a:r>
              <a:rPr lang="zh-CN" altLang="zh-CN" sz="2400" dirty="0">
                <a:solidFill>
                  <a:schemeClr val="bg1"/>
                </a:solidFill>
                <a:latin typeface="张海山草泥马体" panose="02000000000000000000" pitchFamily="2" charset="-122"/>
                <a:ea typeface="张海山草泥马体" panose="02000000000000000000" pitchFamily="2" charset="-122"/>
              </a:rPr>
              <a:t>月</a:t>
            </a:r>
            <a:endParaRPr lang="en-US" altLang="zh-CN" sz="2400" dirty="0">
              <a:solidFill>
                <a:schemeClr val="bg1"/>
              </a:solidFill>
              <a:latin typeface="张海山草泥马体" panose="02000000000000000000" pitchFamily="2" charset="-122"/>
              <a:ea typeface="张海山草泥马体" panose="02000000000000000000" pitchFamily="2" charset="-122"/>
            </a:endParaRPr>
          </a:p>
          <a:p>
            <a:pPr algn="r">
              <a:lnSpc>
                <a:spcPct val="120000"/>
              </a:lnSpc>
            </a:pPr>
            <a:r>
              <a:rPr lang="zh-CN" altLang="zh-CN" sz="2400" dirty="0">
                <a:solidFill>
                  <a:schemeClr val="bg1"/>
                </a:solidFill>
                <a:latin typeface="张海山草泥马体" panose="02000000000000000000" pitchFamily="2" charset="-122"/>
                <a:ea typeface="张海山草泥马体" panose="02000000000000000000" pitchFamily="2" charset="-122"/>
              </a:rPr>
              <a:t>迁往湖南湘乡杨家滩 </a:t>
            </a:r>
            <a:endParaRPr lang="zh-CN" altLang="en-US" sz="3200" dirty="0">
              <a:solidFill>
                <a:schemeClr val="bg1"/>
              </a:solidFill>
              <a:latin typeface="张海山草泥马体" panose="02000000000000000000" pitchFamily="2" charset="-122"/>
              <a:ea typeface="张海山草泥马体" panose="02000000000000000000" pitchFamily="2" charset="-122"/>
            </a:endParaRPr>
          </a:p>
        </p:txBody>
      </p:sp>
      <p:sp>
        <p:nvSpPr>
          <p:cNvPr id="37" name="文本框 36"/>
          <p:cNvSpPr txBox="1"/>
          <p:nvPr/>
        </p:nvSpPr>
        <p:spPr>
          <a:xfrm>
            <a:off x="8027196" y="762479"/>
            <a:ext cx="3486150" cy="951543"/>
          </a:xfrm>
          <a:prstGeom prst="rect">
            <a:avLst/>
          </a:prstGeom>
          <a:noFill/>
        </p:spPr>
        <p:txBody>
          <a:bodyPr wrap="square" rtlCol="0">
            <a:spAutoFit/>
          </a:bodyPr>
          <a:lstStyle/>
          <a:p>
            <a:pP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1939</a:t>
            </a:r>
            <a:r>
              <a:rPr lang="zh-CN" altLang="en-US" sz="2400" dirty="0">
                <a:solidFill>
                  <a:schemeClr val="bg1"/>
                </a:solidFill>
                <a:latin typeface="张海山草泥马体" panose="02000000000000000000" pitchFamily="2" charset="-122"/>
                <a:ea typeface="张海山草泥马体" panose="02000000000000000000" pitchFamily="2" charset="-122"/>
              </a:rPr>
              <a:t>年</a:t>
            </a:r>
            <a:endParaRPr lang="en-US" altLang="zh-CN" sz="2400" dirty="0">
              <a:solidFill>
                <a:schemeClr val="bg1"/>
              </a:solidFill>
              <a:latin typeface="张海山草泥马体" panose="02000000000000000000" pitchFamily="2" charset="-122"/>
              <a:ea typeface="张海山草泥马体" panose="02000000000000000000" pitchFamily="2" charset="-122"/>
            </a:endParaRPr>
          </a:p>
          <a:p>
            <a:pPr>
              <a:lnSpc>
                <a:spcPct val="120000"/>
              </a:lnSpc>
            </a:pPr>
            <a:r>
              <a:rPr lang="zh-CN" altLang="en-US" sz="2400" dirty="0">
                <a:solidFill>
                  <a:schemeClr val="bg1"/>
                </a:solidFill>
                <a:latin typeface="张海山草泥马体" panose="02000000000000000000" pitchFamily="2" charset="-122"/>
                <a:ea typeface="张海山草泥马体" panose="02000000000000000000" pitchFamily="2" charset="-122"/>
              </a:rPr>
              <a:t>在贵州平越古城复课</a:t>
            </a:r>
            <a:endParaRPr lang="zh-CN" altLang="en-US" sz="3200" dirty="0">
              <a:solidFill>
                <a:schemeClr val="bg1"/>
              </a:solidFill>
              <a:latin typeface="张海山草泥马体" panose="02000000000000000000" pitchFamily="2" charset="-122"/>
              <a:ea typeface="张海山草泥马体" panose="02000000000000000000" pitchFamily="2" charset="-122"/>
            </a:endParaRPr>
          </a:p>
        </p:txBody>
      </p:sp>
      <p:sp>
        <p:nvSpPr>
          <p:cNvPr id="38" name="文本框 37"/>
          <p:cNvSpPr txBox="1"/>
          <p:nvPr/>
        </p:nvSpPr>
        <p:spPr>
          <a:xfrm>
            <a:off x="4210050" y="2373230"/>
            <a:ext cx="3734991" cy="951543"/>
          </a:xfrm>
          <a:prstGeom prst="rect">
            <a:avLst/>
          </a:prstGeom>
          <a:noFill/>
        </p:spPr>
        <p:txBody>
          <a:bodyPr wrap="square" rtlCol="0">
            <a:spAutoFit/>
          </a:bodyPr>
          <a:lstStyle/>
          <a:p>
            <a:pPr algn="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1944</a:t>
            </a:r>
            <a:r>
              <a:rPr lang="zh-CN" altLang="en-US" sz="2400" dirty="0">
                <a:solidFill>
                  <a:schemeClr val="bg1"/>
                </a:solidFill>
                <a:latin typeface="张海山草泥马体" panose="02000000000000000000" pitchFamily="2" charset="-122"/>
                <a:ea typeface="张海山草泥马体" panose="02000000000000000000" pitchFamily="2" charset="-122"/>
              </a:rPr>
              <a:t>年</a:t>
            </a:r>
            <a:r>
              <a:rPr lang="en-US" altLang="zh-CN" sz="2400" dirty="0">
                <a:solidFill>
                  <a:schemeClr val="bg1"/>
                </a:solidFill>
                <a:latin typeface="张海山草泥马体" panose="02000000000000000000" pitchFamily="2" charset="-122"/>
                <a:ea typeface="张海山草泥马体" panose="02000000000000000000" pitchFamily="2" charset="-122"/>
              </a:rPr>
              <a:t>11</a:t>
            </a:r>
            <a:r>
              <a:rPr lang="zh-CN" altLang="en-US" sz="2400" dirty="0">
                <a:solidFill>
                  <a:schemeClr val="bg1"/>
                </a:solidFill>
                <a:latin typeface="张海山草泥马体" panose="02000000000000000000" pitchFamily="2" charset="-122"/>
                <a:ea typeface="张海山草泥马体" panose="02000000000000000000" pitchFamily="2" charset="-122"/>
              </a:rPr>
              <a:t>月</a:t>
            </a:r>
            <a:endParaRPr lang="en-US" altLang="zh-CN" sz="2400" dirty="0">
              <a:solidFill>
                <a:schemeClr val="bg1"/>
              </a:solidFill>
              <a:latin typeface="张海山草泥马体" panose="02000000000000000000" pitchFamily="2" charset="-122"/>
              <a:ea typeface="张海山草泥马体" panose="02000000000000000000" pitchFamily="2" charset="-122"/>
            </a:endParaRPr>
          </a:p>
          <a:p>
            <a:pPr algn="r">
              <a:lnSpc>
                <a:spcPct val="120000"/>
              </a:lnSpc>
            </a:pPr>
            <a:r>
              <a:rPr lang="zh-CN" altLang="en-US" sz="2400" dirty="0">
                <a:solidFill>
                  <a:schemeClr val="bg1"/>
                </a:solidFill>
                <a:latin typeface="张海山草泥马体" panose="02000000000000000000" pitchFamily="2" charset="-122"/>
                <a:ea typeface="张海山草泥马体" panose="02000000000000000000" pitchFamily="2" charset="-122"/>
              </a:rPr>
              <a:t>再次迁校到四川璧山</a:t>
            </a:r>
          </a:p>
        </p:txBody>
      </p:sp>
      <p:sp>
        <p:nvSpPr>
          <p:cNvPr id="39" name="文本框 38"/>
          <p:cNvSpPr txBox="1"/>
          <p:nvPr/>
        </p:nvSpPr>
        <p:spPr>
          <a:xfrm>
            <a:off x="8022438" y="3991453"/>
            <a:ext cx="3726654" cy="951543"/>
          </a:xfrm>
          <a:prstGeom prst="rect">
            <a:avLst/>
          </a:prstGeom>
          <a:noFill/>
        </p:spPr>
        <p:txBody>
          <a:bodyPr wrap="square" rtlCol="0">
            <a:spAutoFit/>
          </a:bodyPr>
          <a:lstStyle/>
          <a:p>
            <a:pP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1946</a:t>
            </a:r>
            <a:r>
              <a:rPr lang="zh-CN" altLang="en-US" sz="2400" dirty="0">
                <a:solidFill>
                  <a:schemeClr val="bg1"/>
                </a:solidFill>
                <a:latin typeface="张海山草泥马体" panose="02000000000000000000" pitchFamily="2" charset="-122"/>
                <a:ea typeface="张海山草泥马体" panose="02000000000000000000" pitchFamily="2" charset="-122"/>
              </a:rPr>
              <a:t>年</a:t>
            </a:r>
            <a:r>
              <a:rPr lang="en-US" altLang="zh-CN" sz="2400" dirty="0">
                <a:solidFill>
                  <a:schemeClr val="bg1"/>
                </a:solidFill>
                <a:latin typeface="张海山草泥马体" panose="02000000000000000000" pitchFamily="2" charset="-122"/>
                <a:ea typeface="张海山草泥马体" panose="02000000000000000000" pitchFamily="2" charset="-122"/>
              </a:rPr>
              <a:t>8</a:t>
            </a:r>
            <a:r>
              <a:rPr lang="zh-CN" altLang="en-US" sz="2400" dirty="0">
                <a:solidFill>
                  <a:schemeClr val="bg1"/>
                </a:solidFill>
                <a:latin typeface="张海山草泥马体" panose="02000000000000000000" pitchFamily="2" charset="-122"/>
                <a:ea typeface="张海山草泥马体" panose="02000000000000000000" pitchFamily="2" charset="-122"/>
              </a:rPr>
              <a:t>月</a:t>
            </a:r>
            <a:endParaRPr lang="en-US" altLang="zh-CN" sz="2400" dirty="0">
              <a:solidFill>
                <a:schemeClr val="bg1"/>
              </a:solidFill>
              <a:latin typeface="张海山草泥马体" panose="02000000000000000000" pitchFamily="2" charset="-122"/>
              <a:ea typeface="张海山草泥马体" panose="02000000000000000000" pitchFamily="2" charset="-122"/>
            </a:endParaRPr>
          </a:p>
          <a:p>
            <a:pPr>
              <a:lnSpc>
                <a:spcPct val="120000"/>
              </a:lnSpc>
            </a:pPr>
            <a:r>
              <a:rPr lang="zh-CN" altLang="en-US" sz="2400" dirty="0">
                <a:solidFill>
                  <a:schemeClr val="bg1"/>
                </a:solidFill>
                <a:latin typeface="张海山草泥马体" panose="02000000000000000000" pitchFamily="2" charset="-122"/>
                <a:ea typeface="张海山草泥马体" panose="02000000000000000000" pitchFamily="2" charset="-122"/>
              </a:rPr>
              <a:t>唐山</a:t>
            </a:r>
            <a:r>
              <a:rPr lang="en-US" altLang="zh-CN" sz="2400" dirty="0">
                <a:solidFill>
                  <a:schemeClr val="bg1"/>
                </a:solidFill>
                <a:latin typeface="张海山草泥马体" panose="02000000000000000000" pitchFamily="2" charset="-122"/>
                <a:ea typeface="张海山草泥马体" panose="02000000000000000000" pitchFamily="2" charset="-122"/>
              </a:rPr>
              <a:t>——</a:t>
            </a:r>
            <a:r>
              <a:rPr lang="zh-CN" altLang="en-US" sz="2400" dirty="0">
                <a:solidFill>
                  <a:schemeClr val="bg1"/>
                </a:solidFill>
                <a:latin typeface="张海山草泥马体" panose="02000000000000000000" pitchFamily="2" charset="-122"/>
                <a:ea typeface="张海山草泥马体" panose="02000000000000000000" pitchFamily="2" charset="-122"/>
              </a:rPr>
              <a:t>国立唐山工学院</a:t>
            </a:r>
            <a:endParaRPr lang="en-US" altLang="zh-CN" sz="2400" dirty="0">
              <a:solidFill>
                <a:schemeClr val="bg1"/>
              </a:solidFill>
              <a:latin typeface="张海山草泥马体" panose="02000000000000000000" pitchFamily="2" charset="-122"/>
              <a:ea typeface="张海山草泥马体" panose="02000000000000000000" pitchFamily="2" charset="-122"/>
            </a:endParaRPr>
          </a:p>
        </p:txBody>
      </p:sp>
      <p:sp>
        <p:nvSpPr>
          <p:cNvPr id="40" name="文本框 39"/>
          <p:cNvSpPr txBox="1"/>
          <p:nvPr/>
        </p:nvSpPr>
        <p:spPr>
          <a:xfrm>
            <a:off x="902496" y="4010502"/>
            <a:ext cx="3726654" cy="951543"/>
          </a:xfrm>
          <a:prstGeom prst="rect">
            <a:avLst/>
          </a:prstGeom>
          <a:noFill/>
        </p:spPr>
        <p:txBody>
          <a:bodyPr wrap="square" rtlCol="0">
            <a:spAutoFit/>
          </a:bodyPr>
          <a:lstStyle/>
          <a:p>
            <a:pPr algn="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1949</a:t>
            </a:r>
            <a:r>
              <a:rPr lang="zh-CN" altLang="en-US" sz="2400" dirty="0">
                <a:solidFill>
                  <a:schemeClr val="bg1"/>
                </a:solidFill>
                <a:latin typeface="张海山草泥马体" panose="02000000000000000000" pitchFamily="2" charset="-122"/>
                <a:ea typeface="张海山草泥马体" panose="02000000000000000000" pitchFamily="2" charset="-122"/>
              </a:rPr>
              <a:t>年</a:t>
            </a:r>
          </a:p>
          <a:p>
            <a:pPr algn="r">
              <a:lnSpc>
                <a:spcPct val="120000"/>
              </a:lnSpc>
            </a:pPr>
            <a:r>
              <a:rPr lang="zh-CN" altLang="en-US" sz="2400" dirty="0">
                <a:solidFill>
                  <a:schemeClr val="bg1"/>
                </a:solidFill>
                <a:latin typeface="张海山草泥马体" panose="02000000000000000000" pitchFamily="2" charset="-122"/>
                <a:ea typeface="张海山草泥马体" panose="02000000000000000000" pitchFamily="2" charset="-122"/>
              </a:rPr>
              <a:t>中国交通大学唐山工学院</a:t>
            </a:r>
          </a:p>
        </p:txBody>
      </p:sp>
      <p:grpSp>
        <p:nvGrpSpPr>
          <p:cNvPr id="44" name="组合 43"/>
          <p:cNvGrpSpPr/>
          <p:nvPr/>
        </p:nvGrpSpPr>
        <p:grpSpPr>
          <a:xfrm>
            <a:off x="4571991" y="5700712"/>
            <a:ext cx="200025" cy="200025"/>
            <a:chOff x="5529262" y="1326017"/>
            <a:chExt cx="200025" cy="200025"/>
          </a:xfrm>
        </p:grpSpPr>
        <p:sp>
          <p:nvSpPr>
            <p:cNvPr id="45" name="椭圆 44"/>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文本框 46"/>
          <p:cNvSpPr txBox="1"/>
          <p:nvPr/>
        </p:nvSpPr>
        <p:spPr>
          <a:xfrm>
            <a:off x="4724401" y="5103353"/>
            <a:ext cx="3726654" cy="1394741"/>
          </a:xfrm>
          <a:prstGeom prst="rect">
            <a:avLst/>
          </a:prstGeom>
          <a:noFill/>
        </p:spPr>
        <p:txBody>
          <a:bodyPr wrap="square" rtlCol="0">
            <a:spAutoFit/>
          </a:bodyPr>
          <a:lstStyle/>
          <a:p>
            <a:pP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1952</a:t>
            </a:r>
            <a:r>
              <a:rPr lang="zh-CN" altLang="en-US" sz="2400" dirty="0">
                <a:solidFill>
                  <a:schemeClr val="bg1"/>
                </a:solidFill>
                <a:latin typeface="张海山草泥马体" panose="02000000000000000000" pitchFamily="2" charset="-122"/>
                <a:ea typeface="张海山草泥马体" panose="02000000000000000000" pitchFamily="2" charset="-122"/>
              </a:rPr>
              <a:t>年</a:t>
            </a:r>
          </a:p>
          <a:p>
            <a:pPr>
              <a:lnSpc>
                <a:spcPct val="120000"/>
              </a:lnSpc>
            </a:pPr>
            <a:r>
              <a:rPr lang="zh-CN" altLang="en-US" sz="2400" dirty="0">
                <a:solidFill>
                  <a:schemeClr val="bg1"/>
                </a:solidFill>
                <a:latin typeface="张海山草泥马体" panose="02000000000000000000" pitchFamily="2" charset="-122"/>
                <a:ea typeface="张海山草泥马体" panose="02000000000000000000" pitchFamily="2" charset="-122"/>
              </a:rPr>
              <a:t>院系调整</a:t>
            </a:r>
            <a:endParaRPr lang="en-US" altLang="zh-CN" sz="2400" dirty="0">
              <a:solidFill>
                <a:schemeClr val="bg1"/>
              </a:solidFill>
              <a:latin typeface="张海山草泥马体" panose="02000000000000000000" pitchFamily="2" charset="-122"/>
              <a:ea typeface="张海山草泥马体" panose="02000000000000000000" pitchFamily="2" charset="-122"/>
            </a:endParaRPr>
          </a:p>
          <a:p>
            <a:pPr>
              <a:lnSpc>
                <a:spcPct val="120000"/>
              </a:lnSpc>
            </a:pPr>
            <a:r>
              <a:rPr lang="zh-CN" altLang="en-US" sz="2400" dirty="0">
                <a:solidFill>
                  <a:schemeClr val="bg1"/>
                </a:solidFill>
                <a:latin typeface="张海山草泥马体" panose="02000000000000000000" pitchFamily="2" charset="-122"/>
                <a:ea typeface="张海山草泥马体" panose="02000000000000000000" pitchFamily="2" charset="-122"/>
              </a:rPr>
              <a:t>唐山铁道学院</a:t>
            </a:r>
          </a:p>
        </p:txBody>
      </p:sp>
    </p:spTree>
  </p:cSld>
  <p:clrMapOvr>
    <a:masterClrMapping/>
  </p:clrMapOvr>
  <mc:AlternateContent xmlns:mc="http://schemas.openxmlformats.org/markup-compatibility/2006">
    <mc:Choice xmlns:p14="http://schemas.microsoft.com/office/powerpoint/2010/main" xmlns=""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par>
                          <p:cTn id="7" fill="hold">
                            <p:stCondLst>
                              <p:cond delay="0"/>
                            </p:stCondLst>
                            <p:childTnLst>
                              <p:par>
                                <p:cTn id="8" presetID="42" presetClass="path" presetSubtype="0" accel="50000" decel="50000" fill="hold" nodeType="afterEffect">
                                  <p:stCondLst>
                                    <p:cond delay="0"/>
                                  </p:stCondLst>
                                  <p:childTnLst>
                                    <p:animMotion origin="layout" path="M -3.125E-6 -0.18403 L -3.125E-6 -4.81481E-6 " pathEditMode="relative" rAng="0" ptsTypes="AA">
                                      <p:cBhvr>
                                        <p:cTn id="9" dur="1000" fill="hold"/>
                                        <p:tgtEl>
                                          <p:spTgt spid="18"/>
                                        </p:tgtEl>
                                        <p:attrNameLst>
                                          <p:attrName>ppt_x</p:attrName>
                                          <p:attrName>ppt_y</p:attrName>
                                        </p:attrNameLst>
                                      </p:cBhvr>
                                      <p:rCtr x="0" y="9306"/>
                                    </p:animMotion>
                                  </p:childTnLst>
                                </p:cTn>
                              </p:par>
                              <p:par>
                                <p:cTn id="10" presetID="10" presetClass="entr" presetSubtype="0" fill="hold" grpId="0" nodeType="withEffect">
                                  <p:stCondLst>
                                    <p:cond delay="75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childTnLst>
                                </p:cTn>
                              </p:par>
                            </p:childTnLst>
                          </p:cTn>
                        </p:par>
                        <p:par>
                          <p:cTn id="13" fill="hold">
                            <p:stCondLst>
                              <p:cond delay="1000"/>
                            </p:stCondLst>
                            <p:childTnLst>
                              <p:par>
                                <p:cTn id="14" presetID="1" presetClass="entr" presetSubtype="0" fill="hold" nodeType="afterEffect">
                                  <p:stCondLst>
                                    <p:cond delay="0"/>
                                  </p:stCondLst>
                                  <p:childTnLst>
                                    <p:set>
                                      <p:cBhvr>
                                        <p:cTn id="15" dur="1" fill="hold">
                                          <p:stCondLst>
                                            <p:cond delay="0"/>
                                          </p:stCondLst>
                                        </p:cTn>
                                        <p:tgtEl>
                                          <p:spTgt spid="24"/>
                                        </p:tgtEl>
                                        <p:attrNameLst>
                                          <p:attrName>style.visibility</p:attrName>
                                        </p:attrNameLst>
                                      </p:cBhvr>
                                      <p:to>
                                        <p:strVal val="visible"/>
                                      </p:to>
                                    </p:set>
                                  </p:childTnLst>
                                </p:cTn>
                              </p:par>
                            </p:childTnLst>
                          </p:cTn>
                        </p:par>
                        <p:par>
                          <p:cTn id="16" fill="hold">
                            <p:stCondLst>
                              <p:cond delay="1000"/>
                            </p:stCondLst>
                            <p:childTnLst>
                              <p:par>
                                <p:cTn id="17" presetID="63" presetClass="path" presetSubtype="0" accel="50000" decel="50000" fill="hold" nodeType="afterEffect">
                                  <p:stCondLst>
                                    <p:cond delay="0"/>
                                  </p:stCondLst>
                                  <p:childTnLst>
                                    <p:animMotion origin="layout" path="M -0.27071 2.77556E-17 L 3.95833E-6 2.77556E-17 " pathEditMode="relative" rAng="0" ptsTypes="AA">
                                      <p:cBhvr>
                                        <p:cTn id="18" dur="1000" fill="hold"/>
                                        <p:tgtEl>
                                          <p:spTgt spid="24"/>
                                        </p:tgtEl>
                                        <p:attrNameLst>
                                          <p:attrName>ppt_x</p:attrName>
                                          <p:attrName>ppt_y</p:attrName>
                                        </p:attrNameLst>
                                      </p:cBhvr>
                                      <p:rCtr x="13529" y="0"/>
                                    </p:animMotion>
                                  </p:childTnLst>
                                </p:cTn>
                              </p:par>
                              <p:par>
                                <p:cTn id="19" presetID="10" presetClass="entr" presetSubtype="0" fill="hold" grpId="0" nodeType="withEffect">
                                  <p:stCondLst>
                                    <p:cond delay="75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1000"/>
                                        <p:tgtEl>
                                          <p:spTgt spid="37"/>
                                        </p:tgtEl>
                                      </p:cBhvr>
                                    </p:animEffect>
                                  </p:childTnLst>
                                </p:cTn>
                              </p:par>
                            </p:childTnLst>
                          </p:cTn>
                        </p:par>
                        <p:par>
                          <p:cTn id="22" fill="hold">
                            <p:stCondLst>
                              <p:cond delay="2000"/>
                            </p:stCondLst>
                            <p:childTnLst>
                              <p:par>
                                <p:cTn id="23" presetID="1" presetClass="entr" presetSubtype="0" fill="hold" nodeType="after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par>
                          <p:cTn id="25" fill="hold">
                            <p:stCondLst>
                              <p:cond delay="2000"/>
                            </p:stCondLst>
                            <p:childTnLst>
                              <p:par>
                                <p:cTn id="26" presetID="42" presetClass="path" presetSubtype="0" accel="50000" decel="50000" fill="hold" nodeType="afterEffect">
                                  <p:stCondLst>
                                    <p:cond delay="0"/>
                                  </p:stCondLst>
                                  <p:childTnLst>
                                    <p:animMotion origin="layout" path="M 3.75E-6 -0.23611 L 3.75E-6 -1.11111E-6 " pathEditMode="relative" rAng="0" ptsTypes="AA">
                                      <p:cBhvr>
                                        <p:cTn id="27" dur="1000" fill="hold"/>
                                        <p:tgtEl>
                                          <p:spTgt spid="27"/>
                                        </p:tgtEl>
                                        <p:attrNameLst>
                                          <p:attrName>ppt_x</p:attrName>
                                          <p:attrName>ppt_y</p:attrName>
                                        </p:attrNameLst>
                                      </p:cBhvr>
                                      <p:rCtr x="0" y="11806"/>
                                    </p:animMotion>
                                  </p:childTnLst>
                                </p:cTn>
                              </p:par>
                              <p:par>
                                <p:cTn id="28" presetID="10" presetClass="entr" presetSubtype="0" fill="hold" grpId="0" nodeType="withEffect">
                                  <p:stCondLst>
                                    <p:cond delay="75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1000"/>
                                        <p:tgtEl>
                                          <p:spTgt spid="38"/>
                                        </p:tgtEl>
                                      </p:cBhvr>
                                    </p:animEffect>
                                  </p:childTnLst>
                                </p:cTn>
                              </p:par>
                            </p:childTnLst>
                          </p:cTn>
                        </p:par>
                        <p:par>
                          <p:cTn id="31" fill="hold">
                            <p:stCondLst>
                              <p:cond delay="3000"/>
                            </p:stCondLst>
                            <p:childTnLst>
                              <p:par>
                                <p:cTn id="32" presetID="1" presetClass="entr" presetSubtype="0" fill="hold" nodeType="afterEffect">
                                  <p:stCondLst>
                                    <p:cond delay="0"/>
                                  </p:stCondLst>
                                  <p:childTnLst>
                                    <p:set>
                                      <p:cBhvr>
                                        <p:cTn id="33" dur="1" fill="hold">
                                          <p:stCondLst>
                                            <p:cond delay="0"/>
                                          </p:stCondLst>
                                        </p:cTn>
                                        <p:tgtEl>
                                          <p:spTgt spid="30"/>
                                        </p:tgtEl>
                                        <p:attrNameLst>
                                          <p:attrName>style.visibility</p:attrName>
                                        </p:attrNameLst>
                                      </p:cBhvr>
                                      <p:to>
                                        <p:strVal val="visible"/>
                                      </p:to>
                                    </p:set>
                                  </p:childTnLst>
                                </p:cTn>
                              </p:par>
                            </p:childTnLst>
                          </p:cTn>
                        </p:par>
                        <p:par>
                          <p:cTn id="34" fill="hold">
                            <p:stCondLst>
                              <p:cond delay="3000"/>
                            </p:stCondLst>
                            <p:childTnLst>
                              <p:par>
                                <p:cTn id="35" presetID="42" presetClass="path" presetSubtype="0" accel="50000" decel="50000" fill="hold" nodeType="afterEffect">
                                  <p:stCondLst>
                                    <p:cond delay="0"/>
                                  </p:stCondLst>
                                  <p:childTnLst>
                                    <p:animMotion origin="layout" path="M 3.75E-6 -0.23403 L 3.75E-6 1.11111E-6 " pathEditMode="relative" rAng="0" ptsTypes="AA">
                                      <p:cBhvr>
                                        <p:cTn id="36" dur="1000" fill="hold"/>
                                        <p:tgtEl>
                                          <p:spTgt spid="30"/>
                                        </p:tgtEl>
                                        <p:attrNameLst>
                                          <p:attrName>ppt_x</p:attrName>
                                          <p:attrName>ppt_y</p:attrName>
                                        </p:attrNameLst>
                                      </p:cBhvr>
                                      <p:rCtr x="0" y="11690"/>
                                    </p:animMotion>
                                  </p:childTnLst>
                                </p:cTn>
                              </p:par>
                              <p:par>
                                <p:cTn id="37" presetID="10" presetClass="entr" presetSubtype="0" fill="hold" grpId="0" nodeType="withEffect">
                                  <p:stCondLst>
                                    <p:cond delay="75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1000"/>
                                        <p:tgtEl>
                                          <p:spTgt spid="39"/>
                                        </p:tgtEl>
                                      </p:cBhvr>
                                    </p:animEffect>
                                  </p:childTnLst>
                                </p:cTn>
                              </p:par>
                            </p:childTnLst>
                          </p:cTn>
                        </p:par>
                        <p:par>
                          <p:cTn id="40" fill="hold">
                            <p:stCondLst>
                              <p:cond delay="4000"/>
                            </p:stCondLst>
                            <p:childTnLst>
                              <p:par>
                                <p:cTn id="41" presetID="1" presetClass="entr" presetSubtype="0" fill="hold" nodeType="after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par>
                          <p:cTn id="43" fill="hold">
                            <p:stCondLst>
                              <p:cond delay="4000"/>
                            </p:stCondLst>
                            <p:childTnLst>
                              <p:par>
                                <p:cTn id="44" presetID="35" presetClass="path" presetSubtype="0" accel="50000" decel="50000" fill="hold" nodeType="afterEffect">
                                  <p:stCondLst>
                                    <p:cond delay="0"/>
                                  </p:stCondLst>
                                  <p:childTnLst>
                                    <p:animMotion origin="layout" path="M 0.27071 -0.00278 L 0.00052 3.33333E-6 " pathEditMode="relative" rAng="0" ptsTypes="AA">
                                      <p:cBhvr>
                                        <p:cTn id="45" dur="1000" fill="hold"/>
                                        <p:tgtEl>
                                          <p:spTgt spid="10"/>
                                        </p:tgtEl>
                                        <p:attrNameLst>
                                          <p:attrName>ppt_x</p:attrName>
                                          <p:attrName>ppt_y</p:attrName>
                                        </p:attrNameLst>
                                      </p:cBhvr>
                                      <p:rCtr x="-13516" y="139"/>
                                    </p:animMotion>
                                  </p:childTnLst>
                                </p:cTn>
                              </p:par>
                              <p:par>
                                <p:cTn id="46" presetID="10" presetClass="entr" presetSubtype="0" fill="hold" grpId="0" nodeType="withEffect">
                                  <p:stCondLst>
                                    <p:cond delay="750"/>
                                  </p:stCondLst>
                                  <p:childTnLst>
                                    <p:set>
                                      <p:cBhvr>
                                        <p:cTn id="47" dur="1" fill="hold">
                                          <p:stCondLst>
                                            <p:cond delay="0"/>
                                          </p:stCondLst>
                                        </p:cTn>
                                        <p:tgtEl>
                                          <p:spTgt spid="40"/>
                                        </p:tgtEl>
                                        <p:attrNameLst>
                                          <p:attrName>style.visibility</p:attrName>
                                        </p:attrNameLst>
                                      </p:cBhvr>
                                      <p:to>
                                        <p:strVal val="visible"/>
                                      </p:to>
                                    </p:set>
                                    <p:animEffect transition="in" filter="fade">
                                      <p:cBhvr>
                                        <p:cTn id="48" dur="1000"/>
                                        <p:tgtEl>
                                          <p:spTgt spid="40"/>
                                        </p:tgtEl>
                                      </p:cBhvr>
                                    </p:animEffect>
                                  </p:childTnLst>
                                </p:cTn>
                              </p:par>
                            </p:childTnLst>
                          </p:cTn>
                        </p:par>
                        <p:par>
                          <p:cTn id="49" fill="hold">
                            <p:stCondLst>
                              <p:cond delay="5000"/>
                            </p:stCondLst>
                            <p:childTnLst>
                              <p:par>
                                <p:cTn id="50" presetID="1" presetClass="entr" presetSubtype="0" fill="hold" nodeType="afterEffect">
                                  <p:stCondLst>
                                    <p:cond delay="0"/>
                                  </p:stCondLst>
                                  <p:childTnLst>
                                    <p:set>
                                      <p:cBhvr>
                                        <p:cTn id="51" dur="1" fill="hold">
                                          <p:stCondLst>
                                            <p:cond delay="0"/>
                                          </p:stCondLst>
                                        </p:cTn>
                                        <p:tgtEl>
                                          <p:spTgt spid="44"/>
                                        </p:tgtEl>
                                        <p:attrNameLst>
                                          <p:attrName>style.visibility</p:attrName>
                                        </p:attrNameLst>
                                      </p:cBhvr>
                                      <p:to>
                                        <p:strVal val="visible"/>
                                      </p:to>
                                    </p:set>
                                  </p:childTnLst>
                                </p:cTn>
                              </p:par>
                            </p:childTnLst>
                          </p:cTn>
                        </p:par>
                        <p:par>
                          <p:cTn id="52" fill="hold">
                            <p:stCondLst>
                              <p:cond delay="5000"/>
                            </p:stCondLst>
                            <p:childTnLst>
                              <p:par>
                                <p:cTn id="53" presetID="42" presetClass="path" presetSubtype="0" accel="50000" decel="50000" fill="hold" nodeType="afterEffect">
                                  <p:stCondLst>
                                    <p:cond delay="0"/>
                                  </p:stCondLst>
                                  <p:childTnLst>
                                    <p:animMotion origin="layout" path="M 0.00052 -0.19166 L -3.95833E-6 -1.85185E-6 " pathEditMode="relative" rAng="0" ptsTypes="AA">
                                      <p:cBhvr>
                                        <p:cTn id="54" dur="1000" fill="hold"/>
                                        <p:tgtEl>
                                          <p:spTgt spid="44"/>
                                        </p:tgtEl>
                                        <p:attrNameLst>
                                          <p:attrName>ppt_x</p:attrName>
                                          <p:attrName>ppt_y</p:attrName>
                                        </p:attrNameLst>
                                      </p:cBhvr>
                                      <p:rCtr x="0" y="9560"/>
                                    </p:animMotion>
                                  </p:childTnLst>
                                </p:cTn>
                              </p:par>
                              <p:par>
                                <p:cTn id="55" presetID="10" presetClass="entr" presetSubtype="0" fill="hold" grpId="0" nodeType="withEffect">
                                  <p:stCondLst>
                                    <p:cond delay="750"/>
                                  </p:stCondLst>
                                  <p:childTnLst>
                                    <p:set>
                                      <p:cBhvr>
                                        <p:cTn id="56" dur="1" fill="hold">
                                          <p:stCondLst>
                                            <p:cond delay="0"/>
                                          </p:stCondLst>
                                        </p:cTn>
                                        <p:tgtEl>
                                          <p:spTgt spid="47"/>
                                        </p:tgtEl>
                                        <p:attrNameLst>
                                          <p:attrName>style.visibility</p:attrName>
                                        </p:attrNameLst>
                                      </p:cBhvr>
                                      <p:to>
                                        <p:strVal val="visible"/>
                                      </p:to>
                                    </p:set>
                                    <p:animEffect transition="in" filter="fade">
                                      <p:cBhvr>
                                        <p:cTn id="57"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7" grpId="0"/>
      <p:bldP spid="38" grpId="0"/>
      <p:bldP spid="39" grpId="0"/>
      <p:bldP spid="40" grpId="0"/>
      <p:bldP spid="4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4670425" y="0"/>
            <a:ext cx="0" cy="1243013"/>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4650105" y="1226822"/>
            <a:ext cx="3300412" cy="14287"/>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a:endCxn id="16" idx="0"/>
          </p:cNvCxnSpPr>
          <p:nvPr/>
        </p:nvCxnSpPr>
        <p:spPr>
          <a:xfrm flipH="1">
            <a:off x="7935276" y="1213486"/>
            <a:ext cx="2" cy="4160043"/>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4571991" y="1113473"/>
            <a:ext cx="200025" cy="200025"/>
            <a:chOff x="5529262" y="1326017"/>
            <a:chExt cx="200025" cy="200025"/>
          </a:xfrm>
        </p:grpSpPr>
        <p:sp>
          <p:nvSpPr>
            <p:cNvPr id="7" name="椭圆 6"/>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7835264" y="1113473"/>
            <a:ext cx="200025" cy="200025"/>
            <a:chOff x="5529262" y="1326017"/>
            <a:chExt cx="200025" cy="200025"/>
          </a:xfrm>
        </p:grpSpPr>
        <p:sp>
          <p:nvSpPr>
            <p:cNvPr id="10" name="椭圆 9"/>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7835264" y="3228023"/>
            <a:ext cx="200025" cy="200025"/>
            <a:chOff x="5529262" y="1326017"/>
            <a:chExt cx="200025" cy="200025"/>
          </a:xfrm>
        </p:grpSpPr>
        <p:sp>
          <p:nvSpPr>
            <p:cNvPr id="13" name="椭圆 12"/>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7835264" y="5342573"/>
            <a:ext cx="200025" cy="200025"/>
            <a:chOff x="5529262" y="1326017"/>
            <a:chExt cx="200025" cy="200025"/>
          </a:xfrm>
        </p:grpSpPr>
        <p:sp>
          <p:nvSpPr>
            <p:cNvPr id="16" name="椭圆 15"/>
            <p:cNvSpPr/>
            <p:nvPr/>
          </p:nvSpPr>
          <p:spPr>
            <a:xfrm>
              <a:off x="5560218" y="1356973"/>
              <a:ext cx="138112" cy="138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5529262" y="1326017"/>
              <a:ext cx="200025" cy="20002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4" name="直接连接符 23"/>
          <p:cNvCxnSpPr>
            <a:stCxn id="16" idx="4"/>
          </p:cNvCxnSpPr>
          <p:nvPr/>
        </p:nvCxnSpPr>
        <p:spPr>
          <a:xfrm>
            <a:off x="7935276" y="5511641"/>
            <a:ext cx="0" cy="1346359"/>
          </a:xfrm>
          <a:prstGeom prst="line">
            <a:avLst/>
          </a:prstGeom>
          <a:ln w="317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903682" y="737713"/>
            <a:ext cx="3726654" cy="951543"/>
          </a:xfrm>
          <a:prstGeom prst="rect">
            <a:avLst/>
          </a:prstGeom>
          <a:noFill/>
        </p:spPr>
        <p:txBody>
          <a:bodyPr wrap="square" rtlCol="0">
            <a:spAutoFit/>
          </a:bodyPr>
          <a:lstStyle/>
          <a:p>
            <a:pPr algn="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1964</a:t>
            </a:r>
            <a:r>
              <a:rPr lang="zh-CN" altLang="en-US" sz="2400" dirty="0">
                <a:solidFill>
                  <a:schemeClr val="bg1"/>
                </a:solidFill>
                <a:latin typeface="张海山草泥马体" panose="02000000000000000000" pitchFamily="2" charset="-122"/>
                <a:ea typeface="张海山草泥马体" panose="02000000000000000000" pitchFamily="2" charset="-122"/>
              </a:rPr>
              <a:t>年</a:t>
            </a:r>
            <a:r>
              <a:rPr lang="en-US" altLang="zh-CN" sz="2400" dirty="0">
                <a:solidFill>
                  <a:schemeClr val="bg1"/>
                </a:solidFill>
                <a:latin typeface="张海山草泥马体" panose="02000000000000000000" pitchFamily="2" charset="-122"/>
                <a:ea typeface="张海山草泥马体" panose="02000000000000000000" pitchFamily="2" charset="-122"/>
              </a:rPr>
              <a:t>9</a:t>
            </a:r>
            <a:r>
              <a:rPr lang="zh-CN" altLang="en-US" sz="2400" dirty="0">
                <a:solidFill>
                  <a:schemeClr val="bg1"/>
                </a:solidFill>
                <a:latin typeface="张海山草泥马体" panose="02000000000000000000" pitchFamily="2" charset="-122"/>
                <a:ea typeface="张海山草泥马体" panose="02000000000000000000" pitchFamily="2" charset="-122"/>
              </a:rPr>
              <a:t>月</a:t>
            </a:r>
          </a:p>
          <a:p>
            <a:pPr algn="r">
              <a:lnSpc>
                <a:spcPct val="120000"/>
              </a:lnSpc>
            </a:pPr>
            <a:r>
              <a:rPr lang="zh-CN" altLang="en-US" sz="2400" dirty="0">
                <a:solidFill>
                  <a:schemeClr val="bg1"/>
                </a:solidFill>
                <a:latin typeface="张海山草泥马体" panose="02000000000000000000" pitchFamily="2" charset="-122"/>
                <a:ea typeface="张海山草泥马体" panose="02000000000000000000" pitchFamily="2" charset="-122"/>
              </a:rPr>
              <a:t>迁至四川峨眉</a:t>
            </a:r>
          </a:p>
        </p:txBody>
      </p:sp>
      <p:sp>
        <p:nvSpPr>
          <p:cNvPr id="28" name="文本框 27"/>
          <p:cNvSpPr txBox="1"/>
          <p:nvPr/>
        </p:nvSpPr>
        <p:spPr>
          <a:xfrm>
            <a:off x="8035288" y="758193"/>
            <a:ext cx="3726654" cy="951543"/>
          </a:xfrm>
          <a:prstGeom prst="rect">
            <a:avLst/>
          </a:prstGeom>
          <a:noFill/>
        </p:spPr>
        <p:txBody>
          <a:bodyPr wrap="square" rtlCol="0">
            <a:spAutoFit/>
          </a:bodyPr>
          <a:lstStyle/>
          <a:p>
            <a:pP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1972</a:t>
            </a:r>
            <a:r>
              <a:rPr lang="zh-CN" altLang="en-US" sz="2400" dirty="0">
                <a:solidFill>
                  <a:schemeClr val="bg1"/>
                </a:solidFill>
                <a:latin typeface="张海山草泥马体" panose="02000000000000000000" pitchFamily="2" charset="-122"/>
                <a:ea typeface="张海山草泥马体" panose="02000000000000000000" pitchFamily="2" charset="-122"/>
              </a:rPr>
              <a:t>年</a:t>
            </a:r>
          </a:p>
          <a:p>
            <a:pPr>
              <a:lnSpc>
                <a:spcPct val="120000"/>
              </a:lnSpc>
            </a:pPr>
            <a:r>
              <a:rPr lang="zh-CN" altLang="en-US" sz="2400" dirty="0">
                <a:solidFill>
                  <a:schemeClr val="bg1"/>
                </a:solidFill>
                <a:latin typeface="张海山草泥马体" panose="02000000000000000000" pitchFamily="2" charset="-122"/>
                <a:ea typeface="张海山草泥马体" panose="02000000000000000000" pitchFamily="2" charset="-122"/>
              </a:rPr>
              <a:t>更名为西南交通大学</a:t>
            </a:r>
          </a:p>
        </p:txBody>
      </p:sp>
      <p:sp>
        <p:nvSpPr>
          <p:cNvPr id="29" name="文本框 28"/>
          <p:cNvSpPr txBox="1"/>
          <p:nvPr/>
        </p:nvSpPr>
        <p:spPr>
          <a:xfrm>
            <a:off x="4174094" y="2817735"/>
            <a:ext cx="3726654" cy="951543"/>
          </a:xfrm>
          <a:prstGeom prst="rect">
            <a:avLst/>
          </a:prstGeom>
          <a:noFill/>
        </p:spPr>
        <p:txBody>
          <a:bodyPr wrap="square" rtlCol="0">
            <a:spAutoFit/>
          </a:bodyPr>
          <a:lstStyle/>
          <a:p>
            <a:pPr algn="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1989</a:t>
            </a:r>
            <a:r>
              <a:rPr lang="zh-CN" altLang="en-US" sz="2400" dirty="0">
                <a:solidFill>
                  <a:schemeClr val="bg1"/>
                </a:solidFill>
                <a:latin typeface="张海山草泥马体" panose="02000000000000000000" pitchFamily="2" charset="-122"/>
                <a:ea typeface="张海山草泥马体" panose="02000000000000000000" pitchFamily="2" charset="-122"/>
              </a:rPr>
              <a:t>年</a:t>
            </a:r>
          </a:p>
          <a:p>
            <a:pPr algn="r">
              <a:lnSpc>
                <a:spcPct val="120000"/>
              </a:lnSpc>
            </a:pPr>
            <a:r>
              <a:rPr lang="zh-CN" altLang="en-US" sz="2400" dirty="0">
                <a:solidFill>
                  <a:schemeClr val="bg1"/>
                </a:solidFill>
                <a:latin typeface="张海山草泥马体" panose="02000000000000000000" pitchFamily="2" charset="-122"/>
                <a:ea typeface="张海山草泥马体" panose="02000000000000000000" pitchFamily="2" charset="-122"/>
              </a:rPr>
              <a:t>总校迁往成都</a:t>
            </a:r>
          </a:p>
        </p:txBody>
      </p:sp>
      <p:sp>
        <p:nvSpPr>
          <p:cNvPr id="30" name="文本框 29"/>
          <p:cNvSpPr txBox="1"/>
          <p:nvPr/>
        </p:nvSpPr>
        <p:spPr>
          <a:xfrm>
            <a:off x="8035288" y="4731621"/>
            <a:ext cx="3726654" cy="1421928"/>
          </a:xfrm>
          <a:prstGeom prst="rect">
            <a:avLst/>
          </a:prstGeom>
          <a:noFill/>
        </p:spPr>
        <p:txBody>
          <a:bodyPr wrap="square" rtlCol="0">
            <a:spAutoFit/>
          </a:bodyPr>
          <a:lstStyle/>
          <a:p>
            <a:pPr>
              <a:lnSpc>
                <a:spcPct val="120000"/>
              </a:lnSpc>
            </a:pPr>
            <a:r>
              <a:rPr lang="en-US" altLang="zh-CN" sz="2400" dirty="0">
                <a:solidFill>
                  <a:schemeClr val="bg1"/>
                </a:solidFill>
                <a:latin typeface="张海山草泥马体" panose="02000000000000000000" pitchFamily="2" charset="-122"/>
                <a:ea typeface="张海山草泥马体" panose="02000000000000000000" pitchFamily="2" charset="-122"/>
              </a:rPr>
              <a:t>2002</a:t>
            </a:r>
            <a:r>
              <a:rPr lang="zh-CN" altLang="en-US" sz="2400" dirty="0">
                <a:solidFill>
                  <a:schemeClr val="bg1"/>
                </a:solidFill>
                <a:latin typeface="张海山草泥马体" panose="02000000000000000000" pitchFamily="2" charset="-122"/>
                <a:ea typeface="张海山草泥马体" panose="02000000000000000000" pitchFamily="2" charset="-122"/>
              </a:rPr>
              <a:t>年</a:t>
            </a:r>
            <a:endParaRPr lang="en-US" altLang="zh-CN" sz="2400" dirty="0">
              <a:solidFill>
                <a:schemeClr val="bg1"/>
              </a:solidFill>
              <a:latin typeface="张海山草泥马体" panose="02000000000000000000" pitchFamily="2" charset="-122"/>
              <a:ea typeface="张海山草泥马体" panose="02000000000000000000" pitchFamily="2" charset="-122"/>
            </a:endParaRPr>
          </a:p>
          <a:p>
            <a:pPr>
              <a:lnSpc>
                <a:spcPct val="120000"/>
              </a:lnSpc>
            </a:pPr>
            <a:r>
              <a:rPr lang="zh-CN" altLang="en-US" sz="2400" dirty="0">
                <a:solidFill>
                  <a:schemeClr val="bg1"/>
                </a:solidFill>
                <a:latin typeface="张海山草泥马体" panose="02000000000000000000" pitchFamily="2" charset="-122"/>
                <a:ea typeface="张海山草泥马体" panose="02000000000000000000" pitchFamily="2" charset="-122"/>
              </a:rPr>
              <a:t>建设犀浦新校区</a:t>
            </a:r>
          </a:p>
          <a:p>
            <a:pPr>
              <a:lnSpc>
                <a:spcPct val="120000"/>
              </a:lnSpc>
            </a:pPr>
            <a:r>
              <a:rPr lang="zh-CN" altLang="en-US" sz="2400" dirty="0">
                <a:solidFill>
                  <a:schemeClr val="bg1"/>
                </a:solidFill>
                <a:latin typeface="张海山草泥马体" panose="02000000000000000000" pitchFamily="2" charset="-122"/>
                <a:ea typeface="张海山草泥马体" panose="02000000000000000000" pitchFamily="2" charset="-122"/>
              </a:rPr>
              <a:t>“一校、两地、三校区”</a:t>
            </a:r>
          </a:p>
        </p:txBody>
      </p:sp>
    </p:spTree>
  </p:cSld>
  <p:clrMapOvr>
    <a:masterClrMapping/>
  </p:clrMapOvr>
  <mc:AlternateContent xmlns:mc="http://schemas.openxmlformats.org/markup-compatibility/2006">
    <mc:Choice xmlns:p14="http://schemas.microsoft.com/office/powerpoint/2010/main" xmlns=""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42" presetClass="path" presetSubtype="0" accel="50000" decel="50000" fill="hold" nodeType="afterEffect">
                                  <p:stCondLst>
                                    <p:cond delay="0"/>
                                  </p:stCondLst>
                                  <p:childTnLst>
                                    <p:animMotion origin="layout" path="M -3.125E-6 -0.24491 L -3.125E-6 -1.85185E-6 " pathEditMode="relative" rAng="0" ptsTypes="AA">
                                      <p:cBhvr>
                                        <p:cTn id="9" dur="1000" fill="hold"/>
                                        <p:tgtEl>
                                          <p:spTgt spid="6"/>
                                        </p:tgtEl>
                                        <p:attrNameLst>
                                          <p:attrName>ppt_x</p:attrName>
                                          <p:attrName>ppt_y</p:attrName>
                                        </p:attrNameLst>
                                      </p:cBhvr>
                                      <p:rCtr x="0" y="12245"/>
                                    </p:animMotion>
                                  </p:childTnLst>
                                </p:cTn>
                              </p:par>
                              <p:par>
                                <p:cTn id="10" presetID="10" presetClass="entr" presetSubtype="0" fill="hold" grpId="0" nodeType="withEffect">
                                  <p:stCondLst>
                                    <p:cond delay="75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1000"/>
                                        <p:tgtEl>
                                          <p:spTgt spid="26"/>
                                        </p:tgtEl>
                                      </p:cBhvr>
                                    </p:animEffect>
                                  </p:childTnLst>
                                </p:cTn>
                              </p:par>
                            </p:childTnLst>
                          </p:cTn>
                        </p:par>
                        <p:par>
                          <p:cTn id="13" fill="hold">
                            <p:stCondLst>
                              <p:cond delay="1000"/>
                            </p:stCondLst>
                            <p:childTnLst>
                              <p:par>
                                <p:cTn id="14" presetID="1" presetClass="entr" presetSubtype="0"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par>
                          <p:cTn id="16" fill="hold">
                            <p:stCondLst>
                              <p:cond delay="1000"/>
                            </p:stCondLst>
                            <p:childTnLst>
                              <p:par>
                                <p:cTn id="17" presetID="63" presetClass="path" presetSubtype="0" accel="50000" decel="50000" fill="hold" nodeType="afterEffect">
                                  <p:stCondLst>
                                    <p:cond delay="0"/>
                                  </p:stCondLst>
                                  <p:childTnLst>
                                    <p:animMotion origin="layout" path="M -0.26771 -1.85185E-6 L -1.45833E-6 -1.85185E-6 " pathEditMode="relative" rAng="0" ptsTypes="AA">
                                      <p:cBhvr>
                                        <p:cTn id="18" dur="1000" fill="hold"/>
                                        <p:tgtEl>
                                          <p:spTgt spid="9"/>
                                        </p:tgtEl>
                                        <p:attrNameLst>
                                          <p:attrName>ppt_x</p:attrName>
                                          <p:attrName>ppt_y</p:attrName>
                                        </p:attrNameLst>
                                      </p:cBhvr>
                                      <p:rCtr x="13385" y="0"/>
                                    </p:animMotion>
                                  </p:childTnLst>
                                </p:cTn>
                              </p:par>
                              <p:par>
                                <p:cTn id="19" presetID="10" presetClass="entr" presetSubtype="0" fill="hold" grpId="0" nodeType="withEffect">
                                  <p:stCondLst>
                                    <p:cond delay="75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1000"/>
                                        <p:tgtEl>
                                          <p:spTgt spid="28"/>
                                        </p:tgtEl>
                                      </p:cBhvr>
                                    </p:animEffect>
                                  </p:childTnLst>
                                </p:cTn>
                              </p:par>
                            </p:childTnLst>
                          </p:cTn>
                        </p:par>
                        <p:par>
                          <p:cTn id="22" fill="hold">
                            <p:stCondLst>
                              <p:cond delay="2000"/>
                            </p:stCondLst>
                            <p:childTnLst>
                              <p:par>
                                <p:cTn id="23" presetID="1" presetClass="entr" presetSubtype="0" fill="hold" nodeType="after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par>
                          <p:cTn id="25" fill="hold">
                            <p:stCondLst>
                              <p:cond delay="2000"/>
                            </p:stCondLst>
                            <p:childTnLst>
                              <p:par>
                                <p:cTn id="26" presetID="42" presetClass="path" presetSubtype="0" accel="50000" decel="50000" fill="hold" nodeType="afterEffect">
                                  <p:stCondLst>
                                    <p:cond delay="0"/>
                                  </p:stCondLst>
                                  <p:childTnLst>
                                    <p:animMotion origin="layout" path="M -1.45833E-6 -0.30834 L -1.45833E-6 -7.40741E-7 " pathEditMode="relative" rAng="0" ptsTypes="AA">
                                      <p:cBhvr>
                                        <p:cTn id="27" dur="1000" fill="hold"/>
                                        <p:tgtEl>
                                          <p:spTgt spid="12"/>
                                        </p:tgtEl>
                                        <p:attrNameLst>
                                          <p:attrName>ppt_x</p:attrName>
                                          <p:attrName>ppt_y</p:attrName>
                                        </p:attrNameLst>
                                      </p:cBhvr>
                                      <p:rCtr x="0" y="15370"/>
                                    </p:animMotion>
                                  </p:childTnLst>
                                </p:cTn>
                              </p:par>
                              <p:par>
                                <p:cTn id="28" presetID="10" presetClass="entr" presetSubtype="0" fill="hold" grpId="0" nodeType="withEffect">
                                  <p:stCondLst>
                                    <p:cond delay="75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1000"/>
                                        <p:tgtEl>
                                          <p:spTgt spid="29"/>
                                        </p:tgtEl>
                                      </p:cBhvr>
                                    </p:animEffect>
                                  </p:childTnLst>
                                </p:cTn>
                              </p:par>
                            </p:childTnLst>
                          </p:cTn>
                        </p:par>
                        <p:par>
                          <p:cTn id="31" fill="hold">
                            <p:stCondLst>
                              <p:cond delay="3000"/>
                            </p:stCondLst>
                            <p:childTnLst>
                              <p:par>
                                <p:cTn id="32" presetID="1" presetClass="entr" presetSubtype="0" fill="hold" nodeType="after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childTnLst>
                          </p:cTn>
                        </p:par>
                        <p:par>
                          <p:cTn id="34" fill="hold">
                            <p:stCondLst>
                              <p:cond delay="3000"/>
                            </p:stCondLst>
                            <p:childTnLst>
                              <p:par>
                                <p:cTn id="35" presetID="42" presetClass="path" presetSubtype="0" accel="50000" decel="50000" fill="hold" nodeType="afterEffect">
                                  <p:stCondLst>
                                    <p:cond delay="0"/>
                                  </p:stCondLst>
                                  <p:childTnLst>
                                    <p:animMotion origin="layout" path="M -1.45833E-6 -0.30833 L -1.45833E-6 3.7037E-7 " pathEditMode="relative" rAng="0" ptsTypes="AA">
                                      <p:cBhvr>
                                        <p:cTn id="36" dur="1000" fill="hold"/>
                                        <p:tgtEl>
                                          <p:spTgt spid="15"/>
                                        </p:tgtEl>
                                        <p:attrNameLst>
                                          <p:attrName>ppt_x</p:attrName>
                                          <p:attrName>ppt_y</p:attrName>
                                        </p:attrNameLst>
                                      </p:cBhvr>
                                      <p:rCtr x="0" y="15347"/>
                                    </p:animMotion>
                                  </p:childTnLst>
                                </p:cTn>
                              </p:par>
                              <p:par>
                                <p:cTn id="37" presetID="10" presetClass="entr" presetSubtype="0" fill="hold" grpId="0" nodeType="withEffect">
                                  <p:stCondLst>
                                    <p:cond delay="75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29" grpId="0"/>
      <p:bldP spid="3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3465513"/>
          </a:xfrm>
          <a:prstGeom prst="rect">
            <a:avLst/>
          </a:prstGeom>
          <a:solidFill>
            <a:srgbClr val="BBD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2953657" y="3487994"/>
            <a:ext cx="6299200" cy="1446550"/>
          </a:xfrm>
          <a:prstGeom prst="rect">
            <a:avLst/>
          </a:prstGeom>
          <a:noFill/>
        </p:spPr>
        <p:txBody>
          <a:bodyPr wrap="square" rtlCol="0">
            <a:spAutoFit/>
          </a:bodyPr>
          <a:lstStyle/>
          <a:p>
            <a:pPr algn="ctr"/>
            <a:r>
              <a:rPr lang="zh-CN" altLang="en-US" sz="8800" dirty="0">
                <a:solidFill>
                  <a:schemeClr val="bg1"/>
                </a:solidFill>
                <a:latin typeface="张海山草泥马体" panose="02000000000000000000" pitchFamily="2" charset="-122"/>
                <a:ea typeface="张海山草泥马体" panose="02000000000000000000" pitchFamily="2" charset="-122"/>
              </a:rPr>
              <a:t>人才培养</a:t>
            </a:r>
          </a:p>
        </p:txBody>
      </p:sp>
      <p:sp>
        <p:nvSpPr>
          <p:cNvPr id="4" name="椭圆 3"/>
          <p:cNvSpPr/>
          <p:nvPr/>
        </p:nvSpPr>
        <p:spPr>
          <a:xfrm>
            <a:off x="5319464" y="1537879"/>
            <a:ext cx="1629697" cy="162969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D74E"/>
        </a:solidFill>
        <a:effectLst/>
      </p:bgPr>
    </p:bg>
    <p:spTree>
      <p:nvGrpSpPr>
        <p:cNvPr id="1" name=""/>
        <p:cNvGrpSpPr/>
        <p:nvPr/>
      </p:nvGrpSpPr>
      <p:grpSpPr>
        <a:xfrm>
          <a:off x="0" y="0"/>
          <a:ext cx="0" cy="0"/>
          <a:chOff x="0" y="0"/>
          <a:chExt cx="0" cy="0"/>
        </a:xfrm>
      </p:grpSpPr>
      <p:grpSp>
        <p:nvGrpSpPr>
          <p:cNvPr id="3" name="组合 2"/>
          <p:cNvGrpSpPr/>
          <p:nvPr/>
        </p:nvGrpSpPr>
        <p:grpSpPr>
          <a:xfrm>
            <a:off x="7649210" y="48260"/>
            <a:ext cx="4503420" cy="4385945"/>
            <a:chOff x="10388" y="686"/>
            <a:chExt cx="8164" cy="9334"/>
          </a:xfrm>
        </p:grpSpPr>
        <p:pic>
          <p:nvPicPr>
            <p:cNvPr id="23" name="图片 22" descr="http://mmbiz.qpic.cn/mmbiz_png/Kqyv9EAJXsicXKgQhUkKAmnBha2hhSPFjjsv7XndBxlD4DxxsjlibCfIzMFqQUkF8K0rQO7Xe9M7FBcXRI8Zr4NQ/0?wxfrom=5&amp;wx_lazy=1"/>
            <p:cNvPicPr/>
            <p:nvPr/>
          </p:nvPicPr>
          <p:blipFill>
            <a:blip r:embed="rId2">
              <a:extLst>
                <a:ext uri="{BEBA8EAE-BF5A-486C-A8C5-ECC9F3942E4B}">
                  <a14:imgProps xmlns:a14="http://schemas.microsoft.com/office/drawing/2010/main" xmlns="">
                    <a14:imgLayer r:embed="rId3">
                      <a14:imgEffect>
                        <a14:artisticCutout/>
                      </a14:imgEffect>
                    </a14:imgLayer>
                  </a14:imgProps>
                </a:ext>
                <a:ext uri="{28A0092B-C50C-407E-A947-70E740481C1C}">
                  <a14:useLocalDpi xmlns:a14="http://schemas.microsoft.com/office/drawing/2010/main" xmlns="" val="0"/>
                </a:ext>
              </a:extLst>
            </a:blip>
            <a:srcRect l="11878" t="542" r="14546"/>
            <a:stretch>
              <a:fillRect/>
            </a:stretch>
          </p:blipFill>
          <p:spPr bwMode="auto">
            <a:xfrm>
              <a:off x="10388" y="686"/>
              <a:ext cx="3432" cy="2959"/>
            </a:xfrm>
            <a:custGeom>
              <a:avLst/>
              <a:gdLst>
                <a:gd name="connsiteX0" fmla="*/ 1630398 w 3260798"/>
                <a:gd name="connsiteY0" fmla="*/ 0 h 2811033"/>
                <a:gd name="connsiteX1" fmla="*/ 3260798 w 3260798"/>
                <a:gd name="connsiteY1" fmla="*/ 2811033 h 2811033"/>
                <a:gd name="connsiteX2" fmla="*/ 0 w 3260798"/>
                <a:gd name="connsiteY2" fmla="*/ 2811033 h 2811033"/>
              </a:gdLst>
              <a:ahLst/>
              <a:cxnLst>
                <a:cxn ang="0">
                  <a:pos x="connsiteX0" y="connsiteY0"/>
                </a:cxn>
                <a:cxn ang="0">
                  <a:pos x="connsiteX1" y="connsiteY1"/>
                </a:cxn>
                <a:cxn ang="0">
                  <a:pos x="connsiteX2" y="connsiteY2"/>
                </a:cxn>
              </a:cxnLst>
              <a:rect l="l" t="t" r="r" b="b"/>
              <a:pathLst>
                <a:path w="3260798" h="2811033">
                  <a:moveTo>
                    <a:pt x="1630398" y="0"/>
                  </a:moveTo>
                  <a:lnTo>
                    <a:pt x="3260798" y="2811033"/>
                  </a:lnTo>
                  <a:lnTo>
                    <a:pt x="0" y="2811033"/>
                  </a:lnTo>
                  <a:close/>
                </a:path>
              </a:pathLst>
            </a:custGeom>
            <a:noFill/>
            <a:ln>
              <a:solidFill>
                <a:schemeClr val="bg1"/>
              </a:solidFill>
            </a:ln>
          </p:spPr>
        </p:pic>
        <p:pic>
          <p:nvPicPr>
            <p:cNvPr id="18" name="图片 17" descr="http://mmbiz.qpic.cn/mmbiz_png/Kqyv9EAJXsicXKgQhUkKAmnBha2hhSPFjEh8A9jgKcicWMg2451khnpcqSGjSM3raMXoOt8U3hhzJva6yaeicqDLw/0?wxfrom=5&amp;wx_lazy=1"/>
            <p:cNvPicPr/>
            <p:nvPr/>
          </p:nvPicPr>
          <p:blipFill>
            <a:blip r:embed="rId4">
              <a:extLst>
                <a:ext uri="{BEBA8EAE-BF5A-486C-A8C5-ECC9F3942E4B}">
                  <a14:imgProps xmlns:a14="http://schemas.microsoft.com/office/drawing/2010/main" xmlns="">
                    <a14:imgLayer r:embed="rId5">
                      <a14:imgEffect>
                        <a14:artisticCutout/>
                      </a14:imgEffect>
                    </a14:imgLayer>
                  </a14:imgProps>
                </a:ext>
                <a:ext uri="{28A0092B-C50C-407E-A947-70E740481C1C}">
                  <a14:useLocalDpi xmlns:a14="http://schemas.microsoft.com/office/drawing/2010/main" xmlns="" val="0"/>
                </a:ext>
              </a:extLst>
            </a:blip>
            <a:srcRect l="12756" t="9496" r="19927"/>
            <a:stretch>
              <a:fillRect/>
            </a:stretch>
          </p:blipFill>
          <p:spPr bwMode="auto">
            <a:xfrm>
              <a:off x="12537" y="6832"/>
              <a:ext cx="3737" cy="3188"/>
            </a:xfrm>
            <a:custGeom>
              <a:avLst/>
              <a:gdLst>
                <a:gd name="connsiteX0" fmla="*/ 0 w 3550515"/>
                <a:gd name="connsiteY0" fmla="*/ 0 h 3028683"/>
                <a:gd name="connsiteX1" fmla="*/ 3550515 w 3550515"/>
                <a:gd name="connsiteY1" fmla="*/ 0 h 3028683"/>
                <a:gd name="connsiteX2" fmla="*/ 1793879 w 3550515"/>
                <a:gd name="connsiteY2" fmla="*/ 3028683 h 3028683"/>
                <a:gd name="connsiteX3" fmla="*/ 1756636 w 3550515"/>
                <a:gd name="connsiteY3" fmla="*/ 3028683 h 3028683"/>
              </a:gdLst>
              <a:ahLst/>
              <a:cxnLst>
                <a:cxn ang="0">
                  <a:pos x="connsiteX0" y="connsiteY0"/>
                </a:cxn>
                <a:cxn ang="0">
                  <a:pos x="connsiteX1" y="connsiteY1"/>
                </a:cxn>
                <a:cxn ang="0">
                  <a:pos x="connsiteX2" y="connsiteY2"/>
                </a:cxn>
                <a:cxn ang="0">
                  <a:pos x="connsiteX3" y="connsiteY3"/>
                </a:cxn>
              </a:cxnLst>
              <a:rect l="l" t="t" r="r" b="b"/>
              <a:pathLst>
                <a:path w="3550515" h="3028683">
                  <a:moveTo>
                    <a:pt x="0" y="0"/>
                  </a:moveTo>
                  <a:lnTo>
                    <a:pt x="3550515" y="0"/>
                  </a:lnTo>
                  <a:lnTo>
                    <a:pt x="1793879" y="3028683"/>
                  </a:lnTo>
                  <a:lnTo>
                    <a:pt x="1756636" y="3028683"/>
                  </a:lnTo>
                  <a:close/>
                </a:path>
              </a:pathLst>
            </a:custGeom>
            <a:noFill/>
            <a:ln>
              <a:solidFill>
                <a:schemeClr val="bg1"/>
              </a:solidFill>
            </a:ln>
          </p:spPr>
        </p:pic>
        <p:pic>
          <p:nvPicPr>
            <p:cNvPr id="17" name="图片 16" descr="http://mmbiz.qpic.cn/mmbiz_png/Kqyv9EAJXsicXKgQhUkKAmnBha2hhSPFjof3mJCaVyBSSsmqhSVVctCECLqSd3TUIDmZ2y9iakgEM25JxZZZIpNw/0?wxfrom=5&amp;wx_lazy=1"/>
            <p:cNvPicPr/>
            <p:nvPr/>
          </p:nvPicPr>
          <p:blipFill>
            <a:blip r:embed="rId6">
              <a:extLst>
                <a:ext uri="{BEBA8EAE-BF5A-486C-A8C5-ECC9F3942E4B}">
                  <a14:imgProps xmlns:a14="http://schemas.microsoft.com/office/drawing/2010/main" xmlns="">
                    <a14:imgLayer r:embed="rId7">
                      <a14:imgEffect>
                        <a14:artisticCutout/>
                      </a14:imgEffect>
                    </a14:imgLayer>
                  </a14:imgProps>
                </a:ext>
                <a:ext uri="{28A0092B-C50C-407E-A947-70E740481C1C}">
                  <a14:useLocalDpi xmlns:a14="http://schemas.microsoft.com/office/drawing/2010/main" xmlns="" val="0"/>
                </a:ext>
              </a:extLst>
            </a:blip>
            <a:srcRect l="3577" t="13537" r="20690"/>
            <a:stretch>
              <a:fillRect/>
            </a:stretch>
          </p:blipFill>
          <p:spPr bwMode="auto">
            <a:xfrm>
              <a:off x="14816" y="3780"/>
              <a:ext cx="3737" cy="3165"/>
            </a:xfrm>
            <a:custGeom>
              <a:avLst/>
              <a:gdLst>
                <a:gd name="connsiteX0" fmla="*/ 0 w 3550515"/>
                <a:gd name="connsiteY0" fmla="*/ 0 h 3007087"/>
                <a:gd name="connsiteX1" fmla="*/ 3550515 w 3550515"/>
                <a:gd name="connsiteY1" fmla="*/ 0 h 3007087"/>
                <a:gd name="connsiteX2" fmla="*/ 1806404 w 3550515"/>
                <a:gd name="connsiteY2" fmla="*/ 3007087 h 3007087"/>
                <a:gd name="connsiteX3" fmla="*/ 1744110 w 3550515"/>
                <a:gd name="connsiteY3" fmla="*/ 3007087 h 3007087"/>
              </a:gdLst>
              <a:ahLst/>
              <a:cxnLst>
                <a:cxn ang="0">
                  <a:pos x="connsiteX0" y="connsiteY0"/>
                </a:cxn>
                <a:cxn ang="0">
                  <a:pos x="connsiteX1" y="connsiteY1"/>
                </a:cxn>
                <a:cxn ang="0">
                  <a:pos x="connsiteX2" y="connsiteY2"/>
                </a:cxn>
                <a:cxn ang="0">
                  <a:pos x="connsiteX3" y="connsiteY3"/>
                </a:cxn>
              </a:cxnLst>
              <a:rect l="l" t="t" r="r" b="b"/>
              <a:pathLst>
                <a:path w="3550515" h="3007087">
                  <a:moveTo>
                    <a:pt x="0" y="0"/>
                  </a:moveTo>
                  <a:lnTo>
                    <a:pt x="3550515" y="0"/>
                  </a:lnTo>
                  <a:lnTo>
                    <a:pt x="1806404" y="3007087"/>
                  </a:lnTo>
                  <a:lnTo>
                    <a:pt x="1744110" y="3007087"/>
                  </a:lnTo>
                  <a:close/>
                </a:path>
              </a:pathLst>
            </a:custGeom>
            <a:noFill/>
            <a:ln>
              <a:solidFill>
                <a:schemeClr val="bg1"/>
              </a:solidFill>
            </a:ln>
          </p:spPr>
        </p:pic>
        <p:pic>
          <p:nvPicPr>
            <p:cNvPr id="19" name="图片 18" descr="http://mmbiz.qpic.cn/mmbiz_png/Kqyv9EAJXsicXKgQhUkKAmnBha2hhSPFj6deiaYzmkmjtFpz9uxCcZJFJJOUicu5I0fXnC1MLJYLdg6HGKP3AINjQ/0?wxfrom=5&amp;wx_lazy=1"/>
            <p:cNvPicPr/>
            <p:nvPr/>
          </p:nvPicPr>
          <p:blipFill>
            <a:blip r:embed="rId8" cstate="print">
              <a:extLst>
                <a:ext uri="{BEBA8EAE-BF5A-486C-A8C5-ECC9F3942E4B}">
                  <a14:imgProps xmlns:a14="http://schemas.microsoft.com/office/drawing/2010/main" xmlns="">
                    <a14:imgLayer r:embed="rId9">
                      <a14:imgEffect>
                        <a14:artisticCutout/>
                      </a14:imgEffect>
                    </a14:imgLayer>
                  </a14:imgProps>
                </a:ext>
                <a:ext uri="{28A0092B-C50C-407E-A947-70E740481C1C}">
                  <a14:useLocalDpi xmlns:a14="http://schemas.microsoft.com/office/drawing/2010/main" xmlns="" val="0"/>
                </a:ext>
              </a:extLst>
            </a:blip>
            <a:srcRect l="30657" t="12440" r="30657" b="32226"/>
            <a:stretch>
              <a:fillRect/>
            </a:stretch>
          </p:blipFill>
          <p:spPr bwMode="auto">
            <a:xfrm>
              <a:off x="12679" y="3645"/>
              <a:ext cx="3432" cy="2959"/>
            </a:xfrm>
            <a:custGeom>
              <a:avLst/>
              <a:gdLst>
                <a:gd name="connsiteX0" fmla="*/ 1630398 w 3260798"/>
                <a:gd name="connsiteY0" fmla="*/ 0 h 2811033"/>
                <a:gd name="connsiteX1" fmla="*/ 3260798 w 3260798"/>
                <a:gd name="connsiteY1" fmla="*/ 2811033 h 2811033"/>
                <a:gd name="connsiteX2" fmla="*/ 0 w 3260798"/>
                <a:gd name="connsiteY2" fmla="*/ 2811033 h 2811033"/>
              </a:gdLst>
              <a:ahLst/>
              <a:cxnLst>
                <a:cxn ang="0">
                  <a:pos x="connsiteX0" y="connsiteY0"/>
                </a:cxn>
                <a:cxn ang="0">
                  <a:pos x="connsiteX1" y="connsiteY1"/>
                </a:cxn>
                <a:cxn ang="0">
                  <a:pos x="connsiteX2" y="connsiteY2"/>
                </a:cxn>
              </a:cxnLst>
              <a:rect l="l" t="t" r="r" b="b"/>
              <a:pathLst>
                <a:path w="3260798" h="2811033">
                  <a:moveTo>
                    <a:pt x="1630398" y="0"/>
                  </a:moveTo>
                  <a:lnTo>
                    <a:pt x="3260798" y="2811033"/>
                  </a:lnTo>
                  <a:lnTo>
                    <a:pt x="0" y="2811033"/>
                  </a:lnTo>
                  <a:close/>
                </a:path>
              </a:pathLst>
            </a:custGeom>
            <a:noFill/>
            <a:ln>
              <a:solidFill>
                <a:schemeClr val="bg1"/>
              </a:solidFill>
            </a:ln>
          </p:spPr>
        </p:pic>
        <p:pic>
          <p:nvPicPr>
            <p:cNvPr id="16" name="图片 15"/>
            <p:cNvPicPr>
              <a:picLocks noChangeAspect="1"/>
            </p:cNvPicPr>
            <p:nvPr/>
          </p:nvPicPr>
          <p:blipFill>
            <a:blip r:embed="rId10">
              <a:extLst>
                <a:ext uri="{BEBA8EAE-BF5A-486C-A8C5-ECC9F3942E4B}">
                  <a14:imgProps xmlns:a14="http://schemas.microsoft.com/office/drawing/2010/main" xmlns="">
                    <a14:imgLayer r:embed="rId11">
                      <a14:imgEffect>
                        <a14:artisticCutout/>
                      </a14:imgEffect>
                    </a14:imgLayer>
                  </a14:imgProps>
                </a:ext>
              </a:extLst>
            </a:blip>
            <a:srcRect l="13831" t="5197" r="13831" b="1262"/>
            <a:stretch>
              <a:fillRect/>
            </a:stretch>
          </p:blipFill>
          <p:spPr>
            <a:xfrm>
              <a:off x="10388" y="3733"/>
              <a:ext cx="3737" cy="3222"/>
            </a:xfrm>
            <a:custGeom>
              <a:avLst/>
              <a:gdLst>
                <a:gd name="connsiteX0" fmla="*/ 0 w 3550515"/>
                <a:gd name="connsiteY0" fmla="*/ 0 h 3060789"/>
                <a:gd name="connsiteX1" fmla="*/ 3550515 w 3550515"/>
                <a:gd name="connsiteY1" fmla="*/ 0 h 3060789"/>
                <a:gd name="connsiteX2" fmla="*/ 1775257 w 3550515"/>
                <a:gd name="connsiteY2" fmla="*/ 3060789 h 3060789"/>
              </a:gdLst>
              <a:ahLst/>
              <a:cxnLst>
                <a:cxn ang="0">
                  <a:pos x="connsiteX0" y="connsiteY0"/>
                </a:cxn>
                <a:cxn ang="0">
                  <a:pos x="connsiteX1" y="connsiteY1"/>
                </a:cxn>
                <a:cxn ang="0">
                  <a:pos x="connsiteX2" y="connsiteY2"/>
                </a:cxn>
              </a:cxnLst>
              <a:rect l="l" t="t" r="r" b="b"/>
              <a:pathLst>
                <a:path w="3550515" h="3060789">
                  <a:moveTo>
                    <a:pt x="0" y="0"/>
                  </a:moveTo>
                  <a:lnTo>
                    <a:pt x="3550515" y="0"/>
                  </a:lnTo>
                  <a:lnTo>
                    <a:pt x="1775257" y="3060789"/>
                  </a:lnTo>
                  <a:close/>
                </a:path>
              </a:pathLst>
            </a:custGeom>
            <a:ln>
              <a:solidFill>
                <a:schemeClr val="bg1"/>
              </a:solidFill>
            </a:ln>
          </p:spPr>
        </p:pic>
      </p:grpSp>
      <p:sp>
        <p:nvSpPr>
          <p:cNvPr id="29" name="文本框 28"/>
          <p:cNvSpPr txBox="1"/>
          <p:nvPr/>
        </p:nvSpPr>
        <p:spPr>
          <a:xfrm>
            <a:off x="1002554" y="219379"/>
            <a:ext cx="3074204" cy="646331"/>
          </a:xfrm>
          <a:prstGeom prst="rect">
            <a:avLst/>
          </a:prstGeom>
          <a:noFill/>
        </p:spPr>
        <p:txBody>
          <a:bodyPr wrap="square" rtlCol="0">
            <a:spAutoFit/>
          </a:bodyPr>
          <a:lstStyle/>
          <a:p>
            <a:r>
              <a:rPr lang="zh-CN" altLang="en-US" sz="3600" b="1" dirty="0">
                <a:solidFill>
                  <a:schemeClr val="bg1"/>
                </a:solidFill>
                <a:latin typeface="张海山草泥马体" panose="02000000000000000000" pitchFamily="2" charset="-122"/>
                <a:ea typeface="张海山草泥马体" panose="02000000000000000000" pitchFamily="2" charset="-122"/>
              </a:rPr>
              <a:t>人才培养</a:t>
            </a:r>
          </a:p>
        </p:txBody>
      </p:sp>
      <p:sp>
        <p:nvSpPr>
          <p:cNvPr id="30" name="等腰三角形 29"/>
          <p:cNvSpPr/>
          <p:nvPr/>
        </p:nvSpPr>
        <p:spPr>
          <a:xfrm>
            <a:off x="148784" y="219379"/>
            <a:ext cx="511985" cy="441367"/>
          </a:xfrm>
          <a:prstGeom prst="triangl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a:off x="318812" y="321860"/>
            <a:ext cx="511985" cy="441367"/>
          </a:xfrm>
          <a:prstGeom prst="triangl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p:nvPr/>
        </p:nvCxnSpPr>
        <p:spPr>
          <a:xfrm>
            <a:off x="1092200" y="1045343"/>
            <a:ext cx="153710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1002554" y="1438877"/>
            <a:ext cx="7885053" cy="460375"/>
          </a:xfrm>
          <a:prstGeom prst="rect">
            <a:avLst/>
          </a:prstGeom>
        </p:spPr>
        <p:txBody>
          <a:bodyPr wrap="square">
            <a:spAutoFit/>
          </a:bodyPr>
          <a:lstStyle/>
          <a:p>
            <a:r>
              <a:rPr lang="zh-CN" altLang="en-US" sz="2400" b="1" dirty="0">
                <a:solidFill>
                  <a:schemeClr val="bg1"/>
                </a:solidFill>
                <a:latin typeface="微软雅黑" panose="020B0503020204020204" charset="-122"/>
                <a:ea typeface="微软雅黑" panose="020B0503020204020204" charset="-122"/>
              </a:rPr>
              <a:t>师资力量</a:t>
            </a:r>
          </a:p>
        </p:txBody>
      </p:sp>
      <p:sp>
        <p:nvSpPr>
          <p:cNvPr id="54" name="等腰三角形 53"/>
          <p:cNvSpPr/>
          <p:nvPr/>
        </p:nvSpPr>
        <p:spPr>
          <a:xfrm flipV="1">
            <a:off x="10785946" y="-361951"/>
            <a:ext cx="1424196" cy="1706010"/>
          </a:xfrm>
          <a:prstGeom prst="triangle">
            <a:avLst>
              <a:gd name="adj" fmla="val 10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p:cNvPicPr>
            <a:picLocks noChangeAspect="1"/>
          </p:cNvPicPr>
          <p:nvPr/>
        </p:nvPicPr>
        <p:blipFill>
          <a:blip r:embed="rId12">
            <a:extLst>
              <a:ext uri="{28A0092B-C50C-407E-A947-70E740481C1C}">
                <a14:useLocalDpi xmlns:a14="http://schemas.microsoft.com/office/drawing/2010/main" xmlns="" val="0"/>
              </a:ext>
            </a:extLst>
          </a:blip>
          <a:stretch>
            <a:fillRect/>
          </a:stretch>
        </p:blipFill>
        <p:spPr>
          <a:xfrm>
            <a:off x="-2672919" y="9155746"/>
            <a:ext cx="15169121" cy="2058967"/>
          </a:xfrm>
          <a:prstGeom prst="rect">
            <a:avLst/>
          </a:prstGeom>
        </p:spPr>
      </p:pic>
      <p:grpSp>
        <p:nvGrpSpPr>
          <p:cNvPr id="49" name="组合 48"/>
          <p:cNvGrpSpPr/>
          <p:nvPr/>
        </p:nvGrpSpPr>
        <p:grpSpPr>
          <a:xfrm>
            <a:off x="107315" y="1846580"/>
            <a:ext cx="10286365" cy="3159125"/>
            <a:chOff x="742950" y="1962192"/>
            <a:chExt cx="10706100" cy="3158995"/>
          </a:xfrm>
        </p:grpSpPr>
        <p:cxnSp>
          <p:nvCxnSpPr>
            <p:cNvPr id="50" name="Straight Connector 40"/>
            <p:cNvCxnSpPr/>
            <p:nvPr/>
          </p:nvCxnSpPr>
          <p:spPr>
            <a:xfrm>
              <a:off x="1790307" y="2674539"/>
              <a:ext cx="9658743" cy="0"/>
            </a:xfrm>
            <a:prstGeom prst="line">
              <a:avLst/>
            </a:prstGeom>
            <a:ln w="6350" cmpd="sng">
              <a:solidFill>
                <a:schemeClr val="tx1">
                  <a:alpha val="20000"/>
                </a:schemeClr>
              </a:solidFill>
              <a:prstDash val="sysDash"/>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51" name="Straight Connector 39"/>
            <p:cNvCxnSpPr/>
            <p:nvPr/>
          </p:nvCxnSpPr>
          <p:spPr>
            <a:xfrm>
              <a:off x="1790307" y="2074935"/>
              <a:ext cx="9658743" cy="0"/>
            </a:xfrm>
            <a:prstGeom prst="line">
              <a:avLst/>
            </a:prstGeom>
            <a:ln w="6350" cmpd="sng">
              <a:solidFill>
                <a:schemeClr val="tx1">
                  <a:alpha val="20000"/>
                </a:schemeClr>
              </a:solidFill>
              <a:prstDash val="sysDash"/>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52" name="Straight Connector 41"/>
            <p:cNvCxnSpPr/>
            <p:nvPr/>
          </p:nvCxnSpPr>
          <p:spPr>
            <a:xfrm>
              <a:off x="1790307" y="3274145"/>
              <a:ext cx="9658743" cy="0"/>
            </a:xfrm>
            <a:prstGeom prst="line">
              <a:avLst/>
            </a:prstGeom>
            <a:ln w="6350" cmpd="sng">
              <a:solidFill>
                <a:schemeClr val="tx1">
                  <a:alpha val="20000"/>
                </a:schemeClr>
              </a:solidFill>
              <a:prstDash val="sysDash"/>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53" name="Straight Connector 42"/>
            <p:cNvCxnSpPr/>
            <p:nvPr/>
          </p:nvCxnSpPr>
          <p:spPr>
            <a:xfrm>
              <a:off x="1790307" y="3873751"/>
              <a:ext cx="9658743" cy="0"/>
            </a:xfrm>
            <a:prstGeom prst="line">
              <a:avLst/>
            </a:prstGeom>
            <a:ln w="6350" cmpd="sng">
              <a:solidFill>
                <a:schemeClr val="tx1">
                  <a:alpha val="20000"/>
                </a:schemeClr>
              </a:solidFill>
              <a:prstDash val="sysDash"/>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2" name="Straight Connector 43"/>
            <p:cNvCxnSpPr/>
            <p:nvPr/>
          </p:nvCxnSpPr>
          <p:spPr>
            <a:xfrm>
              <a:off x="1790307" y="4473356"/>
              <a:ext cx="9658743" cy="0"/>
            </a:xfrm>
            <a:prstGeom prst="line">
              <a:avLst/>
            </a:prstGeom>
            <a:ln w="6350" cmpd="sng">
              <a:solidFill>
                <a:schemeClr val="tx1">
                  <a:alpha val="20000"/>
                </a:schemeClr>
              </a:solidFill>
              <a:prstDash val="sysDash"/>
              <a:headEnd type="none"/>
              <a:tailEnd type="none" w="lg" len="lg"/>
            </a:ln>
            <a:effectLst/>
          </p:spPr>
          <p:style>
            <a:lnRef idx="2">
              <a:schemeClr val="accent1"/>
            </a:lnRef>
            <a:fillRef idx="0">
              <a:schemeClr val="accent1"/>
            </a:fillRef>
            <a:effectRef idx="1">
              <a:schemeClr val="accent1"/>
            </a:effectRef>
            <a:fontRef idx="minor">
              <a:schemeClr val="tx1"/>
            </a:fontRef>
          </p:style>
        </p:cxnSp>
        <p:sp>
          <p:nvSpPr>
            <p:cNvPr id="55" name="Rounded Rectangle 3"/>
            <p:cNvSpPr/>
            <p:nvPr/>
          </p:nvSpPr>
          <p:spPr>
            <a:xfrm>
              <a:off x="2190681" y="2074935"/>
              <a:ext cx="491694" cy="2592915"/>
            </a:xfrm>
            <a:prstGeom prst="roundRect">
              <a:avLst/>
            </a:prstGeom>
            <a:solidFill>
              <a:schemeClr val="bg1">
                <a:lumMod val="75000"/>
                <a:alpha val="50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FFFFFF"/>
                </a:solidFill>
                <a:cs typeface="+mn-ea"/>
                <a:sym typeface="+mn-lt"/>
              </a:endParaRPr>
            </a:p>
          </p:txBody>
        </p:sp>
        <p:sp>
          <p:nvSpPr>
            <p:cNvPr id="56" name="Rounded Rectangle 4"/>
            <p:cNvSpPr/>
            <p:nvPr/>
          </p:nvSpPr>
          <p:spPr>
            <a:xfrm>
              <a:off x="2190750" y="2075857"/>
              <a:ext cx="491490" cy="25920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r>
                <a:rPr lang="en-US" sz="1500" dirty="0">
                  <a:solidFill>
                    <a:srgbClr val="FFFFFF"/>
                  </a:solidFill>
                  <a:cs typeface="+mn-ea"/>
                  <a:sym typeface="+mn-lt"/>
                </a:rPr>
                <a:t>2448</a:t>
              </a:r>
            </a:p>
          </p:txBody>
        </p:sp>
        <p:sp>
          <p:nvSpPr>
            <p:cNvPr id="57" name="Rounded Rectangle 5"/>
            <p:cNvSpPr/>
            <p:nvPr/>
          </p:nvSpPr>
          <p:spPr>
            <a:xfrm>
              <a:off x="3243240" y="2074935"/>
              <a:ext cx="491694" cy="2592915"/>
            </a:xfrm>
            <a:prstGeom prst="roundRect">
              <a:avLst/>
            </a:prstGeom>
            <a:solidFill>
              <a:schemeClr val="bg1">
                <a:lumMod val="75000"/>
                <a:alpha val="50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FFFFFF"/>
                </a:solidFill>
                <a:cs typeface="+mn-ea"/>
                <a:sym typeface="+mn-lt"/>
              </a:endParaRPr>
            </a:p>
          </p:txBody>
        </p:sp>
        <p:sp>
          <p:nvSpPr>
            <p:cNvPr id="58" name="Rounded Rectangle 6"/>
            <p:cNvSpPr/>
            <p:nvPr/>
          </p:nvSpPr>
          <p:spPr>
            <a:xfrm>
              <a:off x="3242945" y="2227622"/>
              <a:ext cx="491490" cy="244030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r>
                <a:rPr lang="en-US" sz="1500" dirty="0">
                  <a:solidFill>
                    <a:srgbClr val="FFFFFF"/>
                  </a:solidFill>
                  <a:cs typeface="+mn-ea"/>
                  <a:sym typeface="+mn-lt"/>
                </a:rPr>
                <a:t>1700</a:t>
              </a:r>
            </a:p>
          </p:txBody>
        </p:sp>
        <p:sp>
          <p:nvSpPr>
            <p:cNvPr id="59" name="Rounded Rectangle 7"/>
            <p:cNvSpPr/>
            <p:nvPr/>
          </p:nvSpPr>
          <p:spPr>
            <a:xfrm>
              <a:off x="4295799" y="2074935"/>
              <a:ext cx="491694" cy="2592915"/>
            </a:xfrm>
            <a:prstGeom prst="roundRect">
              <a:avLst/>
            </a:prstGeom>
            <a:solidFill>
              <a:schemeClr val="bg1">
                <a:lumMod val="75000"/>
                <a:alpha val="50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FFFFFF"/>
                </a:solidFill>
                <a:cs typeface="+mn-ea"/>
                <a:sym typeface="+mn-lt"/>
              </a:endParaRPr>
            </a:p>
          </p:txBody>
        </p:sp>
        <p:sp>
          <p:nvSpPr>
            <p:cNvPr id="60" name="Rounded Rectangle 8"/>
            <p:cNvSpPr/>
            <p:nvPr/>
          </p:nvSpPr>
          <p:spPr>
            <a:xfrm>
              <a:off x="4295775" y="4259622"/>
              <a:ext cx="491490" cy="408305"/>
            </a:xfrm>
            <a:prstGeom prst="round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r>
                <a:rPr lang="en-US" sz="1500" dirty="0">
                  <a:solidFill>
                    <a:srgbClr val="FFFFFF"/>
                  </a:solidFill>
                  <a:cs typeface="+mn-ea"/>
                  <a:sym typeface="+mn-lt"/>
                </a:rPr>
                <a:t>10</a:t>
              </a:r>
            </a:p>
          </p:txBody>
        </p:sp>
        <p:sp>
          <p:nvSpPr>
            <p:cNvPr id="61" name="Rounded Rectangle 9"/>
            <p:cNvSpPr/>
            <p:nvPr/>
          </p:nvSpPr>
          <p:spPr>
            <a:xfrm>
              <a:off x="5348358" y="2074935"/>
              <a:ext cx="491694" cy="2592915"/>
            </a:xfrm>
            <a:prstGeom prst="roundRect">
              <a:avLst/>
            </a:prstGeom>
            <a:solidFill>
              <a:schemeClr val="bg1">
                <a:lumMod val="75000"/>
                <a:alpha val="50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FFFFFF"/>
                </a:solidFill>
                <a:cs typeface="+mn-ea"/>
                <a:sym typeface="+mn-lt"/>
              </a:endParaRPr>
            </a:p>
          </p:txBody>
        </p:sp>
        <p:sp>
          <p:nvSpPr>
            <p:cNvPr id="62" name="Rounded Rectangle 10"/>
            <p:cNvSpPr/>
            <p:nvPr/>
          </p:nvSpPr>
          <p:spPr>
            <a:xfrm>
              <a:off x="5348605" y="3935772"/>
              <a:ext cx="491490" cy="732155"/>
            </a:xfrm>
            <a:prstGeom prst="round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r>
                <a:rPr lang="en-US" sz="1500" dirty="0">
                  <a:solidFill>
                    <a:srgbClr val="FFFFFF"/>
                  </a:solidFill>
                  <a:cs typeface="+mn-ea"/>
                  <a:sym typeface="+mn-lt"/>
                </a:rPr>
                <a:t>17</a:t>
              </a:r>
            </a:p>
          </p:txBody>
        </p:sp>
        <p:sp>
          <p:nvSpPr>
            <p:cNvPr id="63" name="Rounded Rectangle 11"/>
            <p:cNvSpPr/>
            <p:nvPr/>
          </p:nvSpPr>
          <p:spPr>
            <a:xfrm>
              <a:off x="6400917" y="2074935"/>
              <a:ext cx="491694" cy="2592915"/>
            </a:xfrm>
            <a:prstGeom prst="roundRect">
              <a:avLst/>
            </a:prstGeom>
            <a:solidFill>
              <a:schemeClr val="bg1">
                <a:lumMod val="75000"/>
                <a:alpha val="50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FFFFFF"/>
                </a:solidFill>
                <a:cs typeface="+mn-ea"/>
                <a:sym typeface="+mn-lt"/>
              </a:endParaRPr>
            </a:p>
          </p:txBody>
        </p:sp>
        <p:sp>
          <p:nvSpPr>
            <p:cNvPr id="64" name="Rounded Rectangle 12"/>
            <p:cNvSpPr/>
            <p:nvPr/>
          </p:nvSpPr>
          <p:spPr>
            <a:xfrm>
              <a:off x="6400800" y="4133257"/>
              <a:ext cx="491490" cy="534670"/>
            </a:xfrm>
            <a:prstGeom prst="round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r>
                <a:rPr lang="en-US" altLang="zh-CN" sz="1500" dirty="0">
                  <a:solidFill>
                    <a:srgbClr val="FFFFFF"/>
                  </a:solidFill>
                  <a:cs typeface="+mn-ea"/>
                  <a:sym typeface="+mn-lt"/>
                </a:rPr>
                <a:t>13</a:t>
              </a:r>
            </a:p>
          </p:txBody>
        </p:sp>
        <p:sp>
          <p:nvSpPr>
            <p:cNvPr id="65" name="Rounded Rectangle 13"/>
            <p:cNvSpPr/>
            <p:nvPr/>
          </p:nvSpPr>
          <p:spPr>
            <a:xfrm>
              <a:off x="7453476" y="2074935"/>
              <a:ext cx="491694" cy="2592915"/>
            </a:xfrm>
            <a:prstGeom prst="roundRect">
              <a:avLst/>
            </a:prstGeom>
            <a:solidFill>
              <a:schemeClr val="bg1">
                <a:lumMod val="75000"/>
                <a:alpha val="50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FFFFFF"/>
                </a:solidFill>
                <a:cs typeface="+mn-ea"/>
                <a:sym typeface="+mn-lt"/>
              </a:endParaRPr>
            </a:p>
          </p:txBody>
        </p:sp>
        <p:sp>
          <p:nvSpPr>
            <p:cNvPr id="66" name="Rounded Rectangle 14"/>
            <p:cNvSpPr/>
            <p:nvPr/>
          </p:nvSpPr>
          <p:spPr>
            <a:xfrm>
              <a:off x="7458710" y="4007527"/>
              <a:ext cx="491490" cy="660400"/>
            </a:xfrm>
            <a:prstGeom prst="round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r>
                <a:rPr lang="en-US" sz="1500" dirty="0">
                  <a:solidFill>
                    <a:srgbClr val="FFFFFF"/>
                  </a:solidFill>
                  <a:cs typeface="+mn-ea"/>
                  <a:sym typeface="+mn-lt"/>
                </a:rPr>
                <a:t>16</a:t>
              </a:r>
            </a:p>
          </p:txBody>
        </p:sp>
        <p:sp>
          <p:nvSpPr>
            <p:cNvPr id="67" name="Rounded Rectangle 15"/>
            <p:cNvSpPr/>
            <p:nvPr/>
          </p:nvSpPr>
          <p:spPr>
            <a:xfrm>
              <a:off x="8506035" y="2074935"/>
              <a:ext cx="491694" cy="2592915"/>
            </a:xfrm>
            <a:prstGeom prst="roundRect">
              <a:avLst/>
            </a:prstGeom>
            <a:solidFill>
              <a:schemeClr val="bg1">
                <a:lumMod val="75000"/>
                <a:alpha val="50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FFFFFF"/>
                </a:solidFill>
                <a:cs typeface="+mn-ea"/>
                <a:sym typeface="+mn-lt"/>
              </a:endParaRPr>
            </a:p>
          </p:txBody>
        </p:sp>
        <p:sp>
          <p:nvSpPr>
            <p:cNvPr id="68" name="Rounded Rectangle 16"/>
            <p:cNvSpPr/>
            <p:nvPr/>
          </p:nvSpPr>
          <p:spPr>
            <a:xfrm>
              <a:off x="8505825" y="3712887"/>
              <a:ext cx="491490" cy="9550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r>
                <a:rPr lang="en-US" sz="1500" dirty="0">
                  <a:solidFill>
                    <a:srgbClr val="FFFFFF"/>
                  </a:solidFill>
                  <a:cs typeface="+mn-ea"/>
                  <a:sym typeface="+mn-lt"/>
                </a:rPr>
                <a:t>23</a:t>
              </a:r>
            </a:p>
          </p:txBody>
        </p:sp>
        <p:sp>
          <p:nvSpPr>
            <p:cNvPr id="69" name="Rounded Rectangle 17"/>
            <p:cNvSpPr/>
            <p:nvPr/>
          </p:nvSpPr>
          <p:spPr>
            <a:xfrm>
              <a:off x="9558598" y="2074935"/>
              <a:ext cx="491694" cy="2592915"/>
            </a:xfrm>
            <a:prstGeom prst="roundRect">
              <a:avLst/>
            </a:prstGeom>
            <a:solidFill>
              <a:schemeClr val="bg1">
                <a:lumMod val="75000"/>
                <a:alpha val="50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FFFFFF"/>
                </a:solidFill>
                <a:cs typeface="+mn-ea"/>
                <a:sym typeface="+mn-lt"/>
              </a:endParaRPr>
            </a:p>
          </p:txBody>
        </p:sp>
        <p:sp>
          <p:nvSpPr>
            <p:cNvPr id="70" name="Rounded Rectangle 18"/>
            <p:cNvSpPr/>
            <p:nvPr/>
          </p:nvSpPr>
          <p:spPr>
            <a:xfrm>
              <a:off x="9558655" y="4258987"/>
              <a:ext cx="491490" cy="40894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r>
                <a:rPr lang="en-US" sz="1500" dirty="0">
                  <a:solidFill>
                    <a:srgbClr val="FFFFFF"/>
                  </a:solidFill>
                  <a:cs typeface="+mn-ea"/>
                  <a:sym typeface="+mn-lt"/>
                </a:rPr>
                <a:t>9</a:t>
              </a:r>
            </a:p>
          </p:txBody>
        </p:sp>
        <p:sp>
          <p:nvSpPr>
            <p:cNvPr id="71" name="Rectangle 21"/>
            <p:cNvSpPr/>
            <p:nvPr/>
          </p:nvSpPr>
          <p:spPr>
            <a:xfrm>
              <a:off x="9558600" y="4801658"/>
              <a:ext cx="491695" cy="319529"/>
            </a:xfrm>
            <a:prstGeom prst="rect">
              <a:avLst/>
            </a:prstGeom>
          </p:spPr>
          <p:txBody>
            <a:bodyPr wrap="none">
              <a:noAutofit/>
            </a:bodyPr>
            <a:lstStyle/>
            <a:p>
              <a:pPr algn="ctr">
                <a:lnSpc>
                  <a:spcPct val="95000"/>
                </a:lnSpc>
              </a:pPr>
              <a:r>
                <a:rPr lang="zh-CN" altLang="en-US" sz="1400" b="1" dirty="0">
                  <a:cs typeface="+mn-ea"/>
                  <a:sym typeface="+mn-lt"/>
                </a:rPr>
                <a:t>千人计划</a:t>
              </a:r>
            </a:p>
            <a:p>
              <a:pPr algn="ctr">
                <a:lnSpc>
                  <a:spcPct val="95000"/>
                </a:lnSpc>
              </a:pPr>
              <a:r>
                <a:rPr lang="zh-CN" altLang="en-US" sz="1400" b="1" dirty="0">
                  <a:cs typeface="+mn-ea"/>
                  <a:sym typeface="+mn-lt"/>
                </a:rPr>
                <a:t>青年项目</a:t>
              </a:r>
            </a:p>
          </p:txBody>
        </p:sp>
        <p:sp>
          <p:nvSpPr>
            <p:cNvPr id="72" name="Rectangle 22"/>
            <p:cNvSpPr/>
            <p:nvPr/>
          </p:nvSpPr>
          <p:spPr>
            <a:xfrm>
              <a:off x="8506036" y="4801658"/>
              <a:ext cx="491695" cy="319529"/>
            </a:xfrm>
            <a:prstGeom prst="rect">
              <a:avLst/>
            </a:prstGeom>
          </p:spPr>
          <p:txBody>
            <a:bodyPr wrap="none">
              <a:noAutofit/>
            </a:bodyPr>
            <a:lstStyle/>
            <a:p>
              <a:pPr algn="ctr">
                <a:lnSpc>
                  <a:spcPct val="95000"/>
                </a:lnSpc>
              </a:pPr>
              <a:r>
                <a:rPr lang="zh-CN" altLang="en-US" sz="1400" b="1" dirty="0">
                  <a:cs typeface="+mn-ea"/>
                  <a:sym typeface="+mn-lt"/>
                </a:rPr>
                <a:t>长江学者</a:t>
              </a:r>
            </a:p>
            <a:p>
              <a:pPr algn="ctr">
                <a:lnSpc>
                  <a:spcPct val="95000"/>
                </a:lnSpc>
              </a:pPr>
              <a:r>
                <a:rPr lang="zh-CN" altLang="en-US" sz="1400" b="1" dirty="0">
                  <a:cs typeface="+mn-ea"/>
                  <a:sym typeface="+mn-lt"/>
                </a:rPr>
                <a:t>奖励计划</a:t>
              </a:r>
            </a:p>
          </p:txBody>
        </p:sp>
        <p:sp>
          <p:nvSpPr>
            <p:cNvPr id="97" name="Rectangle 23"/>
            <p:cNvSpPr/>
            <p:nvPr/>
          </p:nvSpPr>
          <p:spPr>
            <a:xfrm>
              <a:off x="7458870" y="4801658"/>
              <a:ext cx="491695" cy="319529"/>
            </a:xfrm>
            <a:prstGeom prst="rect">
              <a:avLst/>
            </a:prstGeom>
          </p:spPr>
          <p:txBody>
            <a:bodyPr wrap="none">
              <a:noAutofit/>
            </a:bodyPr>
            <a:lstStyle/>
            <a:p>
              <a:pPr algn="ctr">
                <a:lnSpc>
                  <a:spcPct val="95000"/>
                </a:lnSpc>
              </a:pPr>
              <a:r>
                <a:rPr lang="zh-CN" altLang="en-US" sz="1400" b="1" dirty="0">
                  <a:cs typeface="+mn-ea"/>
                  <a:sym typeface="+mn-lt"/>
                </a:rPr>
                <a:t>万人计划</a:t>
              </a:r>
            </a:p>
          </p:txBody>
        </p:sp>
        <p:sp>
          <p:nvSpPr>
            <p:cNvPr id="98" name="Rectangle 24"/>
            <p:cNvSpPr/>
            <p:nvPr/>
          </p:nvSpPr>
          <p:spPr>
            <a:xfrm>
              <a:off x="6400917" y="4801658"/>
              <a:ext cx="491695" cy="319529"/>
            </a:xfrm>
            <a:prstGeom prst="rect">
              <a:avLst/>
            </a:prstGeom>
          </p:spPr>
          <p:txBody>
            <a:bodyPr wrap="none">
              <a:noAutofit/>
            </a:bodyPr>
            <a:lstStyle/>
            <a:p>
              <a:pPr algn="ctr">
                <a:lnSpc>
                  <a:spcPct val="95000"/>
                </a:lnSpc>
              </a:pPr>
              <a:r>
                <a:rPr lang="zh-CN" altLang="en-US" sz="1400" b="1" dirty="0">
                  <a:cs typeface="+mn-ea"/>
                  <a:sym typeface="+mn-lt"/>
                </a:rPr>
                <a:t>千人计划</a:t>
              </a:r>
            </a:p>
          </p:txBody>
        </p:sp>
        <p:sp>
          <p:nvSpPr>
            <p:cNvPr id="99" name="Rectangle 25"/>
            <p:cNvSpPr/>
            <p:nvPr/>
          </p:nvSpPr>
          <p:spPr>
            <a:xfrm>
              <a:off x="5342964" y="4801658"/>
              <a:ext cx="491695" cy="319529"/>
            </a:xfrm>
            <a:prstGeom prst="rect">
              <a:avLst/>
            </a:prstGeom>
          </p:spPr>
          <p:txBody>
            <a:bodyPr wrap="none">
              <a:noAutofit/>
            </a:bodyPr>
            <a:lstStyle/>
            <a:p>
              <a:pPr algn="ctr">
                <a:lnSpc>
                  <a:spcPct val="95000"/>
                </a:lnSpc>
              </a:pPr>
              <a:r>
                <a:rPr lang="zh-CN" altLang="en-US" sz="1400" b="1" dirty="0">
                  <a:cs typeface="+mn-ea"/>
                  <a:sym typeface="+mn-lt"/>
                </a:rPr>
                <a:t>中国工程院</a:t>
              </a:r>
            </a:p>
            <a:p>
              <a:pPr algn="ctr">
                <a:lnSpc>
                  <a:spcPct val="95000"/>
                </a:lnSpc>
              </a:pPr>
              <a:r>
                <a:rPr lang="zh-CN" altLang="en-US" sz="1400" b="1" dirty="0">
                  <a:cs typeface="+mn-ea"/>
                  <a:sym typeface="+mn-lt"/>
                </a:rPr>
                <a:t>院士</a:t>
              </a:r>
            </a:p>
          </p:txBody>
        </p:sp>
        <p:sp>
          <p:nvSpPr>
            <p:cNvPr id="100" name="Rectangle 26"/>
            <p:cNvSpPr/>
            <p:nvPr/>
          </p:nvSpPr>
          <p:spPr>
            <a:xfrm>
              <a:off x="4285010" y="4801658"/>
              <a:ext cx="491695" cy="319529"/>
            </a:xfrm>
            <a:prstGeom prst="rect">
              <a:avLst/>
            </a:prstGeom>
          </p:spPr>
          <p:txBody>
            <a:bodyPr wrap="none">
              <a:noAutofit/>
            </a:bodyPr>
            <a:lstStyle/>
            <a:p>
              <a:pPr algn="ctr">
                <a:lnSpc>
                  <a:spcPct val="95000"/>
                </a:lnSpc>
              </a:pPr>
              <a:r>
                <a:rPr lang="zh-CN" altLang="en-US" sz="1400" b="1" dirty="0">
                  <a:cs typeface="+mn-ea"/>
                  <a:sym typeface="+mn-lt"/>
                </a:rPr>
                <a:t>中国科学院</a:t>
              </a:r>
            </a:p>
            <a:p>
              <a:pPr algn="ctr">
                <a:lnSpc>
                  <a:spcPct val="95000"/>
                </a:lnSpc>
              </a:pPr>
              <a:r>
                <a:rPr lang="zh-CN" altLang="en-US" sz="1400" b="1" dirty="0">
                  <a:cs typeface="+mn-ea"/>
                  <a:sym typeface="+mn-lt"/>
                </a:rPr>
                <a:t>院士</a:t>
              </a:r>
            </a:p>
          </p:txBody>
        </p:sp>
        <p:sp>
          <p:nvSpPr>
            <p:cNvPr id="101" name="Rectangle 27"/>
            <p:cNvSpPr/>
            <p:nvPr/>
          </p:nvSpPr>
          <p:spPr>
            <a:xfrm>
              <a:off x="3227057" y="4801658"/>
              <a:ext cx="491695" cy="319529"/>
            </a:xfrm>
            <a:prstGeom prst="rect">
              <a:avLst/>
            </a:prstGeom>
          </p:spPr>
          <p:txBody>
            <a:bodyPr wrap="none">
              <a:noAutofit/>
            </a:bodyPr>
            <a:lstStyle/>
            <a:p>
              <a:pPr algn="ctr">
                <a:lnSpc>
                  <a:spcPct val="95000"/>
                </a:lnSpc>
              </a:pPr>
              <a:r>
                <a:rPr lang="zh-CN" altLang="en-US" sz="1400" b="1" dirty="0">
                  <a:cs typeface="+mn-ea"/>
                  <a:sym typeface="+mn-lt"/>
                </a:rPr>
                <a:t>教授、</a:t>
              </a:r>
            </a:p>
            <a:p>
              <a:pPr algn="ctr">
                <a:lnSpc>
                  <a:spcPct val="95000"/>
                </a:lnSpc>
              </a:pPr>
              <a:r>
                <a:rPr lang="zh-CN" altLang="en-US" sz="1400" b="1" dirty="0">
                  <a:cs typeface="+mn-ea"/>
                  <a:sym typeface="+mn-lt"/>
                </a:rPr>
                <a:t>副教授</a:t>
              </a:r>
            </a:p>
          </p:txBody>
        </p:sp>
        <p:sp>
          <p:nvSpPr>
            <p:cNvPr id="102" name="Rectangle 28"/>
            <p:cNvSpPr/>
            <p:nvPr/>
          </p:nvSpPr>
          <p:spPr>
            <a:xfrm>
              <a:off x="2206385" y="4801658"/>
              <a:ext cx="491695" cy="319529"/>
            </a:xfrm>
            <a:prstGeom prst="rect">
              <a:avLst/>
            </a:prstGeom>
          </p:spPr>
          <p:txBody>
            <a:bodyPr wrap="none">
              <a:noAutofit/>
            </a:bodyPr>
            <a:lstStyle/>
            <a:p>
              <a:pPr algn="ctr">
                <a:lnSpc>
                  <a:spcPct val="95000"/>
                </a:lnSpc>
              </a:pPr>
              <a:r>
                <a:rPr lang="zh-CN" altLang="en-US" sz="1400" b="1" dirty="0">
                  <a:cs typeface="+mn-ea"/>
                  <a:sym typeface="+mn-lt"/>
                </a:rPr>
                <a:t>专任教师</a:t>
              </a:r>
            </a:p>
          </p:txBody>
        </p:sp>
        <p:sp>
          <p:nvSpPr>
            <p:cNvPr id="103" name="Rectangle 29"/>
            <p:cNvSpPr/>
            <p:nvPr/>
          </p:nvSpPr>
          <p:spPr>
            <a:xfrm>
              <a:off x="742950" y="1962192"/>
              <a:ext cx="912661" cy="251460"/>
            </a:xfrm>
            <a:prstGeom prst="rect">
              <a:avLst/>
            </a:prstGeom>
          </p:spPr>
          <p:txBody>
            <a:bodyPr wrap="square">
              <a:spAutoFit/>
            </a:bodyPr>
            <a:lstStyle/>
            <a:p>
              <a:pPr algn="r">
                <a:lnSpc>
                  <a:spcPct val="95000"/>
                </a:lnSpc>
              </a:pPr>
              <a:endParaRPr lang="en-US" sz="1100" dirty="0">
                <a:cs typeface="+mn-ea"/>
                <a:sym typeface="+mn-lt"/>
              </a:endParaRPr>
            </a:p>
          </p:txBody>
        </p:sp>
        <p:sp>
          <p:nvSpPr>
            <p:cNvPr id="104" name="Rectangle 30"/>
            <p:cNvSpPr/>
            <p:nvPr/>
          </p:nvSpPr>
          <p:spPr>
            <a:xfrm>
              <a:off x="742950" y="2560350"/>
              <a:ext cx="912661" cy="251460"/>
            </a:xfrm>
            <a:prstGeom prst="rect">
              <a:avLst/>
            </a:prstGeom>
          </p:spPr>
          <p:txBody>
            <a:bodyPr wrap="square">
              <a:spAutoFit/>
            </a:bodyPr>
            <a:lstStyle/>
            <a:p>
              <a:pPr algn="r">
                <a:lnSpc>
                  <a:spcPct val="95000"/>
                </a:lnSpc>
              </a:pPr>
              <a:endParaRPr lang="en-US" sz="1100" dirty="0">
                <a:cs typeface="+mn-ea"/>
                <a:sym typeface="+mn-lt"/>
              </a:endParaRPr>
            </a:p>
          </p:txBody>
        </p:sp>
        <p:sp>
          <p:nvSpPr>
            <p:cNvPr id="105" name="Rectangle 31"/>
            <p:cNvSpPr/>
            <p:nvPr/>
          </p:nvSpPr>
          <p:spPr>
            <a:xfrm>
              <a:off x="742950" y="3158508"/>
              <a:ext cx="912661" cy="251460"/>
            </a:xfrm>
            <a:prstGeom prst="rect">
              <a:avLst/>
            </a:prstGeom>
          </p:spPr>
          <p:txBody>
            <a:bodyPr wrap="square">
              <a:spAutoFit/>
            </a:bodyPr>
            <a:lstStyle/>
            <a:p>
              <a:pPr algn="r">
                <a:lnSpc>
                  <a:spcPct val="95000"/>
                </a:lnSpc>
              </a:pPr>
              <a:endParaRPr lang="en-US" sz="1100" dirty="0">
                <a:cs typeface="+mn-ea"/>
                <a:sym typeface="+mn-lt"/>
              </a:endParaRPr>
            </a:p>
          </p:txBody>
        </p:sp>
        <p:sp>
          <p:nvSpPr>
            <p:cNvPr id="106" name="Rectangle 32"/>
            <p:cNvSpPr/>
            <p:nvPr/>
          </p:nvSpPr>
          <p:spPr>
            <a:xfrm>
              <a:off x="742950" y="4354827"/>
              <a:ext cx="912661" cy="251460"/>
            </a:xfrm>
            <a:prstGeom prst="rect">
              <a:avLst/>
            </a:prstGeom>
          </p:spPr>
          <p:txBody>
            <a:bodyPr wrap="square">
              <a:spAutoFit/>
            </a:bodyPr>
            <a:lstStyle/>
            <a:p>
              <a:pPr algn="r">
                <a:lnSpc>
                  <a:spcPct val="95000"/>
                </a:lnSpc>
              </a:pPr>
              <a:endParaRPr lang="en-US" sz="1100" dirty="0">
                <a:cs typeface="+mn-ea"/>
                <a:sym typeface="+mn-lt"/>
              </a:endParaRPr>
            </a:p>
          </p:txBody>
        </p:sp>
        <p:sp>
          <p:nvSpPr>
            <p:cNvPr id="107" name="Rectangle 33"/>
            <p:cNvSpPr/>
            <p:nvPr/>
          </p:nvSpPr>
          <p:spPr>
            <a:xfrm>
              <a:off x="742950" y="3756668"/>
              <a:ext cx="912661" cy="251460"/>
            </a:xfrm>
            <a:prstGeom prst="rect">
              <a:avLst/>
            </a:prstGeom>
          </p:spPr>
          <p:txBody>
            <a:bodyPr wrap="square">
              <a:spAutoFit/>
            </a:bodyPr>
            <a:lstStyle/>
            <a:p>
              <a:pPr algn="r">
                <a:lnSpc>
                  <a:spcPct val="95000"/>
                </a:lnSpc>
              </a:pPr>
              <a:endParaRPr lang="en-US" sz="1100" dirty="0">
                <a:cs typeface="+mn-ea"/>
                <a:sym typeface="+mn-lt"/>
              </a:endParaRPr>
            </a:p>
          </p:txBody>
        </p:sp>
        <p:sp>
          <p:nvSpPr>
            <p:cNvPr id="108" name="Rounded Rectangle 35"/>
            <p:cNvSpPr/>
            <p:nvPr/>
          </p:nvSpPr>
          <p:spPr>
            <a:xfrm>
              <a:off x="10611162" y="2074935"/>
              <a:ext cx="491694" cy="2592915"/>
            </a:xfrm>
            <a:prstGeom prst="roundRect">
              <a:avLst/>
            </a:prstGeom>
            <a:solidFill>
              <a:schemeClr val="bg1">
                <a:lumMod val="75000"/>
                <a:alpha val="50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FFFFFF"/>
                </a:solidFill>
                <a:cs typeface="+mn-ea"/>
                <a:sym typeface="+mn-lt"/>
              </a:endParaRPr>
            </a:p>
          </p:txBody>
        </p:sp>
        <p:sp>
          <p:nvSpPr>
            <p:cNvPr id="109" name="Rounded Rectangle 36"/>
            <p:cNvSpPr/>
            <p:nvPr/>
          </p:nvSpPr>
          <p:spPr>
            <a:xfrm>
              <a:off x="10610850" y="4354872"/>
              <a:ext cx="491490" cy="313055"/>
            </a:xfrm>
            <a:prstGeom prst="round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r>
                <a:rPr lang="en-US" sz="1500" dirty="0">
                  <a:solidFill>
                    <a:srgbClr val="FFFFFF"/>
                  </a:solidFill>
                  <a:cs typeface="+mn-ea"/>
                  <a:sym typeface="+mn-lt"/>
                </a:rPr>
                <a:t>3</a:t>
              </a:r>
            </a:p>
          </p:txBody>
        </p:sp>
        <p:sp>
          <p:nvSpPr>
            <p:cNvPr id="110" name="Rectangle 37"/>
            <p:cNvSpPr/>
            <p:nvPr/>
          </p:nvSpPr>
          <p:spPr>
            <a:xfrm>
              <a:off x="10611163" y="4801658"/>
              <a:ext cx="491695" cy="319529"/>
            </a:xfrm>
            <a:prstGeom prst="rect">
              <a:avLst/>
            </a:prstGeom>
          </p:spPr>
          <p:txBody>
            <a:bodyPr wrap="none">
              <a:noAutofit/>
            </a:bodyPr>
            <a:lstStyle/>
            <a:p>
              <a:pPr algn="ctr">
                <a:lnSpc>
                  <a:spcPct val="95000"/>
                </a:lnSpc>
              </a:pPr>
              <a:r>
                <a:rPr lang="zh-CN" altLang="en-US" sz="1400" b="1" dirty="0">
                  <a:cs typeface="+mn-ea"/>
                  <a:sym typeface="+mn-lt"/>
                </a:rPr>
                <a:t>万人计划</a:t>
              </a:r>
            </a:p>
            <a:p>
              <a:pPr algn="ctr">
                <a:lnSpc>
                  <a:spcPct val="95000"/>
                </a:lnSpc>
              </a:pPr>
              <a:r>
                <a:rPr lang="zh-CN" altLang="en-US" sz="1400" b="1" dirty="0">
                  <a:cs typeface="+mn-ea"/>
                  <a:sym typeface="+mn-lt"/>
                </a:rPr>
                <a:t>青年拔尖人才</a:t>
              </a:r>
            </a:p>
          </p:txBody>
        </p:sp>
      </p:grpSp>
      <p:grpSp>
        <p:nvGrpSpPr>
          <p:cNvPr id="4" name="组合 3"/>
          <p:cNvGrpSpPr/>
          <p:nvPr/>
        </p:nvGrpSpPr>
        <p:grpSpPr>
          <a:xfrm>
            <a:off x="831215" y="5569585"/>
            <a:ext cx="11159490" cy="654050"/>
            <a:chOff x="818" y="8267"/>
            <a:chExt cx="18101" cy="1141"/>
          </a:xfrm>
        </p:grpSpPr>
        <p:grpSp>
          <p:nvGrpSpPr>
            <p:cNvPr id="111" name="组合 110"/>
            <p:cNvGrpSpPr/>
            <p:nvPr/>
          </p:nvGrpSpPr>
          <p:grpSpPr>
            <a:xfrm>
              <a:off x="818" y="8267"/>
              <a:ext cx="18101" cy="1141"/>
              <a:chOff x="519670" y="5157192"/>
              <a:chExt cx="11493735" cy="724487"/>
            </a:xfrm>
          </p:grpSpPr>
          <p:grpSp>
            <p:nvGrpSpPr>
              <p:cNvPr id="112" name="组合 111"/>
              <p:cNvGrpSpPr/>
              <p:nvPr/>
            </p:nvGrpSpPr>
            <p:grpSpPr>
              <a:xfrm>
                <a:off x="519670" y="5157192"/>
                <a:ext cx="2195579" cy="724487"/>
                <a:chOff x="1162048" y="2057192"/>
                <a:chExt cx="2191036" cy="724487"/>
              </a:xfrm>
            </p:grpSpPr>
            <p:sp>
              <p:nvSpPr>
                <p:cNvPr id="122" name="TextBox 5"/>
                <p:cNvSpPr txBox="1"/>
                <p:nvPr/>
              </p:nvSpPr>
              <p:spPr>
                <a:xfrm>
                  <a:off x="1162048" y="2304048"/>
                  <a:ext cx="2191036" cy="477631"/>
                </a:xfrm>
                <a:prstGeom prst="rect">
                  <a:avLst/>
                </a:prstGeom>
                <a:noFill/>
              </p:spPr>
              <p:txBody>
                <a:bodyPr wrap="square" lIns="0" tIns="0" rIns="0" bIns="0" rtlCol="0">
                  <a:normAutofit/>
                </a:bodyPr>
                <a:lstStyle/>
                <a:p>
                  <a:pPr algn="ctr" defTabSz="913765">
                    <a:lnSpc>
                      <a:spcPct val="150000"/>
                    </a:lnSpc>
                    <a:spcBef>
                      <a:spcPct val="0"/>
                    </a:spcBef>
                    <a:defRPr/>
                  </a:pPr>
                  <a:r>
                    <a:rPr lang="en-US" altLang="zh-CN" b="1" dirty="0">
                      <a:solidFill>
                        <a:schemeClr val="tx1"/>
                      </a:solidFill>
                      <a:cs typeface="+mn-ea"/>
                      <a:sym typeface="+mn-lt"/>
                    </a:rPr>
                    <a:t>8</a:t>
                  </a:r>
                  <a:r>
                    <a:rPr lang="zh-CN" altLang="en-US" b="1" dirty="0">
                      <a:solidFill>
                        <a:schemeClr val="tx1"/>
                      </a:solidFill>
                      <a:cs typeface="+mn-ea"/>
                      <a:sym typeface="+mn-lt"/>
                    </a:rPr>
                    <a:t>个</a:t>
                  </a:r>
                </a:p>
              </p:txBody>
            </p:sp>
            <p:sp>
              <p:nvSpPr>
                <p:cNvPr id="123" name="矩形 122"/>
                <p:cNvSpPr/>
                <p:nvPr/>
              </p:nvSpPr>
              <p:spPr>
                <a:xfrm>
                  <a:off x="1162048" y="2057192"/>
                  <a:ext cx="2191036" cy="246221"/>
                </a:xfrm>
                <a:prstGeom prst="rect">
                  <a:avLst/>
                </a:prstGeom>
              </p:spPr>
              <p:txBody>
                <a:bodyPr wrap="square" lIns="0" tIns="0" rIns="0" bIns="0"/>
                <a:lstStyle/>
                <a:p>
                  <a:pPr lvl="0" algn="ctr" defTabSz="913765">
                    <a:spcBef>
                      <a:spcPct val="0"/>
                    </a:spcBef>
                    <a:defRPr/>
                  </a:pPr>
                  <a:r>
                    <a:rPr lang="zh-CN" altLang="en-US" b="1" dirty="0">
                      <a:solidFill>
                        <a:schemeClr val="tx1"/>
                      </a:solidFill>
                      <a:cs typeface="+mn-ea"/>
                      <a:sym typeface="+mn-lt"/>
                    </a:rPr>
                    <a:t>国家级教学团队</a:t>
                  </a:r>
                </a:p>
              </p:txBody>
            </p:sp>
          </p:grpSp>
          <p:grpSp>
            <p:nvGrpSpPr>
              <p:cNvPr id="113" name="组合 112"/>
              <p:cNvGrpSpPr/>
              <p:nvPr/>
            </p:nvGrpSpPr>
            <p:grpSpPr>
              <a:xfrm>
                <a:off x="2474758" y="5157192"/>
                <a:ext cx="2248115" cy="724487"/>
                <a:chOff x="328751" y="2057192"/>
                <a:chExt cx="2243463" cy="724487"/>
              </a:xfrm>
            </p:grpSpPr>
            <p:sp>
              <p:nvSpPr>
                <p:cNvPr id="120" name="TextBox 5"/>
                <p:cNvSpPr txBox="1"/>
                <p:nvPr/>
              </p:nvSpPr>
              <p:spPr>
                <a:xfrm>
                  <a:off x="381178" y="2304048"/>
                  <a:ext cx="2191036" cy="477631"/>
                </a:xfrm>
                <a:prstGeom prst="rect">
                  <a:avLst/>
                </a:prstGeom>
                <a:noFill/>
              </p:spPr>
              <p:txBody>
                <a:bodyPr wrap="square" lIns="0" tIns="0" rIns="0" bIns="0" rtlCol="0">
                  <a:normAutofit/>
                </a:bodyPr>
                <a:lstStyle/>
                <a:p>
                  <a:pPr algn="ctr" defTabSz="913765">
                    <a:lnSpc>
                      <a:spcPct val="150000"/>
                    </a:lnSpc>
                    <a:spcBef>
                      <a:spcPct val="0"/>
                    </a:spcBef>
                    <a:defRPr/>
                  </a:pPr>
                  <a:r>
                    <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lt"/>
                    </a:rPr>
                    <a:t>5</a:t>
                  </a:r>
                  <a:r>
                    <a:rPr lang="zh-CN" altLang="en-US" dirty="0">
                      <a:solidFill>
                        <a:schemeClr val="tx1"/>
                      </a:solidFill>
                      <a:latin typeface="微软雅黑" panose="020B0503020204020204" charset="-122"/>
                      <a:ea typeface="微软雅黑" panose="020B0503020204020204" charset="-122"/>
                      <a:cs typeface="微软雅黑" panose="020B0503020204020204" charset="-122"/>
                      <a:sym typeface="+mn-lt"/>
                    </a:rPr>
                    <a:t>人</a:t>
                  </a:r>
                </a:p>
              </p:txBody>
            </p:sp>
            <p:sp>
              <p:nvSpPr>
                <p:cNvPr id="121" name="矩形 120"/>
                <p:cNvSpPr/>
                <p:nvPr/>
              </p:nvSpPr>
              <p:spPr>
                <a:xfrm>
                  <a:off x="328751" y="2057192"/>
                  <a:ext cx="2191036" cy="246221"/>
                </a:xfrm>
                <a:prstGeom prst="rect">
                  <a:avLst/>
                </a:prstGeom>
              </p:spPr>
              <p:txBody>
                <a:bodyPr wrap="square" lIns="0" tIns="0" rIns="0" bIns="0"/>
                <a:lstStyle/>
                <a:p>
                  <a:pPr lvl="0" algn="ctr" defTabSz="913765">
                    <a:spcBef>
                      <a:spcPct val="0"/>
                    </a:spcBef>
                    <a:defRPr/>
                  </a:pPr>
                  <a:r>
                    <a:rPr lang="zh-CN" altLang="en-US" b="1" dirty="0">
                      <a:solidFill>
                        <a:schemeClr val="tx1"/>
                      </a:solidFill>
                      <a:cs typeface="+mn-ea"/>
                      <a:sym typeface="+mn-lt"/>
                    </a:rPr>
                    <a:t>国家级教学名师</a:t>
                  </a:r>
                </a:p>
              </p:txBody>
            </p:sp>
          </p:grpSp>
          <p:grpSp>
            <p:nvGrpSpPr>
              <p:cNvPr id="114" name="组合 113"/>
              <p:cNvGrpSpPr/>
              <p:nvPr/>
            </p:nvGrpSpPr>
            <p:grpSpPr>
              <a:xfrm>
                <a:off x="4204422" y="5157192"/>
                <a:ext cx="2332990" cy="724487"/>
                <a:chOff x="-729504" y="2057192"/>
                <a:chExt cx="2328163" cy="724487"/>
              </a:xfrm>
            </p:grpSpPr>
            <p:sp>
              <p:nvSpPr>
                <p:cNvPr id="118" name="TextBox 5"/>
                <p:cNvSpPr txBox="1"/>
                <p:nvPr/>
              </p:nvSpPr>
              <p:spPr>
                <a:xfrm>
                  <a:off x="-592630" y="2304048"/>
                  <a:ext cx="2191036" cy="477631"/>
                </a:xfrm>
                <a:prstGeom prst="rect">
                  <a:avLst/>
                </a:prstGeom>
                <a:noFill/>
              </p:spPr>
              <p:txBody>
                <a:bodyPr wrap="square" lIns="0" tIns="0" rIns="0" bIns="0" rtlCol="0">
                  <a:normAutofit/>
                </a:bodyPr>
                <a:lstStyle/>
                <a:p>
                  <a:pPr algn="ctr" defTabSz="913765">
                    <a:lnSpc>
                      <a:spcPct val="150000"/>
                    </a:lnSpc>
                    <a:spcBef>
                      <a:spcPct val="0"/>
                    </a:spcBef>
                    <a:defRPr/>
                  </a:pPr>
                  <a:r>
                    <a:rPr lang="en-US" altLang="zh-CN" b="1" dirty="0">
                      <a:solidFill>
                        <a:schemeClr val="tx1"/>
                      </a:solidFill>
                      <a:cs typeface="+mn-ea"/>
                      <a:sym typeface="+mn-lt"/>
                    </a:rPr>
                    <a:t>6</a:t>
                  </a:r>
                  <a:r>
                    <a:rPr lang="zh-CN" altLang="en-US" b="1" dirty="0">
                      <a:solidFill>
                        <a:schemeClr val="tx1"/>
                      </a:solidFill>
                      <a:cs typeface="+mn-ea"/>
                      <a:sym typeface="+mn-lt"/>
                    </a:rPr>
                    <a:t>个</a:t>
                  </a:r>
                </a:p>
              </p:txBody>
            </p:sp>
            <p:sp>
              <p:nvSpPr>
                <p:cNvPr id="119" name="矩形 118"/>
                <p:cNvSpPr/>
                <p:nvPr/>
              </p:nvSpPr>
              <p:spPr>
                <a:xfrm>
                  <a:off x="-729504" y="2057192"/>
                  <a:ext cx="2328163" cy="402590"/>
                </a:xfrm>
                <a:prstGeom prst="rect">
                  <a:avLst/>
                </a:prstGeom>
              </p:spPr>
              <p:txBody>
                <a:bodyPr wrap="square" lIns="0" tIns="0" rIns="0" bIns="0"/>
                <a:lstStyle/>
                <a:p>
                  <a:pPr lvl="0" algn="ctr" defTabSz="913765">
                    <a:spcBef>
                      <a:spcPct val="0"/>
                    </a:spcBef>
                    <a:defRPr/>
                  </a:pPr>
                  <a:r>
                    <a:rPr lang="zh-CN" altLang="en-US" sz="1600" b="1" dirty="0">
                      <a:solidFill>
                        <a:schemeClr val="tx1"/>
                      </a:solidFill>
                      <a:cs typeface="+mn-ea"/>
                      <a:sym typeface="+mn-lt"/>
                    </a:rPr>
                    <a:t>教育部创新团队</a:t>
                  </a:r>
                </a:p>
              </p:txBody>
            </p:sp>
          </p:grpSp>
          <p:grpSp>
            <p:nvGrpSpPr>
              <p:cNvPr id="115" name="组合 114"/>
              <p:cNvGrpSpPr/>
              <p:nvPr/>
            </p:nvGrpSpPr>
            <p:grpSpPr>
              <a:xfrm>
                <a:off x="9183379" y="5157192"/>
                <a:ext cx="2830026" cy="724487"/>
                <a:chOff x="1454811" y="2057192"/>
                <a:chExt cx="2824170" cy="724487"/>
              </a:xfrm>
            </p:grpSpPr>
            <p:sp>
              <p:nvSpPr>
                <p:cNvPr id="116" name="TextBox 5"/>
                <p:cNvSpPr txBox="1"/>
                <p:nvPr/>
              </p:nvSpPr>
              <p:spPr>
                <a:xfrm>
                  <a:off x="1554454" y="2304048"/>
                  <a:ext cx="2191036" cy="477631"/>
                </a:xfrm>
                <a:prstGeom prst="rect">
                  <a:avLst/>
                </a:prstGeom>
                <a:noFill/>
              </p:spPr>
              <p:txBody>
                <a:bodyPr wrap="square" lIns="0" tIns="0" rIns="0" bIns="0" rtlCol="0">
                  <a:normAutofit/>
                </a:bodyPr>
                <a:lstStyle/>
                <a:p>
                  <a:pPr algn="ctr" defTabSz="913765">
                    <a:lnSpc>
                      <a:spcPct val="150000"/>
                    </a:lnSpc>
                    <a:spcBef>
                      <a:spcPct val="0"/>
                    </a:spcBef>
                    <a:defRPr/>
                  </a:pPr>
                  <a:r>
                    <a:rPr lang="en-US" altLang="zh-CN" b="1" dirty="0">
                      <a:solidFill>
                        <a:schemeClr val="tx1"/>
                      </a:solidFill>
                      <a:cs typeface="+mn-ea"/>
                      <a:sym typeface="+mn-lt"/>
                    </a:rPr>
                    <a:t>20</a:t>
                  </a:r>
                  <a:r>
                    <a:rPr lang="zh-CN" altLang="en-US" b="1" dirty="0">
                      <a:solidFill>
                        <a:schemeClr val="tx1"/>
                      </a:solidFill>
                      <a:cs typeface="+mn-ea"/>
                      <a:sym typeface="+mn-lt"/>
                    </a:rPr>
                    <a:t>人</a:t>
                  </a:r>
                </a:p>
              </p:txBody>
            </p:sp>
            <p:sp>
              <p:nvSpPr>
                <p:cNvPr id="117" name="矩形 116"/>
                <p:cNvSpPr/>
                <p:nvPr/>
              </p:nvSpPr>
              <p:spPr>
                <a:xfrm>
                  <a:off x="1454811" y="2057192"/>
                  <a:ext cx="2824170" cy="246208"/>
                </a:xfrm>
                <a:prstGeom prst="rect">
                  <a:avLst/>
                </a:prstGeom>
              </p:spPr>
              <p:txBody>
                <a:bodyPr wrap="square" lIns="0" tIns="0" rIns="0" bIns="0"/>
                <a:lstStyle/>
                <a:p>
                  <a:pPr lvl="0" algn="ctr" defTabSz="913765">
                    <a:spcBef>
                      <a:spcPct val="0"/>
                    </a:spcBef>
                    <a:defRPr/>
                  </a:pPr>
                  <a:r>
                    <a:rPr lang="zh-CN" sz="1600" b="1" dirty="0">
                      <a:solidFill>
                        <a:schemeClr val="tx1"/>
                      </a:solidFill>
                      <a:cs typeface="+mn-ea"/>
                      <a:sym typeface="+mn-lt"/>
                    </a:rPr>
                    <a:t>国家杰出青年基金获得者</a:t>
                  </a:r>
                </a:p>
              </p:txBody>
            </p:sp>
          </p:grpSp>
        </p:grpSp>
        <p:sp>
          <p:nvSpPr>
            <p:cNvPr id="22" name="矩形 21"/>
            <p:cNvSpPr/>
            <p:nvPr/>
          </p:nvSpPr>
          <p:spPr>
            <a:xfrm>
              <a:off x="9392" y="8267"/>
              <a:ext cx="5226" cy="634"/>
            </a:xfrm>
            <a:prstGeom prst="rect">
              <a:avLst/>
            </a:prstGeom>
          </p:spPr>
          <p:txBody>
            <a:bodyPr wrap="square" lIns="0" tIns="0" rIns="0" bIns="0"/>
            <a:lstStyle/>
            <a:p>
              <a:pPr lvl="0" algn="ctr" defTabSz="913765">
                <a:spcBef>
                  <a:spcPct val="0"/>
                </a:spcBef>
                <a:defRPr/>
              </a:pPr>
              <a:r>
                <a:rPr lang="en-US" altLang="zh-CN" sz="1600" b="1" dirty="0">
                  <a:solidFill>
                    <a:schemeClr val="tx1"/>
                  </a:solidFill>
                  <a:cs typeface="+mn-ea"/>
                  <a:sym typeface="+mn-lt"/>
                </a:rPr>
                <a:t>    </a:t>
              </a:r>
              <a:r>
                <a:rPr lang="zh-CN" altLang="en-US" sz="1600" b="1" dirty="0">
                  <a:solidFill>
                    <a:schemeClr val="tx1"/>
                  </a:solidFill>
                  <a:cs typeface="+mn-ea"/>
                  <a:sym typeface="+mn-lt"/>
                </a:rPr>
                <a:t>国家优秀青年科学基金</a:t>
              </a:r>
              <a:r>
                <a:rPr lang="zh-CN" sz="1600" b="1" dirty="0">
                  <a:solidFill>
                    <a:schemeClr val="tx1"/>
                  </a:solidFill>
                  <a:cs typeface="+mn-ea"/>
                  <a:sym typeface="+mn-lt"/>
                </a:rPr>
                <a:t>获得者</a:t>
              </a:r>
            </a:p>
            <a:p>
              <a:pPr lvl="0" algn="ctr" defTabSz="913765">
                <a:spcBef>
                  <a:spcPct val="0"/>
                </a:spcBef>
                <a:defRPr/>
              </a:pPr>
              <a:endParaRPr lang="zh-CN" altLang="en-US" sz="1600" b="1" dirty="0">
                <a:solidFill>
                  <a:schemeClr val="tx1"/>
                </a:solidFill>
                <a:cs typeface="+mn-ea"/>
                <a:sym typeface="+mn-lt"/>
              </a:endParaRPr>
            </a:p>
          </p:txBody>
        </p:sp>
        <p:sp>
          <p:nvSpPr>
            <p:cNvPr id="5" name="TextBox 5"/>
            <p:cNvSpPr txBox="1"/>
            <p:nvPr/>
          </p:nvSpPr>
          <p:spPr>
            <a:xfrm>
              <a:off x="10198" y="8655"/>
              <a:ext cx="3458" cy="752"/>
            </a:xfrm>
            <a:prstGeom prst="rect">
              <a:avLst/>
            </a:prstGeom>
            <a:noFill/>
          </p:spPr>
          <p:txBody>
            <a:bodyPr wrap="square" lIns="0" tIns="0" rIns="0" bIns="0" rtlCol="0">
              <a:normAutofit/>
            </a:bodyPr>
            <a:lstStyle/>
            <a:p>
              <a:pPr algn="ctr" defTabSz="913765">
                <a:lnSpc>
                  <a:spcPct val="150000"/>
                </a:lnSpc>
                <a:spcBef>
                  <a:spcPct val="0"/>
                </a:spcBef>
                <a:defRPr/>
              </a:pPr>
              <a:r>
                <a:rPr lang="en-US" altLang="zh-CN" b="1" dirty="0">
                  <a:solidFill>
                    <a:schemeClr val="tx1"/>
                  </a:solidFill>
                  <a:cs typeface="+mn-ea"/>
                  <a:sym typeface="+mn-lt"/>
                </a:rPr>
                <a:t>8</a:t>
              </a:r>
              <a:r>
                <a:rPr lang="zh-CN" altLang="en-US" b="1" dirty="0">
                  <a:solidFill>
                    <a:schemeClr val="tx1"/>
                  </a:solidFill>
                  <a:cs typeface="+mn-ea"/>
                  <a:sym typeface="+mn-lt"/>
                </a:rPr>
                <a:t>人</a:t>
              </a:r>
            </a:p>
          </p:txBody>
        </p:sp>
      </p:gr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D74E"/>
        </a:solidFill>
        <a:effectLst/>
      </p:bgPr>
    </p:bg>
    <p:spTree>
      <p:nvGrpSpPr>
        <p:cNvPr id="1" name=""/>
        <p:cNvGrpSpPr/>
        <p:nvPr/>
      </p:nvGrpSpPr>
      <p:grpSpPr>
        <a:xfrm>
          <a:off x="0" y="0"/>
          <a:ext cx="0" cy="0"/>
          <a:chOff x="0" y="0"/>
          <a:chExt cx="0" cy="0"/>
        </a:xfrm>
      </p:grpSpPr>
      <p:sp>
        <p:nvSpPr>
          <p:cNvPr id="29" name="文本框 28"/>
          <p:cNvSpPr txBox="1"/>
          <p:nvPr/>
        </p:nvSpPr>
        <p:spPr>
          <a:xfrm>
            <a:off x="1002554" y="219379"/>
            <a:ext cx="3074204" cy="646331"/>
          </a:xfrm>
          <a:prstGeom prst="rect">
            <a:avLst/>
          </a:prstGeom>
          <a:noFill/>
        </p:spPr>
        <p:txBody>
          <a:bodyPr wrap="square" rtlCol="0">
            <a:spAutoFit/>
          </a:bodyPr>
          <a:lstStyle/>
          <a:p>
            <a:r>
              <a:rPr lang="zh-CN" altLang="en-US" sz="3600" b="1" dirty="0">
                <a:solidFill>
                  <a:schemeClr val="bg1"/>
                </a:solidFill>
                <a:latin typeface="张海山草泥马体" panose="02000000000000000000" pitchFamily="2" charset="-122"/>
                <a:ea typeface="张海山草泥马体" panose="02000000000000000000" pitchFamily="2" charset="-122"/>
              </a:rPr>
              <a:t>人才培养</a:t>
            </a:r>
          </a:p>
        </p:txBody>
      </p:sp>
      <p:sp>
        <p:nvSpPr>
          <p:cNvPr id="30" name="等腰三角形 29"/>
          <p:cNvSpPr/>
          <p:nvPr/>
        </p:nvSpPr>
        <p:spPr>
          <a:xfrm>
            <a:off x="148784" y="219379"/>
            <a:ext cx="511985" cy="441367"/>
          </a:xfrm>
          <a:prstGeom prst="triangl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a:off x="318812" y="321860"/>
            <a:ext cx="511985" cy="441367"/>
          </a:xfrm>
          <a:prstGeom prst="triangl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p:nvPr/>
        </p:nvCxnSpPr>
        <p:spPr>
          <a:xfrm>
            <a:off x="1092200" y="1045343"/>
            <a:ext cx="153710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1002554" y="1438877"/>
            <a:ext cx="7885053" cy="400110"/>
          </a:xfrm>
          <a:prstGeom prst="rect">
            <a:avLst/>
          </a:prstGeom>
        </p:spPr>
        <p:txBody>
          <a:bodyPr wrap="square">
            <a:spAutoFit/>
          </a:bodyPr>
          <a:lstStyle/>
          <a:p>
            <a:r>
              <a:rPr lang="zh-CN" altLang="en-US" sz="2000" b="1" dirty="0">
                <a:solidFill>
                  <a:schemeClr val="bg1"/>
                </a:solidFill>
                <a:latin typeface="张海山锐线体简" panose="02000000000000000000" pitchFamily="2" charset="-122"/>
                <a:ea typeface="张海山锐线体简" panose="02000000000000000000" pitchFamily="2" charset="-122"/>
              </a:rPr>
              <a:t>培养理念</a:t>
            </a:r>
          </a:p>
        </p:txBody>
      </p:sp>
      <p:sp>
        <p:nvSpPr>
          <p:cNvPr id="54" name="等腰三角形 53"/>
          <p:cNvSpPr/>
          <p:nvPr/>
        </p:nvSpPr>
        <p:spPr>
          <a:xfrm flipV="1">
            <a:off x="10785946" y="-361951"/>
            <a:ext cx="1424196" cy="1706010"/>
          </a:xfrm>
          <a:prstGeom prst="triangle">
            <a:avLst>
              <a:gd name="adj" fmla="val 10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207483" y="3406230"/>
            <a:ext cx="9777035" cy="769441"/>
          </a:xfrm>
          <a:prstGeom prst="rect">
            <a:avLst/>
          </a:prstGeom>
        </p:spPr>
        <p:txBody>
          <a:bodyPr wrap="none">
            <a:spAutoFit/>
          </a:bodyPr>
          <a:lstStyle/>
          <a:p>
            <a:r>
              <a:rPr lang="zh-CN" altLang="zh-CN" sz="4400" dirty="0">
                <a:solidFill>
                  <a:schemeClr val="bg1"/>
                </a:solidFill>
                <a:latin typeface="张海山草泥马体" panose="02000000000000000000" pitchFamily="2" charset="-122"/>
                <a:ea typeface="张海山草泥马体" panose="02000000000000000000" pitchFamily="2" charset="-122"/>
                <a:cs typeface="Times New Roman" panose="02020603050405020304" pitchFamily="18" charset="0"/>
              </a:rPr>
              <a:t>承交通天下国家梦，创中国特色双一流</a:t>
            </a:r>
            <a:endParaRPr lang="zh-CN" altLang="en-US" sz="4400" dirty="0">
              <a:solidFill>
                <a:schemeClr val="bg1"/>
              </a:solidFill>
              <a:latin typeface="张海山草泥马体" panose="02000000000000000000" pitchFamily="2" charset="-122"/>
              <a:ea typeface="张海山草泥马体" panose="02000000000000000000" pitchFamily="2" charset="-122"/>
            </a:endParaRP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D74E"/>
        </a:solidFill>
        <a:effectLst/>
      </p:bgPr>
    </p:bg>
    <p:spTree>
      <p:nvGrpSpPr>
        <p:cNvPr id="1" name=""/>
        <p:cNvGrpSpPr/>
        <p:nvPr/>
      </p:nvGrpSpPr>
      <p:grpSpPr>
        <a:xfrm>
          <a:off x="0" y="0"/>
          <a:ext cx="0" cy="0"/>
          <a:chOff x="0" y="0"/>
          <a:chExt cx="0" cy="0"/>
        </a:xfrm>
      </p:grpSpPr>
      <p:sp>
        <p:nvSpPr>
          <p:cNvPr id="29" name="文本框 28"/>
          <p:cNvSpPr txBox="1"/>
          <p:nvPr/>
        </p:nvSpPr>
        <p:spPr>
          <a:xfrm>
            <a:off x="1002554" y="219379"/>
            <a:ext cx="3074204" cy="646331"/>
          </a:xfrm>
          <a:prstGeom prst="rect">
            <a:avLst/>
          </a:prstGeom>
          <a:noFill/>
        </p:spPr>
        <p:txBody>
          <a:bodyPr wrap="square" rtlCol="0">
            <a:spAutoFit/>
          </a:bodyPr>
          <a:lstStyle/>
          <a:p>
            <a:r>
              <a:rPr lang="zh-CN" altLang="en-US" sz="3600" b="1" dirty="0">
                <a:solidFill>
                  <a:schemeClr val="bg1"/>
                </a:solidFill>
                <a:latin typeface="张海山草泥马体" panose="02000000000000000000" pitchFamily="2" charset="-122"/>
                <a:ea typeface="张海山草泥马体" panose="02000000000000000000" pitchFamily="2" charset="-122"/>
              </a:rPr>
              <a:t>人才培养</a:t>
            </a:r>
          </a:p>
        </p:txBody>
      </p:sp>
      <p:sp>
        <p:nvSpPr>
          <p:cNvPr id="30" name="等腰三角形 29"/>
          <p:cNvSpPr/>
          <p:nvPr/>
        </p:nvSpPr>
        <p:spPr>
          <a:xfrm>
            <a:off x="148784" y="219379"/>
            <a:ext cx="511985" cy="441367"/>
          </a:xfrm>
          <a:prstGeom prst="triangl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a:off x="318812" y="321860"/>
            <a:ext cx="511985" cy="441367"/>
          </a:xfrm>
          <a:prstGeom prst="triangl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p:nvPr/>
        </p:nvCxnSpPr>
        <p:spPr>
          <a:xfrm>
            <a:off x="1092200" y="1045343"/>
            <a:ext cx="153710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1002554" y="1438877"/>
            <a:ext cx="7885053" cy="400110"/>
          </a:xfrm>
          <a:prstGeom prst="rect">
            <a:avLst/>
          </a:prstGeom>
        </p:spPr>
        <p:txBody>
          <a:bodyPr wrap="square">
            <a:spAutoFit/>
          </a:bodyPr>
          <a:lstStyle/>
          <a:p>
            <a:r>
              <a:rPr lang="zh-CN" altLang="en-US" sz="2000" b="1" dirty="0">
                <a:solidFill>
                  <a:schemeClr val="bg1"/>
                </a:solidFill>
                <a:latin typeface="张海山锐线体简" panose="02000000000000000000" pitchFamily="2" charset="-122"/>
                <a:ea typeface="张海山锐线体简" panose="02000000000000000000" pitchFamily="2" charset="-122"/>
              </a:rPr>
              <a:t>社会服务</a:t>
            </a:r>
          </a:p>
        </p:txBody>
      </p:sp>
      <p:sp>
        <p:nvSpPr>
          <p:cNvPr id="54" name="等腰三角形 53"/>
          <p:cNvSpPr/>
          <p:nvPr/>
        </p:nvSpPr>
        <p:spPr>
          <a:xfrm flipV="1">
            <a:off x="10785946" y="-361951"/>
            <a:ext cx="1424196" cy="1706010"/>
          </a:xfrm>
          <a:prstGeom prst="triangle">
            <a:avLst>
              <a:gd name="adj" fmla="val 10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5"/>
          <p:cNvSpPr/>
          <p:nvPr/>
        </p:nvSpPr>
        <p:spPr>
          <a:xfrm>
            <a:off x="0" y="3041748"/>
            <a:ext cx="12107880" cy="3816253"/>
          </a:xfrm>
          <a:custGeom>
            <a:avLst/>
            <a:gdLst>
              <a:gd name="connsiteX0" fmla="*/ 9881686 w 12107880"/>
              <a:gd name="connsiteY0" fmla="*/ 0 h 3816253"/>
              <a:gd name="connsiteX1" fmla="*/ 12107880 w 12107880"/>
              <a:gd name="connsiteY1" fmla="*/ 3790951 h 3816253"/>
              <a:gd name="connsiteX2" fmla="*/ 8767192 w 12107880"/>
              <a:gd name="connsiteY2" fmla="*/ 3790951 h 3816253"/>
              <a:gd name="connsiteX3" fmla="*/ 8782050 w 12107880"/>
              <a:gd name="connsiteY3" fmla="*/ 3816253 h 3816253"/>
              <a:gd name="connsiteX4" fmla="*/ 5886450 w 12107880"/>
              <a:gd name="connsiteY4" fmla="*/ 3816253 h 3816253"/>
              <a:gd name="connsiteX5" fmla="*/ 4610100 w 12107880"/>
              <a:gd name="connsiteY5" fmla="*/ 3816253 h 3816253"/>
              <a:gd name="connsiteX6" fmla="*/ 2895600 w 12107880"/>
              <a:gd name="connsiteY6" fmla="*/ 3816253 h 3816253"/>
              <a:gd name="connsiteX7" fmla="*/ 2049480 w 12107880"/>
              <a:gd name="connsiteY7" fmla="*/ 3816253 h 3816253"/>
              <a:gd name="connsiteX8" fmla="*/ 0 w 12107880"/>
              <a:gd name="connsiteY8" fmla="*/ 3816253 h 3816253"/>
              <a:gd name="connsiteX9" fmla="*/ 1350479 w 12107880"/>
              <a:gd name="connsiteY9" fmla="*/ 1206403 h 3816253"/>
              <a:gd name="connsiteX10" fmla="*/ 2560593 w 12107880"/>
              <a:gd name="connsiteY10" fmla="*/ 3250395 h 3816253"/>
              <a:gd name="connsiteX11" fmla="*/ 3839004 w 12107880"/>
              <a:gd name="connsiteY11" fmla="*/ 1835052 h 3816253"/>
              <a:gd name="connsiteX12" fmla="*/ 5033649 w 12107880"/>
              <a:gd name="connsiteY12" fmla="*/ 2991045 h 3816253"/>
              <a:gd name="connsiteX13" fmla="*/ 6555856 w 12107880"/>
              <a:gd name="connsiteY13" fmla="*/ 25302 h 3816253"/>
              <a:gd name="connsiteX14" fmla="*/ 8323623 w 12107880"/>
              <a:gd name="connsiteY14" fmla="*/ 3035604 h 3816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07880" h="3816253">
                <a:moveTo>
                  <a:pt x="9881686" y="0"/>
                </a:moveTo>
                <a:lnTo>
                  <a:pt x="12107880" y="3790951"/>
                </a:lnTo>
                <a:lnTo>
                  <a:pt x="8767192" y="3790951"/>
                </a:lnTo>
                <a:lnTo>
                  <a:pt x="8782050" y="3816253"/>
                </a:lnTo>
                <a:lnTo>
                  <a:pt x="5886450" y="3816253"/>
                </a:lnTo>
                <a:lnTo>
                  <a:pt x="4610100" y="3816253"/>
                </a:lnTo>
                <a:lnTo>
                  <a:pt x="2895600" y="3816253"/>
                </a:lnTo>
                <a:lnTo>
                  <a:pt x="2049480" y="3816253"/>
                </a:lnTo>
                <a:lnTo>
                  <a:pt x="0" y="3816253"/>
                </a:lnTo>
                <a:lnTo>
                  <a:pt x="1350479" y="1206403"/>
                </a:lnTo>
                <a:lnTo>
                  <a:pt x="2560593" y="3250395"/>
                </a:lnTo>
                <a:lnTo>
                  <a:pt x="3839004" y="1835052"/>
                </a:lnTo>
                <a:lnTo>
                  <a:pt x="5033649" y="2991045"/>
                </a:lnTo>
                <a:lnTo>
                  <a:pt x="6555856" y="25302"/>
                </a:lnTo>
                <a:lnTo>
                  <a:pt x="8323623" y="3035604"/>
                </a:lnTo>
                <a:close/>
              </a:path>
            </a:pathLst>
          </a:custGeom>
          <a:solidFill>
            <a:schemeClr val="bg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1276350" y="4217098"/>
            <a:ext cx="161925" cy="161925"/>
          </a:xfrm>
          <a:prstGeom prst="ellipse">
            <a:avLst/>
          </a:prstGeom>
          <a:solidFill>
            <a:srgbClr val="9421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3761841" y="4787949"/>
            <a:ext cx="161925" cy="161925"/>
          </a:xfrm>
          <a:prstGeom prst="ellipse">
            <a:avLst/>
          </a:prstGeom>
          <a:solidFill>
            <a:srgbClr val="9421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6481455" y="2984193"/>
            <a:ext cx="161925" cy="161925"/>
          </a:xfrm>
          <a:prstGeom prst="ellipse">
            <a:avLst/>
          </a:prstGeom>
          <a:solidFill>
            <a:srgbClr val="9421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9813844" y="2940716"/>
            <a:ext cx="161925" cy="161925"/>
          </a:xfrm>
          <a:prstGeom prst="ellipse">
            <a:avLst/>
          </a:prstGeom>
          <a:solidFill>
            <a:srgbClr val="9421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208721" y="3091002"/>
            <a:ext cx="2090203" cy="954107"/>
          </a:xfrm>
          <a:prstGeom prst="rect">
            <a:avLst/>
          </a:prstGeom>
        </p:spPr>
        <p:txBody>
          <a:bodyPr wrap="square">
            <a:spAutoFit/>
          </a:bodyPr>
          <a:lstStyle/>
          <a:p>
            <a:pPr algn="ctr"/>
            <a:r>
              <a:rPr lang="en-US" altLang="zh-CN" sz="2000" b="1" kern="0" dirty="0">
                <a:solidFill>
                  <a:srgbClr val="94212F"/>
                </a:solidFill>
                <a:latin typeface="张海山锐线体简" panose="02000000000000000000" pitchFamily="2" charset="-122"/>
                <a:ea typeface="张海山锐线体简" panose="02000000000000000000" pitchFamily="2" charset="-122"/>
                <a:cs typeface="宋体" panose="02010600030101010101" pitchFamily="2" charset="-122"/>
              </a:rPr>
              <a:t>1/3</a:t>
            </a:r>
            <a:r>
              <a:rPr lang="zh-CN" altLang="zh-CN" b="1" kern="0" dirty="0">
                <a:solidFill>
                  <a:schemeClr val="bg1"/>
                </a:solidFill>
                <a:latin typeface="张海山锐线体简" panose="02000000000000000000" pitchFamily="2" charset="-122"/>
                <a:ea typeface="张海山锐线体简" panose="02000000000000000000" pitchFamily="2" charset="-122"/>
                <a:cs typeface="宋体" panose="02010600030101010101" pitchFamily="2" charset="-122"/>
              </a:rPr>
              <a:t>以上的毕业生直接服务轨道交通事业</a:t>
            </a:r>
            <a:endParaRPr lang="zh-CN" altLang="en-US" b="1" dirty="0">
              <a:solidFill>
                <a:schemeClr val="bg1"/>
              </a:solidFill>
              <a:latin typeface="张海山锐线体简" panose="02000000000000000000" pitchFamily="2" charset="-122"/>
              <a:ea typeface="张海山锐线体简" panose="02000000000000000000" pitchFamily="2" charset="-122"/>
            </a:endParaRPr>
          </a:p>
        </p:txBody>
      </p:sp>
      <p:sp>
        <p:nvSpPr>
          <p:cNvPr id="23" name="矩形 22"/>
          <p:cNvSpPr/>
          <p:nvPr/>
        </p:nvSpPr>
        <p:spPr>
          <a:xfrm>
            <a:off x="2878664" y="2486292"/>
            <a:ext cx="2090203" cy="1631216"/>
          </a:xfrm>
          <a:prstGeom prst="rect">
            <a:avLst/>
          </a:prstGeom>
        </p:spPr>
        <p:txBody>
          <a:bodyPr wrap="square">
            <a:spAutoFit/>
          </a:bodyPr>
          <a:lstStyle/>
          <a:p>
            <a:pPr algn="ctr"/>
            <a:r>
              <a:rPr lang="en-US" altLang="zh-CN" sz="2000" b="1" kern="0" dirty="0">
                <a:solidFill>
                  <a:schemeClr val="bg1"/>
                </a:solidFill>
                <a:latin typeface="张海山锐线体简" panose="02000000000000000000" pitchFamily="2" charset="-122"/>
                <a:ea typeface="张海山锐线体简" panose="02000000000000000000" pitchFamily="2" charset="-122"/>
                <a:cs typeface="宋体" panose="02010600030101010101" pitchFamily="2" charset="-122"/>
              </a:rPr>
              <a:t>2011</a:t>
            </a:r>
            <a:r>
              <a:rPr lang="zh-CN" altLang="en-US" sz="2000" b="1" kern="0" dirty="0">
                <a:solidFill>
                  <a:schemeClr val="bg1"/>
                </a:solidFill>
                <a:latin typeface="张海山锐线体简" panose="02000000000000000000" pitchFamily="2" charset="-122"/>
                <a:ea typeface="张海山锐线体简" panose="02000000000000000000" pitchFamily="2" charset="-122"/>
                <a:cs typeface="宋体" panose="02010600030101010101" pitchFamily="2" charset="-122"/>
              </a:rPr>
              <a:t>年以来全国新增轨道交通领域院士共</a:t>
            </a:r>
            <a:r>
              <a:rPr lang="en-US" altLang="zh-CN" sz="2000" b="1" kern="0" dirty="0">
                <a:solidFill>
                  <a:schemeClr val="bg1"/>
                </a:solidFill>
                <a:latin typeface="张海山锐线体简" panose="02000000000000000000" pitchFamily="2" charset="-122"/>
                <a:ea typeface="张海山锐线体简" panose="02000000000000000000" pitchFamily="2" charset="-122"/>
                <a:cs typeface="宋体" panose="02010600030101010101" pitchFamily="2" charset="-122"/>
              </a:rPr>
              <a:t>6</a:t>
            </a:r>
            <a:r>
              <a:rPr lang="zh-CN" altLang="en-US" sz="2000" b="1" kern="0" dirty="0">
                <a:solidFill>
                  <a:schemeClr val="bg1"/>
                </a:solidFill>
                <a:latin typeface="张海山锐线体简" panose="02000000000000000000" pitchFamily="2" charset="-122"/>
                <a:ea typeface="张海山锐线体简" panose="02000000000000000000" pitchFamily="2" charset="-122"/>
                <a:cs typeface="宋体" panose="02010600030101010101" pitchFamily="2" charset="-122"/>
              </a:rPr>
              <a:t>人，其中</a:t>
            </a:r>
            <a:r>
              <a:rPr lang="en-US" altLang="zh-CN" sz="2000" b="1" kern="0" dirty="0">
                <a:solidFill>
                  <a:srgbClr val="94212F"/>
                </a:solidFill>
                <a:latin typeface="张海山锐线体简" panose="02000000000000000000" pitchFamily="2" charset="-122"/>
                <a:ea typeface="张海山锐线体简" panose="02000000000000000000" pitchFamily="2" charset="-122"/>
                <a:cs typeface="宋体" panose="02010600030101010101" pitchFamily="2" charset="-122"/>
              </a:rPr>
              <a:t>5</a:t>
            </a:r>
            <a:r>
              <a:rPr lang="zh-CN" altLang="en-US" sz="2000" b="1" kern="0" dirty="0">
                <a:solidFill>
                  <a:schemeClr val="bg1"/>
                </a:solidFill>
                <a:latin typeface="张海山锐线体简" panose="02000000000000000000" pitchFamily="2" charset="-122"/>
                <a:ea typeface="张海山锐线体简" panose="02000000000000000000" pitchFamily="2" charset="-122"/>
                <a:cs typeface="宋体" panose="02010600030101010101" pitchFamily="2" charset="-122"/>
              </a:rPr>
              <a:t>人来自我校培养</a:t>
            </a:r>
            <a:endParaRPr lang="zh-CN" altLang="en-US" b="1" dirty="0">
              <a:solidFill>
                <a:schemeClr val="bg1"/>
              </a:solidFill>
              <a:latin typeface="张海山锐线体简" panose="02000000000000000000" pitchFamily="2" charset="-122"/>
              <a:ea typeface="张海山锐线体简" panose="02000000000000000000" pitchFamily="2" charset="-122"/>
            </a:endParaRPr>
          </a:p>
        </p:txBody>
      </p:sp>
      <p:sp>
        <p:nvSpPr>
          <p:cNvPr id="8" name="矩形 7"/>
          <p:cNvSpPr/>
          <p:nvPr/>
        </p:nvSpPr>
        <p:spPr>
          <a:xfrm>
            <a:off x="5354520" y="1964181"/>
            <a:ext cx="2787994" cy="954107"/>
          </a:xfrm>
          <a:prstGeom prst="rect">
            <a:avLst/>
          </a:prstGeom>
        </p:spPr>
        <p:txBody>
          <a:bodyPr wrap="square">
            <a:spAutoFit/>
          </a:bodyPr>
          <a:lstStyle/>
          <a:p>
            <a:pPr algn="ctr"/>
            <a:r>
              <a:rPr lang="zh-CN" altLang="zh-CN" b="1" kern="0" dirty="0">
                <a:solidFill>
                  <a:schemeClr val="bg1"/>
                </a:solidFill>
                <a:latin typeface="张海山锐线体简" panose="02000000000000000000" pitchFamily="2" charset="-122"/>
                <a:ea typeface="张海山锐线体简" panose="02000000000000000000" pitchFamily="2" charset="-122"/>
                <a:cs typeface="宋体" panose="02010600030101010101" pitchFamily="2" charset="-122"/>
              </a:rPr>
              <a:t>现任中国勘察工程设计大师轨道交通领域</a:t>
            </a:r>
            <a:r>
              <a:rPr lang="en-US" altLang="zh-CN" sz="2000" b="1" kern="0" dirty="0">
                <a:solidFill>
                  <a:srgbClr val="94212F"/>
                </a:solidFill>
                <a:latin typeface="张海山锐线体简" panose="02000000000000000000" pitchFamily="2" charset="-122"/>
                <a:ea typeface="张海山锐线体简" panose="02000000000000000000" pitchFamily="2" charset="-122"/>
                <a:cs typeface="宋体" panose="02010600030101010101" pitchFamily="2" charset="-122"/>
              </a:rPr>
              <a:t>21</a:t>
            </a:r>
            <a:r>
              <a:rPr lang="zh-CN" altLang="zh-CN" b="1" kern="0" dirty="0">
                <a:solidFill>
                  <a:schemeClr val="bg1"/>
                </a:solidFill>
                <a:latin typeface="张海山锐线体简" panose="02000000000000000000" pitchFamily="2" charset="-122"/>
                <a:ea typeface="张海山锐线体简" panose="02000000000000000000" pitchFamily="2" charset="-122"/>
                <a:cs typeface="宋体" panose="02010600030101010101" pitchFamily="2" charset="-122"/>
              </a:rPr>
              <a:t>人全部毕业于我校</a:t>
            </a:r>
            <a:endParaRPr lang="zh-CN" altLang="en-US" b="1" dirty="0">
              <a:solidFill>
                <a:schemeClr val="bg1"/>
              </a:solidFill>
              <a:latin typeface="张海山锐线体简" panose="02000000000000000000" pitchFamily="2" charset="-122"/>
              <a:ea typeface="张海山锐线体简" panose="02000000000000000000" pitchFamily="2" charset="-122"/>
            </a:endParaRPr>
          </a:p>
        </p:txBody>
      </p:sp>
      <p:sp>
        <p:nvSpPr>
          <p:cNvPr id="9" name="矩形 8"/>
          <p:cNvSpPr/>
          <p:nvPr/>
        </p:nvSpPr>
        <p:spPr>
          <a:xfrm>
            <a:off x="8378606" y="1360880"/>
            <a:ext cx="3119438" cy="1231106"/>
          </a:xfrm>
          <a:prstGeom prst="rect">
            <a:avLst/>
          </a:prstGeom>
        </p:spPr>
        <p:txBody>
          <a:bodyPr wrap="square">
            <a:spAutoFit/>
          </a:bodyPr>
          <a:lstStyle/>
          <a:p>
            <a:pPr algn="ctr"/>
            <a:r>
              <a:rPr lang="zh-CN" altLang="zh-CN" b="1" kern="0" dirty="0">
                <a:solidFill>
                  <a:schemeClr val="bg1"/>
                </a:solidFill>
                <a:latin typeface="张海山锐线体简" panose="02000000000000000000" pitchFamily="2" charset="-122"/>
                <a:ea typeface="张海山锐线体简" panose="02000000000000000000" pitchFamily="2" charset="-122"/>
                <a:cs typeface="宋体" panose="02010600030101010101" pitchFamily="2" charset="-122"/>
              </a:rPr>
              <a:t>世界高拔最高、技术难度最大的青藏铁路建设工程中，交大校友占了技术人员的</a:t>
            </a:r>
            <a:r>
              <a:rPr lang="en-US" altLang="zh-CN" sz="2000" b="1" kern="0" dirty="0">
                <a:solidFill>
                  <a:srgbClr val="94212F"/>
                </a:solidFill>
                <a:latin typeface="张海山锐线体简" panose="02000000000000000000" pitchFamily="2" charset="-122"/>
                <a:ea typeface="张海山锐线体简" panose="02000000000000000000" pitchFamily="2" charset="-122"/>
                <a:cs typeface="宋体" panose="02010600030101010101" pitchFamily="2" charset="-122"/>
              </a:rPr>
              <a:t>70%</a:t>
            </a:r>
            <a:endParaRPr lang="zh-CN" altLang="en-US" b="1" dirty="0">
              <a:solidFill>
                <a:srgbClr val="94212F"/>
              </a:solidFill>
              <a:latin typeface="张海山锐线体简" panose="02000000000000000000" pitchFamily="2" charset="-122"/>
              <a:ea typeface="张海山锐线体简" panose="02000000000000000000" pitchFamily="2" charset="-122"/>
            </a:endParaRP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3465513"/>
          </a:xfrm>
          <a:prstGeom prst="rect">
            <a:avLst/>
          </a:prstGeom>
          <a:solidFill>
            <a:srgbClr val="F3D7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2953657" y="3487994"/>
            <a:ext cx="6299200" cy="1446550"/>
          </a:xfrm>
          <a:prstGeom prst="rect">
            <a:avLst/>
          </a:prstGeom>
          <a:noFill/>
        </p:spPr>
        <p:txBody>
          <a:bodyPr wrap="square" rtlCol="0">
            <a:spAutoFit/>
          </a:bodyPr>
          <a:lstStyle/>
          <a:p>
            <a:pPr algn="ctr"/>
            <a:r>
              <a:rPr lang="zh-CN" altLang="en-US" sz="8800" dirty="0">
                <a:solidFill>
                  <a:schemeClr val="bg1"/>
                </a:solidFill>
                <a:latin typeface="张海山草泥马体" panose="02000000000000000000" pitchFamily="2" charset="-122"/>
                <a:ea typeface="张海山草泥马体" panose="02000000000000000000" pitchFamily="2" charset="-122"/>
              </a:rPr>
              <a:t>科研情况</a:t>
            </a:r>
          </a:p>
        </p:txBody>
      </p:sp>
      <p:sp>
        <p:nvSpPr>
          <p:cNvPr id="4" name="椭圆 3"/>
          <p:cNvSpPr/>
          <p:nvPr/>
        </p:nvSpPr>
        <p:spPr>
          <a:xfrm>
            <a:off x="5319464" y="1537879"/>
            <a:ext cx="1629697" cy="162969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3036373" y="-3881828"/>
            <a:ext cx="15169121" cy="2058967"/>
          </a:xfrm>
          <a:prstGeom prst="rect">
            <a:avLst/>
          </a:prstGeom>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200167" y="505162"/>
            <a:ext cx="3791667" cy="1015663"/>
          </a:xfrm>
          <a:prstGeom prst="rect">
            <a:avLst/>
          </a:prstGeom>
          <a:noFill/>
        </p:spPr>
        <p:txBody>
          <a:bodyPr wrap="square" rtlCol="0">
            <a:spAutoFit/>
          </a:bodyPr>
          <a:lstStyle/>
          <a:p>
            <a:pPr algn="ctr"/>
            <a:r>
              <a:rPr lang="zh-CN" altLang="en-US" sz="6000" dirty="0">
                <a:solidFill>
                  <a:schemeClr val="bg1"/>
                </a:solidFill>
                <a:latin typeface="张海山草泥马体" panose="02000000000000000000" pitchFamily="2" charset="-122"/>
                <a:ea typeface="张海山草泥马体" panose="02000000000000000000" pitchFamily="2" charset="-122"/>
              </a:rPr>
              <a:t>科研基地</a:t>
            </a:r>
          </a:p>
        </p:txBody>
      </p:sp>
      <p:sp>
        <p:nvSpPr>
          <p:cNvPr id="3" name="文本框 2"/>
          <p:cNvSpPr txBox="1"/>
          <p:nvPr/>
        </p:nvSpPr>
        <p:spPr>
          <a:xfrm>
            <a:off x="3469482" y="2500305"/>
            <a:ext cx="5253037" cy="829945"/>
          </a:xfrm>
          <a:prstGeom prst="rect">
            <a:avLst/>
          </a:prstGeom>
          <a:noFill/>
        </p:spPr>
        <p:txBody>
          <a:bodyPr wrap="square" rtlCol="0">
            <a:spAutoFit/>
          </a:bodyPr>
          <a:lstStyle/>
          <a:p>
            <a:pPr algn="ctr"/>
            <a:r>
              <a:rPr lang="en-US" altLang="zh-CN" sz="4800" dirty="0">
                <a:solidFill>
                  <a:schemeClr val="bg1"/>
                </a:solidFill>
                <a:latin typeface="张海山草泥马体" panose="02000000000000000000" pitchFamily="2" charset="-122"/>
                <a:ea typeface="张海山草泥马体" panose="02000000000000000000" pitchFamily="2" charset="-122"/>
              </a:rPr>
              <a:t>13</a:t>
            </a:r>
            <a:r>
              <a:rPr lang="zh-CN" altLang="en-US" sz="4800" dirty="0">
                <a:solidFill>
                  <a:schemeClr val="bg1"/>
                </a:solidFill>
                <a:latin typeface="张海山草泥马体" panose="02000000000000000000" pitchFamily="2" charset="-122"/>
                <a:ea typeface="张海山草泥马体" panose="02000000000000000000" pitchFamily="2" charset="-122"/>
              </a:rPr>
              <a:t>个国家级基地</a:t>
            </a:r>
          </a:p>
        </p:txBody>
      </p:sp>
      <p:sp>
        <p:nvSpPr>
          <p:cNvPr id="4" name="plus-positive-add-mathematical-symbol_43869"/>
          <p:cNvSpPr>
            <a:spLocks noChangeAspect="1"/>
          </p:cNvSpPr>
          <p:nvPr/>
        </p:nvSpPr>
        <p:spPr bwMode="auto">
          <a:xfrm>
            <a:off x="5791158" y="3453194"/>
            <a:ext cx="609685" cy="608821"/>
          </a:xfrm>
          <a:custGeom>
            <a:avLst/>
            <a:gdLst>
              <a:gd name="T0" fmla="*/ 1173 w 1247"/>
              <a:gd name="T1" fmla="*/ 549 h 1247"/>
              <a:gd name="T2" fmla="*/ 688 w 1247"/>
              <a:gd name="T3" fmla="*/ 550 h 1247"/>
              <a:gd name="T4" fmla="*/ 688 w 1247"/>
              <a:gd name="T5" fmla="*/ 75 h 1247"/>
              <a:gd name="T6" fmla="*/ 613 w 1247"/>
              <a:gd name="T7" fmla="*/ 0 h 1247"/>
              <a:gd name="T8" fmla="*/ 538 w 1247"/>
              <a:gd name="T9" fmla="*/ 75 h 1247"/>
              <a:gd name="T10" fmla="*/ 539 w 1247"/>
              <a:gd name="T11" fmla="*/ 549 h 1247"/>
              <a:gd name="T12" fmla="*/ 75 w 1247"/>
              <a:gd name="T13" fmla="*/ 549 h 1247"/>
              <a:gd name="T14" fmla="*/ 0 w 1247"/>
              <a:gd name="T15" fmla="*/ 624 h 1247"/>
              <a:gd name="T16" fmla="*/ 75 w 1247"/>
              <a:gd name="T17" fmla="*/ 699 h 1247"/>
              <a:gd name="T18" fmla="*/ 539 w 1247"/>
              <a:gd name="T19" fmla="*/ 699 h 1247"/>
              <a:gd name="T20" fmla="*/ 539 w 1247"/>
              <a:gd name="T21" fmla="*/ 1173 h 1247"/>
              <a:gd name="T22" fmla="*/ 613 w 1247"/>
              <a:gd name="T23" fmla="*/ 1247 h 1247"/>
              <a:gd name="T24" fmla="*/ 688 w 1247"/>
              <a:gd name="T25" fmla="*/ 1173 h 1247"/>
              <a:gd name="T26" fmla="*/ 688 w 1247"/>
              <a:gd name="T27" fmla="*/ 699 h 1247"/>
              <a:gd name="T28" fmla="*/ 1173 w 1247"/>
              <a:gd name="T29" fmla="*/ 699 h 1247"/>
              <a:gd name="T30" fmla="*/ 1247 w 1247"/>
              <a:gd name="T31" fmla="*/ 624 h 1247"/>
              <a:gd name="T32" fmla="*/ 1173 w 1247"/>
              <a:gd name="T33" fmla="*/ 549 h 1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47" h="1247">
                <a:moveTo>
                  <a:pt x="1173" y="549"/>
                </a:moveTo>
                <a:lnTo>
                  <a:pt x="688" y="550"/>
                </a:lnTo>
                <a:lnTo>
                  <a:pt x="688" y="75"/>
                </a:lnTo>
                <a:cubicBezTo>
                  <a:pt x="688" y="33"/>
                  <a:pt x="654" y="0"/>
                  <a:pt x="613" y="0"/>
                </a:cubicBezTo>
                <a:cubicBezTo>
                  <a:pt x="571" y="0"/>
                  <a:pt x="538" y="33"/>
                  <a:pt x="538" y="75"/>
                </a:cubicBezTo>
                <a:lnTo>
                  <a:pt x="539" y="549"/>
                </a:lnTo>
                <a:lnTo>
                  <a:pt x="75" y="549"/>
                </a:lnTo>
                <a:cubicBezTo>
                  <a:pt x="33" y="549"/>
                  <a:pt x="0" y="582"/>
                  <a:pt x="0" y="624"/>
                </a:cubicBezTo>
                <a:cubicBezTo>
                  <a:pt x="0" y="665"/>
                  <a:pt x="33" y="699"/>
                  <a:pt x="75" y="699"/>
                </a:cubicBezTo>
                <a:lnTo>
                  <a:pt x="539" y="699"/>
                </a:lnTo>
                <a:lnTo>
                  <a:pt x="539" y="1173"/>
                </a:lnTo>
                <a:cubicBezTo>
                  <a:pt x="539" y="1214"/>
                  <a:pt x="572" y="1247"/>
                  <a:pt x="613" y="1247"/>
                </a:cubicBezTo>
                <a:cubicBezTo>
                  <a:pt x="655" y="1247"/>
                  <a:pt x="688" y="1214"/>
                  <a:pt x="688" y="1173"/>
                </a:cubicBezTo>
                <a:lnTo>
                  <a:pt x="688" y="699"/>
                </a:lnTo>
                <a:lnTo>
                  <a:pt x="1173" y="699"/>
                </a:lnTo>
                <a:cubicBezTo>
                  <a:pt x="1214" y="699"/>
                  <a:pt x="1247" y="665"/>
                  <a:pt x="1247" y="624"/>
                </a:cubicBezTo>
                <a:cubicBezTo>
                  <a:pt x="1247" y="582"/>
                  <a:pt x="1214" y="549"/>
                  <a:pt x="1173" y="549"/>
                </a:cubicBezTo>
                <a:close/>
              </a:path>
            </a:pathLst>
          </a:custGeom>
          <a:solidFill>
            <a:schemeClr val="bg1"/>
          </a:solidFill>
          <a:ln>
            <a:noFill/>
          </a:ln>
        </p:spPr>
      </p:sp>
      <p:sp>
        <p:nvSpPr>
          <p:cNvPr id="5" name="文本框 4"/>
          <p:cNvSpPr txBox="1"/>
          <p:nvPr/>
        </p:nvSpPr>
        <p:spPr>
          <a:xfrm>
            <a:off x="3376613" y="4448167"/>
            <a:ext cx="5438775" cy="829945"/>
          </a:xfrm>
          <a:prstGeom prst="rect">
            <a:avLst/>
          </a:prstGeom>
          <a:noFill/>
        </p:spPr>
        <p:txBody>
          <a:bodyPr wrap="square" rtlCol="0">
            <a:spAutoFit/>
          </a:bodyPr>
          <a:lstStyle/>
          <a:p>
            <a:pPr algn="ctr"/>
            <a:r>
              <a:rPr lang="en-US" altLang="zh-CN" sz="4800" dirty="0">
                <a:solidFill>
                  <a:schemeClr val="bg1"/>
                </a:solidFill>
                <a:latin typeface="张海山草泥马体" panose="02000000000000000000" pitchFamily="2" charset="-122"/>
                <a:ea typeface="张海山草泥马体" panose="02000000000000000000" pitchFamily="2" charset="-122"/>
              </a:rPr>
              <a:t>36</a:t>
            </a:r>
            <a:r>
              <a:rPr lang="zh-CN" altLang="en-US" sz="4800" dirty="0">
                <a:solidFill>
                  <a:schemeClr val="bg1"/>
                </a:solidFill>
                <a:latin typeface="张海山草泥马体" panose="02000000000000000000" pitchFamily="2" charset="-122"/>
                <a:ea typeface="张海山草泥马体" panose="02000000000000000000" pitchFamily="2" charset="-122"/>
              </a:rPr>
              <a:t>个省部级基地</a:t>
            </a: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lativeShape2"/>
          <p:cNvSpPr/>
          <p:nvPr/>
        </p:nvSpPr>
        <p:spPr bwMode="auto">
          <a:xfrm rot="16200000">
            <a:off x="2452026" y="2642715"/>
            <a:ext cx="6479583" cy="539163"/>
          </a:xfrm>
          <a:prstGeom prst="rect">
            <a:avLst/>
          </a:prstGeom>
          <a:no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p>
        </p:txBody>
      </p:sp>
      <p:pic>
        <p:nvPicPr>
          <p:cNvPr id="62" name="图片 6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446357" y="-1260945"/>
            <a:ext cx="6877050" cy="933450"/>
          </a:xfrm>
          <a:prstGeom prst="rect">
            <a:avLst/>
          </a:prstGeom>
        </p:spPr>
      </p:pic>
      <p:sp>
        <p:nvSpPr>
          <p:cNvPr id="19" name="文本框 18"/>
          <p:cNvSpPr txBox="1"/>
          <p:nvPr/>
        </p:nvSpPr>
        <p:spPr>
          <a:xfrm>
            <a:off x="3804285" y="532765"/>
            <a:ext cx="5018405" cy="1014730"/>
          </a:xfrm>
          <a:prstGeom prst="rect">
            <a:avLst/>
          </a:prstGeom>
          <a:noFill/>
        </p:spPr>
        <p:txBody>
          <a:bodyPr wrap="square" rtlCol="0">
            <a:spAutoFit/>
          </a:bodyPr>
          <a:lstStyle/>
          <a:p>
            <a:pPr algn="ctr"/>
            <a:r>
              <a:rPr lang="zh-CN" altLang="en-US" sz="6000" dirty="0">
                <a:solidFill>
                  <a:schemeClr val="bg1"/>
                </a:solidFill>
                <a:latin typeface="张海山草泥马体" panose="02000000000000000000" pitchFamily="2" charset="-122"/>
                <a:ea typeface="张海山草泥马体" panose="02000000000000000000" pitchFamily="2" charset="-122"/>
              </a:rPr>
              <a:t>科研成果（）（（）</a:t>
            </a:r>
          </a:p>
        </p:txBody>
      </p:sp>
      <p:grpSp>
        <p:nvGrpSpPr>
          <p:cNvPr id="102" name="组合 101"/>
          <p:cNvGrpSpPr/>
          <p:nvPr/>
        </p:nvGrpSpPr>
        <p:grpSpPr>
          <a:xfrm>
            <a:off x="8701084" y="1245574"/>
            <a:ext cx="2604439" cy="2604439"/>
            <a:chOff x="4711278" y="1613874"/>
            <a:chExt cx="2604439" cy="2604439"/>
          </a:xfrm>
          <a:solidFill>
            <a:schemeClr val="accent4"/>
          </a:solidFill>
        </p:grpSpPr>
        <p:sp>
          <p:nvSpPr>
            <p:cNvPr id="103" name="椭圆 102"/>
            <p:cNvSpPr/>
            <p:nvPr/>
          </p:nvSpPr>
          <p:spPr>
            <a:xfrm>
              <a:off x="4711278" y="1613874"/>
              <a:ext cx="2604439" cy="2604439"/>
            </a:xfrm>
            <a:prstGeom prst="ellipse">
              <a:avLst/>
            </a:prstGeom>
            <a:solidFill>
              <a:srgbClr val="92D050"/>
            </a:solidFill>
            <a:ln w="38100">
              <a:noFill/>
            </a:ln>
            <a:effectLst>
              <a:outerShdw blurRad="292100" dist="1143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6600">
                <a:latin typeface="Impact" panose="020B0806030902050204" pitchFamily="34" charset="0"/>
              </a:endParaRPr>
            </a:p>
          </p:txBody>
        </p:sp>
        <p:grpSp>
          <p:nvGrpSpPr>
            <p:cNvPr id="104" name="组合 39"/>
            <p:cNvGrpSpPr/>
            <p:nvPr/>
          </p:nvGrpSpPr>
          <p:grpSpPr>
            <a:xfrm>
              <a:off x="5666969" y="2074430"/>
              <a:ext cx="693057" cy="662481"/>
              <a:chOff x="6472919" y="2572827"/>
              <a:chExt cx="548947" cy="524729"/>
            </a:xfrm>
            <a:grpFill/>
          </p:grpSpPr>
          <p:sp>
            <p:nvSpPr>
              <p:cNvPr id="106" name="Freeform 255"/>
              <p:cNvSpPr>
                <a:spLocks noEditPoints="1"/>
              </p:cNvSpPr>
              <p:nvPr/>
            </p:nvSpPr>
            <p:spPr bwMode="auto">
              <a:xfrm>
                <a:off x="6472919" y="2572827"/>
                <a:ext cx="548947" cy="524729"/>
              </a:xfrm>
              <a:custGeom>
                <a:avLst/>
                <a:gdLst>
                  <a:gd name="T0" fmla="*/ 224 w 260"/>
                  <a:gd name="T1" fmla="*/ 0 h 248"/>
                  <a:gd name="T2" fmla="*/ 36 w 260"/>
                  <a:gd name="T3" fmla="*/ 0 h 248"/>
                  <a:gd name="T4" fmla="*/ 0 w 260"/>
                  <a:gd name="T5" fmla="*/ 36 h 248"/>
                  <a:gd name="T6" fmla="*/ 0 w 260"/>
                  <a:gd name="T7" fmla="*/ 166 h 248"/>
                  <a:gd name="T8" fmla="*/ 29 w 260"/>
                  <a:gd name="T9" fmla="*/ 203 h 248"/>
                  <a:gd name="T10" fmla="*/ 68 w 260"/>
                  <a:gd name="T11" fmla="*/ 203 h 248"/>
                  <a:gd name="T12" fmla="*/ 84 w 260"/>
                  <a:gd name="T13" fmla="*/ 210 h 248"/>
                  <a:gd name="T14" fmla="*/ 110 w 260"/>
                  <a:gd name="T15" fmla="*/ 239 h 248"/>
                  <a:gd name="T16" fmla="*/ 130 w 260"/>
                  <a:gd name="T17" fmla="*/ 248 h 248"/>
                  <a:gd name="T18" fmla="*/ 150 w 260"/>
                  <a:gd name="T19" fmla="*/ 239 h 248"/>
                  <a:gd name="T20" fmla="*/ 176 w 260"/>
                  <a:gd name="T21" fmla="*/ 210 h 248"/>
                  <a:gd name="T22" fmla="*/ 188 w 260"/>
                  <a:gd name="T23" fmla="*/ 203 h 248"/>
                  <a:gd name="T24" fmla="*/ 228 w 260"/>
                  <a:gd name="T25" fmla="*/ 203 h 248"/>
                  <a:gd name="T26" fmla="*/ 260 w 260"/>
                  <a:gd name="T27" fmla="*/ 166 h 248"/>
                  <a:gd name="T28" fmla="*/ 260 w 260"/>
                  <a:gd name="T29" fmla="*/ 36 h 248"/>
                  <a:gd name="T30" fmla="*/ 224 w 260"/>
                  <a:gd name="T31" fmla="*/ 0 h 248"/>
                  <a:gd name="T32" fmla="*/ 239 w 260"/>
                  <a:gd name="T33" fmla="*/ 166 h 248"/>
                  <a:gd name="T34" fmla="*/ 228 w 260"/>
                  <a:gd name="T35" fmla="*/ 181 h 248"/>
                  <a:gd name="T36" fmla="*/ 188 w 260"/>
                  <a:gd name="T37" fmla="*/ 181 h 248"/>
                  <a:gd name="T38" fmla="*/ 158 w 260"/>
                  <a:gd name="T39" fmla="*/ 197 h 248"/>
                  <a:gd name="T40" fmla="*/ 134 w 260"/>
                  <a:gd name="T41" fmla="*/ 224 h 248"/>
                  <a:gd name="T42" fmla="*/ 130 w 260"/>
                  <a:gd name="T43" fmla="*/ 226 h 248"/>
                  <a:gd name="T44" fmla="*/ 126 w 260"/>
                  <a:gd name="T45" fmla="*/ 224 h 248"/>
                  <a:gd name="T46" fmla="*/ 102 w 260"/>
                  <a:gd name="T47" fmla="*/ 197 h 248"/>
                  <a:gd name="T48" fmla="*/ 68 w 260"/>
                  <a:gd name="T49" fmla="*/ 181 h 248"/>
                  <a:gd name="T50" fmla="*/ 29 w 260"/>
                  <a:gd name="T51" fmla="*/ 181 h 248"/>
                  <a:gd name="T52" fmla="*/ 21 w 260"/>
                  <a:gd name="T53" fmla="*/ 166 h 248"/>
                  <a:gd name="T54" fmla="*/ 21 w 260"/>
                  <a:gd name="T55" fmla="*/ 36 h 248"/>
                  <a:gd name="T56" fmla="*/ 36 w 260"/>
                  <a:gd name="T57" fmla="*/ 22 h 248"/>
                  <a:gd name="T58" fmla="*/ 224 w 260"/>
                  <a:gd name="T59" fmla="*/ 22 h 248"/>
                  <a:gd name="T60" fmla="*/ 239 w 260"/>
                  <a:gd name="T61" fmla="*/ 36 h 248"/>
                  <a:gd name="T62" fmla="*/ 239 w 260"/>
                  <a:gd name="T63" fmla="*/ 16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0" h="248">
                    <a:moveTo>
                      <a:pt x="224" y="0"/>
                    </a:moveTo>
                    <a:cubicBezTo>
                      <a:pt x="36" y="0"/>
                      <a:pt x="36" y="0"/>
                      <a:pt x="36" y="0"/>
                    </a:cubicBezTo>
                    <a:cubicBezTo>
                      <a:pt x="16" y="0"/>
                      <a:pt x="0" y="16"/>
                      <a:pt x="0" y="36"/>
                    </a:cubicBezTo>
                    <a:cubicBezTo>
                      <a:pt x="0" y="166"/>
                      <a:pt x="0" y="166"/>
                      <a:pt x="0" y="166"/>
                    </a:cubicBezTo>
                    <a:cubicBezTo>
                      <a:pt x="0" y="186"/>
                      <a:pt x="13" y="203"/>
                      <a:pt x="29" y="203"/>
                    </a:cubicBezTo>
                    <a:cubicBezTo>
                      <a:pt x="45" y="203"/>
                      <a:pt x="62" y="203"/>
                      <a:pt x="68" y="203"/>
                    </a:cubicBezTo>
                    <a:cubicBezTo>
                      <a:pt x="74" y="203"/>
                      <a:pt x="82" y="206"/>
                      <a:pt x="84" y="210"/>
                    </a:cubicBezTo>
                    <a:cubicBezTo>
                      <a:pt x="87" y="214"/>
                      <a:pt x="99" y="227"/>
                      <a:pt x="110" y="239"/>
                    </a:cubicBezTo>
                    <a:cubicBezTo>
                      <a:pt x="115" y="245"/>
                      <a:pt x="123" y="248"/>
                      <a:pt x="130" y="248"/>
                    </a:cubicBezTo>
                    <a:cubicBezTo>
                      <a:pt x="137" y="248"/>
                      <a:pt x="145" y="245"/>
                      <a:pt x="150" y="239"/>
                    </a:cubicBezTo>
                    <a:cubicBezTo>
                      <a:pt x="161" y="227"/>
                      <a:pt x="173" y="214"/>
                      <a:pt x="176" y="210"/>
                    </a:cubicBezTo>
                    <a:cubicBezTo>
                      <a:pt x="178" y="206"/>
                      <a:pt x="184" y="203"/>
                      <a:pt x="188" y="203"/>
                    </a:cubicBezTo>
                    <a:cubicBezTo>
                      <a:pt x="192" y="203"/>
                      <a:pt x="210" y="203"/>
                      <a:pt x="228" y="203"/>
                    </a:cubicBezTo>
                    <a:cubicBezTo>
                      <a:pt x="246" y="203"/>
                      <a:pt x="260" y="186"/>
                      <a:pt x="260" y="166"/>
                    </a:cubicBezTo>
                    <a:cubicBezTo>
                      <a:pt x="260" y="36"/>
                      <a:pt x="260" y="36"/>
                      <a:pt x="260" y="36"/>
                    </a:cubicBezTo>
                    <a:cubicBezTo>
                      <a:pt x="260" y="16"/>
                      <a:pt x="244" y="0"/>
                      <a:pt x="224" y="0"/>
                    </a:cubicBezTo>
                    <a:close/>
                    <a:moveTo>
                      <a:pt x="239" y="166"/>
                    </a:moveTo>
                    <a:cubicBezTo>
                      <a:pt x="239" y="174"/>
                      <a:pt x="233" y="181"/>
                      <a:pt x="228" y="181"/>
                    </a:cubicBezTo>
                    <a:cubicBezTo>
                      <a:pt x="188" y="181"/>
                      <a:pt x="188" y="181"/>
                      <a:pt x="188" y="181"/>
                    </a:cubicBezTo>
                    <a:cubicBezTo>
                      <a:pt x="177" y="181"/>
                      <a:pt x="165" y="188"/>
                      <a:pt x="158" y="197"/>
                    </a:cubicBezTo>
                    <a:cubicBezTo>
                      <a:pt x="156" y="200"/>
                      <a:pt x="146" y="212"/>
                      <a:pt x="134" y="224"/>
                    </a:cubicBezTo>
                    <a:cubicBezTo>
                      <a:pt x="133" y="226"/>
                      <a:pt x="131" y="226"/>
                      <a:pt x="130" y="226"/>
                    </a:cubicBezTo>
                    <a:cubicBezTo>
                      <a:pt x="129" y="226"/>
                      <a:pt x="127" y="226"/>
                      <a:pt x="126" y="224"/>
                    </a:cubicBezTo>
                    <a:cubicBezTo>
                      <a:pt x="114" y="212"/>
                      <a:pt x="104" y="200"/>
                      <a:pt x="102" y="197"/>
                    </a:cubicBezTo>
                    <a:cubicBezTo>
                      <a:pt x="95" y="188"/>
                      <a:pt x="81" y="181"/>
                      <a:pt x="68" y="181"/>
                    </a:cubicBezTo>
                    <a:cubicBezTo>
                      <a:pt x="29" y="181"/>
                      <a:pt x="29" y="181"/>
                      <a:pt x="29" y="181"/>
                    </a:cubicBezTo>
                    <a:cubicBezTo>
                      <a:pt x="26" y="181"/>
                      <a:pt x="21" y="175"/>
                      <a:pt x="21" y="166"/>
                    </a:cubicBezTo>
                    <a:cubicBezTo>
                      <a:pt x="21" y="36"/>
                      <a:pt x="21" y="36"/>
                      <a:pt x="21" y="36"/>
                    </a:cubicBezTo>
                    <a:cubicBezTo>
                      <a:pt x="21" y="28"/>
                      <a:pt x="28" y="22"/>
                      <a:pt x="36" y="22"/>
                    </a:cubicBezTo>
                    <a:cubicBezTo>
                      <a:pt x="224" y="22"/>
                      <a:pt x="224" y="22"/>
                      <a:pt x="224" y="22"/>
                    </a:cubicBezTo>
                    <a:cubicBezTo>
                      <a:pt x="232" y="22"/>
                      <a:pt x="239" y="28"/>
                      <a:pt x="239" y="36"/>
                    </a:cubicBezTo>
                    <a:lnTo>
                      <a:pt x="239" y="166"/>
                    </a:lnTo>
                    <a:close/>
                  </a:path>
                </a:pathLst>
              </a:custGeom>
              <a:solidFill>
                <a:schemeClr val="bg1"/>
              </a:solidFill>
              <a:ln>
                <a:noFill/>
              </a:ln>
            </p:spPr>
            <p:txBody>
              <a:bodyPr vert="horz" wrap="square" lIns="91440" tIns="45720" rIns="91440" bIns="45720" numCol="1" anchor="t" anchorCtr="0" compatLnSpc="1"/>
              <a:lstStyle/>
              <a:p>
                <a:endParaRPr lang="en-US"/>
              </a:p>
            </p:txBody>
          </p:sp>
          <p:sp>
            <p:nvSpPr>
              <p:cNvPr id="107" name="Rectangle 256"/>
              <p:cNvSpPr>
                <a:spLocks noChangeArrowheads="1"/>
              </p:cNvSpPr>
              <p:nvPr/>
            </p:nvSpPr>
            <p:spPr bwMode="auto">
              <a:xfrm>
                <a:off x="6624956" y="2742353"/>
                <a:ext cx="244874" cy="29600"/>
              </a:xfrm>
              <a:prstGeom prst="rect">
                <a:avLst/>
              </a:prstGeom>
              <a:solidFill>
                <a:schemeClr val="bg1"/>
              </a:solidFill>
              <a:ln>
                <a:noFill/>
              </a:ln>
            </p:spPr>
            <p:txBody>
              <a:bodyPr vert="horz" wrap="square" lIns="91440" tIns="45720" rIns="91440" bIns="45720" numCol="1" anchor="t" anchorCtr="0" compatLnSpc="1"/>
              <a:lstStyle/>
              <a:p>
                <a:endParaRPr lang="en-US"/>
              </a:p>
            </p:txBody>
          </p:sp>
          <p:sp>
            <p:nvSpPr>
              <p:cNvPr id="108" name="Rectangle 257"/>
              <p:cNvSpPr>
                <a:spLocks noChangeArrowheads="1"/>
              </p:cNvSpPr>
              <p:nvPr/>
            </p:nvSpPr>
            <p:spPr bwMode="auto">
              <a:xfrm>
                <a:off x="6624956" y="2817699"/>
                <a:ext cx="244874" cy="29600"/>
              </a:xfrm>
              <a:prstGeom prst="rect">
                <a:avLst/>
              </a:prstGeom>
              <a:solidFill>
                <a:schemeClr val="bg1"/>
              </a:solidFill>
              <a:ln>
                <a:noFill/>
              </a:ln>
            </p:spPr>
            <p:txBody>
              <a:bodyPr vert="horz" wrap="square" lIns="91440" tIns="45720" rIns="91440" bIns="45720" numCol="1" anchor="t" anchorCtr="0" compatLnSpc="1"/>
              <a:lstStyle/>
              <a:p>
                <a:endParaRPr lang="en-US"/>
              </a:p>
            </p:txBody>
          </p:sp>
        </p:grpSp>
        <p:sp>
          <p:nvSpPr>
            <p:cNvPr id="105" name="矩形 104"/>
            <p:cNvSpPr/>
            <p:nvPr/>
          </p:nvSpPr>
          <p:spPr>
            <a:xfrm>
              <a:off x="4864448" y="2882832"/>
              <a:ext cx="2302315" cy="968375"/>
            </a:xfrm>
            <a:prstGeom prst="rect">
              <a:avLst/>
            </a:prstGeom>
            <a:noFill/>
            <a:extLst>
              <a:ext uri="{909E8E84-426E-40DD-AFC4-6F175D3DCCD1}">
                <a14:hiddenFill xmlns:a14="http://schemas.microsoft.com/office/drawing/2010/main" xmlns="">
                  <a:grpFill/>
                </a14:hiddenFill>
              </a:ext>
            </a:extLst>
          </p:spPr>
          <p:txBody>
            <a:bodyPr wrap="square">
              <a:spAutoFit/>
            </a:bodyPr>
            <a:lstStyle/>
            <a:p>
              <a:pPr algn="ctr">
                <a:spcBef>
                  <a:spcPts val="600"/>
                </a:spcBef>
              </a:pPr>
              <a:r>
                <a:rPr lang="zh-CN" altLang="en-US" sz="2000" b="1" dirty="0">
                  <a:solidFill>
                    <a:schemeClr val="bg1"/>
                  </a:solidFill>
                  <a:latin typeface="微软雅黑" panose="020B0503020204020204" charset="-122"/>
                  <a:ea typeface="微软雅黑" panose="020B0503020204020204" charset="-122"/>
                </a:rPr>
                <a:t>四次</a:t>
              </a:r>
              <a:r>
                <a:rPr lang="zh-CN" altLang="en-US" sz="1000" b="1" dirty="0">
                  <a:solidFill>
                    <a:schemeClr val="bg1"/>
                  </a:solidFill>
                  <a:latin typeface="微软雅黑" panose="020B0503020204020204" charset="-122"/>
                  <a:ea typeface="微软雅黑" panose="020B0503020204020204" charset="-122"/>
                </a:rPr>
                <a:t>入选</a:t>
              </a:r>
              <a:endParaRPr lang="en-US" altLang="zh-CN" sz="1000" b="1" dirty="0">
                <a:solidFill>
                  <a:schemeClr val="bg1"/>
                </a:solidFill>
                <a:latin typeface="微软雅黑" panose="020B0503020204020204" charset="-122"/>
                <a:ea typeface="微软雅黑" panose="020B0503020204020204" charset="-122"/>
              </a:endParaRPr>
            </a:p>
            <a:p>
              <a:pPr algn="ctr">
                <a:spcBef>
                  <a:spcPts val="600"/>
                </a:spcBef>
              </a:pPr>
              <a:r>
                <a:rPr lang="zh-CN" altLang="en-US" sz="1600" b="1" dirty="0">
                  <a:solidFill>
                    <a:schemeClr val="bg1"/>
                  </a:solidFill>
                  <a:latin typeface="微软雅黑" panose="020B0503020204020204" charset="-122"/>
                  <a:ea typeface="微软雅黑" panose="020B0503020204020204" charset="-122"/>
                </a:rPr>
                <a:t>“中国高校十大科技进展”</a:t>
              </a:r>
              <a:endParaRPr lang="en-US" altLang="zh-CN" sz="1600" b="1" dirty="0">
                <a:solidFill>
                  <a:schemeClr val="bg1"/>
                </a:solidFill>
                <a:latin typeface="微软雅黑" panose="020B0503020204020204" charset="-122"/>
                <a:ea typeface="微软雅黑" panose="020B0503020204020204" charset="-122"/>
              </a:endParaRPr>
            </a:p>
          </p:txBody>
        </p:sp>
      </p:grpSp>
      <p:sp>
        <p:nvSpPr>
          <p:cNvPr id="4" name="文本框 7"/>
          <p:cNvSpPr txBox="1"/>
          <p:nvPr/>
        </p:nvSpPr>
        <p:spPr>
          <a:xfrm>
            <a:off x="1781810" y="1547495"/>
            <a:ext cx="4792980" cy="2584450"/>
          </a:xfrm>
          <a:prstGeom prst="rect">
            <a:avLst/>
          </a:prstGeom>
          <a:noFill/>
        </p:spPr>
        <p:txBody>
          <a:bodyPr wrap="square" rtlCol="0">
            <a:spAutoFit/>
          </a:bodyPr>
          <a:lstStyle/>
          <a:p>
            <a:endParaRPr lang="en-US" altLang="zh-CN" dirty="0">
              <a:solidFill>
                <a:schemeClr val="bg1"/>
              </a:solidFill>
              <a:latin typeface="微软雅黑" panose="020B0503020204020204" charset="-122"/>
              <a:ea typeface="微软雅黑" panose="020B0503020204020204" charset="-122"/>
            </a:endParaRPr>
          </a:p>
          <a:p>
            <a:r>
              <a:rPr lang="zh-CN" altLang="en-US" sz="2400" dirty="0">
                <a:solidFill>
                  <a:schemeClr val="bg1"/>
                </a:solidFill>
                <a:latin typeface="微软雅黑" panose="020B0503020204020204" charset="-122"/>
                <a:ea typeface="微软雅黑" panose="020B0503020204020204" charset="-122"/>
              </a:rPr>
              <a:t>学校围绕高速铁路、重载铁路、磁浮交通，新型城轨、真空管道超高速等领域大力开展基础研究与原始创新，构建了以世界公认的“沈氏理论”和“翟孙模型”为标志的铁路大系统动力学基础研究体系。</a:t>
            </a:r>
          </a:p>
        </p:txBody>
      </p:sp>
      <p:pic>
        <p:nvPicPr>
          <p:cNvPr id="22" name="图片 21"/>
          <p:cNvPicPr>
            <a:picLocks noChangeAspect="1"/>
          </p:cNvPicPr>
          <p:nvPr/>
        </p:nvPicPr>
        <p:blipFill>
          <a:blip r:embed="rId3"/>
          <a:stretch>
            <a:fillRect/>
          </a:stretch>
        </p:blipFill>
        <p:spPr>
          <a:xfrm>
            <a:off x="811530" y="1920240"/>
            <a:ext cx="635000" cy="393700"/>
          </a:xfrm>
          <a:prstGeom prst="rect">
            <a:avLst/>
          </a:prstGeom>
        </p:spPr>
      </p:pic>
      <p:sp>
        <p:nvSpPr>
          <p:cNvPr id="23" name="文本框 22"/>
          <p:cNvSpPr txBox="1"/>
          <p:nvPr/>
        </p:nvSpPr>
        <p:spPr>
          <a:xfrm>
            <a:off x="1781810" y="4315460"/>
            <a:ext cx="7508240" cy="1938020"/>
          </a:xfrm>
          <a:prstGeom prst="rect">
            <a:avLst/>
          </a:prstGeom>
          <a:noFill/>
        </p:spPr>
        <p:txBody>
          <a:bodyPr wrap="square" rtlCol="0">
            <a:spAutoFit/>
          </a:bodyPr>
          <a:lstStyle/>
          <a:p>
            <a:r>
              <a:rPr lang="zh-CN" altLang="en-US" sz="2400">
                <a:solidFill>
                  <a:schemeClr val="bg1"/>
                </a:solidFill>
                <a:latin typeface="微软雅黑" panose="020B0503020204020204" charset="-122"/>
                <a:ea typeface="微软雅黑" panose="020B0503020204020204" charset="-122"/>
              </a:rPr>
              <a:t>在轨道交通领域获得的国家科技奖励总数位居全国高校、科研院所和行业企业第一，为国家经济建设和社会发展，尤其是中国轨道交通事业发展做出了不可磨灭的贡献。此外，学校还在国防科技、智能制造、生物医药、大数据以及物理科学、人文社科等领域取得了许多重要成果。</a:t>
            </a:r>
          </a:p>
        </p:txBody>
      </p:sp>
      <p:pic>
        <p:nvPicPr>
          <p:cNvPr id="24" name="图片 23"/>
          <p:cNvPicPr>
            <a:picLocks noChangeAspect="1"/>
          </p:cNvPicPr>
          <p:nvPr/>
        </p:nvPicPr>
        <p:blipFill>
          <a:blip r:embed="rId3"/>
          <a:stretch>
            <a:fillRect/>
          </a:stretch>
        </p:blipFill>
        <p:spPr>
          <a:xfrm>
            <a:off x="811530" y="4315460"/>
            <a:ext cx="635000" cy="393700"/>
          </a:xfrm>
          <a:prstGeom prst="rect">
            <a:avLst/>
          </a:prstGeom>
        </p:spPr>
      </p:pic>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2257425"/>
            <a:ext cx="4057649" cy="1979929"/>
          </a:xfrm>
          <a:prstGeom prst="rect">
            <a:avLst/>
          </a:prstGeom>
          <a:blipFill>
            <a:blip r:embed="rId2"/>
            <a:stretch>
              <a:fillRect r="-831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061619" y="2257425"/>
            <a:ext cx="4057649" cy="1579880"/>
          </a:xfrm>
          <a:prstGeom prst="rect">
            <a:avLst/>
          </a:prstGeom>
          <a:blipFill dpi="0" rotWithShape="1">
            <a:blip r:embed="rId3"/>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123237" y="2257425"/>
            <a:ext cx="4057649" cy="1579880"/>
          </a:xfrm>
          <a:prstGeom prst="rect">
            <a:avLst/>
          </a:prstGeom>
          <a:blipFill dpi="0" rotWithShape="1">
            <a:blip r:embed="rId4"/>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1113" y="3837305"/>
            <a:ext cx="12191999" cy="4000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753090" y="3793061"/>
            <a:ext cx="2551470" cy="523220"/>
          </a:xfrm>
          <a:prstGeom prst="rect">
            <a:avLst/>
          </a:prstGeom>
          <a:noFill/>
        </p:spPr>
        <p:txBody>
          <a:bodyPr wrap="square" rtlCol="0">
            <a:spAutoFit/>
          </a:bodyPr>
          <a:lstStyle/>
          <a:p>
            <a:pPr algn="ctr"/>
            <a:r>
              <a:rPr lang="zh-CN" altLang="en-US" sz="2800" dirty="0">
                <a:solidFill>
                  <a:schemeClr val="bg1"/>
                </a:solidFill>
                <a:latin typeface="张海山草泥马体" panose="02000000000000000000" pitchFamily="2" charset="-122"/>
                <a:ea typeface="张海山草泥马体" panose="02000000000000000000" pitchFamily="2" charset="-122"/>
              </a:rPr>
              <a:t>科学理论体系</a:t>
            </a:r>
          </a:p>
        </p:txBody>
      </p:sp>
      <p:sp>
        <p:nvSpPr>
          <p:cNvPr id="15" name="文本框 14"/>
          <p:cNvSpPr txBox="1"/>
          <p:nvPr/>
        </p:nvSpPr>
        <p:spPr>
          <a:xfrm>
            <a:off x="4814708" y="3793061"/>
            <a:ext cx="2551470" cy="523220"/>
          </a:xfrm>
          <a:prstGeom prst="rect">
            <a:avLst/>
          </a:prstGeom>
          <a:noFill/>
        </p:spPr>
        <p:txBody>
          <a:bodyPr wrap="square" rtlCol="0">
            <a:spAutoFit/>
          </a:bodyPr>
          <a:lstStyle/>
          <a:p>
            <a:pPr algn="ctr"/>
            <a:r>
              <a:rPr lang="zh-CN" altLang="en-US" sz="2800" dirty="0">
                <a:solidFill>
                  <a:schemeClr val="bg1"/>
                </a:solidFill>
                <a:latin typeface="张海山草泥马体" panose="02000000000000000000" pitchFamily="2" charset="-122"/>
                <a:ea typeface="张海山草泥马体" panose="02000000000000000000" pitchFamily="2" charset="-122"/>
              </a:rPr>
              <a:t>装备产业创新</a:t>
            </a:r>
          </a:p>
        </p:txBody>
      </p:sp>
      <p:sp>
        <p:nvSpPr>
          <p:cNvPr id="17" name="文本框 16"/>
          <p:cNvSpPr txBox="1"/>
          <p:nvPr/>
        </p:nvSpPr>
        <p:spPr>
          <a:xfrm>
            <a:off x="8458672" y="3793061"/>
            <a:ext cx="3386778" cy="523220"/>
          </a:xfrm>
          <a:prstGeom prst="rect">
            <a:avLst/>
          </a:prstGeom>
          <a:noFill/>
        </p:spPr>
        <p:txBody>
          <a:bodyPr wrap="square" rtlCol="0">
            <a:spAutoFit/>
          </a:bodyPr>
          <a:lstStyle/>
          <a:p>
            <a:pPr algn="ctr"/>
            <a:r>
              <a:rPr lang="zh-CN" altLang="en-US" sz="2800" dirty="0">
                <a:solidFill>
                  <a:schemeClr val="bg1"/>
                </a:solidFill>
                <a:latin typeface="张海山草泥马体" panose="02000000000000000000" pitchFamily="2" charset="-122"/>
                <a:ea typeface="张海山草泥马体" panose="02000000000000000000" pitchFamily="2" charset="-122"/>
              </a:rPr>
              <a:t>建设与安全运营技术</a:t>
            </a:r>
          </a:p>
        </p:txBody>
      </p:sp>
      <p:cxnSp>
        <p:nvCxnSpPr>
          <p:cNvPr id="23" name="直接连接符 22"/>
          <p:cNvCxnSpPr/>
          <p:nvPr/>
        </p:nvCxnSpPr>
        <p:spPr>
          <a:xfrm>
            <a:off x="4057650" y="1902536"/>
            <a:ext cx="0" cy="3333135"/>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112125" y="1902536"/>
            <a:ext cx="0" cy="3333135"/>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4200167" y="505162"/>
            <a:ext cx="3791667" cy="1015663"/>
          </a:xfrm>
          <a:prstGeom prst="rect">
            <a:avLst/>
          </a:prstGeom>
          <a:noFill/>
        </p:spPr>
        <p:txBody>
          <a:bodyPr wrap="square" rtlCol="0">
            <a:spAutoFit/>
          </a:bodyPr>
          <a:lstStyle/>
          <a:p>
            <a:pPr algn="ctr"/>
            <a:r>
              <a:rPr lang="zh-CN" altLang="en-US" sz="6000" dirty="0">
                <a:solidFill>
                  <a:schemeClr val="bg1"/>
                </a:solidFill>
                <a:latin typeface="张海山草泥马体" panose="02000000000000000000" pitchFamily="2" charset="-122"/>
                <a:ea typeface="张海山草泥马体" panose="02000000000000000000" pitchFamily="2" charset="-122"/>
              </a:rPr>
              <a:t>科技创新</a:t>
            </a:r>
          </a:p>
        </p:txBody>
      </p:sp>
      <p:sp>
        <p:nvSpPr>
          <p:cNvPr id="26" name="文本框 25"/>
          <p:cNvSpPr txBox="1"/>
          <p:nvPr/>
        </p:nvSpPr>
        <p:spPr>
          <a:xfrm>
            <a:off x="344855" y="5146241"/>
            <a:ext cx="3599960" cy="646331"/>
          </a:xfrm>
          <a:prstGeom prst="rect">
            <a:avLst/>
          </a:prstGeom>
          <a:noFill/>
        </p:spPr>
        <p:txBody>
          <a:bodyPr wrap="square" rtlCol="0">
            <a:spAutoFit/>
          </a:bodyPr>
          <a:lstStyle/>
          <a:p>
            <a:pPr algn="just"/>
            <a:r>
              <a:rPr lang="en-US" altLang="zh-CN" dirty="0">
                <a:solidFill>
                  <a:schemeClr val="bg1"/>
                </a:solidFill>
                <a:latin typeface="张海山锐线体简" panose="02000000000000000000" pitchFamily="2" charset="-122"/>
                <a:ea typeface="张海山锐线体简" panose="02000000000000000000" pitchFamily="2" charset="-122"/>
              </a:rPr>
              <a:t>1</a:t>
            </a:r>
            <a:r>
              <a:rPr lang="zh-CN" altLang="en-US" dirty="0">
                <a:solidFill>
                  <a:schemeClr val="bg1"/>
                </a:solidFill>
                <a:latin typeface="张海山锐线体简" panose="02000000000000000000" pitchFamily="2" charset="-122"/>
                <a:ea typeface="张海山锐线体简" panose="02000000000000000000" pitchFamily="2" charset="-122"/>
              </a:rPr>
              <a:t>、高速列车耦合大系统动力学</a:t>
            </a:r>
            <a:endParaRPr lang="en-US" altLang="zh-CN" dirty="0">
              <a:solidFill>
                <a:schemeClr val="bg1"/>
              </a:solidFill>
              <a:latin typeface="张海山锐线体简" panose="02000000000000000000" pitchFamily="2" charset="-122"/>
              <a:ea typeface="张海山锐线体简" panose="02000000000000000000" pitchFamily="2" charset="-122"/>
            </a:endParaRPr>
          </a:p>
          <a:p>
            <a:pPr algn="just"/>
            <a:r>
              <a:rPr lang="en-US" altLang="zh-CN" dirty="0">
                <a:solidFill>
                  <a:schemeClr val="bg1"/>
                </a:solidFill>
                <a:latin typeface="张海山锐线体简" panose="02000000000000000000" pitchFamily="2" charset="-122"/>
                <a:ea typeface="张海山锐线体简" panose="02000000000000000000" pitchFamily="2" charset="-122"/>
              </a:rPr>
              <a:t>2</a:t>
            </a:r>
            <a:r>
              <a:rPr lang="zh-CN" altLang="en-US" dirty="0">
                <a:solidFill>
                  <a:schemeClr val="bg1"/>
                </a:solidFill>
                <a:latin typeface="张海山锐线体简" panose="02000000000000000000" pitchFamily="2" charset="-122"/>
                <a:ea typeface="张海山锐线体简" panose="02000000000000000000" pitchFamily="2" charset="-122"/>
              </a:rPr>
              <a:t>、重载列车动力学理论研究体系</a:t>
            </a:r>
          </a:p>
        </p:txBody>
      </p:sp>
      <p:sp>
        <p:nvSpPr>
          <p:cNvPr id="27" name="文本框 26"/>
          <p:cNvSpPr txBox="1"/>
          <p:nvPr/>
        </p:nvSpPr>
        <p:spPr>
          <a:xfrm>
            <a:off x="4286495" y="4592243"/>
            <a:ext cx="3599960" cy="1754326"/>
          </a:xfrm>
          <a:prstGeom prst="rect">
            <a:avLst/>
          </a:prstGeom>
          <a:noFill/>
        </p:spPr>
        <p:txBody>
          <a:bodyPr wrap="square" rtlCol="0">
            <a:spAutoFit/>
          </a:bodyPr>
          <a:lstStyle/>
          <a:p>
            <a:pPr algn="just"/>
            <a:r>
              <a:rPr lang="en-US" altLang="zh-CN" dirty="0">
                <a:solidFill>
                  <a:schemeClr val="bg1"/>
                </a:solidFill>
                <a:latin typeface="张海山锐线体简" panose="02000000000000000000" pitchFamily="2" charset="-122"/>
                <a:ea typeface="张海山锐线体简" panose="02000000000000000000" pitchFamily="2" charset="-122"/>
              </a:rPr>
              <a:t>1</a:t>
            </a:r>
            <a:r>
              <a:rPr lang="zh-CN" altLang="en-US" dirty="0">
                <a:solidFill>
                  <a:schemeClr val="bg1"/>
                </a:solidFill>
                <a:latin typeface="张海山锐线体简" panose="02000000000000000000" pitchFamily="2" charset="-122"/>
                <a:ea typeface="张海山锐线体简" panose="02000000000000000000" pitchFamily="2" charset="-122"/>
              </a:rPr>
              <a:t>、推动中国高铁自主创新</a:t>
            </a:r>
            <a:endParaRPr lang="en-US" altLang="zh-CN" dirty="0">
              <a:solidFill>
                <a:schemeClr val="bg1"/>
              </a:solidFill>
              <a:latin typeface="张海山锐线体简" panose="02000000000000000000" pitchFamily="2" charset="-122"/>
              <a:ea typeface="张海山锐线体简" panose="02000000000000000000" pitchFamily="2" charset="-122"/>
            </a:endParaRPr>
          </a:p>
          <a:p>
            <a:pPr algn="just"/>
            <a:r>
              <a:rPr lang="en-US" altLang="zh-CN" dirty="0">
                <a:solidFill>
                  <a:schemeClr val="bg1"/>
                </a:solidFill>
                <a:latin typeface="张海山锐线体简" panose="02000000000000000000" pitchFamily="2" charset="-122"/>
                <a:ea typeface="张海山锐线体简" panose="02000000000000000000" pitchFamily="2" charset="-122"/>
              </a:rPr>
              <a:t>2</a:t>
            </a:r>
            <a:r>
              <a:rPr lang="zh-CN" altLang="en-US" dirty="0">
                <a:solidFill>
                  <a:schemeClr val="bg1"/>
                </a:solidFill>
                <a:latin typeface="张海山锐线体简" panose="02000000000000000000" pitchFamily="2" charset="-122"/>
                <a:ea typeface="张海山锐线体简" panose="02000000000000000000" pitchFamily="2" charset="-122"/>
              </a:rPr>
              <a:t>、成功研制我国首辆氢燃料电池新能源机车</a:t>
            </a:r>
            <a:endParaRPr lang="en-US" altLang="zh-CN" dirty="0">
              <a:solidFill>
                <a:schemeClr val="bg1"/>
              </a:solidFill>
              <a:latin typeface="张海山锐线体简" panose="02000000000000000000" pitchFamily="2" charset="-122"/>
              <a:ea typeface="张海山锐线体简" panose="02000000000000000000" pitchFamily="2" charset="-122"/>
            </a:endParaRPr>
          </a:p>
          <a:p>
            <a:pPr algn="just"/>
            <a:r>
              <a:rPr lang="en-US" altLang="zh-CN" dirty="0">
                <a:solidFill>
                  <a:schemeClr val="bg1"/>
                </a:solidFill>
                <a:latin typeface="张海山锐线体简" panose="02000000000000000000" pitchFamily="2" charset="-122"/>
                <a:ea typeface="张海山锐线体简" panose="02000000000000000000" pitchFamily="2" charset="-122"/>
              </a:rPr>
              <a:t>3</a:t>
            </a:r>
            <a:r>
              <a:rPr lang="zh-CN" altLang="en-US" dirty="0">
                <a:solidFill>
                  <a:schemeClr val="bg1"/>
                </a:solidFill>
                <a:latin typeface="张海山锐线体简" panose="02000000000000000000" pitchFamily="2" charset="-122"/>
                <a:ea typeface="张海山锐线体简" panose="02000000000000000000" pitchFamily="2" charset="-122"/>
              </a:rPr>
              <a:t>、与南车集团合作研发中国首台新型中低速磁悬浮列车</a:t>
            </a:r>
            <a:endParaRPr lang="en-US" altLang="zh-CN" dirty="0">
              <a:solidFill>
                <a:schemeClr val="bg1"/>
              </a:solidFill>
              <a:latin typeface="张海山锐线体简" panose="02000000000000000000" pitchFamily="2" charset="-122"/>
              <a:ea typeface="张海山锐线体简" panose="02000000000000000000" pitchFamily="2" charset="-122"/>
            </a:endParaRPr>
          </a:p>
          <a:p>
            <a:pPr algn="just"/>
            <a:r>
              <a:rPr lang="en-US" altLang="zh-CN" dirty="0">
                <a:solidFill>
                  <a:schemeClr val="bg1"/>
                </a:solidFill>
                <a:latin typeface="张海山锐线体简" panose="02000000000000000000" pitchFamily="2" charset="-122"/>
                <a:ea typeface="张海山锐线体简" panose="02000000000000000000" pitchFamily="2" charset="-122"/>
              </a:rPr>
              <a:t>4</a:t>
            </a:r>
            <a:r>
              <a:rPr lang="zh-CN" altLang="en-US" dirty="0">
                <a:solidFill>
                  <a:schemeClr val="bg1"/>
                </a:solidFill>
                <a:latin typeface="张海山锐线体简" panose="02000000000000000000" pitchFamily="2" charset="-122"/>
                <a:ea typeface="张海山锐线体简" panose="02000000000000000000" pitchFamily="2" charset="-122"/>
              </a:rPr>
              <a:t>、</a:t>
            </a:r>
            <a:r>
              <a:rPr lang="en-US" altLang="zh-CN" dirty="0">
                <a:solidFill>
                  <a:schemeClr val="bg1"/>
                </a:solidFill>
                <a:latin typeface="张海山锐线体简" panose="02000000000000000000" pitchFamily="2" charset="-122"/>
                <a:ea typeface="张海山锐线体简" panose="02000000000000000000" pitchFamily="2" charset="-122"/>
              </a:rPr>
              <a:t>……</a:t>
            </a:r>
            <a:endParaRPr lang="zh-CN" altLang="en-US" dirty="0">
              <a:solidFill>
                <a:schemeClr val="bg1"/>
              </a:solidFill>
              <a:latin typeface="张海山锐线体简" panose="02000000000000000000" pitchFamily="2" charset="-122"/>
              <a:ea typeface="张海山锐线体简" panose="02000000000000000000" pitchFamily="2" charset="-122"/>
            </a:endParaRPr>
          </a:p>
        </p:txBody>
      </p:sp>
      <p:sp>
        <p:nvSpPr>
          <p:cNvPr id="28" name="文本框 27"/>
          <p:cNvSpPr txBox="1"/>
          <p:nvPr/>
        </p:nvSpPr>
        <p:spPr>
          <a:xfrm>
            <a:off x="8352081" y="4730742"/>
            <a:ext cx="3599960" cy="1477328"/>
          </a:xfrm>
          <a:prstGeom prst="rect">
            <a:avLst/>
          </a:prstGeom>
          <a:noFill/>
        </p:spPr>
        <p:txBody>
          <a:bodyPr wrap="square" rtlCol="0">
            <a:spAutoFit/>
          </a:bodyPr>
          <a:lstStyle/>
          <a:p>
            <a:pPr algn="just"/>
            <a:r>
              <a:rPr lang="en-US" altLang="zh-CN" dirty="0">
                <a:solidFill>
                  <a:schemeClr val="bg1"/>
                </a:solidFill>
                <a:latin typeface="张海山锐线体简" panose="02000000000000000000" pitchFamily="2" charset="-122"/>
                <a:ea typeface="张海山锐线体简" panose="02000000000000000000" pitchFamily="2" charset="-122"/>
              </a:rPr>
              <a:t>1</a:t>
            </a:r>
            <a:r>
              <a:rPr lang="zh-CN" altLang="en-US" dirty="0">
                <a:solidFill>
                  <a:schemeClr val="bg1"/>
                </a:solidFill>
                <a:latin typeface="张海山锐线体简" panose="02000000000000000000" pitchFamily="2" charset="-122"/>
                <a:ea typeface="张海山锐线体简" panose="02000000000000000000" pitchFamily="2" charset="-122"/>
              </a:rPr>
              <a:t>、解决了桥梁设计、建设与运营管理中的技术难题，成果应用于几乎所有高铁大跨度桥梁的建设</a:t>
            </a:r>
            <a:endParaRPr lang="en-US" altLang="zh-CN" dirty="0">
              <a:solidFill>
                <a:schemeClr val="bg1"/>
              </a:solidFill>
              <a:latin typeface="张海山锐线体简" panose="02000000000000000000" pitchFamily="2" charset="-122"/>
              <a:ea typeface="张海山锐线体简" panose="02000000000000000000" pitchFamily="2" charset="-122"/>
            </a:endParaRPr>
          </a:p>
          <a:p>
            <a:pPr algn="just"/>
            <a:r>
              <a:rPr lang="en-US" altLang="zh-CN" dirty="0">
                <a:solidFill>
                  <a:schemeClr val="bg1"/>
                </a:solidFill>
                <a:latin typeface="张海山锐线体简" panose="02000000000000000000" pitchFamily="2" charset="-122"/>
                <a:ea typeface="张海山锐线体简" panose="02000000000000000000" pitchFamily="2" charset="-122"/>
              </a:rPr>
              <a:t>2</a:t>
            </a:r>
            <a:r>
              <a:rPr lang="zh-CN" altLang="en-US" dirty="0">
                <a:solidFill>
                  <a:schemeClr val="bg1"/>
                </a:solidFill>
                <a:latin typeface="张海山锐线体简" panose="02000000000000000000" pitchFamily="2" charset="-122"/>
                <a:ea typeface="张海山锐线体简" panose="02000000000000000000" pitchFamily="2" charset="-122"/>
              </a:rPr>
              <a:t>、变革了我国铁路列车运行图编制模式</a:t>
            </a:r>
            <a:endParaRPr lang="en-US" altLang="zh-CN" dirty="0">
              <a:solidFill>
                <a:schemeClr val="bg1"/>
              </a:solidFill>
              <a:latin typeface="张海山锐线体简" panose="02000000000000000000" pitchFamily="2" charset="-122"/>
              <a:ea typeface="张海山锐线体简" panose="02000000000000000000" pitchFamily="2" charset="-122"/>
            </a:endParaRP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3465513"/>
          </a:xfrm>
          <a:prstGeom prst="rect">
            <a:avLst/>
          </a:prstGeom>
          <a:solidFill>
            <a:srgbClr val="4A9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2953657" y="3487994"/>
            <a:ext cx="6299200" cy="1446550"/>
          </a:xfrm>
          <a:prstGeom prst="rect">
            <a:avLst/>
          </a:prstGeom>
          <a:noFill/>
        </p:spPr>
        <p:txBody>
          <a:bodyPr wrap="square" rtlCol="0">
            <a:spAutoFit/>
          </a:bodyPr>
          <a:lstStyle/>
          <a:p>
            <a:pPr algn="ctr"/>
            <a:r>
              <a:rPr lang="zh-CN" altLang="en-US" sz="8800" dirty="0">
                <a:solidFill>
                  <a:schemeClr val="bg1"/>
                </a:solidFill>
                <a:latin typeface="张海山草泥马体" panose="02000000000000000000" pitchFamily="2" charset="-122"/>
                <a:ea typeface="张海山草泥马体" panose="02000000000000000000" pitchFamily="2" charset="-122"/>
              </a:rPr>
              <a:t>交大生活</a:t>
            </a:r>
          </a:p>
        </p:txBody>
      </p:sp>
      <p:sp>
        <p:nvSpPr>
          <p:cNvPr id="4" name="椭圆 3"/>
          <p:cNvSpPr/>
          <p:nvPr/>
        </p:nvSpPr>
        <p:spPr>
          <a:xfrm>
            <a:off x="5319464" y="1537879"/>
            <a:ext cx="1629697" cy="162969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3036373" y="-3881828"/>
            <a:ext cx="15169121" cy="2058967"/>
          </a:xfrm>
          <a:prstGeom prst="rect">
            <a:avLst/>
          </a:prstGeom>
        </p:spPr>
      </p:pic>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584200" y="1948716"/>
            <a:ext cx="13855700" cy="3290100"/>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rot="4149794">
            <a:off x="6109797" y="248869"/>
            <a:ext cx="885056" cy="604118"/>
          </a:xfrm>
          <a:prstGeom prst="triangle">
            <a:avLst/>
          </a:prstGeom>
          <a:solidFill>
            <a:srgbClr val="F3D74E"/>
          </a:solidFill>
          <a:ln>
            <a:noFill/>
          </a:ln>
          <a:effectLst/>
          <a:scene3d>
            <a:camera prst="perspectiveContrasting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rot="19722655">
            <a:off x="10897288" y="909097"/>
            <a:ext cx="885056" cy="604118"/>
          </a:xfrm>
          <a:prstGeom prst="triangle">
            <a:avLst/>
          </a:prstGeom>
          <a:solidFill>
            <a:srgbClr val="F3D7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620751" y="193218"/>
            <a:ext cx="5265018" cy="1631216"/>
          </a:xfrm>
          <a:prstGeom prst="rect">
            <a:avLst/>
          </a:prstGeom>
          <a:noFill/>
        </p:spPr>
        <p:txBody>
          <a:bodyPr wrap="square" rtlCol="0">
            <a:spAutoFit/>
          </a:bodyPr>
          <a:lstStyle/>
          <a:p>
            <a:r>
              <a:rPr lang="zh-CN" altLang="en-US" sz="10000" dirty="0">
                <a:solidFill>
                  <a:schemeClr val="bg1"/>
                </a:solidFill>
                <a:latin typeface="张海山草泥马体" panose="02000000000000000000" pitchFamily="2" charset="-122"/>
                <a:ea typeface="张海山草泥马体" panose="02000000000000000000" pitchFamily="2" charset="-122"/>
              </a:rPr>
              <a:t>吃</a:t>
            </a:r>
            <a:r>
              <a:rPr lang="en-US" altLang="zh-CN" sz="10000" dirty="0">
                <a:solidFill>
                  <a:schemeClr val="bg1"/>
                </a:solidFill>
                <a:latin typeface="张海山草泥马体" panose="02000000000000000000" pitchFamily="2" charset="-122"/>
                <a:ea typeface="张海山草泥马体" panose="02000000000000000000" pitchFamily="2" charset="-122"/>
              </a:rPr>
              <a:t>in</a:t>
            </a:r>
            <a:r>
              <a:rPr lang="zh-CN" altLang="en-US" sz="10000" dirty="0">
                <a:solidFill>
                  <a:schemeClr val="bg1"/>
                </a:solidFill>
                <a:latin typeface="张海山草泥马体" panose="02000000000000000000" pitchFamily="2" charset="-122"/>
                <a:ea typeface="张海山草泥马体" panose="02000000000000000000" pitchFamily="2" charset="-122"/>
              </a:rPr>
              <a:t>交大</a:t>
            </a:r>
          </a:p>
        </p:txBody>
      </p:sp>
      <p:pic>
        <p:nvPicPr>
          <p:cNvPr id="22" name="图片 21"/>
          <p:cNvPicPr>
            <a:picLocks noChangeAspect="1"/>
          </p:cNvPicPr>
          <p:nvPr/>
        </p:nvPicPr>
        <p:blipFill rotWithShape="1">
          <a:blip r:embed="rId2"/>
          <a:srcRect l="22171" t="303" r="4765" b="-303"/>
          <a:stretch>
            <a:fillRect/>
          </a:stretch>
        </p:blipFill>
        <p:spPr>
          <a:xfrm>
            <a:off x="780137" y="2689987"/>
            <a:ext cx="3219646" cy="1811051"/>
          </a:xfrm>
          <a:prstGeom prst="rect">
            <a:avLst/>
          </a:prstGeom>
        </p:spPr>
      </p:pic>
      <p:pic>
        <p:nvPicPr>
          <p:cNvPr id="23" name="图片 22"/>
          <p:cNvPicPr>
            <a:picLocks noChangeAspect="1"/>
          </p:cNvPicPr>
          <p:nvPr/>
        </p:nvPicPr>
        <p:blipFill rotWithShape="1">
          <a:blip r:embed="rId3"/>
          <a:srcRect l="26033" t="859" r="3099" b="-859"/>
          <a:stretch>
            <a:fillRect/>
          </a:stretch>
        </p:blipFill>
        <p:spPr>
          <a:xfrm>
            <a:off x="4388399" y="2493517"/>
            <a:ext cx="3918203" cy="2203990"/>
          </a:xfrm>
          <a:prstGeom prst="rect">
            <a:avLst/>
          </a:prstGeom>
          <a:ln w="28575">
            <a:solidFill>
              <a:schemeClr val="bg1"/>
            </a:solidFill>
          </a:ln>
        </p:spPr>
      </p:pic>
      <p:pic>
        <p:nvPicPr>
          <p:cNvPr id="24" name="图片 23"/>
          <p:cNvPicPr>
            <a:picLocks noChangeAspect="1"/>
          </p:cNvPicPr>
          <p:nvPr/>
        </p:nvPicPr>
        <p:blipFill rotWithShape="1">
          <a:blip r:embed="rId4"/>
          <a:srcRect l="26657" t="-427" r="2472" b="427"/>
          <a:stretch>
            <a:fillRect/>
          </a:stretch>
        </p:blipFill>
        <p:spPr>
          <a:xfrm>
            <a:off x="8695218" y="2768094"/>
            <a:ext cx="2941932" cy="1654837"/>
          </a:xfrm>
          <a:prstGeom prst="rect">
            <a:avLst/>
          </a:prstGeom>
        </p:spPr>
      </p:pic>
      <p:sp>
        <p:nvSpPr>
          <p:cNvPr id="25" name="canteen_172305"/>
          <p:cNvSpPr>
            <a:spLocks noChangeAspect="1"/>
          </p:cNvSpPr>
          <p:nvPr/>
        </p:nvSpPr>
        <p:spPr bwMode="auto">
          <a:xfrm>
            <a:off x="1080881" y="5355782"/>
            <a:ext cx="515550" cy="609685"/>
          </a:xfrm>
          <a:custGeom>
            <a:avLst/>
            <a:gdLst>
              <a:gd name="T0" fmla="*/ 5066 w 5066"/>
              <a:gd name="T1" fmla="*/ 2533 h 6000"/>
              <a:gd name="T2" fmla="*/ 4799 w 5066"/>
              <a:gd name="T3" fmla="*/ 2533 h 6000"/>
              <a:gd name="T4" fmla="*/ 4185 w 5066"/>
              <a:gd name="T5" fmla="*/ 1574 h 6000"/>
              <a:gd name="T6" fmla="*/ 4333 w 5066"/>
              <a:gd name="T7" fmla="*/ 1133 h 6000"/>
              <a:gd name="T8" fmla="*/ 3600 w 5066"/>
              <a:gd name="T9" fmla="*/ 400 h 6000"/>
              <a:gd name="T10" fmla="*/ 3533 w 5066"/>
              <a:gd name="T11" fmla="*/ 400 h 6000"/>
              <a:gd name="T12" fmla="*/ 3533 w 5066"/>
              <a:gd name="T13" fmla="*/ 0 h 6000"/>
              <a:gd name="T14" fmla="*/ 1533 w 5066"/>
              <a:gd name="T15" fmla="*/ 0 h 6000"/>
              <a:gd name="T16" fmla="*/ 1533 w 5066"/>
              <a:gd name="T17" fmla="*/ 1200 h 6000"/>
              <a:gd name="T18" fmla="*/ 1933 w 5066"/>
              <a:gd name="T19" fmla="*/ 1200 h 6000"/>
              <a:gd name="T20" fmla="*/ 1933 w 5066"/>
              <a:gd name="T21" fmla="*/ 1467 h 6000"/>
              <a:gd name="T22" fmla="*/ 1352 w 5066"/>
              <a:gd name="T23" fmla="*/ 1467 h 6000"/>
              <a:gd name="T24" fmla="*/ 267 w 5066"/>
              <a:gd name="T25" fmla="*/ 2533 h 6000"/>
              <a:gd name="T26" fmla="*/ 0 w 5066"/>
              <a:gd name="T27" fmla="*/ 2533 h 6000"/>
              <a:gd name="T28" fmla="*/ 0 w 5066"/>
              <a:gd name="T29" fmla="*/ 2933 h 6000"/>
              <a:gd name="T30" fmla="*/ 266 w 5066"/>
              <a:gd name="T31" fmla="*/ 2933 h 6000"/>
              <a:gd name="T32" fmla="*/ 266 w 5066"/>
              <a:gd name="T33" fmla="*/ 4914 h 6000"/>
              <a:gd name="T34" fmla="*/ 1352 w 5066"/>
              <a:gd name="T35" fmla="*/ 6000 h 6000"/>
              <a:gd name="T36" fmla="*/ 3714 w 5066"/>
              <a:gd name="T37" fmla="*/ 6000 h 6000"/>
              <a:gd name="T38" fmla="*/ 4800 w 5066"/>
              <a:gd name="T39" fmla="*/ 4914 h 6000"/>
              <a:gd name="T40" fmla="*/ 4800 w 5066"/>
              <a:gd name="T41" fmla="*/ 2933 h 6000"/>
              <a:gd name="T42" fmla="*/ 5066 w 5066"/>
              <a:gd name="T43" fmla="*/ 2933 h 6000"/>
              <a:gd name="T44" fmla="*/ 5066 w 5066"/>
              <a:gd name="T45" fmla="*/ 2533 h 6000"/>
              <a:gd name="T46" fmla="*/ 5066 w 5066"/>
              <a:gd name="T47" fmla="*/ 2533 h 6000"/>
              <a:gd name="T48" fmla="*/ 3533 w 5066"/>
              <a:gd name="T49" fmla="*/ 800 h 6000"/>
              <a:gd name="T50" fmla="*/ 3600 w 5066"/>
              <a:gd name="T51" fmla="*/ 800 h 6000"/>
              <a:gd name="T52" fmla="*/ 3933 w 5066"/>
              <a:gd name="T53" fmla="*/ 1133 h 6000"/>
              <a:gd name="T54" fmla="*/ 3600 w 5066"/>
              <a:gd name="T55" fmla="*/ 1467 h 6000"/>
              <a:gd name="T56" fmla="*/ 3133 w 5066"/>
              <a:gd name="T57" fmla="*/ 1467 h 6000"/>
              <a:gd name="T58" fmla="*/ 3133 w 5066"/>
              <a:gd name="T59" fmla="*/ 1200 h 6000"/>
              <a:gd name="T60" fmla="*/ 3533 w 5066"/>
              <a:gd name="T61" fmla="*/ 1200 h 6000"/>
              <a:gd name="T62" fmla="*/ 3533 w 5066"/>
              <a:gd name="T63" fmla="*/ 800 h 6000"/>
              <a:gd name="T64" fmla="*/ 1933 w 5066"/>
              <a:gd name="T65" fmla="*/ 400 h 6000"/>
              <a:gd name="T66" fmla="*/ 3133 w 5066"/>
              <a:gd name="T67" fmla="*/ 400 h 6000"/>
              <a:gd name="T68" fmla="*/ 3133 w 5066"/>
              <a:gd name="T69" fmla="*/ 800 h 6000"/>
              <a:gd name="T70" fmla="*/ 1933 w 5066"/>
              <a:gd name="T71" fmla="*/ 800 h 6000"/>
              <a:gd name="T72" fmla="*/ 1933 w 5066"/>
              <a:gd name="T73" fmla="*/ 400 h 6000"/>
              <a:gd name="T74" fmla="*/ 2733 w 5066"/>
              <a:gd name="T75" fmla="*/ 1200 h 6000"/>
              <a:gd name="T76" fmla="*/ 2733 w 5066"/>
              <a:gd name="T77" fmla="*/ 1467 h 6000"/>
              <a:gd name="T78" fmla="*/ 2333 w 5066"/>
              <a:gd name="T79" fmla="*/ 1467 h 6000"/>
              <a:gd name="T80" fmla="*/ 2333 w 5066"/>
              <a:gd name="T81" fmla="*/ 1200 h 6000"/>
              <a:gd name="T82" fmla="*/ 2733 w 5066"/>
              <a:gd name="T83" fmla="*/ 1200 h 6000"/>
              <a:gd name="T84" fmla="*/ 1352 w 5066"/>
              <a:gd name="T85" fmla="*/ 1867 h 6000"/>
              <a:gd name="T86" fmla="*/ 1933 w 5066"/>
              <a:gd name="T87" fmla="*/ 1867 h 6000"/>
              <a:gd name="T88" fmla="*/ 3133 w 5066"/>
              <a:gd name="T89" fmla="*/ 1867 h 6000"/>
              <a:gd name="T90" fmla="*/ 3714 w 5066"/>
              <a:gd name="T91" fmla="*/ 1867 h 6000"/>
              <a:gd name="T92" fmla="*/ 4399 w 5066"/>
              <a:gd name="T93" fmla="*/ 2533 h 6000"/>
              <a:gd name="T94" fmla="*/ 667 w 5066"/>
              <a:gd name="T95" fmla="*/ 2533 h 6000"/>
              <a:gd name="T96" fmla="*/ 1352 w 5066"/>
              <a:gd name="T97" fmla="*/ 1867 h 6000"/>
              <a:gd name="T98" fmla="*/ 4400 w 5066"/>
              <a:gd name="T99" fmla="*/ 4914 h 6000"/>
              <a:gd name="T100" fmla="*/ 3714 w 5066"/>
              <a:gd name="T101" fmla="*/ 5600 h 6000"/>
              <a:gd name="T102" fmla="*/ 1352 w 5066"/>
              <a:gd name="T103" fmla="*/ 5600 h 6000"/>
              <a:gd name="T104" fmla="*/ 666 w 5066"/>
              <a:gd name="T105" fmla="*/ 4914 h 6000"/>
              <a:gd name="T106" fmla="*/ 666 w 5066"/>
              <a:gd name="T107" fmla="*/ 2933 h 6000"/>
              <a:gd name="T108" fmla="*/ 4400 w 5066"/>
              <a:gd name="T109" fmla="*/ 2933 h 6000"/>
              <a:gd name="T110" fmla="*/ 4400 w 5066"/>
              <a:gd name="T111" fmla="*/ 4914 h 6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066" h="6000">
                <a:moveTo>
                  <a:pt x="5066" y="2533"/>
                </a:moveTo>
                <a:lnTo>
                  <a:pt x="4799" y="2533"/>
                </a:lnTo>
                <a:cubicBezTo>
                  <a:pt x="4792" y="2111"/>
                  <a:pt x="4543" y="1747"/>
                  <a:pt x="4185" y="1574"/>
                </a:cubicBezTo>
                <a:cubicBezTo>
                  <a:pt x="4278" y="1452"/>
                  <a:pt x="4333" y="1299"/>
                  <a:pt x="4333" y="1133"/>
                </a:cubicBezTo>
                <a:cubicBezTo>
                  <a:pt x="4333" y="729"/>
                  <a:pt x="4004" y="400"/>
                  <a:pt x="3600" y="400"/>
                </a:cubicBezTo>
                <a:lnTo>
                  <a:pt x="3533" y="400"/>
                </a:lnTo>
                <a:lnTo>
                  <a:pt x="3533" y="0"/>
                </a:lnTo>
                <a:lnTo>
                  <a:pt x="1533" y="0"/>
                </a:lnTo>
                <a:lnTo>
                  <a:pt x="1533" y="1200"/>
                </a:lnTo>
                <a:lnTo>
                  <a:pt x="1933" y="1200"/>
                </a:lnTo>
                <a:lnTo>
                  <a:pt x="1933" y="1467"/>
                </a:lnTo>
                <a:lnTo>
                  <a:pt x="1352" y="1467"/>
                </a:lnTo>
                <a:cubicBezTo>
                  <a:pt x="760" y="1467"/>
                  <a:pt x="277" y="1943"/>
                  <a:pt x="267" y="2533"/>
                </a:cubicBezTo>
                <a:lnTo>
                  <a:pt x="0" y="2533"/>
                </a:lnTo>
                <a:lnTo>
                  <a:pt x="0" y="2933"/>
                </a:lnTo>
                <a:lnTo>
                  <a:pt x="266" y="2933"/>
                </a:lnTo>
                <a:lnTo>
                  <a:pt x="266" y="4914"/>
                </a:lnTo>
                <a:cubicBezTo>
                  <a:pt x="266" y="5513"/>
                  <a:pt x="753" y="6000"/>
                  <a:pt x="1352" y="6000"/>
                </a:cubicBezTo>
                <a:lnTo>
                  <a:pt x="3714" y="6000"/>
                </a:lnTo>
                <a:cubicBezTo>
                  <a:pt x="4313" y="6000"/>
                  <a:pt x="4800" y="5513"/>
                  <a:pt x="4800" y="4914"/>
                </a:cubicBezTo>
                <a:lnTo>
                  <a:pt x="4800" y="2933"/>
                </a:lnTo>
                <a:lnTo>
                  <a:pt x="5066" y="2933"/>
                </a:lnTo>
                <a:lnTo>
                  <a:pt x="5066" y="2533"/>
                </a:lnTo>
                <a:lnTo>
                  <a:pt x="5066" y="2533"/>
                </a:lnTo>
                <a:close/>
                <a:moveTo>
                  <a:pt x="3533" y="800"/>
                </a:moveTo>
                <a:lnTo>
                  <a:pt x="3600" y="800"/>
                </a:lnTo>
                <a:cubicBezTo>
                  <a:pt x="3783" y="800"/>
                  <a:pt x="3933" y="950"/>
                  <a:pt x="3933" y="1133"/>
                </a:cubicBezTo>
                <a:cubicBezTo>
                  <a:pt x="3933" y="1317"/>
                  <a:pt x="3783" y="1467"/>
                  <a:pt x="3600" y="1467"/>
                </a:cubicBezTo>
                <a:lnTo>
                  <a:pt x="3133" y="1467"/>
                </a:lnTo>
                <a:lnTo>
                  <a:pt x="3133" y="1200"/>
                </a:lnTo>
                <a:lnTo>
                  <a:pt x="3533" y="1200"/>
                </a:lnTo>
                <a:lnTo>
                  <a:pt x="3533" y="800"/>
                </a:lnTo>
                <a:close/>
                <a:moveTo>
                  <a:pt x="1933" y="400"/>
                </a:moveTo>
                <a:lnTo>
                  <a:pt x="3133" y="400"/>
                </a:lnTo>
                <a:lnTo>
                  <a:pt x="3133" y="800"/>
                </a:lnTo>
                <a:lnTo>
                  <a:pt x="1933" y="800"/>
                </a:lnTo>
                <a:lnTo>
                  <a:pt x="1933" y="400"/>
                </a:lnTo>
                <a:close/>
                <a:moveTo>
                  <a:pt x="2733" y="1200"/>
                </a:moveTo>
                <a:lnTo>
                  <a:pt x="2733" y="1467"/>
                </a:lnTo>
                <a:lnTo>
                  <a:pt x="2333" y="1467"/>
                </a:lnTo>
                <a:lnTo>
                  <a:pt x="2333" y="1200"/>
                </a:lnTo>
                <a:lnTo>
                  <a:pt x="2733" y="1200"/>
                </a:lnTo>
                <a:close/>
                <a:moveTo>
                  <a:pt x="1352" y="1867"/>
                </a:moveTo>
                <a:lnTo>
                  <a:pt x="1933" y="1867"/>
                </a:lnTo>
                <a:lnTo>
                  <a:pt x="3133" y="1867"/>
                </a:lnTo>
                <a:lnTo>
                  <a:pt x="3714" y="1867"/>
                </a:lnTo>
                <a:cubicBezTo>
                  <a:pt x="4086" y="1867"/>
                  <a:pt x="4389" y="2164"/>
                  <a:pt x="4399" y="2533"/>
                </a:cubicBezTo>
                <a:lnTo>
                  <a:pt x="667" y="2533"/>
                </a:lnTo>
                <a:cubicBezTo>
                  <a:pt x="677" y="2164"/>
                  <a:pt x="980" y="1867"/>
                  <a:pt x="1352" y="1867"/>
                </a:cubicBezTo>
                <a:close/>
                <a:moveTo>
                  <a:pt x="4400" y="4914"/>
                </a:moveTo>
                <a:cubicBezTo>
                  <a:pt x="4400" y="5292"/>
                  <a:pt x="4092" y="5600"/>
                  <a:pt x="3714" y="5600"/>
                </a:cubicBezTo>
                <a:lnTo>
                  <a:pt x="1352" y="5600"/>
                </a:lnTo>
                <a:cubicBezTo>
                  <a:pt x="974" y="5600"/>
                  <a:pt x="666" y="5292"/>
                  <a:pt x="666" y="4914"/>
                </a:cubicBezTo>
                <a:lnTo>
                  <a:pt x="666" y="2933"/>
                </a:lnTo>
                <a:lnTo>
                  <a:pt x="4400" y="2933"/>
                </a:lnTo>
                <a:lnTo>
                  <a:pt x="4400" y="4914"/>
                </a:lnTo>
                <a:close/>
              </a:path>
            </a:pathLst>
          </a:custGeom>
          <a:solidFill>
            <a:schemeClr val="bg1"/>
          </a:solidFill>
          <a:ln>
            <a:noFill/>
          </a:ln>
        </p:spPr>
      </p:sp>
      <p:sp>
        <p:nvSpPr>
          <p:cNvPr id="26" name="multiply-mathematical-sign_43823"/>
          <p:cNvSpPr>
            <a:spLocks noChangeAspect="1"/>
          </p:cNvSpPr>
          <p:nvPr/>
        </p:nvSpPr>
        <p:spPr bwMode="auto">
          <a:xfrm>
            <a:off x="1818507" y="5372645"/>
            <a:ext cx="609685" cy="592822"/>
          </a:xfrm>
          <a:custGeom>
            <a:avLst/>
            <a:gdLst>
              <a:gd name="T0" fmla="*/ 39 w 1248"/>
              <a:gd name="T1" fmla="*/ 1186 h 1215"/>
              <a:gd name="T2" fmla="*/ 107 w 1248"/>
              <a:gd name="T3" fmla="*/ 1215 h 1215"/>
              <a:gd name="T4" fmla="*/ 176 w 1248"/>
              <a:gd name="T5" fmla="*/ 1186 h 1215"/>
              <a:gd name="T6" fmla="*/ 624 w 1248"/>
              <a:gd name="T7" fmla="*/ 739 h 1215"/>
              <a:gd name="T8" fmla="*/ 1072 w 1248"/>
              <a:gd name="T9" fmla="*/ 1186 h 1215"/>
              <a:gd name="T10" fmla="*/ 1141 w 1248"/>
              <a:gd name="T11" fmla="*/ 1215 h 1215"/>
              <a:gd name="T12" fmla="*/ 1210 w 1248"/>
              <a:gd name="T13" fmla="*/ 1186 h 1215"/>
              <a:gd name="T14" fmla="*/ 1210 w 1248"/>
              <a:gd name="T15" fmla="*/ 1049 h 1215"/>
              <a:gd name="T16" fmla="*/ 762 w 1248"/>
              <a:gd name="T17" fmla="*/ 601 h 1215"/>
              <a:gd name="T18" fmla="*/ 1187 w 1248"/>
              <a:gd name="T19" fmla="*/ 176 h 1215"/>
              <a:gd name="T20" fmla="*/ 1187 w 1248"/>
              <a:gd name="T21" fmla="*/ 38 h 1215"/>
              <a:gd name="T22" fmla="*/ 1049 w 1248"/>
              <a:gd name="T23" fmla="*/ 38 h 1215"/>
              <a:gd name="T24" fmla="*/ 624 w 1248"/>
              <a:gd name="T25" fmla="*/ 463 h 1215"/>
              <a:gd name="T26" fmla="*/ 199 w 1248"/>
              <a:gd name="T27" fmla="*/ 38 h 1215"/>
              <a:gd name="T28" fmla="*/ 62 w 1248"/>
              <a:gd name="T29" fmla="*/ 38 h 1215"/>
              <a:gd name="T30" fmla="*/ 62 w 1248"/>
              <a:gd name="T31" fmla="*/ 176 h 1215"/>
              <a:gd name="T32" fmla="*/ 486 w 1248"/>
              <a:gd name="T33" fmla="*/ 601 h 1215"/>
              <a:gd name="T34" fmla="*/ 39 w 1248"/>
              <a:gd name="T35" fmla="*/ 1049 h 1215"/>
              <a:gd name="T36" fmla="*/ 39 w 1248"/>
              <a:gd name="T37" fmla="*/ 1186 h 1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48" h="1215">
                <a:moveTo>
                  <a:pt x="39" y="1186"/>
                </a:moveTo>
                <a:cubicBezTo>
                  <a:pt x="58" y="1205"/>
                  <a:pt x="83" y="1215"/>
                  <a:pt x="107" y="1215"/>
                </a:cubicBezTo>
                <a:cubicBezTo>
                  <a:pt x="132" y="1215"/>
                  <a:pt x="157" y="1205"/>
                  <a:pt x="176" y="1186"/>
                </a:cubicBezTo>
                <a:lnTo>
                  <a:pt x="624" y="739"/>
                </a:lnTo>
                <a:lnTo>
                  <a:pt x="1072" y="1186"/>
                </a:lnTo>
                <a:cubicBezTo>
                  <a:pt x="1091" y="1205"/>
                  <a:pt x="1116" y="1215"/>
                  <a:pt x="1141" y="1215"/>
                </a:cubicBezTo>
                <a:cubicBezTo>
                  <a:pt x="1166" y="1215"/>
                  <a:pt x="1191" y="1205"/>
                  <a:pt x="1210" y="1186"/>
                </a:cubicBezTo>
                <a:cubicBezTo>
                  <a:pt x="1248" y="1148"/>
                  <a:pt x="1248" y="1087"/>
                  <a:pt x="1210" y="1049"/>
                </a:cubicBezTo>
                <a:lnTo>
                  <a:pt x="762" y="601"/>
                </a:lnTo>
                <a:lnTo>
                  <a:pt x="1187" y="176"/>
                </a:lnTo>
                <a:cubicBezTo>
                  <a:pt x="1225" y="138"/>
                  <a:pt x="1225" y="76"/>
                  <a:pt x="1187" y="38"/>
                </a:cubicBezTo>
                <a:cubicBezTo>
                  <a:pt x="1149" y="0"/>
                  <a:pt x="1087" y="0"/>
                  <a:pt x="1049" y="38"/>
                </a:cubicBezTo>
                <a:lnTo>
                  <a:pt x="624" y="463"/>
                </a:lnTo>
                <a:lnTo>
                  <a:pt x="199" y="38"/>
                </a:lnTo>
                <a:cubicBezTo>
                  <a:pt x="161" y="0"/>
                  <a:pt x="100" y="0"/>
                  <a:pt x="62" y="38"/>
                </a:cubicBezTo>
                <a:cubicBezTo>
                  <a:pt x="23" y="76"/>
                  <a:pt x="23" y="138"/>
                  <a:pt x="62" y="176"/>
                </a:cubicBezTo>
                <a:lnTo>
                  <a:pt x="486" y="601"/>
                </a:lnTo>
                <a:lnTo>
                  <a:pt x="39" y="1049"/>
                </a:lnTo>
                <a:cubicBezTo>
                  <a:pt x="0" y="1087"/>
                  <a:pt x="0" y="1148"/>
                  <a:pt x="39" y="1186"/>
                </a:cubicBezTo>
                <a:close/>
              </a:path>
            </a:pathLst>
          </a:custGeom>
          <a:solidFill>
            <a:schemeClr val="bg1"/>
          </a:solidFill>
          <a:ln>
            <a:noFill/>
          </a:ln>
        </p:spPr>
      </p:sp>
      <p:sp>
        <p:nvSpPr>
          <p:cNvPr id="27" name="cutlery_336781"/>
          <p:cNvSpPr>
            <a:spLocks noChangeAspect="1"/>
          </p:cNvSpPr>
          <p:nvPr/>
        </p:nvSpPr>
        <p:spPr bwMode="auto">
          <a:xfrm>
            <a:off x="6539643" y="5355782"/>
            <a:ext cx="407094" cy="609685"/>
          </a:xfrm>
          <a:custGeom>
            <a:avLst/>
            <a:gdLst>
              <a:gd name="connsiteX0" fmla="*/ 329197 w 405116"/>
              <a:gd name="connsiteY0" fmla="*/ 303317 h 606722"/>
              <a:gd name="connsiteX1" fmla="*/ 303832 w 405116"/>
              <a:gd name="connsiteY1" fmla="*/ 328645 h 606722"/>
              <a:gd name="connsiteX2" fmla="*/ 303832 w 405116"/>
              <a:gd name="connsiteY2" fmla="*/ 530826 h 606722"/>
              <a:gd name="connsiteX3" fmla="*/ 329197 w 405116"/>
              <a:gd name="connsiteY3" fmla="*/ 556155 h 606722"/>
              <a:gd name="connsiteX4" fmla="*/ 354474 w 405116"/>
              <a:gd name="connsiteY4" fmla="*/ 530826 h 606722"/>
              <a:gd name="connsiteX5" fmla="*/ 354474 w 405116"/>
              <a:gd name="connsiteY5" fmla="*/ 328645 h 606722"/>
              <a:gd name="connsiteX6" fmla="*/ 329197 w 405116"/>
              <a:gd name="connsiteY6" fmla="*/ 303317 h 606722"/>
              <a:gd name="connsiteX7" fmla="*/ 75929 w 405116"/>
              <a:gd name="connsiteY7" fmla="*/ 303317 h 606722"/>
              <a:gd name="connsiteX8" fmla="*/ 50649 w 405116"/>
              <a:gd name="connsiteY8" fmla="*/ 328645 h 606722"/>
              <a:gd name="connsiteX9" fmla="*/ 50649 w 405116"/>
              <a:gd name="connsiteY9" fmla="*/ 530826 h 606722"/>
              <a:gd name="connsiteX10" fmla="*/ 75929 w 405116"/>
              <a:gd name="connsiteY10" fmla="*/ 556155 h 606722"/>
              <a:gd name="connsiteX11" fmla="*/ 101298 w 405116"/>
              <a:gd name="connsiteY11" fmla="*/ 530826 h 606722"/>
              <a:gd name="connsiteX12" fmla="*/ 101298 w 405116"/>
              <a:gd name="connsiteY12" fmla="*/ 328645 h 606722"/>
              <a:gd name="connsiteX13" fmla="*/ 75929 w 405116"/>
              <a:gd name="connsiteY13" fmla="*/ 303317 h 606722"/>
              <a:gd name="connsiteX14" fmla="*/ 329197 w 405116"/>
              <a:gd name="connsiteY14" fmla="*/ 61143 h 606722"/>
              <a:gd name="connsiteX15" fmla="*/ 303832 w 405116"/>
              <a:gd name="connsiteY15" fmla="*/ 126375 h 606722"/>
              <a:gd name="connsiteX16" fmla="*/ 303832 w 405116"/>
              <a:gd name="connsiteY16" fmla="*/ 242440 h 606722"/>
              <a:gd name="connsiteX17" fmla="*/ 314156 w 405116"/>
              <a:gd name="connsiteY17" fmla="*/ 252749 h 606722"/>
              <a:gd name="connsiteX18" fmla="*/ 329197 w 405116"/>
              <a:gd name="connsiteY18" fmla="*/ 252749 h 606722"/>
              <a:gd name="connsiteX19" fmla="*/ 354474 w 405116"/>
              <a:gd name="connsiteY19" fmla="*/ 0 h 606722"/>
              <a:gd name="connsiteX20" fmla="*/ 379751 w 405116"/>
              <a:gd name="connsiteY20" fmla="*/ 25239 h 606722"/>
              <a:gd name="connsiteX21" fmla="*/ 379751 w 405116"/>
              <a:gd name="connsiteY21" fmla="*/ 272123 h 606722"/>
              <a:gd name="connsiteX22" fmla="*/ 405116 w 405116"/>
              <a:gd name="connsiteY22" fmla="*/ 328645 h 606722"/>
              <a:gd name="connsiteX23" fmla="*/ 405116 w 405116"/>
              <a:gd name="connsiteY23" fmla="*/ 530826 h 606722"/>
              <a:gd name="connsiteX24" fmla="*/ 329197 w 405116"/>
              <a:gd name="connsiteY24" fmla="*/ 606722 h 606722"/>
              <a:gd name="connsiteX25" fmla="*/ 253189 w 405116"/>
              <a:gd name="connsiteY25" fmla="*/ 530826 h 606722"/>
              <a:gd name="connsiteX26" fmla="*/ 253189 w 405116"/>
              <a:gd name="connsiteY26" fmla="*/ 328645 h 606722"/>
              <a:gd name="connsiteX27" fmla="*/ 268587 w 405116"/>
              <a:gd name="connsiteY27" fmla="*/ 282876 h 606722"/>
              <a:gd name="connsiteX28" fmla="*/ 253189 w 405116"/>
              <a:gd name="connsiteY28" fmla="*/ 242440 h 606722"/>
              <a:gd name="connsiteX29" fmla="*/ 253189 w 405116"/>
              <a:gd name="connsiteY29" fmla="*/ 126375 h 606722"/>
              <a:gd name="connsiteX30" fmla="*/ 354474 w 405116"/>
              <a:gd name="connsiteY30" fmla="*/ 0 h 606722"/>
              <a:gd name="connsiteX31" fmla="*/ 25280 w 405116"/>
              <a:gd name="connsiteY31" fmla="*/ 0 h 606722"/>
              <a:gd name="connsiteX32" fmla="*/ 50649 w 405116"/>
              <a:gd name="connsiteY32" fmla="*/ 25239 h 606722"/>
              <a:gd name="connsiteX33" fmla="*/ 50649 w 405116"/>
              <a:gd name="connsiteY33" fmla="*/ 151703 h 606722"/>
              <a:gd name="connsiteX34" fmla="*/ 75929 w 405116"/>
              <a:gd name="connsiteY34" fmla="*/ 176942 h 606722"/>
              <a:gd name="connsiteX35" fmla="*/ 101298 w 405116"/>
              <a:gd name="connsiteY35" fmla="*/ 151703 h 606722"/>
              <a:gd name="connsiteX36" fmla="*/ 101298 w 405116"/>
              <a:gd name="connsiteY36" fmla="*/ 25239 h 606722"/>
              <a:gd name="connsiteX37" fmla="*/ 126577 w 405116"/>
              <a:gd name="connsiteY37" fmla="*/ 0 h 606722"/>
              <a:gd name="connsiteX38" fmla="*/ 151857 w 405116"/>
              <a:gd name="connsiteY38" fmla="*/ 25239 h 606722"/>
              <a:gd name="connsiteX39" fmla="*/ 151857 w 405116"/>
              <a:gd name="connsiteY39" fmla="*/ 151703 h 606722"/>
              <a:gd name="connsiteX40" fmla="*/ 101298 w 405116"/>
              <a:gd name="connsiteY40" fmla="*/ 223155 h 606722"/>
              <a:gd name="connsiteX41" fmla="*/ 101298 w 405116"/>
              <a:gd name="connsiteY41" fmla="*/ 257104 h 606722"/>
              <a:gd name="connsiteX42" fmla="*/ 151857 w 405116"/>
              <a:gd name="connsiteY42" fmla="*/ 328645 h 606722"/>
              <a:gd name="connsiteX43" fmla="*/ 151857 w 405116"/>
              <a:gd name="connsiteY43" fmla="*/ 530826 h 606722"/>
              <a:gd name="connsiteX44" fmla="*/ 75929 w 405116"/>
              <a:gd name="connsiteY44" fmla="*/ 606722 h 606722"/>
              <a:gd name="connsiteX45" fmla="*/ 0 w 405116"/>
              <a:gd name="connsiteY45" fmla="*/ 530826 h 606722"/>
              <a:gd name="connsiteX46" fmla="*/ 0 w 405116"/>
              <a:gd name="connsiteY46" fmla="*/ 328645 h 606722"/>
              <a:gd name="connsiteX47" fmla="*/ 50649 w 405116"/>
              <a:gd name="connsiteY47" fmla="*/ 257104 h 606722"/>
              <a:gd name="connsiteX48" fmla="*/ 50649 w 405116"/>
              <a:gd name="connsiteY48" fmla="*/ 223155 h 606722"/>
              <a:gd name="connsiteX49" fmla="*/ 0 w 405116"/>
              <a:gd name="connsiteY49" fmla="*/ 151703 h 606722"/>
              <a:gd name="connsiteX50" fmla="*/ 0 w 405116"/>
              <a:gd name="connsiteY50" fmla="*/ 25239 h 606722"/>
              <a:gd name="connsiteX51" fmla="*/ 25280 w 405116"/>
              <a:gd name="connsiteY51"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05116" h="606722">
                <a:moveTo>
                  <a:pt x="329197" y="303317"/>
                </a:moveTo>
                <a:cubicBezTo>
                  <a:pt x="315135" y="303317"/>
                  <a:pt x="303832" y="314692"/>
                  <a:pt x="303832" y="328645"/>
                </a:cubicBezTo>
                <a:lnTo>
                  <a:pt x="303832" y="530826"/>
                </a:lnTo>
                <a:cubicBezTo>
                  <a:pt x="303832" y="544868"/>
                  <a:pt x="315135" y="556155"/>
                  <a:pt x="329197" y="556155"/>
                </a:cubicBezTo>
                <a:cubicBezTo>
                  <a:pt x="343171" y="556155"/>
                  <a:pt x="354474" y="544868"/>
                  <a:pt x="354474" y="530826"/>
                </a:cubicBezTo>
                <a:lnTo>
                  <a:pt x="354474" y="328645"/>
                </a:lnTo>
                <a:cubicBezTo>
                  <a:pt x="354474" y="314692"/>
                  <a:pt x="343171" y="303317"/>
                  <a:pt x="329197" y="303317"/>
                </a:cubicBezTo>
                <a:close/>
                <a:moveTo>
                  <a:pt x="75929" y="303317"/>
                </a:moveTo>
                <a:cubicBezTo>
                  <a:pt x="61954" y="303317"/>
                  <a:pt x="50649" y="314692"/>
                  <a:pt x="50649" y="328645"/>
                </a:cubicBezTo>
                <a:lnTo>
                  <a:pt x="50649" y="530826"/>
                </a:lnTo>
                <a:cubicBezTo>
                  <a:pt x="50649" y="544868"/>
                  <a:pt x="61954" y="556155"/>
                  <a:pt x="75929" y="556155"/>
                </a:cubicBezTo>
                <a:cubicBezTo>
                  <a:pt x="89904" y="556155"/>
                  <a:pt x="101298" y="544868"/>
                  <a:pt x="101298" y="530826"/>
                </a:cubicBezTo>
                <a:lnTo>
                  <a:pt x="101298" y="328645"/>
                </a:lnTo>
                <a:cubicBezTo>
                  <a:pt x="101298" y="314692"/>
                  <a:pt x="89904" y="303317"/>
                  <a:pt x="75929" y="303317"/>
                </a:cubicBezTo>
                <a:close/>
                <a:moveTo>
                  <a:pt x="329197" y="61143"/>
                </a:moveTo>
                <a:cubicBezTo>
                  <a:pt x="314423" y="74119"/>
                  <a:pt x="303832" y="97936"/>
                  <a:pt x="303832" y="126375"/>
                </a:cubicBezTo>
                <a:lnTo>
                  <a:pt x="303832" y="242440"/>
                </a:lnTo>
                <a:cubicBezTo>
                  <a:pt x="303832" y="248128"/>
                  <a:pt x="308460" y="252749"/>
                  <a:pt x="314156" y="252749"/>
                </a:cubicBezTo>
                <a:lnTo>
                  <a:pt x="329197" y="252749"/>
                </a:lnTo>
                <a:close/>
                <a:moveTo>
                  <a:pt x="354474" y="0"/>
                </a:moveTo>
                <a:cubicBezTo>
                  <a:pt x="368447" y="0"/>
                  <a:pt x="379751" y="11287"/>
                  <a:pt x="379751" y="25239"/>
                </a:cubicBezTo>
                <a:lnTo>
                  <a:pt x="379751" y="272123"/>
                </a:lnTo>
                <a:cubicBezTo>
                  <a:pt x="395326" y="285987"/>
                  <a:pt x="405116" y="306161"/>
                  <a:pt x="405116" y="328645"/>
                </a:cubicBezTo>
                <a:lnTo>
                  <a:pt x="405116" y="530826"/>
                </a:lnTo>
                <a:cubicBezTo>
                  <a:pt x="405116" y="572773"/>
                  <a:pt x="371117" y="606722"/>
                  <a:pt x="329197" y="606722"/>
                </a:cubicBezTo>
                <a:cubicBezTo>
                  <a:pt x="287188" y="606722"/>
                  <a:pt x="253189" y="572773"/>
                  <a:pt x="253189" y="530826"/>
                </a:cubicBezTo>
                <a:lnTo>
                  <a:pt x="253189" y="328645"/>
                </a:lnTo>
                <a:cubicBezTo>
                  <a:pt x="253189" y="311404"/>
                  <a:pt x="258974" y="295585"/>
                  <a:pt x="268587" y="282876"/>
                </a:cubicBezTo>
                <a:cubicBezTo>
                  <a:pt x="259063" y="272123"/>
                  <a:pt x="253189" y="257993"/>
                  <a:pt x="253189" y="242440"/>
                </a:cubicBezTo>
                <a:lnTo>
                  <a:pt x="253189" y="126375"/>
                </a:lnTo>
                <a:cubicBezTo>
                  <a:pt x="253189" y="57855"/>
                  <a:pt x="296711" y="0"/>
                  <a:pt x="354474" y="0"/>
                </a:cubicBezTo>
                <a:close/>
                <a:moveTo>
                  <a:pt x="25280" y="0"/>
                </a:moveTo>
                <a:cubicBezTo>
                  <a:pt x="39255" y="0"/>
                  <a:pt x="50649" y="11287"/>
                  <a:pt x="50649" y="25239"/>
                </a:cubicBezTo>
                <a:lnTo>
                  <a:pt x="50649" y="151703"/>
                </a:lnTo>
                <a:cubicBezTo>
                  <a:pt x="50649" y="165656"/>
                  <a:pt x="61954" y="176942"/>
                  <a:pt x="75929" y="176942"/>
                </a:cubicBezTo>
                <a:cubicBezTo>
                  <a:pt x="89904" y="176942"/>
                  <a:pt x="101298" y="165656"/>
                  <a:pt x="101298" y="151703"/>
                </a:cubicBezTo>
                <a:lnTo>
                  <a:pt x="101298" y="25239"/>
                </a:lnTo>
                <a:cubicBezTo>
                  <a:pt x="101298" y="11287"/>
                  <a:pt x="112602" y="0"/>
                  <a:pt x="126577" y="0"/>
                </a:cubicBezTo>
                <a:cubicBezTo>
                  <a:pt x="140553" y="0"/>
                  <a:pt x="151857" y="11287"/>
                  <a:pt x="151857" y="25239"/>
                </a:cubicBezTo>
                <a:lnTo>
                  <a:pt x="151857" y="151703"/>
                </a:lnTo>
                <a:cubicBezTo>
                  <a:pt x="151857" y="184674"/>
                  <a:pt x="130761" y="212757"/>
                  <a:pt x="101298" y="223155"/>
                </a:cubicBezTo>
                <a:lnTo>
                  <a:pt x="101298" y="257104"/>
                </a:lnTo>
                <a:cubicBezTo>
                  <a:pt x="130761" y="267502"/>
                  <a:pt x="151857" y="295585"/>
                  <a:pt x="151857" y="328645"/>
                </a:cubicBezTo>
                <a:lnTo>
                  <a:pt x="151857" y="530826"/>
                </a:lnTo>
                <a:cubicBezTo>
                  <a:pt x="151857" y="572773"/>
                  <a:pt x="117943" y="606722"/>
                  <a:pt x="75929" y="606722"/>
                </a:cubicBezTo>
                <a:cubicBezTo>
                  <a:pt x="34003" y="606722"/>
                  <a:pt x="0" y="572773"/>
                  <a:pt x="0" y="530826"/>
                </a:cubicBezTo>
                <a:lnTo>
                  <a:pt x="0" y="328645"/>
                </a:lnTo>
                <a:cubicBezTo>
                  <a:pt x="0" y="295585"/>
                  <a:pt x="21096" y="267502"/>
                  <a:pt x="50649" y="257104"/>
                </a:cubicBezTo>
                <a:lnTo>
                  <a:pt x="50649" y="223155"/>
                </a:lnTo>
                <a:cubicBezTo>
                  <a:pt x="21096" y="212757"/>
                  <a:pt x="0" y="184674"/>
                  <a:pt x="0" y="151703"/>
                </a:cubicBezTo>
                <a:lnTo>
                  <a:pt x="0" y="25239"/>
                </a:lnTo>
                <a:cubicBezTo>
                  <a:pt x="0" y="11287"/>
                  <a:pt x="11305" y="0"/>
                  <a:pt x="25280" y="0"/>
                </a:cubicBezTo>
                <a:close/>
              </a:path>
            </a:pathLst>
          </a:custGeom>
          <a:solidFill>
            <a:schemeClr val="bg1"/>
          </a:solidFill>
          <a:ln>
            <a:noFill/>
          </a:ln>
        </p:spPr>
      </p:sp>
      <p:sp>
        <p:nvSpPr>
          <p:cNvPr id="28" name="multiply-mathematical-sign_43823"/>
          <p:cNvSpPr>
            <a:spLocks noChangeAspect="1"/>
          </p:cNvSpPr>
          <p:nvPr/>
        </p:nvSpPr>
        <p:spPr bwMode="auto">
          <a:xfrm>
            <a:off x="7168813" y="5372646"/>
            <a:ext cx="609685" cy="592822"/>
          </a:xfrm>
          <a:custGeom>
            <a:avLst/>
            <a:gdLst>
              <a:gd name="T0" fmla="*/ 39 w 1248"/>
              <a:gd name="T1" fmla="*/ 1186 h 1215"/>
              <a:gd name="T2" fmla="*/ 107 w 1248"/>
              <a:gd name="T3" fmla="*/ 1215 h 1215"/>
              <a:gd name="T4" fmla="*/ 176 w 1248"/>
              <a:gd name="T5" fmla="*/ 1186 h 1215"/>
              <a:gd name="T6" fmla="*/ 624 w 1248"/>
              <a:gd name="T7" fmla="*/ 739 h 1215"/>
              <a:gd name="T8" fmla="*/ 1072 w 1248"/>
              <a:gd name="T9" fmla="*/ 1186 h 1215"/>
              <a:gd name="T10" fmla="*/ 1141 w 1248"/>
              <a:gd name="T11" fmla="*/ 1215 h 1215"/>
              <a:gd name="T12" fmla="*/ 1210 w 1248"/>
              <a:gd name="T13" fmla="*/ 1186 h 1215"/>
              <a:gd name="T14" fmla="*/ 1210 w 1248"/>
              <a:gd name="T15" fmla="*/ 1049 h 1215"/>
              <a:gd name="T16" fmla="*/ 762 w 1248"/>
              <a:gd name="T17" fmla="*/ 601 h 1215"/>
              <a:gd name="T18" fmla="*/ 1187 w 1248"/>
              <a:gd name="T19" fmla="*/ 176 h 1215"/>
              <a:gd name="T20" fmla="*/ 1187 w 1248"/>
              <a:gd name="T21" fmla="*/ 38 h 1215"/>
              <a:gd name="T22" fmla="*/ 1049 w 1248"/>
              <a:gd name="T23" fmla="*/ 38 h 1215"/>
              <a:gd name="T24" fmla="*/ 624 w 1248"/>
              <a:gd name="T25" fmla="*/ 463 h 1215"/>
              <a:gd name="T26" fmla="*/ 199 w 1248"/>
              <a:gd name="T27" fmla="*/ 38 h 1215"/>
              <a:gd name="T28" fmla="*/ 62 w 1248"/>
              <a:gd name="T29" fmla="*/ 38 h 1215"/>
              <a:gd name="T30" fmla="*/ 62 w 1248"/>
              <a:gd name="T31" fmla="*/ 176 h 1215"/>
              <a:gd name="T32" fmla="*/ 486 w 1248"/>
              <a:gd name="T33" fmla="*/ 601 h 1215"/>
              <a:gd name="T34" fmla="*/ 39 w 1248"/>
              <a:gd name="T35" fmla="*/ 1049 h 1215"/>
              <a:gd name="T36" fmla="*/ 39 w 1248"/>
              <a:gd name="T37" fmla="*/ 1186 h 1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48" h="1215">
                <a:moveTo>
                  <a:pt x="39" y="1186"/>
                </a:moveTo>
                <a:cubicBezTo>
                  <a:pt x="58" y="1205"/>
                  <a:pt x="83" y="1215"/>
                  <a:pt x="107" y="1215"/>
                </a:cubicBezTo>
                <a:cubicBezTo>
                  <a:pt x="132" y="1215"/>
                  <a:pt x="157" y="1205"/>
                  <a:pt x="176" y="1186"/>
                </a:cubicBezTo>
                <a:lnTo>
                  <a:pt x="624" y="739"/>
                </a:lnTo>
                <a:lnTo>
                  <a:pt x="1072" y="1186"/>
                </a:lnTo>
                <a:cubicBezTo>
                  <a:pt x="1091" y="1205"/>
                  <a:pt x="1116" y="1215"/>
                  <a:pt x="1141" y="1215"/>
                </a:cubicBezTo>
                <a:cubicBezTo>
                  <a:pt x="1166" y="1215"/>
                  <a:pt x="1191" y="1205"/>
                  <a:pt x="1210" y="1186"/>
                </a:cubicBezTo>
                <a:cubicBezTo>
                  <a:pt x="1248" y="1148"/>
                  <a:pt x="1248" y="1087"/>
                  <a:pt x="1210" y="1049"/>
                </a:cubicBezTo>
                <a:lnTo>
                  <a:pt x="762" y="601"/>
                </a:lnTo>
                <a:lnTo>
                  <a:pt x="1187" y="176"/>
                </a:lnTo>
                <a:cubicBezTo>
                  <a:pt x="1225" y="138"/>
                  <a:pt x="1225" y="76"/>
                  <a:pt x="1187" y="38"/>
                </a:cubicBezTo>
                <a:cubicBezTo>
                  <a:pt x="1149" y="0"/>
                  <a:pt x="1087" y="0"/>
                  <a:pt x="1049" y="38"/>
                </a:cubicBezTo>
                <a:lnTo>
                  <a:pt x="624" y="463"/>
                </a:lnTo>
                <a:lnTo>
                  <a:pt x="199" y="38"/>
                </a:lnTo>
                <a:cubicBezTo>
                  <a:pt x="161" y="0"/>
                  <a:pt x="100" y="0"/>
                  <a:pt x="62" y="38"/>
                </a:cubicBezTo>
                <a:cubicBezTo>
                  <a:pt x="23" y="76"/>
                  <a:pt x="23" y="138"/>
                  <a:pt x="62" y="176"/>
                </a:cubicBezTo>
                <a:lnTo>
                  <a:pt x="486" y="601"/>
                </a:lnTo>
                <a:lnTo>
                  <a:pt x="39" y="1049"/>
                </a:lnTo>
                <a:cubicBezTo>
                  <a:pt x="0" y="1087"/>
                  <a:pt x="0" y="1148"/>
                  <a:pt x="39" y="1186"/>
                </a:cubicBezTo>
                <a:close/>
              </a:path>
            </a:pathLst>
          </a:custGeom>
          <a:solidFill>
            <a:schemeClr val="bg1"/>
          </a:solidFill>
          <a:ln>
            <a:noFill/>
          </a:ln>
        </p:spPr>
      </p:sp>
      <p:sp>
        <p:nvSpPr>
          <p:cNvPr id="29" name="文本框 28"/>
          <p:cNvSpPr txBox="1"/>
          <p:nvPr/>
        </p:nvSpPr>
        <p:spPr>
          <a:xfrm>
            <a:off x="2437150" y="5089333"/>
            <a:ext cx="3010750" cy="1200329"/>
          </a:xfrm>
          <a:prstGeom prst="rect">
            <a:avLst/>
          </a:prstGeom>
          <a:noFill/>
        </p:spPr>
        <p:txBody>
          <a:bodyPr wrap="square" rtlCol="0">
            <a:spAutoFit/>
          </a:bodyPr>
          <a:lstStyle/>
          <a:p>
            <a:r>
              <a:rPr lang="en-US" altLang="zh-CN" sz="7200" dirty="0">
                <a:solidFill>
                  <a:schemeClr val="bg1"/>
                </a:solidFill>
                <a:latin typeface="张海山草泥马体" panose="02000000000000000000" pitchFamily="2" charset="-122"/>
                <a:ea typeface="张海山草泥马体" panose="02000000000000000000" pitchFamily="2" charset="-122"/>
              </a:rPr>
              <a:t>4 </a:t>
            </a:r>
            <a:r>
              <a:rPr lang="zh-CN" altLang="en-US" sz="3600" dirty="0">
                <a:solidFill>
                  <a:schemeClr val="bg1"/>
                </a:solidFill>
                <a:latin typeface="张海山草泥马体" panose="02000000000000000000" pitchFamily="2" charset="-122"/>
                <a:ea typeface="张海山草泥马体" panose="02000000000000000000" pitchFamily="2" charset="-122"/>
              </a:rPr>
              <a:t>四个食堂</a:t>
            </a:r>
            <a:r>
              <a:rPr lang="en-US" altLang="zh-CN" sz="3600" dirty="0">
                <a:solidFill>
                  <a:schemeClr val="bg1"/>
                </a:solidFill>
                <a:latin typeface="张海山草泥马体" panose="02000000000000000000" pitchFamily="2" charset="-122"/>
                <a:ea typeface="张海山草泥马体" panose="02000000000000000000" pitchFamily="2" charset="-122"/>
              </a:rPr>
              <a:t>   </a:t>
            </a:r>
            <a:endParaRPr lang="zh-CN" altLang="en-US" sz="3600" dirty="0">
              <a:solidFill>
                <a:schemeClr val="bg1"/>
              </a:solidFill>
              <a:latin typeface="张海山草泥马体" panose="02000000000000000000" pitchFamily="2" charset="-122"/>
              <a:ea typeface="张海山草泥马体" panose="02000000000000000000" pitchFamily="2" charset="-122"/>
            </a:endParaRPr>
          </a:p>
        </p:txBody>
      </p:sp>
      <p:sp>
        <p:nvSpPr>
          <p:cNvPr id="30" name="文本框 29"/>
          <p:cNvSpPr txBox="1"/>
          <p:nvPr/>
        </p:nvSpPr>
        <p:spPr>
          <a:xfrm>
            <a:off x="7778498" y="5089333"/>
            <a:ext cx="3531186" cy="1200329"/>
          </a:xfrm>
          <a:prstGeom prst="rect">
            <a:avLst/>
          </a:prstGeom>
          <a:noFill/>
        </p:spPr>
        <p:txBody>
          <a:bodyPr wrap="square" rtlCol="0">
            <a:spAutoFit/>
          </a:bodyPr>
          <a:lstStyle/>
          <a:p>
            <a:r>
              <a:rPr lang="en-US" altLang="zh-CN" sz="7200" dirty="0">
                <a:solidFill>
                  <a:schemeClr val="bg1"/>
                </a:solidFill>
                <a:latin typeface="张海山草泥马体" panose="02000000000000000000" pitchFamily="2" charset="-122"/>
                <a:ea typeface="张海山草泥马体" panose="02000000000000000000" pitchFamily="2" charset="-122"/>
              </a:rPr>
              <a:t>4 </a:t>
            </a:r>
            <a:r>
              <a:rPr lang="zh-CN" altLang="en-US" sz="3600" dirty="0">
                <a:solidFill>
                  <a:schemeClr val="bg1"/>
                </a:solidFill>
                <a:latin typeface="张海山草泥马体" panose="02000000000000000000" pitchFamily="2" charset="-122"/>
                <a:ea typeface="张海山草泥马体" panose="02000000000000000000" pitchFamily="2" charset="-122"/>
              </a:rPr>
              <a:t>四个服务区</a:t>
            </a:r>
            <a:r>
              <a:rPr lang="en-US" altLang="zh-CN" sz="3600" dirty="0">
                <a:solidFill>
                  <a:schemeClr val="bg1"/>
                </a:solidFill>
                <a:latin typeface="张海山草泥马体" panose="02000000000000000000" pitchFamily="2" charset="-122"/>
                <a:ea typeface="张海山草泥马体" panose="02000000000000000000" pitchFamily="2" charset="-122"/>
              </a:rPr>
              <a:t>   </a:t>
            </a:r>
            <a:endParaRPr lang="zh-CN" altLang="en-US" sz="3600" dirty="0">
              <a:solidFill>
                <a:schemeClr val="bg1"/>
              </a:solidFill>
              <a:latin typeface="张海山草泥马体" panose="02000000000000000000" pitchFamily="2" charset="-122"/>
              <a:ea typeface="张海山草泥马体" panose="02000000000000000000" pitchFamily="2" charset="-122"/>
            </a:endParaRPr>
          </a:p>
        </p:txBody>
      </p:sp>
      <p:sp>
        <p:nvSpPr>
          <p:cNvPr id="31" name="矩形 30"/>
          <p:cNvSpPr/>
          <p:nvPr/>
        </p:nvSpPr>
        <p:spPr>
          <a:xfrm>
            <a:off x="112655" y="190633"/>
            <a:ext cx="11999912" cy="64389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294279"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833700"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图片 33"/>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1897621" y="-3808053"/>
            <a:ext cx="15169121" cy="2058967"/>
          </a:xfrm>
          <a:prstGeom prst="rect">
            <a:avLst/>
          </a:prstGeom>
        </p:spPr>
      </p:pic>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579368" y="1977454"/>
            <a:ext cx="13855700" cy="3290100"/>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rot="4149794">
            <a:off x="6109797" y="248869"/>
            <a:ext cx="885056" cy="604118"/>
          </a:xfrm>
          <a:prstGeom prst="triangle">
            <a:avLst/>
          </a:prstGeom>
          <a:solidFill>
            <a:srgbClr val="F3D74E"/>
          </a:solidFill>
          <a:ln>
            <a:noFill/>
          </a:ln>
          <a:effectLst/>
          <a:scene3d>
            <a:camera prst="perspectiveContrasting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rot="19722655">
            <a:off x="10897288" y="909097"/>
            <a:ext cx="885056" cy="604118"/>
          </a:xfrm>
          <a:prstGeom prst="triangle">
            <a:avLst/>
          </a:prstGeom>
          <a:solidFill>
            <a:srgbClr val="F3D7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6620751" y="193218"/>
            <a:ext cx="5265018" cy="1631216"/>
          </a:xfrm>
          <a:prstGeom prst="rect">
            <a:avLst/>
          </a:prstGeom>
          <a:noFill/>
        </p:spPr>
        <p:txBody>
          <a:bodyPr wrap="square" rtlCol="0">
            <a:spAutoFit/>
          </a:bodyPr>
          <a:lstStyle/>
          <a:p>
            <a:r>
              <a:rPr lang="zh-CN" altLang="en-US" sz="10000" dirty="0">
                <a:solidFill>
                  <a:schemeClr val="bg1"/>
                </a:solidFill>
                <a:latin typeface="张海山草泥马体" panose="02000000000000000000" pitchFamily="2" charset="-122"/>
                <a:ea typeface="张海山草泥马体" panose="02000000000000000000" pitchFamily="2" charset="-122"/>
              </a:rPr>
              <a:t>吃</a:t>
            </a:r>
            <a:r>
              <a:rPr lang="en-US" altLang="zh-CN" sz="10000" dirty="0">
                <a:solidFill>
                  <a:schemeClr val="bg1"/>
                </a:solidFill>
                <a:latin typeface="张海山草泥马体" panose="02000000000000000000" pitchFamily="2" charset="-122"/>
                <a:ea typeface="张海山草泥马体" panose="02000000000000000000" pitchFamily="2" charset="-122"/>
              </a:rPr>
              <a:t>in</a:t>
            </a:r>
            <a:r>
              <a:rPr lang="zh-CN" altLang="en-US" sz="10000" dirty="0">
                <a:solidFill>
                  <a:schemeClr val="bg1"/>
                </a:solidFill>
                <a:latin typeface="张海山草泥马体" panose="02000000000000000000" pitchFamily="2" charset="-122"/>
                <a:ea typeface="张海山草泥马体" panose="02000000000000000000" pitchFamily="2" charset="-122"/>
              </a:rPr>
              <a:t>交大</a:t>
            </a:r>
          </a:p>
        </p:txBody>
      </p:sp>
      <p:sp>
        <p:nvSpPr>
          <p:cNvPr id="25" name="canteen_172305"/>
          <p:cNvSpPr>
            <a:spLocks noChangeAspect="1"/>
          </p:cNvSpPr>
          <p:nvPr/>
        </p:nvSpPr>
        <p:spPr bwMode="auto">
          <a:xfrm>
            <a:off x="1080881" y="5355782"/>
            <a:ext cx="515550" cy="609685"/>
          </a:xfrm>
          <a:custGeom>
            <a:avLst/>
            <a:gdLst>
              <a:gd name="T0" fmla="*/ 5066 w 5066"/>
              <a:gd name="T1" fmla="*/ 2533 h 6000"/>
              <a:gd name="T2" fmla="*/ 4799 w 5066"/>
              <a:gd name="T3" fmla="*/ 2533 h 6000"/>
              <a:gd name="T4" fmla="*/ 4185 w 5066"/>
              <a:gd name="T5" fmla="*/ 1574 h 6000"/>
              <a:gd name="T6" fmla="*/ 4333 w 5066"/>
              <a:gd name="T7" fmla="*/ 1133 h 6000"/>
              <a:gd name="T8" fmla="*/ 3600 w 5066"/>
              <a:gd name="T9" fmla="*/ 400 h 6000"/>
              <a:gd name="T10" fmla="*/ 3533 w 5066"/>
              <a:gd name="T11" fmla="*/ 400 h 6000"/>
              <a:gd name="T12" fmla="*/ 3533 w 5066"/>
              <a:gd name="T13" fmla="*/ 0 h 6000"/>
              <a:gd name="T14" fmla="*/ 1533 w 5066"/>
              <a:gd name="T15" fmla="*/ 0 h 6000"/>
              <a:gd name="T16" fmla="*/ 1533 w 5066"/>
              <a:gd name="T17" fmla="*/ 1200 h 6000"/>
              <a:gd name="T18" fmla="*/ 1933 w 5066"/>
              <a:gd name="T19" fmla="*/ 1200 h 6000"/>
              <a:gd name="T20" fmla="*/ 1933 w 5066"/>
              <a:gd name="T21" fmla="*/ 1467 h 6000"/>
              <a:gd name="T22" fmla="*/ 1352 w 5066"/>
              <a:gd name="T23" fmla="*/ 1467 h 6000"/>
              <a:gd name="T24" fmla="*/ 267 w 5066"/>
              <a:gd name="T25" fmla="*/ 2533 h 6000"/>
              <a:gd name="T26" fmla="*/ 0 w 5066"/>
              <a:gd name="T27" fmla="*/ 2533 h 6000"/>
              <a:gd name="T28" fmla="*/ 0 w 5066"/>
              <a:gd name="T29" fmla="*/ 2933 h 6000"/>
              <a:gd name="T30" fmla="*/ 266 w 5066"/>
              <a:gd name="T31" fmla="*/ 2933 h 6000"/>
              <a:gd name="T32" fmla="*/ 266 w 5066"/>
              <a:gd name="T33" fmla="*/ 4914 h 6000"/>
              <a:gd name="T34" fmla="*/ 1352 w 5066"/>
              <a:gd name="T35" fmla="*/ 6000 h 6000"/>
              <a:gd name="T36" fmla="*/ 3714 w 5066"/>
              <a:gd name="T37" fmla="*/ 6000 h 6000"/>
              <a:gd name="T38" fmla="*/ 4800 w 5066"/>
              <a:gd name="T39" fmla="*/ 4914 h 6000"/>
              <a:gd name="T40" fmla="*/ 4800 w 5066"/>
              <a:gd name="T41" fmla="*/ 2933 h 6000"/>
              <a:gd name="T42" fmla="*/ 5066 w 5066"/>
              <a:gd name="T43" fmla="*/ 2933 h 6000"/>
              <a:gd name="T44" fmla="*/ 5066 w 5066"/>
              <a:gd name="T45" fmla="*/ 2533 h 6000"/>
              <a:gd name="T46" fmla="*/ 5066 w 5066"/>
              <a:gd name="T47" fmla="*/ 2533 h 6000"/>
              <a:gd name="T48" fmla="*/ 3533 w 5066"/>
              <a:gd name="T49" fmla="*/ 800 h 6000"/>
              <a:gd name="T50" fmla="*/ 3600 w 5066"/>
              <a:gd name="T51" fmla="*/ 800 h 6000"/>
              <a:gd name="T52" fmla="*/ 3933 w 5066"/>
              <a:gd name="T53" fmla="*/ 1133 h 6000"/>
              <a:gd name="T54" fmla="*/ 3600 w 5066"/>
              <a:gd name="T55" fmla="*/ 1467 h 6000"/>
              <a:gd name="T56" fmla="*/ 3133 w 5066"/>
              <a:gd name="T57" fmla="*/ 1467 h 6000"/>
              <a:gd name="T58" fmla="*/ 3133 w 5066"/>
              <a:gd name="T59" fmla="*/ 1200 h 6000"/>
              <a:gd name="T60" fmla="*/ 3533 w 5066"/>
              <a:gd name="T61" fmla="*/ 1200 h 6000"/>
              <a:gd name="T62" fmla="*/ 3533 w 5066"/>
              <a:gd name="T63" fmla="*/ 800 h 6000"/>
              <a:gd name="T64" fmla="*/ 1933 w 5066"/>
              <a:gd name="T65" fmla="*/ 400 h 6000"/>
              <a:gd name="T66" fmla="*/ 3133 w 5066"/>
              <a:gd name="T67" fmla="*/ 400 h 6000"/>
              <a:gd name="T68" fmla="*/ 3133 w 5066"/>
              <a:gd name="T69" fmla="*/ 800 h 6000"/>
              <a:gd name="T70" fmla="*/ 1933 w 5066"/>
              <a:gd name="T71" fmla="*/ 800 h 6000"/>
              <a:gd name="T72" fmla="*/ 1933 w 5066"/>
              <a:gd name="T73" fmla="*/ 400 h 6000"/>
              <a:gd name="T74" fmla="*/ 2733 w 5066"/>
              <a:gd name="T75" fmla="*/ 1200 h 6000"/>
              <a:gd name="T76" fmla="*/ 2733 w 5066"/>
              <a:gd name="T77" fmla="*/ 1467 h 6000"/>
              <a:gd name="T78" fmla="*/ 2333 w 5066"/>
              <a:gd name="T79" fmla="*/ 1467 h 6000"/>
              <a:gd name="T80" fmla="*/ 2333 w 5066"/>
              <a:gd name="T81" fmla="*/ 1200 h 6000"/>
              <a:gd name="T82" fmla="*/ 2733 w 5066"/>
              <a:gd name="T83" fmla="*/ 1200 h 6000"/>
              <a:gd name="T84" fmla="*/ 1352 w 5066"/>
              <a:gd name="T85" fmla="*/ 1867 h 6000"/>
              <a:gd name="T86" fmla="*/ 1933 w 5066"/>
              <a:gd name="T87" fmla="*/ 1867 h 6000"/>
              <a:gd name="T88" fmla="*/ 3133 w 5066"/>
              <a:gd name="T89" fmla="*/ 1867 h 6000"/>
              <a:gd name="T90" fmla="*/ 3714 w 5066"/>
              <a:gd name="T91" fmla="*/ 1867 h 6000"/>
              <a:gd name="T92" fmla="*/ 4399 w 5066"/>
              <a:gd name="T93" fmla="*/ 2533 h 6000"/>
              <a:gd name="T94" fmla="*/ 667 w 5066"/>
              <a:gd name="T95" fmla="*/ 2533 h 6000"/>
              <a:gd name="T96" fmla="*/ 1352 w 5066"/>
              <a:gd name="T97" fmla="*/ 1867 h 6000"/>
              <a:gd name="T98" fmla="*/ 4400 w 5066"/>
              <a:gd name="T99" fmla="*/ 4914 h 6000"/>
              <a:gd name="T100" fmla="*/ 3714 w 5066"/>
              <a:gd name="T101" fmla="*/ 5600 h 6000"/>
              <a:gd name="T102" fmla="*/ 1352 w 5066"/>
              <a:gd name="T103" fmla="*/ 5600 h 6000"/>
              <a:gd name="T104" fmla="*/ 666 w 5066"/>
              <a:gd name="T105" fmla="*/ 4914 h 6000"/>
              <a:gd name="T106" fmla="*/ 666 w 5066"/>
              <a:gd name="T107" fmla="*/ 2933 h 6000"/>
              <a:gd name="T108" fmla="*/ 4400 w 5066"/>
              <a:gd name="T109" fmla="*/ 2933 h 6000"/>
              <a:gd name="T110" fmla="*/ 4400 w 5066"/>
              <a:gd name="T111" fmla="*/ 4914 h 6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066" h="6000">
                <a:moveTo>
                  <a:pt x="5066" y="2533"/>
                </a:moveTo>
                <a:lnTo>
                  <a:pt x="4799" y="2533"/>
                </a:lnTo>
                <a:cubicBezTo>
                  <a:pt x="4792" y="2111"/>
                  <a:pt x="4543" y="1747"/>
                  <a:pt x="4185" y="1574"/>
                </a:cubicBezTo>
                <a:cubicBezTo>
                  <a:pt x="4278" y="1452"/>
                  <a:pt x="4333" y="1299"/>
                  <a:pt x="4333" y="1133"/>
                </a:cubicBezTo>
                <a:cubicBezTo>
                  <a:pt x="4333" y="729"/>
                  <a:pt x="4004" y="400"/>
                  <a:pt x="3600" y="400"/>
                </a:cubicBezTo>
                <a:lnTo>
                  <a:pt x="3533" y="400"/>
                </a:lnTo>
                <a:lnTo>
                  <a:pt x="3533" y="0"/>
                </a:lnTo>
                <a:lnTo>
                  <a:pt x="1533" y="0"/>
                </a:lnTo>
                <a:lnTo>
                  <a:pt x="1533" y="1200"/>
                </a:lnTo>
                <a:lnTo>
                  <a:pt x="1933" y="1200"/>
                </a:lnTo>
                <a:lnTo>
                  <a:pt x="1933" y="1467"/>
                </a:lnTo>
                <a:lnTo>
                  <a:pt x="1352" y="1467"/>
                </a:lnTo>
                <a:cubicBezTo>
                  <a:pt x="760" y="1467"/>
                  <a:pt x="277" y="1943"/>
                  <a:pt x="267" y="2533"/>
                </a:cubicBezTo>
                <a:lnTo>
                  <a:pt x="0" y="2533"/>
                </a:lnTo>
                <a:lnTo>
                  <a:pt x="0" y="2933"/>
                </a:lnTo>
                <a:lnTo>
                  <a:pt x="266" y="2933"/>
                </a:lnTo>
                <a:lnTo>
                  <a:pt x="266" y="4914"/>
                </a:lnTo>
                <a:cubicBezTo>
                  <a:pt x="266" y="5513"/>
                  <a:pt x="753" y="6000"/>
                  <a:pt x="1352" y="6000"/>
                </a:cubicBezTo>
                <a:lnTo>
                  <a:pt x="3714" y="6000"/>
                </a:lnTo>
                <a:cubicBezTo>
                  <a:pt x="4313" y="6000"/>
                  <a:pt x="4800" y="5513"/>
                  <a:pt x="4800" y="4914"/>
                </a:cubicBezTo>
                <a:lnTo>
                  <a:pt x="4800" y="2933"/>
                </a:lnTo>
                <a:lnTo>
                  <a:pt x="5066" y="2933"/>
                </a:lnTo>
                <a:lnTo>
                  <a:pt x="5066" y="2533"/>
                </a:lnTo>
                <a:lnTo>
                  <a:pt x="5066" y="2533"/>
                </a:lnTo>
                <a:close/>
                <a:moveTo>
                  <a:pt x="3533" y="800"/>
                </a:moveTo>
                <a:lnTo>
                  <a:pt x="3600" y="800"/>
                </a:lnTo>
                <a:cubicBezTo>
                  <a:pt x="3783" y="800"/>
                  <a:pt x="3933" y="950"/>
                  <a:pt x="3933" y="1133"/>
                </a:cubicBezTo>
                <a:cubicBezTo>
                  <a:pt x="3933" y="1317"/>
                  <a:pt x="3783" y="1467"/>
                  <a:pt x="3600" y="1467"/>
                </a:cubicBezTo>
                <a:lnTo>
                  <a:pt x="3133" y="1467"/>
                </a:lnTo>
                <a:lnTo>
                  <a:pt x="3133" y="1200"/>
                </a:lnTo>
                <a:lnTo>
                  <a:pt x="3533" y="1200"/>
                </a:lnTo>
                <a:lnTo>
                  <a:pt x="3533" y="800"/>
                </a:lnTo>
                <a:close/>
                <a:moveTo>
                  <a:pt x="1933" y="400"/>
                </a:moveTo>
                <a:lnTo>
                  <a:pt x="3133" y="400"/>
                </a:lnTo>
                <a:lnTo>
                  <a:pt x="3133" y="800"/>
                </a:lnTo>
                <a:lnTo>
                  <a:pt x="1933" y="800"/>
                </a:lnTo>
                <a:lnTo>
                  <a:pt x="1933" y="400"/>
                </a:lnTo>
                <a:close/>
                <a:moveTo>
                  <a:pt x="2733" y="1200"/>
                </a:moveTo>
                <a:lnTo>
                  <a:pt x="2733" y="1467"/>
                </a:lnTo>
                <a:lnTo>
                  <a:pt x="2333" y="1467"/>
                </a:lnTo>
                <a:lnTo>
                  <a:pt x="2333" y="1200"/>
                </a:lnTo>
                <a:lnTo>
                  <a:pt x="2733" y="1200"/>
                </a:lnTo>
                <a:close/>
                <a:moveTo>
                  <a:pt x="1352" y="1867"/>
                </a:moveTo>
                <a:lnTo>
                  <a:pt x="1933" y="1867"/>
                </a:lnTo>
                <a:lnTo>
                  <a:pt x="3133" y="1867"/>
                </a:lnTo>
                <a:lnTo>
                  <a:pt x="3714" y="1867"/>
                </a:lnTo>
                <a:cubicBezTo>
                  <a:pt x="4086" y="1867"/>
                  <a:pt x="4389" y="2164"/>
                  <a:pt x="4399" y="2533"/>
                </a:cubicBezTo>
                <a:lnTo>
                  <a:pt x="667" y="2533"/>
                </a:lnTo>
                <a:cubicBezTo>
                  <a:pt x="677" y="2164"/>
                  <a:pt x="980" y="1867"/>
                  <a:pt x="1352" y="1867"/>
                </a:cubicBezTo>
                <a:close/>
                <a:moveTo>
                  <a:pt x="4400" y="4914"/>
                </a:moveTo>
                <a:cubicBezTo>
                  <a:pt x="4400" y="5292"/>
                  <a:pt x="4092" y="5600"/>
                  <a:pt x="3714" y="5600"/>
                </a:cubicBezTo>
                <a:lnTo>
                  <a:pt x="1352" y="5600"/>
                </a:lnTo>
                <a:cubicBezTo>
                  <a:pt x="974" y="5600"/>
                  <a:pt x="666" y="5292"/>
                  <a:pt x="666" y="4914"/>
                </a:cubicBezTo>
                <a:lnTo>
                  <a:pt x="666" y="2933"/>
                </a:lnTo>
                <a:lnTo>
                  <a:pt x="4400" y="2933"/>
                </a:lnTo>
                <a:lnTo>
                  <a:pt x="4400" y="4914"/>
                </a:lnTo>
                <a:close/>
              </a:path>
            </a:pathLst>
          </a:custGeom>
          <a:solidFill>
            <a:schemeClr val="bg1"/>
          </a:solidFill>
          <a:ln>
            <a:noFill/>
          </a:ln>
        </p:spPr>
      </p:sp>
      <p:sp>
        <p:nvSpPr>
          <p:cNvPr id="26" name="multiply-mathematical-sign_43823"/>
          <p:cNvSpPr>
            <a:spLocks noChangeAspect="1"/>
          </p:cNvSpPr>
          <p:nvPr/>
        </p:nvSpPr>
        <p:spPr bwMode="auto">
          <a:xfrm>
            <a:off x="1818507" y="5372645"/>
            <a:ext cx="609685" cy="592822"/>
          </a:xfrm>
          <a:custGeom>
            <a:avLst/>
            <a:gdLst>
              <a:gd name="T0" fmla="*/ 39 w 1248"/>
              <a:gd name="T1" fmla="*/ 1186 h 1215"/>
              <a:gd name="T2" fmla="*/ 107 w 1248"/>
              <a:gd name="T3" fmla="*/ 1215 h 1215"/>
              <a:gd name="T4" fmla="*/ 176 w 1248"/>
              <a:gd name="T5" fmla="*/ 1186 h 1215"/>
              <a:gd name="T6" fmla="*/ 624 w 1248"/>
              <a:gd name="T7" fmla="*/ 739 h 1215"/>
              <a:gd name="T8" fmla="*/ 1072 w 1248"/>
              <a:gd name="T9" fmla="*/ 1186 h 1215"/>
              <a:gd name="T10" fmla="*/ 1141 w 1248"/>
              <a:gd name="T11" fmla="*/ 1215 h 1215"/>
              <a:gd name="T12" fmla="*/ 1210 w 1248"/>
              <a:gd name="T13" fmla="*/ 1186 h 1215"/>
              <a:gd name="T14" fmla="*/ 1210 w 1248"/>
              <a:gd name="T15" fmla="*/ 1049 h 1215"/>
              <a:gd name="T16" fmla="*/ 762 w 1248"/>
              <a:gd name="T17" fmla="*/ 601 h 1215"/>
              <a:gd name="T18" fmla="*/ 1187 w 1248"/>
              <a:gd name="T19" fmla="*/ 176 h 1215"/>
              <a:gd name="T20" fmla="*/ 1187 w 1248"/>
              <a:gd name="T21" fmla="*/ 38 h 1215"/>
              <a:gd name="T22" fmla="*/ 1049 w 1248"/>
              <a:gd name="T23" fmla="*/ 38 h 1215"/>
              <a:gd name="T24" fmla="*/ 624 w 1248"/>
              <a:gd name="T25" fmla="*/ 463 h 1215"/>
              <a:gd name="T26" fmla="*/ 199 w 1248"/>
              <a:gd name="T27" fmla="*/ 38 h 1215"/>
              <a:gd name="T28" fmla="*/ 62 w 1248"/>
              <a:gd name="T29" fmla="*/ 38 h 1215"/>
              <a:gd name="T30" fmla="*/ 62 w 1248"/>
              <a:gd name="T31" fmla="*/ 176 h 1215"/>
              <a:gd name="T32" fmla="*/ 486 w 1248"/>
              <a:gd name="T33" fmla="*/ 601 h 1215"/>
              <a:gd name="T34" fmla="*/ 39 w 1248"/>
              <a:gd name="T35" fmla="*/ 1049 h 1215"/>
              <a:gd name="T36" fmla="*/ 39 w 1248"/>
              <a:gd name="T37" fmla="*/ 1186 h 1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48" h="1215">
                <a:moveTo>
                  <a:pt x="39" y="1186"/>
                </a:moveTo>
                <a:cubicBezTo>
                  <a:pt x="58" y="1205"/>
                  <a:pt x="83" y="1215"/>
                  <a:pt x="107" y="1215"/>
                </a:cubicBezTo>
                <a:cubicBezTo>
                  <a:pt x="132" y="1215"/>
                  <a:pt x="157" y="1205"/>
                  <a:pt x="176" y="1186"/>
                </a:cubicBezTo>
                <a:lnTo>
                  <a:pt x="624" y="739"/>
                </a:lnTo>
                <a:lnTo>
                  <a:pt x="1072" y="1186"/>
                </a:lnTo>
                <a:cubicBezTo>
                  <a:pt x="1091" y="1205"/>
                  <a:pt x="1116" y="1215"/>
                  <a:pt x="1141" y="1215"/>
                </a:cubicBezTo>
                <a:cubicBezTo>
                  <a:pt x="1166" y="1215"/>
                  <a:pt x="1191" y="1205"/>
                  <a:pt x="1210" y="1186"/>
                </a:cubicBezTo>
                <a:cubicBezTo>
                  <a:pt x="1248" y="1148"/>
                  <a:pt x="1248" y="1087"/>
                  <a:pt x="1210" y="1049"/>
                </a:cubicBezTo>
                <a:lnTo>
                  <a:pt x="762" y="601"/>
                </a:lnTo>
                <a:lnTo>
                  <a:pt x="1187" y="176"/>
                </a:lnTo>
                <a:cubicBezTo>
                  <a:pt x="1225" y="138"/>
                  <a:pt x="1225" y="76"/>
                  <a:pt x="1187" y="38"/>
                </a:cubicBezTo>
                <a:cubicBezTo>
                  <a:pt x="1149" y="0"/>
                  <a:pt x="1087" y="0"/>
                  <a:pt x="1049" y="38"/>
                </a:cubicBezTo>
                <a:lnTo>
                  <a:pt x="624" y="463"/>
                </a:lnTo>
                <a:lnTo>
                  <a:pt x="199" y="38"/>
                </a:lnTo>
                <a:cubicBezTo>
                  <a:pt x="161" y="0"/>
                  <a:pt x="100" y="0"/>
                  <a:pt x="62" y="38"/>
                </a:cubicBezTo>
                <a:cubicBezTo>
                  <a:pt x="23" y="76"/>
                  <a:pt x="23" y="138"/>
                  <a:pt x="62" y="176"/>
                </a:cubicBezTo>
                <a:lnTo>
                  <a:pt x="486" y="601"/>
                </a:lnTo>
                <a:lnTo>
                  <a:pt x="39" y="1049"/>
                </a:lnTo>
                <a:cubicBezTo>
                  <a:pt x="0" y="1087"/>
                  <a:pt x="0" y="1148"/>
                  <a:pt x="39" y="1186"/>
                </a:cubicBezTo>
                <a:close/>
              </a:path>
            </a:pathLst>
          </a:custGeom>
          <a:solidFill>
            <a:schemeClr val="bg1"/>
          </a:solidFill>
          <a:ln>
            <a:noFill/>
          </a:ln>
        </p:spPr>
      </p:sp>
      <p:sp>
        <p:nvSpPr>
          <p:cNvPr id="27" name="cutlery_336781"/>
          <p:cNvSpPr>
            <a:spLocks noChangeAspect="1"/>
          </p:cNvSpPr>
          <p:nvPr/>
        </p:nvSpPr>
        <p:spPr bwMode="auto">
          <a:xfrm>
            <a:off x="6539643" y="5355782"/>
            <a:ext cx="407094" cy="609685"/>
          </a:xfrm>
          <a:custGeom>
            <a:avLst/>
            <a:gdLst>
              <a:gd name="connsiteX0" fmla="*/ 329197 w 405116"/>
              <a:gd name="connsiteY0" fmla="*/ 303317 h 606722"/>
              <a:gd name="connsiteX1" fmla="*/ 303832 w 405116"/>
              <a:gd name="connsiteY1" fmla="*/ 328645 h 606722"/>
              <a:gd name="connsiteX2" fmla="*/ 303832 w 405116"/>
              <a:gd name="connsiteY2" fmla="*/ 530826 h 606722"/>
              <a:gd name="connsiteX3" fmla="*/ 329197 w 405116"/>
              <a:gd name="connsiteY3" fmla="*/ 556155 h 606722"/>
              <a:gd name="connsiteX4" fmla="*/ 354474 w 405116"/>
              <a:gd name="connsiteY4" fmla="*/ 530826 h 606722"/>
              <a:gd name="connsiteX5" fmla="*/ 354474 w 405116"/>
              <a:gd name="connsiteY5" fmla="*/ 328645 h 606722"/>
              <a:gd name="connsiteX6" fmla="*/ 329197 w 405116"/>
              <a:gd name="connsiteY6" fmla="*/ 303317 h 606722"/>
              <a:gd name="connsiteX7" fmla="*/ 75929 w 405116"/>
              <a:gd name="connsiteY7" fmla="*/ 303317 h 606722"/>
              <a:gd name="connsiteX8" fmla="*/ 50649 w 405116"/>
              <a:gd name="connsiteY8" fmla="*/ 328645 h 606722"/>
              <a:gd name="connsiteX9" fmla="*/ 50649 w 405116"/>
              <a:gd name="connsiteY9" fmla="*/ 530826 h 606722"/>
              <a:gd name="connsiteX10" fmla="*/ 75929 w 405116"/>
              <a:gd name="connsiteY10" fmla="*/ 556155 h 606722"/>
              <a:gd name="connsiteX11" fmla="*/ 101298 w 405116"/>
              <a:gd name="connsiteY11" fmla="*/ 530826 h 606722"/>
              <a:gd name="connsiteX12" fmla="*/ 101298 w 405116"/>
              <a:gd name="connsiteY12" fmla="*/ 328645 h 606722"/>
              <a:gd name="connsiteX13" fmla="*/ 75929 w 405116"/>
              <a:gd name="connsiteY13" fmla="*/ 303317 h 606722"/>
              <a:gd name="connsiteX14" fmla="*/ 329197 w 405116"/>
              <a:gd name="connsiteY14" fmla="*/ 61143 h 606722"/>
              <a:gd name="connsiteX15" fmla="*/ 303832 w 405116"/>
              <a:gd name="connsiteY15" fmla="*/ 126375 h 606722"/>
              <a:gd name="connsiteX16" fmla="*/ 303832 w 405116"/>
              <a:gd name="connsiteY16" fmla="*/ 242440 h 606722"/>
              <a:gd name="connsiteX17" fmla="*/ 314156 w 405116"/>
              <a:gd name="connsiteY17" fmla="*/ 252749 h 606722"/>
              <a:gd name="connsiteX18" fmla="*/ 329197 w 405116"/>
              <a:gd name="connsiteY18" fmla="*/ 252749 h 606722"/>
              <a:gd name="connsiteX19" fmla="*/ 354474 w 405116"/>
              <a:gd name="connsiteY19" fmla="*/ 0 h 606722"/>
              <a:gd name="connsiteX20" fmla="*/ 379751 w 405116"/>
              <a:gd name="connsiteY20" fmla="*/ 25239 h 606722"/>
              <a:gd name="connsiteX21" fmla="*/ 379751 w 405116"/>
              <a:gd name="connsiteY21" fmla="*/ 272123 h 606722"/>
              <a:gd name="connsiteX22" fmla="*/ 405116 w 405116"/>
              <a:gd name="connsiteY22" fmla="*/ 328645 h 606722"/>
              <a:gd name="connsiteX23" fmla="*/ 405116 w 405116"/>
              <a:gd name="connsiteY23" fmla="*/ 530826 h 606722"/>
              <a:gd name="connsiteX24" fmla="*/ 329197 w 405116"/>
              <a:gd name="connsiteY24" fmla="*/ 606722 h 606722"/>
              <a:gd name="connsiteX25" fmla="*/ 253189 w 405116"/>
              <a:gd name="connsiteY25" fmla="*/ 530826 h 606722"/>
              <a:gd name="connsiteX26" fmla="*/ 253189 w 405116"/>
              <a:gd name="connsiteY26" fmla="*/ 328645 h 606722"/>
              <a:gd name="connsiteX27" fmla="*/ 268587 w 405116"/>
              <a:gd name="connsiteY27" fmla="*/ 282876 h 606722"/>
              <a:gd name="connsiteX28" fmla="*/ 253189 w 405116"/>
              <a:gd name="connsiteY28" fmla="*/ 242440 h 606722"/>
              <a:gd name="connsiteX29" fmla="*/ 253189 w 405116"/>
              <a:gd name="connsiteY29" fmla="*/ 126375 h 606722"/>
              <a:gd name="connsiteX30" fmla="*/ 354474 w 405116"/>
              <a:gd name="connsiteY30" fmla="*/ 0 h 606722"/>
              <a:gd name="connsiteX31" fmla="*/ 25280 w 405116"/>
              <a:gd name="connsiteY31" fmla="*/ 0 h 606722"/>
              <a:gd name="connsiteX32" fmla="*/ 50649 w 405116"/>
              <a:gd name="connsiteY32" fmla="*/ 25239 h 606722"/>
              <a:gd name="connsiteX33" fmla="*/ 50649 w 405116"/>
              <a:gd name="connsiteY33" fmla="*/ 151703 h 606722"/>
              <a:gd name="connsiteX34" fmla="*/ 75929 w 405116"/>
              <a:gd name="connsiteY34" fmla="*/ 176942 h 606722"/>
              <a:gd name="connsiteX35" fmla="*/ 101298 w 405116"/>
              <a:gd name="connsiteY35" fmla="*/ 151703 h 606722"/>
              <a:gd name="connsiteX36" fmla="*/ 101298 w 405116"/>
              <a:gd name="connsiteY36" fmla="*/ 25239 h 606722"/>
              <a:gd name="connsiteX37" fmla="*/ 126577 w 405116"/>
              <a:gd name="connsiteY37" fmla="*/ 0 h 606722"/>
              <a:gd name="connsiteX38" fmla="*/ 151857 w 405116"/>
              <a:gd name="connsiteY38" fmla="*/ 25239 h 606722"/>
              <a:gd name="connsiteX39" fmla="*/ 151857 w 405116"/>
              <a:gd name="connsiteY39" fmla="*/ 151703 h 606722"/>
              <a:gd name="connsiteX40" fmla="*/ 101298 w 405116"/>
              <a:gd name="connsiteY40" fmla="*/ 223155 h 606722"/>
              <a:gd name="connsiteX41" fmla="*/ 101298 w 405116"/>
              <a:gd name="connsiteY41" fmla="*/ 257104 h 606722"/>
              <a:gd name="connsiteX42" fmla="*/ 151857 w 405116"/>
              <a:gd name="connsiteY42" fmla="*/ 328645 h 606722"/>
              <a:gd name="connsiteX43" fmla="*/ 151857 w 405116"/>
              <a:gd name="connsiteY43" fmla="*/ 530826 h 606722"/>
              <a:gd name="connsiteX44" fmla="*/ 75929 w 405116"/>
              <a:gd name="connsiteY44" fmla="*/ 606722 h 606722"/>
              <a:gd name="connsiteX45" fmla="*/ 0 w 405116"/>
              <a:gd name="connsiteY45" fmla="*/ 530826 h 606722"/>
              <a:gd name="connsiteX46" fmla="*/ 0 w 405116"/>
              <a:gd name="connsiteY46" fmla="*/ 328645 h 606722"/>
              <a:gd name="connsiteX47" fmla="*/ 50649 w 405116"/>
              <a:gd name="connsiteY47" fmla="*/ 257104 h 606722"/>
              <a:gd name="connsiteX48" fmla="*/ 50649 w 405116"/>
              <a:gd name="connsiteY48" fmla="*/ 223155 h 606722"/>
              <a:gd name="connsiteX49" fmla="*/ 0 w 405116"/>
              <a:gd name="connsiteY49" fmla="*/ 151703 h 606722"/>
              <a:gd name="connsiteX50" fmla="*/ 0 w 405116"/>
              <a:gd name="connsiteY50" fmla="*/ 25239 h 606722"/>
              <a:gd name="connsiteX51" fmla="*/ 25280 w 405116"/>
              <a:gd name="connsiteY51"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05116" h="606722">
                <a:moveTo>
                  <a:pt x="329197" y="303317"/>
                </a:moveTo>
                <a:cubicBezTo>
                  <a:pt x="315135" y="303317"/>
                  <a:pt x="303832" y="314692"/>
                  <a:pt x="303832" y="328645"/>
                </a:cubicBezTo>
                <a:lnTo>
                  <a:pt x="303832" y="530826"/>
                </a:lnTo>
                <a:cubicBezTo>
                  <a:pt x="303832" y="544868"/>
                  <a:pt x="315135" y="556155"/>
                  <a:pt x="329197" y="556155"/>
                </a:cubicBezTo>
                <a:cubicBezTo>
                  <a:pt x="343171" y="556155"/>
                  <a:pt x="354474" y="544868"/>
                  <a:pt x="354474" y="530826"/>
                </a:cubicBezTo>
                <a:lnTo>
                  <a:pt x="354474" y="328645"/>
                </a:lnTo>
                <a:cubicBezTo>
                  <a:pt x="354474" y="314692"/>
                  <a:pt x="343171" y="303317"/>
                  <a:pt x="329197" y="303317"/>
                </a:cubicBezTo>
                <a:close/>
                <a:moveTo>
                  <a:pt x="75929" y="303317"/>
                </a:moveTo>
                <a:cubicBezTo>
                  <a:pt x="61954" y="303317"/>
                  <a:pt x="50649" y="314692"/>
                  <a:pt x="50649" y="328645"/>
                </a:cubicBezTo>
                <a:lnTo>
                  <a:pt x="50649" y="530826"/>
                </a:lnTo>
                <a:cubicBezTo>
                  <a:pt x="50649" y="544868"/>
                  <a:pt x="61954" y="556155"/>
                  <a:pt x="75929" y="556155"/>
                </a:cubicBezTo>
                <a:cubicBezTo>
                  <a:pt x="89904" y="556155"/>
                  <a:pt x="101298" y="544868"/>
                  <a:pt x="101298" y="530826"/>
                </a:cubicBezTo>
                <a:lnTo>
                  <a:pt x="101298" y="328645"/>
                </a:lnTo>
                <a:cubicBezTo>
                  <a:pt x="101298" y="314692"/>
                  <a:pt x="89904" y="303317"/>
                  <a:pt x="75929" y="303317"/>
                </a:cubicBezTo>
                <a:close/>
                <a:moveTo>
                  <a:pt x="329197" y="61143"/>
                </a:moveTo>
                <a:cubicBezTo>
                  <a:pt x="314423" y="74119"/>
                  <a:pt x="303832" y="97936"/>
                  <a:pt x="303832" y="126375"/>
                </a:cubicBezTo>
                <a:lnTo>
                  <a:pt x="303832" y="242440"/>
                </a:lnTo>
                <a:cubicBezTo>
                  <a:pt x="303832" y="248128"/>
                  <a:pt x="308460" y="252749"/>
                  <a:pt x="314156" y="252749"/>
                </a:cubicBezTo>
                <a:lnTo>
                  <a:pt x="329197" y="252749"/>
                </a:lnTo>
                <a:close/>
                <a:moveTo>
                  <a:pt x="354474" y="0"/>
                </a:moveTo>
                <a:cubicBezTo>
                  <a:pt x="368447" y="0"/>
                  <a:pt x="379751" y="11287"/>
                  <a:pt x="379751" y="25239"/>
                </a:cubicBezTo>
                <a:lnTo>
                  <a:pt x="379751" y="272123"/>
                </a:lnTo>
                <a:cubicBezTo>
                  <a:pt x="395326" y="285987"/>
                  <a:pt x="405116" y="306161"/>
                  <a:pt x="405116" y="328645"/>
                </a:cubicBezTo>
                <a:lnTo>
                  <a:pt x="405116" y="530826"/>
                </a:lnTo>
                <a:cubicBezTo>
                  <a:pt x="405116" y="572773"/>
                  <a:pt x="371117" y="606722"/>
                  <a:pt x="329197" y="606722"/>
                </a:cubicBezTo>
                <a:cubicBezTo>
                  <a:pt x="287188" y="606722"/>
                  <a:pt x="253189" y="572773"/>
                  <a:pt x="253189" y="530826"/>
                </a:cubicBezTo>
                <a:lnTo>
                  <a:pt x="253189" y="328645"/>
                </a:lnTo>
                <a:cubicBezTo>
                  <a:pt x="253189" y="311404"/>
                  <a:pt x="258974" y="295585"/>
                  <a:pt x="268587" y="282876"/>
                </a:cubicBezTo>
                <a:cubicBezTo>
                  <a:pt x="259063" y="272123"/>
                  <a:pt x="253189" y="257993"/>
                  <a:pt x="253189" y="242440"/>
                </a:cubicBezTo>
                <a:lnTo>
                  <a:pt x="253189" y="126375"/>
                </a:lnTo>
                <a:cubicBezTo>
                  <a:pt x="253189" y="57855"/>
                  <a:pt x="296711" y="0"/>
                  <a:pt x="354474" y="0"/>
                </a:cubicBezTo>
                <a:close/>
                <a:moveTo>
                  <a:pt x="25280" y="0"/>
                </a:moveTo>
                <a:cubicBezTo>
                  <a:pt x="39255" y="0"/>
                  <a:pt x="50649" y="11287"/>
                  <a:pt x="50649" y="25239"/>
                </a:cubicBezTo>
                <a:lnTo>
                  <a:pt x="50649" y="151703"/>
                </a:lnTo>
                <a:cubicBezTo>
                  <a:pt x="50649" y="165656"/>
                  <a:pt x="61954" y="176942"/>
                  <a:pt x="75929" y="176942"/>
                </a:cubicBezTo>
                <a:cubicBezTo>
                  <a:pt x="89904" y="176942"/>
                  <a:pt x="101298" y="165656"/>
                  <a:pt x="101298" y="151703"/>
                </a:cubicBezTo>
                <a:lnTo>
                  <a:pt x="101298" y="25239"/>
                </a:lnTo>
                <a:cubicBezTo>
                  <a:pt x="101298" y="11287"/>
                  <a:pt x="112602" y="0"/>
                  <a:pt x="126577" y="0"/>
                </a:cubicBezTo>
                <a:cubicBezTo>
                  <a:pt x="140553" y="0"/>
                  <a:pt x="151857" y="11287"/>
                  <a:pt x="151857" y="25239"/>
                </a:cubicBezTo>
                <a:lnTo>
                  <a:pt x="151857" y="151703"/>
                </a:lnTo>
                <a:cubicBezTo>
                  <a:pt x="151857" y="184674"/>
                  <a:pt x="130761" y="212757"/>
                  <a:pt x="101298" y="223155"/>
                </a:cubicBezTo>
                <a:lnTo>
                  <a:pt x="101298" y="257104"/>
                </a:lnTo>
                <a:cubicBezTo>
                  <a:pt x="130761" y="267502"/>
                  <a:pt x="151857" y="295585"/>
                  <a:pt x="151857" y="328645"/>
                </a:cubicBezTo>
                <a:lnTo>
                  <a:pt x="151857" y="530826"/>
                </a:lnTo>
                <a:cubicBezTo>
                  <a:pt x="151857" y="572773"/>
                  <a:pt x="117943" y="606722"/>
                  <a:pt x="75929" y="606722"/>
                </a:cubicBezTo>
                <a:cubicBezTo>
                  <a:pt x="34003" y="606722"/>
                  <a:pt x="0" y="572773"/>
                  <a:pt x="0" y="530826"/>
                </a:cubicBezTo>
                <a:lnTo>
                  <a:pt x="0" y="328645"/>
                </a:lnTo>
                <a:cubicBezTo>
                  <a:pt x="0" y="295585"/>
                  <a:pt x="21096" y="267502"/>
                  <a:pt x="50649" y="257104"/>
                </a:cubicBezTo>
                <a:lnTo>
                  <a:pt x="50649" y="223155"/>
                </a:lnTo>
                <a:cubicBezTo>
                  <a:pt x="21096" y="212757"/>
                  <a:pt x="0" y="184674"/>
                  <a:pt x="0" y="151703"/>
                </a:cubicBezTo>
                <a:lnTo>
                  <a:pt x="0" y="25239"/>
                </a:lnTo>
                <a:cubicBezTo>
                  <a:pt x="0" y="11287"/>
                  <a:pt x="11305" y="0"/>
                  <a:pt x="25280" y="0"/>
                </a:cubicBezTo>
                <a:close/>
              </a:path>
            </a:pathLst>
          </a:custGeom>
          <a:solidFill>
            <a:schemeClr val="bg1"/>
          </a:solidFill>
          <a:ln>
            <a:noFill/>
          </a:ln>
        </p:spPr>
      </p:sp>
      <p:sp>
        <p:nvSpPr>
          <p:cNvPr id="28" name="multiply-mathematical-sign_43823"/>
          <p:cNvSpPr>
            <a:spLocks noChangeAspect="1"/>
          </p:cNvSpPr>
          <p:nvPr/>
        </p:nvSpPr>
        <p:spPr bwMode="auto">
          <a:xfrm>
            <a:off x="7168813" y="5372646"/>
            <a:ext cx="609685" cy="592822"/>
          </a:xfrm>
          <a:custGeom>
            <a:avLst/>
            <a:gdLst>
              <a:gd name="T0" fmla="*/ 39 w 1248"/>
              <a:gd name="T1" fmla="*/ 1186 h 1215"/>
              <a:gd name="T2" fmla="*/ 107 w 1248"/>
              <a:gd name="T3" fmla="*/ 1215 h 1215"/>
              <a:gd name="T4" fmla="*/ 176 w 1248"/>
              <a:gd name="T5" fmla="*/ 1186 h 1215"/>
              <a:gd name="T6" fmla="*/ 624 w 1248"/>
              <a:gd name="T7" fmla="*/ 739 h 1215"/>
              <a:gd name="T8" fmla="*/ 1072 w 1248"/>
              <a:gd name="T9" fmla="*/ 1186 h 1215"/>
              <a:gd name="T10" fmla="*/ 1141 w 1248"/>
              <a:gd name="T11" fmla="*/ 1215 h 1215"/>
              <a:gd name="T12" fmla="*/ 1210 w 1248"/>
              <a:gd name="T13" fmla="*/ 1186 h 1215"/>
              <a:gd name="T14" fmla="*/ 1210 w 1248"/>
              <a:gd name="T15" fmla="*/ 1049 h 1215"/>
              <a:gd name="T16" fmla="*/ 762 w 1248"/>
              <a:gd name="T17" fmla="*/ 601 h 1215"/>
              <a:gd name="T18" fmla="*/ 1187 w 1248"/>
              <a:gd name="T19" fmla="*/ 176 h 1215"/>
              <a:gd name="T20" fmla="*/ 1187 w 1248"/>
              <a:gd name="T21" fmla="*/ 38 h 1215"/>
              <a:gd name="T22" fmla="*/ 1049 w 1248"/>
              <a:gd name="T23" fmla="*/ 38 h 1215"/>
              <a:gd name="T24" fmla="*/ 624 w 1248"/>
              <a:gd name="T25" fmla="*/ 463 h 1215"/>
              <a:gd name="T26" fmla="*/ 199 w 1248"/>
              <a:gd name="T27" fmla="*/ 38 h 1215"/>
              <a:gd name="T28" fmla="*/ 62 w 1248"/>
              <a:gd name="T29" fmla="*/ 38 h 1215"/>
              <a:gd name="T30" fmla="*/ 62 w 1248"/>
              <a:gd name="T31" fmla="*/ 176 h 1215"/>
              <a:gd name="T32" fmla="*/ 486 w 1248"/>
              <a:gd name="T33" fmla="*/ 601 h 1215"/>
              <a:gd name="T34" fmla="*/ 39 w 1248"/>
              <a:gd name="T35" fmla="*/ 1049 h 1215"/>
              <a:gd name="T36" fmla="*/ 39 w 1248"/>
              <a:gd name="T37" fmla="*/ 1186 h 1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48" h="1215">
                <a:moveTo>
                  <a:pt x="39" y="1186"/>
                </a:moveTo>
                <a:cubicBezTo>
                  <a:pt x="58" y="1205"/>
                  <a:pt x="83" y="1215"/>
                  <a:pt x="107" y="1215"/>
                </a:cubicBezTo>
                <a:cubicBezTo>
                  <a:pt x="132" y="1215"/>
                  <a:pt x="157" y="1205"/>
                  <a:pt x="176" y="1186"/>
                </a:cubicBezTo>
                <a:lnTo>
                  <a:pt x="624" y="739"/>
                </a:lnTo>
                <a:lnTo>
                  <a:pt x="1072" y="1186"/>
                </a:lnTo>
                <a:cubicBezTo>
                  <a:pt x="1091" y="1205"/>
                  <a:pt x="1116" y="1215"/>
                  <a:pt x="1141" y="1215"/>
                </a:cubicBezTo>
                <a:cubicBezTo>
                  <a:pt x="1166" y="1215"/>
                  <a:pt x="1191" y="1205"/>
                  <a:pt x="1210" y="1186"/>
                </a:cubicBezTo>
                <a:cubicBezTo>
                  <a:pt x="1248" y="1148"/>
                  <a:pt x="1248" y="1087"/>
                  <a:pt x="1210" y="1049"/>
                </a:cubicBezTo>
                <a:lnTo>
                  <a:pt x="762" y="601"/>
                </a:lnTo>
                <a:lnTo>
                  <a:pt x="1187" y="176"/>
                </a:lnTo>
                <a:cubicBezTo>
                  <a:pt x="1225" y="138"/>
                  <a:pt x="1225" y="76"/>
                  <a:pt x="1187" y="38"/>
                </a:cubicBezTo>
                <a:cubicBezTo>
                  <a:pt x="1149" y="0"/>
                  <a:pt x="1087" y="0"/>
                  <a:pt x="1049" y="38"/>
                </a:cubicBezTo>
                <a:lnTo>
                  <a:pt x="624" y="463"/>
                </a:lnTo>
                <a:lnTo>
                  <a:pt x="199" y="38"/>
                </a:lnTo>
                <a:cubicBezTo>
                  <a:pt x="161" y="0"/>
                  <a:pt x="100" y="0"/>
                  <a:pt x="62" y="38"/>
                </a:cubicBezTo>
                <a:cubicBezTo>
                  <a:pt x="23" y="76"/>
                  <a:pt x="23" y="138"/>
                  <a:pt x="62" y="176"/>
                </a:cubicBezTo>
                <a:lnTo>
                  <a:pt x="486" y="601"/>
                </a:lnTo>
                <a:lnTo>
                  <a:pt x="39" y="1049"/>
                </a:lnTo>
                <a:cubicBezTo>
                  <a:pt x="0" y="1087"/>
                  <a:pt x="0" y="1148"/>
                  <a:pt x="39" y="1186"/>
                </a:cubicBezTo>
                <a:close/>
              </a:path>
            </a:pathLst>
          </a:custGeom>
          <a:solidFill>
            <a:schemeClr val="bg1"/>
          </a:solidFill>
          <a:ln>
            <a:noFill/>
          </a:ln>
        </p:spPr>
      </p:sp>
      <p:sp>
        <p:nvSpPr>
          <p:cNvPr id="29" name="文本框 28"/>
          <p:cNvSpPr txBox="1"/>
          <p:nvPr/>
        </p:nvSpPr>
        <p:spPr>
          <a:xfrm>
            <a:off x="2437150" y="5089333"/>
            <a:ext cx="3010750" cy="1200329"/>
          </a:xfrm>
          <a:prstGeom prst="rect">
            <a:avLst/>
          </a:prstGeom>
          <a:noFill/>
        </p:spPr>
        <p:txBody>
          <a:bodyPr wrap="square" rtlCol="0">
            <a:spAutoFit/>
          </a:bodyPr>
          <a:lstStyle/>
          <a:p>
            <a:r>
              <a:rPr lang="en-US" altLang="zh-CN" sz="7200" dirty="0">
                <a:solidFill>
                  <a:schemeClr val="bg1"/>
                </a:solidFill>
                <a:latin typeface="张海山草泥马体" panose="02000000000000000000" pitchFamily="2" charset="-122"/>
                <a:ea typeface="张海山草泥马体" panose="02000000000000000000" pitchFamily="2" charset="-122"/>
              </a:rPr>
              <a:t>4 </a:t>
            </a:r>
            <a:r>
              <a:rPr lang="zh-CN" altLang="en-US" sz="3600" dirty="0">
                <a:solidFill>
                  <a:schemeClr val="bg1"/>
                </a:solidFill>
                <a:latin typeface="张海山草泥马体" panose="02000000000000000000" pitchFamily="2" charset="-122"/>
                <a:ea typeface="张海山草泥马体" panose="02000000000000000000" pitchFamily="2" charset="-122"/>
              </a:rPr>
              <a:t>四个食堂</a:t>
            </a:r>
            <a:r>
              <a:rPr lang="en-US" altLang="zh-CN" sz="3600" dirty="0">
                <a:solidFill>
                  <a:schemeClr val="bg1"/>
                </a:solidFill>
                <a:latin typeface="张海山草泥马体" panose="02000000000000000000" pitchFamily="2" charset="-122"/>
                <a:ea typeface="张海山草泥马体" panose="02000000000000000000" pitchFamily="2" charset="-122"/>
              </a:rPr>
              <a:t>   </a:t>
            </a:r>
            <a:endParaRPr lang="zh-CN" altLang="en-US" sz="3600" dirty="0">
              <a:solidFill>
                <a:schemeClr val="bg1"/>
              </a:solidFill>
              <a:latin typeface="张海山草泥马体" panose="02000000000000000000" pitchFamily="2" charset="-122"/>
              <a:ea typeface="张海山草泥马体" panose="02000000000000000000" pitchFamily="2" charset="-122"/>
            </a:endParaRPr>
          </a:p>
        </p:txBody>
      </p:sp>
      <p:sp>
        <p:nvSpPr>
          <p:cNvPr id="30" name="文本框 29"/>
          <p:cNvSpPr txBox="1"/>
          <p:nvPr/>
        </p:nvSpPr>
        <p:spPr>
          <a:xfrm>
            <a:off x="7778498" y="5089333"/>
            <a:ext cx="3531186" cy="1200329"/>
          </a:xfrm>
          <a:prstGeom prst="rect">
            <a:avLst/>
          </a:prstGeom>
          <a:noFill/>
        </p:spPr>
        <p:txBody>
          <a:bodyPr wrap="square" rtlCol="0">
            <a:spAutoFit/>
          </a:bodyPr>
          <a:lstStyle/>
          <a:p>
            <a:r>
              <a:rPr lang="en-US" altLang="zh-CN" sz="7200" dirty="0">
                <a:solidFill>
                  <a:schemeClr val="bg1"/>
                </a:solidFill>
                <a:latin typeface="张海山草泥马体" panose="02000000000000000000" pitchFamily="2" charset="-122"/>
                <a:ea typeface="张海山草泥马体" panose="02000000000000000000" pitchFamily="2" charset="-122"/>
              </a:rPr>
              <a:t>4 </a:t>
            </a:r>
            <a:r>
              <a:rPr lang="zh-CN" altLang="en-US" sz="3600" dirty="0">
                <a:solidFill>
                  <a:schemeClr val="bg1"/>
                </a:solidFill>
                <a:latin typeface="张海山草泥马体" panose="02000000000000000000" pitchFamily="2" charset="-122"/>
                <a:ea typeface="张海山草泥马体" panose="02000000000000000000" pitchFamily="2" charset="-122"/>
              </a:rPr>
              <a:t>四个服务区</a:t>
            </a:r>
            <a:r>
              <a:rPr lang="en-US" altLang="zh-CN" sz="3600" dirty="0">
                <a:solidFill>
                  <a:schemeClr val="bg1"/>
                </a:solidFill>
                <a:latin typeface="张海山草泥马体" panose="02000000000000000000" pitchFamily="2" charset="-122"/>
                <a:ea typeface="张海山草泥马体" panose="02000000000000000000" pitchFamily="2" charset="-122"/>
              </a:rPr>
              <a:t>   </a:t>
            </a:r>
            <a:endParaRPr lang="zh-CN" altLang="en-US" sz="3600" dirty="0">
              <a:solidFill>
                <a:schemeClr val="bg1"/>
              </a:solidFill>
              <a:latin typeface="张海山草泥马体" panose="02000000000000000000" pitchFamily="2" charset="-122"/>
              <a:ea typeface="张海山草泥马体" panose="02000000000000000000" pitchFamily="2" charset="-122"/>
            </a:endParaRPr>
          </a:p>
        </p:txBody>
      </p:sp>
      <p:sp>
        <p:nvSpPr>
          <p:cNvPr id="31" name="矩形 30"/>
          <p:cNvSpPr/>
          <p:nvPr/>
        </p:nvSpPr>
        <p:spPr>
          <a:xfrm>
            <a:off x="112655" y="190633"/>
            <a:ext cx="11999912" cy="64389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294279"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1833700"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图片 3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897621" y="-3808053"/>
            <a:ext cx="15169121" cy="2058967"/>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06056" y="2410244"/>
            <a:ext cx="3246413" cy="2434810"/>
          </a:xfrm>
          <a:prstGeom prst="rect">
            <a:avLst/>
          </a:prstGeom>
          <a:ln>
            <a:noFill/>
          </a:ln>
          <a:effectLst>
            <a:outerShdw blurRad="292100" dist="139700" dir="2700000" algn="tl" rotWithShape="0">
              <a:srgbClr val="333333">
                <a:alpha val="65000"/>
              </a:srgbClr>
            </a:outerShdw>
          </a:effectLst>
        </p:spPr>
      </p:pic>
      <p:pic>
        <p:nvPicPr>
          <p:cNvPr id="5" name="图片 4"/>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4110546" y="2120955"/>
            <a:ext cx="4004130" cy="3003098"/>
          </a:xfrm>
          <a:prstGeom prst="rect">
            <a:avLst/>
          </a:prstGeom>
        </p:spPr>
      </p:pic>
      <p:pic>
        <p:nvPicPr>
          <p:cNvPr id="9" name="图片 8"/>
          <p:cNvPicPr>
            <a:picLocks noChangeAspect="1"/>
          </p:cNvPicPr>
          <p:nvPr/>
        </p:nvPicPr>
        <p:blipFill rotWithShape="1">
          <a:blip r:embed="rId5">
            <a:extLst>
              <a:ext uri="{28A0092B-C50C-407E-A947-70E740481C1C}">
                <a14:useLocalDpi xmlns:a14="http://schemas.microsoft.com/office/drawing/2010/main" xmlns="" val="0"/>
              </a:ext>
            </a:extLst>
          </a:blip>
          <a:srcRect t="1" r="908" b="-1562"/>
          <a:stretch>
            <a:fillRect/>
          </a:stretch>
        </p:blipFill>
        <p:spPr>
          <a:xfrm rot="16200000">
            <a:off x="8921884" y="1963551"/>
            <a:ext cx="2437292" cy="3330677"/>
          </a:xfrm>
          <a:prstGeom prst="rect">
            <a:avLst/>
          </a:prstGeom>
        </p:spPr>
      </p:pic>
      <p:sp>
        <p:nvSpPr>
          <p:cNvPr id="10" name="文本框 9"/>
          <p:cNvSpPr txBox="1"/>
          <p:nvPr/>
        </p:nvSpPr>
        <p:spPr>
          <a:xfrm>
            <a:off x="6670050" y="2120147"/>
            <a:ext cx="1444626" cy="369332"/>
          </a:xfrm>
          <a:prstGeom prst="rect">
            <a:avLst/>
          </a:prstGeom>
          <a:noFill/>
        </p:spPr>
        <p:txBody>
          <a:bodyPr wrap="none" rtlCol="0">
            <a:spAutoFit/>
          </a:bodyPr>
          <a:lstStyle/>
          <a:p>
            <a:r>
              <a:rPr lang="zh-CN" altLang="en-US" b="1" dirty="0">
                <a:solidFill>
                  <a:schemeClr val="bg1"/>
                </a:solidFill>
                <a:latin typeface="方正稚艺简体" panose="03000509000000000000" pitchFamily="65" charset="-122"/>
                <a:ea typeface="方正稚艺简体" panose="03000509000000000000" pitchFamily="65" charset="-122"/>
              </a:rPr>
              <a:t>主战场</a:t>
            </a:r>
            <a:r>
              <a:rPr lang="en-US" altLang="zh-CN" b="1" dirty="0">
                <a:solidFill>
                  <a:schemeClr val="bg1"/>
                </a:solidFill>
                <a:latin typeface="方正稚艺简体" panose="03000509000000000000" pitchFamily="65" charset="-122"/>
                <a:ea typeface="方正稚艺简体" panose="03000509000000000000" pitchFamily="65" charset="-122"/>
              </a:rPr>
              <a:t>-</a:t>
            </a:r>
            <a:r>
              <a:rPr lang="zh-CN" altLang="en-US" b="1" dirty="0">
                <a:solidFill>
                  <a:schemeClr val="bg1"/>
                </a:solidFill>
                <a:latin typeface="方正稚艺简体" panose="03000509000000000000" pitchFamily="65" charset="-122"/>
                <a:ea typeface="方正稚艺简体" panose="03000509000000000000" pitchFamily="65" charset="-122"/>
              </a:rPr>
              <a:t>食堂</a:t>
            </a:r>
          </a:p>
        </p:txBody>
      </p:sp>
      <p:sp>
        <p:nvSpPr>
          <p:cNvPr id="35" name="文本框 34"/>
          <p:cNvSpPr txBox="1"/>
          <p:nvPr/>
        </p:nvSpPr>
        <p:spPr>
          <a:xfrm>
            <a:off x="2981630" y="2405050"/>
            <a:ext cx="649537" cy="369332"/>
          </a:xfrm>
          <a:prstGeom prst="rect">
            <a:avLst/>
          </a:prstGeom>
          <a:noFill/>
        </p:spPr>
        <p:txBody>
          <a:bodyPr wrap="none" rtlCol="0">
            <a:spAutoFit/>
          </a:bodyPr>
          <a:lstStyle/>
          <a:p>
            <a:r>
              <a:rPr lang="zh-CN" altLang="en-US" b="1" dirty="0">
                <a:solidFill>
                  <a:schemeClr val="bg1"/>
                </a:solidFill>
                <a:latin typeface="方正稚艺简体" panose="03000509000000000000" pitchFamily="65" charset="-122"/>
                <a:ea typeface="方正稚艺简体" panose="03000509000000000000" pitchFamily="65" charset="-122"/>
              </a:rPr>
              <a:t>烤肉</a:t>
            </a:r>
          </a:p>
        </p:txBody>
      </p:sp>
      <p:sp>
        <p:nvSpPr>
          <p:cNvPr id="36" name="文本框 35"/>
          <p:cNvSpPr txBox="1"/>
          <p:nvPr/>
        </p:nvSpPr>
        <p:spPr>
          <a:xfrm>
            <a:off x="10619994" y="2419942"/>
            <a:ext cx="1114408" cy="369332"/>
          </a:xfrm>
          <a:prstGeom prst="rect">
            <a:avLst/>
          </a:prstGeom>
          <a:noFill/>
        </p:spPr>
        <p:txBody>
          <a:bodyPr wrap="none" rtlCol="0">
            <a:spAutoFit/>
          </a:bodyPr>
          <a:lstStyle/>
          <a:p>
            <a:r>
              <a:rPr lang="zh-CN" altLang="en-US" b="1" dirty="0">
                <a:solidFill>
                  <a:schemeClr val="bg1"/>
                </a:solidFill>
                <a:latin typeface="方正稚艺简体" panose="03000509000000000000" pitchFamily="65" charset="-122"/>
                <a:ea typeface="方正稚艺简体" panose="03000509000000000000" pitchFamily="65" charset="-122"/>
              </a:rPr>
              <a:t>各色干锅</a:t>
            </a:r>
          </a:p>
        </p:txBody>
      </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563E60"/>
        </a:solidFill>
        <a:effectLst/>
      </p:bgPr>
    </p:bg>
    <p:spTree>
      <p:nvGrpSpPr>
        <p:cNvPr id="1" name=""/>
        <p:cNvGrpSpPr/>
        <p:nvPr/>
      </p:nvGrpSpPr>
      <p:grpSpPr>
        <a:xfrm>
          <a:off x="0" y="0"/>
          <a:ext cx="0" cy="0"/>
          <a:chOff x="0" y="0"/>
          <a:chExt cx="0" cy="0"/>
        </a:xfrm>
      </p:grpSpPr>
      <p:sp>
        <p:nvSpPr>
          <p:cNvPr id="2" name="矩形 1"/>
          <p:cNvSpPr/>
          <p:nvPr/>
        </p:nvSpPr>
        <p:spPr>
          <a:xfrm>
            <a:off x="-584200" y="1948716"/>
            <a:ext cx="13855700" cy="3290100"/>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等腰三角形 2"/>
          <p:cNvSpPr/>
          <p:nvPr/>
        </p:nvSpPr>
        <p:spPr>
          <a:xfrm rot="19722655">
            <a:off x="10897288" y="909097"/>
            <a:ext cx="885056" cy="604118"/>
          </a:xfrm>
          <a:prstGeom prst="triangle">
            <a:avLst/>
          </a:prstGeom>
          <a:solidFill>
            <a:srgbClr val="F3D7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6645209" y="190540"/>
            <a:ext cx="5188491" cy="1631216"/>
          </a:xfrm>
          <a:prstGeom prst="rect">
            <a:avLst/>
          </a:prstGeom>
          <a:noFill/>
        </p:spPr>
        <p:txBody>
          <a:bodyPr wrap="square" rtlCol="0">
            <a:spAutoFit/>
          </a:bodyPr>
          <a:lstStyle/>
          <a:p>
            <a:r>
              <a:rPr lang="zh-CN" altLang="en-US" sz="10000" dirty="0">
                <a:solidFill>
                  <a:schemeClr val="bg1"/>
                </a:solidFill>
                <a:latin typeface="张海山草泥马体" panose="02000000000000000000" pitchFamily="2" charset="-122"/>
                <a:ea typeface="张海山草泥马体" panose="02000000000000000000" pitchFamily="2" charset="-122"/>
              </a:rPr>
              <a:t>行</a:t>
            </a:r>
            <a:r>
              <a:rPr lang="en-US" altLang="zh-CN" sz="10000" dirty="0">
                <a:solidFill>
                  <a:schemeClr val="bg1"/>
                </a:solidFill>
                <a:latin typeface="张海山草泥马体" panose="02000000000000000000" pitchFamily="2" charset="-122"/>
                <a:ea typeface="张海山草泥马体" panose="02000000000000000000" pitchFamily="2" charset="-122"/>
              </a:rPr>
              <a:t>in</a:t>
            </a:r>
            <a:r>
              <a:rPr lang="zh-CN" altLang="en-US" sz="10000" dirty="0">
                <a:solidFill>
                  <a:schemeClr val="bg1"/>
                </a:solidFill>
                <a:latin typeface="张海山草泥马体" panose="02000000000000000000" pitchFamily="2" charset="-122"/>
                <a:ea typeface="张海山草泥马体" panose="02000000000000000000" pitchFamily="2" charset="-122"/>
              </a:rPr>
              <a:t>交大</a:t>
            </a:r>
          </a:p>
        </p:txBody>
      </p:sp>
      <p:sp>
        <p:nvSpPr>
          <p:cNvPr id="5" name="subway_100228"/>
          <p:cNvSpPr>
            <a:spLocks noChangeAspect="1"/>
          </p:cNvSpPr>
          <p:nvPr/>
        </p:nvSpPr>
        <p:spPr bwMode="auto">
          <a:xfrm>
            <a:off x="1919288" y="4079711"/>
            <a:ext cx="609685" cy="589409"/>
          </a:xfrm>
          <a:custGeom>
            <a:avLst/>
            <a:gdLst>
              <a:gd name="connsiteX0" fmla="*/ 134599 w 608468"/>
              <a:gd name="connsiteY0" fmla="*/ 494593 h 588233"/>
              <a:gd name="connsiteX1" fmla="*/ 176550 w 608468"/>
              <a:gd name="connsiteY1" fmla="*/ 502268 h 588233"/>
              <a:gd name="connsiteX2" fmla="*/ 170557 w 608468"/>
              <a:gd name="connsiteY2" fmla="*/ 513935 h 588233"/>
              <a:gd name="connsiteX3" fmla="*/ 435937 w 608468"/>
              <a:gd name="connsiteY3" fmla="*/ 513935 h 588233"/>
              <a:gd name="connsiteX4" fmla="*/ 429944 w 608468"/>
              <a:gd name="connsiteY4" fmla="*/ 502422 h 588233"/>
              <a:gd name="connsiteX5" fmla="*/ 472048 w 608468"/>
              <a:gd name="connsiteY5" fmla="*/ 494900 h 588233"/>
              <a:gd name="connsiteX6" fmla="*/ 504779 w 608468"/>
              <a:gd name="connsiteY6" fmla="*/ 558452 h 588233"/>
              <a:gd name="connsiteX7" fmla="*/ 496020 w 608468"/>
              <a:gd name="connsiteY7" fmla="*/ 585930 h 588233"/>
              <a:gd name="connsiteX8" fmla="*/ 486646 w 608468"/>
              <a:gd name="connsiteY8" fmla="*/ 588233 h 588233"/>
              <a:gd name="connsiteX9" fmla="*/ 468514 w 608468"/>
              <a:gd name="connsiteY9" fmla="*/ 577180 h 588233"/>
              <a:gd name="connsiteX10" fmla="*/ 456835 w 608468"/>
              <a:gd name="connsiteY10" fmla="*/ 554615 h 588233"/>
              <a:gd name="connsiteX11" fmla="*/ 149658 w 608468"/>
              <a:gd name="connsiteY11" fmla="*/ 554461 h 588233"/>
              <a:gd name="connsiteX12" fmla="*/ 137826 w 608468"/>
              <a:gd name="connsiteY12" fmla="*/ 577180 h 588233"/>
              <a:gd name="connsiteX13" fmla="*/ 119694 w 608468"/>
              <a:gd name="connsiteY13" fmla="*/ 588233 h 588233"/>
              <a:gd name="connsiteX14" fmla="*/ 110320 w 608468"/>
              <a:gd name="connsiteY14" fmla="*/ 585930 h 588233"/>
              <a:gd name="connsiteX15" fmla="*/ 101561 w 608468"/>
              <a:gd name="connsiteY15" fmla="*/ 558452 h 588233"/>
              <a:gd name="connsiteX16" fmla="*/ 83313 w 608468"/>
              <a:gd name="connsiteY16" fmla="*/ 461780 h 588233"/>
              <a:gd name="connsiteX17" fmla="*/ 115895 w 608468"/>
              <a:gd name="connsiteY17" fmla="*/ 486334 h 588233"/>
              <a:gd name="connsiteX18" fmla="*/ 35978 w 608468"/>
              <a:gd name="connsiteY18" fmla="*/ 581020 h 588233"/>
              <a:gd name="connsiteX19" fmla="*/ 20456 w 608468"/>
              <a:gd name="connsiteY19" fmla="*/ 588233 h 588233"/>
              <a:gd name="connsiteX20" fmla="*/ 7239 w 608468"/>
              <a:gd name="connsiteY20" fmla="*/ 583476 h 588233"/>
              <a:gd name="connsiteX21" fmla="*/ 4780 w 608468"/>
              <a:gd name="connsiteY21" fmla="*/ 554625 h 588233"/>
              <a:gd name="connsiteX22" fmla="*/ 524712 w 608468"/>
              <a:gd name="connsiteY22" fmla="*/ 461145 h 588233"/>
              <a:gd name="connsiteX23" fmla="*/ 603689 w 608468"/>
              <a:gd name="connsiteY23" fmla="*/ 554619 h 588233"/>
              <a:gd name="connsiteX24" fmla="*/ 601231 w 608468"/>
              <a:gd name="connsiteY24" fmla="*/ 583475 h 588233"/>
              <a:gd name="connsiteX25" fmla="*/ 588017 w 608468"/>
              <a:gd name="connsiteY25" fmla="*/ 588233 h 588233"/>
              <a:gd name="connsiteX26" fmla="*/ 572344 w 608468"/>
              <a:gd name="connsiteY26" fmla="*/ 581019 h 588233"/>
              <a:gd name="connsiteX27" fmla="*/ 492291 w 608468"/>
              <a:gd name="connsiteY27" fmla="*/ 486010 h 588233"/>
              <a:gd name="connsiteX28" fmla="*/ 524712 w 608468"/>
              <a:gd name="connsiteY28" fmla="*/ 461145 h 588233"/>
              <a:gd name="connsiteX29" fmla="*/ 383066 w 608468"/>
              <a:gd name="connsiteY29" fmla="*/ 351169 h 588233"/>
              <a:gd name="connsiteX30" fmla="*/ 354331 w 608468"/>
              <a:gd name="connsiteY30" fmla="*/ 379857 h 588233"/>
              <a:gd name="connsiteX31" fmla="*/ 383066 w 608468"/>
              <a:gd name="connsiteY31" fmla="*/ 408544 h 588233"/>
              <a:gd name="connsiteX32" fmla="*/ 411800 w 608468"/>
              <a:gd name="connsiteY32" fmla="*/ 379857 h 588233"/>
              <a:gd name="connsiteX33" fmla="*/ 383066 w 608468"/>
              <a:gd name="connsiteY33" fmla="*/ 351169 h 588233"/>
              <a:gd name="connsiteX34" fmla="*/ 224332 w 608468"/>
              <a:gd name="connsiteY34" fmla="*/ 351169 h 588233"/>
              <a:gd name="connsiteX35" fmla="*/ 195597 w 608468"/>
              <a:gd name="connsiteY35" fmla="*/ 379857 h 588233"/>
              <a:gd name="connsiteX36" fmla="*/ 224332 w 608468"/>
              <a:gd name="connsiteY36" fmla="*/ 408544 h 588233"/>
              <a:gd name="connsiteX37" fmla="*/ 253221 w 608468"/>
              <a:gd name="connsiteY37" fmla="*/ 379857 h 588233"/>
              <a:gd name="connsiteX38" fmla="*/ 224332 w 608468"/>
              <a:gd name="connsiteY38" fmla="*/ 351169 h 588233"/>
              <a:gd name="connsiteX39" fmla="*/ 155976 w 608468"/>
              <a:gd name="connsiteY39" fmla="*/ 44315 h 588233"/>
              <a:gd name="connsiteX40" fmla="*/ 451433 w 608468"/>
              <a:gd name="connsiteY40" fmla="*/ 44315 h 588233"/>
              <a:gd name="connsiteX41" fmla="*/ 391358 w 608468"/>
              <a:gd name="connsiteY41" fmla="*/ 284308 h 588233"/>
              <a:gd name="connsiteX42" fmla="*/ 216051 w 608468"/>
              <a:gd name="connsiteY42" fmla="*/ 284308 h 588233"/>
              <a:gd name="connsiteX43" fmla="*/ 122300 w 608468"/>
              <a:gd name="connsiteY43" fmla="*/ 43892 h 588233"/>
              <a:gd name="connsiteX44" fmla="*/ 187453 w 608468"/>
              <a:gd name="connsiteY44" fmla="*/ 304533 h 588233"/>
              <a:gd name="connsiteX45" fmla="*/ 203280 w 608468"/>
              <a:gd name="connsiteY45" fmla="*/ 316959 h 588233"/>
              <a:gd name="connsiteX46" fmla="*/ 404117 w 608468"/>
              <a:gd name="connsiteY46" fmla="*/ 316959 h 588233"/>
              <a:gd name="connsiteX47" fmla="*/ 419945 w 608468"/>
              <a:gd name="connsiteY47" fmla="*/ 304533 h 588233"/>
              <a:gd name="connsiteX48" fmla="*/ 485251 w 608468"/>
              <a:gd name="connsiteY48" fmla="*/ 43892 h 588233"/>
              <a:gd name="connsiteX49" fmla="*/ 511988 w 608468"/>
              <a:gd name="connsiteY49" fmla="*/ 109858 h 588233"/>
              <a:gd name="connsiteX50" fmla="*/ 529199 w 608468"/>
              <a:gd name="connsiteY50" fmla="*/ 360067 h 588233"/>
              <a:gd name="connsiteX51" fmla="*/ 426552 w 608468"/>
              <a:gd name="connsiteY51" fmla="*/ 469754 h 588233"/>
              <a:gd name="connsiteX52" fmla="*/ 180846 w 608468"/>
              <a:gd name="connsiteY52" fmla="*/ 469754 h 588233"/>
              <a:gd name="connsiteX53" fmla="*/ 78199 w 608468"/>
              <a:gd name="connsiteY53" fmla="*/ 360067 h 588233"/>
              <a:gd name="connsiteX54" fmla="*/ 95409 w 608468"/>
              <a:gd name="connsiteY54" fmla="*/ 109858 h 588233"/>
              <a:gd name="connsiteX55" fmla="*/ 122300 w 608468"/>
              <a:gd name="connsiteY55" fmla="*/ 43892 h 588233"/>
              <a:gd name="connsiteX56" fmla="*/ 213279 w 608468"/>
              <a:gd name="connsiteY56" fmla="*/ 0 h 588233"/>
              <a:gd name="connsiteX57" fmla="*/ 394132 w 608468"/>
              <a:gd name="connsiteY57" fmla="*/ 0 h 588233"/>
              <a:gd name="connsiteX58" fmla="*/ 444377 w 608468"/>
              <a:gd name="connsiteY58" fmla="*/ 11784 h 588233"/>
              <a:gd name="connsiteX59" fmla="*/ 163033 w 608468"/>
              <a:gd name="connsiteY59" fmla="*/ 11784 h 588233"/>
              <a:gd name="connsiteX60" fmla="*/ 213279 w 608468"/>
              <a:gd name="connsiteY60" fmla="*/ 0 h 588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8468" h="588233">
                <a:moveTo>
                  <a:pt x="134599" y="494593"/>
                </a:moveTo>
                <a:cubicBezTo>
                  <a:pt x="147814" y="499198"/>
                  <a:pt x="161951" y="501961"/>
                  <a:pt x="176550" y="502268"/>
                </a:cubicBezTo>
                <a:lnTo>
                  <a:pt x="170557" y="513935"/>
                </a:lnTo>
                <a:lnTo>
                  <a:pt x="435937" y="513935"/>
                </a:lnTo>
                <a:lnTo>
                  <a:pt x="429944" y="502422"/>
                </a:lnTo>
                <a:cubicBezTo>
                  <a:pt x="444542" y="501961"/>
                  <a:pt x="458679" y="499505"/>
                  <a:pt x="472048" y="494900"/>
                </a:cubicBezTo>
                <a:lnTo>
                  <a:pt x="504779" y="558452"/>
                </a:lnTo>
                <a:cubicBezTo>
                  <a:pt x="510003" y="568430"/>
                  <a:pt x="506008" y="580711"/>
                  <a:pt x="496020" y="585930"/>
                </a:cubicBezTo>
                <a:cubicBezTo>
                  <a:pt x="493100" y="587465"/>
                  <a:pt x="489873" y="588233"/>
                  <a:pt x="486646" y="588233"/>
                </a:cubicBezTo>
                <a:cubicBezTo>
                  <a:pt x="479270" y="588233"/>
                  <a:pt x="472202" y="584242"/>
                  <a:pt x="468514" y="577180"/>
                </a:cubicBezTo>
                <a:lnTo>
                  <a:pt x="456835" y="554615"/>
                </a:lnTo>
                <a:lnTo>
                  <a:pt x="149658" y="554461"/>
                </a:lnTo>
                <a:lnTo>
                  <a:pt x="137826" y="577180"/>
                </a:lnTo>
                <a:cubicBezTo>
                  <a:pt x="134292" y="584242"/>
                  <a:pt x="127069" y="588233"/>
                  <a:pt x="119694" y="588233"/>
                </a:cubicBezTo>
                <a:cubicBezTo>
                  <a:pt x="116620" y="588233"/>
                  <a:pt x="113393" y="587465"/>
                  <a:pt x="110320" y="585930"/>
                </a:cubicBezTo>
                <a:cubicBezTo>
                  <a:pt x="100332" y="580711"/>
                  <a:pt x="96490" y="568430"/>
                  <a:pt x="101561" y="558452"/>
                </a:cubicBezTo>
                <a:close/>
                <a:moveTo>
                  <a:pt x="83313" y="461780"/>
                </a:moveTo>
                <a:cubicBezTo>
                  <a:pt x="92996" y="471755"/>
                  <a:pt x="103908" y="479889"/>
                  <a:pt x="115895" y="486334"/>
                </a:cubicBezTo>
                <a:lnTo>
                  <a:pt x="35978" y="581020"/>
                </a:lnTo>
                <a:cubicBezTo>
                  <a:pt x="31982" y="585778"/>
                  <a:pt x="26296" y="588233"/>
                  <a:pt x="20456" y="588233"/>
                </a:cubicBezTo>
                <a:cubicBezTo>
                  <a:pt x="15845" y="588233"/>
                  <a:pt x="11081" y="586698"/>
                  <a:pt x="7239" y="583476"/>
                </a:cubicBezTo>
                <a:cubicBezTo>
                  <a:pt x="-1367" y="576109"/>
                  <a:pt x="-2443" y="563372"/>
                  <a:pt x="4780" y="554625"/>
                </a:cubicBezTo>
                <a:close/>
                <a:moveTo>
                  <a:pt x="524712" y="461145"/>
                </a:moveTo>
                <a:lnTo>
                  <a:pt x="603689" y="554619"/>
                </a:lnTo>
                <a:cubicBezTo>
                  <a:pt x="610911" y="563368"/>
                  <a:pt x="609836" y="576107"/>
                  <a:pt x="601231" y="583475"/>
                </a:cubicBezTo>
                <a:cubicBezTo>
                  <a:pt x="597390" y="586698"/>
                  <a:pt x="592626" y="588233"/>
                  <a:pt x="588017" y="588233"/>
                </a:cubicBezTo>
                <a:cubicBezTo>
                  <a:pt x="582178" y="588233"/>
                  <a:pt x="576493" y="585777"/>
                  <a:pt x="572344" y="581019"/>
                </a:cubicBezTo>
                <a:lnTo>
                  <a:pt x="492291" y="486010"/>
                </a:lnTo>
                <a:cubicBezTo>
                  <a:pt x="504122" y="479564"/>
                  <a:pt x="515185" y="471122"/>
                  <a:pt x="524712" y="461145"/>
                </a:cubicBezTo>
                <a:close/>
                <a:moveTo>
                  <a:pt x="383066" y="351169"/>
                </a:moveTo>
                <a:cubicBezTo>
                  <a:pt x="367238" y="351169"/>
                  <a:pt x="354331" y="363902"/>
                  <a:pt x="354331" y="379857"/>
                </a:cubicBezTo>
                <a:cubicBezTo>
                  <a:pt x="354331" y="395658"/>
                  <a:pt x="367238" y="408544"/>
                  <a:pt x="383066" y="408544"/>
                </a:cubicBezTo>
                <a:cubicBezTo>
                  <a:pt x="398893" y="408544"/>
                  <a:pt x="411800" y="395658"/>
                  <a:pt x="411800" y="379857"/>
                </a:cubicBezTo>
                <a:cubicBezTo>
                  <a:pt x="411800" y="363902"/>
                  <a:pt x="398893" y="351169"/>
                  <a:pt x="383066" y="351169"/>
                </a:cubicBezTo>
                <a:close/>
                <a:moveTo>
                  <a:pt x="224332" y="351169"/>
                </a:moveTo>
                <a:cubicBezTo>
                  <a:pt x="208505" y="351169"/>
                  <a:pt x="195597" y="363902"/>
                  <a:pt x="195597" y="379857"/>
                </a:cubicBezTo>
                <a:cubicBezTo>
                  <a:pt x="195597" y="395658"/>
                  <a:pt x="208505" y="408544"/>
                  <a:pt x="224332" y="408544"/>
                </a:cubicBezTo>
                <a:cubicBezTo>
                  <a:pt x="240313" y="408544"/>
                  <a:pt x="253221" y="395658"/>
                  <a:pt x="253221" y="379857"/>
                </a:cubicBezTo>
                <a:cubicBezTo>
                  <a:pt x="253221" y="363902"/>
                  <a:pt x="240313" y="351169"/>
                  <a:pt x="224332" y="351169"/>
                </a:cubicBezTo>
                <a:close/>
                <a:moveTo>
                  <a:pt x="155976" y="44315"/>
                </a:moveTo>
                <a:lnTo>
                  <a:pt x="451433" y="44315"/>
                </a:lnTo>
                <a:lnTo>
                  <a:pt x="391358" y="284308"/>
                </a:lnTo>
                <a:lnTo>
                  <a:pt x="216051" y="284308"/>
                </a:lnTo>
                <a:close/>
                <a:moveTo>
                  <a:pt x="122300" y="43892"/>
                </a:moveTo>
                <a:lnTo>
                  <a:pt x="187453" y="304533"/>
                </a:lnTo>
                <a:cubicBezTo>
                  <a:pt x="189297" y="311897"/>
                  <a:pt x="195905" y="316959"/>
                  <a:pt x="203280" y="316959"/>
                </a:cubicBezTo>
                <a:lnTo>
                  <a:pt x="404117" y="316959"/>
                </a:lnTo>
                <a:cubicBezTo>
                  <a:pt x="411647" y="316959"/>
                  <a:pt x="418101" y="311897"/>
                  <a:pt x="419945" y="304533"/>
                </a:cubicBezTo>
                <a:lnTo>
                  <a:pt x="485251" y="43892"/>
                </a:lnTo>
                <a:cubicBezTo>
                  <a:pt x="500464" y="62301"/>
                  <a:pt x="510298" y="85159"/>
                  <a:pt x="511988" y="109858"/>
                </a:cubicBezTo>
                <a:lnTo>
                  <a:pt x="529199" y="360067"/>
                </a:lnTo>
                <a:cubicBezTo>
                  <a:pt x="533501" y="420356"/>
                  <a:pt x="487249" y="469754"/>
                  <a:pt x="426552" y="469754"/>
                </a:cubicBezTo>
                <a:lnTo>
                  <a:pt x="180846" y="469754"/>
                </a:lnTo>
                <a:cubicBezTo>
                  <a:pt x="120149" y="469754"/>
                  <a:pt x="74050" y="420356"/>
                  <a:pt x="78199" y="360067"/>
                </a:cubicBezTo>
                <a:lnTo>
                  <a:pt x="95409" y="109858"/>
                </a:lnTo>
                <a:cubicBezTo>
                  <a:pt x="97100" y="85159"/>
                  <a:pt x="106934" y="62301"/>
                  <a:pt x="122300" y="43892"/>
                </a:cubicBezTo>
                <a:close/>
                <a:moveTo>
                  <a:pt x="213279" y="0"/>
                </a:moveTo>
                <a:lnTo>
                  <a:pt x="394132" y="0"/>
                </a:lnTo>
                <a:cubicBezTo>
                  <a:pt x="411956" y="0"/>
                  <a:pt x="429012" y="4285"/>
                  <a:pt x="444377" y="11784"/>
                </a:cubicBezTo>
                <a:lnTo>
                  <a:pt x="163033" y="11784"/>
                </a:lnTo>
                <a:cubicBezTo>
                  <a:pt x="178552" y="4285"/>
                  <a:pt x="195608" y="0"/>
                  <a:pt x="213279" y="0"/>
                </a:cubicBezTo>
                <a:close/>
              </a:path>
            </a:pathLst>
          </a:custGeom>
          <a:solidFill>
            <a:schemeClr val="bg1"/>
          </a:solidFill>
          <a:ln>
            <a:noFill/>
          </a:ln>
        </p:spPr>
      </p:sp>
      <p:sp>
        <p:nvSpPr>
          <p:cNvPr id="6" name="subway_64370"/>
          <p:cNvSpPr>
            <a:spLocks noChangeAspect="1"/>
          </p:cNvSpPr>
          <p:nvPr/>
        </p:nvSpPr>
        <p:spPr bwMode="auto">
          <a:xfrm>
            <a:off x="5906316" y="4069573"/>
            <a:ext cx="471699" cy="609685"/>
          </a:xfrm>
          <a:custGeom>
            <a:avLst/>
            <a:gdLst>
              <a:gd name="T0" fmla="*/ 3732 w 3912"/>
              <a:gd name="T1" fmla="*/ 212 h 5064"/>
              <a:gd name="T2" fmla="*/ 1956 w 3912"/>
              <a:gd name="T3" fmla="*/ 0 h 5064"/>
              <a:gd name="T4" fmla="*/ 180 w 3912"/>
              <a:gd name="T5" fmla="*/ 212 h 5064"/>
              <a:gd name="T6" fmla="*/ 0 w 3912"/>
              <a:gd name="T7" fmla="*/ 440 h 5064"/>
              <a:gd name="T8" fmla="*/ 0 w 3912"/>
              <a:gd name="T9" fmla="*/ 4288 h 5064"/>
              <a:gd name="T10" fmla="*/ 180 w 3912"/>
              <a:gd name="T11" fmla="*/ 4516 h 5064"/>
              <a:gd name="T12" fmla="*/ 388 w 3912"/>
              <a:gd name="T13" fmla="*/ 4560 h 5064"/>
              <a:gd name="T14" fmla="*/ 327 w 3912"/>
              <a:gd name="T15" fmla="*/ 4761 h 5064"/>
              <a:gd name="T16" fmla="*/ 363 w 3912"/>
              <a:gd name="T17" fmla="*/ 4969 h 5064"/>
              <a:gd name="T18" fmla="*/ 551 w 3912"/>
              <a:gd name="T19" fmla="*/ 5064 h 5064"/>
              <a:gd name="T20" fmla="*/ 585 w 3912"/>
              <a:gd name="T21" fmla="*/ 5064 h 5064"/>
              <a:gd name="T22" fmla="*/ 809 w 3912"/>
              <a:gd name="T23" fmla="*/ 4897 h 5064"/>
              <a:gd name="T24" fmla="*/ 890 w 3912"/>
              <a:gd name="T25" fmla="*/ 4630 h 5064"/>
              <a:gd name="T26" fmla="*/ 1956 w 3912"/>
              <a:gd name="T27" fmla="*/ 4682 h 5064"/>
              <a:gd name="T28" fmla="*/ 3022 w 3912"/>
              <a:gd name="T29" fmla="*/ 4630 h 5064"/>
              <a:gd name="T30" fmla="*/ 3103 w 3912"/>
              <a:gd name="T31" fmla="*/ 4897 h 5064"/>
              <a:gd name="T32" fmla="*/ 3327 w 3912"/>
              <a:gd name="T33" fmla="*/ 5064 h 5064"/>
              <a:gd name="T34" fmla="*/ 3361 w 3912"/>
              <a:gd name="T35" fmla="*/ 5064 h 5064"/>
              <a:gd name="T36" fmla="*/ 3361 w 3912"/>
              <a:gd name="T37" fmla="*/ 5064 h 5064"/>
              <a:gd name="T38" fmla="*/ 3596 w 3912"/>
              <a:gd name="T39" fmla="*/ 4829 h 5064"/>
              <a:gd name="T40" fmla="*/ 3582 w 3912"/>
              <a:gd name="T41" fmla="*/ 4750 h 5064"/>
              <a:gd name="T42" fmla="*/ 3524 w 3912"/>
              <a:gd name="T43" fmla="*/ 4560 h 5064"/>
              <a:gd name="T44" fmla="*/ 3732 w 3912"/>
              <a:gd name="T45" fmla="*/ 4516 h 5064"/>
              <a:gd name="T46" fmla="*/ 3912 w 3912"/>
              <a:gd name="T47" fmla="*/ 4288 h 5064"/>
              <a:gd name="T48" fmla="*/ 3912 w 3912"/>
              <a:gd name="T49" fmla="*/ 440 h 5064"/>
              <a:gd name="T50" fmla="*/ 3732 w 3912"/>
              <a:gd name="T51" fmla="*/ 212 h 5064"/>
              <a:gd name="T52" fmla="*/ 1343 w 3912"/>
              <a:gd name="T53" fmla="*/ 428 h 5064"/>
              <a:gd name="T54" fmla="*/ 2569 w 3912"/>
              <a:gd name="T55" fmla="*/ 428 h 5064"/>
              <a:gd name="T56" fmla="*/ 2706 w 3912"/>
              <a:gd name="T57" fmla="*/ 565 h 5064"/>
              <a:gd name="T58" fmla="*/ 2569 w 3912"/>
              <a:gd name="T59" fmla="*/ 703 h 5064"/>
              <a:gd name="T60" fmla="*/ 1343 w 3912"/>
              <a:gd name="T61" fmla="*/ 703 h 5064"/>
              <a:gd name="T62" fmla="*/ 1206 w 3912"/>
              <a:gd name="T63" fmla="*/ 565 h 5064"/>
              <a:gd name="T64" fmla="*/ 1343 w 3912"/>
              <a:gd name="T65" fmla="*/ 428 h 5064"/>
              <a:gd name="T66" fmla="*/ 1027 w 3912"/>
              <a:gd name="T67" fmla="*/ 3856 h 5064"/>
              <a:gd name="T68" fmla="*/ 685 w 3912"/>
              <a:gd name="T69" fmla="*/ 3514 h 5064"/>
              <a:gd name="T70" fmla="*/ 1027 w 3912"/>
              <a:gd name="T71" fmla="*/ 3172 h 5064"/>
              <a:gd name="T72" fmla="*/ 1369 w 3912"/>
              <a:gd name="T73" fmla="*/ 3514 h 5064"/>
              <a:gd name="T74" fmla="*/ 1027 w 3912"/>
              <a:gd name="T75" fmla="*/ 3856 h 5064"/>
              <a:gd name="T76" fmla="*/ 2885 w 3912"/>
              <a:gd name="T77" fmla="*/ 3856 h 5064"/>
              <a:gd name="T78" fmla="*/ 2543 w 3912"/>
              <a:gd name="T79" fmla="*/ 3514 h 5064"/>
              <a:gd name="T80" fmla="*/ 2885 w 3912"/>
              <a:gd name="T81" fmla="*/ 3172 h 5064"/>
              <a:gd name="T82" fmla="*/ 3227 w 3912"/>
              <a:gd name="T83" fmla="*/ 3514 h 5064"/>
              <a:gd name="T84" fmla="*/ 2885 w 3912"/>
              <a:gd name="T85" fmla="*/ 3856 h 5064"/>
              <a:gd name="T86" fmla="*/ 3313 w 3912"/>
              <a:gd name="T87" fmla="*/ 2507 h 5064"/>
              <a:gd name="T88" fmla="*/ 599 w 3912"/>
              <a:gd name="T89" fmla="*/ 2507 h 5064"/>
              <a:gd name="T90" fmla="*/ 599 w 3912"/>
              <a:gd name="T91" fmla="*/ 1173 h 5064"/>
              <a:gd name="T92" fmla="*/ 3313 w 3912"/>
              <a:gd name="T93" fmla="*/ 1173 h 5064"/>
              <a:gd name="T94" fmla="*/ 3313 w 3912"/>
              <a:gd name="T95" fmla="*/ 2507 h 5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912" h="5064">
                <a:moveTo>
                  <a:pt x="3732" y="212"/>
                </a:moveTo>
                <a:cubicBezTo>
                  <a:pt x="3146" y="71"/>
                  <a:pt x="2549" y="0"/>
                  <a:pt x="1956" y="0"/>
                </a:cubicBezTo>
                <a:cubicBezTo>
                  <a:pt x="1363" y="0"/>
                  <a:pt x="766" y="71"/>
                  <a:pt x="180" y="212"/>
                </a:cubicBezTo>
                <a:cubicBezTo>
                  <a:pt x="75" y="237"/>
                  <a:pt x="0" y="331"/>
                  <a:pt x="0" y="440"/>
                </a:cubicBezTo>
                <a:lnTo>
                  <a:pt x="0" y="4288"/>
                </a:lnTo>
                <a:cubicBezTo>
                  <a:pt x="0" y="4396"/>
                  <a:pt x="75" y="4491"/>
                  <a:pt x="180" y="4516"/>
                </a:cubicBezTo>
                <a:cubicBezTo>
                  <a:pt x="244" y="4531"/>
                  <a:pt x="314" y="4546"/>
                  <a:pt x="388" y="4560"/>
                </a:cubicBezTo>
                <a:lnTo>
                  <a:pt x="327" y="4761"/>
                </a:lnTo>
                <a:cubicBezTo>
                  <a:pt x="305" y="4832"/>
                  <a:pt x="319" y="4909"/>
                  <a:pt x="363" y="4969"/>
                </a:cubicBezTo>
                <a:cubicBezTo>
                  <a:pt x="407" y="5029"/>
                  <a:pt x="477" y="5064"/>
                  <a:pt x="551" y="5064"/>
                </a:cubicBezTo>
                <a:lnTo>
                  <a:pt x="585" y="5064"/>
                </a:lnTo>
                <a:cubicBezTo>
                  <a:pt x="688" y="5064"/>
                  <a:pt x="779" y="4996"/>
                  <a:pt x="809" y="4897"/>
                </a:cubicBezTo>
                <a:lnTo>
                  <a:pt x="890" y="4630"/>
                </a:lnTo>
                <a:cubicBezTo>
                  <a:pt x="1218" y="4664"/>
                  <a:pt x="1585" y="4682"/>
                  <a:pt x="1956" y="4682"/>
                </a:cubicBezTo>
                <a:cubicBezTo>
                  <a:pt x="2327" y="4682"/>
                  <a:pt x="2694" y="4664"/>
                  <a:pt x="3022" y="4630"/>
                </a:cubicBezTo>
                <a:lnTo>
                  <a:pt x="3103" y="4897"/>
                </a:lnTo>
                <a:cubicBezTo>
                  <a:pt x="3133" y="4996"/>
                  <a:pt x="3224" y="5064"/>
                  <a:pt x="3327" y="5064"/>
                </a:cubicBezTo>
                <a:lnTo>
                  <a:pt x="3361" y="5064"/>
                </a:lnTo>
                <a:lnTo>
                  <a:pt x="3361" y="5064"/>
                </a:lnTo>
                <a:cubicBezTo>
                  <a:pt x="3491" y="5064"/>
                  <a:pt x="3596" y="4959"/>
                  <a:pt x="3596" y="4829"/>
                </a:cubicBezTo>
                <a:cubicBezTo>
                  <a:pt x="3596" y="4802"/>
                  <a:pt x="3591" y="4775"/>
                  <a:pt x="3582" y="4750"/>
                </a:cubicBezTo>
                <a:lnTo>
                  <a:pt x="3524" y="4560"/>
                </a:lnTo>
                <a:cubicBezTo>
                  <a:pt x="3598" y="4546"/>
                  <a:pt x="3667" y="4531"/>
                  <a:pt x="3732" y="4516"/>
                </a:cubicBezTo>
                <a:cubicBezTo>
                  <a:pt x="3837" y="4491"/>
                  <a:pt x="3912" y="4396"/>
                  <a:pt x="3912" y="4288"/>
                </a:cubicBezTo>
                <a:lnTo>
                  <a:pt x="3912" y="440"/>
                </a:lnTo>
                <a:cubicBezTo>
                  <a:pt x="3912" y="331"/>
                  <a:pt x="3837" y="237"/>
                  <a:pt x="3732" y="212"/>
                </a:cubicBezTo>
                <a:close/>
                <a:moveTo>
                  <a:pt x="1343" y="428"/>
                </a:moveTo>
                <a:lnTo>
                  <a:pt x="2569" y="428"/>
                </a:lnTo>
                <a:cubicBezTo>
                  <a:pt x="2645" y="428"/>
                  <a:pt x="2706" y="489"/>
                  <a:pt x="2706" y="565"/>
                </a:cubicBezTo>
                <a:cubicBezTo>
                  <a:pt x="2706" y="641"/>
                  <a:pt x="2645" y="703"/>
                  <a:pt x="2569" y="703"/>
                </a:cubicBezTo>
                <a:lnTo>
                  <a:pt x="1343" y="703"/>
                </a:lnTo>
                <a:cubicBezTo>
                  <a:pt x="1267" y="703"/>
                  <a:pt x="1206" y="641"/>
                  <a:pt x="1206" y="565"/>
                </a:cubicBezTo>
                <a:cubicBezTo>
                  <a:pt x="1206" y="489"/>
                  <a:pt x="1267" y="428"/>
                  <a:pt x="1343" y="428"/>
                </a:cubicBezTo>
                <a:close/>
                <a:moveTo>
                  <a:pt x="1027" y="3856"/>
                </a:moveTo>
                <a:cubicBezTo>
                  <a:pt x="838" y="3856"/>
                  <a:pt x="685" y="3703"/>
                  <a:pt x="685" y="3514"/>
                </a:cubicBezTo>
                <a:cubicBezTo>
                  <a:pt x="685" y="3325"/>
                  <a:pt x="838" y="3172"/>
                  <a:pt x="1027" y="3172"/>
                </a:cubicBezTo>
                <a:cubicBezTo>
                  <a:pt x="1216" y="3172"/>
                  <a:pt x="1369" y="3325"/>
                  <a:pt x="1369" y="3514"/>
                </a:cubicBezTo>
                <a:cubicBezTo>
                  <a:pt x="1369" y="3703"/>
                  <a:pt x="1216" y="3856"/>
                  <a:pt x="1027" y="3856"/>
                </a:cubicBezTo>
                <a:close/>
                <a:moveTo>
                  <a:pt x="2885" y="3856"/>
                </a:moveTo>
                <a:cubicBezTo>
                  <a:pt x="2696" y="3856"/>
                  <a:pt x="2543" y="3703"/>
                  <a:pt x="2543" y="3514"/>
                </a:cubicBezTo>
                <a:cubicBezTo>
                  <a:pt x="2543" y="3325"/>
                  <a:pt x="2696" y="3172"/>
                  <a:pt x="2885" y="3172"/>
                </a:cubicBezTo>
                <a:cubicBezTo>
                  <a:pt x="3074" y="3172"/>
                  <a:pt x="3227" y="3325"/>
                  <a:pt x="3227" y="3514"/>
                </a:cubicBezTo>
                <a:cubicBezTo>
                  <a:pt x="3227" y="3703"/>
                  <a:pt x="3074" y="3856"/>
                  <a:pt x="2885" y="3856"/>
                </a:cubicBezTo>
                <a:close/>
                <a:moveTo>
                  <a:pt x="3313" y="2507"/>
                </a:moveTo>
                <a:lnTo>
                  <a:pt x="599" y="2507"/>
                </a:lnTo>
                <a:lnTo>
                  <a:pt x="599" y="1173"/>
                </a:lnTo>
                <a:lnTo>
                  <a:pt x="3313" y="1173"/>
                </a:lnTo>
                <a:lnTo>
                  <a:pt x="3313" y="2507"/>
                </a:lnTo>
                <a:close/>
              </a:path>
            </a:pathLst>
          </a:custGeom>
          <a:solidFill>
            <a:schemeClr val="bg1"/>
          </a:solidFill>
          <a:ln>
            <a:noFill/>
          </a:ln>
        </p:spPr>
      </p:sp>
      <p:sp>
        <p:nvSpPr>
          <p:cNvPr id="7" name="frontal-large-bus_16784"/>
          <p:cNvSpPr>
            <a:spLocks noChangeAspect="1"/>
          </p:cNvSpPr>
          <p:nvPr/>
        </p:nvSpPr>
        <p:spPr bwMode="auto">
          <a:xfrm>
            <a:off x="9184016" y="4069573"/>
            <a:ext cx="479012" cy="609685"/>
          </a:xfrm>
          <a:custGeom>
            <a:avLst/>
            <a:gdLst>
              <a:gd name="T0" fmla="*/ 3010 w 3240"/>
              <a:gd name="T1" fmla="*/ 595 h 4130"/>
              <a:gd name="T2" fmla="*/ 3010 w 3240"/>
              <a:gd name="T3" fmla="*/ 1601 h 4130"/>
              <a:gd name="T4" fmla="*/ 3091 w 3240"/>
              <a:gd name="T5" fmla="*/ 1601 h 4130"/>
              <a:gd name="T6" fmla="*/ 3091 w 3240"/>
              <a:gd name="T7" fmla="*/ 2023 h 4130"/>
              <a:gd name="T8" fmla="*/ 2902 w 3240"/>
              <a:gd name="T9" fmla="*/ 2023 h 4130"/>
              <a:gd name="T10" fmla="*/ 2902 w 3240"/>
              <a:gd name="T11" fmla="*/ 559 h 4130"/>
              <a:gd name="T12" fmla="*/ 2407 w 3240"/>
              <a:gd name="T13" fmla="*/ 0 h 4130"/>
              <a:gd name="T14" fmla="*/ 839 w 3240"/>
              <a:gd name="T15" fmla="*/ 0 h 4130"/>
              <a:gd name="T16" fmla="*/ 344 w 3240"/>
              <a:gd name="T17" fmla="*/ 559 h 4130"/>
              <a:gd name="T18" fmla="*/ 344 w 3240"/>
              <a:gd name="T19" fmla="*/ 2016 h 4130"/>
              <a:gd name="T20" fmla="*/ 126 w 3240"/>
              <a:gd name="T21" fmla="*/ 2016 h 4130"/>
              <a:gd name="T22" fmla="*/ 126 w 3240"/>
              <a:gd name="T23" fmla="*/ 1545 h 4130"/>
              <a:gd name="T24" fmla="*/ 230 w 3240"/>
              <a:gd name="T25" fmla="*/ 1545 h 4130"/>
              <a:gd name="T26" fmla="*/ 230 w 3240"/>
              <a:gd name="T27" fmla="*/ 539 h 4130"/>
              <a:gd name="T28" fmla="*/ 0 w 3240"/>
              <a:gd name="T29" fmla="*/ 539 h 4130"/>
              <a:gd name="T30" fmla="*/ 0 w 3240"/>
              <a:gd name="T31" fmla="*/ 1545 h 4130"/>
              <a:gd name="T32" fmla="*/ 86 w 3240"/>
              <a:gd name="T33" fmla="*/ 1545 h 4130"/>
              <a:gd name="T34" fmla="*/ 86 w 3240"/>
              <a:gd name="T35" fmla="*/ 2061 h 4130"/>
              <a:gd name="T36" fmla="*/ 344 w 3240"/>
              <a:gd name="T37" fmla="*/ 2061 h 4130"/>
              <a:gd name="T38" fmla="*/ 344 w 3240"/>
              <a:gd name="T39" fmla="*/ 3095 h 4130"/>
              <a:gd name="T40" fmla="*/ 593 w 3240"/>
              <a:gd name="T41" fmla="*/ 3580 h 4130"/>
              <a:gd name="T42" fmla="*/ 592 w 3240"/>
              <a:gd name="T43" fmla="*/ 3954 h 4130"/>
              <a:gd name="T44" fmla="*/ 771 w 3240"/>
              <a:gd name="T45" fmla="*/ 4130 h 4130"/>
              <a:gd name="T46" fmla="*/ 873 w 3240"/>
              <a:gd name="T47" fmla="*/ 4130 h 4130"/>
              <a:gd name="T48" fmla="*/ 1045 w 3240"/>
              <a:gd name="T49" fmla="*/ 3950 h 4130"/>
              <a:gd name="T50" fmla="*/ 1046 w 3240"/>
              <a:gd name="T51" fmla="*/ 3610 h 4130"/>
              <a:gd name="T52" fmla="*/ 2190 w 3240"/>
              <a:gd name="T53" fmla="*/ 3610 h 4130"/>
              <a:gd name="T54" fmla="*/ 2190 w 3240"/>
              <a:gd name="T55" fmla="*/ 3950 h 4130"/>
              <a:gd name="T56" fmla="*/ 2191 w 3240"/>
              <a:gd name="T57" fmla="*/ 3971 h 4130"/>
              <a:gd name="T58" fmla="*/ 2192 w 3240"/>
              <a:gd name="T59" fmla="*/ 3971 h 4130"/>
              <a:gd name="T60" fmla="*/ 2361 w 3240"/>
              <a:gd name="T61" fmla="*/ 4109 h 4130"/>
              <a:gd name="T62" fmla="*/ 2466 w 3240"/>
              <a:gd name="T63" fmla="*/ 4109 h 4130"/>
              <a:gd name="T64" fmla="*/ 2636 w 3240"/>
              <a:gd name="T65" fmla="*/ 3951 h 4130"/>
              <a:gd name="T66" fmla="*/ 2644 w 3240"/>
              <a:gd name="T67" fmla="*/ 3586 h 4130"/>
              <a:gd name="T68" fmla="*/ 2902 w 3240"/>
              <a:gd name="T69" fmla="*/ 3095 h 4130"/>
              <a:gd name="T70" fmla="*/ 2902 w 3240"/>
              <a:gd name="T71" fmla="*/ 2068 h 4130"/>
              <a:gd name="T72" fmla="*/ 3130 w 3240"/>
              <a:gd name="T73" fmla="*/ 2068 h 4130"/>
              <a:gd name="T74" fmla="*/ 3130 w 3240"/>
              <a:gd name="T75" fmla="*/ 1601 h 4130"/>
              <a:gd name="T76" fmla="*/ 3240 w 3240"/>
              <a:gd name="T77" fmla="*/ 1601 h 4130"/>
              <a:gd name="T78" fmla="*/ 3240 w 3240"/>
              <a:gd name="T79" fmla="*/ 595 h 4130"/>
              <a:gd name="T80" fmla="*/ 3010 w 3240"/>
              <a:gd name="T81" fmla="*/ 595 h 4130"/>
              <a:gd name="T82" fmla="*/ 1059 w 3240"/>
              <a:gd name="T83" fmla="*/ 112 h 4130"/>
              <a:gd name="T84" fmla="*/ 2207 w 3240"/>
              <a:gd name="T85" fmla="*/ 112 h 4130"/>
              <a:gd name="T86" fmla="*/ 2207 w 3240"/>
              <a:gd name="T87" fmla="*/ 445 h 4130"/>
              <a:gd name="T88" fmla="*/ 1059 w 3240"/>
              <a:gd name="T89" fmla="*/ 445 h 4130"/>
              <a:gd name="T90" fmla="*/ 1059 w 3240"/>
              <a:gd name="T91" fmla="*/ 112 h 4130"/>
              <a:gd name="T92" fmla="*/ 1215 w 3240"/>
              <a:gd name="T93" fmla="*/ 3093 h 4130"/>
              <a:gd name="T94" fmla="*/ 563 w 3240"/>
              <a:gd name="T95" fmla="*/ 3093 h 4130"/>
              <a:gd name="T96" fmla="*/ 563 w 3240"/>
              <a:gd name="T97" fmla="*/ 2738 h 4130"/>
              <a:gd name="T98" fmla="*/ 1215 w 3240"/>
              <a:gd name="T99" fmla="*/ 2738 h 4130"/>
              <a:gd name="T100" fmla="*/ 1215 w 3240"/>
              <a:gd name="T101" fmla="*/ 3093 h 4130"/>
              <a:gd name="T102" fmla="*/ 2704 w 3240"/>
              <a:gd name="T103" fmla="*/ 3093 h 4130"/>
              <a:gd name="T104" fmla="*/ 2051 w 3240"/>
              <a:gd name="T105" fmla="*/ 3093 h 4130"/>
              <a:gd name="T106" fmla="*/ 2051 w 3240"/>
              <a:gd name="T107" fmla="*/ 2738 h 4130"/>
              <a:gd name="T108" fmla="*/ 2704 w 3240"/>
              <a:gd name="T109" fmla="*/ 2738 h 4130"/>
              <a:gd name="T110" fmla="*/ 2704 w 3240"/>
              <a:gd name="T111" fmla="*/ 3093 h 4130"/>
              <a:gd name="T112" fmla="*/ 2703 w 3240"/>
              <a:gd name="T113" fmla="*/ 2069 h 4130"/>
              <a:gd name="T114" fmla="*/ 1613 w 3240"/>
              <a:gd name="T115" fmla="*/ 2510 h 4130"/>
              <a:gd name="T116" fmla="*/ 544 w 3240"/>
              <a:gd name="T117" fmla="*/ 2068 h 4130"/>
              <a:gd name="T118" fmla="*/ 543 w 3240"/>
              <a:gd name="T119" fmla="*/ 2063 h 4130"/>
              <a:gd name="T120" fmla="*/ 543 w 3240"/>
              <a:gd name="T121" fmla="*/ 561 h 4130"/>
              <a:gd name="T122" fmla="*/ 2704 w 3240"/>
              <a:gd name="T123" fmla="*/ 561 h 4130"/>
              <a:gd name="T124" fmla="*/ 2703 w 3240"/>
              <a:gd name="T125" fmla="*/ 2069 h 4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40" h="4130">
                <a:moveTo>
                  <a:pt x="3010" y="595"/>
                </a:moveTo>
                <a:lnTo>
                  <a:pt x="3010" y="1601"/>
                </a:lnTo>
                <a:lnTo>
                  <a:pt x="3091" y="1601"/>
                </a:lnTo>
                <a:lnTo>
                  <a:pt x="3091" y="2023"/>
                </a:lnTo>
                <a:lnTo>
                  <a:pt x="2902" y="2023"/>
                </a:lnTo>
                <a:lnTo>
                  <a:pt x="2902" y="559"/>
                </a:lnTo>
                <a:cubicBezTo>
                  <a:pt x="2902" y="251"/>
                  <a:pt x="2680" y="0"/>
                  <a:pt x="2407" y="0"/>
                </a:cubicBezTo>
                <a:lnTo>
                  <a:pt x="839" y="0"/>
                </a:lnTo>
                <a:cubicBezTo>
                  <a:pt x="566" y="0"/>
                  <a:pt x="344" y="251"/>
                  <a:pt x="344" y="559"/>
                </a:cubicBezTo>
                <a:lnTo>
                  <a:pt x="344" y="2016"/>
                </a:lnTo>
                <a:lnTo>
                  <a:pt x="126" y="2016"/>
                </a:lnTo>
                <a:lnTo>
                  <a:pt x="126" y="1545"/>
                </a:lnTo>
                <a:lnTo>
                  <a:pt x="230" y="1545"/>
                </a:lnTo>
                <a:lnTo>
                  <a:pt x="230" y="539"/>
                </a:lnTo>
                <a:lnTo>
                  <a:pt x="0" y="539"/>
                </a:lnTo>
                <a:lnTo>
                  <a:pt x="0" y="1545"/>
                </a:lnTo>
                <a:lnTo>
                  <a:pt x="86" y="1545"/>
                </a:lnTo>
                <a:lnTo>
                  <a:pt x="86" y="2061"/>
                </a:lnTo>
                <a:lnTo>
                  <a:pt x="344" y="2061"/>
                </a:lnTo>
                <a:lnTo>
                  <a:pt x="344" y="3095"/>
                </a:lnTo>
                <a:cubicBezTo>
                  <a:pt x="344" y="3295"/>
                  <a:pt x="439" y="3480"/>
                  <a:pt x="593" y="3580"/>
                </a:cubicBezTo>
                <a:lnTo>
                  <a:pt x="592" y="3954"/>
                </a:lnTo>
                <a:cubicBezTo>
                  <a:pt x="598" y="4051"/>
                  <a:pt x="679" y="4130"/>
                  <a:pt x="771" y="4130"/>
                </a:cubicBezTo>
                <a:lnTo>
                  <a:pt x="873" y="4130"/>
                </a:lnTo>
                <a:cubicBezTo>
                  <a:pt x="963" y="4130"/>
                  <a:pt x="1039" y="4052"/>
                  <a:pt x="1045" y="3950"/>
                </a:cubicBezTo>
                <a:lnTo>
                  <a:pt x="1046" y="3610"/>
                </a:lnTo>
                <a:lnTo>
                  <a:pt x="2190" y="3610"/>
                </a:lnTo>
                <a:lnTo>
                  <a:pt x="2190" y="3950"/>
                </a:lnTo>
                <a:lnTo>
                  <a:pt x="2191" y="3971"/>
                </a:lnTo>
                <a:lnTo>
                  <a:pt x="2192" y="3971"/>
                </a:lnTo>
                <a:cubicBezTo>
                  <a:pt x="2202" y="4099"/>
                  <a:pt x="2310" y="4106"/>
                  <a:pt x="2361" y="4109"/>
                </a:cubicBezTo>
                <a:lnTo>
                  <a:pt x="2466" y="4109"/>
                </a:lnTo>
                <a:cubicBezTo>
                  <a:pt x="2548" y="4109"/>
                  <a:pt x="2618" y="4045"/>
                  <a:pt x="2636" y="3951"/>
                </a:cubicBezTo>
                <a:lnTo>
                  <a:pt x="2644" y="3586"/>
                </a:lnTo>
                <a:cubicBezTo>
                  <a:pt x="2803" y="3488"/>
                  <a:pt x="2902" y="3301"/>
                  <a:pt x="2902" y="3095"/>
                </a:cubicBezTo>
                <a:lnTo>
                  <a:pt x="2902" y="2068"/>
                </a:lnTo>
                <a:lnTo>
                  <a:pt x="3130" y="2068"/>
                </a:lnTo>
                <a:lnTo>
                  <a:pt x="3130" y="1601"/>
                </a:lnTo>
                <a:lnTo>
                  <a:pt x="3240" y="1601"/>
                </a:lnTo>
                <a:lnTo>
                  <a:pt x="3240" y="595"/>
                </a:lnTo>
                <a:lnTo>
                  <a:pt x="3010" y="595"/>
                </a:lnTo>
                <a:close/>
                <a:moveTo>
                  <a:pt x="1059" y="112"/>
                </a:moveTo>
                <a:lnTo>
                  <a:pt x="2207" y="112"/>
                </a:lnTo>
                <a:lnTo>
                  <a:pt x="2207" y="445"/>
                </a:lnTo>
                <a:lnTo>
                  <a:pt x="1059" y="445"/>
                </a:lnTo>
                <a:lnTo>
                  <a:pt x="1059" y="112"/>
                </a:lnTo>
                <a:close/>
                <a:moveTo>
                  <a:pt x="1215" y="3093"/>
                </a:moveTo>
                <a:lnTo>
                  <a:pt x="563" y="3093"/>
                </a:lnTo>
                <a:lnTo>
                  <a:pt x="563" y="2738"/>
                </a:lnTo>
                <a:lnTo>
                  <a:pt x="1215" y="2738"/>
                </a:lnTo>
                <a:lnTo>
                  <a:pt x="1215" y="3093"/>
                </a:lnTo>
                <a:close/>
                <a:moveTo>
                  <a:pt x="2704" y="3093"/>
                </a:moveTo>
                <a:lnTo>
                  <a:pt x="2051" y="3093"/>
                </a:lnTo>
                <a:lnTo>
                  <a:pt x="2051" y="2738"/>
                </a:lnTo>
                <a:lnTo>
                  <a:pt x="2704" y="2738"/>
                </a:lnTo>
                <a:lnTo>
                  <a:pt x="2704" y="3093"/>
                </a:lnTo>
                <a:close/>
                <a:moveTo>
                  <a:pt x="2703" y="2069"/>
                </a:moveTo>
                <a:cubicBezTo>
                  <a:pt x="2698" y="2087"/>
                  <a:pt x="2569" y="2510"/>
                  <a:pt x="1613" y="2510"/>
                </a:cubicBezTo>
                <a:cubicBezTo>
                  <a:pt x="657" y="2510"/>
                  <a:pt x="548" y="2086"/>
                  <a:pt x="544" y="2068"/>
                </a:cubicBezTo>
                <a:lnTo>
                  <a:pt x="543" y="2063"/>
                </a:lnTo>
                <a:lnTo>
                  <a:pt x="543" y="561"/>
                </a:lnTo>
                <a:lnTo>
                  <a:pt x="2704" y="561"/>
                </a:lnTo>
                <a:lnTo>
                  <a:pt x="2703" y="2069"/>
                </a:lnTo>
                <a:close/>
              </a:path>
            </a:pathLst>
          </a:custGeom>
          <a:solidFill>
            <a:schemeClr val="bg1"/>
          </a:solidFill>
          <a:ln>
            <a:noFill/>
          </a:ln>
        </p:spPr>
      </p:sp>
      <p:sp>
        <p:nvSpPr>
          <p:cNvPr id="8" name="文本框 7"/>
          <p:cNvSpPr txBox="1"/>
          <p:nvPr/>
        </p:nvSpPr>
        <p:spPr>
          <a:xfrm>
            <a:off x="5541445" y="2088416"/>
            <a:ext cx="1261597" cy="1815882"/>
          </a:xfrm>
          <a:prstGeom prst="rect">
            <a:avLst/>
          </a:prstGeom>
          <a:noFill/>
        </p:spPr>
        <p:txBody>
          <a:bodyPr wrap="square" rtlCol="0">
            <a:spAutoFit/>
          </a:bodyPr>
          <a:lstStyle/>
          <a:p>
            <a:r>
              <a:rPr lang="en-US" altLang="zh-CN" sz="2800" b="1" dirty="0">
                <a:solidFill>
                  <a:schemeClr val="bg1"/>
                </a:solidFill>
                <a:latin typeface="张海山锐线体简" panose="02000000000000000000" pitchFamily="2" charset="-122"/>
                <a:ea typeface="张海山锐线体简" panose="02000000000000000000" pitchFamily="2" charset="-122"/>
              </a:rPr>
              <a:t>723</a:t>
            </a:r>
            <a:r>
              <a:rPr lang="zh-CN" altLang="en-US" sz="2800" b="1" dirty="0">
                <a:solidFill>
                  <a:schemeClr val="bg1"/>
                </a:solidFill>
                <a:latin typeface="张海山锐线体简" panose="02000000000000000000" pitchFamily="2" charset="-122"/>
                <a:ea typeface="张海山锐线体简" panose="02000000000000000000" pitchFamily="2" charset="-122"/>
              </a:rPr>
              <a:t>路</a:t>
            </a:r>
            <a:endParaRPr lang="en-US" altLang="zh-CN" sz="2800" b="1" dirty="0">
              <a:solidFill>
                <a:schemeClr val="bg1"/>
              </a:solidFill>
              <a:latin typeface="张海山锐线体简" panose="02000000000000000000" pitchFamily="2" charset="-122"/>
              <a:ea typeface="张海山锐线体简" panose="02000000000000000000" pitchFamily="2" charset="-122"/>
            </a:endParaRPr>
          </a:p>
          <a:p>
            <a:r>
              <a:rPr lang="en-US" altLang="zh-CN" sz="2800" b="1" dirty="0">
                <a:solidFill>
                  <a:schemeClr val="bg1"/>
                </a:solidFill>
                <a:latin typeface="张海山锐线体简" panose="02000000000000000000" pitchFamily="2" charset="-122"/>
                <a:ea typeface="张海山锐线体简" panose="02000000000000000000" pitchFamily="2" charset="-122"/>
              </a:rPr>
              <a:t>116</a:t>
            </a:r>
            <a:r>
              <a:rPr lang="zh-CN" altLang="en-US" sz="2800" b="1" dirty="0">
                <a:solidFill>
                  <a:schemeClr val="bg1"/>
                </a:solidFill>
                <a:latin typeface="张海山锐线体简" panose="02000000000000000000" pitchFamily="2" charset="-122"/>
                <a:ea typeface="张海山锐线体简" panose="02000000000000000000" pitchFamily="2" charset="-122"/>
              </a:rPr>
              <a:t>路  </a:t>
            </a:r>
            <a:endParaRPr lang="en-US" altLang="zh-CN" sz="2800" b="1" dirty="0">
              <a:solidFill>
                <a:schemeClr val="bg1"/>
              </a:solidFill>
              <a:latin typeface="张海山锐线体简" panose="02000000000000000000" pitchFamily="2" charset="-122"/>
              <a:ea typeface="张海山锐线体简" panose="02000000000000000000" pitchFamily="2" charset="-122"/>
            </a:endParaRPr>
          </a:p>
          <a:p>
            <a:r>
              <a:rPr lang="en-US" altLang="zh-CN" sz="2800" b="1" dirty="0">
                <a:solidFill>
                  <a:schemeClr val="bg1"/>
                </a:solidFill>
                <a:latin typeface="张海山锐线体简" panose="02000000000000000000" pitchFamily="2" charset="-122"/>
                <a:ea typeface="张海山锐线体简" panose="02000000000000000000" pitchFamily="2" charset="-122"/>
              </a:rPr>
              <a:t>119</a:t>
            </a:r>
            <a:r>
              <a:rPr lang="zh-CN" altLang="en-US" sz="2800" b="1" dirty="0">
                <a:solidFill>
                  <a:schemeClr val="bg1"/>
                </a:solidFill>
                <a:latin typeface="张海山锐线体简" panose="02000000000000000000" pitchFamily="2" charset="-122"/>
                <a:ea typeface="张海山锐线体简" panose="02000000000000000000" pitchFamily="2" charset="-122"/>
              </a:rPr>
              <a:t>路</a:t>
            </a:r>
            <a:r>
              <a:rPr lang="en-US" altLang="zh-CN" sz="2800" b="1" dirty="0">
                <a:solidFill>
                  <a:schemeClr val="bg1"/>
                </a:solidFill>
                <a:latin typeface="张海山锐线体简" panose="02000000000000000000" pitchFamily="2" charset="-122"/>
                <a:ea typeface="张海山锐线体简" panose="02000000000000000000" pitchFamily="2" charset="-122"/>
              </a:rPr>
              <a:t> </a:t>
            </a:r>
          </a:p>
          <a:p>
            <a:r>
              <a:rPr lang="en-US" altLang="zh-CN" sz="2800" b="1" dirty="0">
                <a:solidFill>
                  <a:schemeClr val="bg1"/>
                </a:solidFill>
                <a:latin typeface="张海山锐线体简" panose="02000000000000000000" pitchFamily="2" charset="-122"/>
                <a:ea typeface="张海山锐线体简" panose="02000000000000000000" pitchFamily="2" charset="-122"/>
              </a:rPr>
              <a:t> ……</a:t>
            </a:r>
          </a:p>
        </p:txBody>
      </p:sp>
      <p:sp>
        <p:nvSpPr>
          <p:cNvPr id="9" name="文本框 8"/>
          <p:cNvSpPr txBox="1"/>
          <p:nvPr/>
        </p:nvSpPr>
        <p:spPr>
          <a:xfrm>
            <a:off x="732253" y="2303860"/>
            <a:ext cx="4469300" cy="1814830"/>
          </a:xfrm>
          <a:prstGeom prst="rect">
            <a:avLst/>
          </a:prstGeom>
          <a:noFill/>
        </p:spPr>
        <p:txBody>
          <a:bodyPr wrap="square" rtlCol="0">
            <a:spAutoFit/>
          </a:bodyPr>
          <a:lstStyle/>
          <a:p>
            <a:r>
              <a:rPr lang="en-US" altLang="zh-CN" sz="2800" b="1" dirty="0">
                <a:solidFill>
                  <a:schemeClr val="bg1"/>
                </a:solidFill>
                <a:latin typeface="张海山锐线体简" panose="02000000000000000000" pitchFamily="2" charset="-122"/>
                <a:ea typeface="张海山锐线体简" panose="02000000000000000000" pitchFamily="2" charset="-122"/>
              </a:rPr>
              <a:t>2</a:t>
            </a:r>
            <a:r>
              <a:rPr lang="zh-CN" altLang="en-US" sz="2800" b="1" dirty="0">
                <a:solidFill>
                  <a:schemeClr val="bg1"/>
                </a:solidFill>
                <a:latin typeface="张海山锐线体简" panose="02000000000000000000" pitchFamily="2" charset="-122"/>
                <a:ea typeface="张海山锐线体简" panose="02000000000000000000" pitchFamily="2" charset="-122"/>
              </a:rPr>
              <a:t>号线 （犀浦）  成彭快铁 </a:t>
            </a:r>
            <a:endParaRPr lang="en-US" altLang="zh-CN" sz="2800" b="1" dirty="0">
              <a:solidFill>
                <a:schemeClr val="bg1"/>
              </a:solidFill>
              <a:latin typeface="张海山锐线体简" panose="02000000000000000000" pitchFamily="2" charset="-122"/>
              <a:ea typeface="张海山锐线体简" panose="02000000000000000000" pitchFamily="2" charset="-122"/>
            </a:endParaRPr>
          </a:p>
          <a:p>
            <a:r>
              <a:rPr lang="en-US" altLang="zh-CN" sz="2800" b="1" dirty="0">
                <a:solidFill>
                  <a:schemeClr val="bg1"/>
                </a:solidFill>
                <a:latin typeface="张海山锐线体简" panose="02000000000000000000" pitchFamily="2" charset="-122"/>
                <a:ea typeface="张海山锐线体简" panose="02000000000000000000" pitchFamily="2" charset="-122"/>
              </a:rPr>
              <a:t>6</a:t>
            </a:r>
            <a:r>
              <a:rPr lang="zh-CN" altLang="en-US" sz="2800" b="1" dirty="0">
                <a:solidFill>
                  <a:schemeClr val="bg1"/>
                </a:solidFill>
                <a:latin typeface="张海山锐线体简" panose="02000000000000000000" pitchFamily="2" charset="-122"/>
                <a:ea typeface="张海山锐线体简" panose="02000000000000000000" pitchFamily="2" charset="-122"/>
              </a:rPr>
              <a:t>号线 （犀浦）  成灌快铁 </a:t>
            </a:r>
          </a:p>
          <a:p>
            <a:r>
              <a:rPr lang="zh-CN" altLang="en-US" sz="2800" b="1" dirty="0">
                <a:solidFill>
                  <a:schemeClr val="bg1"/>
                </a:solidFill>
                <a:latin typeface="张海山锐线体简" panose="02000000000000000000" pitchFamily="2" charset="-122"/>
                <a:ea typeface="张海山锐线体简" panose="02000000000000000000" pitchFamily="2" charset="-122"/>
              </a:rPr>
              <a:t>蓉</a:t>
            </a:r>
            <a:r>
              <a:rPr lang="en-US" altLang="zh-CN" sz="2800" b="1" dirty="0">
                <a:solidFill>
                  <a:schemeClr val="bg1"/>
                </a:solidFill>
                <a:latin typeface="张海山锐线体简" panose="02000000000000000000" pitchFamily="2" charset="-122"/>
                <a:ea typeface="张海山锐线体简" panose="02000000000000000000" pitchFamily="2" charset="-122"/>
              </a:rPr>
              <a:t>2</a:t>
            </a:r>
            <a:r>
              <a:rPr lang="zh-CN" altLang="en-US" sz="2800" b="1" dirty="0">
                <a:solidFill>
                  <a:schemeClr val="bg1"/>
                </a:solidFill>
                <a:latin typeface="张海山锐线体简" panose="02000000000000000000" pitchFamily="2" charset="-122"/>
                <a:ea typeface="张海山锐线体简" panose="02000000000000000000" pitchFamily="2" charset="-122"/>
              </a:rPr>
              <a:t>号线有轨电车</a:t>
            </a:r>
            <a:endParaRPr lang="en-US" altLang="zh-CN" sz="2800" b="1" dirty="0">
              <a:solidFill>
                <a:schemeClr val="bg1"/>
              </a:solidFill>
              <a:latin typeface="张海山锐线体简" panose="02000000000000000000" pitchFamily="2" charset="-122"/>
              <a:ea typeface="张海山锐线体简" panose="02000000000000000000" pitchFamily="2" charset="-122"/>
            </a:endParaRPr>
          </a:p>
          <a:p>
            <a:r>
              <a:rPr lang="en-US" altLang="zh-CN" sz="2800" b="1" dirty="0">
                <a:solidFill>
                  <a:schemeClr val="bg1"/>
                </a:solidFill>
                <a:latin typeface="张海山锐线体简" panose="02000000000000000000" pitchFamily="2" charset="-122"/>
                <a:ea typeface="张海山锐线体简" panose="02000000000000000000" pitchFamily="2" charset="-122"/>
              </a:rPr>
              <a:t>7</a:t>
            </a:r>
            <a:r>
              <a:rPr lang="zh-CN" altLang="en-US" sz="2800" b="1" dirty="0">
                <a:solidFill>
                  <a:schemeClr val="bg1"/>
                </a:solidFill>
                <a:latin typeface="张海山锐线体简" panose="02000000000000000000" pitchFamily="2" charset="-122"/>
                <a:ea typeface="张海山锐线体简" panose="02000000000000000000" pitchFamily="2" charset="-122"/>
              </a:rPr>
              <a:t>号线 （九里）  </a:t>
            </a:r>
            <a:r>
              <a:rPr lang="en-US" altLang="zh-CN" sz="2800" b="1" dirty="0">
                <a:solidFill>
                  <a:schemeClr val="bg1"/>
                </a:solidFill>
                <a:latin typeface="张海山锐线体简" panose="02000000000000000000" pitchFamily="2" charset="-122"/>
                <a:ea typeface="张海山锐线体简" panose="02000000000000000000" pitchFamily="2" charset="-122"/>
              </a:rPr>
              <a:t>……</a:t>
            </a:r>
          </a:p>
        </p:txBody>
      </p:sp>
      <p:grpSp>
        <p:nvGrpSpPr>
          <p:cNvPr id="10" name="组合 9"/>
          <p:cNvGrpSpPr/>
          <p:nvPr/>
        </p:nvGrpSpPr>
        <p:grpSpPr>
          <a:xfrm>
            <a:off x="7103118" y="2734747"/>
            <a:ext cx="4730582" cy="523220"/>
            <a:chOff x="3111053" y="4332031"/>
            <a:chExt cx="4730582" cy="523220"/>
          </a:xfrm>
        </p:grpSpPr>
        <p:sp>
          <p:nvSpPr>
            <p:cNvPr id="11" name="文本框 10"/>
            <p:cNvSpPr txBox="1"/>
            <p:nvPr/>
          </p:nvSpPr>
          <p:spPr>
            <a:xfrm>
              <a:off x="3111053" y="4332031"/>
              <a:ext cx="4730582" cy="523220"/>
            </a:xfrm>
            <a:prstGeom prst="rect">
              <a:avLst/>
            </a:prstGeom>
            <a:noFill/>
          </p:spPr>
          <p:txBody>
            <a:bodyPr wrap="square" rtlCol="0">
              <a:spAutoFit/>
            </a:bodyPr>
            <a:lstStyle/>
            <a:p>
              <a:r>
                <a:rPr lang="zh-CN" altLang="en-US" sz="2800" b="1" dirty="0">
                  <a:solidFill>
                    <a:schemeClr val="bg1"/>
                  </a:solidFill>
                  <a:latin typeface="张海山锐线体简" panose="02000000000000000000" pitchFamily="2" charset="-122"/>
                  <a:ea typeface="张海山锐线体简" panose="02000000000000000000" pitchFamily="2" charset="-122"/>
                </a:rPr>
                <a:t>犀浦            九里           峨眉</a:t>
              </a:r>
              <a:endParaRPr lang="en-US" altLang="zh-CN" sz="2800" b="1" dirty="0">
                <a:solidFill>
                  <a:schemeClr val="bg1"/>
                </a:solidFill>
                <a:latin typeface="张海山锐线体简" panose="02000000000000000000" pitchFamily="2" charset="-122"/>
                <a:ea typeface="张海山锐线体简" panose="02000000000000000000" pitchFamily="2" charset="-122"/>
              </a:endParaRPr>
            </a:p>
          </p:txBody>
        </p:sp>
        <p:cxnSp>
          <p:nvCxnSpPr>
            <p:cNvPr id="12" name="直接箭头连接符 11"/>
            <p:cNvCxnSpPr/>
            <p:nvPr/>
          </p:nvCxnSpPr>
          <p:spPr>
            <a:xfrm>
              <a:off x="4117103" y="4584016"/>
              <a:ext cx="770022" cy="9625"/>
            </a:xfrm>
            <a:prstGeom prst="straightConnector1">
              <a:avLst/>
            </a:prstGeom>
            <a:ln w="635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5996834" y="4593641"/>
              <a:ext cx="770022" cy="9625"/>
            </a:xfrm>
            <a:prstGeom prst="straightConnector1">
              <a:avLst/>
            </a:prstGeom>
            <a:ln w="635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4" name="文本框 13"/>
          <p:cNvSpPr txBox="1"/>
          <p:nvPr/>
        </p:nvSpPr>
        <p:spPr>
          <a:xfrm>
            <a:off x="5811108" y="4756573"/>
            <a:ext cx="662115" cy="380642"/>
          </a:xfrm>
          <a:prstGeom prst="rect">
            <a:avLst/>
          </a:prstGeom>
          <a:noFill/>
        </p:spPr>
        <p:txBody>
          <a:bodyPr wrap="square" rtlCol="0">
            <a:spAutoFit/>
          </a:bodyPr>
          <a:lstStyle/>
          <a:p>
            <a:r>
              <a:rPr lang="en-US" altLang="zh-CN" b="1" dirty="0">
                <a:solidFill>
                  <a:schemeClr val="bg1"/>
                </a:solidFill>
                <a:latin typeface="张海山锐线体简" panose="02000000000000000000" pitchFamily="2" charset="-122"/>
                <a:ea typeface="张海山锐线体简" panose="02000000000000000000" pitchFamily="2" charset="-122"/>
              </a:rPr>
              <a:t>BUS</a:t>
            </a:r>
            <a:endParaRPr lang="zh-CN" altLang="en-US" b="1" dirty="0">
              <a:solidFill>
                <a:schemeClr val="bg1"/>
              </a:solidFill>
              <a:latin typeface="张海山锐线体简" panose="02000000000000000000" pitchFamily="2" charset="-122"/>
              <a:ea typeface="张海山锐线体简" panose="02000000000000000000" pitchFamily="2" charset="-122"/>
            </a:endParaRPr>
          </a:p>
        </p:txBody>
      </p:sp>
      <p:sp>
        <p:nvSpPr>
          <p:cNvPr id="15" name="文本框 14"/>
          <p:cNvSpPr txBox="1"/>
          <p:nvPr/>
        </p:nvSpPr>
        <p:spPr>
          <a:xfrm>
            <a:off x="1703388" y="4762228"/>
            <a:ext cx="1090612" cy="369332"/>
          </a:xfrm>
          <a:prstGeom prst="rect">
            <a:avLst/>
          </a:prstGeom>
          <a:noFill/>
        </p:spPr>
        <p:txBody>
          <a:bodyPr wrap="square" rtlCol="0">
            <a:spAutoFit/>
          </a:bodyPr>
          <a:lstStyle/>
          <a:p>
            <a:r>
              <a:rPr lang="en-US" altLang="zh-CN" b="1" dirty="0">
                <a:solidFill>
                  <a:schemeClr val="bg1"/>
                </a:solidFill>
                <a:latin typeface="张海山锐线体简" panose="02000000000000000000" pitchFamily="2" charset="-122"/>
                <a:ea typeface="张海山锐线体简" panose="02000000000000000000" pitchFamily="2" charset="-122"/>
              </a:rPr>
              <a:t>SUBWAY</a:t>
            </a:r>
            <a:endParaRPr lang="zh-CN" altLang="en-US" b="1" dirty="0">
              <a:solidFill>
                <a:schemeClr val="bg1"/>
              </a:solidFill>
              <a:latin typeface="张海山锐线体简" panose="02000000000000000000" pitchFamily="2" charset="-122"/>
              <a:ea typeface="张海山锐线体简" panose="02000000000000000000" pitchFamily="2" charset="-122"/>
            </a:endParaRPr>
          </a:p>
        </p:txBody>
      </p:sp>
      <p:sp>
        <p:nvSpPr>
          <p:cNvPr id="16" name="文本框 15"/>
          <p:cNvSpPr txBox="1"/>
          <p:nvPr/>
        </p:nvSpPr>
        <p:spPr>
          <a:xfrm>
            <a:off x="8667931" y="4762228"/>
            <a:ext cx="1650084" cy="369332"/>
          </a:xfrm>
          <a:prstGeom prst="rect">
            <a:avLst/>
          </a:prstGeom>
          <a:noFill/>
        </p:spPr>
        <p:txBody>
          <a:bodyPr wrap="square" rtlCol="0">
            <a:spAutoFit/>
          </a:bodyPr>
          <a:lstStyle/>
          <a:p>
            <a:r>
              <a:rPr lang="en-US" altLang="zh-CN" b="1" dirty="0">
                <a:solidFill>
                  <a:schemeClr val="bg1"/>
                </a:solidFill>
                <a:latin typeface="张海山锐线体简" panose="02000000000000000000" pitchFamily="2" charset="-122"/>
                <a:ea typeface="张海山锐线体简" panose="02000000000000000000" pitchFamily="2" charset="-122"/>
              </a:rPr>
              <a:t>SCHOOL BUS</a:t>
            </a:r>
            <a:endParaRPr lang="zh-CN" altLang="en-US" b="1" dirty="0">
              <a:solidFill>
                <a:schemeClr val="bg1"/>
              </a:solidFill>
              <a:latin typeface="张海山锐线体简" panose="02000000000000000000" pitchFamily="2" charset="-122"/>
              <a:ea typeface="张海山锐线体简" panose="02000000000000000000" pitchFamily="2" charset="-122"/>
            </a:endParaRPr>
          </a:p>
        </p:txBody>
      </p:sp>
      <p:sp>
        <p:nvSpPr>
          <p:cNvPr id="17" name="矩形 16"/>
          <p:cNvSpPr/>
          <p:nvPr/>
        </p:nvSpPr>
        <p:spPr>
          <a:xfrm>
            <a:off x="112655" y="190633"/>
            <a:ext cx="11999912" cy="64389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nvSpPr>
        <p:spPr>
          <a:xfrm rot="4149794">
            <a:off x="6109797" y="248869"/>
            <a:ext cx="885056" cy="604118"/>
          </a:xfrm>
          <a:prstGeom prst="triangle">
            <a:avLst/>
          </a:prstGeom>
          <a:solidFill>
            <a:srgbClr val="F3D74E"/>
          </a:solidFill>
          <a:ln>
            <a:noFill/>
          </a:ln>
          <a:effectLst/>
          <a:scene3d>
            <a:camera prst="perspectiveContrasting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294279"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1833700"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3294263" y="7358132"/>
            <a:ext cx="15169121" cy="2058967"/>
          </a:xfrm>
          <a:prstGeom prst="rect">
            <a:avLst/>
          </a:prstGeom>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563E60"/>
        </a:solidFill>
        <a:effectLst/>
      </p:bgPr>
    </p:bg>
    <p:spTree>
      <p:nvGrpSpPr>
        <p:cNvPr id="1" name=""/>
        <p:cNvGrpSpPr/>
        <p:nvPr/>
      </p:nvGrpSpPr>
      <p:grpSpPr>
        <a:xfrm>
          <a:off x="0" y="0"/>
          <a:ext cx="0" cy="0"/>
          <a:chOff x="0" y="0"/>
          <a:chExt cx="0" cy="0"/>
        </a:xfrm>
      </p:grpSpPr>
      <p:sp>
        <p:nvSpPr>
          <p:cNvPr id="21" name="矩形 20"/>
          <p:cNvSpPr/>
          <p:nvPr/>
        </p:nvSpPr>
        <p:spPr>
          <a:xfrm>
            <a:off x="-584200" y="1948716"/>
            <a:ext cx="13855700" cy="3290100"/>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19722655">
            <a:off x="10897288" y="909097"/>
            <a:ext cx="885056" cy="604118"/>
          </a:xfrm>
          <a:prstGeom prst="triangle">
            <a:avLst/>
          </a:prstGeom>
          <a:solidFill>
            <a:srgbClr val="F3D7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6627382" y="208411"/>
            <a:ext cx="5206318" cy="1631216"/>
          </a:xfrm>
          <a:prstGeom prst="rect">
            <a:avLst/>
          </a:prstGeom>
          <a:noFill/>
        </p:spPr>
        <p:txBody>
          <a:bodyPr wrap="square" rtlCol="0">
            <a:spAutoFit/>
          </a:bodyPr>
          <a:lstStyle/>
          <a:p>
            <a:r>
              <a:rPr lang="zh-CN" altLang="en-US" sz="10000" dirty="0">
                <a:solidFill>
                  <a:schemeClr val="bg1"/>
                </a:solidFill>
                <a:latin typeface="张海山草泥马体" panose="02000000000000000000" pitchFamily="2" charset="-122"/>
                <a:ea typeface="张海山草泥马体" panose="02000000000000000000" pitchFamily="2" charset="-122"/>
              </a:rPr>
              <a:t>居</a:t>
            </a:r>
            <a:r>
              <a:rPr lang="en-US" altLang="zh-CN" sz="10000" dirty="0">
                <a:solidFill>
                  <a:schemeClr val="bg1"/>
                </a:solidFill>
                <a:latin typeface="张海山草泥马体" panose="02000000000000000000" pitchFamily="2" charset="-122"/>
                <a:ea typeface="张海山草泥马体" panose="02000000000000000000" pitchFamily="2" charset="-122"/>
              </a:rPr>
              <a:t>in</a:t>
            </a:r>
            <a:r>
              <a:rPr lang="zh-CN" altLang="en-US" sz="10000" dirty="0">
                <a:solidFill>
                  <a:schemeClr val="bg1"/>
                </a:solidFill>
                <a:latin typeface="张海山草泥马体" panose="02000000000000000000" pitchFamily="2" charset="-122"/>
                <a:ea typeface="张海山草泥马体" panose="02000000000000000000" pitchFamily="2" charset="-122"/>
              </a:rPr>
              <a:t>交大</a:t>
            </a:r>
          </a:p>
        </p:txBody>
      </p:sp>
      <p:sp>
        <p:nvSpPr>
          <p:cNvPr id="24" name="shower_240796"/>
          <p:cNvSpPr>
            <a:spLocks noChangeAspect="1"/>
          </p:cNvSpPr>
          <p:nvPr/>
        </p:nvSpPr>
        <p:spPr bwMode="auto">
          <a:xfrm>
            <a:off x="6793595" y="4368051"/>
            <a:ext cx="426003" cy="550546"/>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69472" h="606722">
                <a:moveTo>
                  <a:pt x="276167" y="476176"/>
                </a:moveTo>
                <a:cubicBezTo>
                  <a:pt x="291401" y="476176"/>
                  <a:pt x="303784" y="488527"/>
                  <a:pt x="303784" y="503721"/>
                </a:cubicBezTo>
                <a:lnTo>
                  <a:pt x="303784" y="540507"/>
                </a:lnTo>
                <a:cubicBezTo>
                  <a:pt x="303784" y="555701"/>
                  <a:pt x="291401" y="568052"/>
                  <a:pt x="276167" y="568052"/>
                </a:cubicBezTo>
                <a:cubicBezTo>
                  <a:pt x="260844" y="568052"/>
                  <a:pt x="248461" y="555701"/>
                  <a:pt x="248461" y="540507"/>
                </a:cubicBezTo>
                <a:lnTo>
                  <a:pt x="248461" y="503721"/>
                </a:lnTo>
                <a:cubicBezTo>
                  <a:pt x="248461" y="488527"/>
                  <a:pt x="260844" y="476176"/>
                  <a:pt x="276167" y="476176"/>
                </a:cubicBezTo>
                <a:close/>
                <a:moveTo>
                  <a:pt x="165697" y="476176"/>
                </a:moveTo>
                <a:cubicBezTo>
                  <a:pt x="180912" y="476176"/>
                  <a:pt x="193279" y="488527"/>
                  <a:pt x="193279" y="503721"/>
                </a:cubicBezTo>
                <a:lnTo>
                  <a:pt x="193279" y="540507"/>
                </a:lnTo>
                <a:cubicBezTo>
                  <a:pt x="193279" y="555701"/>
                  <a:pt x="180912" y="568052"/>
                  <a:pt x="165697" y="568052"/>
                </a:cubicBezTo>
                <a:cubicBezTo>
                  <a:pt x="150393" y="568052"/>
                  <a:pt x="138026" y="555701"/>
                  <a:pt x="138026" y="540507"/>
                </a:cubicBezTo>
                <a:lnTo>
                  <a:pt x="138026" y="503721"/>
                </a:lnTo>
                <a:cubicBezTo>
                  <a:pt x="138026" y="488527"/>
                  <a:pt x="150393" y="476176"/>
                  <a:pt x="165697" y="476176"/>
                </a:cubicBezTo>
                <a:close/>
                <a:moveTo>
                  <a:pt x="55173" y="476176"/>
                </a:moveTo>
                <a:cubicBezTo>
                  <a:pt x="70477" y="476176"/>
                  <a:pt x="82844" y="488527"/>
                  <a:pt x="82844" y="503721"/>
                </a:cubicBezTo>
                <a:lnTo>
                  <a:pt x="82844" y="540507"/>
                </a:lnTo>
                <a:cubicBezTo>
                  <a:pt x="82844" y="555701"/>
                  <a:pt x="70477" y="568052"/>
                  <a:pt x="55173" y="568052"/>
                </a:cubicBezTo>
                <a:cubicBezTo>
                  <a:pt x="39958" y="568052"/>
                  <a:pt x="27591" y="555701"/>
                  <a:pt x="27591" y="540507"/>
                </a:cubicBezTo>
                <a:lnTo>
                  <a:pt x="27591" y="503721"/>
                </a:lnTo>
                <a:cubicBezTo>
                  <a:pt x="27591" y="488527"/>
                  <a:pt x="39958" y="476176"/>
                  <a:pt x="55173" y="476176"/>
                </a:cubicBezTo>
                <a:close/>
                <a:moveTo>
                  <a:pt x="276167" y="329117"/>
                </a:moveTo>
                <a:cubicBezTo>
                  <a:pt x="291401" y="329117"/>
                  <a:pt x="303784" y="341468"/>
                  <a:pt x="303784" y="356662"/>
                </a:cubicBezTo>
                <a:lnTo>
                  <a:pt x="303784" y="393448"/>
                </a:lnTo>
                <a:cubicBezTo>
                  <a:pt x="303784" y="408642"/>
                  <a:pt x="291401" y="420993"/>
                  <a:pt x="276167" y="420993"/>
                </a:cubicBezTo>
                <a:cubicBezTo>
                  <a:pt x="260844" y="420993"/>
                  <a:pt x="248461" y="408642"/>
                  <a:pt x="248461" y="393448"/>
                </a:cubicBezTo>
                <a:lnTo>
                  <a:pt x="248461" y="356662"/>
                </a:lnTo>
                <a:cubicBezTo>
                  <a:pt x="248461" y="341468"/>
                  <a:pt x="260844" y="329117"/>
                  <a:pt x="276167" y="329117"/>
                </a:cubicBezTo>
                <a:close/>
                <a:moveTo>
                  <a:pt x="165697" y="329117"/>
                </a:moveTo>
                <a:cubicBezTo>
                  <a:pt x="180912" y="329117"/>
                  <a:pt x="193279" y="341468"/>
                  <a:pt x="193279" y="356662"/>
                </a:cubicBezTo>
                <a:lnTo>
                  <a:pt x="193279" y="393448"/>
                </a:lnTo>
                <a:cubicBezTo>
                  <a:pt x="193279" y="408642"/>
                  <a:pt x="180912" y="420993"/>
                  <a:pt x="165697" y="420993"/>
                </a:cubicBezTo>
                <a:cubicBezTo>
                  <a:pt x="150393" y="420993"/>
                  <a:pt x="138026" y="408642"/>
                  <a:pt x="138026" y="393448"/>
                </a:cubicBezTo>
                <a:lnTo>
                  <a:pt x="138026" y="356662"/>
                </a:lnTo>
                <a:cubicBezTo>
                  <a:pt x="138026" y="341468"/>
                  <a:pt x="150393" y="329117"/>
                  <a:pt x="165697" y="329117"/>
                </a:cubicBezTo>
                <a:close/>
                <a:moveTo>
                  <a:pt x="55173" y="329117"/>
                </a:moveTo>
                <a:cubicBezTo>
                  <a:pt x="70477" y="329117"/>
                  <a:pt x="82844" y="341468"/>
                  <a:pt x="82844" y="356662"/>
                </a:cubicBezTo>
                <a:lnTo>
                  <a:pt x="82844" y="393448"/>
                </a:lnTo>
                <a:cubicBezTo>
                  <a:pt x="82844" y="408642"/>
                  <a:pt x="70477" y="420993"/>
                  <a:pt x="55173" y="420993"/>
                </a:cubicBezTo>
                <a:cubicBezTo>
                  <a:pt x="39958" y="420993"/>
                  <a:pt x="27591" y="408642"/>
                  <a:pt x="27591" y="393448"/>
                </a:cubicBezTo>
                <a:lnTo>
                  <a:pt x="27591" y="356662"/>
                </a:lnTo>
                <a:cubicBezTo>
                  <a:pt x="27591" y="341468"/>
                  <a:pt x="39958" y="329117"/>
                  <a:pt x="55173" y="329117"/>
                </a:cubicBezTo>
                <a:close/>
                <a:moveTo>
                  <a:pt x="165717" y="136061"/>
                </a:moveTo>
                <a:cubicBezTo>
                  <a:pt x="114275" y="136061"/>
                  <a:pt x="71022" y="171254"/>
                  <a:pt x="58740" y="218800"/>
                </a:cubicBezTo>
                <a:lnTo>
                  <a:pt x="272694" y="218800"/>
                </a:lnTo>
                <a:cubicBezTo>
                  <a:pt x="260323" y="171254"/>
                  <a:pt x="217070" y="136061"/>
                  <a:pt x="165717" y="136061"/>
                </a:cubicBezTo>
                <a:close/>
                <a:moveTo>
                  <a:pt x="305980" y="0"/>
                </a:moveTo>
                <a:cubicBezTo>
                  <a:pt x="396136" y="0"/>
                  <a:pt x="469472" y="73229"/>
                  <a:pt x="469472" y="163256"/>
                </a:cubicBezTo>
                <a:lnTo>
                  <a:pt x="469472" y="579083"/>
                </a:lnTo>
                <a:cubicBezTo>
                  <a:pt x="469472" y="594369"/>
                  <a:pt x="457101" y="606722"/>
                  <a:pt x="441882" y="606722"/>
                </a:cubicBezTo>
                <a:cubicBezTo>
                  <a:pt x="426574" y="606722"/>
                  <a:pt x="414203" y="594369"/>
                  <a:pt x="414203" y="579083"/>
                </a:cubicBezTo>
                <a:lnTo>
                  <a:pt x="414203" y="163256"/>
                </a:lnTo>
                <a:cubicBezTo>
                  <a:pt x="414203" y="103623"/>
                  <a:pt x="365699" y="55189"/>
                  <a:pt x="305980" y="55189"/>
                </a:cubicBezTo>
                <a:cubicBezTo>
                  <a:pt x="274296" y="55189"/>
                  <a:pt x="244926" y="68875"/>
                  <a:pt x="224724" y="91803"/>
                </a:cubicBezTo>
                <a:cubicBezTo>
                  <a:pt x="287023" y="115532"/>
                  <a:pt x="331345" y="175875"/>
                  <a:pt x="331345" y="246350"/>
                </a:cubicBezTo>
                <a:cubicBezTo>
                  <a:pt x="331345" y="261547"/>
                  <a:pt x="318974" y="273900"/>
                  <a:pt x="303755" y="273900"/>
                </a:cubicBezTo>
                <a:lnTo>
                  <a:pt x="27590" y="273900"/>
                </a:lnTo>
                <a:cubicBezTo>
                  <a:pt x="12371" y="273900"/>
                  <a:pt x="0" y="261547"/>
                  <a:pt x="0" y="246350"/>
                </a:cubicBezTo>
                <a:cubicBezTo>
                  <a:pt x="0" y="155435"/>
                  <a:pt x="73781" y="81406"/>
                  <a:pt x="164738" y="80872"/>
                </a:cubicBezTo>
                <a:cubicBezTo>
                  <a:pt x="193841" y="31193"/>
                  <a:pt x="247329" y="0"/>
                  <a:pt x="305980" y="0"/>
                </a:cubicBezTo>
                <a:close/>
              </a:path>
            </a:pathLst>
          </a:custGeom>
          <a:solidFill>
            <a:schemeClr val="bg1"/>
          </a:solidFill>
          <a:ln>
            <a:noFill/>
          </a:ln>
        </p:spPr>
      </p:sp>
      <p:sp>
        <p:nvSpPr>
          <p:cNvPr id="25" name="rss-logotype_1076"/>
          <p:cNvSpPr>
            <a:spLocks noChangeAspect="1"/>
          </p:cNvSpPr>
          <p:nvPr/>
        </p:nvSpPr>
        <p:spPr bwMode="auto">
          <a:xfrm>
            <a:off x="1289137" y="4426870"/>
            <a:ext cx="388984" cy="388304"/>
          </a:xfrm>
          <a:custGeom>
            <a:avLst/>
            <a:gdLst>
              <a:gd name="connsiteX0" fmla="*/ 79659 w 592443"/>
              <a:gd name="connsiteY0" fmla="*/ 432436 h 591409"/>
              <a:gd name="connsiteX1" fmla="*/ 135636 w 592443"/>
              <a:gd name="connsiteY1" fmla="*/ 456067 h 591409"/>
              <a:gd name="connsiteX2" fmla="*/ 159318 w 592443"/>
              <a:gd name="connsiteY2" fmla="*/ 511923 h 591409"/>
              <a:gd name="connsiteX3" fmla="*/ 135636 w 592443"/>
              <a:gd name="connsiteY3" fmla="*/ 567778 h 591409"/>
              <a:gd name="connsiteX4" fmla="*/ 79659 w 592443"/>
              <a:gd name="connsiteY4" fmla="*/ 591409 h 591409"/>
              <a:gd name="connsiteX5" fmla="*/ 23682 w 592443"/>
              <a:gd name="connsiteY5" fmla="*/ 567778 h 591409"/>
              <a:gd name="connsiteX6" fmla="*/ 0 w 592443"/>
              <a:gd name="connsiteY6" fmla="*/ 511923 h 591409"/>
              <a:gd name="connsiteX7" fmla="*/ 23682 w 592443"/>
              <a:gd name="connsiteY7" fmla="*/ 456067 h 591409"/>
              <a:gd name="connsiteX8" fmla="*/ 79659 w 592443"/>
              <a:gd name="connsiteY8" fmla="*/ 432436 h 591409"/>
              <a:gd name="connsiteX9" fmla="*/ 4483 w 592443"/>
              <a:gd name="connsiteY9" fmla="*/ 200010 h 591409"/>
              <a:gd name="connsiteX10" fmla="*/ 277960 w 592443"/>
              <a:gd name="connsiteY10" fmla="*/ 314037 h 591409"/>
              <a:gd name="connsiteX11" fmla="*/ 392088 w 592443"/>
              <a:gd name="connsiteY11" fmla="*/ 587271 h 591409"/>
              <a:gd name="connsiteX12" fmla="*/ 277960 w 592443"/>
              <a:gd name="connsiteY12" fmla="*/ 587271 h 591409"/>
              <a:gd name="connsiteX13" fmla="*/ 258580 w 592443"/>
              <a:gd name="connsiteY13" fmla="*/ 481850 h 591409"/>
              <a:gd name="connsiteX14" fmla="*/ 198286 w 592443"/>
              <a:gd name="connsiteY14" fmla="*/ 393641 h 591409"/>
              <a:gd name="connsiteX15" fmla="*/ 109998 w 592443"/>
              <a:gd name="connsiteY15" fmla="*/ 333400 h 591409"/>
              <a:gd name="connsiteX16" fmla="*/ 4483 w 592443"/>
              <a:gd name="connsiteY16" fmla="*/ 311885 h 591409"/>
              <a:gd name="connsiteX17" fmla="*/ 4138 w 592443"/>
              <a:gd name="connsiteY17" fmla="*/ 0 h 591409"/>
              <a:gd name="connsiteX18" fmla="*/ 420046 w 592443"/>
              <a:gd name="connsiteY18" fmla="*/ 172094 h 591409"/>
              <a:gd name="connsiteX19" fmla="*/ 592443 w 592443"/>
              <a:gd name="connsiteY19" fmla="*/ 587271 h 591409"/>
              <a:gd name="connsiteX20" fmla="*/ 478230 w 592443"/>
              <a:gd name="connsiteY20" fmla="*/ 587271 h 591409"/>
              <a:gd name="connsiteX21" fmla="*/ 340312 w 592443"/>
              <a:gd name="connsiteY21" fmla="*/ 251688 h 591409"/>
              <a:gd name="connsiteX22" fmla="*/ 4138 w 592443"/>
              <a:gd name="connsiteY22" fmla="*/ 111861 h 591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92443" h="591409">
                <a:moveTo>
                  <a:pt x="79659" y="432436"/>
                </a:moveTo>
                <a:cubicBezTo>
                  <a:pt x="103341" y="432436"/>
                  <a:pt x="120565" y="438881"/>
                  <a:pt x="135636" y="456067"/>
                </a:cubicBezTo>
                <a:cubicBezTo>
                  <a:pt x="152859" y="473253"/>
                  <a:pt x="159318" y="490440"/>
                  <a:pt x="159318" y="511923"/>
                </a:cubicBezTo>
                <a:cubicBezTo>
                  <a:pt x="159318" y="533405"/>
                  <a:pt x="152859" y="552740"/>
                  <a:pt x="135636" y="567778"/>
                </a:cubicBezTo>
                <a:cubicBezTo>
                  <a:pt x="120565" y="582816"/>
                  <a:pt x="103341" y="591409"/>
                  <a:pt x="79659" y="591409"/>
                </a:cubicBezTo>
                <a:cubicBezTo>
                  <a:pt x="58130" y="591409"/>
                  <a:pt x="40906" y="582816"/>
                  <a:pt x="23682" y="567778"/>
                </a:cubicBezTo>
                <a:cubicBezTo>
                  <a:pt x="8612" y="552740"/>
                  <a:pt x="0" y="533405"/>
                  <a:pt x="0" y="511923"/>
                </a:cubicBezTo>
                <a:cubicBezTo>
                  <a:pt x="0" y="490440"/>
                  <a:pt x="8612" y="473253"/>
                  <a:pt x="23682" y="456067"/>
                </a:cubicBezTo>
                <a:cubicBezTo>
                  <a:pt x="40906" y="438881"/>
                  <a:pt x="58130" y="432436"/>
                  <a:pt x="79659" y="432436"/>
                </a:cubicBezTo>
                <a:close/>
                <a:moveTo>
                  <a:pt x="4483" y="200010"/>
                </a:moveTo>
                <a:cubicBezTo>
                  <a:pt x="112151" y="200010"/>
                  <a:pt x="202592" y="236585"/>
                  <a:pt x="277960" y="314037"/>
                </a:cubicBezTo>
                <a:cubicBezTo>
                  <a:pt x="353328" y="389338"/>
                  <a:pt x="392088" y="481850"/>
                  <a:pt x="392088" y="587271"/>
                </a:cubicBezTo>
                <a:lnTo>
                  <a:pt x="277960" y="587271"/>
                </a:lnTo>
                <a:cubicBezTo>
                  <a:pt x="277960" y="550696"/>
                  <a:pt x="273653" y="516273"/>
                  <a:pt x="258580" y="481850"/>
                </a:cubicBezTo>
                <a:cubicBezTo>
                  <a:pt x="245659" y="447427"/>
                  <a:pt x="224126" y="419458"/>
                  <a:pt x="198286" y="393641"/>
                </a:cubicBezTo>
                <a:cubicBezTo>
                  <a:pt x="172445" y="367823"/>
                  <a:pt x="144451" y="346309"/>
                  <a:pt x="109998" y="333400"/>
                </a:cubicBezTo>
                <a:cubicBezTo>
                  <a:pt x="77697" y="318340"/>
                  <a:pt x="43244" y="311885"/>
                  <a:pt x="4483" y="311885"/>
                </a:cubicBezTo>
                <a:close/>
                <a:moveTo>
                  <a:pt x="4138" y="0"/>
                </a:moveTo>
                <a:cubicBezTo>
                  <a:pt x="167915" y="0"/>
                  <a:pt x="305833" y="58082"/>
                  <a:pt x="420046" y="172094"/>
                </a:cubicBezTo>
                <a:cubicBezTo>
                  <a:pt x="534259" y="286106"/>
                  <a:pt x="592443" y="425933"/>
                  <a:pt x="592443" y="587271"/>
                </a:cubicBezTo>
                <a:lnTo>
                  <a:pt x="478230" y="587271"/>
                </a:lnTo>
                <a:cubicBezTo>
                  <a:pt x="478230" y="456049"/>
                  <a:pt x="430821" y="344188"/>
                  <a:pt x="340312" y="251688"/>
                </a:cubicBezTo>
                <a:cubicBezTo>
                  <a:pt x="247649" y="159187"/>
                  <a:pt x="135591" y="111861"/>
                  <a:pt x="4138" y="111861"/>
                </a:cubicBezTo>
                <a:close/>
              </a:path>
            </a:pathLst>
          </a:custGeom>
          <a:solidFill>
            <a:schemeClr val="bg1"/>
          </a:solidFill>
          <a:ln>
            <a:noFill/>
          </a:ln>
        </p:spPr>
      </p:sp>
      <p:sp>
        <p:nvSpPr>
          <p:cNvPr id="26" name="bank-transfer-logo_38978"/>
          <p:cNvSpPr>
            <a:spLocks noChangeAspect="1"/>
          </p:cNvSpPr>
          <p:nvPr/>
        </p:nvSpPr>
        <p:spPr bwMode="auto">
          <a:xfrm>
            <a:off x="1167177" y="3304151"/>
            <a:ext cx="632902" cy="651770"/>
          </a:xfrm>
          <a:custGeom>
            <a:avLst/>
            <a:gdLst>
              <a:gd name="T0" fmla="*/ 159 w 414"/>
              <a:gd name="T1" fmla="*/ 247 h 427"/>
              <a:gd name="T2" fmla="*/ 146 w 414"/>
              <a:gd name="T3" fmla="*/ 271 h 427"/>
              <a:gd name="T4" fmla="*/ 89 w 414"/>
              <a:gd name="T5" fmla="*/ 322 h 427"/>
              <a:gd name="T6" fmla="*/ 0 w 414"/>
              <a:gd name="T7" fmla="*/ 354 h 427"/>
              <a:gd name="T8" fmla="*/ 47 w 414"/>
              <a:gd name="T9" fmla="*/ 265 h 427"/>
              <a:gd name="T10" fmla="*/ 49 w 414"/>
              <a:gd name="T11" fmla="*/ 335 h 427"/>
              <a:gd name="T12" fmla="*/ 49 w 414"/>
              <a:gd name="T13" fmla="*/ 335 h 427"/>
              <a:gd name="T14" fmla="*/ 342 w 414"/>
              <a:gd name="T15" fmla="*/ 317 h 427"/>
              <a:gd name="T16" fmla="*/ 342 w 414"/>
              <a:gd name="T17" fmla="*/ 290 h 427"/>
              <a:gd name="T18" fmla="*/ 88 w 414"/>
              <a:gd name="T19" fmla="*/ 399 h 427"/>
              <a:gd name="T20" fmla="*/ 63 w 414"/>
              <a:gd name="T21" fmla="*/ 425 h 427"/>
              <a:gd name="T22" fmla="*/ 97 w 414"/>
              <a:gd name="T23" fmla="*/ 425 h 427"/>
              <a:gd name="T24" fmla="*/ 63 w 414"/>
              <a:gd name="T25" fmla="*/ 380 h 427"/>
              <a:gd name="T26" fmla="*/ 113 w 414"/>
              <a:gd name="T27" fmla="*/ 144 h 427"/>
              <a:gd name="T28" fmla="*/ 130 w 414"/>
              <a:gd name="T29" fmla="*/ 89 h 427"/>
              <a:gd name="T30" fmla="*/ 196 w 414"/>
              <a:gd name="T31" fmla="*/ 39 h 427"/>
              <a:gd name="T32" fmla="*/ 236 w 414"/>
              <a:gd name="T33" fmla="*/ 16 h 427"/>
              <a:gd name="T34" fmla="*/ 222 w 414"/>
              <a:gd name="T35" fmla="*/ 100 h 427"/>
              <a:gd name="T36" fmla="*/ 211 w 414"/>
              <a:gd name="T37" fmla="*/ 71 h 427"/>
              <a:gd name="T38" fmla="*/ 167 w 414"/>
              <a:gd name="T39" fmla="*/ 82 h 427"/>
              <a:gd name="T40" fmla="*/ 125 w 414"/>
              <a:gd name="T41" fmla="*/ 123 h 427"/>
              <a:gd name="T42" fmla="*/ 113 w 414"/>
              <a:gd name="T43" fmla="*/ 153 h 427"/>
              <a:gd name="T44" fmla="*/ 28 w 414"/>
              <a:gd name="T45" fmla="*/ 425 h 427"/>
              <a:gd name="T46" fmla="*/ 0 w 414"/>
              <a:gd name="T47" fmla="*/ 371 h 427"/>
              <a:gd name="T48" fmla="*/ 137 w 414"/>
              <a:gd name="T49" fmla="*/ 414 h 427"/>
              <a:gd name="T50" fmla="*/ 120 w 414"/>
              <a:gd name="T51" fmla="*/ 405 h 427"/>
              <a:gd name="T52" fmla="*/ 221 w 414"/>
              <a:gd name="T53" fmla="*/ 186 h 427"/>
              <a:gd name="T54" fmla="*/ 183 w 414"/>
              <a:gd name="T55" fmla="*/ 225 h 427"/>
              <a:gd name="T56" fmla="*/ 165 w 414"/>
              <a:gd name="T57" fmla="*/ 145 h 427"/>
              <a:gd name="T58" fmla="*/ 196 w 414"/>
              <a:gd name="T59" fmla="*/ 142 h 427"/>
              <a:gd name="T60" fmla="*/ 222 w 414"/>
              <a:gd name="T61" fmla="*/ 154 h 427"/>
              <a:gd name="T62" fmla="*/ 269 w 414"/>
              <a:gd name="T63" fmla="*/ 119 h 427"/>
              <a:gd name="T64" fmla="*/ 286 w 414"/>
              <a:gd name="T65" fmla="*/ 68 h 427"/>
              <a:gd name="T66" fmla="*/ 280 w 414"/>
              <a:gd name="T67" fmla="*/ 124 h 427"/>
              <a:gd name="T68" fmla="*/ 235 w 414"/>
              <a:gd name="T69" fmla="*/ 177 h 427"/>
              <a:gd name="T70" fmla="*/ 278 w 414"/>
              <a:gd name="T71" fmla="*/ 380 h 427"/>
              <a:gd name="T72" fmla="*/ 278 w 414"/>
              <a:gd name="T73" fmla="*/ 425 h 427"/>
              <a:gd name="T74" fmla="*/ 204 w 414"/>
              <a:gd name="T75" fmla="*/ 425 h 427"/>
              <a:gd name="T76" fmla="*/ 160 w 414"/>
              <a:gd name="T77" fmla="*/ 425 h 427"/>
              <a:gd name="T78" fmla="*/ 194 w 414"/>
              <a:gd name="T79" fmla="*/ 371 h 427"/>
              <a:gd name="T80" fmla="*/ 391 w 414"/>
              <a:gd name="T81" fmla="*/ 371 h 427"/>
              <a:gd name="T82" fmla="*/ 387 w 414"/>
              <a:gd name="T83" fmla="*/ 404 h 427"/>
              <a:gd name="T84" fmla="*/ 407 w 414"/>
              <a:gd name="T85" fmla="*/ 413 h 427"/>
              <a:gd name="T86" fmla="*/ 397 w 414"/>
              <a:gd name="T87" fmla="*/ 387 h 427"/>
              <a:gd name="T88" fmla="*/ 224 w 414"/>
              <a:gd name="T89" fmla="*/ 408 h 427"/>
              <a:gd name="T90" fmla="*/ 213 w 414"/>
              <a:gd name="T91" fmla="*/ 386 h 427"/>
              <a:gd name="T92" fmla="*/ 224 w 414"/>
              <a:gd name="T93" fmla="*/ 385 h 427"/>
              <a:gd name="T94" fmla="*/ 354 w 414"/>
              <a:gd name="T95" fmla="*/ 416 h 427"/>
              <a:gd name="T96" fmla="*/ 353 w 414"/>
              <a:gd name="T97" fmla="*/ 380 h 427"/>
              <a:gd name="T98" fmla="*/ 324 w 414"/>
              <a:gd name="T99" fmla="*/ 401 h 427"/>
              <a:gd name="T100" fmla="*/ 233 w 414"/>
              <a:gd name="T101" fmla="*/ 247 h 427"/>
              <a:gd name="T102" fmla="*/ 297 w 414"/>
              <a:gd name="T103" fmla="*/ 354 h 427"/>
              <a:gd name="T104" fmla="*/ 231 w 414"/>
              <a:gd name="T105" fmla="*/ 354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14" h="427">
                <a:moveTo>
                  <a:pt x="126" y="332"/>
                </a:moveTo>
                <a:lnTo>
                  <a:pt x="165" y="332"/>
                </a:lnTo>
                <a:lnTo>
                  <a:pt x="172" y="354"/>
                </a:lnTo>
                <a:lnTo>
                  <a:pt x="196" y="354"/>
                </a:lnTo>
                <a:lnTo>
                  <a:pt x="159" y="247"/>
                </a:lnTo>
                <a:lnTo>
                  <a:pt x="133" y="247"/>
                </a:lnTo>
                <a:lnTo>
                  <a:pt x="95" y="354"/>
                </a:lnTo>
                <a:lnTo>
                  <a:pt x="119" y="354"/>
                </a:lnTo>
                <a:lnTo>
                  <a:pt x="126" y="332"/>
                </a:lnTo>
                <a:close/>
                <a:moveTo>
                  <a:pt x="146" y="271"/>
                </a:moveTo>
                <a:lnTo>
                  <a:pt x="146" y="271"/>
                </a:lnTo>
                <a:lnTo>
                  <a:pt x="159" y="313"/>
                </a:lnTo>
                <a:lnTo>
                  <a:pt x="132" y="313"/>
                </a:lnTo>
                <a:lnTo>
                  <a:pt x="146" y="271"/>
                </a:lnTo>
                <a:close/>
                <a:moveTo>
                  <a:pt x="89" y="322"/>
                </a:moveTo>
                <a:cubicBezTo>
                  <a:pt x="89" y="311"/>
                  <a:pt x="85" y="301"/>
                  <a:pt x="72" y="296"/>
                </a:cubicBezTo>
                <a:cubicBezTo>
                  <a:pt x="77" y="294"/>
                  <a:pt x="85" y="290"/>
                  <a:pt x="85" y="274"/>
                </a:cubicBezTo>
                <a:cubicBezTo>
                  <a:pt x="85" y="263"/>
                  <a:pt x="78" y="247"/>
                  <a:pt x="52" y="247"/>
                </a:cubicBezTo>
                <a:lnTo>
                  <a:pt x="0" y="247"/>
                </a:lnTo>
                <a:lnTo>
                  <a:pt x="0" y="354"/>
                </a:lnTo>
                <a:lnTo>
                  <a:pt x="46" y="354"/>
                </a:lnTo>
                <a:cubicBezTo>
                  <a:pt x="67" y="354"/>
                  <a:pt x="73" y="350"/>
                  <a:pt x="79" y="344"/>
                </a:cubicBezTo>
                <a:cubicBezTo>
                  <a:pt x="85" y="338"/>
                  <a:pt x="89" y="330"/>
                  <a:pt x="89" y="322"/>
                </a:cubicBezTo>
                <a:close/>
                <a:moveTo>
                  <a:pt x="22" y="265"/>
                </a:moveTo>
                <a:lnTo>
                  <a:pt x="47" y="265"/>
                </a:lnTo>
                <a:cubicBezTo>
                  <a:pt x="57" y="265"/>
                  <a:pt x="64" y="268"/>
                  <a:pt x="64" y="277"/>
                </a:cubicBezTo>
                <a:cubicBezTo>
                  <a:pt x="64" y="285"/>
                  <a:pt x="57" y="289"/>
                  <a:pt x="48" y="289"/>
                </a:cubicBezTo>
                <a:lnTo>
                  <a:pt x="22" y="289"/>
                </a:lnTo>
                <a:lnTo>
                  <a:pt x="22" y="265"/>
                </a:lnTo>
                <a:close/>
                <a:moveTo>
                  <a:pt x="49" y="335"/>
                </a:moveTo>
                <a:lnTo>
                  <a:pt x="22" y="335"/>
                </a:lnTo>
                <a:lnTo>
                  <a:pt x="22" y="307"/>
                </a:lnTo>
                <a:lnTo>
                  <a:pt x="50" y="307"/>
                </a:lnTo>
                <a:cubicBezTo>
                  <a:pt x="58" y="307"/>
                  <a:pt x="66" y="310"/>
                  <a:pt x="66" y="320"/>
                </a:cubicBezTo>
                <a:cubicBezTo>
                  <a:pt x="66" y="330"/>
                  <a:pt x="60" y="335"/>
                  <a:pt x="49" y="335"/>
                </a:cubicBezTo>
                <a:close/>
                <a:moveTo>
                  <a:pt x="368" y="291"/>
                </a:moveTo>
                <a:lnTo>
                  <a:pt x="414" y="354"/>
                </a:lnTo>
                <a:lnTo>
                  <a:pt x="386" y="354"/>
                </a:lnTo>
                <a:lnTo>
                  <a:pt x="353" y="307"/>
                </a:lnTo>
                <a:lnTo>
                  <a:pt x="342" y="317"/>
                </a:lnTo>
                <a:lnTo>
                  <a:pt x="342" y="354"/>
                </a:lnTo>
                <a:lnTo>
                  <a:pt x="320" y="354"/>
                </a:lnTo>
                <a:lnTo>
                  <a:pt x="320" y="247"/>
                </a:lnTo>
                <a:lnTo>
                  <a:pt x="342" y="247"/>
                </a:lnTo>
                <a:lnTo>
                  <a:pt x="342" y="290"/>
                </a:lnTo>
                <a:lnTo>
                  <a:pt x="383" y="247"/>
                </a:lnTo>
                <a:lnTo>
                  <a:pt x="412" y="247"/>
                </a:lnTo>
                <a:lnTo>
                  <a:pt x="368" y="291"/>
                </a:lnTo>
                <a:close/>
                <a:moveTo>
                  <a:pt x="95" y="413"/>
                </a:moveTo>
                <a:cubicBezTo>
                  <a:pt x="95" y="403"/>
                  <a:pt x="93" y="401"/>
                  <a:pt x="88" y="399"/>
                </a:cubicBezTo>
                <a:cubicBezTo>
                  <a:pt x="94" y="397"/>
                  <a:pt x="97" y="392"/>
                  <a:pt x="97" y="386"/>
                </a:cubicBezTo>
                <a:cubicBezTo>
                  <a:pt x="97" y="381"/>
                  <a:pt x="94" y="371"/>
                  <a:pt x="79" y="371"/>
                </a:cubicBezTo>
                <a:lnTo>
                  <a:pt x="52" y="371"/>
                </a:lnTo>
                <a:lnTo>
                  <a:pt x="52" y="425"/>
                </a:lnTo>
                <a:lnTo>
                  <a:pt x="63" y="425"/>
                </a:lnTo>
                <a:lnTo>
                  <a:pt x="63" y="404"/>
                </a:lnTo>
                <a:lnTo>
                  <a:pt x="75" y="404"/>
                </a:lnTo>
                <a:cubicBezTo>
                  <a:pt x="83" y="404"/>
                  <a:pt x="84" y="407"/>
                  <a:pt x="84" y="414"/>
                </a:cubicBezTo>
                <a:cubicBezTo>
                  <a:pt x="84" y="420"/>
                  <a:pt x="84" y="423"/>
                  <a:pt x="85" y="425"/>
                </a:cubicBezTo>
                <a:lnTo>
                  <a:pt x="97" y="425"/>
                </a:lnTo>
                <a:lnTo>
                  <a:pt x="97" y="424"/>
                </a:lnTo>
                <a:cubicBezTo>
                  <a:pt x="95" y="423"/>
                  <a:pt x="95" y="421"/>
                  <a:pt x="95" y="413"/>
                </a:cubicBezTo>
                <a:close/>
                <a:moveTo>
                  <a:pt x="76" y="395"/>
                </a:moveTo>
                <a:lnTo>
                  <a:pt x="63" y="395"/>
                </a:lnTo>
                <a:lnTo>
                  <a:pt x="63" y="380"/>
                </a:lnTo>
                <a:lnTo>
                  <a:pt x="77" y="380"/>
                </a:lnTo>
                <a:cubicBezTo>
                  <a:pt x="84" y="380"/>
                  <a:pt x="85" y="384"/>
                  <a:pt x="85" y="387"/>
                </a:cubicBezTo>
                <a:cubicBezTo>
                  <a:pt x="85" y="393"/>
                  <a:pt x="82" y="395"/>
                  <a:pt x="76" y="395"/>
                </a:cubicBezTo>
                <a:close/>
                <a:moveTo>
                  <a:pt x="113" y="153"/>
                </a:moveTo>
                <a:cubicBezTo>
                  <a:pt x="113" y="151"/>
                  <a:pt x="113" y="148"/>
                  <a:pt x="113" y="144"/>
                </a:cubicBezTo>
                <a:cubicBezTo>
                  <a:pt x="113" y="141"/>
                  <a:pt x="114" y="137"/>
                  <a:pt x="114" y="133"/>
                </a:cubicBezTo>
                <a:cubicBezTo>
                  <a:pt x="115" y="129"/>
                  <a:pt x="115" y="124"/>
                  <a:pt x="117" y="119"/>
                </a:cubicBezTo>
                <a:cubicBezTo>
                  <a:pt x="118" y="115"/>
                  <a:pt x="119" y="109"/>
                  <a:pt x="122" y="104"/>
                </a:cubicBezTo>
                <a:cubicBezTo>
                  <a:pt x="123" y="102"/>
                  <a:pt x="124" y="99"/>
                  <a:pt x="125" y="97"/>
                </a:cubicBezTo>
                <a:cubicBezTo>
                  <a:pt x="127" y="94"/>
                  <a:pt x="129" y="92"/>
                  <a:pt x="130" y="89"/>
                </a:cubicBezTo>
                <a:cubicBezTo>
                  <a:pt x="133" y="84"/>
                  <a:pt x="137" y="80"/>
                  <a:pt x="141" y="75"/>
                </a:cubicBezTo>
                <a:cubicBezTo>
                  <a:pt x="145" y="71"/>
                  <a:pt x="150" y="67"/>
                  <a:pt x="154" y="63"/>
                </a:cubicBezTo>
                <a:cubicBezTo>
                  <a:pt x="159" y="60"/>
                  <a:pt x="163" y="56"/>
                  <a:pt x="168" y="53"/>
                </a:cubicBezTo>
                <a:cubicBezTo>
                  <a:pt x="173" y="50"/>
                  <a:pt x="178" y="47"/>
                  <a:pt x="183" y="45"/>
                </a:cubicBezTo>
                <a:cubicBezTo>
                  <a:pt x="187" y="42"/>
                  <a:pt x="192" y="41"/>
                  <a:pt x="196" y="39"/>
                </a:cubicBezTo>
                <a:cubicBezTo>
                  <a:pt x="202" y="36"/>
                  <a:pt x="208" y="34"/>
                  <a:pt x="213" y="33"/>
                </a:cubicBezTo>
                <a:cubicBezTo>
                  <a:pt x="211" y="28"/>
                  <a:pt x="209" y="23"/>
                  <a:pt x="208" y="18"/>
                </a:cubicBezTo>
                <a:cubicBezTo>
                  <a:pt x="207" y="12"/>
                  <a:pt x="205" y="6"/>
                  <a:pt x="205" y="0"/>
                </a:cubicBezTo>
                <a:cubicBezTo>
                  <a:pt x="212" y="2"/>
                  <a:pt x="217" y="4"/>
                  <a:pt x="222" y="7"/>
                </a:cubicBezTo>
                <a:cubicBezTo>
                  <a:pt x="227" y="10"/>
                  <a:pt x="231" y="13"/>
                  <a:pt x="236" y="16"/>
                </a:cubicBezTo>
                <a:cubicBezTo>
                  <a:pt x="244" y="22"/>
                  <a:pt x="252" y="30"/>
                  <a:pt x="258" y="37"/>
                </a:cubicBezTo>
                <a:cubicBezTo>
                  <a:pt x="263" y="43"/>
                  <a:pt x="264" y="52"/>
                  <a:pt x="260" y="58"/>
                </a:cubicBezTo>
                <a:lnTo>
                  <a:pt x="259" y="59"/>
                </a:lnTo>
                <a:cubicBezTo>
                  <a:pt x="253" y="70"/>
                  <a:pt x="246" y="79"/>
                  <a:pt x="237" y="88"/>
                </a:cubicBezTo>
                <a:cubicBezTo>
                  <a:pt x="233" y="92"/>
                  <a:pt x="228" y="96"/>
                  <a:pt x="222" y="100"/>
                </a:cubicBezTo>
                <a:cubicBezTo>
                  <a:pt x="220" y="102"/>
                  <a:pt x="217" y="103"/>
                  <a:pt x="214" y="105"/>
                </a:cubicBezTo>
                <a:cubicBezTo>
                  <a:pt x="211" y="107"/>
                  <a:pt x="208" y="108"/>
                  <a:pt x="204" y="110"/>
                </a:cubicBezTo>
                <a:cubicBezTo>
                  <a:pt x="204" y="106"/>
                  <a:pt x="204" y="102"/>
                  <a:pt x="204" y="99"/>
                </a:cubicBezTo>
                <a:cubicBezTo>
                  <a:pt x="205" y="96"/>
                  <a:pt x="205" y="92"/>
                  <a:pt x="206" y="89"/>
                </a:cubicBezTo>
                <a:cubicBezTo>
                  <a:pt x="207" y="83"/>
                  <a:pt x="209" y="77"/>
                  <a:pt x="211" y="71"/>
                </a:cubicBezTo>
                <a:cubicBezTo>
                  <a:pt x="211" y="70"/>
                  <a:pt x="211" y="70"/>
                  <a:pt x="211" y="69"/>
                </a:cubicBezTo>
                <a:cubicBezTo>
                  <a:pt x="209" y="69"/>
                  <a:pt x="207" y="70"/>
                  <a:pt x="205" y="70"/>
                </a:cubicBezTo>
                <a:cubicBezTo>
                  <a:pt x="201" y="71"/>
                  <a:pt x="197" y="71"/>
                  <a:pt x="193" y="72"/>
                </a:cubicBezTo>
                <a:cubicBezTo>
                  <a:pt x="189" y="73"/>
                  <a:pt x="184" y="75"/>
                  <a:pt x="180" y="76"/>
                </a:cubicBezTo>
                <a:cubicBezTo>
                  <a:pt x="175" y="78"/>
                  <a:pt x="171" y="80"/>
                  <a:pt x="167" y="82"/>
                </a:cubicBezTo>
                <a:cubicBezTo>
                  <a:pt x="162" y="84"/>
                  <a:pt x="158" y="87"/>
                  <a:pt x="154" y="90"/>
                </a:cubicBezTo>
                <a:cubicBezTo>
                  <a:pt x="150" y="93"/>
                  <a:pt x="146" y="96"/>
                  <a:pt x="142" y="99"/>
                </a:cubicBezTo>
                <a:cubicBezTo>
                  <a:pt x="140" y="101"/>
                  <a:pt x="138" y="103"/>
                  <a:pt x="137" y="105"/>
                </a:cubicBezTo>
                <a:cubicBezTo>
                  <a:pt x="135" y="107"/>
                  <a:pt x="134" y="109"/>
                  <a:pt x="132" y="110"/>
                </a:cubicBezTo>
                <a:cubicBezTo>
                  <a:pt x="129" y="114"/>
                  <a:pt x="127" y="119"/>
                  <a:pt x="125" y="123"/>
                </a:cubicBezTo>
                <a:cubicBezTo>
                  <a:pt x="123" y="126"/>
                  <a:pt x="121" y="131"/>
                  <a:pt x="120" y="134"/>
                </a:cubicBezTo>
                <a:cubicBezTo>
                  <a:pt x="119" y="138"/>
                  <a:pt x="117" y="142"/>
                  <a:pt x="117" y="145"/>
                </a:cubicBezTo>
                <a:cubicBezTo>
                  <a:pt x="116" y="148"/>
                  <a:pt x="115" y="151"/>
                  <a:pt x="115" y="153"/>
                </a:cubicBezTo>
                <a:cubicBezTo>
                  <a:pt x="114" y="158"/>
                  <a:pt x="114" y="161"/>
                  <a:pt x="114" y="161"/>
                </a:cubicBezTo>
                <a:cubicBezTo>
                  <a:pt x="114" y="161"/>
                  <a:pt x="114" y="158"/>
                  <a:pt x="113" y="153"/>
                </a:cubicBezTo>
                <a:close/>
                <a:moveTo>
                  <a:pt x="0" y="371"/>
                </a:moveTo>
                <a:lnTo>
                  <a:pt x="45" y="371"/>
                </a:lnTo>
                <a:lnTo>
                  <a:pt x="45" y="380"/>
                </a:lnTo>
                <a:lnTo>
                  <a:pt x="28" y="380"/>
                </a:lnTo>
                <a:lnTo>
                  <a:pt x="28" y="425"/>
                </a:lnTo>
                <a:lnTo>
                  <a:pt x="17" y="425"/>
                </a:lnTo>
                <a:lnTo>
                  <a:pt x="17" y="380"/>
                </a:lnTo>
                <a:lnTo>
                  <a:pt x="0" y="380"/>
                </a:lnTo>
                <a:lnTo>
                  <a:pt x="0" y="371"/>
                </a:lnTo>
                <a:lnTo>
                  <a:pt x="0" y="371"/>
                </a:lnTo>
                <a:close/>
                <a:moveTo>
                  <a:pt x="120" y="371"/>
                </a:moveTo>
                <a:lnTo>
                  <a:pt x="101" y="425"/>
                </a:lnTo>
                <a:lnTo>
                  <a:pt x="113" y="425"/>
                </a:lnTo>
                <a:lnTo>
                  <a:pt x="117" y="414"/>
                </a:lnTo>
                <a:lnTo>
                  <a:pt x="137" y="414"/>
                </a:lnTo>
                <a:lnTo>
                  <a:pt x="141" y="425"/>
                </a:lnTo>
                <a:lnTo>
                  <a:pt x="153" y="425"/>
                </a:lnTo>
                <a:lnTo>
                  <a:pt x="134" y="371"/>
                </a:lnTo>
                <a:lnTo>
                  <a:pt x="120" y="371"/>
                </a:lnTo>
                <a:close/>
                <a:moveTo>
                  <a:pt x="120" y="405"/>
                </a:moveTo>
                <a:lnTo>
                  <a:pt x="127" y="383"/>
                </a:lnTo>
                <a:lnTo>
                  <a:pt x="127" y="383"/>
                </a:lnTo>
                <a:lnTo>
                  <a:pt x="134" y="405"/>
                </a:lnTo>
                <a:lnTo>
                  <a:pt x="120" y="405"/>
                </a:lnTo>
                <a:close/>
                <a:moveTo>
                  <a:pt x="221" y="186"/>
                </a:moveTo>
                <a:cubicBezTo>
                  <a:pt x="216" y="189"/>
                  <a:pt x="212" y="190"/>
                  <a:pt x="208" y="192"/>
                </a:cubicBezTo>
                <a:cubicBezTo>
                  <a:pt x="201" y="195"/>
                  <a:pt x="196" y="197"/>
                  <a:pt x="191" y="199"/>
                </a:cubicBezTo>
                <a:cubicBezTo>
                  <a:pt x="193" y="203"/>
                  <a:pt x="195" y="208"/>
                  <a:pt x="196" y="214"/>
                </a:cubicBezTo>
                <a:cubicBezTo>
                  <a:pt x="198" y="219"/>
                  <a:pt x="199" y="225"/>
                  <a:pt x="199" y="231"/>
                </a:cubicBezTo>
                <a:cubicBezTo>
                  <a:pt x="193" y="230"/>
                  <a:pt x="188" y="227"/>
                  <a:pt x="183" y="225"/>
                </a:cubicBezTo>
                <a:cubicBezTo>
                  <a:pt x="178" y="222"/>
                  <a:pt x="173" y="220"/>
                  <a:pt x="169" y="217"/>
                </a:cubicBezTo>
                <a:cubicBezTo>
                  <a:pt x="160" y="210"/>
                  <a:pt x="152" y="203"/>
                  <a:pt x="145" y="196"/>
                </a:cubicBezTo>
                <a:cubicBezTo>
                  <a:pt x="140" y="190"/>
                  <a:pt x="139" y="181"/>
                  <a:pt x="143" y="175"/>
                </a:cubicBezTo>
                <a:lnTo>
                  <a:pt x="144" y="174"/>
                </a:lnTo>
                <a:cubicBezTo>
                  <a:pt x="150" y="163"/>
                  <a:pt x="157" y="153"/>
                  <a:pt x="165" y="145"/>
                </a:cubicBezTo>
                <a:cubicBezTo>
                  <a:pt x="169" y="140"/>
                  <a:pt x="174" y="136"/>
                  <a:pt x="179" y="132"/>
                </a:cubicBezTo>
                <a:cubicBezTo>
                  <a:pt x="182" y="130"/>
                  <a:pt x="185" y="128"/>
                  <a:pt x="188" y="127"/>
                </a:cubicBezTo>
                <a:cubicBezTo>
                  <a:pt x="191" y="125"/>
                  <a:pt x="194" y="123"/>
                  <a:pt x="197" y="122"/>
                </a:cubicBezTo>
                <a:cubicBezTo>
                  <a:pt x="197" y="126"/>
                  <a:pt x="197" y="129"/>
                  <a:pt x="197" y="132"/>
                </a:cubicBezTo>
                <a:cubicBezTo>
                  <a:pt x="197" y="136"/>
                  <a:pt x="197" y="139"/>
                  <a:pt x="196" y="142"/>
                </a:cubicBezTo>
                <a:cubicBezTo>
                  <a:pt x="195" y="149"/>
                  <a:pt x="194" y="155"/>
                  <a:pt x="192" y="161"/>
                </a:cubicBezTo>
                <a:cubicBezTo>
                  <a:pt x="192" y="161"/>
                  <a:pt x="192" y="162"/>
                  <a:pt x="191" y="163"/>
                </a:cubicBezTo>
                <a:cubicBezTo>
                  <a:pt x="193" y="162"/>
                  <a:pt x="196" y="162"/>
                  <a:pt x="198" y="161"/>
                </a:cubicBezTo>
                <a:cubicBezTo>
                  <a:pt x="201" y="161"/>
                  <a:pt x="206" y="160"/>
                  <a:pt x="210" y="159"/>
                </a:cubicBezTo>
                <a:cubicBezTo>
                  <a:pt x="214" y="158"/>
                  <a:pt x="218" y="156"/>
                  <a:pt x="222" y="154"/>
                </a:cubicBezTo>
                <a:cubicBezTo>
                  <a:pt x="227" y="153"/>
                  <a:pt x="231" y="150"/>
                  <a:pt x="236" y="148"/>
                </a:cubicBezTo>
                <a:cubicBezTo>
                  <a:pt x="240" y="146"/>
                  <a:pt x="244" y="143"/>
                  <a:pt x="248" y="140"/>
                </a:cubicBezTo>
                <a:cubicBezTo>
                  <a:pt x="252" y="137"/>
                  <a:pt x="256" y="134"/>
                  <a:pt x="260" y="130"/>
                </a:cubicBezTo>
                <a:cubicBezTo>
                  <a:pt x="261" y="128"/>
                  <a:pt x="263" y="127"/>
                  <a:pt x="265" y="125"/>
                </a:cubicBezTo>
                <a:cubicBezTo>
                  <a:pt x="266" y="123"/>
                  <a:pt x="268" y="121"/>
                  <a:pt x="269" y="119"/>
                </a:cubicBezTo>
                <a:cubicBezTo>
                  <a:pt x="272" y="115"/>
                  <a:pt x="274" y="111"/>
                  <a:pt x="276" y="107"/>
                </a:cubicBezTo>
                <a:cubicBezTo>
                  <a:pt x="278" y="103"/>
                  <a:pt x="280" y="98"/>
                  <a:pt x="281" y="95"/>
                </a:cubicBezTo>
                <a:cubicBezTo>
                  <a:pt x="282" y="91"/>
                  <a:pt x="283" y="87"/>
                  <a:pt x="284" y="84"/>
                </a:cubicBezTo>
                <a:cubicBezTo>
                  <a:pt x="284" y="81"/>
                  <a:pt x="285" y="78"/>
                  <a:pt x="285" y="75"/>
                </a:cubicBezTo>
                <a:cubicBezTo>
                  <a:pt x="286" y="71"/>
                  <a:pt x="286" y="68"/>
                  <a:pt x="286" y="68"/>
                </a:cubicBezTo>
                <a:cubicBezTo>
                  <a:pt x="286" y="68"/>
                  <a:pt x="287" y="71"/>
                  <a:pt x="287" y="75"/>
                </a:cubicBezTo>
                <a:cubicBezTo>
                  <a:pt x="287" y="78"/>
                  <a:pt x="287" y="81"/>
                  <a:pt x="287" y="84"/>
                </a:cubicBezTo>
                <a:cubicBezTo>
                  <a:pt x="288" y="88"/>
                  <a:pt x="287" y="92"/>
                  <a:pt x="287" y="96"/>
                </a:cubicBezTo>
                <a:cubicBezTo>
                  <a:pt x="286" y="100"/>
                  <a:pt x="286" y="105"/>
                  <a:pt x="284" y="109"/>
                </a:cubicBezTo>
                <a:cubicBezTo>
                  <a:pt x="283" y="114"/>
                  <a:pt x="282" y="120"/>
                  <a:pt x="280" y="124"/>
                </a:cubicBezTo>
                <a:cubicBezTo>
                  <a:pt x="279" y="127"/>
                  <a:pt x="277" y="130"/>
                  <a:pt x="276" y="132"/>
                </a:cubicBezTo>
                <a:cubicBezTo>
                  <a:pt x="275" y="135"/>
                  <a:pt x="273" y="137"/>
                  <a:pt x="272" y="140"/>
                </a:cubicBezTo>
                <a:cubicBezTo>
                  <a:pt x="269" y="145"/>
                  <a:pt x="265" y="150"/>
                  <a:pt x="261" y="154"/>
                </a:cubicBezTo>
                <a:cubicBezTo>
                  <a:pt x="258" y="159"/>
                  <a:pt x="253" y="163"/>
                  <a:pt x="249" y="167"/>
                </a:cubicBezTo>
                <a:cubicBezTo>
                  <a:pt x="244" y="171"/>
                  <a:pt x="240" y="175"/>
                  <a:pt x="235" y="177"/>
                </a:cubicBezTo>
                <a:cubicBezTo>
                  <a:pt x="230" y="181"/>
                  <a:pt x="226" y="184"/>
                  <a:pt x="221" y="186"/>
                </a:cubicBezTo>
                <a:close/>
                <a:moveTo>
                  <a:pt x="266" y="371"/>
                </a:moveTo>
                <a:lnTo>
                  <a:pt x="305" y="371"/>
                </a:lnTo>
                <a:lnTo>
                  <a:pt x="305" y="380"/>
                </a:lnTo>
                <a:lnTo>
                  <a:pt x="278" y="380"/>
                </a:lnTo>
                <a:lnTo>
                  <a:pt x="278" y="393"/>
                </a:lnTo>
                <a:lnTo>
                  <a:pt x="302" y="393"/>
                </a:lnTo>
                <a:lnTo>
                  <a:pt x="302" y="402"/>
                </a:lnTo>
                <a:lnTo>
                  <a:pt x="278" y="402"/>
                </a:lnTo>
                <a:lnTo>
                  <a:pt x="278" y="425"/>
                </a:lnTo>
                <a:lnTo>
                  <a:pt x="266" y="425"/>
                </a:lnTo>
                <a:lnTo>
                  <a:pt x="266" y="371"/>
                </a:lnTo>
                <a:close/>
                <a:moveTo>
                  <a:pt x="194" y="371"/>
                </a:moveTo>
                <a:lnTo>
                  <a:pt x="204" y="371"/>
                </a:lnTo>
                <a:lnTo>
                  <a:pt x="204" y="425"/>
                </a:lnTo>
                <a:lnTo>
                  <a:pt x="193" y="425"/>
                </a:lnTo>
                <a:lnTo>
                  <a:pt x="171" y="386"/>
                </a:lnTo>
                <a:lnTo>
                  <a:pt x="170" y="386"/>
                </a:lnTo>
                <a:lnTo>
                  <a:pt x="170" y="425"/>
                </a:lnTo>
                <a:lnTo>
                  <a:pt x="160" y="425"/>
                </a:lnTo>
                <a:lnTo>
                  <a:pt x="160" y="371"/>
                </a:lnTo>
                <a:lnTo>
                  <a:pt x="172" y="371"/>
                </a:lnTo>
                <a:lnTo>
                  <a:pt x="194" y="409"/>
                </a:lnTo>
                <a:lnTo>
                  <a:pt x="194" y="409"/>
                </a:lnTo>
                <a:lnTo>
                  <a:pt x="194" y="371"/>
                </a:lnTo>
                <a:lnTo>
                  <a:pt x="194" y="371"/>
                </a:lnTo>
                <a:close/>
                <a:moveTo>
                  <a:pt x="407" y="413"/>
                </a:moveTo>
                <a:cubicBezTo>
                  <a:pt x="407" y="403"/>
                  <a:pt x="405" y="401"/>
                  <a:pt x="400" y="399"/>
                </a:cubicBezTo>
                <a:cubicBezTo>
                  <a:pt x="406" y="397"/>
                  <a:pt x="409" y="392"/>
                  <a:pt x="409" y="386"/>
                </a:cubicBezTo>
                <a:cubicBezTo>
                  <a:pt x="409" y="381"/>
                  <a:pt x="406" y="371"/>
                  <a:pt x="391" y="371"/>
                </a:cubicBezTo>
                <a:lnTo>
                  <a:pt x="364" y="371"/>
                </a:lnTo>
                <a:lnTo>
                  <a:pt x="364" y="425"/>
                </a:lnTo>
                <a:lnTo>
                  <a:pt x="375" y="425"/>
                </a:lnTo>
                <a:lnTo>
                  <a:pt x="375" y="404"/>
                </a:lnTo>
                <a:lnTo>
                  <a:pt x="387" y="404"/>
                </a:lnTo>
                <a:cubicBezTo>
                  <a:pt x="395" y="404"/>
                  <a:pt x="396" y="407"/>
                  <a:pt x="396" y="414"/>
                </a:cubicBezTo>
                <a:cubicBezTo>
                  <a:pt x="396" y="420"/>
                  <a:pt x="396" y="423"/>
                  <a:pt x="397" y="425"/>
                </a:cubicBezTo>
                <a:lnTo>
                  <a:pt x="410" y="425"/>
                </a:lnTo>
                <a:lnTo>
                  <a:pt x="410" y="424"/>
                </a:lnTo>
                <a:cubicBezTo>
                  <a:pt x="407" y="423"/>
                  <a:pt x="407" y="421"/>
                  <a:pt x="407" y="413"/>
                </a:cubicBezTo>
                <a:close/>
                <a:moveTo>
                  <a:pt x="388" y="395"/>
                </a:moveTo>
                <a:lnTo>
                  <a:pt x="375" y="395"/>
                </a:lnTo>
                <a:lnTo>
                  <a:pt x="375" y="380"/>
                </a:lnTo>
                <a:lnTo>
                  <a:pt x="389" y="380"/>
                </a:lnTo>
                <a:cubicBezTo>
                  <a:pt x="396" y="380"/>
                  <a:pt x="397" y="384"/>
                  <a:pt x="397" y="387"/>
                </a:cubicBezTo>
                <a:cubicBezTo>
                  <a:pt x="397" y="393"/>
                  <a:pt x="394" y="395"/>
                  <a:pt x="388" y="395"/>
                </a:cubicBezTo>
                <a:close/>
                <a:moveTo>
                  <a:pt x="258" y="409"/>
                </a:moveTo>
                <a:cubicBezTo>
                  <a:pt x="258" y="425"/>
                  <a:pt x="241" y="427"/>
                  <a:pt x="236" y="427"/>
                </a:cubicBezTo>
                <a:cubicBezTo>
                  <a:pt x="216" y="427"/>
                  <a:pt x="213" y="415"/>
                  <a:pt x="213" y="408"/>
                </a:cubicBezTo>
                <a:lnTo>
                  <a:pt x="224" y="408"/>
                </a:lnTo>
                <a:cubicBezTo>
                  <a:pt x="224" y="411"/>
                  <a:pt x="225" y="417"/>
                  <a:pt x="235" y="417"/>
                </a:cubicBezTo>
                <a:cubicBezTo>
                  <a:pt x="241" y="417"/>
                  <a:pt x="247" y="416"/>
                  <a:pt x="247" y="410"/>
                </a:cubicBezTo>
                <a:cubicBezTo>
                  <a:pt x="247" y="406"/>
                  <a:pt x="242" y="405"/>
                  <a:pt x="237" y="403"/>
                </a:cubicBezTo>
                <a:lnTo>
                  <a:pt x="231" y="402"/>
                </a:lnTo>
                <a:cubicBezTo>
                  <a:pt x="222" y="400"/>
                  <a:pt x="213" y="398"/>
                  <a:pt x="213" y="386"/>
                </a:cubicBezTo>
                <a:cubicBezTo>
                  <a:pt x="213" y="380"/>
                  <a:pt x="217" y="369"/>
                  <a:pt x="234" y="369"/>
                </a:cubicBezTo>
                <a:cubicBezTo>
                  <a:pt x="251" y="369"/>
                  <a:pt x="256" y="380"/>
                  <a:pt x="256" y="387"/>
                </a:cubicBezTo>
                <a:lnTo>
                  <a:pt x="245" y="387"/>
                </a:lnTo>
                <a:cubicBezTo>
                  <a:pt x="245" y="384"/>
                  <a:pt x="244" y="379"/>
                  <a:pt x="234" y="379"/>
                </a:cubicBezTo>
                <a:cubicBezTo>
                  <a:pt x="229" y="379"/>
                  <a:pt x="224" y="380"/>
                  <a:pt x="224" y="385"/>
                </a:cubicBezTo>
                <a:cubicBezTo>
                  <a:pt x="224" y="389"/>
                  <a:pt x="228" y="390"/>
                  <a:pt x="230" y="391"/>
                </a:cubicBezTo>
                <a:lnTo>
                  <a:pt x="243" y="394"/>
                </a:lnTo>
                <a:cubicBezTo>
                  <a:pt x="251" y="396"/>
                  <a:pt x="258" y="399"/>
                  <a:pt x="258" y="409"/>
                </a:cubicBezTo>
                <a:close/>
                <a:moveTo>
                  <a:pt x="324" y="416"/>
                </a:moveTo>
                <a:lnTo>
                  <a:pt x="354" y="416"/>
                </a:lnTo>
                <a:lnTo>
                  <a:pt x="354" y="425"/>
                </a:lnTo>
                <a:lnTo>
                  <a:pt x="313" y="425"/>
                </a:lnTo>
                <a:lnTo>
                  <a:pt x="313" y="371"/>
                </a:lnTo>
                <a:lnTo>
                  <a:pt x="353" y="371"/>
                </a:lnTo>
                <a:lnTo>
                  <a:pt x="353" y="380"/>
                </a:lnTo>
                <a:lnTo>
                  <a:pt x="324" y="380"/>
                </a:lnTo>
                <a:lnTo>
                  <a:pt x="324" y="392"/>
                </a:lnTo>
                <a:lnTo>
                  <a:pt x="351" y="392"/>
                </a:lnTo>
                <a:lnTo>
                  <a:pt x="351" y="401"/>
                </a:lnTo>
                <a:lnTo>
                  <a:pt x="324" y="401"/>
                </a:lnTo>
                <a:lnTo>
                  <a:pt x="324" y="416"/>
                </a:lnTo>
                <a:close/>
                <a:moveTo>
                  <a:pt x="231" y="354"/>
                </a:moveTo>
                <a:lnTo>
                  <a:pt x="210" y="354"/>
                </a:lnTo>
                <a:lnTo>
                  <a:pt x="210" y="247"/>
                </a:lnTo>
                <a:lnTo>
                  <a:pt x="233" y="247"/>
                </a:lnTo>
                <a:lnTo>
                  <a:pt x="276" y="321"/>
                </a:lnTo>
                <a:lnTo>
                  <a:pt x="276" y="321"/>
                </a:lnTo>
                <a:lnTo>
                  <a:pt x="276" y="247"/>
                </a:lnTo>
                <a:lnTo>
                  <a:pt x="297" y="247"/>
                </a:lnTo>
                <a:lnTo>
                  <a:pt x="297" y="354"/>
                </a:lnTo>
                <a:lnTo>
                  <a:pt x="275" y="354"/>
                </a:lnTo>
                <a:lnTo>
                  <a:pt x="231" y="277"/>
                </a:lnTo>
                <a:lnTo>
                  <a:pt x="231" y="277"/>
                </a:lnTo>
                <a:lnTo>
                  <a:pt x="231" y="354"/>
                </a:lnTo>
                <a:lnTo>
                  <a:pt x="231" y="354"/>
                </a:lnTo>
                <a:close/>
              </a:path>
            </a:pathLst>
          </a:custGeom>
          <a:solidFill>
            <a:schemeClr val="bg1"/>
          </a:solidFill>
          <a:ln>
            <a:noFill/>
          </a:ln>
        </p:spPr>
      </p:sp>
      <p:sp>
        <p:nvSpPr>
          <p:cNvPr id="27" name="office-block_66659"/>
          <p:cNvSpPr>
            <a:spLocks noChangeAspect="1"/>
          </p:cNvSpPr>
          <p:nvPr/>
        </p:nvSpPr>
        <p:spPr bwMode="auto">
          <a:xfrm>
            <a:off x="6793595" y="2340265"/>
            <a:ext cx="463023" cy="462312"/>
          </a:xfrm>
          <a:custGeom>
            <a:avLst/>
            <a:gdLst>
              <a:gd name="connsiteX0" fmla="*/ 439949 w 578320"/>
              <a:gd name="connsiteY0" fmla="*/ 439251 h 577432"/>
              <a:gd name="connsiteX1" fmla="*/ 479682 w 578320"/>
              <a:gd name="connsiteY1" fmla="*/ 439251 h 577432"/>
              <a:gd name="connsiteX2" fmla="*/ 486150 w 578320"/>
              <a:gd name="connsiteY2" fmla="*/ 445701 h 577432"/>
              <a:gd name="connsiteX3" fmla="*/ 486150 w 578320"/>
              <a:gd name="connsiteY3" fmla="*/ 485322 h 577432"/>
              <a:gd name="connsiteX4" fmla="*/ 479682 w 578320"/>
              <a:gd name="connsiteY4" fmla="*/ 491772 h 577432"/>
              <a:gd name="connsiteX5" fmla="*/ 439949 w 578320"/>
              <a:gd name="connsiteY5" fmla="*/ 491772 h 577432"/>
              <a:gd name="connsiteX6" fmla="*/ 433481 w 578320"/>
              <a:gd name="connsiteY6" fmla="*/ 485322 h 577432"/>
              <a:gd name="connsiteX7" fmla="*/ 433481 w 578320"/>
              <a:gd name="connsiteY7" fmla="*/ 445701 h 577432"/>
              <a:gd name="connsiteX8" fmla="*/ 439949 w 578320"/>
              <a:gd name="connsiteY8" fmla="*/ 439251 h 577432"/>
              <a:gd name="connsiteX9" fmla="*/ 347761 w 578320"/>
              <a:gd name="connsiteY9" fmla="*/ 439251 h 577432"/>
              <a:gd name="connsiteX10" fmla="*/ 387382 w 578320"/>
              <a:gd name="connsiteY10" fmla="*/ 439251 h 577432"/>
              <a:gd name="connsiteX11" fmla="*/ 393832 w 578320"/>
              <a:gd name="connsiteY11" fmla="*/ 445701 h 577432"/>
              <a:gd name="connsiteX12" fmla="*/ 393832 w 578320"/>
              <a:gd name="connsiteY12" fmla="*/ 485322 h 577432"/>
              <a:gd name="connsiteX13" fmla="*/ 387382 w 578320"/>
              <a:gd name="connsiteY13" fmla="*/ 491772 h 577432"/>
              <a:gd name="connsiteX14" fmla="*/ 347761 w 578320"/>
              <a:gd name="connsiteY14" fmla="*/ 491772 h 577432"/>
              <a:gd name="connsiteX15" fmla="*/ 341311 w 578320"/>
              <a:gd name="connsiteY15" fmla="*/ 485322 h 577432"/>
              <a:gd name="connsiteX16" fmla="*/ 341311 w 578320"/>
              <a:gd name="connsiteY16" fmla="*/ 445701 h 577432"/>
              <a:gd name="connsiteX17" fmla="*/ 347761 w 578320"/>
              <a:gd name="connsiteY17" fmla="*/ 439251 h 577432"/>
              <a:gd name="connsiteX18" fmla="*/ 177049 w 578320"/>
              <a:gd name="connsiteY18" fmla="*/ 439251 h 577432"/>
              <a:gd name="connsiteX19" fmla="*/ 216782 w 578320"/>
              <a:gd name="connsiteY19" fmla="*/ 439251 h 577432"/>
              <a:gd name="connsiteX20" fmla="*/ 223250 w 578320"/>
              <a:gd name="connsiteY20" fmla="*/ 445701 h 577432"/>
              <a:gd name="connsiteX21" fmla="*/ 223250 w 578320"/>
              <a:gd name="connsiteY21" fmla="*/ 485322 h 577432"/>
              <a:gd name="connsiteX22" fmla="*/ 216782 w 578320"/>
              <a:gd name="connsiteY22" fmla="*/ 491772 h 577432"/>
              <a:gd name="connsiteX23" fmla="*/ 177049 w 578320"/>
              <a:gd name="connsiteY23" fmla="*/ 491772 h 577432"/>
              <a:gd name="connsiteX24" fmla="*/ 170581 w 578320"/>
              <a:gd name="connsiteY24" fmla="*/ 485322 h 577432"/>
              <a:gd name="connsiteX25" fmla="*/ 170581 w 578320"/>
              <a:gd name="connsiteY25" fmla="*/ 445701 h 577432"/>
              <a:gd name="connsiteX26" fmla="*/ 177049 w 578320"/>
              <a:gd name="connsiteY26" fmla="*/ 439251 h 577432"/>
              <a:gd name="connsiteX27" fmla="*/ 85782 w 578320"/>
              <a:gd name="connsiteY27" fmla="*/ 439251 h 577432"/>
              <a:gd name="connsiteX28" fmla="*/ 124482 w 578320"/>
              <a:gd name="connsiteY28" fmla="*/ 439251 h 577432"/>
              <a:gd name="connsiteX29" fmla="*/ 130932 w 578320"/>
              <a:gd name="connsiteY29" fmla="*/ 445701 h 577432"/>
              <a:gd name="connsiteX30" fmla="*/ 130932 w 578320"/>
              <a:gd name="connsiteY30" fmla="*/ 485322 h 577432"/>
              <a:gd name="connsiteX31" fmla="*/ 124482 w 578320"/>
              <a:gd name="connsiteY31" fmla="*/ 491772 h 577432"/>
              <a:gd name="connsiteX32" fmla="*/ 85782 w 578320"/>
              <a:gd name="connsiteY32" fmla="*/ 491772 h 577432"/>
              <a:gd name="connsiteX33" fmla="*/ 78411 w 578320"/>
              <a:gd name="connsiteY33" fmla="*/ 485322 h 577432"/>
              <a:gd name="connsiteX34" fmla="*/ 78411 w 578320"/>
              <a:gd name="connsiteY34" fmla="*/ 445701 h 577432"/>
              <a:gd name="connsiteX35" fmla="*/ 85782 w 578320"/>
              <a:gd name="connsiteY35" fmla="*/ 439251 h 577432"/>
              <a:gd name="connsiteX36" fmla="*/ 439949 w 578320"/>
              <a:gd name="connsiteY36" fmla="*/ 347229 h 577432"/>
              <a:gd name="connsiteX37" fmla="*/ 479682 w 578320"/>
              <a:gd name="connsiteY37" fmla="*/ 347229 h 577432"/>
              <a:gd name="connsiteX38" fmla="*/ 486150 w 578320"/>
              <a:gd name="connsiteY38" fmla="*/ 354580 h 577432"/>
              <a:gd name="connsiteX39" fmla="*/ 486150 w 578320"/>
              <a:gd name="connsiteY39" fmla="*/ 393170 h 577432"/>
              <a:gd name="connsiteX40" fmla="*/ 479682 w 578320"/>
              <a:gd name="connsiteY40" fmla="*/ 399602 h 577432"/>
              <a:gd name="connsiteX41" fmla="*/ 439949 w 578320"/>
              <a:gd name="connsiteY41" fmla="*/ 399602 h 577432"/>
              <a:gd name="connsiteX42" fmla="*/ 433481 w 578320"/>
              <a:gd name="connsiteY42" fmla="*/ 393170 h 577432"/>
              <a:gd name="connsiteX43" fmla="*/ 433481 w 578320"/>
              <a:gd name="connsiteY43" fmla="*/ 354580 h 577432"/>
              <a:gd name="connsiteX44" fmla="*/ 439949 w 578320"/>
              <a:gd name="connsiteY44" fmla="*/ 347229 h 577432"/>
              <a:gd name="connsiteX45" fmla="*/ 347761 w 578320"/>
              <a:gd name="connsiteY45" fmla="*/ 347229 h 577432"/>
              <a:gd name="connsiteX46" fmla="*/ 387382 w 578320"/>
              <a:gd name="connsiteY46" fmla="*/ 347229 h 577432"/>
              <a:gd name="connsiteX47" fmla="*/ 393832 w 578320"/>
              <a:gd name="connsiteY47" fmla="*/ 354580 h 577432"/>
              <a:gd name="connsiteX48" fmla="*/ 393832 w 578320"/>
              <a:gd name="connsiteY48" fmla="*/ 393170 h 577432"/>
              <a:gd name="connsiteX49" fmla="*/ 387382 w 578320"/>
              <a:gd name="connsiteY49" fmla="*/ 399602 h 577432"/>
              <a:gd name="connsiteX50" fmla="*/ 347761 w 578320"/>
              <a:gd name="connsiteY50" fmla="*/ 399602 h 577432"/>
              <a:gd name="connsiteX51" fmla="*/ 341311 w 578320"/>
              <a:gd name="connsiteY51" fmla="*/ 393170 h 577432"/>
              <a:gd name="connsiteX52" fmla="*/ 341311 w 578320"/>
              <a:gd name="connsiteY52" fmla="*/ 354580 h 577432"/>
              <a:gd name="connsiteX53" fmla="*/ 347761 w 578320"/>
              <a:gd name="connsiteY53" fmla="*/ 347229 h 577432"/>
              <a:gd name="connsiteX54" fmla="*/ 177049 w 578320"/>
              <a:gd name="connsiteY54" fmla="*/ 347229 h 577432"/>
              <a:gd name="connsiteX55" fmla="*/ 216782 w 578320"/>
              <a:gd name="connsiteY55" fmla="*/ 347229 h 577432"/>
              <a:gd name="connsiteX56" fmla="*/ 223250 w 578320"/>
              <a:gd name="connsiteY56" fmla="*/ 354580 h 577432"/>
              <a:gd name="connsiteX57" fmla="*/ 223250 w 578320"/>
              <a:gd name="connsiteY57" fmla="*/ 393170 h 577432"/>
              <a:gd name="connsiteX58" fmla="*/ 216782 w 578320"/>
              <a:gd name="connsiteY58" fmla="*/ 399602 h 577432"/>
              <a:gd name="connsiteX59" fmla="*/ 177049 w 578320"/>
              <a:gd name="connsiteY59" fmla="*/ 399602 h 577432"/>
              <a:gd name="connsiteX60" fmla="*/ 170581 w 578320"/>
              <a:gd name="connsiteY60" fmla="*/ 393170 h 577432"/>
              <a:gd name="connsiteX61" fmla="*/ 170581 w 578320"/>
              <a:gd name="connsiteY61" fmla="*/ 354580 h 577432"/>
              <a:gd name="connsiteX62" fmla="*/ 177049 w 578320"/>
              <a:gd name="connsiteY62" fmla="*/ 347229 h 577432"/>
              <a:gd name="connsiteX63" fmla="*/ 85782 w 578320"/>
              <a:gd name="connsiteY63" fmla="*/ 347229 h 577432"/>
              <a:gd name="connsiteX64" fmla="*/ 124482 w 578320"/>
              <a:gd name="connsiteY64" fmla="*/ 347229 h 577432"/>
              <a:gd name="connsiteX65" fmla="*/ 130932 w 578320"/>
              <a:gd name="connsiteY65" fmla="*/ 354580 h 577432"/>
              <a:gd name="connsiteX66" fmla="*/ 130932 w 578320"/>
              <a:gd name="connsiteY66" fmla="*/ 393170 h 577432"/>
              <a:gd name="connsiteX67" fmla="*/ 124482 w 578320"/>
              <a:gd name="connsiteY67" fmla="*/ 399602 h 577432"/>
              <a:gd name="connsiteX68" fmla="*/ 85782 w 578320"/>
              <a:gd name="connsiteY68" fmla="*/ 399602 h 577432"/>
              <a:gd name="connsiteX69" fmla="*/ 78411 w 578320"/>
              <a:gd name="connsiteY69" fmla="*/ 393170 h 577432"/>
              <a:gd name="connsiteX70" fmla="*/ 78411 w 578320"/>
              <a:gd name="connsiteY70" fmla="*/ 354580 h 577432"/>
              <a:gd name="connsiteX71" fmla="*/ 85782 w 578320"/>
              <a:gd name="connsiteY71" fmla="*/ 347229 h 577432"/>
              <a:gd name="connsiteX72" fmla="*/ 52574 w 578320"/>
              <a:gd name="connsiteY72" fmla="*/ 314963 h 577432"/>
              <a:gd name="connsiteX73" fmla="*/ 52574 w 578320"/>
              <a:gd name="connsiteY73" fmla="*/ 524938 h 577432"/>
              <a:gd name="connsiteX74" fmla="*/ 249960 w 578320"/>
              <a:gd name="connsiteY74" fmla="*/ 524938 h 577432"/>
              <a:gd name="connsiteX75" fmla="*/ 249960 w 578320"/>
              <a:gd name="connsiteY75" fmla="*/ 314963 h 577432"/>
              <a:gd name="connsiteX76" fmla="*/ 177093 w 578320"/>
              <a:gd name="connsiteY76" fmla="*/ 314963 h 577432"/>
              <a:gd name="connsiteX77" fmla="*/ 414140 w 578320"/>
              <a:gd name="connsiteY77" fmla="*/ 242208 h 577432"/>
              <a:gd name="connsiteX78" fmla="*/ 302534 w 578320"/>
              <a:gd name="connsiteY78" fmla="*/ 303912 h 577432"/>
              <a:gd name="connsiteX79" fmla="*/ 302534 w 578320"/>
              <a:gd name="connsiteY79" fmla="*/ 524938 h 577432"/>
              <a:gd name="connsiteX80" fmla="*/ 525746 w 578320"/>
              <a:gd name="connsiteY80" fmla="*/ 524938 h 577432"/>
              <a:gd name="connsiteX81" fmla="*/ 525746 w 578320"/>
              <a:gd name="connsiteY81" fmla="*/ 303912 h 577432"/>
              <a:gd name="connsiteX82" fmla="*/ 256478 w 578320"/>
              <a:gd name="connsiteY82" fmla="*/ 185968 h 577432"/>
              <a:gd name="connsiteX83" fmla="*/ 295178 w 578320"/>
              <a:gd name="connsiteY83" fmla="*/ 185968 h 577432"/>
              <a:gd name="connsiteX84" fmla="*/ 302549 w 578320"/>
              <a:gd name="connsiteY84" fmla="*/ 192418 h 577432"/>
              <a:gd name="connsiteX85" fmla="*/ 302549 w 578320"/>
              <a:gd name="connsiteY85" fmla="*/ 232039 h 577432"/>
              <a:gd name="connsiteX86" fmla="*/ 295178 w 578320"/>
              <a:gd name="connsiteY86" fmla="*/ 238489 h 577432"/>
              <a:gd name="connsiteX87" fmla="*/ 256478 w 578320"/>
              <a:gd name="connsiteY87" fmla="*/ 238489 h 577432"/>
              <a:gd name="connsiteX88" fmla="*/ 250028 w 578320"/>
              <a:gd name="connsiteY88" fmla="*/ 232039 h 577432"/>
              <a:gd name="connsiteX89" fmla="*/ 250028 w 578320"/>
              <a:gd name="connsiteY89" fmla="*/ 192418 h 577432"/>
              <a:gd name="connsiteX90" fmla="*/ 256478 w 578320"/>
              <a:gd name="connsiteY90" fmla="*/ 185968 h 577432"/>
              <a:gd name="connsiteX91" fmla="*/ 439949 w 578320"/>
              <a:gd name="connsiteY91" fmla="*/ 93946 h 577432"/>
              <a:gd name="connsiteX92" fmla="*/ 479682 w 578320"/>
              <a:gd name="connsiteY92" fmla="*/ 93946 h 577432"/>
              <a:gd name="connsiteX93" fmla="*/ 486150 w 578320"/>
              <a:gd name="connsiteY93" fmla="*/ 100396 h 577432"/>
              <a:gd name="connsiteX94" fmla="*/ 486150 w 578320"/>
              <a:gd name="connsiteY94" fmla="*/ 140017 h 577432"/>
              <a:gd name="connsiteX95" fmla="*/ 479682 w 578320"/>
              <a:gd name="connsiteY95" fmla="*/ 146467 h 577432"/>
              <a:gd name="connsiteX96" fmla="*/ 439949 w 578320"/>
              <a:gd name="connsiteY96" fmla="*/ 146467 h 577432"/>
              <a:gd name="connsiteX97" fmla="*/ 433481 w 578320"/>
              <a:gd name="connsiteY97" fmla="*/ 140017 h 577432"/>
              <a:gd name="connsiteX98" fmla="*/ 433481 w 578320"/>
              <a:gd name="connsiteY98" fmla="*/ 100396 h 577432"/>
              <a:gd name="connsiteX99" fmla="*/ 439949 w 578320"/>
              <a:gd name="connsiteY99" fmla="*/ 93946 h 577432"/>
              <a:gd name="connsiteX100" fmla="*/ 347761 w 578320"/>
              <a:gd name="connsiteY100" fmla="*/ 93946 h 577432"/>
              <a:gd name="connsiteX101" fmla="*/ 387382 w 578320"/>
              <a:gd name="connsiteY101" fmla="*/ 93946 h 577432"/>
              <a:gd name="connsiteX102" fmla="*/ 393832 w 578320"/>
              <a:gd name="connsiteY102" fmla="*/ 100396 h 577432"/>
              <a:gd name="connsiteX103" fmla="*/ 393832 w 578320"/>
              <a:gd name="connsiteY103" fmla="*/ 140017 h 577432"/>
              <a:gd name="connsiteX104" fmla="*/ 387382 w 578320"/>
              <a:gd name="connsiteY104" fmla="*/ 146467 h 577432"/>
              <a:gd name="connsiteX105" fmla="*/ 347761 w 578320"/>
              <a:gd name="connsiteY105" fmla="*/ 146467 h 577432"/>
              <a:gd name="connsiteX106" fmla="*/ 341311 w 578320"/>
              <a:gd name="connsiteY106" fmla="*/ 140017 h 577432"/>
              <a:gd name="connsiteX107" fmla="*/ 341311 w 578320"/>
              <a:gd name="connsiteY107" fmla="*/ 100396 h 577432"/>
              <a:gd name="connsiteX108" fmla="*/ 347761 w 578320"/>
              <a:gd name="connsiteY108" fmla="*/ 93946 h 577432"/>
              <a:gd name="connsiteX109" fmla="*/ 256478 w 578320"/>
              <a:gd name="connsiteY109" fmla="*/ 93946 h 577432"/>
              <a:gd name="connsiteX110" fmla="*/ 295178 w 578320"/>
              <a:gd name="connsiteY110" fmla="*/ 93946 h 577432"/>
              <a:gd name="connsiteX111" fmla="*/ 302549 w 578320"/>
              <a:gd name="connsiteY111" fmla="*/ 100396 h 577432"/>
              <a:gd name="connsiteX112" fmla="*/ 302549 w 578320"/>
              <a:gd name="connsiteY112" fmla="*/ 140017 h 577432"/>
              <a:gd name="connsiteX113" fmla="*/ 295178 w 578320"/>
              <a:gd name="connsiteY113" fmla="*/ 146467 h 577432"/>
              <a:gd name="connsiteX114" fmla="*/ 256478 w 578320"/>
              <a:gd name="connsiteY114" fmla="*/ 146467 h 577432"/>
              <a:gd name="connsiteX115" fmla="*/ 250028 w 578320"/>
              <a:gd name="connsiteY115" fmla="*/ 140017 h 577432"/>
              <a:gd name="connsiteX116" fmla="*/ 250028 w 578320"/>
              <a:gd name="connsiteY116" fmla="*/ 100396 h 577432"/>
              <a:gd name="connsiteX117" fmla="*/ 256478 w 578320"/>
              <a:gd name="connsiteY117" fmla="*/ 93946 h 577432"/>
              <a:gd name="connsiteX118" fmla="*/ 203842 w 578320"/>
              <a:gd name="connsiteY118" fmla="*/ 52494 h 577432"/>
              <a:gd name="connsiteX119" fmla="*/ 203842 w 578320"/>
              <a:gd name="connsiteY119" fmla="*/ 262469 h 577432"/>
              <a:gd name="connsiteX120" fmla="*/ 269329 w 578320"/>
              <a:gd name="connsiteY120" fmla="*/ 262469 h 577432"/>
              <a:gd name="connsiteX121" fmla="*/ 401227 w 578320"/>
              <a:gd name="connsiteY121" fmla="*/ 189715 h 577432"/>
              <a:gd name="connsiteX122" fmla="*/ 426130 w 578320"/>
              <a:gd name="connsiteY122" fmla="*/ 189715 h 577432"/>
              <a:gd name="connsiteX123" fmla="*/ 525746 w 578320"/>
              <a:gd name="connsiteY123" fmla="*/ 244050 h 577432"/>
              <a:gd name="connsiteX124" fmla="*/ 525746 w 578320"/>
              <a:gd name="connsiteY124" fmla="*/ 52494 h 577432"/>
              <a:gd name="connsiteX125" fmla="*/ 177093 w 578320"/>
              <a:gd name="connsiteY125" fmla="*/ 0 h 577432"/>
              <a:gd name="connsiteX126" fmla="*/ 551572 w 578320"/>
              <a:gd name="connsiteY126" fmla="*/ 0 h 577432"/>
              <a:gd name="connsiteX127" fmla="*/ 578320 w 578320"/>
              <a:gd name="connsiteY127" fmla="*/ 25786 h 577432"/>
              <a:gd name="connsiteX128" fmla="*/ 578320 w 578320"/>
              <a:gd name="connsiteY128" fmla="*/ 288256 h 577432"/>
              <a:gd name="connsiteX129" fmla="*/ 578320 w 578320"/>
              <a:gd name="connsiteY129" fmla="*/ 550725 h 577432"/>
              <a:gd name="connsiteX130" fmla="*/ 551572 w 578320"/>
              <a:gd name="connsiteY130" fmla="*/ 577432 h 577432"/>
              <a:gd name="connsiteX131" fmla="*/ 275786 w 578320"/>
              <a:gd name="connsiteY131" fmla="*/ 577432 h 577432"/>
              <a:gd name="connsiteX132" fmla="*/ 25826 w 578320"/>
              <a:gd name="connsiteY132" fmla="*/ 577432 h 577432"/>
              <a:gd name="connsiteX133" fmla="*/ 0 w 578320"/>
              <a:gd name="connsiteY133" fmla="*/ 550725 h 577432"/>
              <a:gd name="connsiteX134" fmla="*/ 0 w 578320"/>
              <a:gd name="connsiteY134" fmla="*/ 288256 h 577432"/>
              <a:gd name="connsiteX135" fmla="*/ 25826 w 578320"/>
              <a:gd name="connsiteY135" fmla="*/ 262469 h 577432"/>
              <a:gd name="connsiteX136" fmla="*/ 151267 w 578320"/>
              <a:gd name="connsiteY136" fmla="*/ 262469 h 577432"/>
              <a:gd name="connsiteX137" fmla="*/ 151267 w 578320"/>
              <a:gd name="connsiteY137" fmla="*/ 25786 h 577432"/>
              <a:gd name="connsiteX138" fmla="*/ 177093 w 578320"/>
              <a:gd name="connsiteY138"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78320" h="577432">
                <a:moveTo>
                  <a:pt x="439949" y="439251"/>
                </a:moveTo>
                <a:lnTo>
                  <a:pt x="479682" y="439251"/>
                </a:lnTo>
                <a:cubicBezTo>
                  <a:pt x="483378" y="439251"/>
                  <a:pt x="486150" y="442015"/>
                  <a:pt x="486150" y="445701"/>
                </a:cubicBezTo>
                <a:lnTo>
                  <a:pt x="486150" y="485322"/>
                </a:lnTo>
                <a:cubicBezTo>
                  <a:pt x="486150" y="489008"/>
                  <a:pt x="483378" y="491772"/>
                  <a:pt x="479682" y="491772"/>
                </a:cubicBezTo>
                <a:lnTo>
                  <a:pt x="439949" y="491772"/>
                </a:lnTo>
                <a:cubicBezTo>
                  <a:pt x="436253" y="491772"/>
                  <a:pt x="433481" y="489008"/>
                  <a:pt x="433481" y="485322"/>
                </a:cubicBezTo>
                <a:lnTo>
                  <a:pt x="433481" y="445701"/>
                </a:lnTo>
                <a:cubicBezTo>
                  <a:pt x="433481" y="442015"/>
                  <a:pt x="436253" y="439251"/>
                  <a:pt x="439949" y="439251"/>
                </a:cubicBezTo>
                <a:close/>
                <a:moveTo>
                  <a:pt x="347761" y="439251"/>
                </a:moveTo>
                <a:lnTo>
                  <a:pt x="387382" y="439251"/>
                </a:lnTo>
                <a:cubicBezTo>
                  <a:pt x="391068" y="439251"/>
                  <a:pt x="393832" y="442015"/>
                  <a:pt x="393832" y="445701"/>
                </a:cubicBezTo>
                <a:lnTo>
                  <a:pt x="393832" y="485322"/>
                </a:lnTo>
                <a:cubicBezTo>
                  <a:pt x="393832" y="489008"/>
                  <a:pt x="391068" y="491772"/>
                  <a:pt x="387382" y="491772"/>
                </a:cubicBezTo>
                <a:lnTo>
                  <a:pt x="347761" y="491772"/>
                </a:lnTo>
                <a:cubicBezTo>
                  <a:pt x="344075" y="491772"/>
                  <a:pt x="341311" y="489008"/>
                  <a:pt x="341311" y="485322"/>
                </a:cubicBezTo>
                <a:lnTo>
                  <a:pt x="341311" y="445701"/>
                </a:lnTo>
                <a:cubicBezTo>
                  <a:pt x="341311" y="442015"/>
                  <a:pt x="344075" y="439251"/>
                  <a:pt x="347761" y="439251"/>
                </a:cubicBezTo>
                <a:close/>
                <a:moveTo>
                  <a:pt x="177049" y="439251"/>
                </a:moveTo>
                <a:lnTo>
                  <a:pt x="216782" y="439251"/>
                </a:lnTo>
                <a:cubicBezTo>
                  <a:pt x="220478" y="439251"/>
                  <a:pt x="223250" y="442015"/>
                  <a:pt x="223250" y="445701"/>
                </a:cubicBezTo>
                <a:lnTo>
                  <a:pt x="223250" y="485322"/>
                </a:lnTo>
                <a:cubicBezTo>
                  <a:pt x="223250" y="489008"/>
                  <a:pt x="220478" y="491772"/>
                  <a:pt x="216782" y="491772"/>
                </a:cubicBezTo>
                <a:lnTo>
                  <a:pt x="177049" y="491772"/>
                </a:lnTo>
                <a:cubicBezTo>
                  <a:pt x="173353" y="491772"/>
                  <a:pt x="170581" y="489008"/>
                  <a:pt x="170581" y="485322"/>
                </a:cubicBezTo>
                <a:lnTo>
                  <a:pt x="170581" y="445701"/>
                </a:lnTo>
                <a:cubicBezTo>
                  <a:pt x="170581" y="442015"/>
                  <a:pt x="173353" y="439251"/>
                  <a:pt x="177049" y="439251"/>
                </a:cubicBezTo>
                <a:close/>
                <a:moveTo>
                  <a:pt x="85782" y="439251"/>
                </a:moveTo>
                <a:lnTo>
                  <a:pt x="124482" y="439251"/>
                </a:lnTo>
                <a:cubicBezTo>
                  <a:pt x="128168" y="439251"/>
                  <a:pt x="130932" y="442015"/>
                  <a:pt x="130932" y="445701"/>
                </a:cubicBezTo>
                <a:lnTo>
                  <a:pt x="130932" y="485322"/>
                </a:lnTo>
                <a:cubicBezTo>
                  <a:pt x="130932" y="489008"/>
                  <a:pt x="128168" y="491772"/>
                  <a:pt x="124482" y="491772"/>
                </a:cubicBezTo>
                <a:lnTo>
                  <a:pt x="85782" y="491772"/>
                </a:lnTo>
                <a:cubicBezTo>
                  <a:pt x="82097" y="491772"/>
                  <a:pt x="78411" y="489008"/>
                  <a:pt x="78411" y="485322"/>
                </a:cubicBezTo>
                <a:lnTo>
                  <a:pt x="78411" y="445701"/>
                </a:lnTo>
                <a:cubicBezTo>
                  <a:pt x="78411" y="442015"/>
                  <a:pt x="82097" y="439251"/>
                  <a:pt x="85782" y="439251"/>
                </a:cubicBezTo>
                <a:close/>
                <a:moveTo>
                  <a:pt x="439949" y="347229"/>
                </a:moveTo>
                <a:lnTo>
                  <a:pt x="479682" y="347229"/>
                </a:lnTo>
                <a:cubicBezTo>
                  <a:pt x="483378" y="347229"/>
                  <a:pt x="486150" y="350904"/>
                  <a:pt x="486150" y="354580"/>
                </a:cubicBezTo>
                <a:lnTo>
                  <a:pt x="486150" y="393170"/>
                </a:lnTo>
                <a:cubicBezTo>
                  <a:pt x="486150" y="396846"/>
                  <a:pt x="483378" y="399602"/>
                  <a:pt x="479682" y="399602"/>
                </a:cubicBezTo>
                <a:lnTo>
                  <a:pt x="439949" y="399602"/>
                </a:lnTo>
                <a:cubicBezTo>
                  <a:pt x="436253" y="399602"/>
                  <a:pt x="433481" y="396846"/>
                  <a:pt x="433481" y="393170"/>
                </a:cubicBezTo>
                <a:lnTo>
                  <a:pt x="433481" y="354580"/>
                </a:lnTo>
                <a:cubicBezTo>
                  <a:pt x="433481" y="350904"/>
                  <a:pt x="436253" y="347229"/>
                  <a:pt x="439949" y="347229"/>
                </a:cubicBezTo>
                <a:close/>
                <a:moveTo>
                  <a:pt x="347761" y="347229"/>
                </a:moveTo>
                <a:lnTo>
                  <a:pt x="387382" y="347229"/>
                </a:lnTo>
                <a:cubicBezTo>
                  <a:pt x="391068" y="347229"/>
                  <a:pt x="393832" y="350904"/>
                  <a:pt x="393832" y="354580"/>
                </a:cubicBezTo>
                <a:lnTo>
                  <a:pt x="393832" y="393170"/>
                </a:lnTo>
                <a:cubicBezTo>
                  <a:pt x="393832" y="396846"/>
                  <a:pt x="391068" y="399602"/>
                  <a:pt x="387382" y="399602"/>
                </a:cubicBezTo>
                <a:lnTo>
                  <a:pt x="347761" y="399602"/>
                </a:lnTo>
                <a:cubicBezTo>
                  <a:pt x="344075" y="399602"/>
                  <a:pt x="341311" y="396846"/>
                  <a:pt x="341311" y="393170"/>
                </a:cubicBezTo>
                <a:lnTo>
                  <a:pt x="341311" y="354580"/>
                </a:lnTo>
                <a:cubicBezTo>
                  <a:pt x="341311" y="350904"/>
                  <a:pt x="344075" y="347229"/>
                  <a:pt x="347761" y="347229"/>
                </a:cubicBezTo>
                <a:close/>
                <a:moveTo>
                  <a:pt x="177049" y="347229"/>
                </a:moveTo>
                <a:lnTo>
                  <a:pt x="216782" y="347229"/>
                </a:lnTo>
                <a:cubicBezTo>
                  <a:pt x="220478" y="347229"/>
                  <a:pt x="223250" y="350904"/>
                  <a:pt x="223250" y="354580"/>
                </a:cubicBezTo>
                <a:lnTo>
                  <a:pt x="223250" y="393170"/>
                </a:lnTo>
                <a:cubicBezTo>
                  <a:pt x="223250" y="396846"/>
                  <a:pt x="220478" y="399602"/>
                  <a:pt x="216782" y="399602"/>
                </a:cubicBezTo>
                <a:lnTo>
                  <a:pt x="177049" y="399602"/>
                </a:lnTo>
                <a:cubicBezTo>
                  <a:pt x="173353" y="399602"/>
                  <a:pt x="170581" y="396846"/>
                  <a:pt x="170581" y="393170"/>
                </a:cubicBezTo>
                <a:lnTo>
                  <a:pt x="170581" y="354580"/>
                </a:lnTo>
                <a:cubicBezTo>
                  <a:pt x="170581" y="350904"/>
                  <a:pt x="173353" y="347229"/>
                  <a:pt x="177049" y="347229"/>
                </a:cubicBezTo>
                <a:close/>
                <a:moveTo>
                  <a:pt x="85782" y="347229"/>
                </a:moveTo>
                <a:lnTo>
                  <a:pt x="124482" y="347229"/>
                </a:lnTo>
                <a:cubicBezTo>
                  <a:pt x="128168" y="347229"/>
                  <a:pt x="130932" y="350904"/>
                  <a:pt x="130932" y="354580"/>
                </a:cubicBezTo>
                <a:lnTo>
                  <a:pt x="130932" y="393170"/>
                </a:lnTo>
                <a:cubicBezTo>
                  <a:pt x="130932" y="396846"/>
                  <a:pt x="128168" y="399602"/>
                  <a:pt x="124482" y="399602"/>
                </a:cubicBezTo>
                <a:lnTo>
                  <a:pt x="85782" y="399602"/>
                </a:lnTo>
                <a:cubicBezTo>
                  <a:pt x="82097" y="399602"/>
                  <a:pt x="78411" y="396846"/>
                  <a:pt x="78411" y="393170"/>
                </a:cubicBezTo>
                <a:lnTo>
                  <a:pt x="78411" y="354580"/>
                </a:lnTo>
                <a:cubicBezTo>
                  <a:pt x="78411" y="350904"/>
                  <a:pt x="82097" y="347229"/>
                  <a:pt x="85782" y="347229"/>
                </a:cubicBezTo>
                <a:close/>
                <a:moveTo>
                  <a:pt x="52574" y="314963"/>
                </a:moveTo>
                <a:lnTo>
                  <a:pt x="52574" y="524938"/>
                </a:lnTo>
                <a:lnTo>
                  <a:pt x="249960" y="524938"/>
                </a:lnTo>
                <a:lnTo>
                  <a:pt x="249960" y="314963"/>
                </a:lnTo>
                <a:lnTo>
                  <a:pt x="177093" y="314963"/>
                </a:lnTo>
                <a:close/>
                <a:moveTo>
                  <a:pt x="414140" y="242208"/>
                </a:moveTo>
                <a:lnTo>
                  <a:pt x="302534" y="303912"/>
                </a:lnTo>
                <a:lnTo>
                  <a:pt x="302534" y="524938"/>
                </a:lnTo>
                <a:lnTo>
                  <a:pt x="525746" y="524938"/>
                </a:lnTo>
                <a:lnTo>
                  <a:pt x="525746" y="303912"/>
                </a:lnTo>
                <a:close/>
                <a:moveTo>
                  <a:pt x="256478" y="185968"/>
                </a:moveTo>
                <a:lnTo>
                  <a:pt x="295178" y="185968"/>
                </a:lnTo>
                <a:cubicBezTo>
                  <a:pt x="298863" y="185968"/>
                  <a:pt x="302549" y="188732"/>
                  <a:pt x="302549" y="192418"/>
                </a:cubicBezTo>
                <a:lnTo>
                  <a:pt x="302549" y="232039"/>
                </a:lnTo>
                <a:cubicBezTo>
                  <a:pt x="302549" y="235725"/>
                  <a:pt x="298863" y="238489"/>
                  <a:pt x="295178" y="238489"/>
                </a:cubicBezTo>
                <a:lnTo>
                  <a:pt x="256478" y="238489"/>
                </a:lnTo>
                <a:cubicBezTo>
                  <a:pt x="252792" y="238489"/>
                  <a:pt x="250028" y="235725"/>
                  <a:pt x="250028" y="232039"/>
                </a:cubicBezTo>
                <a:lnTo>
                  <a:pt x="250028" y="192418"/>
                </a:lnTo>
                <a:cubicBezTo>
                  <a:pt x="250028" y="188732"/>
                  <a:pt x="252792" y="185968"/>
                  <a:pt x="256478" y="185968"/>
                </a:cubicBezTo>
                <a:close/>
                <a:moveTo>
                  <a:pt x="439949" y="93946"/>
                </a:moveTo>
                <a:lnTo>
                  <a:pt x="479682" y="93946"/>
                </a:lnTo>
                <a:cubicBezTo>
                  <a:pt x="483378" y="93946"/>
                  <a:pt x="486150" y="97632"/>
                  <a:pt x="486150" y="100396"/>
                </a:cubicBezTo>
                <a:lnTo>
                  <a:pt x="486150" y="140017"/>
                </a:lnTo>
                <a:cubicBezTo>
                  <a:pt x="486150" y="143703"/>
                  <a:pt x="483378" y="146467"/>
                  <a:pt x="479682" y="146467"/>
                </a:cubicBezTo>
                <a:lnTo>
                  <a:pt x="439949" y="146467"/>
                </a:lnTo>
                <a:cubicBezTo>
                  <a:pt x="436253" y="146467"/>
                  <a:pt x="433481" y="143703"/>
                  <a:pt x="433481" y="140017"/>
                </a:cubicBezTo>
                <a:lnTo>
                  <a:pt x="433481" y="100396"/>
                </a:lnTo>
                <a:cubicBezTo>
                  <a:pt x="433481" y="97632"/>
                  <a:pt x="436253" y="93946"/>
                  <a:pt x="439949" y="93946"/>
                </a:cubicBezTo>
                <a:close/>
                <a:moveTo>
                  <a:pt x="347761" y="93946"/>
                </a:moveTo>
                <a:lnTo>
                  <a:pt x="387382" y="93946"/>
                </a:lnTo>
                <a:cubicBezTo>
                  <a:pt x="391068" y="93946"/>
                  <a:pt x="393832" y="97632"/>
                  <a:pt x="393832" y="100396"/>
                </a:cubicBezTo>
                <a:lnTo>
                  <a:pt x="393832" y="140017"/>
                </a:lnTo>
                <a:cubicBezTo>
                  <a:pt x="393832" y="143703"/>
                  <a:pt x="391068" y="146467"/>
                  <a:pt x="387382" y="146467"/>
                </a:cubicBezTo>
                <a:lnTo>
                  <a:pt x="347761" y="146467"/>
                </a:lnTo>
                <a:cubicBezTo>
                  <a:pt x="344075" y="146467"/>
                  <a:pt x="341311" y="143703"/>
                  <a:pt x="341311" y="140017"/>
                </a:cubicBezTo>
                <a:lnTo>
                  <a:pt x="341311" y="100396"/>
                </a:lnTo>
                <a:cubicBezTo>
                  <a:pt x="341311" y="97632"/>
                  <a:pt x="344075" y="93946"/>
                  <a:pt x="347761" y="93946"/>
                </a:cubicBezTo>
                <a:close/>
                <a:moveTo>
                  <a:pt x="256478" y="93946"/>
                </a:moveTo>
                <a:lnTo>
                  <a:pt x="295178" y="93946"/>
                </a:lnTo>
                <a:cubicBezTo>
                  <a:pt x="298863" y="93946"/>
                  <a:pt x="302549" y="97632"/>
                  <a:pt x="302549" y="100396"/>
                </a:cubicBezTo>
                <a:lnTo>
                  <a:pt x="302549" y="140017"/>
                </a:lnTo>
                <a:cubicBezTo>
                  <a:pt x="302549" y="143703"/>
                  <a:pt x="298863" y="146467"/>
                  <a:pt x="295178" y="146467"/>
                </a:cubicBezTo>
                <a:lnTo>
                  <a:pt x="256478" y="146467"/>
                </a:lnTo>
                <a:cubicBezTo>
                  <a:pt x="252792" y="146467"/>
                  <a:pt x="250028" y="143703"/>
                  <a:pt x="250028" y="140017"/>
                </a:cubicBezTo>
                <a:lnTo>
                  <a:pt x="250028" y="100396"/>
                </a:lnTo>
                <a:cubicBezTo>
                  <a:pt x="250028" y="97632"/>
                  <a:pt x="252792" y="93946"/>
                  <a:pt x="256478" y="93946"/>
                </a:cubicBezTo>
                <a:close/>
                <a:moveTo>
                  <a:pt x="203842" y="52494"/>
                </a:moveTo>
                <a:lnTo>
                  <a:pt x="203842" y="262469"/>
                </a:lnTo>
                <a:lnTo>
                  <a:pt x="269329" y="262469"/>
                </a:lnTo>
                <a:lnTo>
                  <a:pt x="401227" y="189715"/>
                </a:lnTo>
                <a:cubicBezTo>
                  <a:pt x="408606" y="185110"/>
                  <a:pt x="418752" y="185110"/>
                  <a:pt x="426130" y="189715"/>
                </a:cubicBezTo>
                <a:lnTo>
                  <a:pt x="525746" y="244050"/>
                </a:lnTo>
                <a:lnTo>
                  <a:pt x="525746" y="52494"/>
                </a:lnTo>
                <a:close/>
                <a:moveTo>
                  <a:pt x="177093" y="0"/>
                </a:moveTo>
                <a:lnTo>
                  <a:pt x="551572" y="0"/>
                </a:lnTo>
                <a:cubicBezTo>
                  <a:pt x="566329" y="0"/>
                  <a:pt x="578320" y="11972"/>
                  <a:pt x="578320" y="25786"/>
                </a:cubicBezTo>
                <a:lnTo>
                  <a:pt x="578320" y="288256"/>
                </a:lnTo>
                <a:lnTo>
                  <a:pt x="578320" y="550725"/>
                </a:lnTo>
                <a:cubicBezTo>
                  <a:pt x="578320" y="565460"/>
                  <a:pt x="566329" y="577432"/>
                  <a:pt x="551572" y="577432"/>
                </a:cubicBezTo>
                <a:lnTo>
                  <a:pt x="275786" y="577432"/>
                </a:lnTo>
                <a:lnTo>
                  <a:pt x="25826" y="577432"/>
                </a:lnTo>
                <a:cubicBezTo>
                  <a:pt x="11991" y="577432"/>
                  <a:pt x="0" y="565460"/>
                  <a:pt x="0" y="550725"/>
                </a:cubicBezTo>
                <a:lnTo>
                  <a:pt x="0" y="288256"/>
                </a:lnTo>
                <a:cubicBezTo>
                  <a:pt x="0" y="274441"/>
                  <a:pt x="11991" y="262469"/>
                  <a:pt x="25826" y="262469"/>
                </a:cubicBezTo>
                <a:lnTo>
                  <a:pt x="151267" y="262469"/>
                </a:lnTo>
                <a:lnTo>
                  <a:pt x="151267" y="25786"/>
                </a:lnTo>
                <a:cubicBezTo>
                  <a:pt x="151267" y="11972"/>
                  <a:pt x="163258" y="0"/>
                  <a:pt x="177093" y="0"/>
                </a:cubicBezTo>
                <a:close/>
              </a:path>
            </a:pathLst>
          </a:custGeom>
          <a:solidFill>
            <a:schemeClr val="bg1"/>
          </a:solidFill>
          <a:ln>
            <a:noFill/>
          </a:ln>
        </p:spPr>
      </p:sp>
      <p:sp>
        <p:nvSpPr>
          <p:cNvPr id="28" name="shopping-cart_4295"/>
          <p:cNvSpPr>
            <a:spLocks noChangeAspect="1"/>
          </p:cNvSpPr>
          <p:nvPr/>
        </p:nvSpPr>
        <p:spPr bwMode="auto">
          <a:xfrm>
            <a:off x="1167177" y="2340265"/>
            <a:ext cx="609685" cy="532257"/>
          </a:xfrm>
          <a:custGeom>
            <a:avLst/>
            <a:gdLst>
              <a:gd name="connsiteX0" fmla="*/ 449380 w 608885"/>
              <a:gd name="connsiteY0" fmla="*/ 430085 h 531559"/>
              <a:gd name="connsiteX1" fmla="*/ 500293 w 608885"/>
              <a:gd name="connsiteY1" fmla="*/ 480822 h 531559"/>
              <a:gd name="connsiteX2" fmla="*/ 449380 w 608885"/>
              <a:gd name="connsiteY2" fmla="*/ 531559 h 531559"/>
              <a:gd name="connsiteX3" fmla="*/ 398467 w 608885"/>
              <a:gd name="connsiteY3" fmla="*/ 480822 h 531559"/>
              <a:gd name="connsiteX4" fmla="*/ 449380 w 608885"/>
              <a:gd name="connsiteY4" fmla="*/ 430085 h 531559"/>
              <a:gd name="connsiteX5" fmla="*/ 227452 w 608885"/>
              <a:gd name="connsiteY5" fmla="*/ 430085 h 531559"/>
              <a:gd name="connsiteX6" fmla="*/ 278295 w 608885"/>
              <a:gd name="connsiteY6" fmla="*/ 480822 h 531559"/>
              <a:gd name="connsiteX7" fmla="*/ 227452 w 608885"/>
              <a:gd name="connsiteY7" fmla="*/ 531559 h 531559"/>
              <a:gd name="connsiteX8" fmla="*/ 176609 w 608885"/>
              <a:gd name="connsiteY8" fmla="*/ 480822 h 531559"/>
              <a:gd name="connsiteX9" fmla="*/ 227452 w 608885"/>
              <a:gd name="connsiteY9" fmla="*/ 430085 h 531559"/>
              <a:gd name="connsiteX10" fmla="*/ 35666 w 608885"/>
              <a:gd name="connsiteY10" fmla="*/ 913 h 531559"/>
              <a:gd name="connsiteX11" fmla="*/ 156055 w 608885"/>
              <a:gd name="connsiteY11" fmla="*/ 31566 h 531559"/>
              <a:gd name="connsiteX12" fmla="*/ 177349 w 608885"/>
              <a:gd name="connsiteY12" fmla="*/ 55684 h 531559"/>
              <a:gd name="connsiteX13" fmla="*/ 195508 w 608885"/>
              <a:gd name="connsiteY13" fmla="*/ 202602 h 531559"/>
              <a:gd name="connsiteX14" fmla="*/ 214406 w 608885"/>
              <a:gd name="connsiteY14" fmla="*/ 353385 h 531559"/>
              <a:gd name="connsiteX15" fmla="*/ 499983 w 608885"/>
              <a:gd name="connsiteY15" fmla="*/ 353385 h 531559"/>
              <a:gd name="connsiteX16" fmla="*/ 514824 w 608885"/>
              <a:gd name="connsiteY16" fmla="*/ 303400 h 531559"/>
              <a:gd name="connsiteX17" fmla="*/ 275430 w 608885"/>
              <a:gd name="connsiteY17" fmla="*/ 303308 h 531559"/>
              <a:gd name="connsiteX18" fmla="*/ 251831 w 608885"/>
              <a:gd name="connsiteY18" fmla="*/ 279743 h 531559"/>
              <a:gd name="connsiteX19" fmla="*/ 275430 w 608885"/>
              <a:gd name="connsiteY19" fmla="*/ 256085 h 531559"/>
              <a:gd name="connsiteX20" fmla="*/ 528836 w 608885"/>
              <a:gd name="connsiteY20" fmla="*/ 256085 h 531559"/>
              <a:gd name="connsiteX21" fmla="*/ 544691 w 608885"/>
              <a:gd name="connsiteY21" fmla="*/ 202602 h 531559"/>
              <a:gd name="connsiteX22" fmla="*/ 295433 w 608885"/>
              <a:gd name="connsiteY22" fmla="*/ 202602 h 531559"/>
              <a:gd name="connsiteX23" fmla="*/ 269899 w 608885"/>
              <a:gd name="connsiteY23" fmla="*/ 177195 h 531559"/>
              <a:gd name="connsiteX24" fmla="*/ 295433 w 608885"/>
              <a:gd name="connsiteY24" fmla="*/ 151696 h 531559"/>
              <a:gd name="connsiteX25" fmla="*/ 577139 w 608885"/>
              <a:gd name="connsiteY25" fmla="*/ 151696 h 531559"/>
              <a:gd name="connsiteX26" fmla="*/ 605254 w 608885"/>
              <a:gd name="connsiteY26" fmla="*/ 200116 h 531559"/>
              <a:gd name="connsiteX27" fmla="*/ 542663 w 608885"/>
              <a:gd name="connsiteY27" fmla="*/ 385696 h 531559"/>
              <a:gd name="connsiteX28" fmla="*/ 511137 w 608885"/>
              <a:gd name="connsiteY28" fmla="*/ 413220 h 531559"/>
              <a:gd name="connsiteX29" fmla="*/ 195508 w 608885"/>
              <a:gd name="connsiteY29" fmla="*/ 413220 h 531559"/>
              <a:gd name="connsiteX30" fmla="*/ 162692 w 608885"/>
              <a:gd name="connsiteY30" fmla="*/ 378608 h 531559"/>
              <a:gd name="connsiteX31" fmla="*/ 123146 w 608885"/>
              <a:gd name="connsiteY31" fmla="*/ 82104 h 531559"/>
              <a:gd name="connsiteX32" fmla="*/ 21470 w 608885"/>
              <a:gd name="connsiteY32" fmla="*/ 56237 h 531559"/>
              <a:gd name="connsiteX33" fmla="*/ 914 w 608885"/>
              <a:gd name="connsiteY33" fmla="*/ 21533 h 531559"/>
              <a:gd name="connsiteX34" fmla="*/ 35666 w 608885"/>
              <a:gd name="connsiteY34" fmla="*/ 913 h 531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8885" h="531559">
                <a:moveTo>
                  <a:pt x="449380" y="430085"/>
                </a:moveTo>
                <a:cubicBezTo>
                  <a:pt x="477498" y="430085"/>
                  <a:pt x="500293" y="452801"/>
                  <a:pt x="500293" y="480822"/>
                </a:cubicBezTo>
                <a:cubicBezTo>
                  <a:pt x="500293" y="508843"/>
                  <a:pt x="477498" y="531559"/>
                  <a:pt x="449380" y="531559"/>
                </a:cubicBezTo>
                <a:cubicBezTo>
                  <a:pt x="421262" y="531559"/>
                  <a:pt x="398467" y="508843"/>
                  <a:pt x="398467" y="480822"/>
                </a:cubicBezTo>
                <a:cubicBezTo>
                  <a:pt x="398467" y="452801"/>
                  <a:pt x="421262" y="430085"/>
                  <a:pt x="449380" y="430085"/>
                </a:cubicBezTo>
                <a:close/>
                <a:moveTo>
                  <a:pt x="227452" y="430085"/>
                </a:moveTo>
                <a:cubicBezTo>
                  <a:pt x="255532" y="430085"/>
                  <a:pt x="278295" y="452801"/>
                  <a:pt x="278295" y="480822"/>
                </a:cubicBezTo>
                <a:cubicBezTo>
                  <a:pt x="278295" y="508843"/>
                  <a:pt x="255532" y="531559"/>
                  <a:pt x="227452" y="531559"/>
                </a:cubicBezTo>
                <a:cubicBezTo>
                  <a:pt x="199372" y="531559"/>
                  <a:pt x="176609" y="508843"/>
                  <a:pt x="176609" y="480822"/>
                </a:cubicBezTo>
                <a:cubicBezTo>
                  <a:pt x="176609" y="452801"/>
                  <a:pt x="199372" y="430085"/>
                  <a:pt x="227452" y="430085"/>
                </a:cubicBezTo>
                <a:close/>
                <a:moveTo>
                  <a:pt x="35666" y="913"/>
                </a:moveTo>
                <a:lnTo>
                  <a:pt x="156055" y="31566"/>
                </a:lnTo>
                <a:cubicBezTo>
                  <a:pt x="167485" y="34512"/>
                  <a:pt x="175874" y="43994"/>
                  <a:pt x="177349" y="55684"/>
                </a:cubicBezTo>
                <a:lnTo>
                  <a:pt x="195508" y="202602"/>
                </a:lnTo>
                <a:lnTo>
                  <a:pt x="214406" y="353385"/>
                </a:lnTo>
                <a:lnTo>
                  <a:pt x="499983" y="353385"/>
                </a:lnTo>
                <a:lnTo>
                  <a:pt x="514824" y="303400"/>
                </a:lnTo>
                <a:lnTo>
                  <a:pt x="275430" y="303308"/>
                </a:lnTo>
                <a:cubicBezTo>
                  <a:pt x="262340" y="303308"/>
                  <a:pt x="251831" y="292814"/>
                  <a:pt x="251831" y="279743"/>
                </a:cubicBezTo>
                <a:cubicBezTo>
                  <a:pt x="251831" y="266671"/>
                  <a:pt x="262340" y="256085"/>
                  <a:pt x="275430" y="256085"/>
                </a:cubicBezTo>
                <a:lnTo>
                  <a:pt x="528836" y="256085"/>
                </a:lnTo>
                <a:lnTo>
                  <a:pt x="544691" y="202602"/>
                </a:lnTo>
                <a:lnTo>
                  <a:pt x="295433" y="202602"/>
                </a:lnTo>
                <a:cubicBezTo>
                  <a:pt x="281329" y="202602"/>
                  <a:pt x="269899" y="191187"/>
                  <a:pt x="269899" y="177195"/>
                </a:cubicBezTo>
                <a:cubicBezTo>
                  <a:pt x="269899" y="163111"/>
                  <a:pt x="281329" y="151696"/>
                  <a:pt x="295433" y="151696"/>
                </a:cubicBezTo>
                <a:lnTo>
                  <a:pt x="577139" y="151696"/>
                </a:lnTo>
                <a:cubicBezTo>
                  <a:pt x="623782" y="151696"/>
                  <a:pt x="605254" y="200116"/>
                  <a:pt x="605254" y="200116"/>
                </a:cubicBezTo>
                <a:lnTo>
                  <a:pt x="542663" y="385696"/>
                </a:lnTo>
                <a:cubicBezTo>
                  <a:pt x="542663" y="385696"/>
                  <a:pt x="537593" y="413220"/>
                  <a:pt x="511137" y="413220"/>
                </a:cubicBezTo>
                <a:lnTo>
                  <a:pt x="195508" y="413220"/>
                </a:lnTo>
                <a:cubicBezTo>
                  <a:pt x="163983" y="413220"/>
                  <a:pt x="162692" y="378608"/>
                  <a:pt x="162692" y="378608"/>
                </a:cubicBezTo>
                <a:lnTo>
                  <a:pt x="123146" y="82104"/>
                </a:lnTo>
                <a:lnTo>
                  <a:pt x="21470" y="56237"/>
                </a:lnTo>
                <a:cubicBezTo>
                  <a:pt x="6261" y="52278"/>
                  <a:pt x="-3050" y="36721"/>
                  <a:pt x="914" y="21533"/>
                </a:cubicBezTo>
                <a:cubicBezTo>
                  <a:pt x="4786" y="6252"/>
                  <a:pt x="20364" y="-3046"/>
                  <a:pt x="35666" y="913"/>
                </a:cubicBezTo>
                <a:close/>
              </a:path>
            </a:pathLst>
          </a:custGeom>
          <a:solidFill>
            <a:schemeClr val="bg1"/>
          </a:solidFill>
          <a:ln>
            <a:noFill/>
          </a:ln>
        </p:spPr>
      </p:sp>
      <p:sp>
        <p:nvSpPr>
          <p:cNvPr id="29" name="文本框 28"/>
          <p:cNvSpPr txBox="1"/>
          <p:nvPr/>
        </p:nvSpPr>
        <p:spPr>
          <a:xfrm>
            <a:off x="1931738" y="2344783"/>
            <a:ext cx="3356517" cy="523220"/>
          </a:xfrm>
          <a:prstGeom prst="rect">
            <a:avLst/>
          </a:prstGeom>
          <a:noFill/>
        </p:spPr>
        <p:txBody>
          <a:bodyPr wrap="square" rtlCol="0">
            <a:spAutoFit/>
          </a:bodyPr>
          <a:lstStyle/>
          <a:p>
            <a:r>
              <a:rPr lang="zh-CN" altLang="en-US" sz="2800" b="1" dirty="0">
                <a:solidFill>
                  <a:schemeClr val="bg1"/>
                </a:solidFill>
                <a:latin typeface="张海山锐线体简" panose="02000000000000000000" pitchFamily="2" charset="-122"/>
                <a:ea typeface="张海山锐线体简" panose="02000000000000000000" pitchFamily="2" charset="-122"/>
              </a:rPr>
              <a:t>百伦广场 凯德广场</a:t>
            </a:r>
          </a:p>
        </p:txBody>
      </p:sp>
      <p:sp>
        <p:nvSpPr>
          <p:cNvPr id="30" name="文本框 29"/>
          <p:cNvSpPr txBox="1"/>
          <p:nvPr/>
        </p:nvSpPr>
        <p:spPr>
          <a:xfrm>
            <a:off x="1939794" y="3378700"/>
            <a:ext cx="4806176" cy="523220"/>
          </a:xfrm>
          <a:prstGeom prst="rect">
            <a:avLst/>
          </a:prstGeom>
          <a:noFill/>
        </p:spPr>
        <p:txBody>
          <a:bodyPr wrap="square" rtlCol="0">
            <a:spAutoFit/>
          </a:bodyPr>
          <a:lstStyle/>
          <a:p>
            <a:r>
              <a:rPr lang="zh-CN" altLang="en-US" sz="2800" b="1" dirty="0">
                <a:solidFill>
                  <a:schemeClr val="bg1"/>
                </a:solidFill>
                <a:latin typeface="张海山锐线体简" panose="02000000000000000000" pitchFamily="2" charset="-122"/>
                <a:ea typeface="张海山锐线体简" panose="02000000000000000000" pitchFamily="2" charset="-122"/>
              </a:rPr>
              <a:t>建行 工行 中行 等一应俱全</a:t>
            </a:r>
          </a:p>
        </p:txBody>
      </p:sp>
      <p:sp>
        <p:nvSpPr>
          <p:cNvPr id="31" name="文本框 30"/>
          <p:cNvSpPr txBox="1"/>
          <p:nvPr/>
        </p:nvSpPr>
        <p:spPr>
          <a:xfrm>
            <a:off x="1965649" y="4404770"/>
            <a:ext cx="3356517" cy="523220"/>
          </a:xfrm>
          <a:prstGeom prst="rect">
            <a:avLst/>
          </a:prstGeom>
          <a:noFill/>
        </p:spPr>
        <p:txBody>
          <a:bodyPr wrap="square" rtlCol="0">
            <a:spAutoFit/>
          </a:bodyPr>
          <a:lstStyle/>
          <a:p>
            <a:r>
              <a:rPr lang="zh-CN" altLang="en-US" sz="2800" b="1" dirty="0">
                <a:solidFill>
                  <a:schemeClr val="bg1"/>
                </a:solidFill>
                <a:latin typeface="张海山锐线体简" panose="02000000000000000000" pitchFamily="2" charset="-122"/>
                <a:ea typeface="张海山锐线体简" panose="02000000000000000000" pitchFamily="2" charset="-122"/>
              </a:rPr>
              <a:t>校内覆盖</a:t>
            </a:r>
            <a:r>
              <a:rPr lang="en-US" altLang="zh-CN" sz="2800" b="1" dirty="0">
                <a:solidFill>
                  <a:schemeClr val="bg1"/>
                </a:solidFill>
                <a:latin typeface="张海山锐线体简" panose="02000000000000000000" pitchFamily="2" charset="-122"/>
                <a:ea typeface="张海山锐线体简" panose="02000000000000000000" pitchFamily="2" charset="-122"/>
              </a:rPr>
              <a:t>WIFI</a:t>
            </a:r>
            <a:endParaRPr lang="zh-CN" altLang="en-US" sz="2800" b="1" dirty="0">
              <a:solidFill>
                <a:schemeClr val="bg1"/>
              </a:solidFill>
              <a:latin typeface="张海山锐线体简" panose="02000000000000000000" pitchFamily="2" charset="-122"/>
              <a:ea typeface="张海山锐线体简" panose="02000000000000000000" pitchFamily="2" charset="-122"/>
            </a:endParaRPr>
          </a:p>
        </p:txBody>
      </p:sp>
      <p:sp>
        <p:nvSpPr>
          <p:cNvPr id="32" name="文本框 31"/>
          <p:cNvSpPr txBox="1"/>
          <p:nvPr/>
        </p:nvSpPr>
        <p:spPr>
          <a:xfrm>
            <a:off x="7507126" y="2340265"/>
            <a:ext cx="4342084" cy="523220"/>
          </a:xfrm>
          <a:prstGeom prst="rect">
            <a:avLst/>
          </a:prstGeom>
          <a:noFill/>
        </p:spPr>
        <p:txBody>
          <a:bodyPr wrap="square" rtlCol="0">
            <a:spAutoFit/>
          </a:bodyPr>
          <a:lstStyle/>
          <a:p>
            <a:r>
              <a:rPr lang="zh-CN" altLang="en-US" sz="2800" b="1" dirty="0">
                <a:solidFill>
                  <a:schemeClr val="bg1"/>
                </a:solidFill>
                <a:latin typeface="张海山锐线体简" panose="02000000000000000000" pitchFamily="2" charset="-122"/>
                <a:ea typeface="张海山锐线体简" panose="02000000000000000000" pitchFamily="2" charset="-122"/>
              </a:rPr>
              <a:t>学生公寓天佑斋 鸿哲斋</a:t>
            </a:r>
          </a:p>
        </p:txBody>
      </p:sp>
      <p:sp>
        <p:nvSpPr>
          <p:cNvPr id="33" name="文本框 32"/>
          <p:cNvSpPr txBox="1"/>
          <p:nvPr/>
        </p:nvSpPr>
        <p:spPr>
          <a:xfrm>
            <a:off x="7484825" y="4386615"/>
            <a:ext cx="4081348" cy="523220"/>
          </a:xfrm>
          <a:prstGeom prst="rect">
            <a:avLst/>
          </a:prstGeom>
          <a:noFill/>
        </p:spPr>
        <p:txBody>
          <a:bodyPr wrap="square" rtlCol="0">
            <a:spAutoFit/>
          </a:bodyPr>
          <a:lstStyle/>
          <a:p>
            <a:r>
              <a:rPr lang="zh-CN" altLang="en-US" sz="2800" b="1" dirty="0">
                <a:solidFill>
                  <a:schemeClr val="bg1"/>
                </a:solidFill>
                <a:latin typeface="张海山锐线体简" panose="02000000000000000000" pitchFamily="2" charset="-122"/>
                <a:ea typeface="张海山锐线体简" panose="02000000000000000000" pitchFamily="2" charset="-122"/>
              </a:rPr>
              <a:t>独立卫生间  </a:t>
            </a:r>
            <a:r>
              <a:rPr lang="en-US" altLang="zh-CN" sz="2800" b="1" dirty="0">
                <a:solidFill>
                  <a:schemeClr val="bg1"/>
                </a:solidFill>
                <a:latin typeface="张海山锐线体简" panose="02000000000000000000" pitchFamily="2" charset="-122"/>
                <a:ea typeface="张海山锐线体简" panose="02000000000000000000" pitchFamily="2" charset="-122"/>
              </a:rPr>
              <a:t>24</a:t>
            </a:r>
            <a:r>
              <a:rPr lang="zh-CN" altLang="en-US" sz="2800" b="1" dirty="0">
                <a:solidFill>
                  <a:schemeClr val="bg1"/>
                </a:solidFill>
                <a:latin typeface="张海山锐线体简" panose="02000000000000000000" pitchFamily="2" charset="-122"/>
                <a:ea typeface="张海山锐线体简" panose="02000000000000000000" pitchFamily="2" charset="-122"/>
              </a:rPr>
              <a:t>小时热水</a:t>
            </a:r>
          </a:p>
        </p:txBody>
      </p:sp>
      <p:sp>
        <p:nvSpPr>
          <p:cNvPr id="34" name="air-conditioner_261277"/>
          <p:cNvSpPr>
            <a:spLocks noChangeAspect="1"/>
          </p:cNvSpPr>
          <p:nvPr/>
        </p:nvSpPr>
        <p:spPr bwMode="auto">
          <a:xfrm>
            <a:off x="6768080" y="3433348"/>
            <a:ext cx="514052" cy="359321"/>
          </a:xfrm>
          <a:custGeom>
            <a:avLst/>
            <a:gdLst>
              <a:gd name="connsiteX0" fmla="*/ 409431 w 606016"/>
              <a:gd name="connsiteY0" fmla="*/ 303646 h 423604"/>
              <a:gd name="connsiteX1" fmla="*/ 423056 w 606016"/>
              <a:gd name="connsiteY1" fmla="*/ 307972 h 423604"/>
              <a:gd name="connsiteX2" fmla="*/ 418725 w 606016"/>
              <a:gd name="connsiteY2" fmla="*/ 321581 h 423604"/>
              <a:gd name="connsiteX3" fmla="*/ 403927 w 606016"/>
              <a:gd name="connsiteY3" fmla="*/ 337804 h 423604"/>
              <a:gd name="connsiteX4" fmla="*/ 418725 w 606016"/>
              <a:gd name="connsiteY4" fmla="*/ 354116 h 423604"/>
              <a:gd name="connsiteX5" fmla="*/ 444350 w 606016"/>
              <a:gd name="connsiteY5" fmla="*/ 388274 h 423604"/>
              <a:gd name="connsiteX6" fmla="*/ 418725 w 606016"/>
              <a:gd name="connsiteY6" fmla="*/ 422432 h 423604"/>
              <a:gd name="connsiteX7" fmla="*/ 414123 w 606016"/>
              <a:gd name="connsiteY7" fmla="*/ 423604 h 423604"/>
              <a:gd name="connsiteX8" fmla="*/ 405100 w 606016"/>
              <a:gd name="connsiteY8" fmla="*/ 418106 h 423604"/>
              <a:gd name="connsiteX9" fmla="*/ 409431 w 606016"/>
              <a:gd name="connsiteY9" fmla="*/ 404497 h 423604"/>
              <a:gd name="connsiteX10" fmla="*/ 424139 w 606016"/>
              <a:gd name="connsiteY10" fmla="*/ 388274 h 423604"/>
              <a:gd name="connsiteX11" fmla="*/ 409431 w 606016"/>
              <a:gd name="connsiteY11" fmla="*/ 371962 h 423604"/>
              <a:gd name="connsiteX12" fmla="*/ 383805 w 606016"/>
              <a:gd name="connsiteY12" fmla="*/ 337804 h 423604"/>
              <a:gd name="connsiteX13" fmla="*/ 409431 w 606016"/>
              <a:gd name="connsiteY13" fmla="*/ 303646 h 423604"/>
              <a:gd name="connsiteX14" fmla="*/ 187290 w 606016"/>
              <a:gd name="connsiteY14" fmla="*/ 303646 h 423604"/>
              <a:gd name="connsiteX15" fmla="*/ 200915 w 606016"/>
              <a:gd name="connsiteY15" fmla="*/ 307972 h 423604"/>
              <a:gd name="connsiteX16" fmla="*/ 196584 w 606016"/>
              <a:gd name="connsiteY16" fmla="*/ 321581 h 423604"/>
              <a:gd name="connsiteX17" fmla="*/ 181786 w 606016"/>
              <a:gd name="connsiteY17" fmla="*/ 337804 h 423604"/>
              <a:gd name="connsiteX18" fmla="*/ 196584 w 606016"/>
              <a:gd name="connsiteY18" fmla="*/ 354116 h 423604"/>
              <a:gd name="connsiteX19" fmla="*/ 222210 w 606016"/>
              <a:gd name="connsiteY19" fmla="*/ 388274 h 423604"/>
              <a:gd name="connsiteX20" fmla="*/ 196584 w 606016"/>
              <a:gd name="connsiteY20" fmla="*/ 422432 h 423604"/>
              <a:gd name="connsiteX21" fmla="*/ 191892 w 606016"/>
              <a:gd name="connsiteY21" fmla="*/ 423604 h 423604"/>
              <a:gd name="connsiteX22" fmla="*/ 182959 w 606016"/>
              <a:gd name="connsiteY22" fmla="*/ 418106 h 423604"/>
              <a:gd name="connsiteX23" fmla="*/ 187290 w 606016"/>
              <a:gd name="connsiteY23" fmla="*/ 404497 h 423604"/>
              <a:gd name="connsiteX24" fmla="*/ 201998 w 606016"/>
              <a:gd name="connsiteY24" fmla="*/ 388274 h 423604"/>
              <a:gd name="connsiteX25" fmla="*/ 187290 w 606016"/>
              <a:gd name="connsiteY25" fmla="*/ 371962 h 423604"/>
              <a:gd name="connsiteX26" fmla="*/ 161665 w 606016"/>
              <a:gd name="connsiteY26" fmla="*/ 337804 h 423604"/>
              <a:gd name="connsiteX27" fmla="*/ 187290 w 606016"/>
              <a:gd name="connsiteY27" fmla="*/ 303646 h 423604"/>
              <a:gd name="connsiteX28" fmla="*/ 298360 w 606016"/>
              <a:gd name="connsiteY28" fmla="*/ 283445 h 423604"/>
              <a:gd name="connsiteX29" fmla="*/ 311985 w 606016"/>
              <a:gd name="connsiteY29" fmla="*/ 287772 h 423604"/>
              <a:gd name="connsiteX30" fmla="*/ 307654 w 606016"/>
              <a:gd name="connsiteY30" fmla="*/ 301383 h 423604"/>
              <a:gd name="connsiteX31" fmla="*/ 292856 w 606016"/>
              <a:gd name="connsiteY31" fmla="*/ 317608 h 423604"/>
              <a:gd name="connsiteX32" fmla="*/ 307654 w 606016"/>
              <a:gd name="connsiteY32" fmla="*/ 333924 h 423604"/>
              <a:gd name="connsiteX33" fmla="*/ 333280 w 606016"/>
              <a:gd name="connsiteY33" fmla="*/ 368088 h 423604"/>
              <a:gd name="connsiteX34" fmla="*/ 307654 w 606016"/>
              <a:gd name="connsiteY34" fmla="*/ 402251 h 423604"/>
              <a:gd name="connsiteX35" fmla="*/ 302962 w 606016"/>
              <a:gd name="connsiteY35" fmla="*/ 403423 h 423604"/>
              <a:gd name="connsiteX36" fmla="*/ 294029 w 606016"/>
              <a:gd name="connsiteY36" fmla="*/ 397924 h 423604"/>
              <a:gd name="connsiteX37" fmla="*/ 298360 w 606016"/>
              <a:gd name="connsiteY37" fmla="*/ 384313 h 423604"/>
              <a:gd name="connsiteX38" fmla="*/ 313068 w 606016"/>
              <a:gd name="connsiteY38" fmla="*/ 368088 h 423604"/>
              <a:gd name="connsiteX39" fmla="*/ 298360 w 606016"/>
              <a:gd name="connsiteY39" fmla="*/ 351862 h 423604"/>
              <a:gd name="connsiteX40" fmla="*/ 272735 w 606016"/>
              <a:gd name="connsiteY40" fmla="*/ 317608 h 423604"/>
              <a:gd name="connsiteX41" fmla="*/ 298360 w 606016"/>
              <a:gd name="connsiteY41" fmla="*/ 283445 h 423604"/>
              <a:gd name="connsiteX42" fmla="*/ 50539 w 606016"/>
              <a:gd name="connsiteY42" fmla="*/ 201667 h 423604"/>
              <a:gd name="connsiteX43" fmla="*/ 40431 w 606016"/>
              <a:gd name="connsiteY43" fmla="*/ 211759 h 423604"/>
              <a:gd name="connsiteX44" fmla="*/ 50539 w 606016"/>
              <a:gd name="connsiteY44" fmla="*/ 221852 h 423604"/>
              <a:gd name="connsiteX45" fmla="*/ 555477 w 606016"/>
              <a:gd name="connsiteY45" fmla="*/ 221852 h 423604"/>
              <a:gd name="connsiteX46" fmla="*/ 565585 w 606016"/>
              <a:gd name="connsiteY46" fmla="*/ 211759 h 423604"/>
              <a:gd name="connsiteX47" fmla="*/ 555477 w 606016"/>
              <a:gd name="connsiteY47" fmla="*/ 201667 h 423604"/>
              <a:gd name="connsiteX48" fmla="*/ 50539 w 606016"/>
              <a:gd name="connsiteY48" fmla="*/ 161388 h 423604"/>
              <a:gd name="connsiteX49" fmla="*/ 40431 w 606016"/>
              <a:gd name="connsiteY49" fmla="*/ 171480 h 423604"/>
              <a:gd name="connsiteX50" fmla="*/ 50539 w 606016"/>
              <a:gd name="connsiteY50" fmla="*/ 181572 h 423604"/>
              <a:gd name="connsiteX51" fmla="*/ 555477 w 606016"/>
              <a:gd name="connsiteY51" fmla="*/ 181572 h 423604"/>
              <a:gd name="connsiteX52" fmla="*/ 565585 w 606016"/>
              <a:gd name="connsiteY52" fmla="*/ 171480 h 423604"/>
              <a:gd name="connsiteX53" fmla="*/ 555477 w 606016"/>
              <a:gd name="connsiteY53" fmla="*/ 161388 h 423604"/>
              <a:gd name="connsiteX54" fmla="*/ 262622 w 606016"/>
              <a:gd name="connsiteY54" fmla="*/ 70646 h 423604"/>
              <a:gd name="connsiteX55" fmla="*/ 252514 w 606016"/>
              <a:gd name="connsiteY55" fmla="*/ 80649 h 423604"/>
              <a:gd name="connsiteX56" fmla="*/ 262622 w 606016"/>
              <a:gd name="connsiteY56" fmla="*/ 90741 h 423604"/>
              <a:gd name="connsiteX57" fmla="*/ 343394 w 606016"/>
              <a:gd name="connsiteY57" fmla="*/ 90741 h 423604"/>
              <a:gd name="connsiteX58" fmla="*/ 353502 w 606016"/>
              <a:gd name="connsiteY58" fmla="*/ 80649 h 423604"/>
              <a:gd name="connsiteX59" fmla="*/ 343394 w 606016"/>
              <a:gd name="connsiteY59" fmla="*/ 70646 h 423604"/>
              <a:gd name="connsiteX60" fmla="*/ 30323 w 606016"/>
              <a:gd name="connsiteY60" fmla="*/ 0 h 423604"/>
              <a:gd name="connsiteX61" fmla="*/ 575693 w 606016"/>
              <a:gd name="connsiteY61" fmla="*/ 0 h 423604"/>
              <a:gd name="connsiteX62" fmla="*/ 606016 w 606016"/>
              <a:gd name="connsiteY62" fmla="*/ 30277 h 423604"/>
              <a:gd name="connsiteX63" fmla="*/ 606016 w 606016"/>
              <a:gd name="connsiteY63" fmla="*/ 231944 h 423604"/>
              <a:gd name="connsiteX64" fmla="*/ 575693 w 606016"/>
              <a:gd name="connsiteY64" fmla="*/ 262221 h 423604"/>
              <a:gd name="connsiteX65" fmla="*/ 30323 w 606016"/>
              <a:gd name="connsiteY65" fmla="*/ 262221 h 423604"/>
              <a:gd name="connsiteX66" fmla="*/ 0 w 606016"/>
              <a:gd name="connsiteY66" fmla="*/ 231944 h 423604"/>
              <a:gd name="connsiteX67" fmla="*/ 0 w 606016"/>
              <a:gd name="connsiteY67" fmla="*/ 30277 h 423604"/>
              <a:gd name="connsiteX68" fmla="*/ 30323 w 606016"/>
              <a:gd name="connsiteY68" fmla="*/ 0 h 42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06016" h="423604">
                <a:moveTo>
                  <a:pt x="409431" y="303646"/>
                </a:moveTo>
                <a:cubicBezTo>
                  <a:pt x="414394" y="301032"/>
                  <a:pt x="420439" y="303015"/>
                  <a:pt x="423056" y="307972"/>
                </a:cubicBezTo>
                <a:cubicBezTo>
                  <a:pt x="425582" y="312929"/>
                  <a:pt x="423687" y="318967"/>
                  <a:pt x="418725" y="321581"/>
                </a:cubicBezTo>
                <a:cubicBezTo>
                  <a:pt x="409521" y="326358"/>
                  <a:pt x="403927" y="332396"/>
                  <a:pt x="403927" y="337804"/>
                </a:cubicBezTo>
                <a:cubicBezTo>
                  <a:pt x="403927" y="343211"/>
                  <a:pt x="409521" y="349340"/>
                  <a:pt x="418725" y="354116"/>
                </a:cubicBezTo>
                <a:cubicBezTo>
                  <a:pt x="435237" y="362679"/>
                  <a:pt x="444350" y="374755"/>
                  <a:pt x="444350" y="388274"/>
                </a:cubicBezTo>
                <a:cubicBezTo>
                  <a:pt x="444350" y="401703"/>
                  <a:pt x="435237" y="413870"/>
                  <a:pt x="418725" y="422432"/>
                </a:cubicBezTo>
                <a:cubicBezTo>
                  <a:pt x="417281" y="423243"/>
                  <a:pt x="415657" y="423604"/>
                  <a:pt x="414123" y="423604"/>
                </a:cubicBezTo>
                <a:cubicBezTo>
                  <a:pt x="410423" y="423604"/>
                  <a:pt x="406904" y="421621"/>
                  <a:pt x="405100" y="418106"/>
                </a:cubicBezTo>
                <a:cubicBezTo>
                  <a:pt x="402573" y="413149"/>
                  <a:pt x="404468" y="407111"/>
                  <a:pt x="409431" y="404497"/>
                </a:cubicBezTo>
                <a:cubicBezTo>
                  <a:pt x="418634" y="399720"/>
                  <a:pt x="424139" y="393682"/>
                  <a:pt x="424139" y="388274"/>
                </a:cubicBezTo>
                <a:cubicBezTo>
                  <a:pt x="424139" y="382867"/>
                  <a:pt x="418634" y="376738"/>
                  <a:pt x="409431" y="371962"/>
                </a:cubicBezTo>
                <a:cubicBezTo>
                  <a:pt x="392919" y="363400"/>
                  <a:pt x="383805" y="351323"/>
                  <a:pt x="383805" y="337804"/>
                </a:cubicBezTo>
                <a:cubicBezTo>
                  <a:pt x="383805" y="324375"/>
                  <a:pt x="392919" y="312208"/>
                  <a:pt x="409431" y="303646"/>
                </a:cubicBezTo>
                <a:close/>
                <a:moveTo>
                  <a:pt x="187290" y="303646"/>
                </a:moveTo>
                <a:cubicBezTo>
                  <a:pt x="192253" y="301032"/>
                  <a:pt x="198299" y="303015"/>
                  <a:pt x="200915" y="307972"/>
                </a:cubicBezTo>
                <a:cubicBezTo>
                  <a:pt x="203442" y="312929"/>
                  <a:pt x="201547" y="318967"/>
                  <a:pt x="196584" y="321581"/>
                </a:cubicBezTo>
                <a:cubicBezTo>
                  <a:pt x="187381" y="326358"/>
                  <a:pt x="181786" y="332396"/>
                  <a:pt x="181786" y="337804"/>
                </a:cubicBezTo>
                <a:cubicBezTo>
                  <a:pt x="181786" y="343211"/>
                  <a:pt x="187381" y="349340"/>
                  <a:pt x="196584" y="354116"/>
                </a:cubicBezTo>
                <a:cubicBezTo>
                  <a:pt x="213096" y="362679"/>
                  <a:pt x="222210" y="374755"/>
                  <a:pt x="222210" y="388274"/>
                </a:cubicBezTo>
                <a:cubicBezTo>
                  <a:pt x="222210" y="401703"/>
                  <a:pt x="213096" y="413870"/>
                  <a:pt x="196584" y="422432"/>
                </a:cubicBezTo>
                <a:cubicBezTo>
                  <a:pt x="195050" y="423243"/>
                  <a:pt x="193516" y="423604"/>
                  <a:pt x="191892" y="423604"/>
                </a:cubicBezTo>
                <a:cubicBezTo>
                  <a:pt x="188283" y="423604"/>
                  <a:pt x="184764" y="421621"/>
                  <a:pt x="182959" y="418106"/>
                </a:cubicBezTo>
                <a:cubicBezTo>
                  <a:pt x="180433" y="413149"/>
                  <a:pt x="182328" y="407111"/>
                  <a:pt x="187290" y="404497"/>
                </a:cubicBezTo>
                <a:cubicBezTo>
                  <a:pt x="196494" y="399720"/>
                  <a:pt x="201998" y="393682"/>
                  <a:pt x="201998" y="388274"/>
                </a:cubicBezTo>
                <a:cubicBezTo>
                  <a:pt x="201998" y="382867"/>
                  <a:pt x="196494" y="376738"/>
                  <a:pt x="187290" y="371962"/>
                </a:cubicBezTo>
                <a:cubicBezTo>
                  <a:pt x="170778" y="363400"/>
                  <a:pt x="161665" y="351323"/>
                  <a:pt x="161665" y="337804"/>
                </a:cubicBezTo>
                <a:cubicBezTo>
                  <a:pt x="161665" y="324375"/>
                  <a:pt x="170778" y="312208"/>
                  <a:pt x="187290" y="303646"/>
                </a:cubicBezTo>
                <a:close/>
                <a:moveTo>
                  <a:pt x="298360" y="283445"/>
                </a:moveTo>
                <a:cubicBezTo>
                  <a:pt x="303323" y="280921"/>
                  <a:pt x="309369" y="282814"/>
                  <a:pt x="311985" y="287772"/>
                </a:cubicBezTo>
                <a:cubicBezTo>
                  <a:pt x="314512" y="292730"/>
                  <a:pt x="312617" y="298859"/>
                  <a:pt x="307654" y="301383"/>
                </a:cubicBezTo>
                <a:cubicBezTo>
                  <a:pt x="298451" y="306161"/>
                  <a:pt x="292856" y="312200"/>
                  <a:pt x="292856" y="317608"/>
                </a:cubicBezTo>
                <a:cubicBezTo>
                  <a:pt x="292856" y="323017"/>
                  <a:pt x="298451" y="329147"/>
                  <a:pt x="307654" y="333924"/>
                </a:cubicBezTo>
                <a:cubicBezTo>
                  <a:pt x="324166" y="342487"/>
                  <a:pt x="333280" y="354657"/>
                  <a:pt x="333280" y="368088"/>
                </a:cubicBezTo>
                <a:cubicBezTo>
                  <a:pt x="333280" y="381609"/>
                  <a:pt x="324166" y="393688"/>
                  <a:pt x="307654" y="402251"/>
                </a:cubicBezTo>
                <a:cubicBezTo>
                  <a:pt x="306210" y="403062"/>
                  <a:pt x="304586" y="403423"/>
                  <a:pt x="302962" y="403423"/>
                </a:cubicBezTo>
                <a:cubicBezTo>
                  <a:pt x="299353" y="403423"/>
                  <a:pt x="295834" y="401440"/>
                  <a:pt x="294029" y="397924"/>
                </a:cubicBezTo>
                <a:cubicBezTo>
                  <a:pt x="291503" y="392967"/>
                  <a:pt x="293398" y="386927"/>
                  <a:pt x="298360" y="384313"/>
                </a:cubicBezTo>
                <a:cubicBezTo>
                  <a:pt x="307564" y="379536"/>
                  <a:pt x="313068" y="373496"/>
                  <a:pt x="313068" y="368088"/>
                </a:cubicBezTo>
                <a:cubicBezTo>
                  <a:pt x="313068" y="362679"/>
                  <a:pt x="307564" y="356640"/>
                  <a:pt x="298360" y="351862"/>
                </a:cubicBezTo>
                <a:cubicBezTo>
                  <a:pt x="281848" y="343299"/>
                  <a:pt x="272735" y="331130"/>
                  <a:pt x="272735" y="317608"/>
                </a:cubicBezTo>
                <a:cubicBezTo>
                  <a:pt x="272735" y="304177"/>
                  <a:pt x="281848" y="292008"/>
                  <a:pt x="298360" y="283445"/>
                </a:cubicBezTo>
                <a:close/>
                <a:moveTo>
                  <a:pt x="50539" y="201667"/>
                </a:moveTo>
                <a:cubicBezTo>
                  <a:pt x="44943" y="201667"/>
                  <a:pt x="40431" y="206172"/>
                  <a:pt x="40431" y="211759"/>
                </a:cubicBezTo>
                <a:cubicBezTo>
                  <a:pt x="40431" y="217346"/>
                  <a:pt x="44943" y="221852"/>
                  <a:pt x="50539" y="221852"/>
                </a:cubicBezTo>
                <a:lnTo>
                  <a:pt x="555477" y="221852"/>
                </a:lnTo>
                <a:cubicBezTo>
                  <a:pt x="561073" y="221852"/>
                  <a:pt x="565585" y="217346"/>
                  <a:pt x="565585" y="211759"/>
                </a:cubicBezTo>
                <a:cubicBezTo>
                  <a:pt x="565585" y="206172"/>
                  <a:pt x="561073" y="201667"/>
                  <a:pt x="555477" y="201667"/>
                </a:cubicBezTo>
                <a:close/>
                <a:moveTo>
                  <a:pt x="50539" y="161388"/>
                </a:moveTo>
                <a:cubicBezTo>
                  <a:pt x="44943" y="161388"/>
                  <a:pt x="40431" y="165893"/>
                  <a:pt x="40431" y="171480"/>
                </a:cubicBezTo>
                <a:cubicBezTo>
                  <a:pt x="40431" y="177067"/>
                  <a:pt x="44943" y="181572"/>
                  <a:pt x="50539" y="181572"/>
                </a:cubicBezTo>
                <a:lnTo>
                  <a:pt x="555477" y="181572"/>
                </a:lnTo>
                <a:cubicBezTo>
                  <a:pt x="561073" y="181572"/>
                  <a:pt x="565585" y="177067"/>
                  <a:pt x="565585" y="171480"/>
                </a:cubicBezTo>
                <a:cubicBezTo>
                  <a:pt x="565585" y="165893"/>
                  <a:pt x="561073" y="161388"/>
                  <a:pt x="555477" y="161388"/>
                </a:cubicBezTo>
                <a:close/>
                <a:moveTo>
                  <a:pt x="262622" y="70646"/>
                </a:moveTo>
                <a:cubicBezTo>
                  <a:pt x="257026" y="70646"/>
                  <a:pt x="252514" y="75152"/>
                  <a:pt x="252514" y="80649"/>
                </a:cubicBezTo>
                <a:cubicBezTo>
                  <a:pt x="252514" y="86236"/>
                  <a:pt x="257026" y="90741"/>
                  <a:pt x="262622" y="90741"/>
                </a:cubicBezTo>
                <a:lnTo>
                  <a:pt x="343394" y="90741"/>
                </a:lnTo>
                <a:cubicBezTo>
                  <a:pt x="348989" y="90741"/>
                  <a:pt x="353502" y="86236"/>
                  <a:pt x="353502" y="80649"/>
                </a:cubicBezTo>
                <a:cubicBezTo>
                  <a:pt x="353502" y="75152"/>
                  <a:pt x="348989" y="70646"/>
                  <a:pt x="343394" y="70646"/>
                </a:cubicBezTo>
                <a:close/>
                <a:moveTo>
                  <a:pt x="30323" y="0"/>
                </a:moveTo>
                <a:lnTo>
                  <a:pt x="575693" y="0"/>
                </a:lnTo>
                <a:cubicBezTo>
                  <a:pt x="592389" y="0"/>
                  <a:pt x="606016" y="13607"/>
                  <a:pt x="606016" y="30277"/>
                </a:cubicBezTo>
                <a:lnTo>
                  <a:pt x="606016" y="231944"/>
                </a:lnTo>
                <a:cubicBezTo>
                  <a:pt x="606016" y="248614"/>
                  <a:pt x="592389" y="262221"/>
                  <a:pt x="575693" y="262221"/>
                </a:cubicBezTo>
                <a:lnTo>
                  <a:pt x="30323" y="262221"/>
                </a:lnTo>
                <a:cubicBezTo>
                  <a:pt x="13627" y="262221"/>
                  <a:pt x="0" y="248614"/>
                  <a:pt x="0" y="231944"/>
                </a:cubicBezTo>
                <a:lnTo>
                  <a:pt x="0" y="30277"/>
                </a:lnTo>
                <a:cubicBezTo>
                  <a:pt x="0" y="13607"/>
                  <a:pt x="13627" y="0"/>
                  <a:pt x="30323" y="0"/>
                </a:cubicBezTo>
                <a:close/>
              </a:path>
            </a:pathLst>
          </a:custGeom>
          <a:solidFill>
            <a:schemeClr val="bg1"/>
          </a:solidFill>
          <a:ln>
            <a:noFill/>
          </a:ln>
        </p:spPr>
      </p:sp>
      <p:sp>
        <p:nvSpPr>
          <p:cNvPr id="35" name="文本框 34"/>
          <p:cNvSpPr txBox="1"/>
          <p:nvPr/>
        </p:nvSpPr>
        <p:spPr>
          <a:xfrm>
            <a:off x="7507126" y="3384822"/>
            <a:ext cx="4342084" cy="523220"/>
          </a:xfrm>
          <a:prstGeom prst="rect">
            <a:avLst/>
          </a:prstGeom>
          <a:noFill/>
        </p:spPr>
        <p:txBody>
          <a:bodyPr wrap="square" rtlCol="0">
            <a:spAutoFit/>
          </a:bodyPr>
          <a:lstStyle/>
          <a:p>
            <a:r>
              <a:rPr lang="zh-CN" altLang="en-US" sz="2800" b="1" dirty="0">
                <a:solidFill>
                  <a:schemeClr val="bg1"/>
                </a:solidFill>
                <a:latin typeface="张海山锐线体简" panose="02000000000000000000" pitchFamily="2" charset="-122"/>
                <a:ea typeface="张海山锐线体简" panose="02000000000000000000" pitchFamily="2" charset="-122"/>
              </a:rPr>
              <a:t>配备空调</a:t>
            </a:r>
          </a:p>
        </p:txBody>
      </p:sp>
      <p:sp>
        <p:nvSpPr>
          <p:cNvPr id="36" name="矩形 35"/>
          <p:cNvSpPr/>
          <p:nvPr/>
        </p:nvSpPr>
        <p:spPr>
          <a:xfrm>
            <a:off x="-294279"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1833700"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12655" y="190633"/>
            <a:ext cx="11999912" cy="64389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rot="4149794">
            <a:off x="6109797" y="248869"/>
            <a:ext cx="885056" cy="604118"/>
          </a:xfrm>
          <a:prstGeom prst="triangle">
            <a:avLst/>
          </a:prstGeom>
          <a:solidFill>
            <a:srgbClr val="F3D74E"/>
          </a:solidFill>
          <a:ln>
            <a:noFill/>
          </a:ln>
          <a:effectLst/>
          <a:scene3d>
            <a:camera prst="perspectiveContrasting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672919" y="9155746"/>
            <a:ext cx="15169121" cy="2058967"/>
          </a:xfrm>
          <a:prstGeom prst="rect">
            <a:avLst/>
          </a:prstGeom>
        </p:spPr>
      </p:pic>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563E60"/>
        </a:solidFill>
        <a:effectLst/>
      </p:bgPr>
    </p:bg>
    <p:spTree>
      <p:nvGrpSpPr>
        <p:cNvPr id="1" name=""/>
        <p:cNvGrpSpPr/>
        <p:nvPr/>
      </p:nvGrpSpPr>
      <p:grpSpPr>
        <a:xfrm>
          <a:off x="0" y="0"/>
          <a:ext cx="0" cy="0"/>
          <a:chOff x="0" y="0"/>
          <a:chExt cx="0" cy="0"/>
        </a:xfrm>
      </p:grpSpPr>
      <p:sp>
        <p:nvSpPr>
          <p:cNvPr id="21" name="矩形 20"/>
          <p:cNvSpPr/>
          <p:nvPr/>
        </p:nvSpPr>
        <p:spPr>
          <a:xfrm>
            <a:off x="-584200" y="1948716"/>
            <a:ext cx="13855700" cy="3290100"/>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19722655">
            <a:off x="10897288" y="909097"/>
            <a:ext cx="885056" cy="604118"/>
          </a:xfrm>
          <a:prstGeom prst="triangle">
            <a:avLst/>
          </a:prstGeom>
          <a:solidFill>
            <a:srgbClr val="F3D7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6552325" y="216317"/>
            <a:ext cx="5206318" cy="1631216"/>
          </a:xfrm>
          <a:prstGeom prst="rect">
            <a:avLst/>
          </a:prstGeom>
          <a:noFill/>
        </p:spPr>
        <p:txBody>
          <a:bodyPr wrap="square" rtlCol="0">
            <a:spAutoFit/>
          </a:bodyPr>
          <a:lstStyle/>
          <a:p>
            <a:r>
              <a:rPr lang="zh-CN" altLang="en-US" sz="10000" b="1" dirty="0">
                <a:solidFill>
                  <a:schemeClr val="bg1"/>
                </a:solidFill>
                <a:latin typeface="方正稚艺简体" panose="03000509000000000000" pitchFamily="65" charset="-122"/>
                <a:ea typeface="方正稚艺简体" panose="03000509000000000000" pitchFamily="65" charset="-122"/>
              </a:rPr>
              <a:t>景</a:t>
            </a:r>
            <a:r>
              <a:rPr lang="en-US" altLang="zh-CN" sz="10000" dirty="0">
                <a:solidFill>
                  <a:schemeClr val="bg1"/>
                </a:solidFill>
                <a:latin typeface="张海山草泥马体" panose="02000000000000000000" pitchFamily="2" charset="-122"/>
                <a:ea typeface="张海山草泥马体" panose="02000000000000000000" pitchFamily="2" charset="-122"/>
              </a:rPr>
              <a:t>in</a:t>
            </a:r>
            <a:r>
              <a:rPr lang="zh-CN" altLang="en-US" sz="10000" dirty="0">
                <a:solidFill>
                  <a:schemeClr val="bg1"/>
                </a:solidFill>
                <a:latin typeface="张海山草泥马体" panose="02000000000000000000" pitchFamily="2" charset="-122"/>
                <a:ea typeface="张海山草泥马体" panose="02000000000000000000" pitchFamily="2" charset="-122"/>
              </a:rPr>
              <a:t>交大</a:t>
            </a:r>
          </a:p>
        </p:txBody>
      </p:sp>
      <p:sp>
        <p:nvSpPr>
          <p:cNvPr id="36" name="矩形 35"/>
          <p:cNvSpPr/>
          <p:nvPr/>
        </p:nvSpPr>
        <p:spPr>
          <a:xfrm>
            <a:off x="-294279"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1833700"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12655" y="190633"/>
            <a:ext cx="11999912" cy="64389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rot="4149794">
            <a:off x="6109797" y="248869"/>
            <a:ext cx="885056" cy="604118"/>
          </a:xfrm>
          <a:prstGeom prst="triangle">
            <a:avLst/>
          </a:prstGeom>
          <a:solidFill>
            <a:srgbClr val="F3D74E"/>
          </a:solidFill>
          <a:ln>
            <a:noFill/>
          </a:ln>
          <a:effectLst/>
          <a:scene3d>
            <a:camera prst="perspectiveContrasting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672919" y="9155746"/>
            <a:ext cx="15169121" cy="2058967"/>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3305424" y="2071795"/>
            <a:ext cx="5321075" cy="3000494"/>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pic>
        <p:nvPicPr>
          <p:cNvPr id="5" name="图片 4"/>
          <p:cNvPicPr>
            <a:picLocks noChangeAspect="1"/>
          </p:cNvPicPr>
          <p:nvPr/>
        </p:nvPicPr>
        <p:blipFill rotWithShape="1">
          <a:blip r:embed="rId4">
            <a:extLst>
              <a:ext uri="{28A0092B-C50C-407E-A947-70E740481C1C}">
                <a14:useLocalDpi xmlns:a14="http://schemas.microsoft.com/office/drawing/2010/main" xmlns="" val="0"/>
              </a:ext>
            </a:extLst>
          </a:blip>
          <a:srcRect t="4398" b="7481"/>
          <a:stretch>
            <a:fillRect/>
          </a:stretch>
        </p:blipFill>
        <p:spPr>
          <a:xfrm>
            <a:off x="8825801" y="3061824"/>
            <a:ext cx="1595002" cy="2004245"/>
          </a:xfrm>
          <a:prstGeom prst="rect">
            <a:avLst/>
          </a:prstGeom>
          <a:ln>
            <a:noFill/>
          </a:ln>
          <a:effectLst>
            <a:outerShdw blurRad="292100" dist="139700" dir="2700000" algn="tl" rotWithShape="0">
              <a:srgbClr val="333333">
                <a:alpha val="65000"/>
              </a:srgbClr>
            </a:outerShdw>
          </a:effectLst>
        </p:spPr>
      </p:pic>
      <p:pic>
        <p:nvPicPr>
          <p:cNvPr id="7" name="图片 6"/>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1604189" y="4094647"/>
            <a:ext cx="1501933" cy="1001289"/>
          </a:xfrm>
          <a:prstGeom prst="rect">
            <a:avLst/>
          </a:prstGeom>
          <a:ln>
            <a:noFill/>
          </a:ln>
          <a:effectLst>
            <a:outerShdw blurRad="292100" dist="139700" dir="2700000" algn="tl" rotWithShape="0">
              <a:srgbClr val="333333">
                <a:alpha val="65000"/>
              </a:srgbClr>
            </a:outerShdw>
          </a:effectLst>
        </p:spPr>
      </p:pic>
      <p:pic>
        <p:nvPicPr>
          <p:cNvPr id="9" name="图片 8"/>
          <p:cNvPicPr>
            <a:picLocks noChangeAspect="1"/>
          </p:cNvPicPr>
          <p:nvPr/>
        </p:nvPicPr>
        <p:blipFill>
          <a:blip r:embed="rId6">
            <a:extLst>
              <a:ext uri="{28A0092B-C50C-407E-A947-70E740481C1C}">
                <a14:useLocalDpi xmlns:a14="http://schemas.microsoft.com/office/drawing/2010/main" xmlns="" val="0"/>
              </a:ext>
            </a:extLst>
          </a:blip>
          <a:stretch>
            <a:fillRect/>
          </a:stretch>
        </p:blipFill>
        <p:spPr>
          <a:xfrm>
            <a:off x="1614398" y="2063620"/>
            <a:ext cx="1484921" cy="1977833"/>
          </a:xfrm>
          <a:prstGeom prst="rect">
            <a:avLst/>
          </a:prstGeom>
          <a:ln>
            <a:noFill/>
          </a:ln>
          <a:effectLst>
            <a:outerShdw blurRad="292100" dist="139700" dir="2700000" algn="tl" rotWithShape="0">
              <a:srgbClr val="333333">
                <a:alpha val="65000"/>
              </a:srgbClr>
            </a:outerShdw>
          </a:effectLst>
        </p:spPr>
      </p:pic>
      <p:pic>
        <p:nvPicPr>
          <p:cNvPr id="17" name="图片 16"/>
          <p:cNvPicPr>
            <a:picLocks noChangeAspect="1"/>
          </p:cNvPicPr>
          <p:nvPr/>
        </p:nvPicPr>
        <p:blipFill>
          <a:blip r:embed="rId7">
            <a:extLst>
              <a:ext uri="{28A0092B-C50C-407E-A947-70E740481C1C}">
                <a14:useLocalDpi xmlns:a14="http://schemas.microsoft.com/office/drawing/2010/main" xmlns="" val="0"/>
              </a:ext>
            </a:extLst>
          </a:blip>
          <a:stretch>
            <a:fillRect/>
          </a:stretch>
        </p:blipFill>
        <p:spPr>
          <a:xfrm>
            <a:off x="8825801" y="2062906"/>
            <a:ext cx="1595002" cy="890543"/>
          </a:xfrm>
          <a:prstGeom prst="rect">
            <a:avLst/>
          </a:prstGeom>
          <a:ln>
            <a:noFill/>
          </a:ln>
          <a:effectLst>
            <a:outerShdw blurRad="292100" dist="139700" dir="2700000" algn="tl" rotWithShape="0">
              <a:srgbClr val="333333">
                <a:alpha val="65000"/>
              </a:srgbClr>
            </a:outerShdw>
          </a:effectLst>
        </p:spPr>
      </p:pic>
      <p:sp>
        <p:nvSpPr>
          <p:cNvPr id="20" name="文本框 19"/>
          <p:cNvSpPr txBox="1"/>
          <p:nvPr/>
        </p:nvSpPr>
        <p:spPr>
          <a:xfrm>
            <a:off x="4424488" y="5653908"/>
            <a:ext cx="3376245" cy="461665"/>
          </a:xfrm>
          <a:prstGeom prst="rect">
            <a:avLst/>
          </a:prstGeom>
          <a:noFill/>
        </p:spPr>
        <p:txBody>
          <a:bodyPr wrap="none" rtlCol="0">
            <a:spAutoFit/>
          </a:bodyPr>
          <a:lstStyle/>
          <a:p>
            <a:r>
              <a:rPr lang="zh-CN" altLang="en-US" sz="2400" b="1" dirty="0">
                <a:solidFill>
                  <a:schemeClr val="bg1"/>
                </a:solidFill>
                <a:latin typeface="方正稚艺简体" panose="03000509000000000000" pitchFamily="65" charset="-122"/>
                <a:ea typeface="方正稚艺简体" panose="03000509000000000000" pitchFamily="65" charset="-122"/>
              </a:rPr>
              <a:t>交大四季代表</a:t>
            </a:r>
            <a:r>
              <a:rPr lang="en-US" altLang="zh-CN" sz="2400" b="1" dirty="0">
                <a:solidFill>
                  <a:schemeClr val="bg1"/>
                </a:solidFill>
                <a:latin typeface="方正稚艺简体" panose="03000509000000000000" pitchFamily="65" charset="-122"/>
                <a:ea typeface="方正稚艺简体" panose="03000509000000000000" pitchFamily="65" charset="-122"/>
              </a:rPr>
              <a:t>-</a:t>
            </a:r>
            <a:r>
              <a:rPr lang="zh-CN" altLang="en-US" sz="2400" b="1" dirty="0">
                <a:solidFill>
                  <a:schemeClr val="bg1"/>
                </a:solidFill>
                <a:latin typeface="方正稚艺简体" panose="03000509000000000000" pitchFamily="65" charset="-122"/>
                <a:ea typeface="方正稚艺简体" panose="03000509000000000000" pitchFamily="65" charset="-122"/>
              </a:rPr>
              <a:t>银杏之秋</a:t>
            </a: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563E60"/>
        </a:solidFill>
        <a:effectLst/>
      </p:bgPr>
    </p:bg>
    <p:spTree>
      <p:nvGrpSpPr>
        <p:cNvPr id="1" name=""/>
        <p:cNvGrpSpPr/>
        <p:nvPr/>
      </p:nvGrpSpPr>
      <p:grpSpPr>
        <a:xfrm>
          <a:off x="0" y="0"/>
          <a:ext cx="0" cy="0"/>
          <a:chOff x="0" y="0"/>
          <a:chExt cx="0" cy="0"/>
        </a:xfrm>
      </p:grpSpPr>
      <p:sp>
        <p:nvSpPr>
          <p:cNvPr id="21" name="矩形 20"/>
          <p:cNvSpPr/>
          <p:nvPr/>
        </p:nvSpPr>
        <p:spPr>
          <a:xfrm>
            <a:off x="-584200" y="1948716"/>
            <a:ext cx="13855700" cy="3290100"/>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19722655">
            <a:off x="10897288" y="909097"/>
            <a:ext cx="885056" cy="604118"/>
          </a:xfrm>
          <a:prstGeom prst="triangle">
            <a:avLst/>
          </a:prstGeom>
          <a:solidFill>
            <a:srgbClr val="F3D7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6627382" y="208411"/>
            <a:ext cx="5206318" cy="1631216"/>
          </a:xfrm>
          <a:prstGeom prst="rect">
            <a:avLst/>
          </a:prstGeom>
          <a:noFill/>
        </p:spPr>
        <p:txBody>
          <a:bodyPr wrap="square" rtlCol="0">
            <a:spAutoFit/>
          </a:bodyPr>
          <a:lstStyle/>
          <a:p>
            <a:r>
              <a:rPr lang="zh-CN" altLang="en-US" sz="10000" b="1" dirty="0">
                <a:solidFill>
                  <a:schemeClr val="bg1"/>
                </a:solidFill>
                <a:latin typeface="方正稚艺简体" panose="03000509000000000000" pitchFamily="65" charset="-122"/>
                <a:ea typeface="方正稚艺简体" panose="03000509000000000000" pitchFamily="65" charset="-122"/>
              </a:rPr>
              <a:t>景</a:t>
            </a:r>
            <a:r>
              <a:rPr lang="en-US" altLang="zh-CN" sz="10000" dirty="0">
                <a:solidFill>
                  <a:schemeClr val="bg1"/>
                </a:solidFill>
                <a:latin typeface="张海山草泥马体" panose="02000000000000000000" pitchFamily="2" charset="-122"/>
                <a:ea typeface="张海山草泥马体" panose="02000000000000000000" pitchFamily="2" charset="-122"/>
              </a:rPr>
              <a:t>in</a:t>
            </a:r>
            <a:r>
              <a:rPr lang="zh-CN" altLang="en-US" sz="10000" dirty="0">
                <a:solidFill>
                  <a:schemeClr val="bg1"/>
                </a:solidFill>
                <a:latin typeface="张海山草泥马体" panose="02000000000000000000" pitchFamily="2" charset="-122"/>
                <a:ea typeface="张海山草泥马体" panose="02000000000000000000" pitchFamily="2" charset="-122"/>
              </a:rPr>
              <a:t>交大</a:t>
            </a:r>
          </a:p>
        </p:txBody>
      </p:sp>
      <p:sp>
        <p:nvSpPr>
          <p:cNvPr id="36" name="矩形 35"/>
          <p:cNvSpPr/>
          <p:nvPr/>
        </p:nvSpPr>
        <p:spPr>
          <a:xfrm>
            <a:off x="-294279"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1833700"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12655" y="190633"/>
            <a:ext cx="11999912" cy="64389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rot="4149794">
            <a:off x="6109797" y="248869"/>
            <a:ext cx="885056" cy="604118"/>
          </a:xfrm>
          <a:prstGeom prst="triangle">
            <a:avLst/>
          </a:prstGeom>
          <a:solidFill>
            <a:srgbClr val="F3D74E"/>
          </a:solidFill>
          <a:ln>
            <a:noFill/>
          </a:ln>
          <a:effectLst/>
          <a:scene3d>
            <a:camera prst="perspectiveContrasting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672919" y="9155746"/>
            <a:ext cx="15169121" cy="2058967"/>
          </a:xfrm>
          <a:prstGeom prst="rect">
            <a:avLst/>
          </a:prstGeom>
        </p:spPr>
      </p:pic>
      <p:pic>
        <p:nvPicPr>
          <p:cNvPr id="13" name="图片 12"/>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8436762" y="2607836"/>
            <a:ext cx="2836848" cy="2059278"/>
          </a:xfrm>
          <a:prstGeom prst="rect">
            <a:avLst/>
          </a:prstGeom>
        </p:spPr>
      </p:pic>
      <p:pic>
        <p:nvPicPr>
          <p:cNvPr id="15" name="图片 14"/>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rot="10800000" flipV="1">
            <a:off x="4525277" y="2365934"/>
            <a:ext cx="3390774" cy="2543081"/>
          </a:xfrm>
          <a:prstGeom prst="rect">
            <a:avLst/>
          </a:prstGeom>
        </p:spPr>
      </p:pic>
      <p:pic>
        <p:nvPicPr>
          <p:cNvPr id="4" name="图片 3"/>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955695" y="2615435"/>
            <a:ext cx="3124286" cy="2069840"/>
          </a:xfrm>
          <a:prstGeom prst="rect">
            <a:avLst/>
          </a:prstGeom>
        </p:spPr>
      </p:pic>
      <p:sp>
        <p:nvSpPr>
          <p:cNvPr id="6" name="文本框 5"/>
          <p:cNvSpPr txBox="1"/>
          <p:nvPr/>
        </p:nvSpPr>
        <p:spPr>
          <a:xfrm>
            <a:off x="754322" y="5644999"/>
            <a:ext cx="3392275" cy="461665"/>
          </a:xfrm>
          <a:prstGeom prst="rect">
            <a:avLst/>
          </a:prstGeom>
          <a:noFill/>
        </p:spPr>
        <p:txBody>
          <a:bodyPr wrap="none" rtlCol="0">
            <a:spAutoFit/>
          </a:bodyPr>
          <a:lstStyle/>
          <a:p>
            <a:r>
              <a:rPr lang="zh-CN" altLang="en-US" sz="2400" b="1" dirty="0">
                <a:solidFill>
                  <a:schemeClr val="bg1"/>
                </a:solidFill>
                <a:latin typeface="方正稚艺简体" panose="03000509000000000000" pitchFamily="65" charset="-122"/>
                <a:ea typeface="方正稚艺简体" panose="03000509000000000000" pitchFamily="65" charset="-122"/>
              </a:rPr>
              <a:t>花样最多的建筑</a:t>
            </a:r>
            <a:r>
              <a:rPr lang="en-US" altLang="zh-CN" sz="2400" b="1" dirty="0">
                <a:solidFill>
                  <a:schemeClr val="bg1"/>
                </a:solidFill>
                <a:latin typeface="方正稚艺简体" panose="03000509000000000000" pitchFamily="65" charset="-122"/>
                <a:ea typeface="方正稚艺简体" panose="03000509000000000000" pitchFamily="65" charset="-122"/>
              </a:rPr>
              <a:t>-</a:t>
            </a:r>
            <a:r>
              <a:rPr lang="zh-CN" altLang="en-US" sz="2400" b="1" dirty="0">
                <a:solidFill>
                  <a:schemeClr val="bg1"/>
                </a:solidFill>
                <a:latin typeface="方正稚艺简体" panose="03000509000000000000" pitchFamily="65" charset="-122"/>
                <a:ea typeface="方正稚艺简体" panose="03000509000000000000" pitchFamily="65" charset="-122"/>
              </a:rPr>
              <a:t>教学楼</a:t>
            </a:r>
          </a:p>
        </p:txBody>
      </p:sp>
      <p:sp>
        <p:nvSpPr>
          <p:cNvPr id="8" name="文本框 7"/>
          <p:cNvSpPr txBox="1"/>
          <p:nvPr/>
        </p:nvSpPr>
        <p:spPr>
          <a:xfrm>
            <a:off x="4553530" y="5679952"/>
            <a:ext cx="3118161" cy="400110"/>
          </a:xfrm>
          <a:prstGeom prst="rect">
            <a:avLst/>
          </a:prstGeom>
          <a:noFill/>
        </p:spPr>
        <p:txBody>
          <a:bodyPr wrap="none" rtlCol="0">
            <a:spAutoFit/>
          </a:bodyPr>
          <a:lstStyle/>
          <a:p>
            <a:r>
              <a:rPr lang="zh-CN" altLang="en-US" sz="2000" b="1" dirty="0">
                <a:solidFill>
                  <a:schemeClr val="bg1"/>
                </a:solidFill>
                <a:latin typeface="方正稚艺简体" panose="03000509000000000000" pitchFamily="65" charset="-122"/>
                <a:ea typeface="方正稚艺简体" panose="03000509000000000000" pitchFamily="65" charset="-122"/>
              </a:rPr>
              <a:t>摆拍圣地</a:t>
            </a:r>
            <a:r>
              <a:rPr lang="en-US" altLang="zh-CN" sz="2000" b="1" dirty="0">
                <a:solidFill>
                  <a:schemeClr val="bg1"/>
                </a:solidFill>
                <a:latin typeface="方正稚艺简体" panose="03000509000000000000" pitchFamily="65" charset="-122"/>
                <a:ea typeface="方正稚艺简体" panose="03000509000000000000" pitchFamily="65" charset="-122"/>
              </a:rPr>
              <a:t>-</a:t>
            </a:r>
            <a:r>
              <a:rPr lang="zh-CN" altLang="en-US" sz="2000" b="1" dirty="0">
                <a:solidFill>
                  <a:schemeClr val="bg1"/>
                </a:solidFill>
                <a:latin typeface="方正稚艺简体" panose="03000509000000000000" pitchFamily="65" charset="-122"/>
                <a:ea typeface="方正稚艺简体" panose="03000509000000000000" pitchFamily="65" charset="-122"/>
              </a:rPr>
              <a:t>咖啡厅与老火车</a:t>
            </a:r>
          </a:p>
        </p:txBody>
      </p:sp>
      <p:sp>
        <p:nvSpPr>
          <p:cNvPr id="10" name="文本框 9"/>
          <p:cNvSpPr txBox="1"/>
          <p:nvPr/>
        </p:nvSpPr>
        <p:spPr>
          <a:xfrm>
            <a:off x="8265111" y="5649174"/>
            <a:ext cx="3392275" cy="461665"/>
          </a:xfrm>
          <a:prstGeom prst="rect">
            <a:avLst/>
          </a:prstGeom>
          <a:noFill/>
        </p:spPr>
        <p:txBody>
          <a:bodyPr wrap="none" rtlCol="0">
            <a:spAutoFit/>
          </a:bodyPr>
          <a:lstStyle/>
          <a:p>
            <a:r>
              <a:rPr lang="zh-CN" altLang="en-US" sz="2400" b="1" dirty="0">
                <a:solidFill>
                  <a:schemeClr val="bg1"/>
                </a:solidFill>
                <a:latin typeface="方正稚艺简体" panose="03000509000000000000" pitchFamily="65" charset="-122"/>
                <a:ea typeface="方正稚艺简体" panose="03000509000000000000" pitchFamily="65" charset="-122"/>
              </a:rPr>
              <a:t>凝聚学风的建筑</a:t>
            </a:r>
            <a:r>
              <a:rPr lang="en-US" altLang="zh-CN" sz="2400" b="1" dirty="0">
                <a:solidFill>
                  <a:schemeClr val="bg1"/>
                </a:solidFill>
                <a:latin typeface="方正稚艺简体" panose="03000509000000000000" pitchFamily="65" charset="-122"/>
                <a:ea typeface="方正稚艺简体" panose="03000509000000000000" pitchFamily="65" charset="-122"/>
              </a:rPr>
              <a:t>-</a:t>
            </a:r>
            <a:r>
              <a:rPr lang="zh-CN" altLang="en-US" sz="2400" b="1" dirty="0">
                <a:solidFill>
                  <a:schemeClr val="bg1"/>
                </a:solidFill>
                <a:latin typeface="方正稚艺简体" panose="03000509000000000000" pitchFamily="65" charset="-122"/>
                <a:ea typeface="方正稚艺简体" panose="03000509000000000000" pitchFamily="65" charset="-122"/>
              </a:rPr>
              <a:t>图书馆</a:t>
            </a: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563E60"/>
        </a:solidFill>
        <a:effectLst/>
      </p:bgPr>
    </p:bg>
    <p:spTree>
      <p:nvGrpSpPr>
        <p:cNvPr id="1" name=""/>
        <p:cNvGrpSpPr/>
        <p:nvPr/>
      </p:nvGrpSpPr>
      <p:grpSpPr>
        <a:xfrm>
          <a:off x="0" y="0"/>
          <a:ext cx="0" cy="0"/>
          <a:chOff x="0" y="0"/>
          <a:chExt cx="0" cy="0"/>
        </a:xfrm>
      </p:grpSpPr>
      <p:sp>
        <p:nvSpPr>
          <p:cNvPr id="21" name="矩形 20"/>
          <p:cNvSpPr/>
          <p:nvPr/>
        </p:nvSpPr>
        <p:spPr>
          <a:xfrm>
            <a:off x="-584200" y="1948716"/>
            <a:ext cx="13855700" cy="3290100"/>
          </a:xfrm>
          <a:prstGeom prst="rect">
            <a:avLst/>
          </a:prstGeom>
          <a:solidFill>
            <a:schemeClr val="bg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19722655">
            <a:off x="10897288" y="909097"/>
            <a:ext cx="885056" cy="604118"/>
          </a:xfrm>
          <a:prstGeom prst="triangle">
            <a:avLst/>
          </a:prstGeom>
          <a:solidFill>
            <a:srgbClr val="F3D7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294279"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1833700" y="3447716"/>
            <a:ext cx="685800" cy="292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12655" y="190633"/>
            <a:ext cx="11999912" cy="64389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rot="4149794">
            <a:off x="4931707" y="231254"/>
            <a:ext cx="885056" cy="604118"/>
          </a:xfrm>
          <a:prstGeom prst="triangle">
            <a:avLst/>
          </a:prstGeom>
          <a:solidFill>
            <a:srgbClr val="F3D74E"/>
          </a:solidFill>
          <a:ln>
            <a:noFill/>
          </a:ln>
          <a:effectLst/>
          <a:scene3d>
            <a:camera prst="perspectiveContrastingLeftFacing"/>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672919" y="9155746"/>
            <a:ext cx="15169121" cy="2058967"/>
          </a:xfrm>
          <a:prstGeom prst="rect">
            <a:avLst/>
          </a:prstGeom>
        </p:spPr>
      </p:pic>
      <p:pic>
        <p:nvPicPr>
          <p:cNvPr id="15" name="图片 14"/>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rot="10800000" flipV="1">
            <a:off x="4525277" y="2365934"/>
            <a:ext cx="3390774" cy="2543081"/>
          </a:xfrm>
          <a:prstGeom prst="rect">
            <a:avLst/>
          </a:prstGeom>
        </p:spPr>
      </p:pic>
      <p:sp>
        <p:nvSpPr>
          <p:cNvPr id="16" name="文本框 15"/>
          <p:cNvSpPr txBox="1"/>
          <p:nvPr/>
        </p:nvSpPr>
        <p:spPr>
          <a:xfrm>
            <a:off x="5279467" y="231447"/>
            <a:ext cx="6465113" cy="1631216"/>
          </a:xfrm>
          <a:prstGeom prst="rect">
            <a:avLst/>
          </a:prstGeom>
          <a:noFill/>
        </p:spPr>
        <p:txBody>
          <a:bodyPr wrap="square" rtlCol="0">
            <a:spAutoFit/>
          </a:bodyPr>
          <a:lstStyle/>
          <a:p>
            <a:r>
              <a:rPr lang="zh-CN" altLang="en-US" sz="8800" b="1" dirty="0">
                <a:solidFill>
                  <a:schemeClr val="bg1"/>
                </a:solidFill>
                <a:latin typeface="方正稚艺简体" panose="03000509000000000000" pitchFamily="65" charset="-122"/>
                <a:ea typeface="方正稚艺简体" panose="03000509000000000000" pitchFamily="65" charset="-122"/>
              </a:rPr>
              <a:t>校宠</a:t>
            </a:r>
            <a:r>
              <a:rPr lang="en-US" altLang="zh-CN" sz="10000" dirty="0">
                <a:solidFill>
                  <a:schemeClr val="bg1"/>
                </a:solidFill>
                <a:latin typeface="张海山草泥马体" panose="02000000000000000000" pitchFamily="2" charset="-122"/>
                <a:ea typeface="张海山草泥马体" panose="02000000000000000000" pitchFamily="2" charset="-122"/>
              </a:rPr>
              <a:t>in</a:t>
            </a:r>
            <a:r>
              <a:rPr lang="zh-CN" altLang="en-US" sz="10000" dirty="0">
                <a:solidFill>
                  <a:schemeClr val="bg1"/>
                </a:solidFill>
                <a:latin typeface="张海山草泥马体" panose="02000000000000000000" pitchFamily="2" charset="-122"/>
                <a:ea typeface="张海山草泥马体" panose="02000000000000000000" pitchFamily="2" charset="-122"/>
              </a:rPr>
              <a:t>交大</a:t>
            </a:r>
          </a:p>
        </p:txBody>
      </p:sp>
      <p:pic>
        <p:nvPicPr>
          <p:cNvPr id="17" name="图片 16"/>
          <p:cNvPicPr>
            <a:picLocks noChangeAspect="1"/>
          </p:cNvPicPr>
          <p:nvPr/>
        </p:nvPicPr>
        <p:blipFill rotWithShape="1">
          <a:blip r:embed="rId4">
            <a:extLst>
              <a:ext uri="{28A0092B-C50C-407E-A947-70E740481C1C}">
                <a14:useLocalDpi xmlns:a14="http://schemas.microsoft.com/office/drawing/2010/main" xmlns="" val="0"/>
              </a:ext>
            </a:extLst>
          </a:blip>
          <a:srcRect l="10876" r="11581"/>
          <a:stretch>
            <a:fillRect/>
          </a:stretch>
        </p:blipFill>
        <p:spPr>
          <a:xfrm>
            <a:off x="8890448" y="2103911"/>
            <a:ext cx="2310562" cy="2979710"/>
          </a:xfrm>
          <a:prstGeom prst="rect">
            <a:avLst/>
          </a:prstGeom>
        </p:spPr>
      </p:pic>
      <p:pic>
        <p:nvPicPr>
          <p:cNvPr id="18" name="图片 17"/>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4031629" y="2074547"/>
            <a:ext cx="4161964" cy="3046326"/>
          </a:xfrm>
          <a:prstGeom prst="rect">
            <a:avLst/>
          </a:prstGeom>
        </p:spPr>
      </p:pic>
      <p:pic>
        <p:nvPicPr>
          <p:cNvPr id="19" name="图片 18"/>
          <p:cNvPicPr>
            <a:picLocks noChangeAspect="1"/>
          </p:cNvPicPr>
          <p:nvPr/>
        </p:nvPicPr>
        <p:blipFill rotWithShape="1">
          <a:blip r:embed="rId6">
            <a:extLst>
              <a:ext uri="{28A0092B-C50C-407E-A947-70E740481C1C}">
                <a14:useLocalDpi xmlns:a14="http://schemas.microsoft.com/office/drawing/2010/main" xmlns="" val="0"/>
              </a:ext>
            </a:extLst>
          </a:blip>
          <a:srcRect l="13026" r="14663"/>
          <a:stretch>
            <a:fillRect/>
          </a:stretch>
        </p:blipFill>
        <p:spPr>
          <a:xfrm>
            <a:off x="1897422" y="2102468"/>
            <a:ext cx="1435969" cy="1117023"/>
          </a:xfrm>
          <a:prstGeom prst="rect">
            <a:avLst/>
          </a:prstGeom>
        </p:spPr>
      </p:pic>
      <p:pic>
        <p:nvPicPr>
          <p:cNvPr id="20" name="图片 19"/>
          <p:cNvPicPr>
            <a:picLocks noChangeAspect="1"/>
          </p:cNvPicPr>
          <p:nvPr/>
        </p:nvPicPr>
        <p:blipFill rotWithShape="1">
          <a:blip r:embed="rId7">
            <a:extLst>
              <a:ext uri="{28A0092B-C50C-407E-A947-70E740481C1C}">
                <a14:useLocalDpi xmlns:a14="http://schemas.microsoft.com/office/drawing/2010/main" xmlns="" val="0"/>
              </a:ext>
            </a:extLst>
          </a:blip>
          <a:srcRect b="7413"/>
          <a:stretch>
            <a:fillRect/>
          </a:stretch>
        </p:blipFill>
        <p:spPr>
          <a:xfrm>
            <a:off x="1897422" y="3328580"/>
            <a:ext cx="1435969" cy="1721847"/>
          </a:xfrm>
          <a:prstGeom prst="rect">
            <a:avLst/>
          </a:prstGeom>
        </p:spPr>
      </p:pic>
      <p:sp>
        <p:nvSpPr>
          <p:cNvPr id="24" name="文本框 23"/>
          <p:cNvSpPr txBox="1"/>
          <p:nvPr/>
        </p:nvSpPr>
        <p:spPr>
          <a:xfrm>
            <a:off x="3079789" y="5509418"/>
            <a:ext cx="6032421" cy="461665"/>
          </a:xfrm>
          <a:prstGeom prst="rect">
            <a:avLst/>
          </a:prstGeom>
          <a:noFill/>
        </p:spPr>
        <p:txBody>
          <a:bodyPr wrap="none" rIns="144000" rtlCol="0">
            <a:spAutoFit/>
          </a:bodyPr>
          <a:lstStyle/>
          <a:p>
            <a:r>
              <a:rPr lang="zh-CN" altLang="en-US" sz="2400" dirty="0">
                <a:solidFill>
                  <a:schemeClr val="bg1"/>
                </a:solidFill>
                <a:latin typeface="方正综艺简体" panose="03000509000000000000" pitchFamily="65" charset="-122"/>
                <a:ea typeface="方正综艺简体" panose="03000509000000000000" pitchFamily="65" charset="-122"/>
              </a:rPr>
              <a:t>遍布于宿舍楼、奶茶店、犀湖小岛的校宠们</a:t>
            </a:r>
          </a:p>
        </p:txBody>
      </p:sp>
      <p:sp>
        <p:nvSpPr>
          <p:cNvPr id="25" name="文本框 24"/>
          <p:cNvSpPr txBox="1"/>
          <p:nvPr/>
        </p:nvSpPr>
        <p:spPr>
          <a:xfrm>
            <a:off x="3333391" y="5999559"/>
            <a:ext cx="3300904" cy="461665"/>
          </a:xfrm>
          <a:prstGeom prst="rect">
            <a:avLst/>
          </a:prstGeom>
          <a:noFill/>
        </p:spPr>
        <p:txBody>
          <a:bodyPr wrap="none" rtlCol="0">
            <a:spAutoFit/>
          </a:bodyPr>
          <a:lstStyle/>
          <a:p>
            <a:r>
              <a:rPr lang="zh-CN" altLang="en-US" b="1" dirty="0">
                <a:solidFill>
                  <a:schemeClr val="bg1"/>
                </a:solidFill>
                <a:latin typeface="方正稚艺简体" panose="03000509000000000000" pitchFamily="65" charset="-122"/>
                <a:ea typeface="方正稚艺简体" panose="03000509000000000000" pitchFamily="65" charset="-122"/>
              </a:rPr>
              <a:t>除了黑天鹅 </a:t>
            </a:r>
            <a:r>
              <a:rPr lang="zh-CN" altLang="en-US" sz="2400" b="1" dirty="0">
                <a:solidFill>
                  <a:schemeClr val="bg1"/>
                </a:solidFill>
                <a:latin typeface="方正稚艺简体" panose="03000509000000000000" pitchFamily="65" charset="-122"/>
                <a:ea typeface="方正稚艺简体" panose="03000509000000000000" pitchFamily="65" charset="-122"/>
              </a:rPr>
              <a:t>全！是！猫！</a:t>
            </a:r>
            <a:endParaRPr lang="zh-CN" altLang="en-US" b="1" dirty="0">
              <a:solidFill>
                <a:schemeClr val="bg1"/>
              </a:solidFill>
              <a:latin typeface="方正稚艺简体" panose="03000509000000000000" pitchFamily="65" charset="-122"/>
              <a:ea typeface="方正稚艺简体" panose="03000509000000000000" pitchFamily="65" charset="-122"/>
            </a:endParaRPr>
          </a:p>
        </p:txBody>
      </p:sp>
      <p:sp>
        <p:nvSpPr>
          <p:cNvPr id="26" name="文本框 25"/>
          <p:cNvSpPr txBox="1"/>
          <p:nvPr/>
        </p:nvSpPr>
        <p:spPr>
          <a:xfrm>
            <a:off x="6480699" y="6089631"/>
            <a:ext cx="2031325" cy="369332"/>
          </a:xfrm>
          <a:prstGeom prst="rect">
            <a:avLst/>
          </a:prstGeom>
          <a:noFill/>
        </p:spPr>
        <p:txBody>
          <a:bodyPr wrap="none" rtlCol="0">
            <a:spAutoFit/>
          </a:bodyPr>
          <a:lstStyle/>
          <a:p>
            <a:r>
              <a:rPr lang="zh-CN" altLang="en-US" b="1" dirty="0">
                <a:solidFill>
                  <a:schemeClr val="bg1"/>
                </a:solidFill>
                <a:latin typeface="方正稚艺简体" panose="03000509000000000000" pitchFamily="65" charset="-122"/>
                <a:ea typeface="方正稚艺简体" panose="03000509000000000000" pitchFamily="65" charset="-122"/>
              </a:rPr>
              <a:t>撸猫爱好者的天堂</a:t>
            </a: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08633" y="1430448"/>
            <a:ext cx="7571303" cy="1200329"/>
          </a:xfrm>
          <a:prstGeom prst="rect">
            <a:avLst/>
          </a:prstGeom>
          <a:noFill/>
        </p:spPr>
        <p:txBody>
          <a:bodyPr wrap="none" rtlCol="0">
            <a:spAutoFit/>
          </a:bodyPr>
          <a:lstStyle/>
          <a:p>
            <a:r>
              <a:rPr lang="zh-CN" altLang="en-US" sz="7200" dirty="0" smtClean="0">
                <a:solidFill>
                  <a:schemeClr val="bg1"/>
                </a:solidFill>
              </a:rPr>
              <a:t>学长学姐专业介绍</a:t>
            </a:r>
            <a:endParaRPr lang="zh-CN" altLang="en-US" sz="7200"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200167" y="505162"/>
            <a:ext cx="3791667" cy="1015663"/>
          </a:xfrm>
          <a:prstGeom prst="rect">
            <a:avLst/>
          </a:prstGeom>
          <a:noFill/>
        </p:spPr>
        <p:txBody>
          <a:bodyPr wrap="square" rtlCol="0">
            <a:spAutoFit/>
          </a:bodyPr>
          <a:lstStyle/>
          <a:p>
            <a:pPr algn="ctr"/>
            <a:r>
              <a:rPr lang="zh-CN" altLang="en-US" sz="6000" dirty="0" smtClean="0">
                <a:solidFill>
                  <a:schemeClr val="bg1"/>
                </a:solidFill>
                <a:latin typeface="黑体" pitchFamily="49" charset="-122"/>
                <a:ea typeface="黑体" pitchFamily="49" charset="-122"/>
              </a:rPr>
              <a:t>土木工程</a:t>
            </a:r>
            <a:endParaRPr lang="zh-CN" altLang="en-US" sz="6000" dirty="0">
              <a:solidFill>
                <a:schemeClr val="bg1"/>
              </a:solidFill>
              <a:latin typeface="黑体" pitchFamily="49" charset="-122"/>
              <a:ea typeface="黑体" pitchFamily="49" charset="-122"/>
            </a:endParaRPr>
          </a:p>
        </p:txBody>
      </p:sp>
      <p:sp>
        <p:nvSpPr>
          <p:cNvPr id="7" name="TextBox 6"/>
          <p:cNvSpPr txBox="1"/>
          <p:nvPr/>
        </p:nvSpPr>
        <p:spPr>
          <a:xfrm>
            <a:off x="2748099" y="1729728"/>
            <a:ext cx="6857731" cy="4524315"/>
          </a:xfrm>
          <a:prstGeom prst="rect">
            <a:avLst/>
          </a:prstGeom>
          <a:noFill/>
        </p:spPr>
        <p:txBody>
          <a:bodyPr wrap="square" rtlCol="0">
            <a:spAutoFit/>
          </a:bodyPr>
          <a:lstStyle/>
          <a:p>
            <a:r>
              <a:rPr lang="zh-CN" altLang="en-US" dirty="0" smtClean="0">
                <a:solidFill>
                  <a:schemeClr val="bg1"/>
                </a:solidFill>
              </a:rPr>
              <a:t>作为一所拥有悠久历史并有铁路学堂为前身的大学，西南交通大学拥有着全国较为领先土木工程专业，</a:t>
            </a:r>
            <a:r>
              <a:rPr lang="en-US" dirty="0" smtClean="0">
                <a:solidFill>
                  <a:schemeClr val="bg1"/>
                </a:solidFill>
              </a:rPr>
              <a:t>    </a:t>
            </a:r>
            <a:r>
              <a:rPr lang="zh-CN" altLang="en-US" dirty="0" smtClean="0">
                <a:solidFill>
                  <a:schemeClr val="bg1"/>
                </a:solidFill>
              </a:rPr>
              <a:t>目前，学院下设道路与铁道工程、桥梁工程、地下工程、岩土工程、建筑工程、交通土建工程</a:t>
            </a:r>
            <a:r>
              <a:rPr lang="en-US" dirty="0" smtClean="0">
                <a:solidFill>
                  <a:schemeClr val="bg1"/>
                </a:solidFill>
              </a:rPr>
              <a:t>6</a:t>
            </a:r>
            <a:r>
              <a:rPr lang="zh-CN" altLang="en-US" dirty="0" smtClean="0">
                <a:solidFill>
                  <a:schemeClr val="bg1"/>
                </a:solidFill>
              </a:rPr>
              <a:t>个系，土木工程制图、建筑材料、结构力学、水力学</a:t>
            </a:r>
            <a:r>
              <a:rPr lang="en-US" dirty="0" smtClean="0">
                <a:solidFill>
                  <a:schemeClr val="bg1"/>
                </a:solidFill>
              </a:rPr>
              <a:t>4</a:t>
            </a:r>
            <a:r>
              <a:rPr lang="zh-CN" altLang="en-US" dirty="0" smtClean="0">
                <a:solidFill>
                  <a:schemeClr val="bg1"/>
                </a:solidFill>
              </a:rPr>
              <a:t>个教研室，防灾减灾研究所、茅以升桥梁研究所、深水大跨桥梁研究中心、长大特殊隧道研究中心</a:t>
            </a:r>
            <a:r>
              <a:rPr lang="en-US" dirty="0" smtClean="0">
                <a:solidFill>
                  <a:schemeClr val="bg1"/>
                </a:solidFill>
              </a:rPr>
              <a:t>4</a:t>
            </a:r>
            <a:r>
              <a:rPr lang="zh-CN" altLang="en-US" dirty="0" smtClean="0">
                <a:solidFill>
                  <a:schemeClr val="bg1"/>
                </a:solidFill>
              </a:rPr>
              <a:t>个研究所（中心）。</a:t>
            </a:r>
            <a:r>
              <a:rPr lang="en-US" dirty="0" smtClean="0">
                <a:solidFill>
                  <a:schemeClr val="bg1"/>
                </a:solidFill>
              </a:rPr>
              <a:t>  </a:t>
            </a:r>
            <a:r>
              <a:rPr lang="zh-CN" altLang="en-US" dirty="0" smtClean="0">
                <a:solidFill>
                  <a:schemeClr val="bg1"/>
                </a:solidFill>
              </a:rPr>
              <a:t>学院现有土木工程一级学科授予权、国家级重点学科</a:t>
            </a:r>
            <a:r>
              <a:rPr lang="en-US" dirty="0" smtClean="0">
                <a:solidFill>
                  <a:schemeClr val="bg1"/>
                </a:solidFill>
              </a:rPr>
              <a:t>2</a:t>
            </a:r>
            <a:r>
              <a:rPr lang="zh-CN" altLang="en-US" dirty="0" smtClean="0">
                <a:solidFill>
                  <a:schemeClr val="bg1"/>
                </a:solidFill>
              </a:rPr>
              <a:t>个（桥梁与隧道工程、道路与铁道工程），国家级重点学科培育计划</a:t>
            </a:r>
            <a:r>
              <a:rPr lang="en-US" dirty="0" smtClean="0">
                <a:solidFill>
                  <a:schemeClr val="bg1"/>
                </a:solidFill>
              </a:rPr>
              <a:t>1</a:t>
            </a:r>
            <a:r>
              <a:rPr lang="zh-CN" altLang="en-US" dirty="0" smtClean="0">
                <a:solidFill>
                  <a:schemeClr val="bg1"/>
                </a:solidFill>
              </a:rPr>
              <a:t>个（岩土工程），省部级重点学科</a:t>
            </a:r>
            <a:r>
              <a:rPr lang="en-US" dirty="0" smtClean="0">
                <a:solidFill>
                  <a:schemeClr val="bg1"/>
                </a:solidFill>
              </a:rPr>
              <a:t>1</a:t>
            </a:r>
            <a:r>
              <a:rPr lang="zh-CN" altLang="en-US" dirty="0" smtClean="0">
                <a:solidFill>
                  <a:schemeClr val="bg1"/>
                </a:solidFill>
              </a:rPr>
              <a:t>个（结构工程），博士后流动站</a:t>
            </a:r>
            <a:r>
              <a:rPr lang="en-US" dirty="0" smtClean="0">
                <a:solidFill>
                  <a:schemeClr val="bg1"/>
                </a:solidFill>
              </a:rPr>
              <a:t>2</a:t>
            </a:r>
            <a:r>
              <a:rPr lang="zh-CN" altLang="en-US" dirty="0" smtClean="0">
                <a:solidFill>
                  <a:schemeClr val="bg1"/>
                </a:solidFill>
              </a:rPr>
              <a:t>个（土木工程、交通运输工程）。</a:t>
            </a:r>
            <a:r>
              <a:rPr lang="en-US" dirty="0" smtClean="0">
                <a:solidFill>
                  <a:schemeClr val="bg1"/>
                </a:solidFill>
              </a:rPr>
              <a:t> </a:t>
            </a:r>
            <a:r>
              <a:rPr lang="zh-CN" altLang="en-US" dirty="0" smtClean="0">
                <a:solidFill>
                  <a:schemeClr val="bg1"/>
                </a:solidFill>
              </a:rPr>
              <a:t>师资力量雄厚，教师中有博士学位的占</a:t>
            </a:r>
            <a:r>
              <a:rPr lang="en-US" dirty="0" smtClean="0">
                <a:solidFill>
                  <a:schemeClr val="bg1"/>
                </a:solidFill>
              </a:rPr>
              <a:t>80%</a:t>
            </a:r>
            <a:r>
              <a:rPr lang="zh-CN" altLang="en-US" dirty="0" smtClean="0">
                <a:solidFill>
                  <a:schemeClr val="bg1"/>
                </a:solidFill>
              </a:rPr>
              <a:t>，其中“长江学者”</a:t>
            </a:r>
            <a:r>
              <a:rPr lang="en-US" dirty="0" smtClean="0">
                <a:solidFill>
                  <a:schemeClr val="bg1"/>
                </a:solidFill>
              </a:rPr>
              <a:t> 3</a:t>
            </a:r>
            <a:r>
              <a:rPr lang="zh-CN" altLang="en-US" dirty="0" smtClean="0">
                <a:solidFill>
                  <a:schemeClr val="bg1"/>
                </a:solidFill>
              </a:rPr>
              <a:t>人，国家杰出青年基金获得者</a:t>
            </a:r>
            <a:r>
              <a:rPr lang="en-US" dirty="0" smtClean="0">
                <a:solidFill>
                  <a:schemeClr val="bg1"/>
                </a:solidFill>
              </a:rPr>
              <a:t>3</a:t>
            </a:r>
            <a:r>
              <a:rPr lang="zh-CN" altLang="en-US" dirty="0" smtClean="0">
                <a:solidFill>
                  <a:schemeClr val="bg1"/>
                </a:solidFill>
              </a:rPr>
              <a:t>人，国家教学名师</a:t>
            </a:r>
            <a:r>
              <a:rPr lang="en-US" dirty="0" smtClean="0">
                <a:solidFill>
                  <a:schemeClr val="bg1"/>
                </a:solidFill>
              </a:rPr>
              <a:t>1</a:t>
            </a:r>
            <a:r>
              <a:rPr lang="zh-CN" altLang="en-US" dirty="0" smtClean="0">
                <a:solidFill>
                  <a:schemeClr val="bg1"/>
                </a:solidFill>
              </a:rPr>
              <a:t>人，形成了以院士、长江、杰青为核心，核心课程责任教授为主干，以具有国际教育背景的中青年教师为后备、主干课程教学团队为主体的优秀师资队伍。</a:t>
            </a:r>
          </a:p>
          <a:p>
            <a:r>
              <a:rPr lang="en-US" dirty="0" smtClean="0"/>
              <a:t> </a:t>
            </a:r>
            <a:endParaRPr lang="zh-CN" altLang="en-US" dirty="0" smtClean="0"/>
          </a:p>
          <a:p>
            <a:endParaRPr lang="zh-CN" altLang="en-US" dirty="0"/>
          </a:p>
        </p:txBody>
      </p:sp>
    </p:spTree>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01354" y="1389784"/>
            <a:ext cx="8044532" cy="3139321"/>
          </a:xfrm>
          <a:prstGeom prst="rect">
            <a:avLst/>
          </a:prstGeom>
          <a:noFill/>
        </p:spPr>
        <p:txBody>
          <a:bodyPr wrap="square" rtlCol="0">
            <a:spAutoFit/>
          </a:bodyPr>
          <a:lstStyle/>
          <a:p>
            <a:r>
              <a:rPr lang="zh-CN" altLang="en-US" dirty="0" smtClean="0">
                <a:solidFill>
                  <a:schemeClr val="bg1"/>
                </a:solidFill>
              </a:rPr>
              <a:t>因此，作为学校重点的专业，西南交通大学的土木工程的前景还是较为光明的。经过悠久的历史积淀，学校有一套较为为完善的土木人培养计划。师资配备先进的前提下，培养的也较为科学。土木工程除了会学习到高数等通识课程，还会学到五大力学等等专业性较强的科目。大二后会对专业进行细分（道路，桥隧，岩土等）。竞赛方面，像新生挡土墙赛，土木科技月等校内竞赛以及全国成图大赛等为土木工程的专业学习增添了趣味和挑战性。</a:t>
            </a:r>
          </a:p>
          <a:p>
            <a:r>
              <a:rPr lang="zh-CN" altLang="en-US" dirty="0" smtClean="0">
                <a:solidFill>
                  <a:schemeClr val="bg1"/>
                </a:solidFill>
              </a:rPr>
              <a:t>土木工程专业适合理科为主的同学们报考，对结构以及力学有一定基础和兴趣的比较易于学习对接。作为老牌经典工科，此专业近期发展较为平稳。对工程有一定兴趣的同学们可以选择报考。</a:t>
            </a:r>
          </a:p>
          <a:p>
            <a:r>
              <a:rPr lang="en-US" dirty="0" smtClean="0"/>
              <a:t> </a:t>
            </a:r>
            <a:endParaRPr lang="zh-CN" altLang="en-US" dirty="0" smtClean="0"/>
          </a:p>
          <a:p>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36199" y="706171"/>
            <a:ext cx="3114391" cy="1107996"/>
          </a:xfrm>
          <a:prstGeom prst="rect">
            <a:avLst/>
          </a:prstGeom>
          <a:noFill/>
        </p:spPr>
        <p:txBody>
          <a:bodyPr wrap="square" rtlCol="0">
            <a:spAutoFit/>
          </a:bodyPr>
          <a:lstStyle/>
          <a:p>
            <a:r>
              <a:rPr lang="zh-CN" altLang="en-US" sz="6600" dirty="0" smtClean="0">
                <a:solidFill>
                  <a:schemeClr val="bg1"/>
                </a:solidFill>
              </a:rPr>
              <a:t>外国语</a:t>
            </a:r>
            <a:endParaRPr lang="zh-CN" altLang="en-US" sz="6600" dirty="0">
              <a:solidFill>
                <a:schemeClr val="bg1"/>
              </a:solidFill>
            </a:endParaRPr>
          </a:p>
        </p:txBody>
      </p:sp>
      <p:sp>
        <p:nvSpPr>
          <p:cNvPr id="4" name="TextBox 3"/>
          <p:cNvSpPr txBox="1"/>
          <p:nvPr/>
        </p:nvSpPr>
        <p:spPr>
          <a:xfrm>
            <a:off x="1484225" y="2240552"/>
            <a:ext cx="8446159" cy="3139321"/>
          </a:xfrm>
          <a:prstGeom prst="rect">
            <a:avLst/>
          </a:prstGeom>
          <a:noFill/>
        </p:spPr>
        <p:txBody>
          <a:bodyPr wrap="square" rtlCol="0">
            <a:spAutoFit/>
          </a:bodyPr>
          <a:lstStyle/>
          <a:p>
            <a:r>
              <a:rPr lang="zh-CN" altLang="en-US" dirty="0" smtClean="0">
                <a:solidFill>
                  <a:schemeClr val="bg1"/>
                </a:solidFill>
              </a:rPr>
              <a:t>西南交通大学外国语学院成立于</a:t>
            </a:r>
            <a:r>
              <a:rPr lang="en-US" dirty="0" smtClean="0">
                <a:solidFill>
                  <a:schemeClr val="bg1"/>
                </a:solidFill>
              </a:rPr>
              <a:t>2001</a:t>
            </a:r>
            <a:r>
              <a:rPr lang="zh-CN" altLang="en-US" dirty="0" smtClean="0">
                <a:solidFill>
                  <a:schemeClr val="bg1"/>
                </a:solidFill>
              </a:rPr>
              <a:t>年。经过三十多年发展，学院现已形成本科、硕士、博士完整的人才培养体系，现有在校生</a:t>
            </a:r>
            <a:r>
              <a:rPr lang="en-US" dirty="0" smtClean="0">
                <a:solidFill>
                  <a:schemeClr val="bg1"/>
                </a:solidFill>
              </a:rPr>
              <a:t>1400</a:t>
            </a:r>
            <a:r>
              <a:rPr lang="zh-CN" altLang="en-US" dirty="0" smtClean="0">
                <a:solidFill>
                  <a:schemeClr val="bg1"/>
                </a:solidFill>
              </a:rPr>
              <a:t>余人。设有英语</a:t>
            </a:r>
            <a:r>
              <a:rPr lang="en-US" dirty="0" smtClean="0">
                <a:solidFill>
                  <a:schemeClr val="bg1"/>
                </a:solidFill>
              </a:rPr>
              <a:t>(2019</a:t>
            </a:r>
            <a:r>
              <a:rPr lang="zh-CN" altLang="en-US" dirty="0" smtClean="0">
                <a:solidFill>
                  <a:schemeClr val="bg1"/>
                </a:solidFill>
              </a:rPr>
              <a:t>年获批国家一流专业建设点</a:t>
            </a:r>
            <a:r>
              <a:rPr lang="en-US" dirty="0" smtClean="0">
                <a:solidFill>
                  <a:schemeClr val="bg1"/>
                </a:solidFill>
              </a:rPr>
              <a:t>)</a:t>
            </a:r>
            <a:r>
              <a:rPr lang="zh-CN" altLang="en-US" dirty="0" smtClean="0">
                <a:solidFill>
                  <a:schemeClr val="bg1"/>
                </a:solidFill>
              </a:rPr>
              <a:t>、德语（</a:t>
            </a:r>
            <a:r>
              <a:rPr lang="en-US" dirty="0" smtClean="0">
                <a:solidFill>
                  <a:schemeClr val="bg1"/>
                </a:solidFill>
              </a:rPr>
              <a:t>2019</a:t>
            </a:r>
            <a:r>
              <a:rPr lang="zh-CN" altLang="en-US" dirty="0" smtClean="0">
                <a:solidFill>
                  <a:schemeClr val="bg1"/>
                </a:solidFill>
              </a:rPr>
              <a:t>年获批省级一流专业建设点）、日语（</a:t>
            </a:r>
            <a:r>
              <a:rPr lang="en-US" dirty="0" smtClean="0">
                <a:solidFill>
                  <a:schemeClr val="bg1"/>
                </a:solidFill>
              </a:rPr>
              <a:t>2020</a:t>
            </a:r>
            <a:r>
              <a:rPr lang="zh-CN" altLang="en-US" dirty="0" smtClean="0">
                <a:solidFill>
                  <a:schemeClr val="bg1"/>
                </a:solidFill>
              </a:rPr>
              <a:t>年获批省级一流专业建设点）、法语、对外汉语、翻译、商务英语等</a:t>
            </a:r>
            <a:r>
              <a:rPr lang="en-US" dirty="0" smtClean="0">
                <a:solidFill>
                  <a:schemeClr val="bg1"/>
                </a:solidFill>
              </a:rPr>
              <a:t>7</a:t>
            </a:r>
            <a:r>
              <a:rPr lang="zh-CN" altLang="en-US" dirty="0" smtClean="0">
                <a:solidFill>
                  <a:schemeClr val="bg1"/>
                </a:solidFill>
              </a:rPr>
              <a:t>个四年制重点本科专业；有</a:t>
            </a:r>
            <a:r>
              <a:rPr lang="en-US" dirty="0" smtClean="0">
                <a:solidFill>
                  <a:schemeClr val="bg1"/>
                </a:solidFill>
              </a:rPr>
              <a:t>1</a:t>
            </a:r>
            <a:r>
              <a:rPr lang="zh-CN" altLang="en-US" dirty="0" smtClean="0">
                <a:solidFill>
                  <a:schemeClr val="bg1"/>
                </a:solidFill>
              </a:rPr>
              <a:t>个外国语言文学一级学科硕士点，下设翻译学、外国语言学及应用语言学、外国文学、国别和区域研究</a:t>
            </a:r>
            <a:r>
              <a:rPr lang="en-US" dirty="0" smtClean="0">
                <a:solidFill>
                  <a:schemeClr val="bg1"/>
                </a:solidFill>
              </a:rPr>
              <a:t>4</a:t>
            </a:r>
            <a:r>
              <a:rPr lang="zh-CN" altLang="en-US" dirty="0" smtClean="0">
                <a:solidFill>
                  <a:schemeClr val="bg1"/>
                </a:solidFill>
              </a:rPr>
              <a:t>个研究方向，以及</a:t>
            </a:r>
            <a:r>
              <a:rPr lang="en-US" dirty="0" smtClean="0">
                <a:solidFill>
                  <a:schemeClr val="bg1"/>
                </a:solidFill>
              </a:rPr>
              <a:t>1</a:t>
            </a:r>
            <a:r>
              <a:rPr lang="zh-CN" altLang="en-US" dirty="0" smtClean="0">
                <a:solidFill>
                  <a:schemeClr val="bg1"/>
                </a:solidFill>
              </a:rPr>
              <a:t>个翻译硕士专业学位点，</a:t>
            </a:r>
            <a:r>
              <a:rPr lang="en-US" dirty="0" smtClean="0">
                <a:solidFill>
                  <a:schemeClr val="bg1"/>
                </a:solidFill>
              </a:rPr>
              <a:t>1</a:t>
            </a:r>
            <a:r>
              <a:rPr lang="zh-CN" altLang="en-US" dirty="0" smtClean="0">
                <a:solidFill>
                  <a:schemeClr val="bg1"/>
                </a:solidFill>
              </a:rPr>
              <a:t>个汉语国际教育专业硕士学位点；译介学二级学科博士学位点隶属中国语言文学一级学科，于</a:t>
            </a:r>
            <a:r>
              <a:rPr lang="en-US" dirty="0" smtClean="0">
                <a:solidFill>
                  <a:schemeClr val="bg1"/>
                </a:solidFill>
              </a:rPr>
              <a:t>2012</a:t>
            </a:r>
            <a:r>
              <a:rPr lang="zh-CN" altLang="en-US" dirty="0" smtClean="0">
                <a:solidFill>
                  <a:schemeClr val="bg1"/>
                </a:solidFill>
              </a:rPr>
              <a:t>年开始招生。学院还承担了全校所有专业</a:t>
            </a:r>
            <a:r>
              <a:rPr lang="en-US" dirty="0" smtClean="0">
                <a:solidFill>
                  <a:schemeClr val="bg1"/>
                </a:solidFill>
              </a:rPr>
              <a:t>5</a:t>
            </a:r>
            <a:r>
              <a:rPr lang="zh-CN" altLang="en-US" dirty="0" smtClean="0">
                <a:solidFill>
                  <a:schemeClr val="bg1"/>
                </a:solidFill>
              </a:rPr>
              <a:t>个语种（英语、日语、德语、法语、俄语）的公共外语教学任务。</a:t>
            </a:r>
          </a:p>
          <a:p>
            <a:r>
              <a:rPr lang="zh-CN" altLang="en-US" dirty="0" smtClean="0">
                <a:solidFill>
                  <a:schemeClr val="bg1"/>
                </a:solidFill>
              </a:rPr>
              <a:t>学院师资力量雄厚。现有教职工</a:t>
            </a:r>
            <a:r>
              <a:rPr lang="en-US" dirty="0" smtClean="0">
                <a:solidFill>
                  <a:schemeClr val="bg1"/>
                </a:solidFill>
              </a:rPr>
              <a:t>203</a:t>
            </a:r>
            <a:r>
              <a:rPr lang="zh-CN" altLang="en-US" dirty="0" smtClean="0">
                <a:solidFill>
                  <a:schemeClr val="bg1"/>
                </a:solidFill>
              </a:rPr>
              <a:t>人，其中专任教师</a:t>
            </a:r>
            <a:r>
              <a:rPr lang="en-US" dirty="0" smtClean="0">
                <a:solidFill>
                  <a:schemeClr val="bg1"/>
                </a:solidFill>
              </a:rPr>
              <a:t>177</a:t>
            </a:r>
            <a:r>
              <a:rPr lang="zh-CN" altLang="en-US" dirty="0" smtClean="0">
                <a:solidFill>
                  <a:schemeClr val="bg1"/>
                </a:solidFill>
              </a:rPr>
              <a:t>人，教授</a:t>
            </a:r>
            <a:r>
              <a:rPr lang="en-US" dirty="0" smtClean="0">
                <a:solidFill>
                  <a:schemeClr val="bg1"/>
                </a:solidFill>
              </a:rPr>
              <a:t>10</a:t>
            </a:r>
            <a:r>
              <a:rPr lang="zh-CN" altLang="en-US" dirty="0" smtClean="0">
                <a:solidFill>
                  <a:schemeClr val="bg1"/>
                </a:solidFill>
              </a:rPr>
              <a:t>余人，副教授</a:t>
            </a:r>
            <a:r>
              <a:rPr lang="en-US" dirty="0" smtClean="0">
                <a:solidFill>
                  <a:schemeClr val="bg1"/>
                </a:solidFill>
              </a:rPr>
              <a:t>38</a:t>
            </a:r>
            <a:r>
              <a:rPr lang="zh-CN" altLang="en-US" dirty="0" smtClean="0">
                <a:solidFill>
                  <a:schemeClr val="bg1"/>
                </a:solidFill>
              </a:rPr>
              <a:t>人，博士生导师</a:t>
            </a:r>
            <a:r>
              <a:rPr lang="en-US" dirty="0" smtClean="0">
                <a:solidFill>
                  <a:schemeClr val="bg1"/>
                </a:solidFill>
              </a:rPr>
              <a:t>6</a:t>
            </a:r>
            <a:r>
              <a:rPr lang="zh-CN" altLang="en-US" dirty="0" smtClean="0">
                <a:solidFill>
                  <a:schemeClr val="bg1"/>
                </a:solidFill>
              </a:rPr>
              <a:t>人，硕士生导师</a:t>
            </a:r>
            <a:r>
              <a:rPr lang="en-US" dirty="0" smtClean="0">
                <a:solidFill>
                  <a:schemeClr val="bg1"/>
                </a:solidFill>
              </a:rPr>
              <a:t>32</a:t>
            </a:r>
            <a:r>
              <a:rPr lang="zh-CN" altLang="en-US" dirty="0" smtClean="0">
                <a:solidFill>
                  <a:schemeClr val="bg1"/>
                </a:solidFill>
              </a:rPr>
              <a:t>人。</a:t>
            </a:r>
            <a:endParaRPr lang="zh-CN" altLang="en-US" dirty="0">
              <a:solidFill>
                <a:schemeClr val="bg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ChangeArrowheads="1"/>
          </p:cNvSpPr>
          <p:nvPr/>
        </p:nvSpPr>
        <p:spPr bwMode="auto">
          <a:xfrm>
            <a:off x="2326741" y="2395728"/>
            <a:ext cx="595718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sz="18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5" name="TextBox 4"/>
          <p:cNvSpPr txBox="1"/>
          <p:nvPr/>
        </p:nvSpPr>
        <p:spPr>
          <a:xfrm>
            <a:off x="1520439" y="1018334"/>
            <a:ext cx="8446159" cy="3693319"/>
          </a:xfrm>
          <a:prstGeom prst="rect">
            <a:avLst/>
          </a:prstGeom>
          <a:noFill/>
        </p:spPr>
        <p:txBody>
          <a:bodyPr wrap="square" rtlCol="0">
            <a:spAutoFit/>
          </a:bodyPr>
          <a:lstStyle/>
          <a:p>
            <a:pPr lvl="0" fontAlgn="base">
              <a:spcBef>
                <a:spcPct val="0"/>
              </a:spcBef>
              <a:spcAft>
                <a:spcPct val="0"/>
              </a:spcAft>
            </a:pPr>
            <a:r>
              <a:rPr lang="zh-CN" altLang="en-US" dirty="0" smtClean="0">
                <a:solidFill>
                  <a:schemeClr val="bg1"/>
                </a:solidFill>
                <a:latin typeface="Calibri" pitchFamily="34" charset="0"/>
                <a:ea typeface="宋体" pitchFamily="2" charset="-122"/>
                <a:cs typeface="Times New Roman" pitchFamily="18" charset="0"/>
              </a:rPr>
              <a:t>外国语学院是西南交通大学非常好的学院。如果你想身处浓厚的学习氛围，那你可以来这里体验自发晨读和外语沙龙的美妙；如果你想出国留学去看看外面的世界，外国语学院每年有大量的对外交流活动以及出国留学的项目供同学们挑选，这里将是你不可忽略的选择。</a:t>
            </a:r>
            <a:endParaRPr lang="zh-CN" altLang="en-US" sz="800" dirty="0" smtClean="0">
              <a:solidFill>
                <a:schemeClr val="bg1"/>
              </a:solidFill>
              <a:latin typeface="Arial" pitchFamily="34" charset="0"/>
              <a:ea typeface="宋体" pitchFamily="2" charset="-122"/>
              <a:cs typeface="宋体" pitchFamily="2" charset="-122"/>
            </a:endParaRPr>
          </a:p>
          <a:p>
            <a:pPr lvl="0" eaLnBrk="0" fontAlgn="base" hangingPunct="0">
              <a:spcBef>
                <a:spcPct val="0"/>
              </a:spcBef>
              <a:spcAft>
                <a:spcPct val="0"/>
              </a:spcAft>
            </a:pPr>
            <a:r>
              <a:rPr lang="zh-CN" altLang="en-US" dirty="0" smtClean="0">
                <a:solidFill>
                  <a:schemeClr val="bg1"/>
                </a:solidFill>
                <a:latin typeface="Calibri" pitchFamily="34" charset="0"/>
                <a:ea typeface="宋体" pitchFamily="2" charset="-122"/>
                <a:cs typeface="Times New Roman" pitchFamily="18" charset="0"/>
              </a:rPr>
              <a:t>接下来重点说一下外国语学院历史最悠久的英语系。英语专业在大一大二时着重培养英语听说读写译的基本语言技能，而在大三时则开始进行分专业方向，有文学、语言学、翻译学、区域与国别等几大方向。英语系每学期都会开展非常丰富的活动，如单词拼写赛、英文朗读者、英文歌曲演唱等等，能够在非常大的程度上丰富你的课余生活同时提高你的英语能力。同时英语系也会统一组织大家参加各种英语竞赛，像外研社</a:t>
            </a:r>
            <a:r>
              <a:rPr lang="zh-CN" altLang="zh-CN" dirty="0" smtClean="0">
                <a:solidFill>
                  <a:schemeClr val="bg1"/>
                </a:solidFill>
                <a:latin typeface="Calibri" pitchFamily="34" charset="0"/>
                <a:ea typeface="宋体" pitchFamily="2" charset="-122"/>
                <a:cs typeface="Times New Roman" pitchFamily="18" charset="0"/>
              </a:rPr>
              <a:t>·</a:t>
            </a:r>
            <a:r>
              <a:rPr lang="zh-CN" altLang="en-US" dirty="0" smtClean="0">
                <a:solidFill>
                  <a:schemeClr val="bg1"/>
                </a:solidFill>
                <a:latin typeface="Calibri" pitchFamily="34" charset="0"/>
                <a:ea typeface="宋体" pitchFamily="2" charset="-122"/>
                <a:cs typeface="Times New Roman" pitchFamily="18" charset="0"/>
              </a:rPr>
              <a:t>国才杯全国英语写作大赛全国英语演讲大赛、全国大学生英语竞赛等都开展得如火如荼。</a:t>
            </a:r>
            <a:endParaRPr lang="zh-CN" altLang="en-US" sz="800" dirty="0" smtClean="0">
              <a:solidFill>
                <a:schemeClr val="bg1"/>
              </a:solidFill>
              <a:latin typeface="Arial" pitchFamily="34" charset="0"/>
              <a:ea typeface="宋体" pitchFamily="2" charset="-122"/>
              <a:cs typeface="宋体" pitchFamily="2" charset="-122"/>
            </a:endParaRPr>
          </a:p>
          <a:p>
            <a:pPr lvl="0" eaLnBrk="0" fontAlgn="base" hangingPunct="0">
              <a:spcBef>
                <a:spcPct val="0"/>
              </a:spcBef>
              <a:spcAft>
                <a:spcPct val="0"/>
              </a:spcAft>
            </a:pPr>
            <a:r>
              <a:rPr lang="zh-CN" altLang="en-US" dirty="0" smtClean="0">
                <a:solidFill>
                  <a:schemeClr val="bg1"/>
                </a:solidFill>
                <a:latin typeface="Calibri" pitchFamily="34" charset="0"/>
                <a:ea typeface="宋体" pitchFamily="2" charset="-122"/>
                <a:cs typeface="Times New Roman" pitchFamily="18" charset="0"/>
              </a:rPr>
              <a:t>西南交通大学外国语学院值得所有热爱外语的同学报考，在这里，遇见一样热爱的他们，遇见渊博的老师们，遇见更好的自己，用外语讲好中国故事。</a:t>
            </a:r>
            <a:endParaRPr lang="zh-CN" altLang="en-US" sz="4000" dirty="0" smtClean="0">
              <a:solidFill>
                <a:schemeClr val="bg1"/>
              </a:solidFill>
              <a:latin typeface="Arial" pitchFamily="34" charset="0"/>
              <a:ea typeface="宋体" pitchFamily="2" charset="-122"/>
              <a:cs typeface="宋体" pitchFamily="2"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1393</Words>
  <Application>WPS 演示</Application>
  <PresentationFormat>自定义</PresentationFormat>
  <Paragraphs>153</Paragraphs>
  <Slides>25</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25</vt:i4>
      </vt:variant>
    </vt:vector>
  </HeadingPairs>
  <TitlesOfParts>
    <vt:vector size="39" baseType="lpstr">
      <vt:lpstr>Arial</vt:lpstr>
      <vt:lpstr>宋体</vt:lpstr>
      <vt:lpstr>等线</vt:lpstr>
      <vt:lpstr>张海山草泥马体</vt:lpstr>
      <vt:lpstr>微软雅黑</vt:lpstr>
      <vt:lpstr>张海山锐线体简</vt:lpstr>
      <vt:lpstr>Times New Roman</vt:lpstr>
      <vt:lpstr>Impact</vt:lpstr>
      <vt:lpstr>方正稚艺简体</vt:lpstr>
      <vt:lpstr>方正综艺简体</vt:lpstr>
      <vt:lpstr>黑体</vt:lpstr>
      <vt:lpstr>Calibri</vt:lpstr>
      <vt:lpstr>等线 Light</vt:lpstr>
      <vt:lpstr>Office 主题​​</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Windows 用户</cp:lastModifiedBy>
  <cp:revision>87</cp:revision>
  <dcterms:created xsi:type="dcterms:W3CDTF">2017-05-16T17:30:00Z</dcterms:created>
  <dcterms:modified xsi:type="dcterms:W3CDTF">2021-01-24T13:52:11Z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2052-11.1.0.9208</vt:lpwstr>
  </property>
</Properties>
</file>